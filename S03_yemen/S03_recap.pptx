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before Part III — paste in at the Part III boundary (slide 238 of the edited S03).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Line as it stands at STOP B: Parts I and II lit. Re-render with S03_yemen/make_timeline.py.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· summarises AAA/E-AW01 · AAA/E-AW02 · AAA/E-AW19 · AAA/E-AW03</a:t>
            </a:r>
          </a:p>
          <a:p/>
          <a:p>
            <a:r>
              <a:t>Each card's own slide and speaker notes carry the full telling and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· summarises AAA/E-AW04 · AAA/E-AW05</a:t>
            </a:r>
          </a:p>
          <a:p/>
          <a:p>
            <a:r>
              <a:t>Each card's own slide and speaker notes carry the full telling and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· summarises AAA/E-AW06 · AAA/E-AW07 · AAA/E-AW15</a:t>
            </a:r>
          </a:p>
          <a:p/>
          <a:p>
            <a:r>
              <a:t>Each card's own slide and speaker notes carry the full telling and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· summarises AAA/E-AW08 · AAA/E-AW09 · AAA/E-AW10 · AAA/E-AW11 · AAA/E-AW12</a:t>
            </a:r>
          </a:p>
          <a:p/>
          <a:p>
            <a:r>
              <a:t>Each card's own slide and speaker notes carry the full telling and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· summarises AAA/E-AW13 · AAA/E-AW14</a:t>
            </a:r>
          </a:p>
          <a:p/>
          <a:p>
            <a:r>
              <a:t>Each card's own slide and speaker notes carry the full telling and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· summarises AAA/E-AW20 · ATA/E-TB26 · AAA/E-AW15 · ABU/E-U9 · ATA/E-TB27</a:t>
            </a:r>
          </a:p>
          <a:p/>
          <a:p>
            <a:r>
              <a:t>Each card's own slide and speaker notes carry the full telling and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· summarises AAA/E-AW16 · TSY/E-YK01 · RCT/E-RC31 · TSY/E-YK02 · TSY/E-YK03</a:t>
            </a:r>
          </a:p>
          <a:p/>
          <a:p>
            <a:r>
              <a:t>Each card's own slide and speaker notes carry the full telling and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· summarises TSY/E-YK17 · TSY/E-YK04 · TSY/E-YK05</a:t>
            </a:r>
          </a:p>
          <a:p/>
          <a:p>
            <a:r>
              <a:t>Each card's own slide and speaker notes carry the full telling and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· summarises TSY/E-YK06 · TSY/E-YK18 · RCT/E-RC32</a:t>
            </a:r>
          </a:p>
          <a:p/>
          <a:p>
            <a:r>
              <a:t>Each card's own slide and speaker notes carry the full telling and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· summarises AAA/E-AW04 · AAA/E-AW13 · TSY/E-YK02 · AAA/E-AW07 · RCT/E-RC32</a:t>
            </a:r>
          </a:p>
          <a:p/>
          <a:p>
            <a:r>
              <a:t>Each card's own slide and speaker notes carry the full telling and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· summarises AAA/E-AW03 · ATA/E-TB27 · TSY/E-YK04</a:t>
            </a:r>
          </a:p>
          <a:p/>
          <a:p>
            <a:r>
              <a:t>Each card's own slide and speaker notes carry the full telling and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MAP: tools/mapstudio/scenes/s03-close-stop-b.json — Ṣanʿāʾ blue, Ḥaḍramawt still grey.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عبرت lines from AAA/E-AW10, ATA/E-TB27, TSY/E-YK01, RCT/E-RC32 — the same four as the STOP B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into Part III (TSY/E-YK04; al-Kāmil vol. 2, p. 229). Then the Ḥaḍramawt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14300" cy="155448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728655" cy="7315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0A322E"/>
                </a:solidFill>
                <a:latin typeface="Georgia"/>
                <a:cs typeface="Georgia"/>
              </a:rPr>
              <a:t>The story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728655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5A6862"/>
                </a:solidFill>
                <a:latin typeface="Segoe UI"/>
                <a:cs typeface="Segoe UI"/>
              </a:rPr>
              <a:t>al-Aswad al-ʿAnsī, and the second ridda of Ṣanʿāʾ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So far tonight</a:t>
            </a:r>
          </a:p>
        </p:txBody>
      </p:sp>
      <p:pic>
        <p:nvPicPr>
          <p:cNvPr id="5" name="Picture 4" descr="line_s03_stop_b.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869" y="1389888"/>
            <a:ext cx="8785957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Yemen before al-Aswad</a:t>
            </a:r>
          </a:p>
        </p:txBody>
      </p:sp>
      <p:sp>
        <p:nvSpPr>
          <p:cNvPr id="5" name="card0"/>
          <p:cNvSpPr/>
          <p:nvPr/>
        </p:nvSpPr>
        <p:spPr>
          <a:xfrm>
            <a:off x="566928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316169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The Abnāʾ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07208"/>
            <a:ext cx="316169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Persians Kisrā sent with Sayf b. Dhī Yazan; they stayed, and their sons held Yemen.</a:t>
            </a:r>
          </a:p>
        </p:txBody>
      </p:sp>
      <p:sp>
        <p:nvSpPr>
          <p:cNvPr id="9" name="card1"/>
          <p:cNvSpPr/>
          <p:nvPr/>
        </p:nvSpPr>
        <p:spPr>
          <a:xfrm>
            <a:off x="4332122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2122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5002" y="1700784"/>
            <a:ext cx="316169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Bādhām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5002" y="2807208"/>
            <a:ext cx="316169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Traditional Arabic"/>
              </a:rPr>
              <a:t>Kisrā's governor accepted Islam; the Prophet ﷺ kept him over all Yemen until he died.</a:t>
            </a:r>
          </a:p>
        </p:txBody>
      </p:sp>
      <p:sp>
        <p:nvSpPr>
          <p:cNvPr id="13" name="card2"/>
          <p:cNvSpPr/>
          <p:nvPr/>
        </p:nvSpPr>
        <p:spPr>
          <a:xfrm>
            <a:off x="8097316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7316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196" y="1700784"/>
            <a:ext cx="316169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The division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196" y="2807208"/>
            <a:ext cx="316169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Arabic Typesetting"/>
              </a:rPr>
              <a:t>In 10 AH: Shahr over Ṣanʿāʾ, governors over the districts, Muʿādh ؓ teaching among them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al-Aswad al-ʿAnsī rises</a:t>
            </a:r>
          </a:p>
        </p:txBody>
      </p:sp>
      <p:sp>
        <p:nvSpPr>
          <p:cNvPr id="5" name="card0"/>
          <p:cNvSpPr/>
          <p:nvPr/>
        </p:nvSpPr>
        <p:spPr>
          <a:xfrm>
            <a:off x="566928" y="1389888"/>
            <a:ext cx="5410047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410047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5044287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ʿAbhala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07208"/>
            <a:ext cx="5044287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Dhū al-Khimār, of ʿAns in Madhḥij; he came out after Ḥajjat al-Wadāʿ, 10 AH, with seven hundred men.</a:t>
            </a:r>
          </a:p>
        </p:txBody>
      </p:sp>
      <p:sp>
        <p:nvSpPr>
          <p:cNvPr id="9" name="card1"/>
          <p:cNvSpPr/>
          <p:nvPr/>
        </p:nvSpPr>
        <p:spPr>
          <a:xfrm>
            <a:off x="6214719" y="1389888"/>
            <a:ext cx="5410047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4719" y="1389888"/>
            <a:ext cx="5410047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700784"/>
            <a:ext cx="5044287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Najrān, then Ṣanʿāʾ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7599" y="2807208"/>
            <a:ext cx="5044287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Najrān in ten nights; Shahr killed outside Ṣanʿāʾ; the city his in twenty-five.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His months in Ṣanʿāʾ</a:t>
            </a:r>
          </a:p>
        </p:txBody>
      </p:sp>
      <p:sp>
        <p:nvSpPr>
          <p:cNvPr id="5" name="card0"/>
          <p:cNvSpPr/>
          <p:nvPr/>
        </p:nvSpPr>
        <p:spPr>
          <a:xfrm>
            <a:off x="566928" y="1389888"/>
            <a:ext cx="5410047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410047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5044287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The governors scatter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07208"/>
            <a:ext cx="5044287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Arabic Typesetting"/>
              </a:rPr>
              <a:t>Muʿādh ؓ and Abū Mūsā ؓ to Ḥaḍramawt; others to Medina and to ʿAkk.</a:t>
            </a:r>
          </a:p>
        </p:txBody>
      </p:sp>
      <p:sp>
        <p:nvSpPr>
          <p:cNvPr id="9" name="card1"/>
          <p:cNvSpPr/>
          <p:nvPr/>
        </p:nvSpPr>
        <p:spPr>
          <a:xfrm>
            <a:off x="6214719" y="1389888"/>
            <a:ext cx="5410047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4719" y="1389888"/>
            <a:ext cx="5410047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700784"/>
            <a:ext cx="5044287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Three or four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7599" y="2807208"/>
            <a:ext cx="5044287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He held Yemen; the Muslims who stayed dealt with him warily.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Ṣanʿāʾ: the plan</a:t>
            </a:r>
          </a:p>
        </p:txBody>
      </p:sp>
      <p:sp>
        <p:nvSpPr>
          <p:cNvPr id="5" name="card0"/>
          <p:cNvSpPr/>
          <p:nvPr/>
        </p:nvSpPr>
        <p:spPr>
          <a:xfrm>
            <a:off x="566928" y="1389888"/>
            <a:ext cx="5410047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410047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5044287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The letters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07208"/>
            <a:ext cx="5044287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Traditional Arabic"/>
              </a:rPr>
              <a:t>The Prophet ﷺ wrote to the men of Ṣanʿāʾ: fight him, in the open or by stealth.</a:t>
            </a:r>
          </a:p>
        </p:txBody>
      </p:sp>
      <p:sp>
        <p:nvSpPr>
          <p:cNvPr id="9" name="card1"/>
          <p:cNvSpPr/>
          <p:nvPr/>
        </p:nvSpPr>
        <p:spPr>
          <a:xfrm>
            <a:off x="6214719" y="1389888"/>
            <a:ext cx="5410047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4719" y="1389888"/>
            <a:ext cx="5410047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700784"/>
            <a:ext cx="5044287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The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7599" y="2807208"/>
            <a:ext cx="5044287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Fayrūz, Dādhawayh and Qays; Shahr's widow told them of the one room without a guard.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Ṣanʿāʾ: the night, Rabīʿ I 11 AH</a:t>
            </a:r>
          </a:p>
        </p:txBody>
      </p:sp>
      <p:sp>
        <p:nvSpPr>
          <p:cNvPr id="5" name="card0"/>
          <p:cNvSpPr/>
          <p:nvPr/>
        </p:nvSpPr>
        <p:spPr>
          <a:xfrm>
            <a:off x="566928" y="1389888"/>
            <a:ext cx="5410047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410047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5044287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The night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07208"/>
            <a:ext cx="5044287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Through the wall, and al-Aswad was killed. The reports differ on the details.</a:t>
            </a:r>
          </a:p>
        </p:txBody>
      </p:sp>
      <p:sp>
        <p:nvSpPr>
          <p:cNvPr id="9" name="card1"/>
          <p:cNvSpPr/>
          <p:nvPr/>
        </p:nvSpPr>
        <p:spPr>
          <a:xfrm>
            <a:off x="6214719" y="1389888"/>
            <a:ext cx="5410047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4719" y="1389888"/>
            <a:ext cx="5410047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700784"/>
            <a:ext cx="5044287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The dawn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7599" y="2807208"/>
            <a:ext cx="5044287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The adhān from the wall, with a new sentence: and that ʿAbhala is a liar.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How we know, and when</a:t>
            </a:r>
          </a:p>
        </p:txBody>
      </p:sp>
      <p:sp>
        <p:nvSpPr>
          <p:cNvPr id="5" name="card0"/>
          <p:cNvSpPr/>
          <p:nvPr/>
        </p:nvSpPr>
        <p:spPr>
          <a:xfrm>
            <a:off x="566928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316169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In al-Bukhārī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07208"/>
            <a:ext cx="316169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al-ʿAnsī, whom Fayrūz killed in Yemen.</a:t>
            </a:r>
          </a:p>
        </p:txBody>
      </p:sp>
      <p:sp>
        <p:nvSpPr>
          <p:cNvPr id="9" name="card1"/>
          <p:cNvSpPr/>
          <p:nvPr/>
        </p:nvSpPr>
        <p:spPr>
          <a:xfrm>
            <a:off x="4332122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2122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5002" y="1700784"/>
            <a:ext cx="316169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Nights 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5002" y="2807208"/>
            <a:ext cx="316169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Traditional Arabic"/>
              </a:rPr>
              <a:t>He was killed before the Prophet ﷺ died; the news reached Medina at the end of Rabīʿ I.</a:t>
            </a:r>
          </a:p>
        </p:txBody>
      </p:sp>
      <p:sp>
        <p:nvSpPr>
          <p:cNvPr id="13" name="card2"/>
          <p:cNvSpPr/>
          <p:nvPr/>
        </p:nvSpPr>
        <p:spPr>
          <a:xfrm>
            <a:off x="8097316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7316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196" y="1700784"/>
            <a:ext cx="316169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Three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196" y="2807208"/>
            <a:ext cx="316169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Arabic Typesetting"/>
              </a:rPr>
              <a:t>Muʿādh ؓ led them in prayer three days — then came the news of the Prophet's ﷺ death.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Ṣanʿāʾ again, 11 AH</a:t>
            </a:r>
          </a:p>
        </p:txBody>
      </p:sp>
      <p:sp>
        <p:nvSpPr>
          <p:cNvPr id="5" name="card0"/>
          <p:cNvSpPr/>
          <p:nvPr/>
        </p:nvSpPr>
        <p:spPr>
          <a:xfrm>
            <a:off x="566928" y="1389888"/>
            <a:ext cx="5410047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410047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5044287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Qays turns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07208"/>
            <a:ext cx="5044287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One of the three wanted Yemen for himself; two letters went to the same five chiefs.</a:t>
            </a:r>
          </a:p>
        </p:txBody>
      </p:sp>
      <p:sp>
        <p:nvSpPr>
          <p:cNvPr id="9" name="card1"/>
          <p:cNvSpPr/>
          <p:nvPr/>
        </p:nvSpPr>
        <p:spPr>
          <a:xfrm>
            <a:off x="6214719" y="1389888"/>
            <a:ext cx="5410047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4719" y="1389888"/>
            <a:ext cx="5410047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700784"/>
            <a:ext cx="5044287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The Abnāʾ driven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7599" y="2807208"/>
            <a:ext cx="5044287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Arabic Typesetting"/>
              </a:rPr>
              <a:t>Dādhawayh killed at a meal; Fayrūz ؓ escaped to Khawlān; the families were deported.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Yemen restored</a:t>
            </a:r>
          </a:p>
        </p:txBody>
      </p:sp>
      <p:sp>
        <p:nvSpPr>
          <p:cNvPr id="5" name="card0"/>
          <p:cNvSpPr/>
          <p:nvPr/>
        </p:nvSpPr>
        <p:spPr>
          <a:xfrm>
            <a:off x="566928" y="1389888"/>
            <a:ext cx="5410047" cy="466344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410047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5044287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Arabic Typesetting"/>
              </a:rPr>
              <a:t>Fayrūz's ؓ war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07208"/>
            <a:ext cx="5044287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The families were brought back, and Qays was beaten short of Ṣanʿāʾ.</a:t>
            </a:r>
          </a:p>
        </p:txBody>
      </p:sp>
      <p:sp>
        <p:nvSpPr>
          <p:cNvPr id="9" name="card1"/>
          <p:cNvSpPr/>
          <p:nvPr/>
        </p:nvSpPr>
        <p:spPr>
          <a:xfrm>
            <a:off x="6214719" y="1389888"/>
            <a:ext cx="5410047" cy="466344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4719" y="1389888"/>
            <a:ext cx="5410047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700784"/>
            <a:ext cx="5044287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Two armies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7599" y="2807208"/>
            <a:ext cx="5044287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Arabic Typesetting"/>
              </a:rPr>
              <a:t>ʿIkrima ؓ along the coast to Abyan; al-Muhājir ؓ through Najrān to Ṣanʿāʾ.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Judged at Medina</a:t>
            </a:r>
          </a:p>
        </p:txBody>
      </p:sp>
      <p:sp>
        <p:nvSpPr>
          <p:cNvPr id="5" name="card0"/>
          <p:cNvSpPr/>
          <p:nvPr/>
        </p:nvSpPr>
        <p:spPr>
          <a:xfrm>
            <a:off x="566928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316169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Qays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07208"/>
            <a:ext cx="316169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Charged with killing the servants of Allah; he denied it, and the blood was let go.</a:t>
            </a:r>
          </a:p>
        </p:txBody>
      </p:sp>
      <p:sp>
        <p:nvSpPr>
          <p:cNvPr id="9" name="card1"/>
          <p:cNvSpPr/>
          <p:nvPr/>
        </p:nvSpPr>
        <p:spPr>
          <a:xfrm>
            <a:off x="4332122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2122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5002" y="1700784"/>
            <a:ext cx="316169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ʿAmr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5002" y="2807208"/>
            <a:ext cx="316169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b. Maʿdī Karib: every day routed or taken prisoner? He answered: I will turn to it, and not go back.</a:t>
            </a:r>
          </a:p>
        </p:txBody>
      </p:sp>
      <p:sp>
        <p:nvSpPr>
          <p:cNvPr id="13" name="card2"/>
          <p:cNvSpPr/>
          <p:nvPr/>
        </p:nvSpPr>
        <p:spPr>
          <a:xfrm>
            <a:off x="8097316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7316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196" y="1700784"/>
            <a:ext cx="316169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Sent 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196" y="2807208"/>
            <a:ext cx="316169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Arabic Typesetting"/>
              </a:rPr>
              <a:t>Abū Bakr ؓ accepted what they showed, left what was inside them to Allah, and released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Who we have met</a:t>
            </a:r>
          </a:p>
        </p:txBody>
      </p:sp>
      <p:sp>
        <p:nvSpPr>
          <p:cNvPr id="5" name="card0"/>
          <p:cNvSpPr/>
          <p:nvPr/>
        </p:nvSpPr>
        <p:spPr>
          <a:xfrm>
            <a:off x="566928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316169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al-Aswad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07208"/>
            <a:ext cx="316169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ʿAbhala of ʿAns, Dhū al-Khimār; rose 10 AH, killed in Ṣanʿāʾ, Rabīʿ I 11 AH.</a:t>
            </a:r>
          </a:p>
        </p:txBody>
      </p:sp>
      <p:sp>
        <p:nvSpPr>
          <p:cNvPr id="9" name="card1"/>
          <p:cNvSpPr/>
          <p:nvPr/>
        </p:nvSpPr>
        <p:spPr>
          <a:xfrm>
            <a:off x="4332122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2122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5002" y="1700784"/>
            <a:ext cx="316169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Arabic Typesetting"/>
              </a:rPr>
              <a:t>Fayrūz 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5002" y="2807208"/>
            <a:ext cx="316169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Of the Abnāʾ; went first through the wall; escaped Qays to Khawlān.</a:t>
            </a:r>
          </a:p>
        </p:txBody>
      </p:sp>
      <p:sp>
        <p:nvSpPr>
          <p:cNvPr id="13" name="card2"/>
          <p:cNvSpPr/>
          <p:nvPr/>
        </p:nvSpPr>
        <p:spPr>
          <a:xfrm>
            <a:off x="8097316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7316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196" y="1700784"/>
            <a:ext cx="316169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Qays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196" y="2807208"/>
            <a:ext cx="316169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Arabic Typesetting"/>
              </a:rPr>
              <a:t>b. Makshūḥ: al-Aswad's commander, one of the three; turned; sent home by Abū Bakr ؓ.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And two Companions</a:t>
            </a:r>
          </a:p>
        </p:txBody>
      </p:sp>
      <p:sp>
        <p:nvSpPr>
          <p:cNvPr id="5" name="card0"/>
          <p:cNvSpPr/>
          <p:nvPr/>
        </p:nvSpPr>
        <p:spPr>
          <a:xfrm>
            <a:off x="566928" y="1389888"/>
            <a:ext cx="5410047" cy="466344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410047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5044287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Arabic Typesetting"/>
              </a:rPr>
              <a:t>Muʿādh 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07208"/>
            <a:ext cx="5044287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The teacher of Yemen; he led the prayer in Ṣanʿāʾ for three days.</a:t>
            </a:r>
          </a:p>
        </p:txBody>
      </p:sp>
      <p:sp>
        <p:nvSpPr>
          <p:cNvPr id="9" name="card1"/>
          <p:cNvSpPr/>
          <p:nvPr/>
        </p:nvSpPr>
        <p:spPr>
          <a:xfrm>
            <a:off x="6214719" y="1389888"/>
            <a:ext cx="5410047" cy="466344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4719" y="1389888"/>
            <a:ext cx="5410047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700784"/>
            <a:ext cx="5044287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Arabic Typesetting"/>
              </a:rPr>
              <a:t>al-Muhājir 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7599" y="2807208"/>
            <a:ext cx="5044287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Arabic Typesetting"/>
              </a:rPr>
              <a:t>Umm Salama's ؓ brother; the Prophet ﷺ had appointed him over Kinda.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Where we stand</a:t>
            </a:r>
          </a:p>
        </p:txBody>
      </p:sp>
      <p:sp>
        <p:nvSpPr>
          <p:cNvPr id="5" name="PLACEHOLDER::box"/>
          <p:cNvSpPr/>
          <p:nvPr/>
        </p:nvSpPr>
        <p:spPr>
          <a:xfrm>
            <a:off x="566928" y="1389888"/>
            <a:ext cx="6634703" cy="4956048"/>
          </a:xfrm>
          <a:prstGeom prst="rect">
            <a:avLst/>
          </a:prstGeom>
          <a:solidFill>
            <a:srgbClr val="F4F2EC"/>
          </a:solidFill>
          <a:ln w="19050">
            <a:solidFill>
              <a:srgbClr val="C49A4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CEHOLDER::label"/>
          <p:cNvSpPr txBox="1"/>
          <p:nvPr/>
        </p:nvSpPr>
        <p:spPr>
          <a:xfrm>
            <a:off x="566928" y="3182112"/>
            <a:ext cx="6634703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C49A45"/>
                </a:solidFill>
                <a:latin typeface="Segoe UI"/>
                <a:cs typeface="Segoe UI"/>
              </a:rPr>
              <a:t>IMAGE GOES HERE</a:t>
            </a:r>
          </a:p>
        </p:txBody>
      </p:sp>
      <p:sp>
        <p:nvSpPr>
          <p:cNvPr id="7" name="PLACEHOLDER::brief"/>
          <p:cNvSpPr txBox="1"/>
          <p:nvPr/>
        </p:nvSpPr>
        <p:spPr>
          <a:xfrm>
            <a:off x="1115568" y="3685032"/>
            <a:ext cx="5537423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5A6862"/>
                </a:solidFill>
                <a:latin typeface="Segoe UI"/>
                <a:cs typeface="Segoe UI"/>
              </a:rPr>
              <a:t>MAP STUDIO, not Gemini: open tools/mapstudio/scenes/s03-close-stop-b.json, export, place 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12527" y="1554480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13695" y="1499616"/>
            <a:ext cx="3911072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Ṣanʿāʾ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3695" y="1920240"/>
            <a:ext cx="3911072" cy="19431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restored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12527" y="3918204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3695" y="3863340"/>
            <a:ext cx="3911072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Ḥaḍramawt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3695" y="4283964"/>
            <a:ext cx="3911072" cy="19431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still to come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lessons so far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45336"/>
            <a:ext cx="64008" cy="420624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499616"/>
            <a:ext cx="10746943" cy="118186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0" i="0">
                <a:solidFill>
                  <a:srgbClr val="1C2321"/>
                </a:solidFill>
                <a:latin typeface="Georgia"/>
                <a:cs typeface="Georgia"/>
              </a:rPr>
              <a:t>The men came to her with half a plan; she was the one who finished the sentence.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727198"/>
            <a:ext cx="64008" cy="420624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681478"/>
            <a:ext cx="10746943" cy="118186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0" i="0">
                <a:solidFill>
                  <a:srgbClr val="1C2321"/>
                </a:solidFill>
                <a:latin typeface="Georgia"/>
                <a:cs typeface="Georgia"/>
              </a:rPr>
              <a:t>A man who had just put down a rebellion had three quiet days, and then heard the news that undid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909060"/>
            <a:ext cx="64008" cy="420624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863340"/>
            <a:ext cx="10746943" cy="118186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0" i="0">
                <a:solidFill>
                  <a:srgbClr val="1C2321"/>
                </a:solidFill>
                <a:latin typeface="Georgia"/>
                <a:cs typeface="Georgia"/>
              </a:rPr>
              <a:t>The man who comes to ask your advice has not always come for your advice.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090922"/>
            <a:ext cx="64008" cy="420624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045202"/>
            <a:ext cx="10746943" cy="118186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0" i="0">
                <a:solidFill>
                  <a:srgbClr val="1C2321"/>
                </a:solidFill>
                <a:latin typeface="Georgia"/>
                <a:cs typeface="Georgia"/>
              </a:rPr>
              <a:t>The state judged what it could see and left what it could not see to the One who sees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Next: Ḥaḍramawt and Kinda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342132"/>
            <a:ext cx="11057839" cy="12801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1C2321"/>
                </a:solidFill>
                <a:latin typeface="Georgia"/>
                <a:cs typeface="Arabic Typesetting"/>
              </a:rPr>
              <a:t>The Prophet ﷺ had appointed al-Muhājir ؓ over Kinda. From Ṣanʿāʾ, he went on to his post.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