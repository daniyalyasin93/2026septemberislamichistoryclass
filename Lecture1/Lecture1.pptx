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rPr>
                <a:cs typeface="Jameel Noori Nastaleeq"/>
              </a:rPr>
              <a:t>سلام۔ گرم جوشی سے شروع کریں۔ تعریف سے شروع *مت* کریں۔ کہیں: ”آج صرف ایک تعارف ہے — لیکن وعدہ ہے، میں بور نہیں کروں گا۔ تعریف کے بجائے ایک کہانی سے شروع کرتے ہیں۔ چلیں بغداد — آج سے ہزار سال پیچھے۔“ پھر cold open پر جائیں۔</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rPr>
                <a:cs typeface="Jameel Noori Nastaleeq"/>
              </a:rPr>
              <a:t>آرام سے، تھیٹر کی طرح سنائیں — یہ آپ کا سب سے مضبوط آغاز ہے، جلدی مت کریں۔</a:t>
            </a:r>
          </a:p>
          <a:p>
            <a:pPr rtl="1"/>
            <a:r>
              <a:rPr>
                <a:cs typeface="Jameel Noori Nastaleeq"/>
              </a:rPr>
              <a:t>«آج سے تقریباً ہزار سال پہلے، بغداد۔ شہر کے یہود کا ایک وفد دربار میں آتا ہے۔ اُن کے ہاتھ میں ایک بہت پرانا، گھسا پٹا کاغذ ہے۔ دعویٰ یہ ہے کہ فتحِ خیبر کے بعد رسول اللہ ﷺ نے انہیں ہمیشہ کے لیے جزیہ سے معاف کر دیا تھا۔ اور اِس دستاویز پر دستخط کس کے ہیں؟ سیدنا علی، سیدنا سعد بن معاذ، اور سیدنا معاویہ ؓ۔ کاغذ دیکھنے میں واقعی صدیوں پرانا لگتا ہے۔ مسلمان تقریباً مان ہی لینے والے ہیں کہ چلو جزیہ معاف کر دیتے ہیں…»</a:t>
            </a:r>
          </a:p>
          <a:p>
            <a:pPr rtl="1"/>
            <a:r>
              <a:rPr>
                <a:cs typeface="Jameel Noori Nastaleeq"/>
              </a:rPr>
              <a:t>— یہاں رکیں، آواز دھیمی کریں —</a:t>
            </a:r>
          </a:p>
          <a:p>
            <a:pPr rtl="1"/>
            <a:r>
              <a:rPr>
                <a:cs typeface="Jameel Noori Nastaleeq"/>
              </a:rPr>
              <a:t>«لیکن آخری فیصلے سے پہلے یہ کاغذ ایک عالم کو دکھایا جاتا ہے — امام الخطیب البغدادی۔» (پھر اگلی slide)</a:t>
            </a:r>
          </a:p>
          <a:p>
            <a:pPr rtl="1"/>
            <a:r>
              <a:rPr>
                <a:cs typeface="Jameel Noori Nastaleeq"/>
              </a:rPr>
              <a:t>اگر اٹک جائیں: بس اتنا یاد رکھیں — پرانی دستاویز، تین صحابہؓ کے دستخط، سب ماننے کو تیار، پھر ایک عالم کو دکھائی گئی۔</a:t>
            </a:r>
          </a:p>
          <a:p>
            <a:r>
              <a:rPr>
                <a:cs typeface="Jameel Noori Nastaleeq"/>
              </a:rPr>
              <a:t>Ref: muqaddima p.57-58 (al-Muntazam, Ibn al-Jawzi).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rPr>
                <a:cs typeface="Jameel Noori Nastaleeq"/>
              </a:rPr>
              <a:t>دونوں نکتے مزے لے کر، ایک ایک کر کے بولیں:</a:t>
            </a:r>
          </a:p>
          <a:p>
            <a:pPr rtl="1"/>
            <a:r>
              <a:rPr>
                <a:cs typeface="Jameel Noori Nastaleeq"/>
              </a:rPr>
              <a:t>«ایک ہی نظر۔ امام الخطیب فرماتے ہیں: یہ جعلی ہے۔ کیسے؟ دو باتیں۔»</a:t>
            </a:r>
          </a:p>
          <a:p>
            <a:pPr rtl="1"/>
            <a:r>
              <a:rPr>
                <a:cs typeface="Jameel Noori Nastaleeq"/>
              </a:rPr>
              <a:t>«پہلی بات: سیدنا معاویہ ؓ تو خیبر کے بعد مسلمان ہوئے — وہ خیبر کے معاہدے پر دستخط کر ہی نہیں سکتے تھے۔»</a:t>
            </a:r>
          </a:p>
          <a:p>
            <a:pPr rtl="1"/>
            <a:r>
              <a:rPr>
                <a:cs typeface="Jameel Noori Nastaleeq"/>
              </a:rPr>
              <a:t>«دوسری بات: سیدنا سعد بن معاذ ؓ تو اِس سے برسوں پہلے غزوۂ خندق میں شہید ہو چکے تھے — ایک فوت شدہ شخص بھلا دستخط کیسے کرے گا؟»</a:t>
            </a:r>
          </a:p>
          <a:p>
            <a:pPr rtl="1"/>
            <a:r>
              <a:rPr>
                <a:cs typeface="Jameel Noori Nastaleeq"/>
              </a:rPr>
              <a:t>«ایک غیر مسلم اور ایک فوت شدہ، دونوں کے دستخط ایک ہی معاہدے پر — تاریخوں نے جھوٹ کھول دیا۔»</a:t>
            </a:r>
          </a:p>
          <a:p>
            <a:pPr rtl="1"/>
            <a:r>
              <a:rPr>
                <a:cs typeface="Jameel Noori Nastaleeq"/>
              </a:rPr>
              <a:t>پھر سامعین سے پوچھیں: «سوچیے، ایک نظر میں کیسے پکڑ لیا؟ کیونکہ اُن کے پاس تاریخ تھی۔»</a:t>
            </a:r>
          </a:p>
          <a:p>
            <a:pPr rtl="1"/>
            <a:r>
              <a:rPr>
                <a:cs typeface="Jameel Noori Nastaleeq"/>
              </a:rPr>
              <a:t>پُل (آج کے موضوع کی طرف): «یہی آج کا موضوع ہے — وہ علم جس سے ہم سچ اور جھوٹ الگ کرتے ہیں۔»</a:t>
            </a:r>
          </a:p>
          <a:p>
            <a:pPr rtl="1"/>
            <a:r>
              <a:rPr>
                <a:cs typeface="Jameel Noori Nastaleeq"/>
              </a:rPr>
              <a:t>اگر اٹک جائیں: دو نکتے کافی ہیں — معاویہؓ بعد میں مسلمان ہوئے؛ سعد بن معاذؓ پہلے شہید ہو چکے تھے۔</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rPr>
                <a:cs typeface="Jameel Noori Nastaleeq"/>
              </a:rPr>
              <a:t>اِس slide کو ٹھہرنے دیں۔ تین سیکنڈ رک کر آگے جائیں۔ یہی پوری lecture کا نقطہ ہے۔</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rPr>
                <a:cs typeface="Jameel Noori Nastaleeq"/>
              </a:rPr>
              <a:t>LIGHT slide ~1.5 min — مگر یہاں تفصیل موجود ہے اگر کھولنا ہو۔ ابنِ خلدون کی تعریف: ”گزری ہوئی قوموں، حکومتوں اور لوگوں کی خبر۔“ علامہ سخاوی: موضوع = الإنسان والزمان — تاریخ کا اصل موضوع انسان اور زمانہ ہے: کس دور میں انسان کو کیا پیش آیا۔ ایک اور بات: تاریخ عام طور پر صرف *غیر معمولی* لوگ (بادشاہ، وزراء، علماء، فاتحین) کا ذکر کرتی ہے؛ اِسی لیے کہتے ہیں تاریخ ”مشاہیر کے احوال کا علم“ ہے۔</a:t>
            </a:r>
          </a:p>
          <a:p>
            <a:r>
              <a:rPr>
                <a:cs typeface="Jameel Noori Nastaleeq"/>
              </a:rPr>
              <a:t>Ref: muqaddima p.32-33.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rPr>
                <a:cs typeface="Jameel Noori Nastaleeq"/>
              </a:rPr>
              <a:t>انصاف سے بولیں، مذاق نہیں۔ ”یہ لوگ محنتی ہیں — لیکن اِن کے پاس سند کا نظام نہیں۔“ پھر ہمارا طریقہ: ”ہم پوچھتے ہیں — یہ کس نے کہا؟ وہ کون تھا؟ وہاں موجود بھی تھا؟“ اصل فرق: ہم نے روایت پر *درایت* (عقل سے پرکھنا) بھی شامل کی۔</a:t>
            </a:r>
          </a:p>
          <a:p>
            <a:r>
              <a:rPr>
                <a:cs typeface="Jameel Noori Nastaleeq"/>
              </a:rPr>
              <a:t>Ref: muqaddima p.43-44, 48-49.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rPr>
                <a:cs typeface="Jameel Noori Nastaleeq"/>
              </a:rPr>
              <a:t>یہ quote timeline کا پُل ہے۔ بولیں: ”تاریخ — یعنی وقت کا علم — وہ ہتھیار ہے جس سے جھوٹ پکڑا جاتا ہے۔ اور اگر وقت اتنا اہم ہے، تو سوال یہ ہے — ہم خود کہاں کھڑے ہیں؟“</a:t>
            </a:r>
          </a:p>
          <a:p>
            <a:r>
              <a:rPr>
                <a:cs typeface="Jameel Noori Nastaleeq"/>
              </a:rPr>
              <a:t>Ref: muqaddima p.57.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rPr>
                <a:cs typeface="Jameel Noori Nastaleeq"/>
              </a:rPr>
              <a:t>صرف دو peg لگائیں: لمبا دھندلا ”پہلے“ (مت سمجھائیں)، اور ہجرت ہمارا صفر۔ پوچھیں: ”اندازہ لگائیے — ہجرت کو کتنے سال ہو گئے؟“ اندازہ کروائیں، پھر اگلی slide. (جواب: تقریباً ۱۴۴۷)</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rPr>
                <a:cs typeface="Jameel Noori Nastaleeq"/>
              </a:rPr>
              <a:t>اب پوری لکیر دکھائیں، ہاتھ سے trace کریں۔ ”ہم اِس پوری لکیر پر چلیں گے — ابوبکرؓ سے آج تک۔“ یہ نکتہ اٹھائیں کہ ہم کتنے *حالیہ* ہیں — یہ سب صرف پچھلے ۱۴۰۰ سال، انسانی تاریخ کا ایک پتلا سا ٹکڑا۔</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rPr>
                <a:cs typeface="Jameel Noori Nastaleeq"/>
              </a:rPr>
              <a:t>پیاری، انسانی کہانی — گرم جوشی سے، تفصیل سے سنائیں:</a:t>
            </a:r>
          </a:p>
          <a:p>
            <a:pPr rtl="1"/>
            <a:r>
              <a:rPr>
                <a:cs typeface="Jameel Noori Nastaleeq"/>
              </a:rPr>
              <a:t>«سیدنا عمر ؓ کے دور میں سلطنت بہت پھیل چکی تھی، سرکاری خطوں اور دستاویزات کا انبار لگ گیا۔ ایک دن آپؓ کے پاس ایک خط آیا جس پر صرف ’شعبان‘ لکھا تھا۔ آپؓ نے پوچھا: یہ کس سال کا شعبان ہے؟ کسی کو پتا نہ چلے کہ کون سی تحریر کس سال کی ہے۔»</a:t>
            </a:r>
          </a:p>
          <a:p>
            <a:pPr rtl="1"/>
            <a:r>
              <a:rPr>
                <a:cs typeface="Jameel Noori Nastaleeq"/>
              </a:rPr>
              <a:t>«صحابہؓ نے مشورہ کیا۔ کسی نے کہا رومیوں کا کیلنڈر لے لیں — عمرؓ نے فرمایا وہ بہت طویل ہے۔ کسی نے کہا فارس کا — فرمایا اُن کے ہاں ہر بادشاہ پر گنتی نئے سرے سے شروع ہوتی ہے۔ آخر طے ہوا کہ اپنی الگ تقویم ہو۔»</a:t>
            </a:r>
          </a:p>
          <a:p>
            <a:pPr rtl="1"/>
            <a:r>
              <a:rPr>
                <a:cs typeface="Jameel Noori Nastaleeq"/>
              </a:rPr>
              <a:t>«اب سوال: کہاں سے گنیں؟ تین تجاویز آئیں — نبی ﷺ کی ولادت سے، ہجرت سے، یا وفات سے۔ عمرؓ نے ہجرت چنی — ’کیونکہ اِسی نے حق اور باطل میں فرق کیا۔‘»</a:t>
            </a:r>
          </a:p>
          <a:p>
            <a:pPr rtl="1"/>
            <a:r>
              <a:rPr>
                <a:cs typeface="Jameel Noori Nastaleeq"/>
              </a:rPr>
              <a:t>«اور اِسی طرح ہمارا ہجری کیلنڈر بنا — اور اِسی لیے ہماری ٹائم لائن کا صفر ہجرت ہے۔»</a:t>
            </a:r>
          </a:p>
          <a:p>
            <a:pPr rtl="1"/>
            <a:r>
              <a:rPr>
                <a:cs typeface="Jameel Noori Nastaleeq"/>
              </a:rPr>
              <a:t>EXTRA: مہینے کا آغاز محرم سے رکھنے کا مشورہ حضرت عثمانؓ کا تھا؛ سیوطیؒ کے مطابق خود نبی ﷺ نے ایک تحریر پر ’سن ۵‘ لکھوایا تھا۔</a:t>
            </a:r>
          </a:p>
          <a:p>
            <a:r>
              <a:rPr>
                <a:cs typeface="Jameel Noori Nastaleeq"/>
              </a:rPr>
              <a:t>Ref: muqaddima p.36-37.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rPr>
                <a:cs typeface="Jameel Noori Nastaleeq"/>
              </a:rPr>
              <a:t>یہ slide ہلکی رکھ سکتے ہیں، لیکن نیچے پوری کہانی موجود ہے اگر کھولنا ہو:</a:t>
            </a:r>
          </a:p>
          <a:p>
            <a:pPr rtl="1"/>
            <a:r>
              <a:rPr>
                <a:cs typeface="Jameel Noori Nastaleeq"/>
              </a:rPr>
              <a:t>«اسلام سے پہلے ایک دلچسپ گڑبڑ تھی۔ قمری سال شمسی سال سے تقریباً ۱۱ دن چھوٹا ہوتا ہے، اِس لیے قمری مہینے تقریباً ۳۳ سال میں سارے موسموں سے گزر جاتے ہیں — کبھی حج گرمی میں، کبھی سردی میں۔»</a:t>
            </a:r>
          </a:p>
          <a:p>
            <a:pPr rtl="1"/>
            <a:r>
              <a:rPr>
                <a:cs typeface="Jameel Noori Nastaleeq"/>
              </a:rPr>
              <a:t>«مشرکین چاہتے تھے کہ حج ہمیشہ گرمی اور تجارت کے موسم میں رہے، کیونکہ تب کھجوریں اور مویشی بکتے تھے۔ تو بنو کنانہ کا ایک سردار ہر حج پر اعلان کرتا کہ اگلا سال ۱۲ مہینے کا ہوگا یا ۱۳ — یعنی جب چاہتے ایک تیرہواں مہینہ بڑھا دیتے۔»</a:t>
            </a:r>
          </a:p>
          <a:p>
            <a:pPr rtl="1"/>
            <a:r>
              <a:rPr>
                <a:cs typeface="Jameel Noori Nastaleeq"/>
              </a:rPr>
              <a:t>«اِس ہیر پھیر سے چار ’اشہرِ حرم‘ اپنی اصل جگہ سے ہٹ گئے۔ قرآن نے اِسے ’النسیء‘ کہا — ’زیادۃ فی الکفر‘ (التوبہ ۹:۳۷)۔»</a:t>
            </a:r>
          </a:p>
          <a:p>
            <a:pPr rtl="1"/>
            <a:r>
              <a:rPr>
                <a:cs typeface="Jameel Noori Nastaleeq"/>
              </a:rPr>
              <a:t>«حجۃ الوداع پر نبی ﷺ نے فرمایا: ’ان الزمان قد استدار…‘ — زمانہ گھوم کر پھر اُسی حالت پر آ گیا جیسا اللہ نے بنایا تھا — اور یہ گڑبڑ ہمیشہ کے لیے ختم کر دی۔»</a:t>
            </a:r>
          </a:p>
          <a:p>
            <a:pPr rtl="1"/>
            <a:r>
              <a:rPr>
                <a:cs typeface="Jameel Noori Nastaleeq"/>
              </a:rPr>
              <a:t>اگر اٹک جائیں: مشرکین مہینے آگے پیچھے کرتے تھے تاکہ حج تجارت کے موسم میں رہے؛ نبی ﷺ نے حجۃ الوداع پر بند کر دیا۔ یہی سیرت کی کچھ تاریخوں میں فرق کی ایک وجہ ہے۔</a:t>
            </a:r>
          </a:p>
          <a:p>
            <a:r>
              <a:rPr>
                <a:cs typeface="Jameel Noori Nastaleeq"/>
              </a:rPr>
              <a:t>Ref: muqaddima p.38-40; al-Tawba 9:37; Bukhari (farewell-hajj hadith).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rPr>
                <a:cs typeface="Jameel Noori Nastaleeq"/>
              </a:rPr>
              <a:t>نقشہ embed ہو چکا ہے (Kings &amp; Generals frame)۔ یہاں تھوڑا وقت دیں — جغرافیہ ٹھیک کریں: روم/بازنطین شمال مغرب، فارس/ساسانی مشرق، عرب قبائل بیچ میں۔ Point کریں کربلا، دمشق، کوفہ، قرطبہ آگے کہاں ہوں گے۔ پورا term فائدہ دے گا۔</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rPr>
                <a:cs typeface="Jameel Noori Nastaleeq"/>
              </a:rPr>
              <a:t>یہ slide management کے لیے اہم ہے۔ Guardrail *ابھی*، آرام سے بولیں — کسی حساس چیز سے پہلے۔</a:t>
            </a:r>
          </a:p>
          <a:p>
            <a:pPr rtl="1"/>
            <a:r>
              <a:rPr>
                <a:cs typeface="Jameel Noori Nastaleeq"/>
              </a:rPr>
              <a:t>EXTRA: فقہاء نے تاریخ کے *پڑھنے* کا حکم بھی بیان کیا — کچھ فرضِ عین (اتنی سیرت کہ اپنے نبی ﷺ کو پہچانیں)، کچھ فرضِ کفایہ، نیچے مکروہ (فضول قصے) اور حرام (بے حیائی کی حکایات)۔</a:t>
            </a:r>
          </a:p>
          <a:p>
            <a:r>
              <a:rPr>
                <a:cs typeface="Jameel Noori Nastaleeq"/>
              </a:rPr>
              <a:t>Ref: muqaddima p.52-53; Yusuf 12:111.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rPr>
                <a:cs typeface="Jameel Noori Nastaleeq"/>
              </a:rPr>
              <a:t>اہم framing — یہ سیدھا مشاجرات کے لیے بنیاد ہے (management کا concern بھی)۔ بولیں: ”سیرت اور صحابہؓ کا دور تو دین کی بھی تاریخ ہے۔ لیکن بعد کے بادشاہوں کی آپس کی جنگیں، خاندانی جھگڑے — یہ *مسلمانوں* کی تاریخ ہے، اسلام کی نہیں۔ طبری، البدایہ، الکامل — اِنہیں قوم کی تاریخ کی طرح پڑھیں، مذہب کی تاریخ کی طرح نہیں۔“</a:t>
            </a:r>
          </a:p>
          <a:p>
            <a:r>
              <a:rPr>
                <a:cs typeface="Jameel Noori Nastaleeq"/>
              </a:rPr>
              <a:t>Ref: muqaddima p.61.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rPr>
                <a:cs typeface="Jameel Noori Nastaleeq"/>
              </a:rPr>
              <a:t>Part B شروع۔ Energy بدلیں — اب heroes سے مل رہے ہیں۔ ”یہ سب سینوں میں یا کاغذ پر کیسے بچ گیا؟ کچھ لوگوں نے اپنی زندگیاں لگا دیں۔“</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rPr>
                <a:cs typeface="Jameel Noori Nastaleeq"/>
              </a:rPr>
              <a:t>آرام سے: ”دو بنیادیں۔ ایک — سیرت نگاری۔ دوسری — فنِ رجال، یعنی ہر راوی کا پورا حساب۔“</a:t>
            </a:r>
          </a:p>
          <a:p>
            <a:r>
              <a:rPr>
                <a:cs typeface="Jameel Noori Nastaleeq"/>
              </a:rPr>
              <a:t>Ref: muqaddima p.43-44.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cs typeface="Jameel Noori Nastaleeq"/>
              </a:rPr>
              <a:t>LIGHT ~1 min.</a:t>
            </a:r>
          </a:p>
          <a:p>
            <a:pPr rtl="1"/>
            <a:r>
              <a:rPr>
                <a:cs typeface="Jameel Noori Nastaleeq"/>
              </a:rPr>
              <a:t>«یہ چار مرحلے ہر علم کے ہوتے ہیں، بالکل گھر بنانے کی طرح — بنیاد (تاسیس)، دیواریں اور مال جمع (تدوین)، پلستر اور صفائی یعنی کمزور مال نکالنا (تنقیح)، اور رنگ روغن یعنی بہتر و آسان بنانا (تکمیل)۔»</a:t>
            </a:r>
          </a:p>
          <a:p>
            <a:pPr rtl="1"/>
            <a:r>
              <a:rPr>
                <a:cs typeface="Jameel Noori Nastaleeq"/>
              </a:rPr>
              <a:t>خاص نکتہ (کوئی پوچھے تو): «تاریخ نگاری، یعنی یہ فن، کی *تاسیس* اسلام سے پہلے یونان و روم میں ہو چکی تھی، مگر بغیر سند کے۔ مسلمانوں نے اِسے سند اور اصول کے ساتھ ایک باقاعدہ *علم* بنایا۔»</a:t>
            </a:r>
          </a:p>
          <a:p>
            <a:pPr rtl="1"/>
            <a:r>
              <a:rPr>
                <a:cs typeface="Jameel Noori Nastaleeq"/>
              </a:rPr>
              <a:t>«تاریخ کی تدوین ۲-۳-۴ ہجری؛ تنقیح ۷ویں صدی (ذہبی ’تاریخ الاسلام‘، ابن کثیر ’البدایہ‘)؛ تہذیب کا عروج ۸ویں صدی (ابن خلدون)۔»</a:t>
            </a:r>
          </a:p>
          <a:p>
            <a:r>
              <a:rPr>
                <a:cs typeface="Jameel Noori Nastaleeq"/>
              </a:rPr>
              <a:t>Ref: muqaddima p.41-42, 45.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rPr>
                <a:cs typeface="Jameel Noori Nastaleeq"/>
              </a:rPr>
              <a:t>تیزی سے، نام رٹنے کی ضرورت نہیں — slide خود carry کر رہی ہے۔ مختصر تعارف:</a:t>
            </a:r>
          </a:p>
          <a:p>
            <a:pPr rtl="1"/>
            <a:r>
              <a:rPr>
                <a:cs typeface="Jameel Noori Nastaleeq"/>
              </a:rPr>
              <a:t>«پہلے سیرت سینوں میں تھی۔ زہریؒ نے پہلی مغازی کی کتاب لکھی؛ ابن اسحاقؒ نے سب جمع کیا؛ ابن ہشامؒ نے اُسے صاف کر کے وہ سیرت دی جو آج بھی سب سے مشہور ہے۔»</a:t>
            </a:r>
          </a:p>
          <a:p>
            <a:pPr rtl="1"/>
            <a:r>
              <a:rPr>
                <a:cs typeface="Jameel Noori Nastaleeq"/>
              </a:rPr>
              <a:t>«واقدیؒ بہت رنگین اور تفصیل والے تھے مگر روایت میں ذرا بے احتیاط؛ اُن کے شاگرد ابن سعدؒ زیادہ محتاط نکلے — اُن کی ’طبقات‘ صحابہؓ کے حالات کا خزانہ ہے۔ بلاذریؒ نے شہر بہ شہر فتوحات لکھیں۔»</a:t>
            </a:r>
          </a:p>
          <a:p>
            <a:pPr rtl="1"/>
            <a:r>
              <a:rPr>
                <a:cs typeface="Jameel Noori Nastaleeq"/>
              </a:rPr>
              <a:t>سب سے اہم نکتہ (ضرور کہیں): «یعقوبی اور مسعودی شیعہ مؤرخ تھے — اُن کے بعض حصے صحابہؓ کے خلاف جھکتے ہیں۔ اِس لیے ہمیشہ پوچھیں: یہ لکھا کس نے؟»</a:t>
            </a:r>
          </a:p>
          <a:p>
            <a:r>
              <a:rPr>
                <a:cs typeface="Jameel Noori Nastaleeq"/>
              </a:rPr>
              <a:t>Ref: muqaddima p.43-46.</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rPr>
                <a:cs typeface="Jameel Noori Nastaleeq"/>
              </a:rPr>
              <a:t>کتابوں کو ایک ’شیلف‘ کی طرح پیش کریں:</a:t>
            </a:r>
          </a:p>
          <a:p>
            <a:pPr rtl="1"/>
            <a:r>
              <a:rPr>
                <a:cs typeface="Jameel Noori Nastaleeq"/>
              </a:rPr>
              <a:t>«پانچ بڑی ماں کتابیں ہیں، باقی سب اِنہی سے نکلتی ہیں۔ طبری — کچا کنواں، ہر روایت سند کے ساتھ۔ ابن اثیر کی ’الکامل‘ — سال بہ سال، نچوڑ کر۔ ذہبی کی ’تاریخ الاسلام‘ — سب سے سخت چھان بین۔ ابن کثیر کی ’البدایہ‘ — سند اور عقل دونوں، پڑھنے میں سب سے آسان۔ اور ابن خلدون — جن کے مقدمے نے عمرانیات (سوشیالوجی) کی بنیاد رکھی۔»</a:t>
            </a:r>
          </a:p>
          <a:p>
            <a:pPr rtl="1"/>
            <a:r>
              <a:rPr>
                <a:cs typeface="Jameel Noori Nastaleeq"/>
              </a:rPr>
              <a:t>مزیدار بات (اعتراض کا توڑ): «دو طبری تھے، بالکل ایک ہی نام! ہمارے والے، یزید کے پوتے، سنی امام؛ دوسرے، رستم کی نسل سے، شیعہ۔ اِسی نام کی مشابہت سے لوگوں نے ہمارے طبری کو بھی شیعہ سمجھ لیا — حالانکہ وہ نہیں تھے، حافظ ذہبیؒ نے خود اِس الزام کی تردید کی۔»</a:t>
            </a:r>
          </a:p>
          <a:p>
            <a:pPr rtl="1"/>
            <a:r>
              <a:rPr>
                <a:cs typeface="Jameel Noori Nastaleeq"/>
              </a:rPr>
              <a:t>EXTRA: دو چھپے جواہر بھی — المنتظم (ابن جوزی) اور مرآۃ الزمان (اُن کے نواسے)۔</a:t>
            </a:r>
          </a:p>
          <a:p>
            <a:r>
              <a:rPr>
                <a:cs typeface="Jameel Noori Nastaleeq"/>
              </a:rPr>
              <a:t>Ref: muqaddima p.69-78.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rPr>
                <a:cs typeface="Jameel Noori Nastaleeq"/>
              </a:rPr>
              <a:t>«ایک اور مثال کہ یہ اصول جعلی کہانی کیسے پکڑتے ہیں۔ ایک قصہ مشہور ہوا کہ مامون الرشید نے امام شافعیؒ کو آزمانے کے لیے اتنی شراب پلائی جو کسی عام آدمی کو گرا دے — مگر امام صاحب پر کوئی اثر نہ ہوا۔»</a:t>
            </a:r>
          </a:p>
          <a:p>
            <a:pPr rtl="1"/>
            <a:r>
              <a:rPr>
                <a:cs typeface="Jameel Noori Nastaleeq"/>
              </a:rPr>
              <a:t>«حافظ ابن حجرؒ نے ’لسان المیزان‘ میں دو ہی باتوں سے اِسے جعلی ثابت کر دیا۔ ایک — تاریخی طور پر امام شافعیؒ کا مامون سے ملنا ہی ثابت نہیں، تو سند ہی ٹوٹ گئی۔ دوسری — عقل: امام شافعیؒ تو وہ ہستی ہیں جو فرماتے تھے کہ اگر مجھے خدشہ ہو کہ ٹھنڈا پانی بھی میری سمجھ بوجھ پر اثر ڈالے گا تو میں عمر بھر گرم پانی پیوں — ایسی شخصیت کے بارے میں شراب کی کہانی؟!»</a:t>
            </a:r>
          </a:p>
          <a:p>
            <a:pPr rtl="1"/>
            <a:r>
              <a:rPr>
                <a:cs typeface="Jameel Noori Nastaleeq"/>
              </a:rPr>
              <a:t>اگر اٹک جائیں: سند ٹوٹی (شافعیؒ مامون سے ملے ہی نہیں)؛ اور عقل کہتی ہے — جو ٹھنڈا پانی چھوڑ دے، وہ شراب پیے گا؟</a:t>
            </a:r>
          </a:p>
          <a:p>
            <a:pPr rtl="1"/>
            <a:r>
              <a:rPr>
                <a:cs typeface="Jameel Noori Nastaleeq"/>
              </a:rPr>
              <a:t>[skippable اگر وقت کم ہو]</a:t>
            </a:r>
          </a:p>
          <a:p>
            <a:r>
              <a:rPr>
                <a:cs typeface="Jameel Noori Nastaleeq"/>
              </a:rPr>
              <a:t>Ref: muqaddima p.57 (Lisan al-Mizan, Ibn Hajar).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rPr>
                <a:cs typeface="Jameel Noori Nastaleeq"/>
              </a:rPr>
              <a:t>Take-home سوال پر ختم کریں (جواب: ”کس نے کہا؟ ماخذ کیا ہے؟“)۔ Banner لگا رہنے دیں۔ وقت ہو تو ایک دو ہلکے سوال لیں؛ گرم موضوع کو مسکرا کر سبق ۵ پر ٹال دیں۔</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rPr>
                <a:cs typeface="Jameel Noori Nastaleeq"/>
              </a:rPr>
              <a:t>اپنی credibility / handout کے لیے۔ Live دکھانے کی ضرورت نہیں جب تک کوئی پوچھے نہیں۔ سارے dates established ہیں اور source سے مطابقت رکھتے ہیں۔</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322E"/>
        </a:solidFill>
        <a:effectLst/>
      </p:bgPr>
    </p:bg>
    <p:spTree>
      <p:nvGrpSpPr>
        <p:cNvPr id="1" name=""/>
        <p:cNvGrpSpPr/>
        <p:nvPr/>
      </p:nvGrpSpPr>
      <p:grpSpPr/>
      <p:sp>
        <p:nvSpPr>
          <p:cNvPr id="2" name="Rectangle 1"/>
          <p:cNvSpPr/>
          <p:nvPr/>
        </p:nvSpPr>
        <p:spPr>
          <a:xfrm>
            <a:off x="0" y="2788920"/>
            <a:ext cx="12191695" cy="128016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2542032"/>
            <a:ext cx="2011680" cy="508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72800" cy="1097280"/>
          </a:xfrm>
          <a:prstGeom prst="rect">
            <a:avLst/>
          </a:prstGeom>
          <a:noFill/>
        </p:spPr>
        <p:txBody>
          <a:bodyPr wrap="square" anchor="t" lIns="50800" rIns="50800" tIns="25400" bIns="25400">
            <a:spAutoFit/>
          </a:bodyPr>
          <a:lstStyle/>
          <a:p>
            <a:pPr algn="l">
              <a:spcAft>
                <a:spcPts val="200"/>
              </a:spcAft>
            </a:pPr>
            <a:r>
              <a:rPr sz="1800" b="1" i="0">
                <a:solidFill>
                  <a:srgbClr val="C49A45"/>
                </a:solidFill>
                <a:latin typeface="Segoe UI"/>
                <a:cs typeface="Jameel Noori Nastaleeq"/>
              </a:rPr>
              <a:t>LESSONS FROM HISTORY · LESSON 1</a:t>
            </a:r>
          </a:p>
          <a:p>
            <a:pPr algn="l" rtl="1">
              <a:spcAft>
                <a:spcPts val="0"/>
              </a:spcAft>
            </a:pPr>
            <a:r>
              <a:rPr sz="2000" b="0" i="0">
                <a:solidFill>
                  <a:srgbClr val="FAF7F0"/>
                </a:solidFill>
                <a:latin typeface="Traditional Arabic"/>
                <a:cs typeface="Jameel Noori Nastaleeq"/>
              </a:rPr>
              <a:t>تاریخ سے سبق</a:t>
            </a:r>
          </a:p>
        </p:txBody>
      </p:sp>
      <p:sp>
        <p:nvSpPr>
          <p:cNvPr id="5" name="TextBox 4"/>
          <p:cNvSpPr txBox="1"/>
          <p:nvPr/>
        </p:nvSpPr>
        <p:spPr>
          <a:xfrm>
            <a:off x="640080" y="2880360"/>
            <a:ext cx="10972800" cy="1143000"/>
          </a:xfrm>
          <a:prstGeom prst="rect">
            <a:avLst/>
          </a:prstGeom>
          <a:noFill/>
        </p:spPr>
        <p:txBody>
          <a:bodyPr wrap="square" anchor="ctr" lIns="50800" rIns="50800" tIns="25400" bIns="25400">
            <a:spAutoFit/>
          </a:bodyPr>
          <a:lstStyle/>
          <a:p>
            <a:pPr algn="l">
              <a:spcAft>
                <a:spcPts val="0"/>
              </a:spcAft>
            </a:pPr>
            <a:r>
              <a:rPr sz="4000" b="1" i="0">
                <a:solidFill>
                  <a:srgbClr val="FFFFFF"/>
                </a:solidFill>
                <a:latin typeface="Georgia"/>
                <a:cs typeface="Jameel Noori Nastaleeq"/>
              </a:rPr>
              <a:t>How do we even know what really happened?</a:t>
            </a:r>
          </a:p>
        </p:txBody>
      </p:sp>
      <p:sp>
        <p:nvSpPr>
          <p:cNvPr id="6" name="TextBox 5"/>
          <p:cNvSpPr txBox="1"/>
          <p:nvPr/>
        </p:nvSpPr>
        <p:spPr>
          <a:xfrm>
            <a:off x="640080" y="4297680"/>
            <a:ext cx="10972800" cy="914400"/>
          </a:xfrm>
          <a:prstGeom prst="rect">
            <a:avLst/>
          </a:prstGeom>
          <a:noFill/>
        </p:spPr>
        <p:txBody>
          <a:bodyPr wrap="square" anchor="t" lIns="50800" rIns="50800" tIns="25400" bIns="25400">
            <a:spAutoFit/>
          </a:bodyPr>
          <a:lstStyle/>
          <a:p>
            <a:pPr algn="l" rtl="1">
              <a:spcAft>
                <a:spcPts val="400"/>
              </a:spcAft>
            </a:pPr>
            <a:r>
              <a:rPr sz="2600" b="0" i="0">
                <a:solidFill>
                  <a:srgbClr val="FAF7F0"/>
                </a:solidFill>
                <a:latin typeface="Traditional Arabic"/>
                <a:cs typeface="Jameel Noori Nastaleeq"/>
              </a:rPr>
              <a:t>ہمیں کیسے پتا کہ اصل میں ہوا کیا تھا؟</a:t>
            </a:r>
          </a:p>
          <a:p>
            <a:pPr algn="l">
              <a:spcAft>
                <a:spcPts val="0"/>
              </a:spcAft>
            </a:pPr>
            <a:r>
              <a:rPr sz="1600" b="0" i="0">
                <a:solidFill>
                  <a:srgbClr val="C49A45"/>
                </a:solidFill>
                <a:latin typeface="Segoe UI"/>
                <a:cs typeface="Jameel Noori Nastaleeq"/>
              </a:rPr>
              <a:t>The whole muqaddima, in one sitting</a:t>
            </a:r>
          </a:p>
        </p:txBody>
      </p:sp>
      <p:sp>
        <p:nvSpPr>
          <p:cNvPr id="7" name="TextBox 6"/>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cs typeface="Jameel Noori Nastaleeq"/>
              </a:rPr>
              <a:t>Lesson 1 · Title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cs typeface="Jameel Noori Nastaleeq"/>
              </a:rPr>
              <a:t>Baghdad · about a thousand years ago</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96112"/>
            <a:ext cx="10881360" cy="1097280"/>
          </a:xfrm>
          <a:prstGeom prst="rect">
            <a:avLst/>
          </a:prstGeom>
          <a:noFill/>
        </p:spPr>
        <p:txBody>
          <a:bodyPr wrap="square" anchor="t" lIns="50800" rIns="50800" tIns="25400" bIns="25400">
            <a:spAutoFit/>
          </a:bodyPr>
          <a:lstStyle/>
          <a:p>
            <a:pPr algn="l">
              <a:spcAft>
                <a:spcPts val="0"/>
              </a:spcAft>
            </a:pPr>
            <a:r>
              <a:rPr sz="3100" b="1" i="0">
                <a:solidFill>
                  <a:srgbClr val="0A322E"/>
                </a:solidFill>
                <a:latin typeface="Georgia"/>
                <a:cs typeface="Jameel Noori Nastaleeq"/>
              </a:rPr>
              <a:t>An old document shows up in court</a:t>
            </a:r>
          </a:p>
        </p:txBody>
      </p:sp>
      <p:sp>
        <p:nvSpPr>
          <p:cNvPr id="5" name="TextBox 4"/>
          <p:cNvSpPr txBox="1"/>
          <p:nvPr/>
        </p:nvSpPr>
        <p:spPr>
          <a:xfrm>
            <a:off x="640080" y="1965960"/>
            <a:ext cx="10881360" cy="3931920"/>
          </a:xfrm>
          <a:prstGeom prst="rect">
            <a:avLst/>
          </a:prstGeom>
          <a:noFill/>
        </p:spPr>
        <p:txBody>
          <a:bodyPr wrap="square" anchor="t" lIns="50800" rIns="50800" tIns="25400" bIns="25400">
            <a:spAutoFit/>
          </a:bodyPr>
          <a:lstStyle/>
          <a:p>
            <a:pPr algn="l">
              <a:spcAft>
                <a:spcPts val="1200"/>
              </a:spcAft>
            </a:pPr>
            <a:r>
              <a:rPr sz="2400" b="0" i="0">
                <a:solidFill>
                  <a:srgbClr val="1C2321"/>
                </a:solidFill>
                <a:latin typeface="Segoe UI"/>
                <a:cs typeface="Jameel Noori Nastaleeq"/>
              </a:rPr>
              <a:t>The Jews of Baghdad bring an old, worn-out paper to the authorities.</a:t>
            </a:r>
          </a:p>
          <a:p>
            <a:pPr algn="l">
              <a:spcAft>
                <a:spcPts val="1200"/>
              </a:spcAft>
            </a:pPr>
            <a:r>
              <a:rPr sz="2400" b="0" i="0">
                <a:solidFill>
                  <a:srgbClr val="1C2321"/>
                </a:solidFill>
                <a:latin typeface="Segoe UI"/>
                <a:cs typeface="Jameel Noori Nastaleeq"/>
              </a:rPr>
              <a:t>The claim: after Khaybar, the Prophet ﷺ freed them from jizya — for good.</a:t>
            </a:r>
          </a:p>
          <a:p>
            <a:pPr algn="l">
              <a:spcAft>
                <a:spcPts val="1200"/>
              </a:spcAft>
            </a:pPr>
            <a:r>
              <a:rPr sz="2400" b="1" i="0">
                <a:solidFill>
                  <a:srgbClr val="104A43"/>
                </a:solidFill>
                <a:latin typeface="Segoe UI"/>
                <a:cs typeface="Jameel Noori Nastaleeq"/>
              </a:rPr>
              <a:t>The signatures on it:  ʿAlī · Saʿd ibn Muʿādh · Muʿāwiyah</a:t>
            </a:r>
          </a:p>
          <a:p>
            <a:pPr algn="l" rtl="1">
              <a:spcAft>
                <a:spcPts val="600"/>
              </a:spcAft>
            </a:pPr>
            <a:r>
              <a:rPr sz="2200" b="0" i="0">
                <a:solidFill>
                  <a:srgbClr val="C49A45"/>
                </a:solidFill>
                <a:latin typeface="Jameel Noori Nastaleeq"/>
                <a:cs typeface="Jameel Noori Nastaleeq"/>
              </a:rPr>
              <a:t>کاغذ واقعی پرانا لگتا ہے۔ سب ماننے کو تیار ہیں…</a:t>
            </a:r>
          </a:p>
        </p:txBody>
      </p:sp>
      <p:sp>
        <p:nvSpPr>
          <p:cNvPr id="6" name="TextBox 5"/>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cs typeface="Jameel Noori Nastaleeq"/>
              </a:rPr>
              <a:t>Lesson 1 · The story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322E"/>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cs typeface="Jameel Noori Nastaleeq"/>
              </a:rPr>
              <a:t>One look was enough</a:t>
            </a:r>
          </a:p>
        </p:txBody>
      </p:sp>
      <p:sp>
        <p:nvSpPr>
          <p:cNvPr id="3" name="TextBox 2"/>
          <p:cNvSpPr txBox="1"/>
          <p:nvPr/>
        </p:nvSpPr>
        <p:spPr>
          <a:xfrm>
            <a:off x="640080" y="914400"/>
            <a:ext cx="10881360" cy="914400"/>
          </a:xfrm>
          <a:prstGeom prst="rect">
            <a:avLst/>
          </a:prstGeom>
          <a:noFill/>
        </p:spPr>
        <p:txBody>
          <a:bodyPr wrap="square" anchor="t" lIns="50800" rIns="50800" tIns="25400" bIns="25400">
            <a:spAutoFit/>
          </a:bodyPr>
          <a:lstStyle/>
          <a:p>
            <a:pPr algn="l">
              <a:spcAft>
                <a:spcPts val="0"/>
              </a:spcAft>
            </a:pPr>
            <a:r>
              <a:rPr sz="3400" b="1" i="0">
                <a:solidFill>
                  <a:srgbClr val="FFFFFF"/>
                </a:solidFill>
                <a:latin typeface="Georgia"/>
                <a:cs typeface="Jameel Noori Nastaleeq"/>
              </a:rPr>
              <a:t>Imam al-Khatib: “This is a fake.”</a:t>
            </a:r>
          </a:p>
        </p:txBody>
      </p:sp>
      <p:sp>
        <p:nvSpPr>
          <p:cNvPr id="4" name="Rectangle 3"/>
          <p:cNvSpPr/>
          <p:nvPr/>
        </p:nvSpPr>
        <p:spPr>
          <a:xfrm>
            <a:off x="640080" y="2240280"/>
            <a:ext cx="5212080" cy="2926080"/>
          </a:xfrm>
          <a:prstGeom prst="rect">
            <a:avLst/>
          </a:prstGeom>
          <a:solidFill>
            <a:srgbClr val="104A43"/>
          </a:solidFill>
          <a:ln w="19050">
            <a:solidFill>
              <a:srgbClr val="C49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0" y="2240280"/>
            <a:ext cx="5212080" cy="2926080"/>
          </a:xfrm>
          <a:prstGeom prst="rect">
            <a:avLst/>
          </a:prstGeom>
          <a:solidFill>
            <a:srgbClr val="104A43"/>
          </a:solidFill>
          <a:ln w="19050">
            <a:solidFill>
              <a:srgbClr val="C49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468880"/>
            <a:ext cx="4663440" cy="2468880"/>
          </a:xfrm>
          <a:prstGeom prst="rect">
            <a:avLst/>
          </a:prstGeom>
          <a:noFill/>
        </p:spPr>
        <p:txBody>
          <a:bodyPr wrap="square" anchor="t" lIns="50800" rIns="50800" tIns="25400" bIns="25400">
            <a:spAutoFit/>
          </a:bodyPr>
          <a:lstStyle/>
          <a:p>
            <a:pPr algn="l">
              <a:spcAft>
                <a:spcPts val="800"/>
              </a:spcAft>
            </a:pPr>
            <a:r>
              <a:rPr sz="1500" b="1" i="0">
                <a:solidFill>
                  <a:srgbClr val="C49A45"/>
                </a:solidFill>
                <a:latin typeface="Segoe UI"/>
                <a:cs typeface="Jameel Noori Nastaleeq"/>
              </a:rPr>
              <a:t>PROBLEM 1</a:t>
            </a:r>
          </a:p>
          <a:p>
            <a:pPr algn="l">
              <a:spcAft>
                <a:spcPts val="600"/>
              </a:spcAft>
            </a:pPr>
            <a:r>
              <a:rPr sz="2200" b="0" i="0">
                <a:solidFill>
                  <a:srgbClr val="FAF7F0"/>
                </a:solidFill>
                <a:latin typeface="Segoe UI"/>
                <a:cs typeface="Jameel Noori Nastaleeq"/>
              </a:rPr>
              <a:t>Muʿāwiyah became Muslim AFTER Khaybar.</a:t>
            </a:r>
          </a:p>
          <a:p>
            <a:pPr algn="l">
              <a:spcAft>
                <a:spcPts val="0"/>
              </a:spcAft>
            </a:pPr>
            <a:r>
              <a:rPr sz="2000" b="0" i="1">
                <a:solidFill>
                  <a:srgbClr val="FFFFFF"/>
                </a:solidFill>
                <a:latin typeface="Segoe UI"/>
                <a:cs typeface="Jameel Noori Nastaleeq"/>
              </a:rPr>
              <a:t>So how did he sign a Khaybar deal?</a:t>
            </a:r>
          </a:p>
        </p:txBody>
      </p:sp>
      <p:sp>
        <p:nvSpPr>
          <p:cNvPr id="7" name="TextBox 6"/>
          <p:cNvSpPr txBox="1"/>
          <p:nvPr/>
        </p:nvSpPr>
        <p:spPr>
          <a:xfrm>
            <a:off x="6583680" y="2468880"/>
            <a:ext cx="4663440" cy="2468880"/>
          </a:xfrm>
          <a:prstGeom prst="rect">
            <a:avLst/>
          </a:prstGeom>
          <a:noFill/>
        </p:spPr>
        <p:txBody>
          <a:bodyPr wrap="square" anchor="t" lIns="50800" rIns="50800" tIns="25400" bIns="25400">
            <a:spAutoFit/>
          </a:bodyPr>
          <a:lstStyle/>
          <a:p>
            <a:pPr algn="l">
              <a:spcAft>
                <a:spcPts val="800"/>
              </a:spcAft>
            </a:pPr>
            <a:r>
              <a:rPr sz="1500" b="1" i="0">
                <a:solidFill>
                  <a:srgbClr val="C49A45"/>
                </a:solidFill>
                <a:latin typeface="Segoe UI"/>
                <a:cs typeface="Jameel Noori Nastaleeq"/>
              </a:rPr>
              <a:t>PROBLEM 2</a:t>
            </a:r>
          </a:p>
          <a:p>
            <a:pPr algn="l">
              <a:spcAft>
                <a:spcPts val="600"/>
              </a:spcAft>
            </a:pPr>
            <a:r>
              <a:rPr sz="2200" b="0" i="0">
                <a:solidFill>
                  <a:srgbClr val="FAF7F0"/>
                </a:solidFill>
                <a:latin typeface="Segoe UI"/>
                <a:cs typeface="Jameel Noori Nastaleeq"/>
              </a:rPr>
              <a:t>Saʿd ibn Muʿādh had died years before, at Khandaq.</a:t>
            </a:r>
          </a:p>
          <a:p>
            <a:pPr algn="l">
              <a:spcAft>
                <a:spcPts val="0"/>
              </a:spcAft>
            </a:pPr>
            <a:r>
              <a:rPr sz="2000" b="0" i="1">
                <a:solidFill>
                  <a:srgbClr val="FFFFFF"/>
                </a:solidFill>
                <a:latin typeface="Segoe UI"/>
                <a:cs typeface="Jameel Noori Nastaleeq"/>
              </a:rPr>
              <a:t>A dead man, signing?</a:t>
            </a:r>
          </a:p>
        </p:txBody>
      </p:sp>
      <p:sp>
        <p:nvSpPr>
          <p:cNvPr id="8" name="TextBox 7"/>
          <p:cNvSpPr txBox="1"/>
          <p:nvPr/>
        </p:nvSpPr>
        <p:spPr>
          <a:xfrm>
            <a:off x="640080" y="5394960"/>
            <a:ext cx="10881360" cy="914400"/>
          </a:xfrm>
          <a:prstGeom prst="rect">
            <a:avLst/>
          </a:prstGeom>
          <a:noFill/>
        </p:spPr>
        <p:txBody>
          <a:bodyPr wrap="square" anchor="t" lIns="50800" rIns="50800" tIns="25400" bIns="25400">
            <a:spAutoFit/>
          </a:bodyPr>
          <a:lstStyle/>
          <a:p>
            <a:pPr algn="l">
              <a:spcAft>
                <a:spcPts val="0"/>
              </a:spcAft>
            </a:pPr>
            <a:r>
              <a:rPr sz="2300" b="1" i="0">
                <a:solidFill>
                  <a:srgbClr val="C49A45"/>
                </a:solidFill>
                <a:latin typeface="Segoe UI"/>
                <a:cs typeface="Jameel Noori Nastaleeq"/>
              </a:rPr>
              <a:t>The dates gave the whole thing away.</a:t>
            </a:r>
          </a:p>
        </p:txBody>
      </p:sp>
      <p:sp>
        <p:nvSpPr>
          <p:cNvPr id="9" name="TextBox 8"/>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cs typeface="Jameel Noori Nastaleeq"/>
              </a:rPr>
              <a:t>Lesson 1 · The catch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C49A45"/>
        </a:solidFill>
        <a:effectLst/>
      </p:bgPr>
    </p:bg>
    <p:spTree>
      <p:nvGrpSpPr>
        <p:cNvPr id="1" name=""/>
        <p:cNvGrpSpPr/>
        <p:nvPr/>
      </p:nvGrpSpPr>
      <p:grpSpPr/>
      <p:sp>
        <p:nvSpPr>
          <p:cNvPr id="2" name="TextBox 1"/>
          <p:cNvSpPr txBox="1"/>
          <p:nvPr/>
        </p:nvSpPr>
        <p:spPr>
          <a:xfrm>
            <a:off x="1097280" y="2194560"/>
            <a:ext cx="9966960" cy="2468880"/>
          </a:xfrm>
          <a:prstGeom prst="rect">
            <a:avLst/>
          </a:prstGeom>
          <a:noFill/>
        </p:spPr>
        <p:txBody>
          <a:bodyPr wrap="square" anchor="ctr" lIns="50800" rIns="50800" tIns="25400" bIns="25400">
            <a:spAutoFit/>
          </a:bodyPr>
          <a:lstStyle/>
          <a:p>
            <a:pPr algn="ctr">
              <a:spcAft>
                <a:spcPts val="1600"/>
              </a:spcAft>
            </a:pPr>
            <a:r>
              <a:rPr sz="3400" b="1" i="0">
                <a:solidFill>
                  <a:srgbClr val="0A322E"/>
                </a:solidFill>
                <a:latin typeface="Georgia"/>
                <a:cs typeface="Jameel Noori Nastaleeq"/>
              </a:rPr>
              <a:t>History isn't just the nice stories we like.</a:t>
            </a:r>
          </a:p>
          <a:p>
            <a:pPr algn="ctr">
              <a:spcAft>
                <a:spcPts val="0"/>
              </a:spcAft>
            </a:pPr>
            <a:r>
              <a:rPr sz="3000" b="0" i="0">
                <a:solidFill>
                  <a:srgbClr val="1C2321"/>
                </a:solidFill>
                <a:latin typeface="Georgia"/>
                <a:cs typeface="Jameel Noori Nastaleeq"/>
              </a:rPr>
              <a:t>There's a way to check it. So — who has that 'way'?</a:t>
            </a:r>
          </a:p>
        </p:txBody>
      </p:sp>
      <p:sp>
        <p:nvSpPr>
          <p:cNvPr id="3" name="TextBox 2"/>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cs typeface="Jameel Noori Nastaleeq"/>
              </a:rPr>
              <a:t>Lesson 1 · The point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cs typeface="Jameel Noori Nastaleeq"/>
              </a:rPr>
              <a:t>Quick — what even counts as 'history'?</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96112"/>
            <a:ext cx="10881360" cy="1097280"/>
          </a:xfrm>
          <a:prstGeom prst="rect">
            <a:avLst/>
          </a:prstGeom>
          <a:noFill/>
        </p:spPr>
        <p:txBody>
          <a:bodyPr wrap="square" anchor="t" lIns="50800" rIns="50800" tIns="25400" bIns="25400">
            <a:spAutoFit/>
          </a:bodyPr>
          <a:lstStyle/>
          <a:p>
            <a:pPr algn="l">
              <a:spcAft>
                <a:spcPts val="0"/>
              </a:spcAft>
            </a:pPr>
            <a:r>
              <a:rPr sz="3000" b="1" i="0">
                <a:solidFill>
                  <a:srgbClr val="0A322E"/>
                </a:solidFill>
                <a:latin typeface="Georgia"/>
                <a:cs typeface="Jameel Noori Nastaleeq"/>
              </a:rPr>
              <a:t>It comes down to time-order</a:t>
            </a:r>
          </a:p>
        </p:txBody>
      </p:sp>
      <p:sp>
        <p:nvSpPr>
          <p:cNvPr id="5" name="Rectangle 4"/>
          <p:cNvSpPr/>
          <p:nvPr/>
        </p:nvSpPr>
        <p:spPr>
          <a:xfrm>
            <a:off x="640080" y="2468880"/>
            <a:ext cx="3454298" cy="228600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468880"/>
            <a:ext cx="3454298"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2615184"/>
            <a:ext cx="3125114" cy="2011680"/>
          </a:xfrm>
          <a:prstGeom prst="rect">
            <a:avLst/>
          </a:prstGeom>
          <a:noFill/>
        </p:spPr>
        <p:txBody>
          <a:bodyPr wrap="square" anchor="t" lIns="50800" rIns="50800" tIns="25400" bIns="25400">
            <a:spAutoFit/>
          </a:bodyPr>
          <a:lstStyle/>
          <a:p>
            <a:pPr algn="l">
              <a:spcAft>
                <a:spcPts val="200"/>
              </a:spcAft>
            </a:pPr>
            <a:r>
              <a:rPr sz="2000" b="1" i="0">
                <a:solidFill>
                  <a:srgbClr val="0A322E"/>
                </a:solidFill>
                <a:latin typeface="Segoe UI"/>
                <a:cs typeface="Jameel Noori Nastaleeq"/>
              </a:rPr>
              <a:t>In a poem</a:t>
            </a:r>
          </a:p>
          <a:p>
            <a:pPr algn="l" rtl="1">
              <a:spcAft>
                <a:spcPts val="600"/>
              </a:spcAft>
            </a:pPr>
            <a:r>
              <a:rPr sz="1300" b="1" i="0">
                <a:solidFill>
                  <a:srgbClr val="C49A45"/>
                </a:solidFill>
                <a:latin typeface="Jameel Noori Nastaleeq"/>
                <a:cs typeface="Jameel Noori Nastaleeq"/>
              </a:rPr>
              <a:t>شاعری</a:t>
            </a:r>
          </a:p>
          <a:p>
            <a:pPr algn="l">
              <a:spcAft>
                <a:spcPts val="0"/>
              </a:spcAft>
            </a:pPr>
            <a:r>
              <a:rPr sz="1700" b="0" i="0">
                <a:solidFill>
                  <a:srgbClr val="1C2321"/>
                </a:solidFill>
                <a:latin typeface="Segoe UI"/>
                <a:cs typeface="Jameel Noori Nastaleeq"/>
              </a:rPr>
              <a:t>told to move you, to give a lesson</a:t>
            </a:r>
          </a:p>
        </p:txBody>
      </p:sp>
      <p:sp>
        <p:nvSpPr>
          <p:cNvPr id="8" name="Rectangle 7"/>
          <p:cNvSpPr/>
          <p:nvPr/>
        </p:nvSpPr>
        <p:spPr>
          <a:xfrm>
            <a:off x="4368698" y="2468880"/>
            <a:ext cx="3454298" cy="228600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68698" y="2468880"/>
            <a:ext cx="3454298"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3290" y="2615184"/>
            <a:ext cx="3125114" cy="2011680"/>
          </a:xfrm>
          <a:prstGeom prst="rect">
            <a:avLst/>
          </a:prstGeom>
          <a:noFill/>
        </p:spPr>
        <p:txBody>
          <a:bodyPr wrap="square" anchor="t" lIns="50800" rIns="50800" tIns="25400" bIns="25400">
            <a:spAutoFit/>
          </a:bodyPr>
          <a:lstStyle/>
          <a:p>
            <a:pPr algn="l">
              <a:spcAft>
                <a:spcPts val="200"/>
              </a:spcAft>
            </a:pPr>
            <a:r>
              <a:rPr sz="2000" b="1" i="0">
                <a:solidFill>
                  <a:srgbClr val="0A322E"/>
                </a:solidFill>
                <a:latin typeface="Segoe UI"/>
                <a:cs typeface="Jameel Noori Nastaleeq"/>
              </a:rPr>
              <a:t>In a hadith book</a:t>
            </a:r>
          </a:p>
          <a:p>
            <a:pPr algn="l" rtl="1">
              <a:spcAft>
                <a:spcPts val="600"/>
              </a:spcAft>
            </a:pPr>
            <a:r>
              <a:rPr sz="1300" b="1" i="0">
                <a:solidFill>
                  <a:srgbClr val="C49A45"/>
                </a:solidFill>
                <a:latin typeface="Jameel Noori Nastaleeq"/>
                <a:cs typeface="Jameel Noori Nastaleeq"/>
              </a:rPr>
              <a:t>حدیث</a:t>
            </a:r>
          </a:p>
          <a:p>
            <a:pPr algn="l">
              <a:spcAft>
                <a:spcPts val="0"/>
              </a:spcAft>
            </a:pPr>
            <a:r>
              <a:rPr sz="1700" b="0" i="0">
                <a:solidFill>
                  <a:srgbClr val="1C2321"/>
                </a:solidFill>
                <a:latin typeface="Segoe UI"/>
                <a:cs typeface="Jameel Noori Nastaleeq"/>
              </a:rPr>
              <a:t>sorted by chains and rulings</a:t>
            </a:r>
          </a:p>
        </p:txBody>
      </p:sp>
      <p:sp>
        <p:nvSpPr>
          <p:cNvPr id="11" name="Rectangle 10"/>
          <p:cNvSpPr/>
          <p:nvPr/>
        </p:nvSpPr>
        <p:spPr>
          <a:xfrm>
            <a:off x="8097316" y="2468880"/>
            <a:ext cx="3454298" cy="228600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97316" y="2468880"/>
            <a:ext cx="3454298"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61908" y="2615184"/>
            <a:ext cx="3125114" cy="2011680"/>
          </a:xfrm>
          <a:prstGeom prst="rect">
            <a:avLst/>
          </a:prstGeom>
          <a:noFill/>
        </p:spPr>
        <p:txBody>
          <a:bodyPr wrap="square" anchor="t" lIns="50800" rIns="50800" tIns="25400" bIns="25400">
            <a:spAutoFit/>
          </a:bodyPr>
          <a:lstStyle/>
          <a:p>
            <a:pPr algn="l">
              <a:spcAft>
                <a:spcPts val="200"/>
              </a:spcAft>
            </a:pPr>
            <a:r>
              <a:rPr sz="2000" b="1" i="0">
                <a:solidFill>
                  <a:srgbClr val="0A322E"/>
                </a:solidFill>
                <a:latin typeface="Segoe UI"/>
                <a:cs typeface="Jameel Noori Nastaleeq"/>
              </a:rPr>
              <a:t>In a tārīkh</a:t>
            </a:r>
          </a:p>
          <a:p>
            <a:pPr algn="l" rtl="1">
              <a:spcAft>
                <a:spcPts val="600"/>
              </a:spcAft>
            </a:pPr>
            <a:r>
              <a:rPr sz="1300" b="1" i="0">
                <a:solidFill>
                  <a:srgbClr val="C49A45"/>
                </a:solidFill>
                <a:latin typeface="Jameel Noori Nastaleeq"/>
                <a:cs typeface="Jameel Noori Nastaleeq"/>
              </a:rPr>
              <a:t>تاریخ</a:t>
            </a:r>
          </a:p>
          <a:p>
            <a:pPr algn="l">
              <a:spcAft>
                <a:spcPts val="0"/>
              </a:spcAft>
            </a:pPr>
            <a:r>
              <a:rPr sz="1700" b="0" i="0">
                <a:solidFill>
                  <a:srgbClr val="1C2321"/>
                </a:solidFill>
                <a:latin typeface="Segoe UI"/>
                <a:cs typeface="Jameel Noori Nastaleeq"/>
              </a:rPr>
              <a:t>sorted by TIME — first things first</a:t>
            </a:r>
          </a:p>
        </p:txBody>
      </p:sp>
      <p:sp>
        <p:nvSpPr>
          <p:cNvPr id="14" name="TextBox 13"/>
          <p:cNvSpPr txBox="1"/>
          <p:nvPr/>
        </p:nvSpPr>
        <p:spPr>
          <a:xfrm>
            <a:off x="640080" y="5029200"/>
            <a:ext cx="10881360" cy="822960"/>
          </a:xfrm>
          <a:prstGeom prst="rect">
            <a:avLst/>
          </a:prstGeom>
          <a:noFill/>
        </p:spPr>
        <p:txBody>
          <a:bodyPr wrap="square" anchor="t" lIns="50800" rIns="50800" tIns="25400" bIns="25400">
            <a:spAutoFit/>
          </a:bodyPr>
          <a:lstStyle/>
          <a:p>
            <a:pPr algn="l">
              <a:spcAft>
                <a:spcPts val="200"/>
              </a:spcAft>
            </a:pPr>
            <a:r>
              <a:rPr sz="2000" b="0" i="1">
                <a:solidFill>
                  <a:srgbClr val="104A43"/>
                </a:solidFill>
                <a:latin typeface="Segoe UI"/>
                <a:cs typeface="Jameel Noori Nastaleeq"/>
              </a:rPr>
              <a:t>Same event, three books. Only the tārīkh puts it in time-order.</a:t>
            </a:r>
          </a:p>
          <a:p>
            <a:pPr algn="l" rtl="1">
              <a:spcAft>
                <a:spcPts val="0"/>
              </a:spcAft>
            </a:pPr>
            <a:r>
              <a:rPr sz="1900" b="0" i="0">
                <a:solidFill>
                  <a:srgbClr val="104A43"/>
                </a:solidFill>
                <a:latin typeface="Traditional Arabic"/>
                <a:cs typeface="Jameel Noori Nastaleeq"/>
              </a:rPr>
              <a:t>یہی ترتیبِ زمانی تاریخ کو تاریخ بناتی ہے۔</a:t>
            </a:r>
          </a:p>
        </p:txBody>
      </p:sp>
      <p:sp>
        <p:nvSpPr>
          <p:cNvPr id="15" name="TextBox 14"/>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cs typeface="Jameel Noori Nastaleeq"/>
              </a:rPr>
              <a:t>Lesson 1 · What is history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cs typeface="Jameel Noori Nastaleeq"/>
              </a:rPr>
              <a:t>Two ways to know the past · ماضی جاننے کے دو طریقے</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96112"/>
            <a:ext cx="10881360" cy="1097280"/>
          </a:xfrm>
          <a:prstGeom prst="rect">
            <a:avLst/>
          </a:prstGeom>
          <a:noFill/>
        </p:spPr>
        <p:txBody>
          <a:bodyPr wrap="square" anchor="t" lIns="50800" rIns="50800" tIns="25400" bIns="25400">
            <a:spAutoFit/>
          </a:bodyPr>
          <a:lstStyle/>
          <a:p>
            <a:pPr algn="l">
              <a:spcAft>
                <a:spcPts val="0"/>
              </a:spcAft>
            </a:pPr>
            <a:r>
              <a:rPr sz="3000" b="1" i="0">
                <a:solidFill>
                  <a:srgbClr val="0A322E"/>
                </a:solidFill>
                <a:latin typeface="Georgia"/>
                <a:cs typeface="Jameel Noori Nastaleeq"/>
              </a:rPr>
              <a:t>Two ways to know the past</a:t>
            </a:r>
          </a:p>
        </p:txBody>
      </p:sp>
      <p:sp>
        <p:nvSpPr>
          <p:cNvPr id="5" name="Rectangle 4"/>
          <p:cNvSpPr/>
          <p:nvPr/>
        </p:nvSpPr>
        <p:spPr>
          <a:xfrm>
            <a:off x="640080" y="1828800"/>
            <a:ext cx="5394960" cy="4114800"/>
          </a:xfrm>
          <a:prstGeom prst="rect">
            <a:avLst/>
          </a:prstGeom>
          <a:solidFill>
            <a:srgbClr val="EFE9DB"/>
          </a:solidFill>
          <a:ln w="19050">
            <a:solidFill>
              <a:srgbClr val="7A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72200" y="1828800"/>
            <a:ext cx="5349240" cy="4114800"/>
          </a:xfrm>
          <a:prstGeom prst="rect">
            <a:avLst/>
          </a:prstGeom>
          <a:solidFill>
            <a:srgbClr val="EFE9DB"/>
          </a:solidFill>
          <a:ln w="1905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4846320" cy="3749039"/>
          </a:xfrm>
          <a:prstGeom prst="rect">
            <a:avLst/>
          </a:prstGeom>
          <a:noFill/>
        </p:spPr>
        <p:txBody>
          <a:bodyPr wrap="square" anchor="t" lIns="50800" rIns="50800" tIns="25400" bIns="25400">
            <a:spAutoFit/>
          </a:bodyPr>
          <a:lstStyle/>
          <a:p>
            <a:pPr algn="l">
              <a:spcAft>
                <a:spcPts val="1000"/>
              </a:spcAft>
            </a:pPr>
            <a:r>
              <a:rPr sz="1500" b="1" i="0">
                <a:solidFill>
                  <a:srgbClr val="7A2E2E"/>
                </a:solidFill>
                <a:latin typeface="Segoe UI"/>
                <a:cs typeface="Jameel Noori Nastaleeq"/>
              </a:rPr>
              <a:t>THE MODERN / WESTERN WAY</a:t>
            </a:r>
          </a:p>
          <a:p>
            <a:pPr algn="l">
              <a:spcAft>
                <a:spcPts val="900"/>
              </a:spcAft>
            </a:pPr>
            <a:r>
              <a:rPr sz="1800" b="0" i="0">
                <a:solidFill>
                  <a:srgbClr val="1C2321"/>
                </a:solidFill>
                <a:latin typeface="Segoe UI"/>
                <a:cs typeface="Jameel Noori Nastaleeq"/>
              </a:rPr>
              <a:t>•  Mostly digging, guessing, joining the dots.</a:t>
            </a:r>
          </a:p>
          <a:p>
            <a:pPr algn="l">
              <a:spcAft>
                <a:spcPts val="900"/>
              </a:spcAft>
            </a:pPr>
            <a:r>
              <a:rPr sz="1800" b="0" i="0">
                <a:solidFill>
                  <a:srgbClr val="1C2321"/>
                </a:solidFill>
                <a:latin typeface="Segoe UI"/>
                <a:cs typeface="Jameel Noori Nastaleeq"/>
              </a:rPr>
              <a:t>•  No chain of who-said-what.</a:t>
            </a:r>
          </a:p>
          <a:p>
            <a:pPr algn="l">
              <a:spcAft>
                <a:spcPts val="900"/>
              </a:spcAft>
            </a:pPr>
            <a:r>
              <a:rPr sz="1800" b="0" i="0">
                <a:solidFill>
                  <a:srgbClr val="1C2321"/>
                </a:solidFill>
                <a:latin typeface="Segoe UI"/>
                <a:cs typeface="Jameel Noori Nastaleeq"/>
              </a:rPr>
              <a:t>•  No fixed rule to accept or drop a report.</a:t>
            </a:r>
          </a:p>
          <a:p>
            <a:pPr algn="l">
              <a:spcAft>
                <a:spcPts val="900"/>
              </a:spcAft>
            </a:pPr>
            <a:r>
              <a:rPr sz="1800" b="0" i="0">
                <a:solidFill>
                  <a:srgbClr val="1C2321"/>
                </a:solidFill>
                <a:latin typeface="Segoe UI"/>
                <a:cs typeface="Jameel Noori Nastaleeq"/>
              </a:rPr>
              <a:t>•  Yet they still trust the Old Testament and Ramayana as top sources.</a:t>
            </a:r>
          </a:p>
        </p:txBody>
      </p:sp>
      <p:sp>
        <p:nvSpPr>
          <p:cNvPr id="8" name="TextBox 7"/>
          <p:cNvSpPr txBox="1"/>
          <p:nvPr/>
        </p:nvSpPr>
        <p:spPr>
          <a:xfrm>
            <a:off x="6446520" y="2011680"/>
            <a:ext cx="4846320" cy="3749039"/>
          </a:xfrm>
          <a:prstGeom prst="rect">
            <a:avLst/>
          </a:prstGeom>
          <a:noFill/>
        </p:spPr>
        <p:txBody>
          <a:bodyPr wrap="square" anchor="t" lIns="50800" rIns="50800" tIns="25400" bIns="25400">
            <a:spAutoFit/>
          </a:bodyPr>
          <a:lstStyle/>
          <a:p>
            <a:pPr algn="l">
              <a:spcAft>
                <a:spcPts val="1000"/>
              </a:spcAft>
            </a:pPr>
            <a:r>
              <a:rPr sz="1500" b="1" i="0">
                <a:solidFill>
                  <a:srgbClr val="104A43"/>
                </a:solidFill>
                <a:latin typeface="Segoe UI"/>
                <a:cs typeface="Jameel Noori Nastaleeq"/>
              </a:rPr>
              <a:t>THE ISLAMIC WAY</a:t>
            </a:r>
          </a:p>
          <a:p>
            <a:pPr algn="l">
              <a:spcAft>
                <a:spcPts val="900"/>
              </a:spcAft>
            </a:pPr>
            <a:r>
              <a:rPr sz="1800" b="0" i="0">
                <a:solidFill>
                  <a:srgbClr val="1C2321"/>
                </a:solidFill>
                <a:latin typeface="Segoe UI"/>
                <a:cs typeface="Jameel Noori Nastaleeq"/>
              </a:rPr>
              <a:t>•  Every report carries a chain — back to the eyewitness.</a:t>
            </a:r>
          </a:p>
          <a:p>
            <a:pPr algn="l">
              <a:spcAft>
                <a:spcPts val="900"/>
              </a:spcAft>
            </a:pPr>
            <a:r>
              <a:rPr sz="1800" b="0" i="0">
                <a:solidFill>
                  <a:srgbClr val="1C2321"/>
                </a:solidFill>
                <a:latin typeface="Segoe UI"/>
                <a:cs typeface="Jameel Noori Nastaleeq"/>
              </a:rPr>
              <a:t>•  We keep a file on every narrator (ʿilm asmā' al-rijāl).</a:t>
            </a:r>
          </a:p>
          <a:p>
            <a:pPr algn="l">
              <a:spcAft>
                <a:spcPts val="900"/>
              </a:spcAft>
            </a:pPr>
            <a:r>
              <a:rPr sz="1800" b="0" i="0">
                <a:solidFill>
                  <a:srgbClr val="1C2321"/>
                </a:solidFill>
                <a:latin typeface="Segoe UI"/>
                <a:cs typeface="Jameel Noori Nastaleeq"/>
              </a:rPr>
              <a:t>•  So we can actually grade a report.</a:t>
            </a:r>
          </a:p>
          <a:p>
            <a:pPr algn="l">
              <a:spcAft>
                <a:spcPts val="900"/>
              </a:spcAft>
            </a:pPr>
            <a:r>
              <a:rPr sz="1800" b="0" i="0">
                <a:solidFill>
                  <a:srgbClr val="1C2321"/>
                </a:solidFill>
                <a:latin typeface="Segoe UI"/>
                <a:cs typeface="Jameel Noori Nastaleeq"/>
              </a:rPr>
              <a:t>•  We'll drop even Wāqidī, a judge of Baghdad, if the rule says so.</a:t>
            </a:r>
          </a:p>
        </p:txBody>
      </p:sp>
      <p:sp>
        <p:nvSpPr>
          <p:cNvPr id="9" name="TextBox 8"/>
          <p:cNvSpPr txBox="1"/>
          <p:nvPr/>
        </p:nvSpPr>
        <p:spPr>
          <a:xfrm>
            <a:off x="640080" y="6080760"/>
            <a:ext cx="10881360" cy="640080"/>
          </a:xfrm>
          <a:prstGeom prst="rect">
            <a:avLst/>
          </a:prstGeom>
          <a:noFill/>
        </p:spPr>
        <p:txBody>
          <a:bodyPr wrap="square" anchor="t" lIns="50800" rIns="50800" tIns="25400" bIns="25400">
            <a:spAutoFit/>
          </a:bodyPr>
          <a:lstStyle/>
          <a:p>
            <a:pPr algn="l">
              <a:spcAft>
                <a:spcPts val="0"/>
              </a:spcAft>
            </a:pPr>
            <a:r>
              <a:rPr sz="1900" b="1" i="0">
                <a:solidFill>
                  <a:srgbClr val="0A322E"/>
                </a:solidFill>
                <a:latin typeface="Segoe UI"/>
                <a:cs typeface="Jameel Noori Nastaleeq"/>
              </a:rPr>
              <a:t>So “no historical basis” often just means: “it doesn't fit our guess.”</a:t>
            </a:r>
          </a:p>
        </p:txBody>
      </p:sp>
      <p:sp>
        <p:nvSpPr>
          <p:cNvPr id="10" name="TextBox 9"/>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cs typeface="Jameel Noori Nastaleeq"/>
              </a:rPr>
              <a:t>Lesson 1 · Two ways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4A43"/>
        </a:solidFill>
        <a:effectLst/>
      </p:bgPr>
    </p:bg>
    <p:spTree>
      <p:nvGrpSpPr>
        <p:cNvPr id="1" name=""/>
        <p:cNvGrpSpPr/>
        <p:nvPr/>
      </p:nvGrpSpPr>
      <p:grpSpPr/>
      <p:sp>
        <p:nvSpPr>
          <p:cNvPr id="2" name="Rectangle 1"/>
          <p:cNvSpPr/>
          <p:nvPr/>
        </p:nvSpPr>
        <p:spPr>
          <a:xfrm>
            <a:off x="640080" y="1554480"/>
            <a:ext cx="63500" cy="3749039"/>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737360"/>
            <a:ext cx="10241280" cy="3383280"/>
          </a:xfrm>
          <a:prstGeom prst="rect">
            <a:avLst/>
          </a:prstGeom>
          <a:noFill/>
        </p:spPr>
        <p:txBody>
          <a:bodyPr wrap="square" anchor="ctr" lIns="50800" rIns="50800" tIns="25400" bIns="25400">
            <a:spAutoFit/>
          </a:bodyPr>
          <a:lstStyle/>
          <a:p>
            <a:pPr algn="l" rtl="1">
              <a:spcAft>
                <a:spcPts val="1600"/>
              </a:spcAft>
            </a:pPr>
            <a:r>
              <a:rPr sz="3200" b="1" i="0">
                <a:solidFill>
                  <a:srgbClr val="FFFFFF"/>
                </a:solidFill>
                <a:latin typeface="Traditional Arabic"/>
                <a:cs typeface="Traditional Arabic"/>
              </a:rPr>
              <a:t>لَمَّا اسْتَعْمَلَ الرُّوَاةُ الْكَذِبَ اسْتَعْمَلْنَاهُمُ التَّارِيخَ</a:t>
            </a:r>
          </a:p>
          <a:p>
            <a:pPr algn="l">
              <a:spcAft>
                <a:spcPts val="800"/>
              </a:spcAft>
            </a:pPr>
            <a:r>
              <a:rPr sz="2500" b="0" i="1">
                <a:solidFill>
                  <a:srgbClr val="FAF7F0"/>
                </a:solidFill>
                <a:latin typeface="Georgia"/>
                <a:cs typeface="Jameel Noori Nastaleeq"/>
              </a:rPr>
              <a:t>“When people started forging reports, we caught them with dates.”</a:t>
            </a:r>
          </a:p>
          <a:p>
            <a:pPr algn="l">
              <a:spcAft>
                <a:spcPts val="1400"/>
              </a:spcAft>
            </a:pPr>
            <a:r>
              <a:rPr sz="1900" b="1" i="0">
                <a:solidFill>
                  <a:srgbClr val="C49A45"/>
                </a:solidFill>
                <a:latin typeface="Segoe UI"/>
                <a:cs typeface="Jameel Noori Nastaleeq"/>
              </a:rPr>
              <a:t>— Sufyān al-Thawrī</a:t>
            </a:r>
          </a:p>
          <a:p>
            <a:pPr algn="l" rtl="1">
              <a:spcAft>
                <a:spcPts val="0"/>
              </a:spcAft>
            </a:pPr>
            <a:r>
              <a:rPr sz="2000" b="0" i="0">
                <a:solidFill>
                  <a:srgbClr val="FFFFFF"/>
                </a:solidFill>
                <a:latin typeface="Traditional Arabic"/>
                <a:cs typeface="Jameel Noori Nastaleeq"/>
              </a:rPr>
              <a:t>اگر تاریخیں اتنی اہم ہیں… تو ہم خود وقت میں کہاں کھڑے ہیں؟</a:t>
            </a:r>
          </a:p>
        </p:txBody>
      </p:sp>
      <p:sp>
        <p:nvSpPr>
          <p:cNvPr id="4" name="TextBox 3"/>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cs typeface="Jameel Noori Nastaleeq"/>
              </a:rPr>
              <a:t>Lesson 1 · Bridge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cs typeface="Jameel Noori Nastaleeq"/>
              </a:rPr>
              <a:t>The timeline we build every week · ہماری ٹائم لائن</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96112"/>
            <a:ext cx="10881360" cy="1097280"/>
          </a:xfrm>
          <a:prstGeom prst="rect">
            <a:avLst/>
          </a:prstGeom>
          <a:noFill/>
        </p:spPr>
        <p:txBody>
          <a:bodyPr wrap="square" anchor="t" lIns="50800" rIns="50800" tIns="25400" bIns="25400">
            <a:spAutoFit/>
          </a:bodyPr>
          <a:lstStyle/>
          <a:p>
            <a:pPr algn="l">
              <a:spcAft>
                <a:spcPts val="0"/>
              </a:spcAft>
            </a:pPr>
            <a:r>
              <a:rPr sz="2800" b="1" i="0">
                <a:solidFill>
                  <a:srgbClr val="0A322E"/>
                </a:solidFill>
                <a:latin typeface="Georgia"/>
                <a:cs typeface="Jameel Noori Nastaleeq"/>
              </a:rPr>
              <a:t>First, just two points</a:t>
            </a:r>
          </a:p>
        </p:txBody>
      </p:sp>
      <p:sp>
        <p:nvSpPr>
          <p:cNvPr id="5" name="Rectangle 4"/>
          <p:cNvSpPr/>
          <p:nvPr/>
        </p:nvSpPr>
        <p:spPr>
          <a:xfrm>
            <a:off x="822960" y="3840480"/>
            <a:ext cx="10515600" cy="381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49808" y="3786378"/>
            <a:ext cx="146304" cy="146304"/>
          </a:xfrm>
          <a:prstGeom prst="ellipse">
            <a:avLst/>
          </a:prstGeom>
          <a:solidFill>
            <a:srgbClr val="8C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 y="2468880"/>
            <a:ext cx="2011680" cy="1280160"/>
          </a:xfrm>
          <a:prstGeom prst="rect">
            <a:avLst/>
          </a:prstGeom>
          <a:noFill/>
        </p:spPr>
        <p:txBody>
          <a:bodyPr wrap="square" anchor="b" lIns="50800" rIns="50800" tIns="25400" bIns="25400">
            <a:spAutoFit/>
          </a:bodyPr>
          <a:lstStyle/>
          <a:p>
            <a:pPr algn="ctr">
              <a:spcAft>
                <a:spcPts val="200"/>
              </a:spcAft>
            </a:pPr>
            <a:r>
              <a:rPr sz="1500" b="1" i="0">
                <a:solidFill>
                  <a:srgbClr val="8C8C86"/>
                </a:solidFill>
                <a:latin typeface="Segoe UI"/>
                <a:cs typeface="Jameel Noori Nastaleeq"/>
              </a:rPr>
              <a:t>Ādam → ʿĪsā ﷺ</a:t>
            </a:r>
          </a:p>
          <a:p>
            <a:pPr algn="ctr">
              <a:spcAft>
                <a:spcPts val="0"/>
              </a:spcAft>
            </a:pPr>
            <a:r>
              <a:rPr sz="1200" b="0" i="0">
                <a:solidFill>
                  <a:srgbClr val="8C8C86"/>
                </a:solidFill>
                <a:latin typeface="Segoe UI"/>
                <a:cs typeface="Jameel Noori Nastaleeq"/>
              </a:rPr>
              <a:t>prophets
(not our topic)</a:t>
            </a:r>
          </a:p>
        </p:txBody>
      </p:sp>
      <p:sp>
        <p:nvSpPr>
          <p:cNvPr id="8" name="Oval 7"/>
          <p:cNvSpPr/>
          <p:nvPr/>
        </p:nvSpPr>
        <p:spPr>
          <a:xfrm>
            <a:off x="6007608" y="3786378"/>
            <a:ext cx="146304" cy="146304"/>
          </a:xfrm>
          <a:prstGeom prst="ellipse">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74920" y="4297680"/>
            <a:ext cx="2011680" cy="1280160"/>
          </a:xfrm>
          <a:prstGeom prst="rect">
            <a:avLst/>
          </a:prstGeom>
          <a:noFill/>
        </p:spPr>
        <p:txBody>
          <a:bodyPr wrap="square" anchor="t" lIns="50800" rIns="50800" tIns="25400" bIns="25400">
            <a:spAutoFit/>
          </a:bodyPr>
          <a:lstStyle/>
          <a:p>
            <a:pPr algn="ctr">
              <a:spcAft>
                <a:spcPts val="200"/>
              </a:spcAft>
            </a:pPr>
            <a:r>
              <a:rPr sz="1500" b="1" i="0">
                <a:solidFill>
                  <a:srgbClr val="C49A45"/>
                </a:solidFill>
                <a:latin typeface="Segoe UI"/>
                <a:cs typeface="Jameel Noori Nastaleeq"/>
              </a:rPr>
              <a:t>The Prophet ﷺ</a:t>
            </a:r>
          </a:p>
          <a:p>
            <a:pPr algn="ctr">
              <a:spcAft>
                <a:spcPts val="0"/>
              </a:spcAft>
            </a:pPr>
            <a:r>
              <a:rPr sz="1200" b="0" i="0">
                <a:solidFill>
                  <a:srgbClr val="1C2321"/>
                </a:solidFill>
                <a:latin typeface="Segoe UI"/>
                <a:cs typeface="Jameel Noori Nastaleeq"/>
              </a:rPr>
              <a:t>Hijra = 1 AH
622 CE</a:t>
            </a:r>
          </a:p>
        </p:txBody>
      </p:sp>
      <p:sp>
        <p:nvSpPr>
          <p:cNvPr id="10" name="Oval 9"/>
          <p:cNvSpPr/>
          <p:nvPr/>
        </p:nvSpPr>
        <p:spPr>
          <a:xfrm>
            <a:off x="11265408" y="3786378"/>
            <a:ext cx="146304" cy="146304"/>
          </a:xfrm>
          <a:prstGeom prst="ellipse">
            <a:avLst/>
          </a:prstGeom>
          <a:solidFill>
            <a:srgbClr val="8C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0" y="2468880"/>
            <a:ext cx="2011680" cy="1280160"/>
          </a:xfrm>
          <a:prstGeom prst="rect">
            <a:avLst/>
          </a:prstGeom>
          <a:noFill/>
        </p:spPr>
        <p:txBody>
          <a:bodyPr wrap="square" anchor="b" lIns="50800" rIns="50800" tIns="25400" bIns="25400">
            <a:spAutoFit/>
          </a:bodyPr>
          <a:lstStyle/>
          <a:p>
            <a:pPr algn="ctr">
              <a:spcAft>
                <a:spcPts val="200"/>
              </a:spcAft>
            </a:pPr>
            <a:r>
              <a:rPr sz="1500" b="1" i="0">
                <a:solidFill>
                  <a:srgbClr val="8C8C86"/>
                </a:solidFill>
                <a:latin typeface="Segoe UI"/>
                <a:cs typeface="Jameel Noori Nastaleeq"/>
              </a:rPr>
              <a:t>…</a:t>
            </a:r>
          </a:p>
        </p:txBody>
      </p:sp>
      <p:sp>
        <p:nvSpPr>
          <p:cNvPr id="12" name="TextBox 11"/>
          <p:cNvSpPr txBox="1"/>
          <p:nvPr/>
        </p:nvSpPr>
        <p:spPr>
          <a:xfrm>
            <a:off x="640080" y="5532120"/>
            <a:ext cx="10881360" cy="822960"/>
          </a:xfrm>
          <a:prstGeom prst="rect">
            <a:avLst/>
          </a:prstGeom>
          <a:noFill/>
        </p:spPr>
        <p:txBody>
          <a:bodyPr wrap="square" anchor="t" lIns="50800" rIns="50800" tIns="25400" bIns="25400">
            <a:spAutoFit/>
          </a:bodyPr>
          <a:lstStyle/>
          <a:p>
            <a:pPr algn="l" rtl="1">
              <a:spcAft>
                <a:spcPts val="0"/>
              </a:spcAft>
            </a:pPr>
            <a:r>
              <a:rPr sz="2000" b="0" i="0">
                <a:solidFill>
                  <a:srgbClr val="104A43"/>
                </a:solidFill>
                <a:latin typeface="Traditional Arabic"/>
                <a:cs typeface="Jameel Noori Nastaleeq"/>
              </a:rPr>
              <a:t>سب کچھ یہیں سے شروع — ہجرت سے — اور آگے چلتا ہے۔</a:t>
            </a:r>
          </a:p>
        </p:txBody>
      </p:sp>
      <p:sp>
        <p:nvSpPr>
          <p:cNvPr id="13" name="TextBox 12"/>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cs typeface="Jameel Noori Nastaleeq"/>
              </a:rPr>
              <a:t>Lesson 1 · Timeline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cs typeface="Jameel Noori Nastaleeq"/>
              </a:rPr>
              <a:t>The timeline we build every week · ہماری ٹائم لائن</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96112"/>
            <a:ext cx="10881360" cy="1097280"/>
          </a:xfrm>
          <a:prstGeom prst="rect">
            <a:avLst/>
          </a:prstGeom>
          <a:noFill/>
        </p:spPr>
        <p:txBody>
          <a:bodyPr wrap="square" anchor="t" lIns="50800" rIns="50800" tIns="25400" bIns="25400">
            <a:spAutoFit/>
          </a:bodyPr>
          <a:lstStyle/>
          <a:p>
            <a:pPr algn="l">
              <a:spcAft>
                <a:spcPts val="0"/>
              </a:spcAft>
            </a:pPr>
            <a:r>
              <a:rPr sz="2800" b="1" i="0">
                <a:solidFill>
                  <a:srgbClr val="0A322E"/>
                </a:solidFill>
                <a:latin typeface="Georgia"/>
                <a:cs typeface="Jameel Noori Nastaleeq"/>
              </a:rPr>
              <a:t>And here's the whole journey — our 10 weeks</a:t>
            </a:r>
          </a:p>
        </p:txBody>
      </p:sp>
      <p:sp>
        <p:nvSpPr>
          <p:cNvPr id="5" name="Rectangle 4"/>
          <p:cNvSpPr/>
          <p:nvPr/>
        </p:nvSpPr>
        <p:spPr>
          <a:xfrm>
            <a:off x="822960" y="3840480"/>
            <a:ext cx="10515600" cy="381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49808" y="3786378"/>
            <a:ext cx="146304" cy="146304"/>
          </a:xfrm>
          <a:prstGeom prst="ellipse">
            <a:avLst/>
          </a:prstGeom>
          <a:solidFill>
            <a:srgbClr val="8C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 y="2468880"/>
            <a:ext cx="2011680" cy="1280160"/>
          </a:xfrm>
          <a:prstGeom prst="rect">
            <a:avLst/>
          </a:prstGeom>
          <a:noFill/>
        </p:spPr>
        <p:txBody>
          <a:bodyPr wrap="square" anchor="b" lIns="50800" rIns="50800" tIns="25400" bIns="25400">
            <a:spAutoFit/>
          </a:bodyPr>
          <a:lstStyle/>
          <a:p>
            <a:pPr algn="ctr">
              <a:spcAft>
                <a:spcPts val="200"/>
              </a:spcAft>
            </a:pPr>
            <a:r>
              <a:rPr sz="1500" b="1" i="0">
                <a:solidFill>
                  <a:srgbClr val="8C8C86"/>
                </a:solidFill>
                <a:latin typeface="Segoe UI"/>
                <a:cs typeface="Jameel Noori Nastaleeq"/>
              </a:rPr>
              <a:t>Ādam → ʿĪsā ﷺ</a:t>
            </a:r>
          </a:p>
          <a:p>
            <a:pPr algn="ctr">
              <a:spcAft>
                <a:spcPts val="0"/>
              </a:spcAft>
            </a:pPr>
            <a:r>
              <a:rPr sz="1200" b="0" i="0">
                <a:solidFill>
                  <a:srgbClr val="8C8C86"/>
                </a:solidFill>
                <a:latin typeface="Segoe UI"/>
                <a:cs typeface="Jameel Noori Nastaleeq"/>
              </a:rPr>
              <a:t>(not our topic)</a:t>
            </a:r>
          </a:p>
        </p:txBody>
      </p:sp>
      <p:sp>
        <p:nvSpPr>
          <p:cNvPr id="8" name="Oval 7"/>
          <p:cNvSpPr/>
          <p:nvPr/>
        </p:nvSpPr>
        <p:spPr>
          <a:xfrm>
            <a:off x="2252036" y="3786378"/>
            <a:ext cx="146304" cy="146304"/>
          </a:xfrm>
          <a:prstGeom prst="ellipse">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19348" y="4297680"/>
            <a:ext cx="2011680" cy="1280160"/>
          </a:xfrm>
          <a:prstGeom prst="rect">
            <a:avLst/>
          </a:prstGeom>
          <a:noFill/>
        </p:spPr>
        <p:txBody>
          <a:bodyPr wrap="square" anchor="t" lIns="50800" rIns="50800" tIns="25400" bIns="25400">
            <a:spAutoFit/>
          </a:bodyPr>
          <a:lstStyle/>
          <a:p>
            <a:pPr algn="ctr">
              <a:spcAft>
                <a:spcPts val="200"/>
              </a:spcAft>
            </a:pPr>
            <a:r>
              <a:rPr sz="1500" b="1" i="0">
                <a:solidFill>
                  <a:srgbClr val="0A322E"/>
                </a:solidFill>
                <a:latin typeface="Segoe UI"/>
                <a:cs typeface="Jameel Noori Nastaleeq"/>
              </a:rPr>
              <a:t>Prophet ﷺ</a:t>
            </a:r>
          </a:p>
          <a:p>
            <a:pPr algn="ctr">
              <a:spcAft>
                <a:spcPts val="0"/>
              </a:spcAft>
            </a:pPr>
            <a:r>
              <a:rPr sz="1200" b="0" i="0">
                <a:solidFill>
                  <a:srgbClr val="1C2321"/>
                </a:solidFill>
                <a:latin typeface="Segoe UI"/>
                <a:cs typeface="Jameel Noori Nastaleeq"/>
              </a:rPr>
              <a:t>1 AH · 622</a:t>
            </a:r>
          </a:p>
        </p:txBody>
      </p:sp>
      <p:sp>
        <p:nvSpPr>
          <p:cNvPr id="10" name="Oval 9"/>
          <p:cNvSpPr/>
          <p:nvPr/>
        </p:nvSpPr>
        <p:spPr>
          <a:xfrm>
            <a:off x="3754265" y="3786378"/>
            <a:ext cx="146304" cy="146304"/>
          </a:xfrm>
          <a:prstGeom prst="ellipse">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21577" y="2468880"/>
            <a:ext cx="2011680" cy="1280160"/>
          </a:xfrm>
          <a:prstGeom prst="rect">
            <a:avLst/>
          </a:prstGeom>
          <a:noFill/>
        </p:spPr>
        <p:txBody>
          <a:bodyPr wrap="square" anchor="b" lIns="50800" rIns="50800" tIns="25400" bIns="25400">
            <a:spAutoFit/>
          </a:bodyPr>
          <a:lstStyle/>
          <a:p>
            <a:pPr algn="ctr">
              <a:spcAft>
                <a:spcPts val="200"/>
              </a:spcAft>
            </a:pPr>
            <a:r>
              <a:rPr sz="1500" b="1" i="0">
                <a:solidFill>
                  <a:srgbClr val="0A322E"/>
                </a:solidFill>
                <a:latin typeface="Segoe UI"/>
                <a:cs typeface="Jameel Noori Nastaleeq"/>
              </a:rPr>
              <a:t>Rāshidūn</a:t>
            </a:r>
          </a:p>
          <a:p>
            <a:pPr algn="ctr">
              <a:spcAft>
                <a:spcPts val="0"/>
              </a:spcAft>
            </a:pPr>
            <a:r>
              <a:rPr sz="1200" b="0" i="0">
                <a:solidFill>
                  <a:srgbClr val="1C2321"/>
                </a:solidFill>
                <a:latin typeface="Segoe UI"/>
                <a:cs typeface="Jameel Noori Nastaleeq"/>
              </a:rPr>
              <a:t>11–40 AH</a:t>
            </a:r>
          </a:p>
        </p:txBody>
      </p:sp>
      <p:sp>
        <p:nvSpPr>
          <p:cNvPr id="12" name="Oval 11"/>
          <p:cNvSpPr/>
          <p:nvPr/>
        </p:nvSpPr>
        <p:spPr>
          <a:xfrm>
            <a:off x="5256493" y="3786378"/>
            <a:ext cx="146304" cy="146304"/>
          </a:xfrm>
          <a:prstGeom prst="ellipse">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23805" y="4297680"/>
            <a:ext cx="2011680" cy="1280160"/>
          </a:xfrm>
          <a:prstGeom prst="rect">
            <a:avLst/>
          </a:prstGeom>
          <a:noFill/>
        </p:spPr>
        <p:txBody>
          <a:bodyPr wrap="square" anchor="t" lIns="50800" rIns="50800" tIns="25400" bIns="25400">
            <a:spAutoFit/>
          </a:bodyPr>
          <a:lstStyle/>
          <a:p>
            <a:pPr algn="ctr">
              <a:spcAft>
                <a:spcPts val="200"/>
              </a:spcAft>
            </a:pPr>
            <a:r>
              <a:rPr sz="1500" b="1" i="0">
                <a:solidFill>
                  <a:srgbClr val="0A322E"/>
                </a:solidFill>
                <a:latin typeface="Segoe UI"/>
                <a:cs typeface="Jameel Noori Nastaleeq"/>
              </a:rPr>
              <a:t>Umayyads</a:t>
            </a:r>
          </a:p>
          <a:p>
            <a:pPr algn="ctr">
              <a:spcAft>
                <a:spcPts val="0"/>
              </a:spcAft>
            </a:pPr>
            <a:r>
              <a:rPr sz="1200" b="0" i="0">
                <a:solidFill>
                  <a:srgbClr val="1C2321"/>
                </a:solidFill>
                <a:latin typeface="Segoe UI"/>
                <a:cs typeface="Jameel Noori Nastaleeq"/>
              </a:rPr>
              <a:t>41–132 AH</a:t>
            </a:r>
          </a:p>
        </p:txBody>
      </p:sp>
      <p:sp>
        <p:nvSpPr>
          <p:cNvPr id="14" name="Oval 13"/>
          <p:cNvSpPr/>
          <p:nvPr/>
        </p:nvSpPr>
        <p:spPr>
          <a:xfrm>
            <a:off x="6758722" y="3786378"/>
            <a:ext cx="146304" cy="146304"/>
          </a:xfrm>
          <a:prstGeom prst="ellipse">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26034" y="2468880"/>
            <a:ext cx="2011680" cy="1280160"/>
          </a:xfrm>
          <a:prstGeom prst="rect">
            <a:avLst/>
          </a:prstGeom>
          <a:noFill/>
        </p:spPr>
        <p:txBody>
          <a:bodyPr wrap="square" anchor="b" lIns="50800" rIns="50800" tIns="25400" bIns="25400">
            <a:spAutoFit/>
          </a:bodyPr>
          <a:lstStyle/>
          <a:p>
            <a:pPr algn="ctr">
              <a:spcAft>
                <a:spcPts val="200"/>
              </a:spcAft>
            </a:pPr>
            <a:r>
              <a:rPr sz="1500" b="1" i="0">
                <a:solidFill>
                  <a:srgbClr val="0A322E"/>
                </a:solidFill>
                <a:latin typeface="Segoe UI"/>
                <a:cs typeface="Jameel Noori Nastaleeq"/>
              </a:rPr>
              <a:t>Abbasids</a:t>
            </a:r>
          </a:p>
          <a:p>
            <a:pPr algn="ctr">
              <a:spcAft>
                <a:spcPts val="0"/>
              </a:spcAft>
            </a:pPr>
            <a:r>
              <a:rPr sz="1200" b="0" i="0">
                <a:solidFill>
                  <a:srgbClr val="1C2321"/>
                </a:solidFill>
                <a:latin typeface="Segoe UI"/>
                <a:cs typeface="Jameel Noori Nastaleeq"/>
              </a:rPr>
              <a:t>132–656 AH</a:t>
            </a:r>
          </a:p>
        </p:txBody>
      </p:sp>
      <p:sp>
        <p:nvSpPr>
          <p:cNvPr id="16" name="Oval 15"/>
          <p:cNvSpPr/>
          <p:nvPr/>
        </p:nvSpPr>
        <p:spPr>
          <a:xfrm>
            <a:off x="8260950" y="3786378"/>
            <a:ext cx="146304" cy="146304"/>
          </a:xfrm>
          <a:prstGeom prst="ellipse">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28262" y="4297680"/>
            <a:ext cx="2011680" cy="1280160"/>
          </a:xfrm>
          <a:prstGeom prst="rect">
            <a:avLst/>
          </a:prstGeom>
          <a:noFill/>
        </p:spPr>
        <p:txBody>
          <a:bodyPr wrap="square" anchor="t" lIns="50800" rIns="50800" tIns="25400" bIns="25400">
            <a:spAutoFit/>
          </a:bodyPr>
          <a:lstStyle/>
          <a:p>
            <a:pPr algn="ctr">
              <a:spcAft>
                <a:spcPts val="200"/>
              </a:spcAft>
            </a:pPr>
            <a:r>
              <a:rPr sz="1500" b="1" i="0">
                <a:solidFill>
                  <a:srgbClr val="0A322E"/>
                </a:solidFill>
                <a:latin typeface="Segoe UI"/>
                <a:cs typeface="Jameel Noori Nastaleeq"/>
              </a:rPr>
              <a:t>Mongols take
Baghdad</a:t>
            </a:r>
          </a:p>
          <a:p>
            <a:pPr algn="ctr">
              <a:spcAft>
                <a:spcPts val="0"/>
              </a:spcAft>
            </a:pPr>
            <a:r>
              <a:rPr sz="1200" b="0" i="0">
                <a:solidFill>
                  <a:srgbClr val="1C2321"/>
                </a:solidFill>
                <a:latin typeface="Segoe UI"/>
                <a:cs typeface="Jameel Noori Nastaleeq"/>
              </a:rPr>
              <a:t>656 · 1258</a:t>
            </a:r>
          </a:p>
        </p:txBody>
      </p:sp>
      <p:sp>
        <p:nvSpPr>
          <p:cNvPr id="18" name="Oval 17"/>
          <p:cNvSpPr/>
          <p:nvPr/>
        </p:nvSpPr>
        <p:spPr>
          <a:xfrm>
            <a:off x="9763179" y="3786378"/>
            <a:ext cx="146304" cy="146304"/>
          </a:xfrm>
          <a:prstGeom prst="ellipse">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30491" y="2468880"/>
            <a:ext cx="2011680" cy="1280160"/>
          </a:xfrm>
          <a:prstGeom prst="rect">
            <a:avLst/>
          </a:prstGeom>
          <a:noFill/>
        </p:spPr>
        <p:txBody>
          <a:bodyPr wrap="square" anchor="b" lIns="50800" rIns="50800" tIns="25400" bIns="25400">
            <a:spAutoFit/>
          </a:bodyPr>
          <a:lstStyle/>
          <a:p>
            <a:pPr algn="ctr">
              <a:spcAft>
                <a:spcPts val="200"/>
              </a:spcAft>
            </a:pPr>
            <a:r>
              <a:rPr sz="1500" b="1" i="0">
                <a:solidFill>
                  <a:srgbClr val="0A322E"/>
                </a:solidFill>
                <a:latin typeface="Segoe UI"/>
                <a:cs typeface="Jameel Noori Nastaleeq"/>
              </a:rPr>
              <a:t>Ottomans</a:t>
            </a:r>
          </a:p>
          <a:p>
            <a:pPr algn="ctr">
              <a:spcAft>
                <a:spcPts val="0"/>
              </a:spcAft>
            </a:pPr>
            <a:r>
              <a:rPr sz="1200" b="0" i="0">
                <a:solidFill>
                  <a:srgbClr val="1C2321"/>
                </a:solidFill>
                <a:latin typeface="Segoe UI"/>
                <a:cs typeface="Jameel Noori Nastaleeq"/>
              </a:rPr>
              <a:t>→ 1924</a:t>
            </a:r>
          </a:p>
        </p:txBody>
      </p:sp>
      <p:sp>
        <p:nvSpPr>
          <p:cNvPr id="20" name="Oval 19"/>
          <p:cNvSpPr/>
          <p:nvPr/>
        </p:nvSpPr>
        <p:spPr>
          <a:xfrm>
            <a:off x="11265408" y="3786378"/>
            <a:ext cx="146304" cy="146304"/>
          </a:xfrm>
          <a:prstGeom prst="ellipse">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32720" y="4297680"/>
            <a:ext cx="2011680" cy="1280160"/>
          </a:xfrm>
          <a:prstGeom prst="rect">
            <a:avLst/>
          </a:prstGeom>
          <a:noFill/>
        </p:spPr>
        <p:txBody>
          <a:bodyPr wrap="square" anchor="t" lIns="50800" rIns="50800" tIns="25400" bIns="25400">
            <a:spAutoFit/>
          </a:bodyPr>
          <a:lstStyle/>
          <a:p>
            <a:pPr algn="ctr">
              <a:spcAft>
                <a:spcPts val="200"/>
              </a:spcAft>
            </a:pPr>
            <a:r>
              <a:rPr sz="1500" b="1" i="0">
                <a:solidFill>
                  <a:srgbClr val="0A322E"/>
                </a:solidFill>
                <a:latin typeface="Segoe UI"/>
                <a:cs typeface="Jameel Noori Nastaleeq"/>
              </a:rPr>
              <a:t>Today</a:t>
            </a:r>
          </a:p>
          <a:p>
            <a:pPr algn="ctr">
              <a:spcAft>
                <a:spcPts val="0"/>
              </a:spcAft>
            </a:pPr>
            <a:r>
              <a:rPr sz="1200" b="0" i="0">
                <a:solidFill>
                  <a:srgbClr val="1C2321"/>
                </a:solidFill>
                <a:latin typeface="Segoe UI"/>
                <a:cs typeface="Jameel Noori Nastaleeq"/>
              </a:rPr>
              <a:t>1447 · 2026</a:t>
            </a:r>
          </a:p>
        </p:txBody>
      </p:sp>
      <p:sp>
        <p:nvSpPr>
          <p:cNvPr id="22" name="TextBox 21"/>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cs typeface="Jameel Noori Nastaleeq"/>
              </a:rPr>
              <a:t>Lesson 1 · Timeline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cs typeface="Jameel Noori Nastaleeq"/>
              </a:rPr>
              <a:t>Why do we even count from the Hijra?</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96112"/>
            <a:ext cx="10881360" cy="1097280"/>
          </a:xfrm>
          <a:prstGeom prst="rect">
            <a:avLst/>
          </a:prstGeom>
          <a:noFill/>
        </p:spPr>
        <p:txBody>
          <a:bodyPr wrap="square" anchor="t" lIns="50800" rIns="50800" tIns="25400" bIns="25400">
            <a:spAutoFit/>
          </a:bodyPr>
          <a:lstStyle/>
          <a:p>
            <a:pPr algn="l">
              <a:spcAft>
                <a:spcPts val="0"/>
              </a:spcAft>
            </a:pPr>
            <a:r>
              <a:rPr sz="3000" b="1" i="0">
                <a:solidFill>
                  <a:srgbClr val="0A322E"/>
                </a:solidFill>
                <a:latin typeface="Georgia"/>
                <a:cs typeface="Jameel Noori Nastaleeq"/>
              </a:rPr>
              <a:t>A letter dated just “Shaʿbān”</a:t>
            </a:r>
          </a:p>
        </p:txBody>
      </p:sp>
      <p:sp>
        <p:nvSpPr>
          <p:cNvPr id="5" name="TextBox 4"/>
          <p:cNvSpPr txBox="1"/>
          <p:nvPr/>
        </p:nvSpPr>
        <p:spPr>
          <a:xfrm>
            <a:off x="640080" y="1920240"/>
            <a:ext cx="10881360" cy="4023360"/>
          </a:xfrm>
          <a:prstGeom prst="rect">
            <a:avLst/>
          </a:prstGeom>
          <a:noFill/>
        </p:spPr>
        <p:txBody>
          <a:bodyPr wrap="square" anchor="t" lIns="50800" rIns="50800" tIns="25400" bIns="25400">
            <a:spAutoFit/>
          </a:bodyPr>
          <a:lstStyle/>
          <a:p>
            <a:pPr algn="l">
              <a:spcAft>
                <a:spcPts val="1200"/>
              </a:spcAft>
            </a:pPr>
            <a:r>
              <a:rPr sz="2300" b="0" i="0">
                <a:solidFill>
                  <a:srgbClr val="1C2321"/>
                </a:solidFill>
                <a:latin typeface="Segoe UI"/>
                <a:cs typeface="Jameel Noori Nastaleeq"/>
              </a:rPr>
              <a:t>A letter reaches ʿUmar ؓ, dated only “Shaʿbān.” He asks: which year's Shaʿbān?</a:t>
            </a:r>
          </a:p>
          <a:p>
            <a:pPr algn="l">
              <a:spcAft>
                <a:spcPts val="1200"/>
              </a:spcAft>
            </a:pPr>
            <a:r>
              <a:rPr sz="2300" b="0" i="0">
                <a:solidFill>
                  <a:srgbClr val="1C2321"/>
                </a:solidFill>
                <a:latin typeface="Segoe UI"/>
                <a:cs typeface="Jameel Noori Nastaleeq"/>
              </a:rPr>
              <a:t>The state has grown huge. Papers everywhere. Nobody can tell which file is from which year.</a:t>
            </a:r>
          </a:p>
          <a:p>
            <a:pPr algn="l">
              <a:spcAft>
                <a:spcPts val="1200"/>
              </a:spcAft>
            </a:pPr>
            <a:r>
              <a:rPr sz="2300" b="0" i="0">
                <a:solidFill>
                  <a:srgbClr val="1C2321"/>
                </a:solidFill>
                <a:latin typeface="Segoe UI"/>
                <a:cs typeface="Jameel Noori Nastaleeq"/>
              </a:rPr>
              <a:t>They sit together: count from the Prophet's ﷺ birth? his passing? the Hijra?</a:t>
            </a:r>
          </a:p>
          <a:p>
            <a:pPr algn="l">
              <a:spcAft>
                <a:spcPts val="1000"/>
              </a:spcAft>
            </a:pPr>
            <a:r>
              <a:rPr sz="2300" b="1" i="0">
                <a:solidFill>
                  <a:srgbClr val="104A43"/>
                </a:solidFill>
                <a:latin typeface="Segoe UI"/>
                <a:cs typeface="Jameel Noori Nastaleeq"/>
              </a:rPr>
              <a:t>ʿUmar ؓ picks the HIJRA — “it's the thing that separated truth from falsehood.”</a:t>
            </a:r>
          </a:p>
          <a:p>
            <a:pPr algn="l" rtl="1">
              <a:spcAft>
                <a:spcPts val="600"/>
              </a:spcAft>
            </a:pPr>
            <a:r>
              <a:rPr sz="2100" b="0" i="0">
                <a:solidFill>
                  <a:srgbClr val="C49A45"/>
                </a:solidFill>
                <a:latin typeface="Jameel Noori Nastaleeq"/>
                <a:cs typeface="Jameel Noori Nastaleeq"/>
              </a:rPr>
              <a:t>اور اِسی طرح ہمارا کیلنڈر — اور اِس لکیر کا صفر — بنا۔</a:t>
            </a:r>
          </a:p>
        </p:txBody>
      </p:sp>
      <p:sp>
        <p:nvSpPr>
          <p:cNvPr id="6" name="TextBox 5"/>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cs typeface="Jameel Noori Nastaleeq"/>
              </a:rPr>
              <a:t>Lesson 1 · Calendar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cs typeface="Jameel Noori Nastaleeq"/>
              </a:rPr>
              <a:t>A twist: the calendar someone had tampered with</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96112"/>
            <a:ext cx="10881360" cy="1097280"/>
          </a:xfrm>
          <a:prstGeom prst="rect">
            <a:avLst/>
          </a:prstGeom>
          <a:noFill/>
        </p:spPr>
        <p:txBody>
          <a:bodyPr wrap="square" anchor="t" lIns="50800" rIns="50800" tIns="25400" bIns="25400">
            <a:spAutoFit/>
          </a:bodyPr>
          <a:lstStyle/>
          <a:p>
            <a:pPr algn="l">
              <a:spcAft>
                <a:spcPts val="0"/>
              </a:spcAft>
            </a:pPr>
            <a:r>
              <a:rPr sz="2900" b="1" i="0">
                <a:solidFill>
                  <a:srgbClr val="0A322E"/>
                </a:solidFill>
                <a:latin typeface="Georgia"/>
                <a:cs typeface="Jameel Noori Nastaleeq"/>
              </a:rPr>
              <a:t>النسیء — shifting the months</a:t>
            </a:r>
          </a:p>
        </p:txBody>
      </p:sp>
      <p:sp>
        <p:nvSpPr>
          <p:cNvPr id="5" name="TextBox 4"/>
          <p:cNvSpPr txBox="1"/>
          <p:nvPr/>
        </p:nvSpPr>
        <p:spPr>
          <a:xfrm>
            <a:off x="640080" y="1920240"/>
            <a:ext cx="10881360" cy="4114800"/>
          </a:xfrm>
          <a:prstGeom prst="rect">
            <a:avLst/>
          </a:prstGeom>
          <a:noFill/>
        </p:spPr>
        <p:txBody>
          <a:bodyPr wrap="square" anchor="t" lIns="50800" rIns="50800" tIns="25400" bIns="25400">
            <a:spAutoFit/>
          </a:bodyPr>
          <a:lstStyle/>
          <a:p>
            <a:pPr algn="l">
              <a:spcAft>
                <a:spcPts val="1300"/>
              </a:spcAft>
            </a:pPr>
            <a:r>
              <a:rPr sz="2300" b="0" i="0">
                <a:solidFill>
                  <a:srgbClr val="1C2321"/>
                </a:solidFill>
                <a:latin typeface="Segoe UI"/>
                <a:cs typeface="Jameel Noori Nastaleeq"/>
              </a:rPr>
              <a:t>Before Islam, the mushrikūn used to shuffle the months — to keep Hajj sitting in the same trading season.</a:t>
            </a:r>
          </a:p>
          <a:p>
            <a:pPr algn="l">
              <a:spcAft>
                <a:spcPts val="1300"/>
              </a:spcAft>
            </a:pPr>
            <a:r>
              <a:rPr sz="2300" b="0" i="0">
                <a:solidFill>
                  <a:srgbClr val="1C2321"/>
                </a:solidFill>
                <a:latin typeface="Segoe UI"/>
                <a:cs typeface="Jameel Noori Nastaleeq"/>
              </a:rPr>
              <a:t>They'd slip in an extra 13th month when it suited them, so the four “sacred months” drifted off their real place.</a:t>
            </a:r>
          </a:p>
          <a:p>
            <a:pPr algn="l">
              <a:spcAft>
                <a:spcPts val="1000"/>
              </a:spcAft>
            </a:pPr>
            <a:r>
              <a:rPr sz="2200" b="1" i="0">
                <a:solidFill>
                  <a:srgbClr val="104A43"/>
                </a:solidFill>
                <a:latin typeface="Segoe UI"/>
                <a:cs typeface="Jameel Noori Nastaleeq"/>
              </a:rPr>
              <a:t>At the Farewell Hajj the Prophet ﷺ ended it for good: “Time has come back round to how Allah made it the day He created the heavens and the earth.”</a:t>
            </a:r>
          </a:p>
          <a:p>
            <a:pPr algn="l" rtl="1">
              <a:spcAft>
                <a:spcPts val="600"/>
              </a:spcAft>
            </a:pPr>
            <a:r>
              <a:rPr sz="2000" b="0" i="0">
                <a:solidFill>
                  <a:srgbClr val="C49A45"/>
                </a:solidFill>
                <a:latin typeface="Jameel Noori Nastaleeq"/>
                <a:cs typeface="Jameel Noori Nastaleeq"/>
              </a:rPr>
              <a:t>اِسی لیے سیرت کی کچھ تاریخوں میں فرق ہے — یہ اُس کی ایک بڑی وجہ ہے۔</a:t>
            </a:r>
          </a:p>
        </p:txBody>
      </p:sp>
      <p:sp>
        <p:nvSpPr>
          <p:cNvPr id="6" name="TextBox 5"/>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cs typeface="Jameel Noori Nastaleeq"/>
              </a:rPr>
              <a:t>Lesson 1 · Nasī'</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cs typeface="Jameel Noori Nastaleeq"/>
              </a:rPr>
              <a:t>First, a bit of geography</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world_632_kandg.png"/>
          <p:cNvPicPr>
            <a:picLocks noChangeAspect="1"/>
          </p:cNvPicPr>
          <p:nvPr/>
        </p:nvPicPr>
        <p:blipFill>
          <a:blip r:embed="rId2"/>
          <a:stretch>
            <a:fillRect/>
          </a:stretch>
        </p:blipFill>
        <p:spPr>
          <a:xfrm>
            <a:off x="640080" y="1497330"/>
            <a:ext cx="7680960" cy="4320540"/>
          </a:xfrm>
          <a:prstGeom prst="rect">
            <a:avLst/>
          </a:prstGeom>
        </p:spPr>
      </p:pic>
      <p:sp>
        <p:nvSpPr>
          <p:cNvPr id="5" name="TextBox 4"/>
          <p:cNvSpPr txBox="1"/>
          <p:nvPr/>
        </p:nvSpPr>
        <p:spPr>
          <a:xfrm>
            <a:off x="640080" y="5989320"/>
            <a:ext cx="7680960" cy="365760"/>
          </a:xfrm>
          <a:prstGeom prst="rect">
            <a:avLst/>
          </a:prstGeom>
          <a:noFill/>
        </p:spPr>
        <p:txBody>
          <a:bodyPr wrap="square" anchor="t" lIns="50800" rIns="50800" tIns="25400" bIns="25400">
            <a:spAutoFit/>
          </a:bodyPr>
          <a:lstStyle/>
          <a:p>
            <a:pPr algn="l">
              <a:spcAft>
                <a:spcPts val="0"/>
              </a:spcAft>
            </a:pPr>
            <a:r>
              <a:rPr sz="1100" b="0" i="0">
                <a:solidFill>
                  <a:srgbClr val="8C8C86"/>
                </a:solidFill>
                <a:latin typeface="Segoe UI"/>
                <a:cs typeface="Jameel Noori Nastaleeq"/>
              </a:rPr>
              <a:t>Map: Kings &amp; Generals — “Early Muslim Expansion” (video frame)</a:t>
            </a:r>
          </a:p>
        </p:txBody>
      </p:sp>
      <p:sp>
        <p:nvSpPr>
          <p:cNvPr id="6" name="TextBox 5"/>
          <p:cNvSpPr txBox="1"/>
          <p:nvPr/>
        </p:nvSpPr>
        <p:spPr>
          <a:xfrm>
            <a:off x="8595360" y="1554480"/>
            <a:ext cx="3108960" cy="4572000"/>
          </a:xfrm>
          <a:prstGeom prst="rect">
            <a:avLst/>
          </a:prstGeom>
          <a:noFill/>
        </p:spPr>
        <p:txBody>
          <a:bodyPr wrap="square" anchor="t" lIns="50800" rIns="50800" tIns="25400" bIns="25400">
            <a:spAutoFit/>
          </a:bodyPr>
          <a:lstStyle/>
          <a:p>
            <a:pPr algn="l">
              <a:spcAft>
                <a:spcPts val="1000"/>
              </a:spcAft>
            </a:pPr>
            <a:r>
              <a:rPr sz="1500" b="1" i="0">
                <a:solidFill>
                  <a:srgbClr val="C49A45"/>
                </a:solidFill>
                <a:latin typeface="Segoe UI"/>
                <a:cs typeface="Jameel Noori Nastaleeq"/>
              </a:rPr>
              <a:t>POINT AT:</a:t>
            </a:r>
          </a:p>
          <a:p>
            <a:pPr algn="l">
              <a:spcAft>
                <a:spcPts val="1000"/>
              </a:spcAft>
            </a:pPr>
            <a:r>
              <a:rPr sz="1700" b="0" i="0">
                <a:solidFill>
                  <a:srgbClr val="1C2321"/>
                </a:solidFill>
                <a:latin typeface="Segoe UI"/>
                <a:cs typeface="Jameel Noori Nastaleeq"/>
              </a:rPr>
              <a:t>•  Makkah &amp; Madina</a:t>
            </a:r>
          </a:p>
          <a:p>
            <a:pPr algn="l">
              <a:spcAft>
                <a:spcPts val="1000"/>
              </a:spcAft>
            </a:pPr>
            <a:r>
              <a:rPr sz="1700" b="0" i="0">
                <a:solidFill>
                  <a:srgbClr val="1C2321"/>
                </a:solidFill>
                <a:latin typeface="Segoe UI"/>
                <a:cs typeface="Jameel Noori Nastaleeq"/>
              </a:rPr>
              <a:t>•  Rome (Byzantium): Sham, Egypt</a:t>
            </a:r>
          </a:p>
          <a:p>
            <a:pPr algn="l">
              <a:spcAft>
                <a:spcPts val="1000"/>
              </a:spcAft>
            </a:pPr>
            <a:r>
              <a:rPr sz="1700" b="0" i="0">
                <a:solidFill>
                  <a:srgbClr val="1C2321"/>
                </a:solidFill>
                <a:latin typeface="Segoe UI"/>
                <a:cs typeface="Jameel Noori Nastaleeq"/>
              </a:rPr>
              <a:t>•  Persia (Sasanians): Iraq, Iran</a:t>
            </a:r>
          </a:p>
          <a:p>
            <a:pPr algn="l">
              <a:spcAft>
                <a:spcPts val="1000"/>
              </a:spcAft>
            </a:pPr>
            <a:r>
              <a:rPr sz="1700" b="0" i="0">
                <a:solidFill>
                  <a:srgbClr val="1C2321"/>
                </a:solidFill>
                <a:latin typeface="Segoe UI"/>
                <a:cs typeface="Jameel Noori Nastaleeq"/>
              </a:rPr>
              <a:t>•  The road the conquests take:</a:t>
            </a:r>
          </a:p>
          <a:p>
            <a:pPr algn="l">
              <a:spcAft>
                <a:spcPts val="1000"/>
              </a:spcAft>
            </a:pPr>
            <a:r>
              <a:rPr sz="1700" b="0" i="0">
                <a:solidFill>
                  <a:srgbClr val="1C2321"/>
                </a:solidFill>
                <a:latin typeface="Segoe UI"/>
                <a:cs typeface="Jameel Noori Nastaleeq"/>
              </a:rPr>
              <a:t>•  Hijaz → Sham → Iraq → Egypt → Persia</a:t>
            </a:r>
          </a:p>
        </p:txBody>
      </p:sp>
      <p:sp>
        <p:nvSpPr>
          <p:cNvPr id="7" name="TextBox 6"/>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cs typeface="Jameel Noori Nastaleeq"/>
              </a:rPr>
              <a:t>Lesson 1 · Map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cs typeface="Jameel Noori Nastaleeq"/>
              </a:rPr>
              <a:t>Why read history at all? Not for fun — for ʿibrah</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1280160"/>
          </a:xfrm>
          <a:prstGeom prst="rect">
            <a:avLst/>
          </a:prstGeom>
          <a:noFill/>
        </p:spPr>
        <p:txBody>
          <a:bodyPr wrap="square" anchor="t" lIns="50800" rIns="50800" tIns="25400" bIns="25400">
            <a:spAutoFit/>
          </a:bodyPr>
          <a:lstStyle/>
          <a:p>
            <a:pPr algn="l" rtl="1">
              <a:spcAft>
                <a:spcPts val="600"/>
              </a:spcAft>
            </a:pPr>
            <a:r>
              <a:rPr sz="2900" b="1" i="0">
                <a:solidFill>
                  <a:srgbClr val="104A43"/>
                </a:solidFill>
                <a:latin typeface="Traditional Arabic"/>
                <a:cs typeface="Traditional Arabic"/>
              </a:rPr>
              <a:t>لَقَدْ كَانَ فِي قَصَصِهِمْ عِبْرَةٌ لِأُولِي الْأَلْبَابِ</a:t>
            </a:r>
          </a:p>
          <a:p>
            <a:pPr algn="l">
              <a:spcAft>
                <a:spcPts val="0"/>
              </a:spcAft>
            </a:pPr>
            <a:r>
              <a:rPr sz="1800" b="0" i="1">
                <a:solidFill>
                  <a:srgbClr val="1C2321"/>
                </a:solidFill>
                <a:latin typeface="Segoe UI"/>
                <a:cs typeface="Jameel Noori Nastaleeq"/>
              </a:rPr>
              <a:t>“In their stories is a lesson for people who think.”  (Yūsuf 12:111)</a:t>
            </a:r>
          </a:p>
        </p:txBody>
      </p:sp>
      <p:sp>
        <p:nvSpPr>
          <p:cNvPr id="5" name="Rectangle 4"/>
          <p:cNvSpPr/>
          <p:nvPr/>
        </p:nvSpPr>
        <p:spPr>
          <a:xfrm>
            <a:off x="640080" y="2834640"/>
            <a:ext cx="10908792" cy="3200400"/>
          </a:xfrm>
          <a:prstGeom prst="rect">
            <a:avLst/>
          </a:prstGeom>
          <a:solidFill>
            <a:srgbClr val="EFE9DB"/>
          </a:solidFill>
          <a:ln w="19050">
            <a:solidFill>
              <a:srgbClr val="C49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063240"/>
            <a:ext cx="10332720" cy="2834640"/>
          </a:xfrm>
          <a:prstGeom prst="rect">
            <a:avLst/>
          </a:prstGeom>
          <a:noFill/>
        </p:spPr>
        <p:txBody>
          <a:bodyPr wrap="square" anchor="t" lIns="50800" rIns="50800" tIns="25400" bIns="25400">
            <a:spAutoFit/>
          </a:bodyPr>
          <a:lstStyle/>
          <a:p>
            <a:pPr algn="l">
              <a:spcAft>
                <a:spcPts val="1000"/>
              </a:spcAft>
            </a:pPr>
            <a:r>
              <a:rPr sz="1600" b="1" i="0">
                <a:solidFill>
                  <a:srgbClr val="7A2E2E"/>
                </a:solidFill>
                <a:latin typeface="Segoe UI"/>
                <a:cs typeface="Jameel Noori Nastaleeq"/>
              </a:rPr>
              <a:t>OUR RULES FOR THIS COURSE</a:t>
            </a:r>
          </a:p>
          <a:p>
            <a:pPr algn="l" rtl="1">
              <a:spcAft>
                <a:spcPts val="1100"/>
              </a:spcAft>
            </a:pPr>
            <a:r>
              <a:rPr sz="1900" b="0" i="0">
                <a:solidFill>
                  <a:srgbClr val="1C2321"/>
                </a:solidFill>
                <a:latin typeface="Traditional Arabic"/>
                <a:cs typeface="Jameel Noori Nastaleeq"/>
              </a:rPr>
              <a:t>• ہر بات کا کوئی ماخذ ہو۔ ”میں نے سنا تھا“ نہیں چلے گا — ہم سند کی پیروی کریں گے۔</a:t>
            </a:r>
          </a:p>
          <a:p>
            <a:pPr algn="l" rtl="1">
              <a:spcAft>
                <a:spcPts val="1100"/>
              </a:spcAft>
            </a:pPr>
            <a:r>
              <a:rPr sz="1900" b="0" i="0">
                <a:solidFill>
                  <a:srgbClr val="1C2321"/>
                </a:solidFill>
                <a:latin typeface="Traditional Arabic"/>
                <a:cs typeface="Jameel Noori Nastaleeq"/>
              </a:rPr>
              <a:t>• صحابہؓ کے بارے میں حُسنِ ظن۔ بلا ضرورت، یا عقیدے کو نقصان پہنچانے والے انداز میں اُن کے اختلافات (مشاجرات) پڑھنا ہماری فقہ میں مکروہ ہے۔</a:t>
            </a:r>
          </a:p>
          <a:p>
            <a:pPr algn="l" rtl="1">
              <a:spcAft>
                <a:spcPts val="0"/>
              </a:spcAft>
            </a:pPr>
            <a:r>
              <a:rPr sz="1900" b="0" i="0">
                <a:solidFill>
                  <a:srgbClr val="1C2321"/>
                </a:solidFill>
                <a:latin typeface="Traditional Arabic"/>
                <a:cs typeface="Jameel Noori Nastaleeq"/>
              </a:rPr>
              <a:t>• جب ہم اُن واقعات تک پہنچیں گے (سبق ۵ اور ۷)، پورے ادب کے ساتھ۔</a:t>
            </a:r>
          </a:p>
        </p:txBody>
      </p:sp>
      <p:sp>
        <p:nvSpPr>
          <p:cNvPr id="7" name="TextBox 6"/>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cs typeface="Jameel Noori Nastaleeq"/>
              </a:rPr>
              <a:t>Lesson 1 · Why + rules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cs typeface="Jameel Noori Nastaleeq"/>
              </a:rPr>
              <a:t>One thing to be clear about from day one</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96112"/>
            <a:ext cx="10881360" cy="1097280"/>
          </a:xfrm>
          <a:prstGeom prst="rect">
            <a:avLst/>
          </a:prstGeom>
          <a:noFill/>
        </p:spPr>
        <p:txBody>
          <a:bodyPr wrap="square" anchor="t" lIns="50800" rIns="50800" tIns="25400" bIns="25400">
            <a:spAutoFit/>
          </a:bodyPr>
          <a:lstStyle/>
          <a:p>
            <a:pPr algn="l">
              <a:spcAft>
                <a:spcPts val="0"/>
              </a:spcAft>
            </a:pPr>
            <a:r>
              <a:rPr sz="2900" b="1" i="0">
                <a:solidFill>
                  <a:srgbClr val="0A322E"/>
                </a:solidFill>
                <a:latin typeface="Georgia"/>
                <a:cs typeface="Jameel Noori Nastaleeq"/>
              </a:rPr>
              <a:t>This is the history of the Muslims</a:t>
            </a:r>
          </a:p>
        </p:txBody>
      </p:sp>
      <p:sp>
        <p:nvSpPr>
          <p:cNvPr id="5" name="TextBox 4"/>
          <p:cNvSpPr txBox="1"/>
          <p:nvPr/>
        </p:nvSpPr>
        <p:spPr>
          <a:xfrm>
            <a:off x="640080" y="1920240"/>
            <a:ext cx="10881360" cy="4023360"/>
          </a:xfrm>
          <a:prstGeom prst="rect">
            <a:avLst/>
          </a:prstGeom>
          <a:noFill/>
        </p:spPr>
        <p:txBody>
          <a:bodyPr wrap="square" anchor="t" lIns="50800" rIns="50800" tIns="25400" bIns="25400">
            <a:spAutoFit/>
          </a:bodyPr>
          <a:lstStyle/>
          <a:p>
            <a:pPr algn="l">
              <a:spcAft>
                <a:spcPts val="1400"/>
              </a:spcAft>
            </a:pPr>
            <a:r>
              <a:rPr sz="2400" b="1" i="0">
                <a:solidFill>
                  <a:srgbClr val="104A43"/>
                </a:solidFill>
                <a:latin typeface="Segoe UI"/>
                <a:cs typeface="Jameel Noori Nastaleeq"/>
              </a:rPr>
              <a:t>“Tārīkh al-Islām” really means Tārīkh al-Muslimīn — the history of the MUSLIMS, not of the religion itself.</a:t>
            </a:r>
          </a:p>
          <a:p>
            <a:pPr algn="l">
              <a:spcAft>
                <a:spcPts val="1200"/>
              </a:spcAft>
            </a:pPr>
            <a:r>
              <a:rPr sz="2200" b="0" i="0">
                <a:solidFill>
                  <a:srgbClr val="1C2321"/>
                </a:solidFill>
                <a:latin typeface="Segoe UI"/>
                <a:cs typeface="Jameel Noori Nastaleeq"/>
              </a:rPr>
              <a:t>The religion is perfect. The Muslims are people — there are highs and lows, just caliphs and also unjust kings, closeness to the dīn and sometimes distance from it.</a:t>
            </a:r>
          </a:p>
          <a:p>
            <a:pPr algn="l" rtl="1">
              <a:spcAft>
                <a:spcPts val="600"/>
              </a:spcAft>
            </a:pPr>
            <a:r>
              <a:rPr sz="2000" b="0" i="0">
                <a:solidFill>
                  <a:srgbClr val="C49A45"/>
                </a:solidFill>
                <a:latin typeface="Jameel Noori Nastaleeq"/>
                <a:cs typeface="Jameel Noori Nastaleeq"/>
              </a:rPr>
              <a:t>تو جب کوئی برا واقعہ آئے — اُسے اسلام کے کھاتے میں مت ڈالو۔ یہ انسانوں کی کہانی ہے، دین کی نہیں۔</a:t>
            </a:r>
          </a:p>
        </p:txBody>
      </p:sp>
      <p:sp>
        <p:nvSpPr>
          <p:cNvPr id="6" name="TextBox 5"/>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cs typeface="Jameel Noori Nastaleeq"/>
              </a:rPr>
              <a:t>Lesson 1 · Muslims, not the dīn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322E"/>
        </a:solidFill>
        <a:effectLst/>
      </p:bgPr>
    </p:bg>
    <p:spTree>
      <p:nvGrpSpPr>
        <p:cNvPr id="1" name=""/>
        <p:cNvGrpSpPr/>
        <p:nvPr/>
      </p:nvGrpSpPr>
      <p:grpSpPr/>
      <p:sp>
        <p:nvSpPr>
          <p:cNvPr id="2" name="Rectangle 1"/>
          <p:cNvSpPr/>
          <p:nvPr/>
        </p:nvSpPr>
        <p:spPr>
          <a:xfrm>
            <a:off x="640080" y="2651760"/>
            <a:ext cx="1828800" cy="508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834640"/>
            <a:ext cx="10972800" cy="2194560"/>
          </a:xfrm>
          <a:prstGeom prst="rect">
            <a:avLst/>
          </a:prstGeom>
          <a:noFill/>
        </p:spPr>
        <p:txBody>
          <a:bodyPr wrap="square" anchor="t" lIns="50800" rIns="50800" tIns="25400" bIns="25400">
            <a:spAutoFit/>
          </a:bodyPr>
          <a:lstStyle/>
          <a:p>
            <a:pPr algn="l">
              <a:spcAft>
                <a:spcPts val="800"/>
              </a:spcAft>
            </a:pPr>
            <a:r>
              <a:rPr sz="4200" b="1" i="0">
                <a:solidFill>
                  <a:srgbClr val="FFFFFF"/>
                </a:solidFill>
                <a:latin typeface="Georgia"/>
                <a:cs typeface="Jameel Noori Nastaleeq"/>
              </a:rPr>
              <a:t>So who saved all this?</a:t>
            </a:r>
          </a:p>
          <a:p>
            <a:pPr algn="l" rtl="1">
              <a:spcAft>
                <a:spcPts val="600"/>
              </a:spcAft>
            </a:pPr>
            <a:r>
              <a:rPr sz="2400" b="0" i="0">
                <a:solidFill>
                  <a:srgbClr val="C49A45"/>
                </a:solidFill>
                <a:latin typeface="Traditional Arabic"/>
                <a:cs typeface="Jameel Noori Nastaleeq"/>
              </a:rPr>
              <a:t>یہ سب بچایا کس نے؟</a:t>
            </a:r>
          </a:p>
          <a:p>
            <a:pPr algn="l" rtl="1">
              <a:spcAft>
                <a:spcPts val="0"/>
              </a:spcAft>
            </a:pPr>
            <a:r>
              <a:rPr sz="1800" b="0" i="0">
                <a:solidFill>
                  <a:srgbClr val="FAF7F0"/>
                </a:solidFill>
                <a:latin typeface="Traditional Arabic"/>
                <a:cs typeface="Jameel Noori Nastaleeq"/>
              </a:rPr>
              <a:t>چودہ سو سال بعد بھی ہمیں پتا ہے — کیسے؟</a:t>
            </a:r>
          </a:p>
        </p:txBody>
      </p:sp>
      <p:sp>
        <p:nvSpPr>
          <p:cNvPr id="4" name="TextBox 3"/>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cs typeface="Jameel Noori Nastaleeq"/>
              </a:rPr>
              <a:t>Lesson 1 · Part B</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cs typeface="Jameel Noori Nastaleeq"/>
              </a:rPr>
              <a:t>It all stands on two things — both from hadith</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96112"/>
            <a:ext cx="10881360" cy="1097280"/>
          </a:xfrm>
          <a:prstGeom prst="rect">
            <a:avLst/>
          </a:prstGeom>
          <a:noFill/>
        </p:spPr>
        <p:txBody>
          <a:bodyPr wrap="square" anchor="t" lIns="50800" rIns="50800" tIns="25400" bIns="25400">
            <a:spAutoFit/>
          </a:bodyPr>
          <a:lstStyle/>
          <a:p>
            <a:pPr algn="l">
              <a:spcAft>
                <a:spcPts val="0"/>
              </a:spcAft>
            </a:pPr>
            <a:r>
              <a:rPr sz="3000" b="1" i="0">
                <a:solidFill>
                  <a:srgbClr val="0A322E"/>
                </a:solidFill>
                <a:latin typeface="Georgia"/>
                <a:cs typeface="Jameel Noori Nastaleeq"/>
              </a:rPr>
              <a:t>Two pillars</a:t>
            </a:r>
          </a:p>
        </p:txBody>
      </p:sp>
      <p:sp>
        <p:nvSpPr>
          <p:cNvPr id="5" name="Rectangle 4"/>
          <p:cNvSpPr/>
          <p:nvPr/>
        </p:nvSpPr>
        <p:spPr>
          <a:xfrm>
            <a:off x="640080" y="2377440"/>
            <a:ext cx="5318607" cy="265176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377440"/>
            <a:ext cx="5318607"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2523744"/>
            <a:ext cx="4989423" cy="2377440"/>
          </a:xfrm>
          <a:prstGeom prst="rect">
            <a:avLst/>
          </a:prstGeom>
          <a:noFill/>
        </p:spPr>
        <p:txBody>
          <a:bodyPr wrap="square" anchor="t" lIns="50800" rIns="50800" tIns="25400" bIns="25400">
            <a:spAutoFit/>
          </a:bodyPr>
          <a:lstStyle/>
          <a:p>
            <a:pPr algn="l">
              <a:spcAft>
                <a:spcPts val="200"/>
              </a:spcAft>
            </a:pPr>
            <a:r>
              <a:rPr sz="2300" b="1" i="0">
                <a:solidFill>
                  <a:srgbClr val="0A322E"/>
                </a:solidFill>
                <a:latin typeface="Segoe UI"/>
                <a:cs typeface="Jameel Noori Nastaleeq"/>
              </a:rPr>
              <a:t>Seerah-nigārī</a:t>
            </a:r>
          </a:p>
          <a:p>
            <a:pPr algn="l" rtl="1">
              <a:spcAft>
                <a:spcPts val="600"/>
              </a:spcAft>
            </a:pPr>
            <a:r>
              <a:rPr sz="1300" b="1" i="0">
                <a:solidFill>
                  <a:srgbClr val="C49A45"/>
                </a:solidFill>
                <a:latin typeface="Jameel Noori Nastaleeq"/>
                <a:cs typeface="Jameel Noori Nastaleeq"/>
              </a:rPr>
              <a:t>سیرت و مغازی</a:t>
            </a:r>
          </a:p>
          <a:p>
            <a:pPr algn="l">
              <a:spcAft>
                <a:spcPts val="0"/>
              </a:spcAft>
            </a:pPr>
            <a:r>
              <a:rPr sz="1900" b="0" i="0">
                <a:solidFill>
                  <a:srgbClr val="1C2321"/>
                </a:solidFill>
                <a:latin typeface="Segoe UI"/>
                <a:cs typeface="Jameel Noori Nastaleeq"/>
              </a:rPr>
              <a:t>Writing the Prophet's ﷺ life in proper time-order. This is the root of all our history-writing.</a:t>
            </a:r>
          </a:p>
        </p:txBody>
      </p:sp>
      <p:sp>
        <p:nvSpPr>
          <p:cNvPr id="8" name="Rectangle 7"/>
          <p:cNvSpPr/>
          <p:nvPr/>
        </p:nvSpPr>
        <p:spPr>
          <a:xfrm>
            <a:off x="6233007" y="2377440"/>
            <a:ext cx="5318607" cy="265176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3007" y="2377440"/>
            <a:ext cx="5318607"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97599" y="2523744"/>
            <a:ext cx="4989423" cy="2377440"/>
          </a:xfrm>
          <a:prstGeom prst="rect">
            <a:avLst/>
          </a:prstGeom>
          <a:noFill/>
        </p:spPr>
        <p:txBody>
          <a:bodyPr wrap="square" anchor="t" lIns="50800" rIns="50800" tIns="25400" bIns="25400">
            <a:spAutoFit/>
          </a:bodyPr>
          <a:lstStyle/>
          <a:p>
            <a:pPr algn="l">
              <a:spcAft>
                <a:spcPts val="200"/>
              </a:spcAft>
            </a:pPr>
            <a:r>
              <a:rPr sz="2300" b="1" i="0">
                <a:solidFill>
                  <a:srgbClr val="0A322E"/>
                </a:solidFill>
                <a:latin typeface="Segoe UI"/>
                <a:cs typeface="Jameel Noori Nastaleeq"/>
              </a:rPr>
              <a:t>Fann al-Rijāl</a:t>
            </a:r>
          </a:p>
          <a:p>
            <a:pPr algn="l" rtl="1">
              <a:spcAft>
                <a:spcPts val="600"/>
              </a:spcAft>
            </a:pPr>
            <a:r>
              <a:rPr sz="1300" b="1" i="0">
                <a:solidFill>
                  <a:srgbClr val="C49A45"/>
                </a:solidFill>
                <a:latin typeface="Jameel Noori Nastaleeq"/>
                <a:cs typeface="Jameel Noori Nastaleeq"/>
              </a:rPr>
              <a:t>علم اسماء الرجال</a:t>
            </a:r>
          </a:p>
          <a:p>
            <a:pPr algn="l">
              <a:spcAft>
                <a:spcPts val="0"/>
              </a:spcAft>
            </a:pPr>
            <a:r>
              <a:rPr sz="1900" b="0" i="0">
                <a:solidFill>
                  <a:srgbClr val="1C2321"/>
                </a:solidFill>
                <a:latin typeface="Segoe UI"/>
                <a:cs typeface="Jameel Noori Nastaleeq"/>
              </a:rPr>
              <a:t>A full file on every narrator. Built to protect hadith and history — so any liar gets caught.</a:t>
            </a:r>
          </a:p>
        </p:txBody>
      </p:sp>
      <p:sp>
        <p:nvSpPr>
          <p:cNvPr id="11" name="TextBox 10"/>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cs typeface="Jameel Noori Nastaleeq"/>
              </a:rPr>
              <a:t>Lesson 1 · Pillars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cs typeface="Jameel Noori Nastaleeq"/>
              </a:rPr>
              <a:t>How any science gets built — in four steps</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96112"/>
            <a:ext cx="10881360" cy="1097280"/>
          </a:xfrm>
          <a:prstGeom prst="rect">
            <a:avLst/>
          </a:prstGeom>
          <a:noFill/>
        </p:spPr>
        <p:txBody>
          <a:bodyPr wrap="square" anchor="t" lIns="50800" rIns="50800" tIns="25400" bIns="25400">
            <a:spAutoFit/>
          </a:bodyPr>
          <a:lstStyle/>
          <a:p>
            <a:pPr algn="l">
              <a:spcAft>
                <a:spcPts val="0"/>
              </a:spcAft>
            </a:pPr>
            <a:r>
              <a:rPr sz="3000" b="1" i="0">
                <a:solidFill>
                  <a:srgbClr val="0A322E"/>
                </a:solidFill>
                <a:latin typeface="Georgia"/>
                <a:cs typeface="Jameel Noori Nastaleeq"/>
              </a:rPr>
              <a:t>Building the house</a:t>
            </a:r>
          </a:p>
        </p:txBody>
      </p:sp>
      <p:sp>
        <p:nvSpPr>
          <p:cNvPr id="5" name="Rectangle 4"/>
          <p:cNvSpPr/>
          <p:nvPr/>
        </p:nvSpPr>
        <p:spPr>
          <a:xfrm>
            <a:off x="640080" y="2286000"/>
            <a:ext cx="2556433" cy="2651760"/>
          </a:xfrm>
          <a:prstGeom prst="rect">
            <a:avLst/>
          </a:prstGeom>
          <a:solidFill>
            <a:srgbClr val="EFE9DB"/>
          </a:solidFill>
          <a:ln w="19050">
            <a:solidFill>
              <a:srgbClr val="8C8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286000"/>
            <a:ext cx="2556433" cy="502920"/>
          </a:xfrm>
          <a:prstGeom prst="rect">
            <a:avLst/>
          </a:prstGeom>
          <a:solidFill>
            <a:srgbClr val="8C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340864"/>
            <a:ext cx="2282113" cy="457200"/>
          </a:xfrm>
          <a:prstGeom prst="rect">
            <a:avLst/>
          </a:prstGeom>
          <a:noFill/>
        </p:spPr>
        <p:txBody>
          <a:bodyPr wrap="square" anchor="t" lIns="50800" rIns="50800" tIns="25400" bIns="25400">
            <a:spAutoFit/>
          </a:bodyPr>
          <a:lstStyle/>
          <a:p>
            <a:pPr algn="l">
              <a:spcAft>
                <a:spcPts val="0"/>
              </a:spcAft>
            </a:pPr>
            <a:r>
              <a:rPr sz="1500" b="1" i="0">
                <a:solidFill>
                  <a:srgbClr val="FFFFFF"/>
                </a:solidFill>
                <a:latin typeface="Segoe UI"/>
                <a:cs typeface="Jameel Noori Nastaleeq"/>
              </a:rPr>
              <a:t>1 · TĀSĪS</a:t>
            </a:r>
          </a:p>
        </p:txBody>
      </p:sp>
      <p:sp>
        <p:nvSpPr>
          <p:cNvPr id="8" name="TextBox 7"/>
          <p:cNvSpPr txBox="1"/>
          <p:nvPr/>
        </p:nvSpPr>
        <p:spPr>
          <a:xfrm>
            <a:off x="777240" y="2926080"/>
            <a:ext cx="2282113" cy="1920240"/>
          </a:xfrm>
          <a:prstGeom prst="rect">
            <a:avLst/>
          </a:prstGeom>
          <a:noFill/>
        </p:spPr>
        <p:txBody>
          <a:bodyPr wrap="square" anchor="t" lIns="50800" rIns="50800" tIns="25400" bIns="25400">
            <a:spAutoFit/>
          </a:bodyPr>
          <a:lstStyle/>
          <a:p>
            <a:pPr algn="l" rtl="1">
              <a:spcAft>
                <a:spcPts val="800"/>
              </a:spcAft>
            </a:pPr>
            <a:r>
              <a:rPr sz="2200" b="1" i="0">
                <a:solidFill>
                  <a:srgbClr val="8C8C86"/>
                </a:solidFill>
                <a:latin typeface="Traditional Arabic"/>
                <a:cs typeface="Jameel Noori Nastaleeq"/>
              </a:rPr>
              <a:t>تاسیس</a:t>
            </a:r>
          </a:p>
          <a:p>
            <a:pPr algn="l">
              <a:spcAft>
                <a:spcPts val="0"/>
              </a:spcAft>
            </a:pPr>
            <a:r>
              <a:rPr sz="1500" b="0" i="0">
                <a:solidFill>
                  <a:srgbClr val="1C2321"/>
                </a:solidFill>
                <a:latin typeface="Segoe UI"/>
                <a:cs typeface="Jameel Noori Nastaleeq"/>
              </a:rPr>
              <a:t>lay the foundation</a:t>
            </a:r>
          </a:p>
        </p:txBody>
      </p:sp>
      <p:sp>
        <p:nvSpPr>
          <p:cNvPr id="9" name="Rectangle 8"/>
          <p:cNvSpPr/>
          <p:nvPr/>
        </p:nvSpPr>
        <p:spPr>
          <a:xfrm>
            <a:off x="3425113" y="2286000"/>
            <a:ext cx="2556433" cy="2651760"/>
          </a:xfrm>
          <a:prstGeom prst="rect">
            <a:avLst/>
          </a:prstGeom>
          <a:solidFill>
            <a:srgbClr val="EFE9DB"/>
          </a:solidFill>
          <a:ln w="1905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25113" y="2286000"/>
            <a:ext cx="2556433" cy="50292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2273" y="2340864"/>
            <a:ext cx="2282113" cy="457200"/>
          </a:xfrm>
          <a:prstGeom prst="rect">
            <a:avLst/>
          </a:prstGeom>
          <a:noFill/>
        </p:spPr>
        <p:txBody>
          <a:bodyPr wrap="square" anchor="t" lIns="50800" rIns="50800" tIns="25400" bIns="25400">
            <a:spAutoFit/>
          </a:bodyPr>
          <a:lstStyle/>
          <a:p>
            <a:pPr algn="l">
              <a:spcAft>
                <a:spcPts val="0"/>
              </a:spcAft>
            </a:pPr>
            <a:r>
              <a:rPr sz="1500" b="1" i="0">
                <a:solidFill>
                  <a:srgbClr val="FFFFFF"/>
                </a:solidFill>
                <a:latin typeface="Segoe UI"/>
                <a:cs typeface="Jameel Noori Nastaleeq"/>
              </a:rPr>
              <a:t>2 · TADWĪN</a:t>
            </a:r>
          </a:p>
        </p:txBody>
      </p:sp>
      <p:sp>
        <p:nvSpPr>
          <p:cNvPr id="12" name="TextBox 11"/>
          <p:cNvSpPr txBox="1"/>
          <p:nvPr/>
        </p:nvSpPr>
        <p:spPr>
          <a:xfrm>
            <a:off x="3562273" y="2926080"/>
            <a:ext cx="2282113" cy="1920240"/>
          </a:xfrm>
          <a:prstGeom prst="rect">
            <a:avLst/>
          </a:prstGeom>
          <a:noFill/>
        </p:spPr>
        <p:txBody>
          <a:bodyPr wrap="square" anchor="t" lIns="50800" rIns="50800" tIns="25400" bIns="25400">
            <a:spAutoFit/>
          </a:bodyPr>
          <a:lstStyle/>
          <a:p>
            <a:pPr algn="l" rtl="1">
              <a:spcAft>
                <a:spcPts val="800"/>
              </a:spcAft>
            </a:pPr>
            <a:r>
              <a:rPr sz="2200" b="1" i="0">
                <a:solidFill>
                  <a:srgbClr val="104A43"/>
                </a:solidFill>
                <a:latin typeface="Traditional Arabic"/>
                <a:cs typeface="Jameel Noori Nastaleeq"/>
              </a:rPr>
              <a:t>تدوین</a:t>
            </a:r>
          </a:p>
          <a:p>
            <a:pPr algn="l">
              <a:spcAft>
                <a:spcPts val="0"/>
              </a:spcAft>
            </a:pPr>
            <a:r>
              <a:rPr sz="1500" b="0" i="0">
                <a:solidFill>
                  <a:srgbClr val="1C2321"/>
                </a:solidFill>
                <a:latin typeface="Segoe UI"/>
                <a:cs typeface="Jameel Noori Nastaleeq"/>
              </a:rPr>
              <a:t>raise the walls (gather)</a:t>
            </a:r>
          </a:p>
        </p:txBody>
      </p:sp>
      <p:sp>
        <p:nvSpPr>
          <p:cNvPr id="13" name="Rectangle 12"/>
          <p:cNvSpPr/>
          <p:nvPr/>
        </p:nvSpPr>
        <p:spPr>
          <a:xfrm>
            <a:off x="6210147" y="2286000"/>
            <a:ext cx="2556433" cy="2651760"/>
          </a:xfrm>
          <a:prstGeom prst="rect">
            <a:avLst/>
          </a:prstGeom>
          <a:solidFill>
            <a:srgbClr val="EFE9DB"/>
          </a:solidFill>
          <a:ln w="19050">
            <a:solidFill>
              <a:srgbClr val="0A32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0147" y="2286000"/>
            <a:ext cx="2556433" cy="50292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2340864"/>
            <a:ext cx="2282113" cy="457200"/>
          </a:xfrm>
          <a:prstGeom prst="rect">
            <a:avLst/>
          </a:prstGeom>
          <a:noFill/>
        </p:spPr>
        <p:txBody>
          <a:bodyPr wrap="square" anchor="t" lIns="50800" rIns="50800" tIns="25400" bIns="25400">
            <a:spAutoFit/>
          </a:bodyPr>
          <a:lstStyle/>
          <a:p>
            <a:pPr algn="l">
              <a:spcAft>
                <a:spcPts val="0"/>
              </a:spcAft>
            </a:pPr>
            <a:r>
              <a:rPr sz="1500" b="1" i="0">
                <a:solidFill>
                  <a:srgbClr val="FFFFFF"/>
                </a:solidFill>
                <a:latin typeface="Segoe UI"/>
                <a:cs typeface="Jameel Noori Nastaleeq"/>
              </a:rPr>
              <a:t>3 · TANQĪH</a:t>
            </a:r>
          </a:p>
        </p:txBody>
      </p:sp>
      <p:sp>
        <p:nvSpPr>
          <p:cNvPr id="16" name="TextBox 15"/>
          <p:cNvSpPr txBox="1"/>
          <p:nvPr/>
        </p:nvSpPr>
        <p:spPr>
          <a:xfrm>
            <a:off x="6347307" y="2926080"/>
            <a:ext cx="2282113" cy="1920240"/>
          </a:xfrm>
          <a:prstGeom prst="rect">
            <a:avLst/>
          </a:prstGeom>
          <a:noFill/>
        </p:spPr>
        <p:txBody>
          <a:bodyPr wrap="square" anchor="t" lIns="50800" rIns="50800" tIns="25400" bIns="25400">
            <a:spAutoFit/>
          </a:bodyPr>
          <a:lstStyle/>
          <a:p>
            <a:pPr algn="l" rtl="1">
              <a:spcAft>
                <a:spcPts val="800"/>
              </a:spcAft>
            </a:pPr>
            <a:r>
              <a:rPr sz="2200" b="1" i="0">
                <a:solidFill>
                  <a:srgbClr val="0A322E"/>
                </a:solidFill>
                <a:latin typeface="Traditional Arabic"/>
                <a:cs typeface="Jameel Noori Nastaleeq"/>
              </a:rPr>
              <a:t>تنقیح</a:t>
            </a:r>
          </a:p>
          <a:p>
            <a:pPr algn="l">
              <a:spcAft>
                <a:spcPts val="0"/>
              </a:spcAft>
            </a:pPr>
            <a:r>
              <a:rPr sz="1500" b="0" i="0">
                <a:solidFill>
                  <a:srgbClr val="1C2321"/>
                </a:solidFill>
                <a:latin typeface="Segoe UI"/>
                <a:cs typeface="Jameel Noori Nastaleeq"/>
              </a:rPr>
              <a:t>plaster &amp; clean (sift)</a:t>
            </a:r>
          </a:p>
        </p:txBody>
      </p:sp>
      <p:sp>
        <p:nvSpPr>
          <p:cNvPr id="17" name="Rectangle 16"/>
          <p:cNvSpPr/>
          <p:nvPr/>
        </p:nvSpPr>
        <p:spPr>
          <a:xfrm>
            <a:off x="8995181" y="2286000"/>
            <a:ext cx="2556433" cy="2651760"/>
          </a:xfrm>
          <a:prstGeom prst="rect">
            <a:avLst/>
          </a:prstGeom>
          <a:solidFill>
            <a:srgbClr val="EFE9DB"/>
          </a:solidFill>
          <a:ln w="19050">
            <a:solidFill>
              <a:srgbClr val="C49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95181" y="2286000"/>
            <a:ext cx="2556433" cy="50292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2341" y="2340864"/>
            <a:ext cx="2282113" cy="457200"/>
          </a:xfrm>
          <a:prstGeom prst="rect">
            <a:avLst/>
          </a:prstGeom>
          <a:noFill/>
        </p:spPr>
        <p:txBody>
          <a:bodyPr wrap="square" anchor="t" lIns="50800" rIns="50800" tIns="25400" bIns="25400">
            <a:spAutoFit/>
          </a:bodyPr>
          <a:lstStyle/>
          <a:p>
            <a:pPr algn="l">
              <a:spcAft>
                <a:spcPts val="0"/>
              </a:spcAft>
            </a:pPr>
            <a:r>
              <a:rPr sz="1500" b="1" i="0">
                <a:solidFill>
                  <a:srgbClr val="FFFFFF"/>
                </a:solidFill>
                <a:latin typeface="Segoe UI"/>
                <a:cs typeface="Jameel Noori Nastaleeq"/>
              </a:rPr>
              <a:t>4 · TAKMĪL</a:t>
            </a:r>
          </a:p>
        </p:txBody>
      </p:sp>
      <p:sp>
        <p:nvSpPr>
          <p:cNvPr id="20" name="TextBox 19"/>
          <p:cNvSpPr txBox="1"/>
          <p:nvPr/>
        </p:nvSpPr>
        <p:spPr>
          <a:xfrm>
            <a:off x="9132341" y="2926080"/>
            <a:ext cx="2282113" cy="1920240"/>
          </a:xfrm>
          <a:prstGeom prst="rect">
            <a:avLst/>
          </a:prstGeom>
          <a:noFill/>
        </p:spPr>
        <p:txBody>
          <a:bodyPr wrap="square" anchor="t" lIns="50800" rIns="50800" tIns="25400" bIns="25400">
            <a:spAutoFit/>
          </a:bodyPr>
          <a:lstStyle/>
          <a:p>
            <a:pPr algn="l" rtl="1">
              <a:spcAft>
                <a:spcPts val="800"/>
              </a:spcAft>
            </a:pPr>
            <a:r>
              <a:rPr sz="2200" b="1" i="0">
                <a:solidFill>
                  <a:srgbClr val="C49A45"/>
                </a:solidFill>
                <a:latin typeface="Traditional Arabic"/>
                <a:cs typeface="Jameel Noori Nastaleeq"/>
              </a:rPr>
              <a:t>تکمیل</a:t>
            </a:r>
          </a:p>
          <a:p>
            <a:pPr algn="l">
              <a:spcAft>
                <a:spcPts val="0"/>
              </a:spcAft>
            </a:pPr>
            <a:r>
              <a:rPr sz="1500" b="0" i="0">
                <a:solidFill>
                  <a:srgbClr val="1C2321"/>
                </a:solidFill>
                <a:latin typeface="Segoe UI"/>
                <a:cs typeface="Jameel Noori Nastaleeq"/>
              </a:rPr>
              <a:t>paint &amp; furnish (perfect)</a:t>
            </a:r>
          </a:p>
        </p:txBody>
      </p:sp>
      <p:sp>
        <p:nvSpPr>
          <p:cNvPr id="21" name="TextBox 20"/>
          <p:cNvSpPr txBox="1"/>
          <p:nvPr/>
        </p:nvSpPr>
        <p:spPr>
          <a:xfrm>
            <a:off x="640080" y="5212080"/>
            <a:ext cx="10881360" cy="914400"/>
          </a:xfrm>
          <a:prstGeom prst="rect">
            <a:avLst/>
          </a:prstGeom>
          <a:noFill/>
        </p:spPr>
        <p:txBody>
          <a:bodyPr wrap="square" anchor="t" lIns="50800" rIns="50800" tIns="25400" bIns="25400">
            <a:spAutoFit/>
          </a:bodyPr>
          <a:lstStyle/>
          <a:p>
            <a:pPr algn="l">
              <a:spcAft>
                <a:spcPts val="0"/>
              </a:spcAft>
            </a:pPr>
            <a:r>
              <a:rPr sz="1700" b="0" i="1">
                <a:solidFill>
                  <a:srgbClr val="104A43"/>
                </a:solidFill>
                <a:latin typeface="Segoe UI"/>
                <a:cs typeface="Jameel Noori Nastaleeq"/>
              </a:rPr>
              <a:t>History-WRITING began before Islam (Greeks, Romans…). Muslims turned it into a real science — gathered it (2nd–4th c. AH), sifted it (7th), perfected it (8th, Ibn Khaldūn).</a:t>
            </a:r>
          </a:p>
        </p:txBody>
      </p:sp>
      <p:sp>
        <p:nvSpPr>
          <p:cNvPr id="22" name="TextBox 21"/>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cs typeface="Jameel Noori Nastaleeq"/>
              </a:rPr>
              <a:t>Lesson 1 · 4 stages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cs typeface="Jameel Noori Nastaleeq"/>
              </a:rPr>
              <a:t>The people who actually wrote it down</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96112"/>
            <a:ext cx="10881360" cy="1097280"/>
          </a:xfrm>
          <a:prstGeom prst="rect">
            <a:avLst/>
          </a:prstGeom>
          <a:noFill/>
        </p:spPr>
        <p:txBody>
          <a:bodyPr wrap="square" anchor="t" lIns="50800" rIns="50800" tIns="25400" bIns="25400">
            <a:spAutoFit/>
          </a:bodyPr>
          <a:lstStyle/>
          <a:p>
            <a:pPr algn="l">
              <a:spcAft>
                <a:spcPts val="0"/>
              </a:spcAft>
            </a:pPr>
            <a:r>
              <a:rPr sz="3000" b="1" i="0">
                <a:solidFill>
                  <a:srgbClr val="0A322E"/>
                </a:solidFill>
                <a:latin typeface="Georgia"/>
                <a:cs typeface="Jameel Noori Nastaleeq"/>
              </a:rPr>
              <a:t>Meet the giants</a:t>
            </a:r>
          </a:p>
        </p:txBody>
      </p:sp>
      <p:sp>
        <p:nvSpPr>
          <p:cNvPr id="5" name="TextBox 4"/>
          <p:cNvSpPr txBox="1"/>
          <p:nvPr/>
        </p:nvSpPr>
        <p:spPr>
          <a:xfrm>
            <a:off x="640080" y="1874519"/>
            <a:ext cx="10881360" cy="4206240"/>
          </a:xfrm>
          <a:prstGeom prst="rect">
            <a:avLst/>
          </a:prstGeom>
          <a:noFill/>
        </p:spPr>
        <p:txBody>
          <a:bodyPr wrap="square" anchor="t" lIns="50800" rIns="50800" tIns="25400" bIns="25400">
            <a:spAutoFit/>
          </a:bodyPr>
          <a:lstStyle/>
          <a:p>
            <a:pPr algn="l">
              <a:spcAft>
                <a:spcPts val="1200"/>
              </a:spcAft>
            </a:pPr>
            <a:r>
              <a:rPr sz="2000" b="1" i="0">
                <a:solidFill>
                  <a:srgbClr val="104A43"/>
                </a:solidFill>
                <a:latin typeface="Segoe UI"/>
                <a:cs typeface="Jameel Noori Nastaleeq"/>
              </a:rPr>
              <a:t>Ibn Isḥāq (d.151) → Ibn Hishām (d.213): </a:t>
            </a:r>
            <a:r>
              <a:rPr sz="2000">
                <a:solidFill>
                  <a:srgbClr val="1C2321"/>
                </a:solidFill>
                <a:latin typeface="Segoe UI"/>
              </a:rPr>
              <a:t>the seerah we still read most — Sīrat Ibn Hishām.</a:t>
            </a:r>
          </a:p>
          <a:p>
            <a:pPr algn="l">
              <a:spcAft>
                <a:spcPts val="1200"/>
              </a:spcAft>
            </a:pPr>
            <a:r>
              <a:rPr sz="2000" b="1" i="0">
                <a:solidFill>
                  <a:srgbClr val="104A43"/>
                </a:solidFill>
                <a:latin typeface="Segoe UI"/>
                <a:cs typeface="Jameel Noori Nastaleeq"/>
              </a:rPr>
              <a:t>Wāqidī (d.207) &amp; his student Ibn Saʿd (d.230): </a:t>
            </a:r>
            <a:r>
              <a:rPr sz="2000">
                <a:solidFill>
                  <a:srgbClr val="1C2321"/>
                </a:solidFill>
                <a:latin typeface="Segoe UI"/>
              </a:rPr>
              <a:t>one vivid but loose, one careful. Ibn Saʿd's Ṭabaqāt is a treasury of the Companions.</a:t>
            </a:r>
          </a:p>
          <a:p>
            <a:pPr algn="l">
              <a:spcAft>
                <a:spcPts val="1200"/>
              </a:spcAft>
            </a:pPr>
            <a:r>
              <a:rPr sz="2000" b="1" i="0">
                <a:solidFill>
                  <a:srgbClr val="104A43"/>
                </a:solidFill>
                <a:latin typeface="Segoe UI"/>
                <a:cs typeface="Jameel Noori Nastaleeq"/>
              </a:rPr>
              <a:t>Balādhurī (d.279): </a:t>
            </a:r>
            <a:r>
              <a:rPr sz="2000">
                <a:solidFill>
                  <a:srgbClr val="1C2321"/>
                </a:solidFill>
                <a:latin typeface="Segoe UI"/>
              </a:rPr>
              <a:t>the conquests, city by city — Futūḥ al-Buldān.</a:t>
            </a:r>
          </a:p>
          <a:p>
            <a:pPr algn="l">
              <a:spcAft>
                <a:spcPts val="1200"/>
              </a:spcAft>
            </a:pPr>
            <a:r>
              <a:rPr sz="2000" b="1" i="0">
                <a:solidFill>
                  <a:srgbClr val="104A43"/>
                </a:solidFill>
                <a:latin typeface="Segoe UI"/>
                <a:cs typeface="Jameel Noori Nastaleeq"/>
              </a:rPr>
              <a:t>⚠ Yaʿqūbī &amp; Masʿūdī (d.346): </a:t>
            </a:r>
            <a:r>
              <a:rPr sz="2000">
                <a:solidFill>
                  <a:srgbClr val="1C2321"/>
                </a:solidFill>
                <a:latin typeface="Segoe UI"/>
              </a:rPr>
              <a:t>were Shīʿa — parts tilt against the Companions. We read them aware.</a:t>
            </a:r>
          </a:p>
        </p:txBody>
      </p:sp>
      <p:sp>
        <p:nvSpPr>
          <p:cNvPr id="6" name="TextBox 5"/>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cs typeface="Jameel Noori Nastaleeq"/>
              </a:rPr>
              <a:t>Lesson 1 · Giants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cs typeface="Jameel Noori Nastaleeq"/>
              </a:rPr>
              <a:t>Five books. Almost everything else comes from these.</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96112"/>
            <a:ext cx="10881360" cy="1097280"/>
          </a:xfrm>
          <a:prstGeom prst="rect">
            <a:avLst/>
          </a:prstGeom>
          <a:noFill/>
        </p:spPr>
        <p:txBody>
          <a:bodyPr wrap="square" anchor="t" lIns="50800" rIns="50800" tIns="25400" bIns="25400">
            <a:spAutoFit/>
          </a:bodyPr>
          <a:lstStyle/>
          <a:p>
            <a:pPr algn="l">
              <a:spcAft>
                <a:spcPts val="0"/>
              </a:spcAft>
            </a:pPr>
            <a:r>
              <a:rPr sz="3000" b="1" i="0">
                <a:solidFill>
                  <a:srgbClr val="0A322E"/>
                </a:solidFill>
                <a:latin typeface="Georgia"/>
                <a:cs typeface="Jameel Noori Nastaleeq"/>
              </a:rPr>
              <a:t>The five big ones</a:t>
            </a:r>
          </a:p>
        </p:txBody>
      </p:sp>
      <p:sp>
        <p:nvSpPr>
          <p:cNvPr id="5" name="Rectangle 4"/>
          <p:cNvSpPr/>
          <p:nvPr/>
        </p:nvSpPr>
        <p:spPr>
          <a:xfrm>
            <a:off x="640080" y="2286000"/>
            <a:ext cx="1962851" cy="228600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286000"/>
            <a:ext cx="1962851"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2432304"/>
            <a:ext cx="1633667" cy="2011680"/>
          </a:xfrm>
          <a:prstGeom prst="rect">
            <a:avLst/>
          </a:prstGeom>
          <a:noFill/>
        </p:spPr>
        <p:txBody>
          <a:bodyPr wrap="square" anchor="t" lIns="50800" rIns="50800" tIns="25400" bIns="25400">
            <a:spAutoFit/>
          </a:bodyPr>
          <a:lstStyle/>
          <a:p>
            <a:pPr algn="l">
              <a:spcAft>
                <a:spcPts val="200"/>
              </a:spcAft>
            </a:pPr>
            <a:r>
              <a:rPr sz="1600" b="1" i="0">
                <a:solidFill>
                  <a:srgbClr val="0A322E"/>
                </a:solidFill>
                <a:latin typeface="Segoe UI"/>
                <a:cs typeface="Jameel Noori Nastaleeq"/>
              </a:rPr>
              <a:t>Tārīkh al-Ṭabarī</a:t>
            </a:r>
          </a:p>
          <a:p>
            <a:pPr algn="l">
              <a:spcAft>
                <a:spcPts val="600"/>
              </a:spcAft>
            </a:pPr>
            <a:r>
              <a:rPr sz="1300" b="1" i="0">
                <a:solidFill>
                  <a:srgbClr val="C49A45"/>
                </a:solidFill>
                <a:latin typeface="Segoe UI"/>
                <a:cs typeface="Jameel Noori Nastaleeq"/>
              </a:rPr>
              <a:t>d.310</a:t>
            </a:r>
          </a:p>
          <a:p>
            <a:pPr algn="l">
              <a:spcAft>
                <a:spcPts val="0"/>
              </a:spcAft>
            </a:pPr>
            <a:r>
              <a:rPr sz="1400" b="0" i="0">
                <a:solidFill>
                  <a:srgbClr val="1C2321"/>
                </a:solidFill>
                <a:latin typeface="Segoe UI"/>
                <a:cs typeface="Jameel Noori Nastaleeq"/>
              </a:rPr>
              <a:t>The big well: every report with its chain.</a:t>
            </a:r>
          </a:p>
        </p:txBody>
      </p:sp>
      <p:sp>
        <p:nvSpPr>
          <p:cNvPr id="8" name="Rectangle 7"/>
          <p:cNvSpPr/>
          <p:nvPr/>
        </p:nvSpPr>
        <p:spPr>
          <a:xfrm>
            <a:off x="2877251" y="2286000"/>
            <a:ext cx="1962851" cy="228600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877251" y="2286000"/>
            <a:ext cx="1962851"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1843" y="2432304"/>
            <a:ext cx="1633667" cy="2011680"/>
          </a:xfrm>
          <a:prstGeom prst="rect">
            <a:avLst/>
          </a:prstGeom>
          <a:noFill/>
        </p:spPr>
        <p:txBody>
          <a:bodyPr wrap="square" anchor="t" lIns="50800" rIns="50800" tIns="25400" bIns="25400">
            <a:spAutoFit/>
          </a:bodyPr>
          <a:lstStyle/>
          <a:p>
            <a:pPr algn="l">
              <a:spcAft>
                <a:spcPts val="200"/>
              </a:spcAft>
            </a:pPr>
            <a:r>
              <a:rPr sz="1600" b="1" i="0">
                <a:solidFill>
                  <a:srgbClr val="0A322E"/>
                </a:solidFill>
                <a:latin typeface="Segoe UI"/>
                <a:cs typeface="Jameel Noori Nastaleeq"/>
              </a:rPr>
              <a:t>Al-Kāmil</a:t>
            </a:r>
          </a:p>
          <a:p>
            <a:pPr algn="l">
              <a:spcAft>
                <a:spcPts val="600"/>
              </a:spcAft>
            </a:pPr>
            <a:r>
              <a:rPr sz="1300" b="1" i="0">
                <a:solidFill>
                  <a:srgbClr val="C49A45"/>
                </a:solidFill>
                <a:latin typeface="Segoe UI"/>
                <a:cs typeface="Jameel Noori Nastaleeq"/>
              </a:rPr>
              <a:t>Ibn al-Athīr d.630</a:t>
            </a:r>
          </a:p>
          <a:p>
            <a:pPr algn="l">
              <a:spcAft>
                <a:spcPts val="0"/>
              </a:spcAft>
            </a:pPr>
            <a:r>
              <a:rPr sz="1400" b="0" i="0">
                <a:solidFill>
                  <a:srgbClr val="1C2321"/>
                </a:solidFill>
                <a:latin typeface="Segoe UI"/>
                <a:cs typeface="Jameel Noori Nastaleeq"/>
              </a:rPr>
              <a:t>Year by year, cleaned up.</a:t>
            </a:r>
          </a:p>
        </p:txBody>
      </p:sp>
      <p:sp>
        <p:nvSpPr>
          <p:cNvPr id="11" name="Rectangle 10"/>
          <p:cNvSpPr/>
          <p:nvPr/>
        </p:nvSpPr>
        <p:spPr>
          <a:xfrm>
            <a:off x="5114422" y="2286000"/>
            <a:ext cx="1962851" cy="228600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114422" y="2286000"/>
            <a:ext cx="1962851"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79014" y="2432304"/>
            <a:ext cx="1633667" cy="2011680"/>
          </a:xfrm>
          <a:prstGeom prst="rect">
            <a:avLst/>
          </a:prstGeom>
          <a:noFill/>
        </p:spPr>
        <p:txBody>
          <a:bodyPr wrap="square" anchor="t" lIns="50800" rIns="50800" tIns="25400" bIns="25400">
            <a:spAutoFit/>
          </a:bodyPr>
          <a:lstStyle/>
          <a:p>
            <a:pPr algn="l">
              <a:spcAft>
                <a:spcPts val="200"/>
              </a:spcAft>
            </a:pPr>
            <a:r>
              <a:rPr sz="1600" b="1" i="0">
                <a:solidFill>
                  <a:srgbClr val="0A322E"/>
                </a:solidFill>
                <a:latin typeface="Segoe UI"/>
                <a:cs typeface="Jameel Noori Nastaleeq"/>
              </a:rPr>
              <a:t>Tārīkh al-Islām</a:t>
            </a:r>
          </a:p>
          <a:p>
            <a:pPr algn="l">
              <a:spcAft>
                <a:spcPts val="600"/>
              </a:spcAft>
            </a:pPr>
            <a:r>
              <a:rPr sz="1300" b="1" i="0">
                <a:solidFill>
                  <a:srgbClr val="C49A45"/>
                </a:solidFill>
                <a:latin typeface="Segoe UI"/>
                <a:cs typeface="Jameel Noori Nastaleeq"/>
              </a:rPr>
              <a:t>Dhahabī d.748</a:t>
            </a:r>
          </a:p>
          <a:p>
            <a:pPr algn="l">
              <a:spcAft>
                <a:spcPts val="0"/>
              </a:spcAft>
            </a:pPr>
            <a:r>
              <a:rPr sz="1400" b="0" i="0">
                <a:solidFill>
                  <a:srgbClr val="1C2321"/>
                </a:solidFill>
                <a:latin typeface="Segoe UI"/>
                <a:cs typeface="Jameel Noori Nastaleeq"/>
              </a:rPr>
              <a:t>The most careful sieve.</a:t>
            </a:r>
          </a:p>
        </p:txBody>
      </p:sp>
      <p:sp>
        <p:nvSpPr>
          <p:cNvPr id="14" name="Rectangle 13"/>
          <p:cNvSpPr/>
          <p:nvPr/>
        </p:nvSpPr>
        <p:spPr>
          <a:xfrm>
            <a:off x="7351593" y="2286000"/>
            <a:ext cx="1962851" cy="228600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51593" y="2286000"/>
            <a:ext cx="1962851"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16185" y="2432304"/>
            <a:ext cx="1633667" cy="2011680"/>
          </a:xfrm>
          <a:prstGeom prst="rect">
            <a:avLst/>
          </a:prstGeom>
          <a:noFill/>
        </p:spPr>
        <p:txBody>
          <a:bodyPr wrap="square" anchor="t" lIns="50800" rIns="50800" tIns="25400" bIns="25400">
            <a:spAutoFit/>
          </a:bodyPr>
          <a:lstStyle/>
          <a:p>
            <a:pPr algn="l">
              <a:spcAft>
                <a:spcPts val="200"/>
              </a:spcAft>
            </a:pPr>
            <a:r>
              <a:rPr sz="1600" b="1" i="0">
                <a:solidFill>
                  <a:srgbClr val="0A322E"/>
                </a:solidFill>
                <a:latin typeface="Segoe UI"/>
                <a:cs typeface="Jameel Noori Nastaleeq"/>
              </a:rPr>
              <a:t>Al-Bidāya</a:t>
            </a:r>
          </a:p>
          <a:p>
            <a:pPr algn="l">
              <a:spcAft>
                <a:spcPts val="600"/>
              </a:spcAft>
            </a:pPr>
            <a:r>
              <a:rPr sz="1300" b="1" i="0">
                <a:solidFill>
                  <a:srgbClr val="C49A45"/>
                </a:solidFill>
                <a:latin typeface="Segoe UI"/>
                <a:cs typeface="Jameel Noori Nastaleeq"/>
              </a:rPr>
              <a:t>Ibn Kathīr d.774</a:t>
            </a:r>
          </a:p>
          <a:p>
            <a:pPr algn="l">
              <a:spcAft>
                <a:spcPts val="0"/>
              </a:spcAft>
            </a:pPr>
            <a:r>
              <a:rPr sz="1400" b="0" i="0">
                <a:solidFill>
                  <a:srgbClr val="1C2321"/>
                </a:solidFill>
                <a:latin typeface="Segoe UI"/>
                <a:cs typeface="Jameel Noori Nastaleeq"/>
              </a:rPr>
              <a:t>Chains + reason; easiest read.</a:t>
            </a:r>
          </a:p>
        </p:txBody>
      </p:sp>
      <p:sp>
        <p:nvSpPr>
          <p:cNvPr id="17" name="Rectangle 16"/>
          <p:cNvSpPr/>
          <p:nvPr/>
        </p:nvSpPr>
        <p:spPr>
          <a:xfrm>
            <a:off x="9588764" y="2286000"/>
            <a:ext cx="1962851" cy="2286000"/>
          </a:xfrm>
          <a:prstGeom prst="rect">
            <a:avLst/>
          </a:prstGeom>
          <a:solidFill>
            <a:srgbClr val="EFE9DB"/>
          </a:solidFill>
          <a:ln w="1270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588764" y="2286000"/>
            <a:ext cx="1962851" cy="635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53356" y="2432304"/>
            <a:ext cx="1633667" cy="2011680"/>
          </a:xfrm>
          <a:prstGeom prst="rect">
            <a:avLst/>
          </a:prstGeom>
          <a:noFill/>
        </p:spPr>
        <p:txBody>
          <a:bodyPr wrap="square" anchor="t" lIns="50800" rIns="50800" tIns="25400" bIns="25400">
            <a:spAutoFit/>
          </a:bodyPr>
          <a:lstStyle/>
          <a:p>
            <a:pPr algn="l">
              <a:spcAft>
                <a:spcPts val="200"/>
              </a:spcAft>
            </a:pPr>
            <a:r>
              <a:rPr sz="1600" b="1" i="0">
                <a:solidFill>
                  <a:srgbClr val="0A322E"/>
                </a:solidFill>
                <a:latin typeface="Segoe UI"/>
                <a:cs typeface="Jameel Noori Nastaleeq"/>
              </a:rPr>
              <a:t>Ibn Khaldūn</a:t>
            </a:r>
          </a:p>
          <a:p>
            <a:pPr algn="l">
              <a:spcAft>
                <a:spcPts val="600"/>
              </a:spcAft>
            </a:pPr>
            <a:r>
              <a:rPr sz="1300" b="1" i="0">
                <a:solidFill>
                  <a:srgbClr val="C49A45"/>
                </a:solidFill>
                <a:latin typeface="Segoe UI"/>
                <a:cs typeface="Jameel Noori Nastaleeq"/>
              </a:rPr>
              <a:t>d.808</a:t>
            </a:r>
          </a:p>
          <a:p>
            <a:pPr algn="l">
              <a:spcAft>
                <a:spcPts val="0"/>
              </a:spcAft>
            </a:pPr>
            <a:r>
              <a:rPr sz="1400" b="0" i="0">
                <a:solidFill>
                  <a:srgbClr val="1C2321"/>
                </a:solidFill>
                <a:latin typeface="Segoe UI"/>
                <a:cs typeface="Jameel Noori Nastaleeq"/>
              </a:rPr>
              <a:t>Its Muqaddima started social science.</a:t>
            </a:r>
          </a:p>
        </p:txBody>
      </p:sp>
      <p:sp>
        <p:nvSpPr>
          <p:cNvPr id="20" name="Rectangle 19"/>
          <p:cNvSpPr/>
          <p:nvPr/>
        </p:nvSpPr>
        <p:spPr>
          <a:xfrm>
            <a:off x="640080" y="4800600"/>
            <a:ext cx="10908792" cy="1371600"/>
          </a:xfrm>
          <a:prstGeom prst="rect">
            <a:avLst/>
          </a:prstGeom>
          <a:solidFill>
            <a:srgbClr val="EFE9DB"/>
          </a:solidFill>
          <a:ln w="19050">
            <a:solidFill>
              <a:srgbClr val="C49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937760"/>
            <a:ext cx="10332720" cy="1097280"/>
          </a:xfrm>
          <a:prstGeom prst="rect">
            <a:avLst/>
          </a:prstGeom>
          <a:noFill/>
        </p:spPr>
        <p:txBody>
          <a:bodyPr wrap="square" anchor="t" lIns="50800" rIns="50800" tIns="25400" bIns="25400">
            <a:spAutoFit/>
          </a:bodyPr>
          <a:lstStyle/>
          <a:p>
            <a:pPr algn="l">
              <a:spcAft>
                <a:spcPts val="400"/>
              </a:spcAft>
            </a:pPr>
            <a:r>
              <a:rPr sz="1600" b="1" i="0">
                <a:solidFill>
                  <a:srgbClr val="104A43"/>
                </a:solidFill>
                <a:latin typeface="Segoe UI"/>
                <a:cs typeface="Jameel Noori Nastaleeq"/>
              </a:rPr>
              <a:t>🎯  Fun fact — two men, same name:</a:t>
            </a:r>
          </a:p>
          <a:p>
            <a:pPr algn="l">
              <a:spcAft>
                <a:spcPts val="0"/>
              </a:spcAft>
            </a:pPr>
            <a:r>
              <a:rPr sz="1600" b="0" i="0">
                <a:solidFill>
                  <a:srgbClr val="1C2321"/>
                </a:solidFill>
                <a:latin typeface="Segoe UI"/>
                <a:cs typeface="Jameel Noori Nastaleeq"/>
              </a:rPr>
              <a:t>There were TWO Ṭabarīs with the exact same name. Ours (grandson of Yazīd) is the Sunnī imam; the other (from Rustam) was Shīʿa. The mix-up has fooled people into calling our Ṭabarī a Shīʿa. He wasn't.</a:t>
            </a:r>
          </a:p>
        </p:txBody>
      </p:sp>
      <p:sp>
        <p:nvSpPr>
          <p:cNvPr id="22" name="TextBox 21"/>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cs typeface="Jameel Noori Nastaleeq"/>
              </a:rPr>
              <a:t>Lesson 1 · The books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cs typeface="Jameel Noori Nastaleeq"/>
              </a:rPr>
              <a:t>How the rules catch a fake story</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96112"/>
            <a:ext cx="10881360" cy="1097280"/>
          </a:xfrm>
          <a:prstGeom prst="rect">
            <a:avLst/>
          </a:prstGeom>
          <a:noFill/>
        </p:spPr>
        <p:txBody>
          <a:bodyPr wrap="square" anchor="t" lIns="50800" rIns="50800" tIns="25400" bIns="25400">
            <a:spAutoFit/>
          </a:bodyPr>
          <a:lstStyle/>
          <a:p>
            <a:pPr algn="l">
              <a:spcAft>
                <a:spcPts val="0"/>
              </a:spcAft>
            </a:pPr>
            <a:r>
              <a:rPr sz="3000" b="1" i="0">
                <a:solidFill>
                  <a:srgbClr val="0A322E"/>
                </a:solidFill>
                <a:latin typeface="Georgia"/>
                <a:cs typeface="Jameel Noori Nastaleeq"/>
              </a:rPr>
              <a:t>The “wine cup” story</a:t>
            </a:r>
          </a:p>
        </p:txBody>
      </p:sp>
      <p:sp>
        <p:nvSpPr>
          <p:cNvPr id="5" name="TextBox 4"/>
          <p:cNvSpPr txBox="1"/>
          <p:nvPr/>
        </p:nvSpPr>
        <p:spPr>
          <a:xfrm>
            <a:off x="640080" y="1920240"/>
            <a:ext cx="10881360" cy="4114800"/>
          </a:xfrm>
          <a:prstGeom prst="rect">
            <a:avLst/>
          </a:prstGeom>
          <a:noFill/>
        </p:spPr>
        <p:txBody>
          <a:bodyPr wrap="square" anchor="t" lIns="50800" rIns="50800" tIns="25400" bIns="25400">
            <a:spAutoFit/>
          </a:bodyPr>
          <a:lstStyle/>
          <a:p>
            <a:pPr algn="l">
              <a:spcAft>
                <a:spcPts val="1400"/>
              </a:spcAft>
            </a:pPr>
            <a:r>
              <a:rPr sz="2200" b="0" i="0">
                <a:solidFill>
                  <a:srgbClr val="1C2321"/>
                </a:solidFill>
                <a:latin typeface="Segoe UI"/>
                <a:cs typeface="Jameel Noori Nastaleeq"/>
              </a:rPr>
              <a:t>A story went around: Maʾmūn al-Rashīd tested Imām al-Shāfiʿī with enough wine to floor any man, and it did nothing to him.</a:t>
            </a:r>
          </a:p>
          <a:p>
            <a:pPr algn="l">
              <a:spcAft>
                <a:spcPts val="1000"/>
              </a:spcAft>
            </a:pPr>
            <a:r>
              <a:rPr sz="2200" b="1" i="0">
                <a:solidFill>
                  <a:srgbClr val="104A43"/>
                </a:solidFill>
                <a:latin typeface="Segoe UI"/>
                <a:cs typeface="Jameel Noori Nastaleeq"/>
              </a:rPr>
              <a:t>Ḥāfiẓ Ibn Ḥajar took it apart in two lines:</a:t>
            </a:r>
          </a:p>
          <a:p>
            <a:pPr algn="l">
              <a:spcAft>
                <a:spcPts val="800"/>
              </a:spcAft>
            </a:pPr>
            <a:r>
              <a:rPr sz="2100" b="0" i="0">
                <a:solidFill>
                  <a:srgbClr val="1C2321"/>
                </a:solidFill>
                <a:latin typeface="Segoe UI"/>
                <a:cs typeface="Jameel Noori Nastaleeq"/>
              </a:rPr>
              <a:t>•  History: al-Shāfiʿī meeting Maʾmūn isn't even proven. The chain fails.</a:t>
            </a:r>
          </a:p>
          <a:p>
            <a:pPr algn="l">
              <a:spcAft>
                <a:spcPts val="0"/>
              </a:spcAft>
            </a:pPr>
            <a:r>
              <a:rPr sz="2100" b="0" i="0">
                <a:solidFill>
                  <a:srgbClr val="1C2321"/>
                </a:solidFill>
                <a:latin typeface="Segoe UI"/>
                <a:cs typeface="Jameel Noori Nastaleeq"/>
              </a:rPr>
              <a:t>•  Common sense: al-Shāfiʿī said he'd skip even cold water if it dulled his mind. A wine cup?!</a:t>
            </a:r>
          </a:p>
        </p:txBody>
      </p:sp>
      <p:sp>
        <p:nvSpPr>
          <p:cNvPr id="6" name="TextBox 5"/>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cs typeface="Jameel Noori Nastaleeq"/>
              </a:rPr>
              <a:t>Lesson 1 · Detective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322E"/>
        </a:solidFill>
        <a:effectLst/>
      </p:bgPr>
    </p:bg>
    <p:spTree>
      <p:nvGrpSpPr>
        <p:cNvPr id="1" name=""/>
        <p:cNvGrpSpPr/>
        <p:nvPr/>
      </p:nvGrpSpPr>
      <p:grpSpPr/>
      <p:sp>
        <p:nvSpPr>
          <p:cNvPr id="2" name="Rectangle 1"/>
          <p:cNvSpPr/>
          <p:nvPr/>
        </p:nvSpPr>
        <p:spPr>
          <a:xfrm>
            <a:off x="640080" y="1097280"/>
            <a:ext cx="1828800" cy="508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280160"/>
            <a:ext cx="10881360" cy="2011680"/>
          </a:xfrm>
          <a:prstGeom prst="rect">
            <a:avLst/>
          </a:prstGeom>
          <a:noFill/>
        </p:spPr>
        <p:txBody>
          <a:bodyPr wrap="square" anchor="t" lIns="50800" rIns="50800" tIns="25400" bIns="25400">
            <a:spAutoFit/>
          </a:bodyPr>
          <a:lstStyle/>
          <a:p>
            <a:pPr algn="l">
              <a:spcAft>
                <a:spcPts val="800"/>
              </a:spcAft>
            </a:pPr>
            <a:r>
              <a:rPr sz="1800" b="1" i="0">
                <a:solidFill>
                  <a:srgbClr val="C49A45"/>
                </a:solidFill>
                <a:latin typeface="Segoe UI"/>
                <a:cs typeface="Jameel Noori Nastaleeq"/>
              </a:rPr>
              <a:t>Next week</a:t>
            </a:r>
          </a:p>
          <a:p>
            <a:pPr algn="l">
              <a:spcAft>
                <a:spcPts val="600"/>
              </a:spcAft>
            </a:pPr>
            <a:r>
              <a:rPr sz="3800" b="1" i="0">
                <a:solidFill>
                  <a:srgbClr val="FFFFFF"/>
                </a:solidFill>
                <a:latin typeface="Georgia"/>
                <a:cs typeface="Jameel Noori Nastaleeq"/>
              </a:rPr>
              <a:t>The story begins — Abu Bakr ؓ</a:t>
            </a:r>
          </a:p>
          <a:p>
            <a:pPr algn="l" rtl="1">
              <a:spcAft>
                <a:spcPts val="0"/>
              </a:spcAft>
            </a:pPr>
            <a:r>
              <a:rPr sz="2600" b="0" i="0">
                <a:solidFill>
                  <a:srgbClr val="FAF7F0"/>
                </a:solidFill>
                <a:latin typeface="Traditional Arabic"/>
                <a:cs typeface="Jameel Noori Nastaleeq"/>
              </a:rPr>
              <a:t>خلافتِ راشدہ اور سیدنا ابوبکر صدیق ؓ</a:t>
            </a:r>
          </a:p>
        </p:txBody>
      </p:sp>
      <p:sp>
        <p:nvSpPr>
          <p:cNvPr id="4" name="TextBox 3"/>
          <p:cNvSpPr txBox="1"/>
          <p:nvPr/>
        </p:nvSpPr>
        <p:spPr>
          <a:xfrm>
            <a:off x="640080" y="3931920"/>
            <a:ext cx="10881360" cy="2377440"/>
          </a:xfrm>
          <a:prstGeom prst="rect">
            <a:avLst/>
          </a:prstGeom>
          <a:noFill/>
        </p:spPr>
        <p:txBody>
          <a:bodyPr wrap="square" anchor="t" lIns="50800" rIns="50800" tIns="25400" bIns="25400">
            <a:spAutoFit/>
          </a:bodyPr>
          <a:lstStyle/>
          <a:p>
            <a:pPr algn="l">
              <a:spcAft>
                <a:spcPts val="1600"/>
              </a:spcAft>
            </a:pPr>
            <a:r>
              <a:rPr sz="2200" b="0" i="0">
                <a:solidFill>
                  <a:srgbClr val="FAF7F0"/>
                </a:solidFill>
                <a:latin typeface="Segoe UI"/>
                <a:cs typeface="Jameel Noori Nastaleeq"/>
              </a:rPr>
              <a:t>We start exactly where the seerah ended, and put our first bright peg on the timeline.</a:t>
            </a:r>
          </a:p>
          <a:p>
            <a:pPr algn="l" rtl="1">
              <a:spcAft>
                <a:spcPts val="0"/>
              </a:spcAft>
            </a:pPr>
            <a:r>
              <a:rPr sz="2100" b="1" i="0">
                <a:solidFill>
                  <a:srgbClr val="C49A45"/>
                </a:solidFill>
                <a:latin typeface="Traditional Arabic"/>
                <a:cs typeface="Jameel Noori Nastaleeq"/>
              </a:rPr>
              <a:t>گھر لے جانے والا سوال: کوئی تاریخ کی ”بات“ سنائے — تو اب آپ سب سے پہلے *کیا* پوچھیں گے؟</a:t>
            </a:r>
          </a:p>
        </p:txBody>
      </p:sp>
      <p:sp>
        <p:nvSpPr>
          <p:cNvPr id="5" name="TextBox 4"/>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cs typeface="Jameel Noori Nastaleeq"/>
              </a:rPr>
              <a:t>Lesson 1 · Close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640080" y="411480"/>
            <a:ext cx="10881360" cy="457200"/>
          </a:xfrm>
          <a:prstGeom prst="rect">
            <a:avLst/>
          </a:prstGeom>
          <a:noFill/>
        </p:spPr>
        <p:txBody>
          <a:bodyPr wrap="square" anchor="t" lIns="50800" rIns="50800" tIns="25400" bIns="25400">
            <a:spAutoFit/>
          </a:bodyPr>
          <a:lstStyle/>
          <a:p>
            <a:pPr algn="l">
              <a:spcAft>
                <a:spcPts val="0"/>
              </a:spcAft>
            </a:pPr>
            <a:r>
              <a:rPr sz="1400" b="1" i="0">
                <a:solidFill>
                  <a:srgbClr val="C49A45"/>
                </a:solidFill>
                <a:latin typeface="Segoe UI"/>
                <a:cs typeface="Jameel Noori Nastaleeq"/>
              </a:rPr>
              <a:t>Where this comes from</a:t>
            </a:r>
          </a:p>
        </p:txBody>
      </p:sp>
      <p:sp>
        <p:nvSpPr>
          <p:cNvPr id="3" name="Rectangle 2"/>
          <p:cNvSpPr/>
          <p:nvPr/>
        </p:nvSpPr>
        <p:spPr>
          <a:xfrm>
            <a:off x="640080" y="786384"/>
            <a:ext cx="146304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96112"/>
            <a:ext cx="10881360" cy="1097280"/>
          </a:xfrm>
          <a:prstGeom prst="rect">
            <a:avLst/>
          </a:prstGeom>
          <a:noFill/>
        </p:spPr>
        <p:txBody>
          <a:bodyPr wrap="square" anchor="t" lIns="50800" rIns="50800" tIns="25400" bIns="25400">
            <a:spAutoFit/>
          </a:bodyPr>
          <a:lstStyle/>
          <a:p>
            <a:pPr algn="l">
              <a:spcAft>
                <a:spcPts val="0"/>
              </a:spcAft>
            </a:pPr>
            <a:r>
              <a:rPr sz="2800" b="1" i="0">
                <a:solidFill>
                  <a:srgbClr val="0A322E"/>
                </a:solidFill>
                <a:latin typeface="Georgia"/>
                <a:cs typeface="Jameel Noori Nastaleeq"/>
              </a:rPr>
              <a:t>Sources</a:t>
            </a:r>
          </a:p>
        </p:txBody>
      </p:sp>
      <p:sp>
        <p:nvSpPr>
          <p:cNvPr id="5" name="TextBox 4"/>
          <p:cNvSpPr txBox="1"/>
          <p:nvPr/>
        </p:nvSpPr>
        <p:spPr>
          <a:xfrm>
            <a:off x="640080" y="1920240"/>
            <a:ext cx="10881360" cy="4206240"/>
          </a:xfrm>
          <a:prstGeom prst="rect">
            <a:avLst/>
          </a:prstGeom>
          <a:noFill/>
        </p:spPr>
        <p:txBody>
          <a:bodyPr wrap="square" anchor="t" lIns="50800" rIns="50800" tIns="25400" bIns="25400">
            <a:spAutoFit/>
          </a:bodyPr>
          <a:lstStyle/>
          <a:p>
            <a:pPr algn="l">
              <a:spcAft>
                <a:spcPts val="1000"/>
              </a:spcAft>
            </a:pPr>
            <a:r>
              <a:rPr sz="1700" b="0" i="0">
                <a:solidFill>
                  <a:srgbClr val="1C2321"/>
                </a:solidFill>
                <a:latin typeface="Segoe UI"/>
                <a:cs typeface="Jameel Noori Nastaleeq"/>
              </a:rPr>
              <a:t>•  Course text — Tareekh-e-Ummat, Maulana Muhammad Ismail Rehan, Vol. 1 (the muqaddima).</a:t>
            </a:r>
          </a:p>
          <a:p>
            <a:pPr algn="l">
              <a:spcAft>
                <a:spcPts val="1000"/>
              </a:spcAft>
            </a:pPr>
            <a:r>
              <a:rPr sz="1700" b="0" i="0">
                <a:solidFill>
                  <a:srgbClr val="1C2321"/>
                </a:solidFill>
                <a:latin typeface="Segoe UI"/>
                <a:cs typeface="Jameel Noori Nastaleeq"/>
              </a:rPr>
              <a:t>•  The forged document — al-Muntaẓam, Ibn al-Jawzī (muqaddima p.57–58).</a:t>
            </a:r>
          </a:p>
          <a:p>
            <a:pPr algn="l">
              <a:spcAft>
                <a:spcPts val="1000"/>
              </a:spcAft>
            </a:pPr>
            <a:r>
              <a:rPr sz="1700" b="0" i="0">
                <a:solidFill>
                  <a:srgbClr val="1C2321"/>
                </a:solidFill>
                <a:latin typeface="Segoe UI"/>
                <a:cs typeface="Jameel Noori Nastaleeq"/>
              </a:rPr>
              <a:t>•  Method, isnād, the giants &amp; books — muqaddima p.43–49, 69–78.</a:t>
            </a:r>
          </a:p>
          <a:p>
            <a:pPr algn="l">
              <a:spcAft>
                <a:spcPts val="1000"/>
              </a:spcAft>
            </a:pPr>
            <a:r>
              <a:rPr sz="1700" b="0" i="0">
                <a:solidFill>
                  <a:srgbClr val="1C2321"/>
                </a:solidFill>
                <a:latin typeface="Segoe UI"/>
                <a:cs typeface="Jameel Noori Nastaleeq"/>
              </a:rPr>
              <a:t>•  Hijri calendar &amp; Nasī' — al-Shamārīkh, al-Suyūṭī; Tarīkh al-Ṭabarī; al-Tawba 9:37 (muqaddima p.35–40).</a:t>
            </a:r>
          </a:p>
          <a:p>
            <a:pPr algn="l">
              <a:spcAft>
                <a:spcPts val="1000"/>
              </a:spcAft>
            </a:pPr>
            <a:r>
              <a:rPr sz="1700" b="0" i="0">
                <a:solidFill>
                  <a:srgbClr val="1C2321"/>
                </a:solidFill>
                <a:latin typeface="Segoe UI"/>
                <a:cs typeface="Jameel Noori Nastaleeq"/>
              </a:rPr>
              <a:t>•  Fiqh of studying history — muqaddima p.52–53. ʿibrah āyah — Yūsuf 12:111.</a:t>
            </a:r>
          </a:p>
          <a:p>
            <a:pPr algn="l">
              <a:spcAft>
                <a:spcPts val="1000"/>
              </a:spcAft>
            </a:pPr>
            <a:r>
              <a:rPr sz="1700" b="0" i="0">
                <a:solidFill>
                  <a:srgbClr val="1C2321"/>
                </a:solidFill>
                <a:latin typeface="Segoe UI"/>
                <a:cs typeface="Jameel Noori Nastaleeq"/>
              </a:rPr>
              <a:t>•  The 'wine' story — Lisān al-Mīzān, Ibn Ḥajar (muqaddima p.57).</a:t>
            </a:r>
          </a:p>
          <a:p>
            <a:pPr algn="l">
              <a:spcAft>
                <a:spcPts val="1000"/>
              </a:spcAft>
            </a:pPr>
            <a:r>
              <a:rPr sz="1700" b="0" i="0">
                <a:solidFill>
                  <a:srgbClr val="1C2321"/>
                </a:solidFill>
                <a:latin typeface="Segoe UI"/>
                <a:cs typeface="Jameel Noori Nastaleeq"/>
              </a:rPr>
              <a:t>•  Map (slide 12) — frame from Kings &amp; Generals, “Early Muslim Expansion” (YouTube).</a:t>
            </a:r>
          </a:p>
        </p:txBody>
      </p:sp>
      <p:sp>
        <p:nvSpPr>
          <p:cNvPr id="6" name="TextBox 5"/>
          <p:cNvSpPr txBox="1"/>
          <p:nvPr/>
        </p:nvSpPr>
        <p:spPr>
          <a:xfrm>
            <a:off x="10241280" y="6400800"/>
            <a:ext cx="1737360" cy="365760"/>
          </a:xfrm>
          <a:prstGeom prst="rect">
            <a:avLst/>
          </a:prstGeom>
          <a:noFill/>
        </p:spPr>
        <p:txBody>
          <a:bodyPr wrap="square" anchor="t" lIns="50800" rIns="50800" tIns="25400" bIns="25400">
            <a:spAutoFit/>
          </a:bodyPr>
          <a:lstStyle/>
          <a:p>
            <a:pPr algn="r">
              <a:spcAft>
                <a:spcPts val="0"/>
              </a:spcAft>
            </a:pPr>
            <a:r>
              <a:rPr sz="1000" b="0" i="0">
                <a:solidFill>
                  <a:srgbClr val="8C8C86"/>
                </a:solidFill>
                <a:latin typeface="Segoe UI"/>
                <a:cs typeface="Jameel Noori Nastaleeq"/>
              </a:rPr>
              <a:t>Lesson 1 · Sources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