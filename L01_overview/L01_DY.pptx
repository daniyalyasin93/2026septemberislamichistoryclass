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0" d="100"/>
          <a:sy n="120" d="100"/>
        </p:scale>
        <p:origin x="1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CB64C-506C-443F-B0DB-32AF3C1FCEED}" type="datetimeFigureOut">
              <a:rPr lang="en-PK" smtClean="0"/>
              <a:t>03/09/2026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685130-6DA3-4C59-93BB-4524A8F0B667}" type="slidenum">
              <a:rPr lang="en-PK" smtClean="0"/>
              <a:t>‹#›</a:t>
            </a:fld>
            <a:endParaRPr lang="en-PK"/>
          </a:p>
        </p:txBody>
      </p:sp>
    </p:spTree>
    <p:extLst>
      <p:ext uri="{BB962C8B-B14F-4D97-AF65-F5344CB8AC3E}">
        <p14:creationId xmlns:p14="http://schemas.microsoft.com/office/powerpoint/2010/main" val="1469298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(2 min). Say the Q&amp;A policy here: no questions during the 45 minutes, slips into the box at the door, I stay 15 minutes afterwards. Say it once, apply it all ten weeks.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0:02 (4 min). Definition from the muqaddima, printed pp.32-33 (al-Sakhawi's wording). Do not turn this into a methodology lecture — see DECISIONS.md #9.</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0:04. muqaddima printed p.58 - verified. This is why the whole course is built on a timeline. Keep it to 90 seconds.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0:05. THE MOST IMPORTANT SLIDE IN THE DECK. Sixty seconds, said calmly, once. Finish with: we narrate what the books narrate, and we do not judge between the Companions. DECISIONS.md #14. Session 3 carries the fuller fiqh of the mushajarat.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0:06 (3 min). Name the pegs, do not discuss them. Hand out the worksheet here. If short on time this block goes to 90 seconds.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0:09 (5 min). THE WHOLE ARC. This is the only place tonight the room sees all fourteen centuries. Point at each peg and name the session it belongs to. Everything this course covers is on this line.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0:14 (3 min). CAREFUL AND HONEST. The hollow markers are conventional estimates from general scholarship. Our sources do NOT fix dates for Adam, Nuh, Ibrahim, Musa or Dawud. Adam and Nuh are off-scale with no number at all. Say: the order is known from revelation, the dates are not - and what we do not know, we do not claim. DECISIONS.md #16. This is the strongest credibility moment of the evening.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0:17 (4 min). Rome to the north-west, Persia to the north-east, and Arabia between them. Place the six anchor cities. TO DO: a dedicated empires overlay would be better than the blank base - see MAPS.md / mapstudio.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0:21 (3 min). Makkah, Madina, al-Ta'if, al-Yamama, Najran, San'a, al-Bahrayn, Uman, Hadramawt. Tribal blocs from docs/research/arabian-tribes-and-the-ridda-setup.md.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0:24 (6 min). THE LOAD-BEARING BLOCK. SHOW the chart; do NOT read it aloud - eight sub-clans narrated will lose the room. Name FOUR men out loud, each with his clan. The worksheet version is blank and they write the chiefs in themselves - that is tonight's hand-writing ritual (DECISIONS.md #15). Quraysh tree: al-Bidaya j2 p485, p493.</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0:28. Thirty seconds each on Bu'ath and on Adnan/Qahtan. No more.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al-Bidaya j5 p336-342. Umar (ra) stood and said he had not died. Abu Bakr (ra) rode in from al-Sunh, uncovered his blessed face, and then spoke.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 then recited Al Imran 144. Ibn Abbas (ra): it was as though the people had never known the verse until that day. al-Bidaya j5 p340-342.</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0:31. al-Bidaya j5 p343-345. NOTE: Sa'd b. 'Ubada (ra) gives NO speech in al-Bidaya - the famous speech is Ibn Hisham/Tabari, outside the safe list. Usayd b. Hudayr (ra) and Thabit b. Qays (ra) are NOT mentioned at the Saqifah at all. Do not place them there. See QA_BANK.md 1.9.</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he put forward TWO OTHER MEN, not himself - 'Umar (ra) and Abu 'Ubayda (ra). al-Bidaya j5 p346. Do NOT quote 'al-a'imma min Quraysh' - it is not carried verbatim on these pages. QA_BANK.md 1.10.</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0:35. It was not Quraysh who ended it. It was one of the Ansar. That is the shape of the whole evening - say it plainly and let it sit.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CRITICAL: never quote 'falta' without the two clauses after it. In the same breath he legislates against repeating it: whoever pledges to a man without the consultation of the Muslims, there is no bay'a for him (j5 p346). 'Falta' = sudden, unarranged - NOT illegitimate. QA_BANK.md 1.1.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0:37. al-Kamil j2 p24-25.</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the news reached Makkah in 11 AH and the city began to waver, the governor took cover - and Suhayl (ra) stood and addressed the people, and Makkah held. al-Bidaya j5 p397-398, al-Kamil j2 p186. HONESTY: this is maghazi reporting, NOT a sahih chain; Ibn Kathir grades his own version mursal, indeed mu'dal. SAY SO. QA_BANK.md 2.3.</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0:38 (3 min). Deliver FLATLY, as a state of affairs. No commentary. Governors from docs/research/governors-at-11h.md. Jaysh Usama (ra) is already outside Madina. TO DO before delivery: build the labelled governors map in tools/mapstudio and save the scene JSON.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0:41 (2 min). Everyone writes this into the workbook by hand. Wait for them. Final Urdu wording to be set in docs/catalogue/LESSONS.md before delivery.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0:43 (2 min). END ON THE QUESTION. Do NOT summarise. Put the map of Arabia back up behind this if you can. Then: slips in the box, I am here for fifteen minutes.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Only if asked. Naming the frame openly is the defence - never claim a neutrality the course does not have. QA_BANK.md 2.2 and 2.4.</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600200"/>
            <a:ext cx="10515600" cy="1371600"/>
          </a:xfrm>
          <a:prstGeom prst="rect">
            <a:avLst/>
          </a:prstGeom>
          <a:noFill/>
        </p:spPr>
        <p:txBody>
          <a:bodyPr wrap="square">
            <a:spAutoFit/>
          </a:bodyPr>
          <a:lstStyle/>
          <a:p>
            <a:pPr algn="l">
              <a:lnSpc>
                <a:spcPct val="100000"/>
              </a:lnSpc>
            </a:pPr>
            <a:r>
              <a:rPr sz="6200" b="0" i="0">
                <a:solidFill>
                  <a:srgbClr val="FAF7F0"/>
                </a:solidFill>
                <a:latin typeface="Georgia"/>
              </a:rPr>
              <a:t>One night, and the whole map</a:t>
            </a:r>
          </a:p>
        </p:txBody>
      </p:sp>
      <p:sp>
        <p:nvSpPr>
          <p:cNvPr id="4" name="TextBox 3"/>
          <p:cNvSpPr txBox="1"/>
          <p:nvPr/>
        </p:nvSpPr>
        <p:spPr>
          <a:xfrm>
            <a:off x="822960" y="2880360"/>
            <a:ext cx="10515600" cy="914400"/>
          </a:xfrm>
          <a:prstGeom prst="rect">
            <a:avLst/>
          </a:prstGeom>
          <a:noFill/>
        </p:spPr>
        <p:txBody>
          <a:bodyPr wrap="square">
            <a:spAutoFit/>
          </a:bodyPr>
          <a:lstStyle/>
          <a:p>
            <a:pPr algn="r" rtl="1">
              <a:lnSpc>
                <a:spcPct val="190000"/>
              </a:lnSpc>
            </a:pPr>
            <a:r>
              <a:rPr sz="4000" b="0" i="0">
                <a:solidFill>
                  <a:srgbClr val="C49A45"/>
                </a:solidFill>
                <a:latin typeface="Noto Nastaliq Urdu"/>
                <a:cs typeface="Noto Nastaliq Urdu"/>
              </a:rPr>
              <a:t>وقت، جگہ، اور ایک رات</a:t>
            </a:r>
          </a:p>
        </p:txBody>
      </p:sp>
      <p:sp>
        <p:nvSpPr>
          <p:cNvPr id="5" name="Rectangle 4"/>
          <p:cNvSpPr/>
          <p:nvPr/>
        </p:nvSpPr>
        <p:spPr>
          <a:xfrm>
            <a:off x="822960" y="4160520"/>
            <a:ext cx="2377440" cy="317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434840"/>
            <a:ext cx="10515600" cy="731520"/>
          </a:xfrm>
          <a:prstGeom prst="rect">
            <a:avLst/>
          </a:prstGeom>
          <a:noFill/>
        </p:spPr>
        <p:txBody>
          <a:bodyPr wrap="square">
            <a:spAutoFit/>
          </a:bodyPr>
          <a:lstStyle/>
          <a:p>
            <a:pPr algn="l">
              <a:lnSpc>
                <a:spcPct val="100000"/>
              </a:lnSpc>
            </a:pPr>
            <a:r>
              <a:rPr sz="2400" b="0" i="1">
                <a:solidFill>
                  <a:srgbClr val="FAF7F0"/>
                </a:solidFill>
                <a:latin typeface="Georgia"/>
              </a:rPr>
              <a:t>Where we are in time · where we are on the map · and one night in Medina</a:t>
            </a:r>
          </a:p>
        </p:txBody>
      </p:sp>
      <p:sp>
        <p:nvSpPr>
          <p:cNvPr id="7" name="TextBox 6"/>
          <p:cNvSpPr txBox="1"/>
          <p:nvPr/>
        </p:nvSpPr>
        <p:spPr>
          <a:xfrm>
            <a:off x="822960" y="5760720"/>
            <a:ext cx="10515600" cy="457200"/>
          </a:xfrm>
          <a:prstGeom prst="rect">
            <a:avLst/>
          </a:prstGeom>
          <a:noFill/>
        </p:spPr>
        <p:txBody>
          <a:bodyPr wrap="square">
            <a:spAutoFit/>
          </a:bodyPr>
          <a:lstStyle/>
          <a:p>
            <a:pPr algn="l">
              <a:lnSpc>
                <a:spcPct val="100000"/>
              </a:lnSpc>
            </a:pPr>
            <a:r>
              <a:rPr sz="1300" b="1" i="0">
                <a:solidFill>
                  <a:srgbClr val="C49A45"/>
                </a:solidFill>
                <a:latin typeface="Segoe UI"/>
              </a:rPr>
              <a:t>LESSONS FROM HISTORY  ·  SESSION 1 OF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THE DESTINATION, NAMED FIRST</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FAF7F0"/>
                </a:solidFill>
                <a:latin typeface="Georgia"/>
              </a:rPr>
              <a:t>Almost none of us could name three men</a:t>
            </a:r>
          </a:p>
          <a:p>
            <a:pPr algn="l">
              <a:lnSpc>
                <a:spcPct val="120000"/>
              </a:lnSpc>
            </a:pPr>
            <a:r>
              <a:rPr sz="5200" b="0" i="0">
                <a:solidFill>
                  <a:srgbClr val="FAF7F0"/>
                </a:solidFill>
                <a:latin typeface="Georgia"/>
              </a:rPr>
              <a:t>who were in that courtyard.</a:t>
            </a:r>
          </a:p>
        </p:txBody>
      </p:sp>
      <p:sp>
        <p:nvSpPr>
          <p:cNvPr id="5" name="TextBox 4"/>
          <p:cNvSpPr txBox="1"/>
          <p:nvPr/>
        </p:nvSpPr>
        <p:spPr>
          <a:xfrm>
            <a:off x="822960" y="4343400"/>
            <a:ext cx="10515600" cy="822960"/>
          </a:xfrm>
          <a:prstGeom prst="rect">
            <a:avLst/>
          </a:prstGeom>
          <a:noFill/>
        </p:spPr>
        <p:txBody>
          <a:bodyPr wrap="square">
            <a:spAutoFit/>
          </a:bodyPr>
          <a:lstStyle/>
          <a:p>
            <a:pPr algn="l">
              <a:lnSpc>
                <a:spcPct val="135000"/>
              </a:lnSpc>
            </a:pPr>
            <a:r>
              <a:rPr sz="2200" b="0" i="0">
                <a:solidFill>
                  <a:srgbClr val="C49A45"/>
                </a:solidFill>
                <a:latin typeface="Georgia"/>
                <a:cs typeface="Traditional Arabic"/>
              </a:rPr>
              <a:t>On a Monday in 11 AH, in a covered courtyard in Medina, a small number of men decided who would lead the Muslims after the Prophet ﷺ.</a:t>
            </a:r>
          </a:p>
        </p:txBody>
      </p:sp>
      <p:sp>
        <p:nvSpPr>
          <p:cNvPr id="6" name="TextBox 5"/>
          <p:cNvSpPr txBox="1"/>
          <p:nvPr/>
        </p:nvSpPr>
        <p:spPr>
          <a:xfrm>
            <a:off x="822960" y="5257800"/>
            <a:ext cx="10515600" cy="548640"/>
          </a:xfrm>
          <a:prstGeom prst="rect">
            <a:avLst/>
          </a:prstGeom>
          <a:noFill/>
        </p:spPr>
        <p:txBody>
          <a:bodyPr wrap="square">
            <a:spAutoFit/>
          </a:bodyPr>
          <a:lstStyle/>
          <a:p>
            <a:pPr algn="l">
              <a:lnSpc>
                <a:spcPct val="100000"/>
              </a:lnSpc>
            </a:pPr>
            <a:r>
              <a:rPr sz="2100" b="0" i="1">
                <a:solidFill>
                  <a:srgbClr val="FAF7F0"/>
                </a:solidFill>
                <a:latin typeface="Georgia"/>
              </a:rPr>
              <a:t>Tonight we fix that. But not yet — first, when are we, and where?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WHAT IS TARIKH?</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104A43"/>
                </a:solidFill>
                <a:latin typeface="Georgia"/>
              </a:rPr>
              <a:t>History is events —</a:t>
            </a:r>
          </a:p>
          <a:p>
            <a:pPr algn="l">
              <a:lnSpc>
                <a:spcPct val="120000"/>
              </a:lnSpc>
            </a:pPr>
            <a:r>
              <a:rPr sz="5200" b="0" i="0">
                <a:solidFill>
                  <a:srgbClr val="104A43"/>
                </a:solidFill>
                <a:latin typeface="Georgia"/>
              </a:rPr>
              <a:t>and the order they came in.</a:t>
            </a:r>
          </a:p>
        </p:txBody>
      </p:sp>
      <p:sp>
        <p:nvSpPr>
          <p:cNvPr id="5" name="TextBox 4"/>
          <p:cNvSpPr txBox="1"/>
          <p:nvPr/>
        </p:nvSpPr>
        <p:spPr>
          <a:xfrm>
            <a:off x="822960" y="4206240"/>
            <a:ext cx="10515600" cy="640080"/>
          </a:xfrm>
          <a:prstGeom prst="rect">
            <a:avLst/>
          </a:prstGeom>
          <a:noFill/>
        </p:spPr>
        <p:txBody>
          <a:bodyPr wrap="square">
            <a:spAutoFit/>
          </a:bodyPr>
          <a:lstStyle/>
          <a:p>
            <a:pPr algn="l">
              <a:lnSpc>
                <a:spcPct val="100000"/>
              </a:lnSpc>
            </a:pPr>
            <a:r>
              <a:rPr sz="2200" b="0" i="1">
                <a:solidFill>
                  <a:srgbClr val="7A2E2E"/>
                </a:solidFill>
                <a:latin typeface="Georgia"/>
              </a:rPr>
              <a:t>Every discipline asks what happened. Tarikh's own question is WHEN, and IN WHAT ORDER.</a:t>
            </a:r>
          </a:p>
        </p:txBody>
      </p:sp>
      <p:sp>
        <p:nvSpPr>
          <p:cNvPr id="6" name="TextBox 5"/>
          <p:cNvSpPr txBox="1"/>
          <p:nvPr/>
        </p:nvSpPr>
        <p:spPr>
          <a:xfrm>
            <a:off x="822960" y="4892040"/>
            <a:ext cx="10515600" cy="914400"/>
          </a:xfrm>
          <a:prstGeom prst="rect">
            <a:avLst/>
          </a:prstGeom>
          <a:noFill/>
        </p:spPr>
        <p:txBody>
          <a:bodyPr wrap="square">
            <a:spAutoFit/>
          </a:bodyPr>
          <a:lstStyle/>
          <a:p>
            <a:pPr algn="r" rtl="1">
              <a:lnSpc>
                <a:spcPct val="195000"/>
              </a:lnSpc>
            </a:pPr>
            <a:r>
              <a:rPr sz="2800" b="0" i="0">
                <a:solidFill>
                  <a:srgbClr val="104A43"/>
                </a:solidFill>
                <a:latin typeface="Noto Nastaliq Urdu"/>
                <a:cs typeface="Noto Nastaliq Urdu"/>
              </a:rPr>
              <a:t>تاریخ یعنی واقعات، اور ان کی ترتیب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WHY THE ORDER MATTERS</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لَمَّا اسْتَعْمَلَ الرُّوَاةُ الْكَذِبَ اسْتَعْمَلْنَاهُمُ التَّارِيخَ</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“When the transmitters began to deal in lies,</a:t>
            </a:r>
          </a:p>
          <a:p>
            <a:pPr algn="ctr">
              <a:lnSpc>
                <a:spcPct val="135000"/>
              </a:lnSpc>
            </a:pPr>
            <a:r>
              <a:rPr sz="2500" b="0" i="1">
                <a:solidFill>
                  <a:srgbClr val="1C2321"/>
                </a:solidFill>
                <a:latin typeface="Georgia"/>
              </a:rPr>
              <a:t>we dealt with them by means of dates.”</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Sufyan al-Thawri  ·  muqaddima, printed p.57  ·  verified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HOW CHRONOLOGY CATCHES A LIE</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FAF7F0"/>
                </a:solidFill>
                <a:latin typeface="Georgia"/>
              </a:rPr>
              <a:t>A forgery dies on a date.</a:t>
            </a:r>
          </a:p>
        </p:txBody>
      </p:sp>
      <p:sp>
        <p:nvSpPr>
          <p:cNvPr id="5" name="TextBox 4"/>
          <p:cNvSpPr txBox="1"/>
          <p:nvPr/>
        </p:nvSpPr>
        <p:spPr>
          <a:xfrm>
            <a:off x="822960" y="4114800"/>
            <a:ext cx="10515600" cy="1463040"/>
          </a:xfrm>
          <a:prstGeom prst="rect">
            <a:avLst/>
          </a:prstGeom>
          <a:noFill/>
        </p:spPr>
        <p:txBody>
          <a:bodyPr wrap="square">
            <a:spAutoFit/>
          </a:bodyPr>
          <a:lstStyle/>
          <a:p>
            <a:pPr algn="l">
              <a:lnSpc>
                <a:spcPct val="140000"/>
              </a:lnSpc>
            </a:pPr>
            <a:r>
              <a:rPr sz="2000" b="0" i="0">
                <a:solidFill>
                  <a:srgbClr val="C49A45"/>
                </a:solidFill>
                <a:latin typeface="Georgia"/>
                <a:cs typeface="Traditional Arabic"/>
              </a:rPr>
              <a:t>A document was produced claiming the Prophet ﷺ exempted the people of Khaybar from taxes.</a:t>
            </a:r>
          </a:p>
          <a:p>
            <a:pPr algn="l">
              <a:lnSpc>
                <a:spcPct val="140000"/>
              </a:lnSpc>
            </a:pPr>
            <a:r>
              <a:rPr sz="2000" b="0" i="0">
                <a:solidFill>
                  <a:srgbClr val="C49A45"/>
                </a:solidFill>
                <a:latin typeface="Georgia"/>
                <a:cs typeface="Traditional Arabic"/>
              </a:rPr>
              <a:t>Al-Khatib al-Baghdadi destroyed it without arguing about content at all:</a:t>
            </a:r>
          </a:p>
          <a:p>
            <a:pPr algn="l">
              <a:lnSpc>
                <a:spcPct val="140000"/>
              </a:lnSpc>
            </a:pPr>
            <a:r>
              <a:rPr sz="2000" b="0" i="0">
                <a:solidFill>
                  <a:srgbClr val="C49A45"/>
                </a:solidFill>
                <a:latin typeface="Georgia"/>
                <a:cs typeface="Traditional Arabic"/>
              </a:rPr>
              <a:t>one witness named on it accepted Islam AFTER Khaybar; another had died BEFORE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BEFORE WE GO ANY FURTHER</a:t>
            </a:r>
          </a:p>
        </p:txBody>
      </p:sp>
      <p:sp>
        <p:nvSpPr>
          <p:cNvPr id="4" name="TextBox 3"/>
          <p:cNvSpPr txBox="1"/>
          <p:nvPr/>
        </p:nvSpPr>
        <p:spPr>
          <a:xfrm>
            <a:off x="777240" y="960120"/>
            <a:ext cx="10607040" cy="731520"/>
          </a:xfrm>
          <a:prstGeom prst="rect">
            <a:avLst/>
          </a:prstGeom>
          <a:noFill/>
        </p:spPr>
        <p:txBody>
          <a:bodyPr wrap="square">
            <a:spAutoFit/>
          </a:bodyPr>
          <a:lstStyle/>
          <a:p>
            <a:pPr algn="l">
              <a:lnSpc>
                <a:spcPct val="100000"/>
              </a:lnSpc>
            </a:pPr>
            <a:r>
              <a:rPr sz="3400" b="0" i="0">
                <a:solidFill>
                  <a:srgbClr val="FAF7F0"/>
                </a:solidFill>
                <a:latin typeface="Georgia"/>
              </a:rPr>
              <a:t>Three disciplines. One report. Three different jobs.</a:t>
            </a:r>
          </a:p>
        </p:txBody>
      </p:sp>
      <p:sp>
        <p:nvSpPr>
          <p:cNvPr id="5" name="Rectangle 4"/>
          <p:cNvSpPr/>
          <p:nvPr/>
        </p:nvSpPr>
        <p:spPr>
          <a:xfrm>
            <a:off x="777240" y="1783080"/>
            <a:ext cx="10607040" cy="3200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148840"/>
            <a:ext cx="3383280" cy="457200"/>
          </a:xfrm>
          <a:prstGeom prst="rect">
            <a:avLst/>
          </a:prstGeom>
          <a:noFill/>
        </p:spPr>
        <p:txBody>
          <a:bodyPr wrap="square">
            <a:spAutoFit/>
          </a:bodyPr>
          <a:lstStyle/>
          <a:p>
            <a:pPr algn="l">
              <a:lnSpc>
                <a:spcPct val="100000"/>
              </a:lnSpc>
            </a:pPr>
            <a:r>
              <a:rPr sz="2000" b="1" i="0">
                <a:solidFill>
                  <a:srgbClr val="C49A45"/>
                </a:solidFill>
                <a:latin typeface="Segoe UI"/>
              </a:rPr>
              <a:t>HADITH</a:t>
            </a:r>
          </a:p>
        </p:txBody>
      </p:sp>
      <p:sp>
        <p:nvSpPr>
          <p:cNvPr id="7" name="TextBox 6"/>
          <p:cNvSpPr txBox="1"/>
          <p:nvPr/>
        </p:nvSpPr>
        <p:spPr>
          <a:xfrm>
            <a:off x="777240" y="2697480"/>
            <a:ext cx="3383280" cy="1737360"/>
          </a:xfrm>
          <a:prstGeom prst="rect">
            <a:avLst/>
          </a:prstGeom>
          <a:noFill/>
        </p:spPr>
        <p:txBody>
          <a:bodyPr wrap="square">
            <a:spAutoFit/>
          </a:bodyPr>
          <a:lstStyle/>
          <a:p>
            <a:pPr algn="l">
              <a:lnSpc>
                <a:spcPct val="145000"/>
              </a:lnSpc>
            </a:pPr>
            <a:r>
              <a:rPr sz="1900" b="0" i="0">
                <a:solidFill>
                  <a:srgbClr val="FAF7F0"/>
                </a:solidFill>
                <a:latin typeface="Georgia"/>
              </a:rPr>
              <a:t>A report must be authentic</a:t>
            </a:r>
          </a:p>
          <a:p>
            <a:pPr algn="l">
              <a:lnSpc>
                <a:spcPct val="145000"/>
              </a:lnSpc>
            </a:pPr>
            <a:r>
              <a:rPr sz="1900" b="0" i="0">
                <a:solidFill>
                  <a:srgbClr val="FAF7F0"/>
                </a:solidFill>
                <a:latin typeface="Georgia"/>
              </a:rPr>
              <a:t>before it can bind.</a:t>
            </a:r>
          </a:p>
          <a:p>
            <a:pPr algn="l">
              <a:lnSpc>
                <a:spcPct val="145000"/>
              </a:lnSpc>
            </a:pPr>
            <a:r>
              <a:rPr sz="1900" b="0" i="0">
                <a:solidFill>
                  <a:srgbClr val="FAF7F0"/>
                </a:solidFill>
                <a:latin typeface="Georgia"/>
              </a:rPr>
              <a:t>It carries the deen.</a:t>
            </a:r>
          </a:p>
        </p:txBody>
      </p:sp>
      <p:sp>
        <p:nvSpPr>
          <p:cNvPr id="8" name="TextBox 7"/>
          <p:cNvSpPr txBox="1"/>
          <p:nvPr/>
        </p:nvSpPr>
        <p:spPr>
          <a:xfrm>
            <a:off x="4617720" y="2148840"/>
            <a:ext cx="3383280" cy="457200"/>
          </a:xfrm>
          <a:prstGeom prst="rect">
            <a:avLst/>
          </a:prstGeom>
          <a:noFill/>
        </p:spPr>
        <p:txBody>
          <a:bodyPr wrap="square">
            <a:spAutoFit/>
          </a:bodyPr>
          <a:lstStyle/>
          <a:p>
            <a:pPr algn="l">
              <a:lnSpc>
                <a:spcPct val="100000"/>
              </a:lnSpc>
            </a:pPr>
            <a:r>
              <a:rPr sz="2000" b="1" i="0">
                <a:solidFill>
                  <a:srgbClr val="C49A45"/>
                </a:solidFill>
                <a:latin typeface="Segoe UI"/>
              </a:rPr>
              <a:t>FIQH</a:t>
            </a:r>
          </a:p>
        </p:txBody>
      </p:sp>
      <p:sp>
        <p:nvSpPr>
          <p:cNvPr id="9" name="TextBox 8"/>
          <p:cNvSpPr txBox="1"/>
          <p:nvPr/>
        </p:nvSpPr>
        <p:spPr>
          <a:xfrm>
            <a:off x="4617720" y="2697480"/>
            <a:ext cx="3383280" cy="1737360"/>
          </a:xfrm>
          <a:prstGeom prst="rect">
            <a:avLst/>
          </a:prstGeom>
          <a:noFill/>
        </p:spPr>
        <p:txBody>
          <a:bodyPr wrap="square">
            <a:spAutoFit/>
          </a:bodyPr>
          <a:lstStyle/>
          <a:p>
            <a:pPr algn="l">
              <a:lnSpc>
                <a:spcPct val="145000"/>
              </a:lnSpc>
            </a:pPr>
            <a:r>
              <a:rPr sz="1900" b="0" i="0">
                <a:solidFill>
                  <a:srgbClr val="FAF7F0"/>
                </a:solidFill>
                <a:latin typeface="Georgia"/>
              </a:rPr>
              <a:t>A report is weighed for</a:t>
            </a:r>
          </a:p>
          <a:p>
            <a:pPr algn="l">
              <a:lnSpc>
                <a:spcPct val="145000"/>
              </a:lnSpc>
            </a:pPr>
            <a:r>
              <a:rPr sz="1900" b="0" i="0">
                <a:solidFill>
                  <a:srgbClr val="FAF7F0"/>
                </a:solidFill>
                <a:latin typeface="Georgia"/>
              </a:rPr>
              <a:t>what it obliges.</a:t>
            </a:r>
          </a:p>
          <a:p>
            <a:pPr algn="l">
              <a:lnSpc>
                <a:spcPct val="145000"/>
              </a:lnSpc>
            </a:pPr>
            <a:r>
              <a:rPr sz="1900" b="0" i="0">
                <a:solidFill>
                  <a:srgbClr val="FAF7F0"/>
                </a:solidFill>
                <a:latin typeface="Georgia"/>
              </a:rPr>
              <a:t>It carries a ruling.</a:t>
            </a:r>
          </a:p>
        </p:txBody>
      </p:sp>
      <p:sp>
        <p:nvSpPr>
          <p:cNvPr id="10" name="TextBox 9"/>
          <p:cNvSpPr txBox="1"/>
          <p:nvPr/>
        </p:nvSpPr>
        <p:spPr>
          <a:xfrm>
            <a:off x="8458200" y="2148840"/>
            <a:ext cx="3383280" cy="457200"/>
          </a:xfrm>
          <a:prstGeom prst="rect">
            <a:avLst/>
          </a:prstGeom>
          <a:noFill/>
        </p:spPr>
        <p:txBody>
          <a:bodyPr wrap="square">
            <a:spAutoFit/>
          </a:bodyPr>
          <a:lstStyle/>
          <a:p>
            <a:pPr algn="l">
              <a:lnSpc>
                <a:spcPct val="100000"/>
              </a:lnSpc>
            </a:pPr>
            <a:r>
              <a:rPr sz="2000" b="1" i="0">
                <a:solidFill>
                  <a:srgbClr val="C49A45"/>
                </a:solidFill>
                <a:latin typeface="Segoe UI"/>
              </a:rPr>
              <a:t>TARIKH</a:t>
            </a:r>
          </a:p>
        </p:txBody>
      </p:sp>
      <p:sp>
        <p:nvSpPr>
          <p:cNvPr id="11" name="TextBox 10"/>
          <p:cNvSpPr txBox="1"/>
          <p:nvPr/>
        </p:nvSpPr>
        <p:spPr>
          <a:xfrm>
            <a:off x="8458200" y="2697480"/>
            <a:ext cx="3383280" cy="1737360"/>
          </a:xfrm>
          <a:prstGeom prst="rect">
            <a:avLst/>
          </a:prstGeom>
          <a:noFill/>
        </p:spPr>
        <p:txBody>
          <a:bodyPr wrap="square">
            <a:spAutoFit/>
          </a:bodyPr>
          <a:lstStyle/>
          <a:p>
            <a:pPr algn="l">
              <a:lnSpc>
                <a:spcPct val="145000"/>
              </a:lnSpc>
            </a:pPr>
            <a:r>
              <a:rPr sz="1900" b="0" i="0">
                <a:solidFill>
                  <a:srgbClr val="FAF7F0"/>
                </a:solidFill>
                <a:latin typeface="Georgia"/>
              </a:rPr>
              <a:t>A report is recorded to fix</a:t>
            </a:r>
          </a:p>
          <a:p>
            <a:pPr algn="l">
              <a:lnSpc>
                <a:spcPct val="145000"/>
              </a:lnSpc>
            </a:pPr>
            <a:r>
              <a:rPr sz="1900" b="0" i="0">
                <a:solidFill>
                  <a:srgbClr val="FAF7F0"/>
                </a:solidFill>
                <a:latin typeface="Georgia"/>
              </a:rPr>
              <a:t>what happened, and</a:t>
            </a:r>
          </a:p>
          <a:p>
            <a:pPr algn="l">
              <a:lnSpc>
                <a:spcPct val="145000"/>
              </a:lnSpc>
            </a:pPr>
            <a:r>
              <a:rPr sz="1900" b="0" i="0">
                <a:solidFill>
                  <a:srgbClr val="FAF7F0"/>
                </a:solidFill>
                <a:latin typeface="Georgia"/>
              </a:rPr>
              <a:t>in what order.</a:t>
            </a:r>
          </a:p>
        </p:txBody>
      </p:sp>
      <p:sp>
        <p:nvSpPr>
          <p:cNvPr id="12" name="Rectangle 11"/>
          <p:cNvSpPr/>
          <p:nvPr/>
        </p:nvSpPr>
        <p:spPr>
          <a:xfrm>
            <a:off x="777240" y="4617720"/>
            <a:ext cx="10607040" cy="18288"/>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4846320"/>
            <a:ext cx="10607040" cy="548640"/>
          </a:xfrm>
          <a:prstGeom prst="rect">
            <a:avLst/>
          </a:prstGeom>
          <a:noFill/>
        </p:spPr>
        <p:txBody>
          <a:bodyPr wrap="square">
            <a:spAutoFit/>
          </a:bodyPr>
          <a:lstStyle/>
          <a:p>
            <a:pPr algn="l">
              <a:lnSpc>
                <a:spcPct val="100000"/>
              </a:lnSpc>
            </a:pPr>
            <a:r>
              <a:rPr sz="2700" b="0" i="0">
                <a:solidFill>
                  <a:srgbClr val="FAF7F0"/>
                </a:solidFill>
                <a:latin typeface="Georgia"/>
              </a:rPr>
              <a:t>So a tarikh report is not a ruling, and it is not a creed.</a:t>
            </a:r>
          </a:p>
        </p:txBody>
      </p:sp>
      <p:sp>
        <p:nvSpPr>
          <p:cNvPr id="14" name="TextBox 13"/>
          <p:cNvSpPr txBox="1"/>
          <p:nvPr/>
        </p:nvSpPr>
        <p:spPr>
          <a:xfrm>
            <a:off x="822960" y="5440680"/>
            <a:ext cx="10515600" cy="914400"/>
          </a:xfrm>
          <a:prstGeom prst="rect">
            <a:avLst/>
          </a:prstGeom>
          <a:noFill/>
        </p:spPr>
        <p:txBody>
          <a:bodyPr wrap="square">
            <a:spAutoFit/>
          </a:bodyPr>
          <a:lstStyle/>
          <a:p>
            <a:pPr algn="r" rtl="1">
              <a:lnSpc>
                <a:spcPct val="195000"/>
              </a:lnSpc>
            </a:pPr>
            <a:r>
              <a:rPr sz="2500" b="0" i="0">
                <a:solidFill>
                  <a:srgbClr val="C49A45"/>
                </a:solidFill>
                <a:latin typeface="Noto Nastaliq Urdu"/>
                <a:cs typeface="Noto Nastaliq Urdu"/>
              </a:rPr>
              <a:t>تاریخِ اسلام = تاریخِ مسلمین ۔ یہ مسلمانوں کی تاریخ ہے، دین کا ماخذ نہیں</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01_tl1_pakistan.png"/>
          <p:cNvPicPr>
            <a:picLocks noChangeAspect="1"/>
          </p:cNvPicPr>
          <p:nvPr/>
        </p:nvPicPr>
        <p:blipFill>
          <a:blip r:embed="rId3"/>
          <a:stretch>
            <a:fillRect/>
          </a:stretch>
        </p:blipFill>
        <p:spPr>
          <a:xfrm>
            <a:off x="0" y="868680"/>
            <a:ext cx="12191695" cy="4741215"/>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You remember some of this</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TIMELINE 1  ·  1947 → tonight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01_tl2_ummah.png"/>
          <p:cNvPicPr>
            <a:picLocks noChangeAspect="1"/>
          </p:cNvPicPr>
          <p:nvPr/>
        </p:nvPicPr>
        <p:blipFill>
          <a:blip r:embed="rId3"/>
          <a:stretch>
            <a:fillRect/>
          </a:stretch>
        </p:blipFill>
        <p:spPr>
          <a:xfrm>
            <a:off x="0" y="868680"/>
            <a:ext cx="12191695" cy="4741215"/>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All of that is the last centimetre</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TIMELINE 2  ·  1 AH → tonight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01_tl3_prophets.png"/>
          <p:cNvPicPr>
            <a:picLocks noChangeAspect="1"/>
          </p:cNvPicPr>
          <p:nvPr/>
        </p:nvPicPr>
        <p:blipFill>
          <a:blip r:embed="rId3"/>
          <a:stretch>
            <a:fillRect/>
          </a:stretch>
        </p:blipFill>
        <p:spPr>
          <a:xfrm>
            <a:off x="0" y="868680"/>
            <a:ext cx="12191695" cy="4741215"/>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And all of THAT is the last centimetre</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TIMELINE 3  ·  the order is known; the dates are not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p_blank.png"/>
          <p:cNvPicPr>
            <a:picLocks noChangeAspect="1"/>
          </p:cNvPicPr>
          <p:nvPr/>
        </p:nvPicPr>
        <p:blipFill>
          <a:blip r:embed="rId3"/>
          <a:stretch>
            <a:fillRect/>
          </a:stretch>
        </p:blipFill>
        <p:spPr>
          <a:xfrm>
            <a:off x="513956" y="868680"/>
            <a:ext cx="11163782" cy="5879592"/>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The edge of the world, not its centre</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c. 11 AH / 632 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p_arabia_blank.png"/>
          <p:cNvPicPr>
            <a:picLocks noChangeAspect="1"/>
          </p:cNvPicPr>
          <p:nvPr/>
        </p:nvPicPr>
        <p:blipFill>
          <a:blip r:embed="rId3"/>
          <a:stretch>
            <a:fillRect/>
          </a:stretch>
        </p:blipFill>
        <p:spPr>
          <a:xfrm>
            <a:off x="2917690" y="868680"/>
            <a:ext cx="6356316" cy="5879592"/>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Arabia itself</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tribes, and where they sat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01_clanchart.png"/>
          <p:cNvPicPr>
            <a:picLocks noChangeAspect="1"/>
          </p:cNvPicPr>
          <p:nvPr/>
        </p:nvPicPr>
        <p:blipFill>
          <a:blip r:embed="rId3"/>
          <a:stretch>
            <a:fillRect/>
          </a:stretch>
        </p:blipFill>
        <p:spPr>
          <a:xfrm>
            <a:off x="216255" y="868680"/>
            <a:ext cx="11759184" cy="5879592"/>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Two peoples — and neither was one bloc</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MADINA, 11 AH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YAWM BUʿATH</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104A43"/>
                </a:solidFill>
                <a:latin typeface="Georgia"/>
              </a:rPr>
              <a:t>Shortly before the Hijra,</a:t>
            </a:r>
          </a:p>
          <a:p>
            <a:pPr algn="l">
              <a:lnSpc>
                <a:spcPct val="120000"/>
              </a:lnSpc>
            </a:pPr>
            <a:r>
              <a:rPr sz="5200" b="0" i="0">
                <a:solidFill>
                  <a:srgbClr val="104A43"/>
                </a:solidFill>
                <a:latin typeface="Georgia"/>
              </a:rPr>
              <a:t>al-Aws and al-Khazraj had been at war.</a:t>
            </a:r>
          </a:p>
        </p:txBody>
      </p:sp>
      <p:sp>
        <p:nvSpPr>
          <p:cNvPr id="5" name="TextBox 4"/>
          <p:cNvSpPr txBox="1"/>
          <p:nvPr/>
        </p:nvSpPr>
        <p:spPr>
          <a:xfrm>
            <a:off x="822960" y="4297680"/>
            <a:ext cx="10515600" cy="640080"/>
          </a:xfrm>
          <a:prstGeom prst="rect">
            <a:avLst/>
          </a:prstGeom>
          <a:noFill/>
        </p:spPr>
        <p:txBody>
          <a:bodyPr wrap="square">
            <a:spAutoFit/>
          </a:bodyPr>
          <a:lstStyle/>
          <a:p>
            <a:pPr algn="l">
              <a:lnSpc>
                <a:spcPct val="100000"/>
              </a:lnSpc>
            </a:pPr>
            <a:r>
              <a:rPr sz="2300" b="0" i="1">
                <a:solidFill>
                  <a:srgbClr val="7A2E2E"/>
                </a:solidFill>
                <a:latin typeface="Georgia"/>
              </a:rPr>
              <a:t>That is why “who leads” was a live question in that courtyard, and not an abstract one.</a:t>
            </a:r>
          </a:p>
        </p:txBody>
      </p:sp>
      <p:sp>
        <p:nvSpPr>
          <p:cNvPr id="6" name="TextBox 5"/>
          <p:cNvSpPr txBox="1"/>
          <p:nvPr/>
        </p:nvSpPr>
        <p:spPr>
          <a:xfrm>
            <a:off x="822960" y="4983480"/>
            <a:ext cx="10515600" cy="914400"/>
          </a:xfrm>
          <a:prstGeom prst="rect">
            <a:avLst/>
          </a:prstGeom>
          <a:noFill/>
        </p:spPr>
        <p:txBody>
          <a:bodyPr wrap="square">
            <a:spAutoFit/>
          </a:bodyPr>
          <a:lstStyle/>
          <a:p>
            <a:pPr algn="l">
              <a:lnSpc>
                <a:spcPct val="140000"/>
              </a:lnSpc>
            </a:pPr>
            <a:r>
              <a:rPr sz="2000" b="0" i="0">
                <a:solidFill>
                  <a:srgbClr val="5A6862"/>
                </a:solidFill>
                <a:latin typeface="Georgia"/>
                <a:cs typeface="Traditional Arabic"/>
              </a:rPr>
              <a:t>The Ansar are of al-Azd — Qahtan, southern.      Quraysh are ʿAdnan, northern.</a:t>
            </a:r>
          </a:p>
          <a:p>
            <a:pPr algn="l">
              <a:lnSpc>
                <a:spcPct val="140000"/>
              </a:lnSpc>
            </a:pPr>
            <a:r>
              <a:rPr sz="2000" b="0" i="0">
                <a:solidFill>
                  <a:srgbClr val="5A6862"/>
                </a:solidFill>
                <a:latin typeface="Georgia"/>
                <a:cs typeface="Traditional Arabic"/>
              </a:rPr>
              <a:t>An old fault line, and it was in the room.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11 AH</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FAF7F0"/>
                </a:solidFill>
                <a:latin typeface="Georgia"/>
              </a:rPr>
              <a:t>Then, on a Monday, he died.</a:t>
            </a:r>
          </a:p>
        </p:txBody>
      </p:sp>
      <p:sp>
        <p:nvSpPr>
          <p:cNvPr id="5" name="TextBox 4"/>
          <p:cNvSpPr txBox="1"/>
          <p:nvPr/>
        </p:nvSpPr>
        <p:spPr>
          <a:xfrm>
            <a:off x="822960" y="4297680"/>
            <a:ext cx="10515600" cy="914400"/>
          </a:xfrm>
          <a:prstGeom prst="rect">
            <a:avLst/>
          </a:prstGeom>
          <a:noFill/>
        </p:spPr>
        <p:txBody>
          <a:bodyPr wrap="square">
            <a:spAutoFit/>
          </a:bodyPr>
          <a:lstStyle/>
          <a:p>
            <a:pPr algn="r" rtl="1">
              <a:lnSpc>
                <a:spcPct val="195000"/>
              </a:lnSpc>
            </a:pPr>
            <a:r>
              <a:rPr sz="2800" b="0" i="0">
                <a:solidFill>
                  <a:srgbClr val="FAF7F0"/>
                </a:solidFill>
                <a:latin typeface="Noto Nastaliq Urdu"/>
                <a:cs typeface="Noto Nastaliq Urdu"/>
              </a:rPr>
              <a:t>ربیع الاول، گیارہویں ہجری ۔ مدینہ میں</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ABU BAKR AL-SIDDIQ, THAT MORNING</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مَنْ كَانَ يَعْبُدُ مُحَمَّدًا فَإِنَّ مُحَمَّدًا قَدْ مَاتَ، وَمَنْ كَانَ يَعْبُدُ اللَّهَ فَإِنَّ اللَّهَ حَيٌّ لَا يَمُوتُ</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“Whoever used to worship Muhammad — Muhammad has died.</a:t>
            </a:r>
          </a:p>
          <a:p>
            <a:pPr algn="ctr">
              <a:lnSpc>
                <a:spcPct val="135000"/>
              </a:lnSpc>
            </a:pPr>
            <a:r>
              <a:rPr sz="2500" b="0" i="1">
                <a:solidFill>
                  <a:srgbClr val="1C2321"/>
                </a:solidFill>
                <a:latin typeface="Georgia"/>
              </a:rPr>
              <a:t>Whoever worships Allah — Allah is living and does not die.”</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al-Bidaya wa'l-Nihaya  ·  Ibn Kathir  ·  vol. 5, p. 340-341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SAQIFAT BANI SAʿIDA</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FAF7F0"/>
                </a:solidFill>
                <a:latin typeface="Georgia"/>
              </a:rPr>
              <a:t>Before the burial,</a:t>
            </a:r>
          </a:p>
          <a:p>
            <a:pPr algn="l">
              <a:lnSpc>
                <a:spcPct val="120000"/>
              </a:lnSpc>
            </a:pPr>
            <a:r>
              <a:rPr sz="5200" b="0" i="0">
                <a:solidFill>
                  <a:srgbClr val="FAF7F0"/>
                </a:solidFill>
                <a:latin typeface="Georgia"/>
              </a:rPr>
              <a:t>they went to a courtyard.</a:t>
            </a:r>
          </a:p>
        </p:txBody>
      </p:sp>
      <p:sp>
        <p:nvSpPr>
          <p:cNvPr id="5" name="TextBox 4"/>
          <p:cNvSpPr txBox="1"/>
          <p:nvPr/>
        </p:nvSpPr>
        <p:spPr>
          <a:xfrm>
            <a:off x="822960" y="4114800"/>
            <a:ext cx="10515600" cy="1554480"/>
          </a:xfrm>
          <a:prstGeom prst="rect">
            <a:avLst/>
          </a:prstGeom>
          <a:noFill/>
        </p:spPr>
        <p:txBody>
          <a:bodyPr wrap="square">
            <a:spAutoFit/>
          </a:bodyPr>
          <a:lstStyle/>
          <a:p>
            <a:pPr algn="l">
              <a:lnSpc>
                <a:spcPct val="140000"/>
              </a:lnSpc>
            </a:pPr>
            <a:r>
              <a:rPr sz="2000" b="0" i="0">
                <a:solidFill>
                  <a:srgbClr val="C49A45"/>
                </a:solidFill>
                <a:latin typeface="Georgia"/>
                <a:cs typeface="Traditional Arabic"/>
              </a:rPr>
              <a:t>Same day. Before he ﷺ was buried. Ibn Kathir says so in those words.</a:t>
            </a:r>
          </a:p>
          <a:p>
            <a:pPr algn="l">
              <a:lnSpc>
                <a:spcPct val="140000"/>
              </a:lnSpc>
            </a:pPr>
            <a:endParaRPr sz="2000" b="0" i="0">
              <a:solidFill>
                <a:srgbClr val="C49A45"/>
              </a:solidFill>
              <a:latin typeface="Georgia"/>
              <a:cs typeface="Traditional Arabic"/>
            </a:endParaRPr>
          </a:p>
          <a:p>
            <a:pPr algn="l">
              <a:lnSpc>
                <a:spcPct val="140000"/>
              </a:lnSpc>
            </a:pPr>
            <a:r>
              <a:rPr sz="2000" b="0" i="0">
                <a:solidFill>
                  <a:srgbClr val="C49A45"/>
                </a:solidFill>
                <a:latin typeface="Georgia"/>
                <a:cs typeface="Traditional Arabic"/>
              </a:rPr>
              <a:t>Present:  Saʿd b. ʿUbada (ra) — ill, wrapped up, of Banu Saʿida ·  Abu Bakr (ra)  ·  ʿUmar (ra)  ·  Abu ʿUbayda (ra)</a:t>
            </a:r>
          </a:p>
          <a:p>
            <a:pPr algn="l">
              <a:lnSpc>
                <a:spcPct val="140000"/>
              </a:lnSpc>
            </a:pPr>
            <a:r>
              <a:rPr sz="2000" b="0" i="0">
                <a:solidFill>
                  <a:srgbClr val="C49A45"/>
                </a:solidFill>
                <a:latin typeface="Georgia"/>
                <a:cs typeface="Traditional Arabic"/>
              </a:rPr>
              <a:t>and the Ansar of both al-Aws and al-Khazraj.</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THE PROPOSAL THAT WAS REFUSED</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أنا جُذَيْلُهَا المُحَكَّك وعُذَيْقُهَا المُرَجَّب، منا أمير، ومنكم أمير، يا معشر قريش</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“One commander from us, and one from you — O company of Quraysh.”</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al-Hubab b. al-Mundhir (ra), of al-Khazraj  ·  al-Bidaya wa'l-Nihaya  ·  Ibn Kathir  ·  vol. 5, p. 346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WHAT HE ARGUED</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فما ذكَرْتُم من خير فأنتم أهله، وما تَعْرف العربُ هذا الأمر إِلَّا لهذا الحيِّ من قُرَيش</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“Everything good you have mentioned — you are its people.</a:t>
            </a:r>
          </a:p>
          <a:p>
            <a:pPr algn="ctr">
              <a:lnSpc>
                <a:spcPct val="135000"/>
              </a:lnSpc>
            </a:pPr>
            <a:r>
              <a:rPr sz="2500" b="0" i="1">
                <a:solidFill>
                  <a:srgbClr val="1C2321"/>
                </a:solidFill>
                <a:latin typeface="Georgia"/>
              </a:rPr>
              <a:t>But the Arabs will not recognise this authority except in this clan of Quraysh.”</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Abu Bakr al-Siddiq (ra)  ·  al-Bidaya wa'l-Nihaya  ·  Ibn Kathir  ·  vol. 5, p. 346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THE MOMENT IT TURNED</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104A43"/>
                </a:solidFill>
                <a:latin typeface="Georgia"/>
              </a:rPr>
              <a:t>An Ansari put out his hand first.</a:t>
            </a:r>
          </a:p>
        </p:txBody>
      </p:sp>
      <p:sp>
        <p:nvSpPr>
          <p:cNvPr id="5" name="TextBox 4"/>
          <p:cNvSpPr txBox="1"/>
          <p:nvPr/>
        </p:nvSpPr>
        <p:spPr>
          <a:xfrm>
            <a:off x="822960" y="4114800"/>
            <a:ext cx="10515600" cy="1097280"/>
          </a:xfrm>
          <a:prstGeom prst="rect">
            <a:avLst/>
          </a:prstGeom>
          <a:noFill/>
        </p:spPr>
        <p:txBody>
          <a:bodyPr wrap="square">
            <a:spAutoFit/>
          </a:bodyPr>
          <a:lstStyle/>
          <a:p>
            <a:pPr algn="l">
              <a:lnSpc>
                <a:spcPct val="145000"/>
              </a:lnSpc>
            </a:pPr>
            <a:r>
              <a:rPr sz="2200" b="0" i="0">
                <a:solidFill>
                  <a:srgbClr val="1C2321"/>
                </a:solidFill>
                <a:latin typeface="Georgia"/>
              </a:rPr>
              <a:t>Bashir b. Saʿd (ra) — of al-Khazraj, the father of al-Nuʿman b. Bashir (ra) —</a:t>
            </a:r>
          </a:p>
          <a:p>
            <a:pPr algn="l">
              <a:lnSpc>
                <a:spcPct val="145000"/>
              </a:lnSpc>
            </a:pPr>
            <a:r>
              <a:rPr sz="2200" b="0" i="0">
                <a:solidFill>
                  <a:srgbClr val="1C2321"/>
                </a:solidFill>
                <a:latin typeface="Georgia"/>
              </a:rPr>
              <a:t>reached Abu Bakr's (ra) hand before ʿUmar (ra) could, and the people followed.</a:t>
            </a:r>
          </a:p>
        </p:txBody>
      </p:sp>
      <p:sp>
        <p:nvSpPr>
          <p:cNvPr id="6" name="TextBox 5"/>
          <p:cNvSpPr txBox="1"/>
          <p:nvPr/>
        </p:nvSpPr>
        <p:spPr>
          <a:xfrm>
            <a:off x="822960" y="5394960"/>
            <a:ext cx="10515600" cy="365760"/>
          </a:xfrm>
          <a:prstGeom prst="rect">
            <a:avLst/>
          </a:prstGeom>
          <a:noFill/>
        </p:spPr>
        <p:txBody>
          <a:bodyPr wrap="square">
            <a:spAutoFit/>
          </a:bodyPr>
          <a:lstStyle/>
          <a:p>
            <a:pPr algn="l">
              <a:lnSpc>
                <a:spcPct val="100000"/>
              </a:lnSpc>
            </a:pPr>
            <a:r>
              <a:rPr sz="1400" b="0" i="0">
                <a:solidFill>
                  <a:srgbClr val="104A43"/>
                </a:solidFill>
                <a:latin typeface="Segoe UI"/>
              </a:rPr>
              <a:t>al-Bidaya wa'l-Nihaya  ·  Ibn Kathir  ·  vol. 5, p. 347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THE WHOLE ACCOUNT IS HIS OWN — TOLD AGAINST HIMSELF</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إِنَّ بيعةَ أبي بكر كانَتْ فَلْتَة، ألا وإنها كانَتْ كذلك، ألا إنَّ اللَّه وَقَى شَرَّها</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“Abu Bakr's bayʿa was sudden and unarranged — yes, so it was.</a:t>
            </a:r>
          </a:p>
          <a:p>
            <a:pPr algn="ctr">
              <a:lnSpc>
                <a:spcPct val="135000"/>
              </a:lnSpc>
            </a:pPr>
            <a:r>
              <a:rPr sz="2500" b="0" i="1">
                <a:solidFill>
                  <a:srgbClr val="1C2321"/>
                </a:solidFill>
                <a:latin typeface="Georgia"/>
              </a:rPr>
              <a:t>And Allah protected us from its danger.”</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ʿUmar al-Faruq (ra), later, from the minbar  ·  al-Bidaya wa'l-Nihaya  ·  Ibn Kathir  ·  vol. 5, p. 345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AND FAR AWAY, IN MAKKAH</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FAF7F0"/>
                </a:solidFill>
                <a:latin typeface="Georgia"/>
              </a:rPr>
              <a:t>Seventeen years earlier,</a:t>
            </a:r>
          </a:p>
          <a:p>
            <a:pPr algn="l">
              <a:lnSpc>
                <a:spcPct val="120000"/>
              </a:lnSpc>
            </a:pPr>
            <a:r>
              <a:rPr sz="5200" b="0" i="0">
                <a:solidFill>
                  <a:srgbClr val="FAF7F0"/>
                </a:solidFill>
                <a:latin typeface="Georgia"/>
              </a:rPr>
              <a:t>at Badr, a prisoner was brought in.</a:t>
            </a:r>
          </a:p>
        </p:txBody>
      </p:sp>
      <p:sp>
        <p:nvSpPr>
          <p:cNvPr id="5" name="TextBox 4"/>
          <p:cNvSpPr txBox="1"/>
          <p:nvPr/>
        </p:nvSpPr>
        <p:spPr>
          <a:xfrm>
            <a:off x="822960" y="4206240"/>
            <a:ext cx="10515600" cy="1097280"/>
          </a:xfrm>
          <a:prstGeom prst="rect">
            <a:avLst/>
          </a:prstGeom>
          <a:noFill/>
        </p:spPr>
        <p:txBody>
          <a:bodyPr wrap="square">
            <a:spAutoFit/>
          </a:bodyPr>
          <a:lstStyle/>
          <a:p>
            <a:pPr algn="l">
              <a:lnSpc>
                <a:spcPct val="140000"/>
              </a:lnSpc>
            </a:pPr>
            <a:r>
              <a:rPr sz="2100" b="0" i="0">
                <a:solidFill>
                  <a:srgbClr val="C49A45"/>
                </a:solidFill>
                <a:latin typeface="Georgia"/>
                <a:cs typeface="Traditional Arabic"/>
              </a:rPr>
              <a:t>Suhayl b. ʿAmr, the orator of Quraysh. ʿUmar (ra) asked permission to pull out his two front teeth,</a:t>
            </a:r>
          </a:p>
          <a:p>
            <a:pPr algn="l">
              <a:lnSpc>
                <a:spcPct val="140000"/>
              </a:lnSpc>
            </a:pPr>
            <a:r>
              <a:rPr sz="2100" b="0" i="0">
                <a:solidFill>
                  <a:srgbClr val="C49A45"/>
                </a:solidFill>
                <a:latin typeface="Georgia"/>
                <a:cs typeface="Traditional Arabic"/>
              </a:rPr>
              <a:t>so that he could never stand and speak against the Prophet ﷺ again.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THE ANSWER HE WAS GIVEN</a:t>
            </a:r>
          </a:p>
        </p:txBody>
      </p:sp>
      <p:sp>
        <p:nvSpPr>
          <p:cNvPr id="4" name="TextBox 3"/>
          <p:cNvSpPr txBox="1"/>
          <p:nvPr/>
        </p:nvSpPr>
        <p:spPr>
          <a:xfrm>
            <a:off x="640080" y="1325880"/>
            <a:ext cx="10881360" cy="1554480"/>
          </a:xfrm>
          <a:prstGeom prst="rect">
            <a:avLst/>
          </a:prstGeom>
          <a:noFill/>
        </p:spPr>
        <p:txBody>
          <a:bodyPr wrap="square">
            <a:spAutoFit/>
          </a:bodyPr>
          <a:lstStyle/>
          <a:p>
            <a:pPr algn="r" rtl="1">
              <a:lnSpc>
                <a:spcPct val="140000"/>
              </a:lnSpc>
            </a:pPr>
            <a:r>
              <a:rPr sz="3600" b="0" i="0">
                <a:solidFill>
                  <a:srgbClr val="0A322E"/>
                </a:solidFill>
                <a:latin typeface="Traditional Arabic"/>
                <a:cs typeface="Traditional Arabic"/>
              </a:rPr>
              <a:t>دَعْهُ يَا عُمَرُ؛ فَسَيَقُومُ مَقَامًا تَحْمَدُهُ عَلَيْهِ</a:t>
            </a:r>
          </a:p>
        </p:txBody>
      </p:sp>
      <p:sp>
        <p:nvSpPr>
          <p:cNvPr id="5" name="TextBox 4"/>
          <p:cNvSpPr txBox="1"/>
          <p:nvPr/>
        </p:nvSpPr>
        <p:spPr>
          <a:xfrm>
            <a:off x="1188720" y="3017520"/>
            <a:ext cx="9784080" cy="1371600"/>
          </a:xfrm>
          <a:prstGeom prst="rect">
            <a:avLst/>
          </a:prstGeom>
          <a:noFill/>
        </p:spPr>
        <p:txBody>
          <a:bodyPr wrap="square">
            <a:spAutoFit/>
          </a:bodyPr>
          <a:lstStyle/>
          <a:p>
            <a:pPr algn="ctr">
              <a:lnSpc>
                <a:spcPct val="135000"/>
              </a:lnSpc>
            </a:pPr>
            <a:r>
              <a:rPr sz="2500" b="0" i="1">
                <a:solidFill>
                  <a:srgbClr val="1C2321"/>
                </a:solidFill>
                <a:latin typeface="Georgia"/>
              </a:rPr>
              <a:t>“Leave him, ʿUmar. He will yet stand somewhere</a:t>
            </a:r>
          </a:p>
          <a:p>
            <a:pPr algn="ctr">
              <a:lnSpc>
                <a:spcPct val="135000"/>
              </a:lnSpc>
            </a:pPr>
            <a:r>
              <a:rPr sz="2500" b="0" i="1">
                <a:solidFill>
                  <a:srgbClr val="1C2321"/>
                </a:solidFill>
                <a:latin typeface="Georgia"/>
              </a:rPr>
              <a:t>and you will be glad of it.”</a:t>
            </a:r>
          </a:p>
        </p:txBody>
      </p:sp>
      <p:sp>
        <p:nvSpPr>
          <p:cNvPr id="6" name="Rectangle 5"/>
          <p:cNvSpPr/>
          <p:nvPr/>
        </p:nvSpPr>
        <p:spPr>
          <a:xfrm>
            <a:off x="5394960" y="4498848"/>
            <a:ext cx="1371600" cy="190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4663440"/>
            <a:ext cx="10881360" cy="457200"/>
          </a:xfrm>
          <a:prstGeom prst="rect">
            <a:avLst/>
          </a:prstGeom>
          <a:noFill/>
        </p:spPr>
        <p:txBody>
          <a:bodyPr wrap="square">
            <a:spAutoFit/>
          </a:bodyPr>
          <a:lstStyle/>
          <a:p>
            <a:pPr algn="ctr">
              <a:lnSpc>
                <a:spcPct val="100000"/>
              </a:lnSpc>
            </a:pPr>
            <a:r>
              <a:rPr sz="1400" b="0" i="0">
                <a:solidFill>
                  <a:srgbClr val="104A43"/>
                </a:solidFill>
                <a:latin typeface="Segoe UI"/>
              </a:rPr>
              <a:t>The Prophet ﷺ, at Badr  ·  al-Kamil fi'l-Tarikh  ·  Ibn al-Athir  ·  vol. 2, p. 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ap_arabia_blank.png"/>
          <p:cNvPicPr>
            <a:picLocks noChangeAspect="1"/>
          </p:cNvPicPr>
          <p:nvPr/>
        </p:nvPicPr>
        <p:blipFill>
          <a:blip r:embed="rId3"/>
          <a:stretch>
            <a:fillRect/>
          </a:stretch>
        </p:blipFill>
        <p:spPr>
          <a:xfrm>
            <a:off x="2917690" y="868680"/>
            <a:ext cx="6356316" cy="5879592"/>
          </a:xfrm>
          <a:prstGeom prst="rect">
            <a:avLst/>
          </a:prstGeom>
        </p:spPr>
      </p:pic>
      <p:sp>
        <p:nvSpPr>
          <p:cNvPr id="4" name="Rectangle 3"/>
          <p:cNvSpPr/>
          <p:nvPr/>
        </p:nvSpPr>
        <p:spPr>
          <a:xfrm>
            <a:off x="0" y="0"/>
            <a:ext cx="12191695" cy="86868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
            <a:ext cx="7863840" cy="640080"/>
          </a:xfrm>
          <a:prstGeom prst="rect">
            <a:avLst/>
          </a:prstGeom>
          <a:noFill/>
        </p:spPr>
        <p:txBody>
          <a:bodyPr wrap="square">
            <a:spAutoFit/>
          </a:bodyPr>
          <a:lstStyle/>
          <a:p>
            <a:pPr algn="l">
              <a:lnSpc>
                <a:spcPct val="100000"/>
              </a:lnSpc>
            </a:pPr>
            <a:r>
              <a:rPr sz="3000" b="0" i="0">
                <a:solidFill>
                  <a:srgbClr val="FAF7F0"/>
                </a:solidFill>
                <a:latin typeface="Georgia"/>
              </a:rPr>
              <a:t>This is the state, the night he died</a:t>
            </a:r>
          </a:p>
        </p:txBody>
      </p:sp>
      <p:sp>
        <p:nvSpPr>
          <p:cNvPr id="6" name="TextBox 5"/>
          <p:cNvSpPr txBox="1"/>
          <p:nvPr/>
        </p:nvSpPr>
        <p:spPr>
          <a:xfrm>
            <a:off x="8595360" y="256032"/>
            <a:ext cx="3017520" cy="457200"/>
          </a:xfrm>
          <a:prstGeom prst="rect">
            <a:avLst/>
          </a:prstGeom>
          <a:noFill/>
        </p:spPr>
        <p:txBody>
          <a:bodyPr wrap="square">
            <a:spAutoFit/>
          </a:bodyPr>
          <a:lstStyle/>
          <a:p>
            <a:pPr algn="r">
              <a:lnSpc>
                <a:spcPct val="100000"/>
              </a:lnSpc>
            </a:pPr>
            <a:r>
              <a:rPr sz="1500" b="0" i="0">
                <a:solidFill>
                  <a:srgbClr val="C49A45"/>
                </a:solidFill>
                <a:latin typeface="Segoe UI"/>
              </a:rPr>
              <a:t>11 AH  ·  the governors, and how far it reached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TONIGHT'S LESSON</a:t>
            </a:r>
          </a:p>
        </p:txBody>
      </p:sp>
      <p:sp>
        <p:nvSpPr>
          <p:cNvPr id="4" name="TextBox 3"/>
          <p:cNvSpPr txBox="1"/>
          <p:nvPr/>
        </p:nvSpPr>
        <p:spPr>
          <a:xfrm>
            <a:off x="822960" y="1965960"/>
            <a:ext cx="10515600" cy="2011680"/>
          </a:xfrm>
          <a:prstGeom prst="rect">
            <a:avLst/>
          </a:prstGeom>
          <a:noFill/>
        </p:spPr>
        <p:txBody>
          <a:bodyPr wrap="square" anchor="ctr">
            <a:spAutoFit/>
          </a:bodyPr>
          <a:lstStyle/>
          <a:p>
            <a:pPr algn="l">
              <a:lnSpc>
                <a:spcPct val="120000"/>
              </a:lnSpc>
            </a:pPr>
            <a:r>
              <a:rPr sz="5200" b="0" i="0">
                <a:solidFill>
                  <a:srgbClr val="104A43"/>
                </a:solidFill>
                <a:latin typeface="Georgia"/>
              </a:rPr>
              <a:t>Nearness of blood</a:t>
            </a:r>
          </a:p>
          <a:p>
            <a:pPr algn="l">
              <a:lnSpc>
                <a:spcPct val="120000"/>
              </a:lnSpc>
            </a:pPr>
            <a:r>
              <a:rPr sz="5200" b="0" i="0">
                <a:solidFill>
                  <a:srgbClr val="104A43"/>
                </a:solidFill>
                <a:latin typeface="Georgia"/>
              </a:rPr>
              <a:t>was not the currency.</a:t>
            </a:r>
          </a:p>
        </p:txBody>
      </p:sp>
      <p:sp>
        <p:nvSpPr>
          <p:cNvPr id="5" name="TextBox 4"/>
          <p:cNvSpPr txBox="1"/>
          <p:nvPr/>
        </p:nvSpPr>
        <p:spPr>
          <a:xfrm>
            <a:off x="822960" y="4160520"/>
            <a:ext cx="10515600" cy="1188720"/>
          </a:xfrm>
          <a:prstGeom prst="rect">
            <a:avLst/>
          </a:prstGeom>
          <a:noFill/>
        </p:spPr>
        <p:txBody>
          <a:bodyPr wrap="square">
            <a:spAutoFit/>
          </a:bodyPr>
          <a:lstStyle/>
          <a:p>
            <a:pPr algn="l">
              <a:lnSpc>
                <a:spcPct val="140000"/>
              </a:lnSpc>
            </a:pPr>
            <a:r>
              <a:rPr sz="2000" b="0" i="0">
                <a:solidFill>
                  <a:srgbClr val="5A6862"/>
                </a:solidFill>
                <a:latin typeface="Georgia"/>
                <a:cs typeface="Traditional Arabic"/>
              </a:rPr>
              <a:t>Abu Bakr (ra) and Khalid (ra) meet the Prophet ﷺ at the same ancestor. ʿUmar (ra) is a generation further out.</a:t>
            </a:r>
          </a:p>
          <a:p>
            <a:pPr algn="l">
              <a:lnSpc>
                <a:spcPct val="140000"/>
              </a:lnSpc>
            </a:pPr>
            <a:r>
              <a:rPr sz="2000" b="0" i="0">
                <a:solidFill>
                  <a:srgbClr val="5A6862"/>
                </a:solidFill>
                <a:latin typeface="Georgia"/>
                <a:cs typeface="Traditional Arabic"/>
              </a:rPr>
              <a:t>Abu ʿUbayda (ra) is further out than all of them — and it was Abu ʿUbayda (ra) whom al-Siddiq (ra) was minded to name.</a:t>
            </a:r>
          </a:p>
        </p:txBody>
      </p:sp>
      <p:sp>
        <p:nvSpPr>
          <p:cNvPr id="6" name="TextBox 5"/>
          <p:cNvSpPr txBox="1"/>
          <p:nvPr/>
        </p:nvSpPr>
        <p:spPr>
          <a:xfrm>
            <a:off x="822960" y="5440680"/>
            <a:ext cx="10515600" cy="365760"/>
          </a:xfrm>
          <a:prstGeom prst="rect">
            <a:avLst/>
          </a:prstGeom>
          <a:noFill/>
        </p:spPr>
        <p:txBody>
          <a:bodyPr wrap="square">
            <a:spAutoFit/>
          </a:bodyPr>
          <a:lstStyle/>
          <a:p>
            <a:pPr algn="l">
              <a:lnSpc>
                <a:spcPct val="100000"/>
              </a:lnSpc>
            </a:pPr>
            <a:r>
              <a:rPr sz="1400" b="0" i="0">
                <a:solidFill>
                  <a:srgbClr val="104A43"/>
                </a:solidFill>
                <a:latin typeface="Segoe UI"/>
              </a:rPr>
              <a:t>al-Bidaya vol. 2, pp. 485, 493   ·   al-Siyar vol. 1, pp. 5-6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C49A45"/>
                </a:solidFill>
                <a:latin typeface="Segoe UI"/>
              </a:rPr>
              <a:t>NEXT WEEK</a:t>
            </a:r>
          </a:p>
        </p:txBody>
      </p:sp>
      <p:sp>
        <p:nvSpPr>
          <p:cNvPr id="4" name="TextBox 3"/>
          <p:cNvSpPr txBox="1"/>
          <p:nvPr/>
        </p:nvSpPr>
        <p:spPr>
          <a:xfrm>
            <a:off x="822960" y="1737360"/>
            <a:ext cx="10515600" cy="1828800"/>
          </a:xfrm>
          <a:prstGeom prst="rect">
            <a:avLst/>
          </a:prstGeom>
          <a:noFill/>
        </p:spPr>
        <p:txBody>
          <a:bodyPr wrap="square">
            <a:spAutoFit/>
          </a:bodyPr>
          <a:lstStyle/>
          <a:p>
            <a:pPr algn="l">
              <a:lnSpc>
                <a:spcPct val="125000"/>
              </a:lnSpc>
            </a:pPr>
            <a:r>
              <a:rPr sz="4600" b="0" i="0">
                <a:solidFill>
                  <a:srgbClr val="FAF7F0"/>
                </a:solidFill>
                <a:latin typeface="Georgia"/>
              </a:rPr>
              <a:t>Within months, most of that map</a:t>
            </a:r>
          </a:p>
          <a:p>
            <a:pPr algn="l">
              <a:lnSpc>
                <a:spcPct val="125000"/>
              </a:lnSpc>
            </a:pPr>
            <a:r>
              <a:rPr sz="4600" b="0" i="0">
                <a:solidFill>
                  <a:srgbClr val="FAF7F0"/>
                </a:solidFill>
                <a:latin typeface="Georgia"/>
              </a:rPr>
              <a:t>had broken away.</a:t>
            </a:r>
          </a:p>
        </p:txBody>
      </p:sp>
      <p:sp>
        <p:nvSpPr>
          <p:cNvPr id="5" name="Rectangle 4"/>
          <p:cNvSpPr/>
          <p:nvPr/>
        </p:nvSpPr>
        <p:spPr>
          <a:xfrm>
            <a:off x="822960" y="3794760"/>
            <a:ext cx="2377440" cy="317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160520"/>
            <a:ext cx="10515600" cy="1097280"/>
          </a:xfrm>
          <a:prstGeom prst="rect">
            <a:avLst/>
          </a:prstGeom>
          <a:noFill/>
        </p:spPr>
        <p:txBody>
          <a:bodyPr wrap="square">
            <a:spAutoFit/>
          </a:bodyPr>
          <a:lstStyle/>
          <a:p>
            <a:pPr algn="r" rtl="1">
              <a:lnSpc>
                <a:spcPct val="195000"/>
              </a:lnSpc>
            </a:pPr>
            <a:r>
              <a:rPr sz="4000" b="0" i="0">
                <a:solidFill>
                  <a:srgbClr val="C49A45"/>
                </a:solidFill>
                <a:latin typeface="Noto Nastaliq Urdu"/>
                <a:cs typeface="Noto Nastaliq Urdu"/>
              </a:rPr>
              <a:t>کیوں؟ اور یہ واپس کیسے آیا؟</a:t>
            </a:r>
          </a:p>
        </p:txBody>
      </p:sp>
      <p:sp>
        <p:nvSpPr>
          <p:cNvPr id="7" name="TextBox 6"/>
          <p:cNvSpPr txBox="1"/>
          <p:nvPr/>
        </p:nvSpPr>
        <p:spPr>
          <a:xfrm>
            <a:off x="822960" y="5349240"/>
            <a:ext cx="10515600" cy="548640"/>
          </a:xfrm>
          <a:prstGeom prst="rect">
            <a:avLst/>
          </a:prstGeom>
          <a:noFill/>
        </p:spPr>
        <p:txBody>
          <a:bodyPr wrap="square">
            <a:spAutoFit/>
          </a:bodyPr>
          <a:lstStyle/>
          <a:p>
            <a:pPr algn="l">
              <a:lnSpc>
                <a:spcPct val="100000"/>
              </a:lnSpc>
            </a:pPr>
            <a:r>
              <a:rPr sz="2400" b="0" i="1">
                <a:solidFill>
                  <a:srgbClr val="FAF7F0"/>
                </a:solidFill>
                <a:latin typeface="Georgia"/>
              </a:rPr>
              <a:t>Why? And how did it come back?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20624"/>
            <a:ext cx="8229600" cy="365760"/>
          </a:xfrm>
          <a:prstGeom prst="rect">
            <a:avLst/>
          </a:prstGeom>
          <a:noFill/>
        </p:spPr>
        <p:txBody>
          <a:bodyPr wrap="square">
            <a:spAutoFit/>
          </a:bodyPr>
          <a:lstStyle/>
          <a:p>
            <a:pPr algn="l">
              <a:lnSpc>
                <a:spcPct val="100000"/>
              </a:lnSpc>
            </a:pPr>
            <a:r>
              <a:rPr sz="1200" b="1" i="0">
                <a:solidFill>
                  <a:srgbClr val="104A43"/>
                </a:solidFill>
                <a:latin typeface="Segoe UI"/>
              </a:rPr>
              <a:t>SHOW ONLY IF ASKED</a:t>
            </a:r>
          </a:p>
        </p:txBody>
      </p:sp>
      <p:sp>
        <p:nvSpPr>
          <p:cNvPr id="4" name="TextBox 3"/>
          <p:cNvSpPr txBox="1"/>
          <p:nvPr/>
        </p:nvSpPr>
        <p:spPr>
          <a:xfrm>
            <a:off x="777240" y="914400"/>
            <a:ext cx="10607040" cy="731520"/>
          </a:xfrm>
          <a:prstGeom prst="rect">
            <a:avLst/>
          </a:prstGeom>
          <a:noFill/>
        </p:spPr>
        <p:txBody>
          <a:bodyPr wrap="square">
            <a:spAutoFit/>
          </a:bodyPr>
          <a:lstStyle/>
          <a:p>
            <a:pPr algn="l">
              <a:lnSpc>
                <a:spcPct val="100000"/>
              </a:lnSpc>
            </a:pPr>
            <a:r>
              <a:rPr sz="3400" b="0" i="0">
                <a:solidFill>
                  <a:srgbClr val="104A43"/>
                </a:solidFill>
                <a:latin typeface="Georgia"/>
              </a:rPr>
              <a:t>Where tonight came from</a:t>
            </a:r>
          </a:p>
        </p:txBody>
      </p:sp>
      <p:sp>
        <p:nvSpPr>
          <p:cNvPr id="5" name="Rectangle 4"/>
          <p:cNvSpPr/>
          <p:nvPr/>
        </p:nvSpPr>
        <p:spPr>
          <a:xfrm>
            <a:off x="777240" y="1783080"/>
            <a:ext cx="10607040" cy="3200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57400"/>
            <a:ext cx="10607040" cy="2286000"/>
          </a:xfrm>
          <a:prstGeom prst="rect">
            <a:avLst/>
          </a:prstGeom>
          <a:noFill/>
        </p:spPr>
        <p:txBody>
          <a:bodyPr wrap="square">
            <a:spAutoFit/>
          </a:bodyPr>
          <a:lstStyle/>
          <a:p>
            <a:pPr algn="l">
              <a:lnSpc>
                <a:spcPct val="175000"/>
              </a:lnSpc>
            </a:pPr>
            <a:r>
              <a:rPr sz="2000" b="0" i="0">
                <a:solidFill>
                  <a:srgbClr val="1C2321"/>
                </a:solidFill>
                <a:latin typeface="Georgia"/>
              </a:rPr>
              <a:t>al-Bidaya wa'l-Nihaya  —  Ibn Kathir      (the Saqifah, the wafat, the clan lines)</a:t>
            </a:r>
          </a:p>
          <a:p>
            <a:pPr algn="l">
              <a:lnSpc>
                <a:spcPct val="175000"/>
              </a:lnSpc>
            </a:pPr>
            <a:r>
              <a:rPr sz="2000" b="0" i="0">
                <a:solidFill>
                  <a:srgbClr val="1C2321"/>
                </a:solidFill>
                <a:latin typeface="Georgia"/>
              </a:rPr>
              <a:t>Siyar Aʿlam al-Nubala  —  al-Dhahabi      (the biographical notices)</a:t>
            </a:r>
          </a:p>
          <a:p>
            <a:pPr algn="l">
              <a:lnSpc>
                <a:spcPct val="175000"/>
              </a:lnSpc>
            </a:pPr>
            <a:r>
              <a:rPr sz="2000" b="0" i="0">
                <a:solidFill>
                  <a:srgbClr val="1C2321"/>
                </a:solidFill>
                <a:latin typeface="Georgia"/>
              </a:rPr>
              <a:t>al-Kamil fi'l-Tarikh  —  Ibn al-Athir      (Suhayl b. ʿAmr)</a:t>
            </a:r>
          </a:p>
          <a:p>
            <a:pPr algn="l">
              <a:lnSpc>
                <a:spcPct val="175000"/>
              </a:lnSpc>
            </a:pPr>
            <a:r>
              <a:rPr sz="2000" b="0" i="0">
                <a:solidFill>
                  <a:srgbClr val="1C2321"/>
                </a:solidFill>
                <a:latin typeface="Georgia"/>
              </a:rPr>
              <a:t>Tarikh-e-Ummat-e-Muslima  —  Maulana Muhammad Ismaʿil Rehan   (the muqaddima)</a:t>
            </a:r>
          </a:p>
        </p:txBody>
      </p:sp>
      <p:sp>
        <p:nvSpPr>
          <p:cNvPr id="7" name="TextBox 6"/>
          <p:cNvSpPr txBox="1"/>
          <p:nvPr/>
        </p:nvSpPr>
        <p:spPr>
          <a:xfrm>
            <a:off x="822960" y="4343400"/>
            <a:ext cx="10515600" cy="914400"/>
          </a:xfrm>
          <a:prstGeom prst="rect">
            <a:avLst/>
          </a:prstGeom>
          <a:noFill/>
        </p:spPr>
        <p:txBody>
          <a:bodyPr wrap="square">
            <a:spAutoFit/>
          </a:bodyPr>
          <a:lstStyle/>
          <a:p>
            <a:pPr algn="r" rtl="1">
              <a:lnSpc>
                <a:spcPct val="195000"/>
              </a:lnSpc>
            </a:pPr>
            <a:r>
              <a:rPr sz="2400" b="0" i="0">
                <a:solidFill>
                  <a:srgbClr val="104A43"/>
                </a:solidFill>
                <a:latin typeface="Noto Nastaliq Urdu"/>
                <a:cs typeface="Noto Nastaliq Urdu"/>
              </a:rPr>
              <a:t>البدایہ والنہایہ  ·  سیر أعلام النبلاء  ·  الکامل  ·  تاریخِ امتِ مسلمہ</a:t>
            </a:r>
          </a:p>
        </p:txBody>
      </p:sp>
      <p:sp>
        <p:nvSpPr>
          <p:cNvPr id="8" name="TextBox 7"/>
          <p:cNvSpPr txBox="1"/>
          <p:nvPr/>
        </p:nvSpPr>
        <p:spPr>
          <a:xfrm>
            <a:off x="777240" y="4937760"/>
            <a:ext cx="10607040" cy="914400"/>
          </a:xfrm>
          <a:prstGeom prst="rect">
            <a:avLst/>
          </a:prstGeom>
          <a:noFill/>
        </p:spPr>
        <p:txBody>
          <a:bodyPr wrap="square">
            <a:spAutoFit/>
          </a:bodyPr>
          <a:lstStyle/>
          <a:p>
            <a:pPr algn="l">
              <a:lnSpc>
                <a:spcPct val="140000"/>
              </a:lnSpc>
            </a:pPr>
            <a:r>
              <a:rPr sz="2000" b="0" i="1">
                <a:solidFill>
                  <a:srgbClr val="7A2E2E"/>
                </a:solidFill>
                <a:latin typeface="Georgia"/>
              </a:rPr>
              <a:t>All four are works this course's own muqaddima names and relies on.</a:t>
            </a:r>
          </a:p>
          <a:p>
            <a:pPr algn="l">
              <a:lnSpc>
                <a:spcPct val="140000"/>
              </a:lnSpc>
            </a:pPr>
            <a:r>
              <a:rPr sz="2000" b="0" i="1">
                <a:solidFill>
                  <a:srgbClr val="7A2E2E"/>
                </a:solidFill>
                <a:latin typeface="Georgia"/>
              </a:rPr>
              <a:t>I am reading a book. I am not writing history.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2263</Words>
  <Application>Microsoft Office PowerPoint</Application>
  <PresentationFormat>Widescreen</PresentationFormat>
  <Paragraphs>147</Paragraphs>
  <Slides>26</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Arial</vt:lpstr>
      <vt:lpstr>Calibri</vt:lpstr>
      <vt:lpstr>Georgia</vt:lpstr>
      <vt:lpstr>Noto Nastaliq Urdu</vt:lpstr>
      <vt:lpstr>Segoe UI</vt:lpstr>
      <vt:lpstr>Traditional Arabic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Daniyal Yasin</cp:lastModifiedBy>
  <cp:revision>1</cp:revision>
  <dcterms:created xsi:type="dcterms:W3CDTF">2013-01-27T09:14:16Z</dcterms:created>
  <dcterms:modified xsi:type="dcterms:W3CDTF">2026-09-03T06:50:39Z</dcterms:modified>
  <cp:category/>
</cp:coreProperties>
</file>