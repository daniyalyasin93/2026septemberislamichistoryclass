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 AGHAZ (3 min). Workbooks and pens are already on the chairs.</a:t>
            </a:r>
          </a:p>
          <a:p>
            <a:r>
              <a:t>FIRST INSTRUCTION OF THE COURSE: 'apna naam likh lijiye.' Give a real 30 seconds.</a:t>
            </a:r>
          </a:p>
          <a:p>
            <a:r>
              <a:t>THEN THE NARRATOR PARAGRAPH - do not skip, do not rush:</a:t>
            </a:r>
          </a:p>
          <a:p>
            <a:r>
              <a:t>  'main mu'arrikh nahin hoon. hum ek kitab parh rahe hain - Tareekh-e-Ummat.'</a:t>
            </a:r>
          </a:p>
          <a:p>
            <a:r>
              <a:t>This is your shield for all ten weeks.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0:03 OPENING SCENE (5 min). STAND STILL. No map yet. Tell it plainly, do not raise</a:t>
            </a:r>
          </a:p>
          <a:p>
            <a:r>
              <a:t>your voice. [SOURCE: the Mongol volume - the taking of Baghdad, the caliph, and what</a:t>
            </a:r>
          </a:p>
          <a:p>
            <a:r>
              <a:t>the chroniclers record of the libraries. Say nothing the book does not say.]</a:t>
            </a:r>
          </a:p>
          <a:p>
            <a:r>
              <a:t>END: walk to the BANNER and mark one filled square at 656. Room copies it. PEN-DOWN 1.</a:t>
            </a:r>
          </a:p>
          <a:p>
            <a:r>
              <a:t>Then the two questions - AND DO NOT ANSWER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at the BANNER, not the screen. They have just marked 656 themselves and can see</a:t>
            </a:r>
          </a:p>
          <a:p>
            <a:r>
              <a:t>blank line on both sides. Let them sit with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0:08 THE STORY (20 min) begins here. Six moves, ~3 min each.</a:t>
            </a:r>
          </a:p>
          <a:p>
            <a:r>
              <a:t>Introduce the six anchor cities FIRST - they are the furniture for all ten weeks.</a:t>
            </a:r>
          </a:p>
          <a:p>
            <a:r>
              <a:t>Then walk the arrows: out of Arabia, west to Cordoba, east to Sindh, north to</a:t>
            </a:r>
          </a:p>
          <a:p>
            <a:r>
              <a:t>Constantinople.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Move 1. The Prophet (peace be upon him) has died. At this moment nobody would have</a:t>
            </a:r>
          </a:p>
          <a:p>
            <a:r>
              <a:t>predicted anything that follows.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Move 2. THE STRIKING FACT. Say it slowly - nobody expects it.</a:t>
            </a:r>
          </a:p>
          <a:p>
            <a:r>
              <a:t>PEN-DOWN 2: 'do teer kheenchiye - ek maghrib, ek mashriq.' [verify 92-93 AH]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Move 3. [trim to one sentence first if running long.]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Move 4. Now the opening mark gets its meaning. THE KEY IDEA OF THE WHOLE EVENING:</a:t>
            </a:r>
          </a:p>
          <a:p>
            <a:r>
              <a:t>a civilisation survived losing its capital because it had moved what mattered.</a:t>
            </a:r>
          </a:p>
          <a:p>
            <a:r>
              <a:t>PEN-DOWN 3. [SOURCE: what actually survived 656 and where it went.]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Move 5. The recovery. [verify 1453]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Move 6. SOBER. No present-day politics - the venue has ruled it out.</a:t>
            </a:r>
          </a:p>
          <a:p>
            <a:r>
              <a:t>PEN-DOWN 4, the last mark.</a:t>
            </a:r>
          </a:p>
          <a:p>
            <a:r>
              <a:t>If asked about 1924 -&gt; SEVENTH session. About 1947 -&gt; NINTH. Do not mix them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0:28 TAARUF (7 min). SAY FIRST: all three get their own session; tonight is an</a:t>
            </a:r>
          </a:p>
          <a:p>
            <a:r>
              <a:t>introduction only. READ EACH FROM THE PRINTED CARD - never from memory.</a:t>
            </a:r>
          </a:p>
          <a:p>
            <a:r>
              <a:t>Workbook prints the first lines and leaves ONE INCIDENT blank for them to write.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Meets them properly next week. Do not spend his material tonight.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WARNING: his incident must NOT be the fall of Baghdad - that was tonight's opening scene</a:t>
            </a:r>
          </a:p>
          <a:p>
            <a:r>
              <a:t>and the segment would simply repeat itself. Pick something else.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BLOCKED for sourcing. If you have nothing verified by the night, introduce only the</a:t>
            </a:r>
          </a:p>
          <a:p>
            <a:r>
              <a:t>two you do have and say the third comes in session 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0:33 (4 min). THE ONLY METHODOLOGY IN THE WHOLE COURSE - keep it to four minutes.</a:t>
            </a:r>
          </a:p>
          <a:p>
            <a:r>
              <a:t>Do not teach isnad as a technical subject. The point is only: there are two different</a:t>
            </a:r>
          </a:p>
          <a:p>
            <a:r>
              <a:t>ways of deciding what is true about the past, and ours has a mechanism the other lacks.</a:t>
            </a:r>
          </a:p>
          <a:p>
            <a:r>
              <a:t>Be fair, not mocking - they work hard, they simply have no isnad system.</a:t>
            </a:r>
          </a:p>
          <a:p>
            <a:r>
              <a:t>Then go straight to the Sufyan quotation and stop.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0:37 (2 min). DEMONSTRATE FIRST, then show this.</a:t>
            </a:r>
          </a:p>
          <a:p>
            <a:r>
              <a:t>'Suppose someone tells you Mehmed the Conqueror wrote to Hulagu Khan.'</a:t>
            </a:r>
          </a:p>
          <a:p>
            <a:r>
              <a:t>Point at THEIR OWN sheet - two centuries apart. Dead. No Arabic needed, no isnad</a:t>
            </a:r>
          </a:p>
          <a:p>
            <a:r>
              <a:t>needed; the timeline alone killed it. THEN put this up, read once, and STOP.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0:39 (4 min). The slide is headed by the ATTRIBUTION, not the claim. It is not your view.</a:t>
            </a:r>
          </a:p>
          <a:p>
            <a:r>
              <a:t>[SOURCE: exact wording of the four and the reference the book gives - read by eye]</a:t>
            </a:r>
          </a:p>
          <a:p>
            <a:r>
              <a:t>Read them. ONE sentence: the FIRST is connection to the past, and the other three rest</a:t>
            </a:r>
          </a:p>
          <a:p>
            <a:r>
              <a:t>on it - which is why tonight began with the whole line instead of the first year.</a:t>
            </a:r>
          </a:p>
          <a:p>
            <a:r>
              <a:t>THEN STOP. 90 SECONDS OF SILENCE while they write their own line.</a:t>
            </a:r>
          </a:p>
          <a:p>
            <a:r>
              <a:t>Two volunteers max. Say 'shukriya' and NOTHING else - do not improve on what they said.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0:43 (3 min). Hold up the workbook: the only thing to bring back.</a:t>
            </a:r>
          </a:p>
          <a:p>
            <a:r>
              <a:t>Draw a bracket on the BANNER around 11-23 AH so they SEE how narrow next week is.</a:t>
            </a:r>
          </a:p>
          <a:p>
            <a:r>
              <a:t>TAKE-HOME, say once and leave unanswered:</a:t>
            </a:r>
          </a:p>
          <a:p>
            <a:r>
              <a:t>  'koi tareekh ki baat kahe - to ab aap sab se pehle kya poochhenge?'</a:t>
            </a:r>
          </a:p>
          <a:p>
            <a:r>
              <a:t>  (want: when? and who said it?)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for credibility. Show only if someone asks where something came from.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3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6002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b="0" i="0">
                <a:solidFill>
                  <a:srgbClr val="FAF7F0"/>
                </a:solidFill>
                <a:latin typeface="Georgia"/>
              </a:rPr>
              <a:t>Lessons from History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803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90000"/>
              </a:lnSpc>
            </a:pPr>
            <a:r>
              <a:rPr sz="4000" b="0" i="0">
                <a:solidFill>
                  <a:srgbClr val="C49A45"/>
                </a:solidFill>
                <a:latin typeface="Noto Nastaliq Urdu"/>
                <a:cs typeface="Noto Nastaliq Urdu"/>
              </a:rPr>
              <a:t>تاریخ سے سبق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60520"/>
            <a:ext cx="2377440" cy="31750"/>
          </a:xfrm>
          <a:prstGeom prst="rect">
            <a:avLst/>
          </a:prstGeom>
          <a:solidFill>
            <a:srgbClr val="C49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4348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 i="1">
                <a:solidFill>
                  <a:srgbClr val="FAF7F0"/>
                </a:solidFill>
                <a:latin typeface="Georgia"/>
              </a:rPr>
              <a:t>Fourteen centuries in one evening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49A45"/>
                </a:solidFill>
                <a:latin typeface="Segoe UI"/>
              </a:rPr>
              <a:t>SESSION 1  ·  632 – 1947  ·  DHA ISLAMABAD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3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49A45"/>
                </a:solidFill>
                <a:latin typeface="Segoe UI"/>
              </a:rPr>
              <a:t>ONE NIGHT, IN THE MIDDLE OF OUR 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1051560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5200" b="0" i="0">
                <a:solidFill>
                  <a:srgbClr val="C49A45"/>
                </a:solidFill>
                <a:latin typeface="Georgia"/>
              </a:rPr>
              <a:t>656 AH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60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 i="1">
                <a:solidFill>
                  <a:srgbClr val="C49A45"/>
                </a:solidFill>
                <a:latin typeface="Georgia"/>
              </a:rPr>
              <a:t>Baghdad falls. The libraries burn.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4A43"/>
                </a:solidFill>
                <a:latin typeface="Segoe UI"/>
              </a:rPr>
              <a:t>YOU ARE 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1051560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5200" b="0" i="0">
                <a:solidFill>
                  <a:srgbClr val="104A43"/>
                </a:solidFill>
                <a:latin typeface="Georgia"/>
              </a:rPr>
              <a:t>That night sits in the middle.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60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 i="1">
                <a:solidFill>
                  <a:srgbClr val="5A6862"/>
                </a:solidFill>
                <a:latin typeface="Georgia"/>
              </a:rPr>
              <a:t>Not at the end. So how much came before — and how much after?</a:t>
            </a:r>
          </a:p>
        </p:txBody>
      </p:sp>
      <p:pic>
        <p:nvPicPr>
          <p:cNvPr id="6" name="Picture 5" descr="line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053328"/>
            <a:ext cx="11091672" cy="117078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p_s1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956" y="868680"/>
            <a:ext cx="11163782" cy="587959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A3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6304"/>
            <a:ext cx="7863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 i="0">
                <a:solidFill>
                  <a:srgbClr val="FAF7F0"/>
                </a:solidFill>
                <a:latin typeface="Georgia"/>
              </a:rPr>
              <a:t>The whole map, once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256032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0" i="0">
                <a:solidFill>
                  <a:srgbClr val="C49A45"/>
                </a:solidFill>
                <a:latin typeface="Segoe UI"/>
              </a:rPr>
              <a:t>six cities to remember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4A43"/>
                </a:solidFill>
                <a:latin typeface="Segoe UI"/>
              </a:rPr>
              <a:t>MOVE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1051560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5200" b="0" i="0">
                <a:solidFill>
                  <a:srgbClr val="104A43"/>
                </a:solidFill>
                <a:latin typeface="Georgia"/>
              </a:rPr>
              <a:t>One city. One generation.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60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 i="1">
                <a:solidFill>
                  <a:srgbClr val="5A6862"/>
                </a:solidFill>
                <a:latin typeface="Georgia"/>
              </a:rPr>
              <a:t>Madina, 632. Nobody expected what came next.</a:t>
            </a:r>
          </a:p>
        </p:txBody>
      </p:sp>
      <p:pic>
        <p:nvPicPr>
          <p:cNvPr id="6" name="Picture 5" descr="line_s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053328"/>
            <a:ext cx="11091672" cy="117078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4A43"/>
                </a:solidFill>
                <a:latin typeface="Segoe UI"/>
              </a:rPr>
              <a:t>MOVE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1051560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5200" b="0" i="0">
                <a:solidFill>
                  <a:srgbClr val="104A43"/>
                </a:solidFill>
                <a:latin typeface="Georgia"/>
              </a:rPr>
              <a:t>Spain and Sindh — the same decade.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60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 i="1">
                <a:solidFill>
                  <a:srgbClr val="5A6862"/>
                </a:solidFill>
                <a:latin typeface="Georgia"/>
              </a:rPr>
              <a:t>West to the Atlantic, east to the Indus, at once.</a:t>
            </a:r>
          </a:p>
        </p:txBody>
      </p:sp>
      <p:pic>
        <p:nvPicPr>
          <p:cNvPr id="6" name="Picture 5" descr="line_s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053328"/>
            <a:ext cx="11091672" cy="117078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4A43"/>
                </a:solidFill>
                <a:latin typeface="Segoe UI"/>
              </a:rPr>
              <a:t>MOVE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1051560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5200" b="0" i="0">
                <a:solidFill>
                  <a:srgbClr val="104A43"/>
                </a:solidFill>
                <a:latin typeface="Georgia"/>
              </a:rPr>
              <a:t>Two capitals at once.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60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 i="1">
                <a:solidFill>
                  <a:srgbClr val="5A6862"/>
                </a:solidFill>
                <a:latin typeface="Georgia"/>
              </a:rPr>
              <a:t>Baghdad translating the world; Cordoba building a library.</a:t>
            </a:r>
          </a:p>
        </p:txBody>
      </p:sp>
      <p:pic>
        <p:nvPicPr>
          <p:cNvPr id="6" name="Picture 5" descr="line_s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053328"/>
            <a:ext cx="11091672" cy="117078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3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49A45"/>
                </a:solidFill>
                <a:latin typeface="Segoe UI"/>
              </a:rPr>
              <a:t>MOVE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1051560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5200" b="0" i="0">
                <a:solidFill>
                  <a:srgbClr val="C49A45"/>
                </a:solidFill>
                <a:latin typeface="Georgia"/>
              </a:rPr>
              <a:t>The capital falls — and it does not end.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60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 i="1">
                <a:solidFill>
                  <a:srgbClr val="C49A45"/>
                </a:solidFill>
                <a:latin typeface="Georgia"/>
              </a:rPr>
              <a:t>The books and the scholars had already moved to Cairo.</a:t>
            </a:r>
          </a:p>
        </p:txBody>
      </p:sp>
      <p:pic>
        <p:nvPicPr>
          <p:cNvPr id="6" name="Picture 5" descr="line_s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053328"/>
            <a:ext cx="11091672" cy="117078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4A43"/>
                </a:solidFill>
                <a:latin typeface="Segoe UI"/>
              </a:rPr>
              <a:t>MOVE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1051560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5200" b="0" i="0">
                <a:solidFill>
                  <a:srgbClr val="104A43"/>
                </a:solidFill>
                <a:latin typeface="Georgia"/>
              </a:rPr>
              <a:t>1453 — a door opens.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60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 i="1">
                <a:solidFill>
                  <a:srgbClr val="5A6862"/>
                </a:solidFill>
                <a:latin typeface="Georgia"/>
              </a:rPr>
              <a:t>Constantinople. And in the east, Sindh leads on to Delhi.</a:t>
            </a:r>
          </a:p>
        </p:txBody>
      </p:sp>
      <p:pic>
        <p:nvPicPr>
          <p:cNvPr id="6" name="Picture 5" descr="line_s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053328"/>
            <a:ext cx="11091672" cy="117078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3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49A45"/>
                </a:solidFill>
                <a:latin typeface="Segoe UI"/>
              </a:rPr>
              <a:t>MOVE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1051560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5200" b="0" i="0">
                <a:solidFill>
                  <a:srgbClr val="C49A45"/>
                </a:solidFill>
                <a:latin typeface="Georgia"/>
              </a:rPr>
              <a:t>1924 … and then 1947.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60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 i="1">
                <a:solidFill>
                  <a:srgbClr val="C49A45"/>
                </a:solidFill>
                <a:latin typeface="Georgia"/>
              </a:rPr>
              <a:t>The last caliphate ends. And the story arrives here.</a:t>
            </a:r>
          </a:p>
        </p:txBody>
      </p:sp>
      <p:pic>
        <p:nvPicPr>
          <p:cNvPr id="6" name="Picture 5" descr="line_s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053328"/>
            <a:ext cx="11091672" cy="117078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4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49A45"/>
                </a:solidFill>
                <a:latin typeface="Segoe UI"/>
              </a:rPr>
              <a:t>تعارف  ·  WHO YOU ARE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1051560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5200" b="0" i="0">
                <a:solidFill>
                  <a:srgbClr val="FAF7F0"/>
                </a:solidFill>
                <a:latin typeface="Georgia"/>
              </a:rPr>
              <a:t>Three people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60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 i="1">
                <a:solidFill>
                  <a:srgbClr val="C49A45"/>
                </a:solidFill>
                <a:latin typeface="Georgia"/>
              </a:rPr>
              <a:t>Each one has their own evening later in the course.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4A43"/>
                </a:solidFill>
                <a:latin typeface="Segoe UI"/>
              </a:rPr>
              <a:t>WHO YOU ARE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6012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104A43"/>
                </a:solidFill>
                <a:latin typeface="Georgia"/>
              </a:rPr>
              <a:t>Umar ibn al-Khattab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91440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90000"/>
              </a:lnSpc>
            </a:pPr>
            <a:r>
              <a:rPr sz="3000" b="0" i="0">
                <a:solidFill>
                  <a:srgbClr val="104A43"/>
                </a:solidFill>
                <a:latin typeface="Noto Nastaliq Urdu"/>
                <a:cs typeface="Noto Nastaliq Urdu"/>
              </a:rPr>
              <a:t>سیدنا عمر الفاروق ؓ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10512"/>
            <a:ext cx="10607040" cy="566928"/>
          </a:xfrm>
          <a:prstGeom prst="rect">
            <a:avLst/>
          </a:prstGeom>
          <a:solidFill>
            <a:srgbClr val="C49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83664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0A322E"/>
                </a:solidFill>
                <a:latin typeface="Segoe UI"/>
              </a:rPr>
              <a:t>AL-FARUQ — the one who separates truth from falsehood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182880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70000"/>
              </a:lnSpc>
            </a:pPr>
            <a:r>
              <a:rPr sz="2000" b="0" i="0">
                <a:solidFill>
                  <a:srgbClr val="0A322E"/>
                </a:solidFill>
                <a:latin typeface="Noto Nastaliq Urdu"/>
                <a:cs typeface="Noto Nastaliq Urdu"/>
              </a:rPr>
              <a:t>الفاروق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33472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5A6862"/>
                </a:solidFill>
                <a:latin typeface="Segoe UI"/>
              </a:rPr>
              <a:t>SECOND CALIPH  ·  COMES BACK IN SESSION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0896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1C2321"/>
                </a:solidFill>
                <a:latin typeface="Georgia"/>
              </a:rPr>
              <a:t>In his time Persia was ended and Byzantium lost Syria and Egypt — and he built the</a:t>
            </a:r>
          </a:p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1C2321"/>
                </a:solidFill>
                <a:latin typeface="Georgia"/>
              </a:rPr>
              <a:t>administration that governed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315968"/>
            <a:ext cx="1463040" cy="25400"/>
          </a:xfrm>
          <a:prstGeom prst="rect">
            <a:avLst/>
          </a:prstGeom>
          <a:solidFill>
            <a:srgbClr val="C49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4805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A6862"/>
                </a:solidFill>
                <a:latin typeface="Segoe UI"/>
              </a:rPr>
              <a:t>ONE INCIDENT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09744"/>
            <a:ext cx="106070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0A322E"/>
                </a:solidFill>
                <a:latin typeface="Georgia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053328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04A43"/>
                </a:solidFill>
                <a:latin typeface="Segoe UI"/>
              </a:rPr>
              <a:t>[SOURCE: Siyar A'lam al-Nubala — dates and one incident, read off the page]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4A43"/>
                </a:solidFill>
                <a:latin typeface="Segoe UI"/>
              </a:rPr>
              <a:t>WHO YOU ARE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6012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104A43"/>
                </a:solidFill>
                <a:latin typeface="Georgia"/>
              </a:rPr>
              <a:t>Hulagu Khan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91440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90000"/>
              </a:lnSpc>
            </a:pPr>
            <a:r>
              <a:rPr sz="3000" b="0" i="0">
                <a:solidFill>
                  <a:srgbClr val="104A43"/>
                </a:solidFill>
                <a:latin typeface="Noto Nastaliq Urdu"/>
                <a:cs typeface="Noto Nastaliq Urdu"/>
              </a:rPr>
              <a:t>ہلاکو خان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33472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5A6862"/>
                </a:solidFill>
                <a:latin typeface="Segoe UI"/>
              </a:rPr>
              <a:t>COMES BACK IN SESSION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10896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1C2321"/>
                </a:solidFill>
                <a:latin typeface="Georgia"/>
              </a:rPr>
              <a:t>The Mongol commander who took Baghdad in 656 AH and ended the Abbasid caliphate there.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315968"/>
            <a:ext cx="1463040" cy="25400"/>
          </a:xfrm>
          <a:prstGeom prst="rect">
            <a:avLst/>
          </a:prstGeom>
          <a:solidFill>
            <a:srgbClr val="C49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4805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A6862"/>
                </a:solidFill>
                <a:latin typeface="Segoe UI"/>
              </a:rPr>
              <a:t>ONE INCIDENT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809744"/>
            <a:ext cx="106070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0A322E"/>
                </a:solidFill>
                <a:latin typeface="Georgia"/>
              </a:rPr>
              <a:t>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053328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04A43"/>
                </a:solidFill>
                <a:latin typeface="Segoe UI"/>
              </a:rPr>
              <a:t>[SOURCE: the Mongol volume]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4A43"/>
                </a:solidFill>
                <a:latin typeface="Segoe UI"/>
              </a:rPr>
              <a:t>WHO YOU ARE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6012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104A43"/>
                </a:solidFill>
                <a:latin typeface="Georgia"/>
              </a:rPr>
              <a:t>Mehmed the Conqueror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91440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90000"/>
              </a:lnSpc>
            </a:pPr>
            <a:r>
              <a:rPr sz="3000" b="0" i="0">
                <a:solidFill>
                  <a:srgbClr val="104A43"/>
                </a:solidFill>
                <a:latin typeface="Noto Nastaliq Urdu"/>
                <a:cs typeface="Noto Nastaliq Urdu"/>
              </a:rPr>
              <a:t>سلطان محمد فاتح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33472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5A6862"/>
                </a:solidFill>
                <a:latin typeface="Segoe UI"/>
              </a:rPr>
              <a:t>COMES BACK IN SESSION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10896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1C2321"/>
                </a:solidFill>
                <a:latin typeface="Georgia"/>
              </a:rPr>
              <a:t>Took Constantinople in 1453, thirty-nine years before Granada was lost in the west.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315968"/>
            <a:ext cx="1463040" cy="25400"/>
          </a:xfrm>
          <a:prstGeom prst="rect">
            <a:avLst/>
          </a:prstGeom>
          <a:solidFill>
            <a:srgbClr val="C49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4805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A6862"/>
                </a:solidFill>
                <a:latin typeface="Segoe UI"/>
              </a:rPr>
              <a:t>ONE INCIDENT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809744"/>
            <a:ext cx="106070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0A322E"/>
                </a:solidFill>
                <a:latin typeface="Georgia"/>
              </a:rPr>
              <a:t>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053328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04A43"/>
                </a:solidFill>
                <a:latin typeface="Segoe UI"/>
              </a:rPr>
              <a:t>[SOURCE: no work on the shelf reaches the Ottomans — blocked until a volume arrives]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4A43"/>
                </a:solidFill>
                <a:latin typeface="Segoe UI"/>
              </a:rPr>
              <a:t>HOW DO WE KNOW ANY OF THIS?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0" i="0">
                <a:solidFill>
                  <a:srgbClr val="104A43"/>
                </a:solidFill>
                <a:latin typeface="Georgia"/>
              </a:rPr>
              <a:t>Two ways of knowing the past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10607040" cy="36576"/>
          </a:xfrm>
          <a:prstGeom prst="rect">
            <a:avLst/>
          </a:prstGeom>
          <a:solidFill>
            <a:srgbClr val="C49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 i="0">
                <a:solidFill>
                  <a:srgbClr val="5A6862"/>
                </a:solidFill>
                <a:latin typeface="Georgia"/>
              </a:rPr>
              <a:t>The modern method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971800"/>
            <a:ext cx="49377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5A6862"/>
                </a:solidFill>
                <a:latin typeface="Georgia"/>
              </a:rPr>
              <a:t>Dig, infer, connect the dots.</a:t>
            </a:r>
          </a:p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5A6862"/>
                </a:solidFill>
                <a:latin typeface="Georgia"/>
              </a:rPr>
              <a:t>No chain of transmission.</a:t>
            </a:r>
          </a:p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5A6862"/>
                </a:solidFill>
                <a:latin typeface="Georgia"/>
              </a:rPr>
              <a:t>No rule for accepting or</a:t>
            </a:r>
          </a:p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5A6862"/>
                </a:solidFill>
                <a:latin typeface="Georgia"/>
              </a:rPr>
              <a:t>rejecting a report.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228600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 i="0">
                <a:solidFill>
                  <a:srgbClr val="104A43"/>
                </a:solidFill>
                <a:latin typeface="Georgia"/>
              </a:rPr>
              <a:t>The Islamic method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971800"/>
            <a:ext cx="49377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0A322E"/>
                </a:solidFill>
                <a:latin typeface="Georgia"/>
              </a:rPr>
              <a:t>Every report carries a chain</a:t>
            </a:r>
          </a:p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0A322E"/>
                </a:solidFill>
                <a:latin typeface="Georgia"/>
              </a:rPr>
              <a:t>back to an eyewitness — and</a:t>
            </a:r>
          </a:p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0A322E"/>
                </a:solidFill>
                <a:latin typeface="Georgia"/>
              </a:rPr>
              <a:t>every narrator in that chain</a:t>
            </a:r>
          </a:p>
          <a:p>
            <a:pPr algn="l">
              <a:lnSpc>
                <a:spcPct val="145000"/>
              </a:lnSpc>
            </a:pPr>
            <a:r>
              <a:rPr sz="2100" b="0" i="0">
                <a:solidFill>
                  <a:srgbClr val="0A322E"/>
                </a:solidFill>
                <a:latin typeface="Georgia"/>
              </a:rPr>
              <a:t>has a documented life.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34924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 i="1">
                <a:solidFill>
                  <a:srgbClr val="7A2E2E"/>
                </a:solidFill>
                <a:latin typeface="Georgia"/>
              </a:rPr>
              <a:t>So when you hear “there is no historical basis for that” — ask which method is speaking.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4A43"/>
                </a:solidFill>
                <a:latin typeface="Segoe UI"/>
              </a:rPr>
              <a:t>HOW A FORGERY DIES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40000"/>
              </a:lnSpc>
            </a:pPr>
            <a:r>
              <a:rPr sz="3600" b="0" i="0">
                <a:solidFill>
                  <a:srgbClr val="0A322E"/>
                </a:solidFill>
                <a:latin typeface="Traditional Arabic"/>
                <a:cs typeface="Traditional Arabic"/>
              </a:rPr>
              <a:t>لَمَّا اسْتَعْمَلَ الرُّوَاةُ الْكَذِبَ اسْتَعْمَلْنَاهُمُ التَّارِيخَ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017520"/>
            <a:ext cx="9784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5000"/>
              </a:lnSpc>
            </a:pPr>
            <a:r>
              <a:rPr sz="2500" b="0" i="1">
                <a:solidFill>
                  <a:srgbClr val="1C2321"/>
                </a:solidFill>
                <a:latin typeface="Georgia"/>
              </a:rPr>
              <a:t>“When narrators began inventing, we used dates against them.”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891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90000"/>
              </a:lnSpc>
            </a:pPr>
            <a:r>
              <a:rPr sz="2400" b="0" i="0">
                <a:solidFill>
                  <a:srgbClr val="5A6862"/>
                </a:solidFill>
                <a:latin typeface="Noto Nastaliq Urdu"/>
                <a:cs typeface="Noto Nastaliq Urdu"/>
              </a:rPr>
              <a:t>جب راوی جھوٹی روایتیں گھڑنے لگے تو ہم نے تاریخ سے کام لیا</a:t>
            </a:r>
          </a:p>
        </p:txBody>
      </p:sp>
      <p:sp>
        <p:nvSpPr>
          <p:cNvPr id="7" name="Rectangle 6"/>
          <p:cNvSpPr/>
          <p:nvPr/>
        </p:nvSpPr>
        <p:spPr>
          <a:xfrm>
            <a:off x="5394960" y="5458968"/>
            <a:ext cx="1371600" cy="19050"/>
          </a:xfrm>
          <a:prstGeom prst="rect">
            <a:avLst/>
          </a:prstGeom>
          <a:solidFill>
            <a:srgbClr val="C49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59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104A43"/>
                </a:solidFill>
                <a:latin typeface="Segoe UI"/>
              </a:rPr>
              <a:t>SUFYAN AL-THAWRI  ·  TAREEKH-E-UMMAT, MUQADDIMA, p.57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4A43"/>
                </a:solidFill>
                <a:latin typeface="Segoe UI"/>
              </a:rPr>
              <a:t>آج کی بات  ·  TODAY'S POINT — NOT MINE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60120"/>
            <a:ext cx="6858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 i="0">
                <a:solidFill>
                  <a:srgbClr val="104A43"/>
                </a:solidFill>
                <a:latin typeface="Georgia"/>
              </a:rPr>
              <a:t>Shams-ul-Haq Afghani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0" y="914400"/>
            <a:ext cx="4480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90000"/>
              </a:lnSpc>
            </a:pPr>
            <a:r>
              <a:rPr sz="2400" b="0" i="0">
                <a:solidFill>
                  <a:srgbClr val="104A43"/>
                </a:solidFill>
                <a:latin typeface="Noto Nastaliq Urdu"/>
                <a:cs typeface="Noto Nastaliq Urdu"/>
              </a:rPr>
              <a:t>مولانا شمس الحق افغانی رحمہ اللہ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 i="1">
                <a:solidFill>
                  <a:srgbClr val="5A6862"/>
                </a:solidFill>
                <a:latin typeface="Georgia"/>
              </a:rPr>
              <a:t>Four things a people needs in order to rise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33172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C49A45"/>
                </a:solidFill>
                <a:latin typeface="Segoe U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331720"/>
            <a:ext cx="5669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0A322E"/>
                </a:solidFill>
                <a:latin typeface="Georgia"/>
              </a:rPr>
              <a:t>Connection to its own past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2276856"/>
            <a:ext cx="4297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80000"/>
              </a:lnSpc>
            </a:pPr>
            <a:r>
              <a:rPr sz="2200" b="0" i="0">
                <a:solidFill>
                  <a:srgbClr val="0A322E"/>
                </a:solidFill>
                <a:latin typeface="Noto Nastaliq Urdu"/>
                <a:cs typeface="Noto Nastaliq Urdu"/>
              </a:rPr>
              <a:t>ماضی سے ارتباط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044952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C49A45"/>
                </a:solidFill>
                <a:latin typeface="Sego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044952"/>
            <a:ext cx="5669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 i="0">
                <a:solidFill>
                  <a:srgbClr val="1C2321"/>
                </a:solidFill>
                <a:latin typeface="Georgia"/>
              </a:rPr>
              <a:t>Unity of thought and action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2990088"/>
            <a:ext cx="4297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80000"/>
              </a:lnSpc>
            </a:pPr>
            <a:r>
              <a:rPr sz="2200" b="0" i="0">
                <a:solidFill>
                  <a:srgbClr val="5A6862"/>
                </a:solidFill>
                <a:latin typeface="Noto Nastaliq Urdu"/>
                <a:cs typeface="Noto Nastaliq Urdu"/>
              </a:rPr>
              <a:t>وحدتِ فکر و عمل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758183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C49A45"/>
                </a:solidFill>
                <a:latin typeface="Segoe U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758183"/>
            <a:ext cx="5669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 i="0">
                <a:solidFill>
                  <a:srgbClr val="1C2321"/>
                </a:solidFill>
                <a:latin typeface="Georgia"/>
              </a:rPr>
              <a:t>Building the means of strength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3703320"/>
            <a:ext cx="4297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80000"/>
              </a:lnSpc>
            </a:pPr>
            <a:r>
              <a:rPr sz="2200" b="0" i="0">
                <a:solidFill>
                  <a:srgbClr val="5A6862"/>
                </a:solidFill>
                <a:latin typeface="Noto Nastaliq Urdu"/>
                <a:cs typeface="Noto Nastaliq Urdu"/>
              </a:rPr>
              <a:t>فراہمیِ اسبابِ قوت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471416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C49A45"/>
                </a:solidFill>
                <a:latin typeface="Segoe U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471416"/>
            <a:ext cx="5669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 i="0">
                <a:solidFill>
                  <a:srgbClr val="1C2321"/>
                </a:solidFill>
                <a:latin typeface="Georgia"/>
              </a:rPr>
              <a:t>Sustained effort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4416552"/>
            <a:ext cx="4297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80000"/>
              </a:lnSpc>
            </a:pPr>
            <a:r>
              <a:rPr sz="2200" b="0" i="0">
                <a:solidFill>
                  <a:srgbClr val="5A6862"/>
                </a:solidFill>
                <a:latin typeface="Noto Nastaliq Urdu"/>
                <a:cs typeface="Noto Nastaliq Urdu"/>
              </a:rPr>
              <a:t>جہدِ مسلسل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4406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04A43"/>
                </a:solidFill>
                <a:latin typeface="Segoe UI"/>
              </a:rPr>
              <a:t>TAREEKH-E-UMMAT, MUQADDIMA, p.53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3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49A45"/>
                </a:solidFill>
                <a:latin typeface="Segoe UI"/>
              </a:rPr>
              <a:t>اگلے ہفتے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1051560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5200" b="0" i="0">
                <a:solidFill>
                  <a:srgbClr val="FAF7F0"/>
                </a:solidFill>
                <a:latin typeface="Georgia"/>
              </a:rPr>
              <a:t>Next week: twelve years.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60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 i="1">
                <a:solidFill>
                  <a:srgbClr val="C49A45"/>
                </a:solidFill>
                <a:latin typeface="Georgia"/>
              </a:rPr>
              <a:t>632 to 644. All of it inside that one narrow bracket.</a:t>
            </a:r>
          </a:p>
        </p:txBody>
      </p:sp>
      <p:pic>
        <p:nvPicPr>
          <p:cNvPr id="6" name="Picture 5" descr="line_s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053328"/>
            <a:ext cx="11091672" cy="117078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04A43"/>
                </a:solidFill>
                <a:latin typeface="Segoe UI"/>
              </a:rPr>
              <a:t>SOURCES  ·  SHOW ONLY IF ASKED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</a:pPr>
            <a:r>
              <a:rPr sz="2400" b="0" i="0">
                <a:solidFill>
                  <a:srgbClr val="1C2321"/>
                </a:solidFill>
                <a:latin typeface="Georgia"/>
              </a:rPr>
              <a:t>Tareekh-e-Ummat</a:t>
            </a:r>
          </a:p>
          <a:p>
            <a:pPr algn="l">
              <a:lnSpc>
                <a:spcPct val="160000"/>
              </a:lnSpc>
            </a:pPr>
            <a:r>
              <a:rPr sz="2400" b="0" i="0">
                <a:solidFill>
                  <a:srgbClr val="1C2321"/>
                </a:solidFill>
                <a:latin typeface="Georgia"/>
              </a:rPr>
              <a:t>Maulana Muhammad Ismail Rehan  —  muqaddima, pp. 53, 57</a:t>
            </a:r>
          </a:p>
          <a:p>
            <a:pPr algn="l">
              <a:lnSpc>
                <a:spcPct val="160000"/>
              </a:lnSpc>
            </a:pPr>
            <a:r>
              <a:rPr sz="2400" b="0" i="0">
                <a:solidFill>
                  <a:srgbClr val="1C2321"/>
                </a:solidFill>
                <a:latin typeface="Georgia"/>
              </a:rPr>
              <a:t/>
            </a:r>
          </a:p>
          <a:p>
            <a:pPr algn="l">
              <a:lnSpc>
                <a:spcPct val="160000"/>
              </a:lnSpc>
            </a:pPr>
            <a:r>
              <a:rPr sz="2400" b="0" i="0">
                <a:solidFill>
                  <a:srgbClr val="1C2321"/>
                </a:solidFill>
                <a:latin typeface="Georgia"/>
              </a:rPr>
              <a:t>al-I'lan bi'l-Tawbikh</a:t>
            </a:r>
          </a:p>
          <a:p>
            <a:pPr algn="l">
              <a:lnSpc>
                <a:spcPct val="160000"/>
              </a:lnSpc>
            </a:pPr>
            <a:r>
              <a:rPr sz="2400" b="0" i="0">
                <a:solidFill>
                  <a:srgbClr val="1C2321"/>
                </a:solidFill>
                <a:latin typeface="Georgia"/>
              </a:rPr>
              <a:t>al-Sakhawi  —  p. 111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9377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 i="1">
                <a:solidFill>
                  <a:srgbClr val="7A2E2E"/>
                </a:solidFill>
                <a:latin typeface="Georgia"/>
              </a:rPr>
              <a:t>Every claim tonight traces to a printed page you could open yourself.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