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 AGHAZ (3 min). Names into workbooks first - 30 real seconds, do not talk over it.</a:t>
            </a:r>
          </a:p>
          <a:p>
            <a:r>
              <a:t>THEN THE NARRATOR PARAGRAPH - do not skip, do not rush. 'I am not a historian, I read a book.'</a:t>
            </a:r>
          </a:p>
          <a:p>
            <a:r>
              <a:t>This is your shield for ten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0:03 OPENING SCENE (5 min). STAND STILL. No map, no movement. Tell Baghdad plainly.</a:t>
            </a:r>
          </a:p>
          <a:p>
            <a:r>
              <a:t>[SOURCE: the Mongol volume - the taking of Baghdad in 656, the caliph's name, and what the</a:t>
            </a:r>
          </a:p>
          <a:p>
            <a:r>
              <a:t>chroniclers record of the libraries. Say nothing the book does not say.]</a:t>
            </a:r>
          </a:p>
          <a:p>
            <a:r>
              <a:t>END: walk to the banner, mark ONE filled square at 656. 'aap bhi yehi nishaan laga lijiye'.</a:t>
            </a:r>
          </a:p>
          <a:p>
            <a:r>
              <a:t>PEN-DOWN 1. Then the two questions - DO NOT ANSWER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the banner, not the screen. The screen is scaffolding; the banner is the object.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1. One city. Nobody expects what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2. THE striking fact of the course. Say it slowly. Draw BOTH arrows.</a:t>
            </a:r>
          </a:p>
          <a:p>
            <a:r>
              <a:t>PEN-DOWN 2: 'do teer kheenchiye - ek maghrib, ek mashriq'. [verify 92-93 AH]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3. Two capitals at once. [trim to one sentence first if running long]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4. Now the opening mark gets its meaning. The civilisation survived because the</a:t>
            </a:r>
          </a:p>
          <a:p>
            <a:r>
              <a:t>books and the scholars had already moved. PEN-DOWN 3.</a:t>
            </a:r>
          </a:p>
          <a:p>
            <a:r>
              <a:t>[SOURCE: what actually survived 656 and where it went]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5. The recovery. [verify 857]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6. Sober, no politics. PEN-DOWN 4 - the last mark.</a:t>
            </a:r>
          </a:p>
          <a:p>
            <a:r>
              <a:t>If asked about 1924 -&gt; SEVENTH session. About 1947 -&gt; NINTH. Do not mix them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0:28 TAARUF (7 min). SAY FIRST: all three get their own session; tonight is introduction only.</a:t>
            </a:r>
          </a:p>
          <a:p>
            <a:r>
              <a:t>READ EACH FROM THE PRINTED CARD - never from memory.</a:t>
            </a:r>
          </a:p>
          <a:p>
            <a:r>
              <a:t>WARNING: Hulagu's waqi'a must NOT be the fall of Baghdad - that was tonight's opening scene.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lines, read from the card: naam o nasab / sunain / one sentence / EK WAQI'A.</a:t>
            </a:r>
          </a:p>
          <a:p>
            <a:r>
              <a:t>[SOURCE: all four lines. The laqab field stays EMPTY until read off the page.]</a:t>
            </a:r>
          </a:p>
          <a:p>
            <a:r>
              <a:t>Workbook prints the first three and leaves 'ek waqi'a' blank for them to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lines, read from the card: naam o nasab / sunain / one sentence / EK WAQI'A.</a:t>
            </a:r>
          </a:p>
          <a:p>
            <a:r>
              <a:t>[SOURCE: all four lines. The laqab field stays EMPTY until read off the page.]</a:t>
            </a:r>
          </a:p>
          <a:p>
            <a:r>
              <a:t>Workbook prints the first three and leaves 'ek waqi'a' blank for them to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lines, read from the card: naam o nasab / sunain / one sentence / EK WAQI'A.</a:t>
            </a:r>
          </a:p>
          <a:p>
            <a:r>
              <a:t>[SOURCE: all four lines. The laqab field stays EMPTY until read off the page.]</a:t>
            </a:r>
          </a:p>
          <a:p>
            <a:r>
              <a:t>Workbook prints the first three and leaves 'ek waqi'a' blank for them to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 (3 min). FIRST the demonstration, THEN the slide.</a:t>
            </a:r>
          </a:p>
          <a:p>
            <a:r>
              <a:t>'Suppose someone says Muhammad al-Fatih wrote a letter to Hulagu.' Point at THEIR OWN sheet.</a:t>
            </a:r>
          </a:p>
          <a:p>
            <a:r>
              <a:t>Two centuries apart. Done. No Arabic needed, no isnad needed - the timeline alone killed it.</a:t>
            </a:r>
          </a:p>
          <a:p>
            <a:r>
              <a:t>THEN put this up, read once, STOP. Teach no further method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0:38 (4 min). The slide is headed by the ATTRIBUTION, not the claim. It is not your view.</a:t>
            </a:r>
          </a:p>
          <a:p>
            <a:r>
              <a:t>[SOURCE: exact wording of the four + the reference the book gives - read by eye]</a:t>
            </a:r>
          </a:p>
          <a:p>
            <a:r>
              <a:t>Read the four. ONE sentence of connection: 'pehli cheez maazi se irtibaat hai, baaqi teenon</a:t>
            </a:r>
          </a:p>
          <a:p>
            <a:r>
              <a:t>isi par khari hain.' THEN STOP.</a:t>
            </a:r>
          </a:p>
          <a:p>
            <a:r>
              <a:t>90 SECONDS OF SILENCE while they write. Two volunteers max. Say 'shukriya' and NOTHING else -</a:t>
            </a:r>
          </a:p>
          <a:p>
            <a:r>
              <a:t>do not improve or build on what they said.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0:42 (3 min). Hold up the workbook: 'yehi ek cheez agle hafte saath laani hai.'</a:t>
            </a:r>
          </a:p>
          <a:p>
            <a:r>
              <a:t>Draw a bracket on the banner around 11-23 AH so they SEE how narrow next week is.</a:t>
            </a:r>
          </a:p>
          <a:p>
            <a:r>
              <a:t>Say the take-home question ONCE, slowly, write it on the banner, and LEAVE IT UNANSWERED.</a:t>
            </a:r>
          </a:p>
          <a:p>
            <a:r>
              <a:t>(want: 'kab? aur kis ne kaha?')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for credibility. Show only if someone asks where something came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6000" b="0">
                <a:solidFill>
                  <a:srgbClr val="FAF7F0"/>
                </a:solidFill>
                <a:latin typeface="Georgia"/>
                <a:cs typeface="Jameel Noori Nastaleeq"/>
              </a:rPr>
              <a:t>تاریخ سے سبق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C49A45"/>
                </a:solidFill>
                <a:latin typeface="Georgia"/>
                <a:cs typeface="Jameel Noori Nastaleeq"/>
              </a:rPr>
              <a:t>Lessons from History  ·  نشست ۱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977639"/>
            <a:ext cx="292608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0">
                <a:solidFill>
                  <a:srgbClr val="FAF7F0"/>
                </a:solidFill>
                <a:latin typeface="Georgia"/>
                <a:cs typeface="Traditional Arabic"/>
              </a:rPr>
              <a:t>وَأَسْبَابِ مَبَادِئِ الدُّوَلِ وَإِقْبَالِهَا، ثُمَّ سَبَبِ انْقِرَاضِهَا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500" b="0">
                <a:solidFill>
                  <a:srgbClr val="C49A45"/>
                </a:solidFill>
                <a:latin typeface="Georgia"/>
                <a:cs typeface="Jameel Noori Nastaleeq"/>
              </a:rPr>
              <a:t>علامہ سخاوی رحمہ اللہ  ·  الإعلان بالتوبيخ، ص۱۱۱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0" b="0">
                <a:solidFill>
                  <a:srgbClr val="C49A45"/>
                </a:solidFill>
                <a:latin typeface="Georgia"/>
                <a:cs typeface="Jameel Noori Nastaleeq"/>
              </a:rPr>
              <a:t>۶۵۶ھ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THE LINE  ·  وقت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0">
                <a:solidFill>
                  <a:srgbClr val="104A43"/>
                </a:solidFill>
                <a:latin typeface="Georgia"/>
                <a:cs typeface="Jameel Noori Nastaleeq"/>
              </a:rPr>
              <a:t>۱۱ھ ← ۱۹۴۷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>آٹھ نشان  ·  چودہ سو سال  ·  ایک شام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49A45"/>
                </a:solidFill>
                <a:latin typeface="Georgia"/>
                <a:cs typeface="Jameel Noori Nastaleeq"/>
              </a:rPr>
              <a:t>۱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82880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4800" b="0">
                <a:solidFill>
                  <a:srgbClr val="104A43"/>
                </a:solidFill>
                <a:latin typeface="Georgia"/>
                <a:cs typeface="Jameel Noori Nastaleeq"/>
              </a:rPr>
              <a:t>مدینہ، ۱۱ھ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600" b="0">
                <a:solidFill>
                  <a:srgbClr val="1C2321"/>
                </a:solidFill>
                <a:latin typeface="Georgia"/>
                <a:cs typeface="Jameel Noori Nastaleeq"/>
              </a:rPr>
              <a:t>ایک شہر، ایک نسل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49A45"/>
                </a:solidFill>
                <a:latin typeface="Georgia"/>
                <a:cs typeface="Jameel Noori Nastaleeq"/>
              </a:rPr>
              <a:t>۲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82880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4800" b="0">
                <a:solidFill>
                  <a:srgbClr val="104A43"/>
                </a:solidFill>
                <a:latin typeface="Georgia"/>
                <a:cs typeface="Jameel Noori Nastaleeq"/>
              </a:rPr>
              <a:t>اندلس اور سندھ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600" b="0">
                <a:solidFill>
                  <a:srgbClr val="1C2321"/>
                </a:solidFill>
                <a:latin typeface="Georgia"/>
                <a:cs typeface="Jameel Noori Nastaleeq"/>
              </a:rPr>
              <a:t>ایک ہی دہائی میں — مغرب اور مشرق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49A45"/>
                </a:solidFill>
                <a:latin typeface="Georgia"/>
                <a:cs typeface="Jameel Noori Nastaleeq"/>
              </a:rPr>
              <a:t>۳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82880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4800" b="0">
                <a:solidFill>
                  <a:srgbClr val="104A43"/>
                </a:solidFill>
                <a:latin typeface="Georgia"/>
                <a:cs typeface="Jameel Noori Nastaleeq"/>
              </a:rPr>
              <a:t>بغداد اور قرطبہ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600" b="0">
                <a:solidFill>
                  <a:srgbClr val="1C2321"/>
                </a:solidFill>
                <a:latin typeface="Georgia"/>
                <a:cs typeface="Jameel Noori Nastaleeq"/>
              </a:rPr>
              <a:t>ایک ہی صدیوں میں دو مرکز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49A45"/>
                </a:solidFill>
                <a:latin typeface="Georgia"/>
                <a:cs typeface="Jameel Noori Nastaleeq"/>
              </a:rPr>
              <a:t>۴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82880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4800" b="0">
                <a:solidFill>
                  <a:srgbClr val="104A43"/>
                </a:solidFill>
                <a:latin typeface="Georgia"/>
                <a:cs typeface="Jameel Noori Nastaleeq"/>
              </a:rPr>
              <a:t>ٹوٹ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600" b="0">
                <a:solidFill>
                  <a:srgbClr val="1C2321"/>
                </a:solidFill>
                <a:latin typeface="Georgia"/>
                <a:cs typeface="Jameel Noori Nastaleeq"/>
              </a:rPr>
              <a:t>بغداد گیا — کتابیں قاہرہ چلی گئیں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49A45"/>
                </a:solidFill>
                <a:latin typeface="Georgia"/>
                <a:cs typeface="Jameel Noori Nastaleeq"/>
              </a:rPr>
              <a:t>۵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82880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4800" b="0">
                <a:solidFill>
                  <a:srgbClr val="104A43"/>
                </a:solidFill>
                <a:latin typeface="Georgia"/>
                <a:cs typeface="Jameel Noori Nastaleeq"/>
              </a:rPr>
              <a:t>قسطنطنیہ، ۸۵۷ھ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600" b="0">
                <a:solidFill>
                  <a:srgbClr val="1C2321"/>
                </a:solidFill>
                <a:latin typeface="Georgia"/>
                <a:cs typeface="Jameel Noori Nastaleeq"/>
              </a:rPr>
              <a:t>اور مشرق میں سندھ سے دہلی تک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C49A45"/>
                </a:solidFill>
                <a:latin typeface="Georgia"/>
                <a:cs typeface="Jameel Noori Nastaleeq"/>
              </a:rPr>
              <a:t>۶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82880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4800" b="0">
                <a:solidFill>
                  <a:srgbClr val="104A43"/>
                </a:solidFill>
                <a:latin typeface="Georgia"/>
                <a:cs typeface="Jameel Noori Nastaleeq"/>
              </a:rPr>
              <a:t>۱۹۲۴ … ۱۹۴۷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600" b="0">
                <a:solidFill>
                  <a:srgbClr val="1C2321"/>
                </a:solidFill>
                <a:latin typeface="Georgia"/>
                <a:cs typeface="Jameel Noori Nastaleeq"/>
              </a:rPr>
              <a:t>زوال، اور پھر — یہاں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4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0">
                <a:solidFill>
                  <a:srgbClr val="FAF7F0"/>
                </a:solidFill>
                <a:latin typeface="Georgia"/>
                <a:cs typeface="Jameel Noori Nastaleeq"/>
              </a:rPr>
              <a:t>تعارف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0233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0">
                <a:solidFill>
                  <a:srgbClr val="C49A45"/>
                </a:solidFill>
                <a:latin typeface="Georgia"/>
                <a:cs typeface="Jameel Noori Nastaleeq"/>
              </a:rPr>
              <a:t>تین لوگ  ·  تینوں کی اپنی نشست آ رہی ہے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4600" b="0">
                <a:solidFill>
                  <a:srgbClr val="104A43"/>
                </a:solidFill>
                <a:latin typeface="Georgia"/>
                <a:cs typeface="Jameel Noori Nastaleeq"/>
              </a:rPr>
              <a:t>سیدنا عمر الفاروق ؓ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0" y="3566160"/>
            <a:ext cx="256032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0">
                <a:solidFill>
                  <a:srgbClr val="C49A45"/>
                </a:solidFill>
                <a:latin typeface="Georgia"/>
                <a:cs typeface="Jameel Noori Nastaleeq"/>
              </a:rPr>
              <a:t>اگلے ہفتے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4600" b="0">
                <a:solidFill>
                  <a:srgbClr val="104A43"/>
                </a:solidFill>
                <a:latin typeface="Georgia"/>
                <a:cs typeface="Jameel Noori Nastaleeq"/>
              </a:rPr>
              <a:t>ہلاکو خان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0" y="3566160"/>
            <a:ext cx="256032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0">
                <a:solidFill>
                  <a:srgbClr val="C49A45"/>
                </a:solidFill>
                <a:latin typeface="Georgia"/>
                <a:cs typeface="Jameel Noori Nastaleeq"/>
              </a:rPr>
              <a:t>چھٹی نشست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4600" b="0">
                <a:solidFill>
                  <a:srgbClr val="104A43"/>
                </a:solidFill>
                <a:latin typeface="Georgia"/>
                <a:cs typeface="Jameel Noori Nastaleeq"/>
              </a:rPr>
              <a:t>سلطان محمد فاتح</a:t>
            </a:r>
          </a:p>
        </p:txBody>
      </p:sp>
      <p:sp>
        <p:nvSpPr>
          <p:cNvPr id="4" name="Rectangle 3"/>
          <p:cNvSpPr/>
          <p:nvPr/>
        </p:nvSpPr>
        <p:spPr>
          <a:xfrm>
            <a:off x="8778240" y="3566160"/>
            <a:ext cx="2560320" cy="25400"/>
          </a:xfrm>
          <a:prstGeom prst="rect">
            <a:avLst/>
          </a:prstGeom>
          <a:solidFill>
            <a:srgbClr val="C49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200" b="0">
                <a:solidFill>
                  <a:srgbClr val="C49A45"/>
                </a:solidFill>
                <a:latin typeface="Georgia"/>
                <a:cs typeface="Jameel Noori Nastaleeq"/>
              </a:rPr>
              <a:t>ساتویں نشست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کیسے پتا چلا؟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4000" b="0">
                <a:solidFill>
                  <a:srgbClr val="0A322E"/>
                </a:solidFill>
                <a:latin typeface="Georgia"/>
                <a:cs typeface="Traditional Arabic"/>
              </a:rPr>
              <a:t>لَمَّا اسْتَعْمَلَ الرُّوَاةُ الْكَذِبَ اسْتَعْمَلْنَاهُمُ التَّارِيخَ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>جب راوی جھوٹی روایتیں گھڑنے لگے تو ہم نے اُن کی جانچ کے لیے تاریخ سے کام لیا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0">
                <a:solidFill>
                  <a:srgbClr val="104A43"/>
                </a:solidFill>
                <a:latin typeface="Georgia"/>
                <a:cs typeface="Jameel Noori Nastaleeq"/>
              </a:rPr>
              <a:t>سفیان ثوری رحمہ اللہ  ·  تاریخِ امت، مقدمہ، ص۵۷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آج کی بات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0">
                <a:solidFill>
                  <a:srgbClr val="104A43"/>
                </a:solidFill>
                <a:latin typeface="Georgia"/>
                <a:cs typeface="Jameel Noori Nastaleeq"/>
              </a:rPr>
              <a:t>مولانا شمس الحق افغانی رحمہ اللہ فرماتے ہیں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70000"/>
              </a:lnSpc>
            </a:pPr>
            <a:r>
              <a:rPr sz="3400" b="0">
                <a:solidFill>
                  <a:srgbClr val="1C2321"/>
                </a:solidFill>
                <a:latin typeface="Georgia"/>
                <a:cs typeface="Jameel Noori Nastaleeq"/>
              </a:rPr>
              <a:t>ماضی سے ارتباط</a:t>
            </a:r>
          </a:p>
          <a:p>
            <a:pPr algn="r" rtl="1">
              <a:lnSpc>
                <a:spcPct val="170000"/>
              </a:lnSpc>
            </a:pPr>
            <a:r>
              <a:rPr sz="3400" b="0">
                <a:solidFill>
                  <a:srgbClr val="1C2321"/>
                </a:solidFill>
                <a:latin typeface="Georgia"/>
                <a:cs typeface="Jameel Noori Nastaleeq"/>
              </a:rPr>
              <a:t>وحدتِ فکر و عمل</a:t>
            </a:r>
          </a:p>
          <a:p>
            <a:pPr algn="r" rtl="1">
              <a:lnSpc>
                <a:spcPct val="170000"/>
              </a:lnSpc>
            </a:pPr>
            <a:r>
              <a:rPr sz="3400" b="0">
                <a:solidFill>
                  <a:srgbClr val="1C2321"/>
                </a:solidFill>
                <a:latin typeface="Georgia"/>
                <a:cs typeface="Jameel Noori Nastaleeq"/>
              </a:rPr>
              <a:t>فراہمیِ اسبابِ قوت</a:t>
            </a:r>
          </a:p>
          <a:p>
            <a:pPr algn="r" rtl="1">
              <a:lnSpc>
                <a:spcPct val="170000"/>
              </a:lnSpc>
            </a:pPr>
            <a:r>
              <a:rPr sz="3400" b="0">
                <a:solidFill>
                  <a:srgbClr val="1C2321"/>
                </a:solidFill>
                <a:latin typeface="Georgia"/>
                <a:cs typeface="Jameel Noori Nastaleeq"/>
              </a:rPr>
              <a:t>جہدِ مسلسل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600" b="0">
                <a:solidFill>
                  <a:srgbClr val="104A43"/>
                </a:solidFill>
                <a:latin typeface="Georgia"/>
                <a:cs typeface="Jameel Noori Nastaleeq"/>
              </a:rPr>
              <a:t>تاریخِ امت، مقدمہ، ص۵۳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5000" b="0">
                <a:solidFill>
                  <a:srgbClr val="FAF7F0"/>
                </a:solidFill>
                <a:latin typeface="Georgia"/>
                <a:cs typeface="Jameel Noori Nastaleeq"/>
              </a:rPr>
              <a:t>اگلے ہفتے — بارہ سال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000" b="0">
                <a:solidFill>
                  <a:srgbClr val="C49A45"/>
                </a:solidFill>
                <a:latin typeface="Georgia"/>
                <a:cs typeface="Jameel Noori Nastaleeq"/>
              </a:rPr>
              <a:t>۱۱ھ  ←  ۲۳ھ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572000"/>
            <a:ext cx="10515600" cy="127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2600" b="0">
                <a:solidFill>
                  <a:srgbClr val="C49A45"/>
                </a:solidFill>
                <a:latin typeface="Georgia"/>
                <a:cs typeface="Jameel Noori Nastaleeq"/>
              </a:rPr>
              <a:t>کوئی تاریخ کی بات کہے — تو اب آپ سب سے پہلے کیا پوچھیں گے؟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04A43"/>
                </a:solidFill>
                <a:latin typeface="Segoe UI"/>
                <a:cs typeface="Jameel Noori Nastaleeq"/>
              </a:rPr>
              <a:t>SOURCES  ·  show only if asked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6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>تاریخِ امت — مولانا محمد اسماعیل ریحان</a:t>
            </a:r>
          </a:p>
          <a:p>
            <a:pPr algn="r" rtl="1">
              <a:lnSpc>
                <a:spcPct val="16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>مقدمہ، ص۵۳ · ص۵۷</a:t>
            </a:r>
          </a:p>
          <a:p>
            <a:pPr algn="r" rtl="1">
              <a:lnSpc>
                <a:spcPct val="16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/>
            </a:r>
          </a:p>
          <a:p>
            <a:pPr algn="r" rtl="1">
              <a:lnSpc>
                <a:spcPct val="160000"/>
              </a:lnSpc>
            </a:pPr>
            <a:r>
              <a:rPr sz="2400" b="0">
                <a:solidFill>
                  <a:srgbClr val="1C2321"/>
                </a:solidFill>
                <a:latin typeface="Georgia"/>
                <a:cs typeface="Jameel Noori Nastaleeq"/>
              </a:rPr>
              <a:t>الإعلان بالتوبيخ — علامہ سخاوی رحمہ اللہ، ص۱۱۱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