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AGHAZ (3 min). Workbooks and pens are already on the chairs.</a:t>
            </a:r>
          </a:p>
          <a:p>
            <a:r>
              <a:t>FIRST INSTRUCTION OF THE COURSE: 'apna naam likh lijiye.' Give a real 30 seconds.</a:t>
            </a:r>
          </a:p>
          <a:p>
            <a:r>
              <a:t>THEN THE NARRATOR PARAGRAPH - do not skip, do not rush:</a:t>
            </a:r>
          </a:p>
          <a:p>
            <a:r>
              <a:t>  'main mu'arrikh nahin hoon. hum ek kitab parh rahe hain - Tareekh-e-Ummat.'</a:t>
            </a:r>
          </a:p>
          <a:p>
            <a:r>
              <a:t>This is your shield for all ten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0:03 OPENING SCENE (5 min). STAND STILL. No map yet. Tell it plainly, do not raise</a:t>
            </a:r>
          </a:p>
          <a:p>
            <a:r>
              <a:t>your voice. [SOURCE: the Mongol volume - the taking of Baghdad, the caliph, and what</a:t>
            </a:r>
          </a:p>
          <a:p>
            <a:r>
              <a:t>the chroniclers record of the libraries. Say nothing the book does not say.]</a:t>
            </a:r>
          </a:p>
          <a:p>
            <a:r>
              <a:t>END: walk to the BANNER and mark one filled square at 656. Room copies it. PEN-DOWN 1.</a:t>
            </a:r>
          </a:p>
          <a:p>
            <a:r>
              <a:t>Then the two questions - AND DO NOT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BANNER, not the screen. They have just marked 656 themselves and can see</a:t>
            </a:r>
          </a:p>
          <a:p>
            <a:r>
              <a:t>blank line on both sides. Let them sit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 THE STORY (20 min) begins here. Six moves, ~3 min each.</a:t>
            </a:r>
          </a:p>
          <a:p>
            <a:r>
              <a:t>Introduce the six anchor cities FIRST - they are the furniture for all ten weeks.</a:t>
            </a:r>
          </a:p>
          <a:p>
            <a:r>
              <a:t>Then walk the arrows: out of Arabia, west to Cordoba, east to Sindh, north to</a:t>
            </a:r>
          </a:p>
          <a:p>
            <a:r>
              <a:t>Constantinople.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1. The Prophet (peace be upon him) has died. At this moment nobody would have</a:t>
            </a:r>
          </a:p>
          <a:p>
            <a:r>
              <a:t>predicted anything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2. THE STRIKING FACT. Say it slowly - nobody expects it.</a:t>
            </a:r>
          </a:p>
          <a:p>
            <a:r>
              <a:t>PEN-DOWN 2: 'do teer kheenchiye - ek maghrib, ek mashriq.' [verify 92-93 AH]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3. [trim to one sentence first if running long.]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4. Now the opening mark gets its meaning. THE KEY IDEA OF THE WHOLE EVENING:</a:t>
            </a:r>
          </a:p>
          <a:p>
            <a:r>
              <a:t>a civilisation survived losing its capital because it had moved what mattered.</a:t>
            </a:r>
          </a:p>
          <a:p>
            <a:r>
              <a:t>PEN-DOWN 3. [SOURCE: what actually survived 656 and where it went.]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5. The recovery. [verify 1453]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6. SOBER. No present-day politics - the venue has ruled it out.</a:t>
            </a:r>
          </a:p>
          <a:p>
            <a:r>
              <a:t>PEN-DOWN 4, the last mark.</a:t>
            </a:r>
          </a:p>
          <a:p>
            <a:r>
              <a:t>If asked about 1924 -&gt; SEVENTH session. About 1947 -&gt; NINTH. Do not mix them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 TAARUF (7 min). SAY FIRST: all three get their own session; tonight is an</a:t>
            </a:r>
          </a:p>
          <a:p>
            <a:r>
              <a:t>introduction only. READ EACH FROM THE PRINTED CARD - never from memory.</a:t>
            </a:r>
          </a:p>
          <a:p>
            <a:r>
              <a:t>Workbook prints the first lines and leaves ONE INCIDENT blank for them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Meets them properly next week. Do not spend his material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WARNING: his incident must NOT be the fall of Baghdad - that was tonight's opening scene</a:t>
            </a:r>
          </a:p>
          <a:p>
            <a:r>
              <a:t>and the segment would simply repeat itself. Pick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BLOCKED for sourcing. If you have nothing verified by the night, introduce only the</a:t>
            </a:r>
          </a:p>
          <a:p>
            <a:r>
              <a:t>two you do have and say the third comes in session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0:33 (4 min). THE ONLY METHODOLOGY IN THE WHOLE COURSE - keep it to four minutes.</a:t>
            </a:r>
          </a:p>
          <a:p>
            <a:r>
              <a:t>Do not teach isnad as a technical subject. The point is only: there are two different</a:t>
            </a:r>
          </a:p>
          <a:p>
            <a:r>
              <a:t>ways of deciding what is true about the past, and ours has a mechanism the other lacks.</a:t>
            </a:r>
          </a:p>
          <a:p>
            <a:r>
              <a:t>Be fair, not mocking - they work hard, they simply have no isnad system.</a:t>
            </a:r>
          </a:p>
          <a:p>
            <a:r>
              <a:t>Then go straight to the Sufyan quotation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0:37 (2 min). DEMONSTRATE FIRST, then show this.</a:t>
            </a:r>
          </a:p>
          <a:p>
            <a:r>
              <a:t>'Suppose someone tells you Mehmed the Conqueror wrote to Hulagu Khan.'</a:t>
            </a:r>
          </a:p>
          <a:p>
            <a:r>
              <a:t>Point at THEIR OWN sheet - two centuries apart. Dead. No Arabic needed, no isnad</a:t>
            </a:r>
          </a:p>
          <a:p>
            <a:r>
              <a:t>needed; the timeline alone killed it. THEN put this up, read once,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0:39 (4 min). The slide is headed by the ATTRIBUTION, not the claim. It is not your view.</a:t>
            </a:r>
          </a:p>
          <a:p>
            <a:r>
              <a:t>[SOURCE: exact wording of the four and the reference the book gives - read by eye]</a:t>
            </a:r>
          </a:p>
          <a:p>
            <a:r>
              <a:t>Read them. ONE sentence: the FIRST is connection to the past, and the other three rest</a:t>
            </a:r>
          </a:p>
          <a:p>
            <a:r>
              <a:t>on it - which is why tonight began with the whole line instead of the first year.</a:t>
            </a:r>
          </a:p>
          <a:p>
            <a:r>
              <a:t>THEN STOP. 90 SECONDS OF SILENCE while they write their own line.</a:t>
            </a:r>
          </a:p>
          <a:p>
            <a:r>
              <a:t>Two volunteers max. Say 'shukriya' and NOTHING else - do not improve on what they said.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 (3 min). Hold up the workbook: the only thing to bring back.</a:t>
            </a:r>
          </a:p>
          <a:p>
            <a:r>
              <a:t>Draw a bracket on the BANNER around 11-23 AH so they SEE how narrow next week is.</a:t>
            </a:r>
          </a:p>
          <a:p>
            <a:r>
              <a:t>TAKE-HOME, say once and leave unanswered:</a:t>
            </a:r>
          </a:p>
          <a:p>
            <a:r>
              <a:t>  'koi tareekh ki baat kahe - to ab aap sab se pehle kya poochhenge?'</a:t>
            </a:r>
          </a:p>
          <a:p>
            <a:r>
              <a:t>  (want: when? and who said it?)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for credibility. Show only if someone asks where something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0" i="0">
                <a:solidFill>
                  <a:srgbClr val="FAF7F0"/>
                </a:solidFill>
                <a:latin typeface="Georgia"/>
              </a:rPr>
              <a:t>Lessons from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4000" b="0" i="0">
                <a:solidFill>
                  <a:srgbClr val="C49A45"/>
                </a:solidFill>
                <a:latin typeface="Noto Nastaliq Urdu"/>
                <a:cs typeface="Noto Nastaliq Urdu"/>
              </a:rPr>
              <a:t>تاریخ سے سبق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FAF7F0"/>
                </a:solidFill>
                <a:latin typeface="Georgia"/>
              </a:rPr>
              <a:t>Fourteen centuries in one evening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9A45"/>
                </a:solidFill>
                <a:latin typeface="Segoe UI"/>
              </a:rPr>
              <a:t>SESSION 1  ·  632 – 1947  ·  DHA ISLAMABAD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ONE NIGHT, IN THE MIDDLE OF 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656 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Baghdad falls. The libraries burn.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YOU ARE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That night sits in the middle.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Not at the end. So how much came before — and how much after?</a:t>
            </a:r>
          </a:p>
        </p:txBody>
      </p:sp>
      <p:pic>
        <p:nvPicPr>
          <p:cNvPr id="6" name="Picture 5" descr="line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s1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8680"/>
            <a:ext cx="12191695" cy="64209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AF7F0"/>
                </a:solidFill>
                <a:latin typeface="Georgia"/>
              </a:rPr>
              <a:t>The whole map,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C49A45"/>
                </a:solidFill>
                <a:latin typeface="Segoe UI"/>
              </a:rPr>
              <a:t>six cities to remember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One city. One generation.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Madina, 632. Nobody expected what came next.</a:t>
            </a:r>
          </a:p>
        </p:txBody>
      </p:sp>
      <p:pic>
        <p:nvPicPr>
          <p:cNvPr id="6" name="Picture 5" descr="lin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Spain and Sindh — the same decade.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West to the Atlantic, east to the Indus, at once.</a:t>
            </a:r>
          </a:p>
        </p:txBody>
      </p:sp>
      <p:pic>
        <p:nvPicPr>
          <p:cNvPr id="6" name="Picture 5" descr="line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Two capitals at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Baghdad translating the world; Cordoba building a library.</a:t>
            </a:r>
          </a:p>
        </p:txBody>
      </p:sp>
      <p:pic>
        <p:nvPicPr>
          <p:cNvPr id="6" name="Picture 5" descr="line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MOVE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The capital falls — and it does not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The books and the scholars had already moved to Cairo.</a:t>
            </a:r>
          </a:p>
        </p:txBody>
      </p:sp>
      <p:pic>
        <p:nvPicPr>
          <p:cNvPr id="6" name="Picture 5" descr="line_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1453 — a door opens.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Constantinople. And in the east, Sindh leads on to Delhi.</a:t>
            </a:r>
          </a:p>
        </p:txBody>
      </p:sp>
      <p:pic>
        <p:nvPicPr>
          <p:cNvPr id="6" name="Picture 5" descr="line_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MOVE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1924 … and then 1947.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The last caliphate ends. And the story arrives here.</a:t>
            </a:r>
          </a:p>
        </p:txBody>
      </p:sp>
      <p:pic>
        <p:nvPicPr>
          <p:cNvPr id="6" name="Picture 5" descr="line_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تعارف  ·  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Three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Each one has their own evening later in the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Umar ibn al-Khattab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عمر الفاروق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AL-FARUQ — the one who separates truth from falsehood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الفاروق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SECOND CALIPH  ·  COMES BACK IN SESSION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In his time Persia was ended and Byzantium lost Syria and Egypt — and he built the</a:t>
            </a:r>
          </a:p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administration that governed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Siyar A'lam al-Nubala — dates and one incident, read off the page]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Hulagu Khan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ہلاکو خان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COMES BACK IN SESSION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The Mongol commander who took Baghdad in 656 AH and ended the Abbasid caliphate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the Mongol volume]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Mehmed the Conqueror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سلطان محمد فاتح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COMES BACK IN SESSION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Took Constantinople in 1453, thirty-nine years before Granada was lost in the west.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no work on the shelf reaches the Ottomans — blocked until a volume arrives]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DO WE KNOW ANY OF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104A43"/>
                </a:solidFill>
                <a:latin typeface="Georgia"/>
              </a:rPr>
              <a:t>Two ways of knowing the past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0607040" cy="36576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5A6862"/>
                </a:solidFill>
                <a:latin typeface="Georgia"/>
              </a:rPr>
              <a:t>The modern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Dig, infer, connect the dots.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No chain of transmission.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No rule for accepting or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rejecting a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04A43"/>
                </a:solidFill>
                <a:latin typeface="Georgia"/>
              </a:rPr>
              <a:t>The Islamic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97180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Every report carries a chain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back to an eyewitness — and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every narrator in that chain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has a documented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So when you hear “there is no historical basis for that” — ask which method is speaking.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A FORGERY 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لَمَّا اسْتَعْمَلَ الرُّوَاةُ الْكَذِبَ اسْتَعْمَلْنَاهُمُ التَّارِيخَ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“When narrators began inventing, we used dates against them.”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2400" b="0" i="0">
                <a:solidFill>
                  <a:srgbClr val="5A6862"/>
                </a:solidFill>
                <a:latin typeface="Noto Nastaliq Urdu"/>
                <a:cs typeface="Noto Nastaliq Urdu"/>
              </a:rPr>
              <a:t>جب راوی جھوٹی روایتیں گھڑنے لگے تو ہم نے تاریخ سے کام لیا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545896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5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SUFYAN AL-THAWRI  ·  TAREEKH-E-UMMAT, MUQADDIMA, p.57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آج کی بات  ·  TODAY'S POINT — NOT 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04A43"/>
                </a:solidFill>
                <a:latin typeface="Georgia"/>
              </a:rPr>
              <a:t>Shams-ul-Haq Afghani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9144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2400" b="0" i="0">
                <a:solidFill>
                  <a:srgbClr val="104A43"/>
                </a:solidFill>
                <a:latin typeface="Noto Nastaliq Urdu"/>
                <a:cs typeface="Noto Nastaliq Urdu"/>
              </a:rPr>
              <a:t>مولانا شمس الحق افغانی رحمہ اللہ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5A6862"/>
                </a:solidFill>
                <a:latin typeface="Georgia"/>
              </a:rPr>
              <a:t>Four things a people needs in order to rise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3172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A322E"/>
                </a:solidFill>
                <a:latin typeface="Georgia"/>
              </a:rPr>
              <a:t>Connection to its own past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27685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0A322E"/>
                </a:solidFill>
                <a:latin typeface="Noto Nastaliq Urdu"/>
                <a:cs typeface="Noto Nastaliq Urdu"/>
              </a:rPr>
              <a:t>ماضی سے ارتباط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449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44952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Unity of thought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99008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وحدتِ فکر و عمل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58183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58183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Building the means of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703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فراہمیِ اسبابِ قوت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7141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471416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Sustained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16552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جہدِ مسلسل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TAREEKH-E-UMMAT, MUQADDIMA, p.53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اگلے ہفتے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Next week: twelve years.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632 to 644. All of it inside that one narrow bracket.</a:t>
            </a:r>
          </a:p>
        </p:txBody>
      </p:sp>
      <p:pic>
        <p:nvPicPr>
          <p:cNvPr id="6" name="Picture 5" descr="lin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SOURCES  ·  SHOW ONLY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Tareekh-e-Ummat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Maulana Muhammad Ismail Rehan  —  muqaddima, pp. 53, 57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al-I'lan bi'l-Tawbikh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al-Sakhawi  —  p. 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Every claim tonight traces to a printed page you could open yourself.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