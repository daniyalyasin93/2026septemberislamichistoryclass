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last week in 30 sec: 'Pichle hafte humne dekha tareekh ke USOOL — sand aur asma al-rijal. Aaj hum un LOGON se milenge jinhone yeh sab mehfooz kiya — aur un KITABON se jin par hum bharosa karte hain.' Keep it celebratory, like meeting heroes.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the question to the room and pause. 'Socho — Rome aur Yunan ki tareekh ka silsila ustad se mehroom hai. Hamare paas sand hai. Kyun? Kyunki kuch log uth khade hue.' Then go to the two pillars.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simple: 'Do buniyaadein: ek, seerat-nigari — Nabi ﷺ ki zindagi tarteeb se. Doosri, fann-e-rijaal — har raavi ka koi firishta nahi, uska poora hisaab.' Ref: Introduction.pdf p.43-44.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uses this exact 'building a house' metaphor — lean into it, it's memorable. Ref: Introduction.pdf p.41-42, 45.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the next slides like a hall of fame / trading cards. Energy up. You don't need every date memorised — the cards carry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Story-thread: 'Pehle yeh sab seenon mein tha. Phir Zuhri ne likha, Ibn Ishaq ne jama kiya, Ibn Hisham ne saaf kar ke woh kitab di jo aaj tak sab se mashhoor hai.' Ref: Introduction.pdf p.43-44.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Nice contrast to make it human: 'Ustad rangeen tha lekin thoda be-ehtiyaat; shagird zyada muhtaat nikla.' Drives home WHY we grade narrators. Ref: Introduction.pdf p.45.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'know the lens' point is gold for the controversy brief — it teaches the audience to ask WHO wrote a thing. Ref: Introduction.pdf p.46, 68.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like a bookshelf reveal. 'Yeh paanch maa-kitaben hain — baaqi sab tareekhein inhi se peeti hain.' Ref: Introduction.pdf p.69-78.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namesake fun-fact is true and disarming — and pre-empts a common objection (that Tabari was Shia). Hafiz al-Dhahabi explicitly defended him. Ref: Introduction.pdf p.69-70.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ARC: raw (Tabari) → distilled (Ibn Athir) → sifted (Dhahabi) → reasoned (Ibn Kathir) → theorised (Ibn Khaldun). That arc IS the 4 stages in action. Ref: Introduction.pdf p.73-78.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Optional/bonus — drop if short on time. Ref: Introduction.pdf p.78.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fresh, fun example (different from last week's forged document). Punch the ending: 'Jo aadmi thanda paani is liye chhor de ke kahin zehn par asar na ho — uske baare mein sharab ki kahani?!' Ref: Introduction.pdf p.57; Lisān al-Mīzān (Ibn Ḥajar).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firmly back to Lesson 1's contrast. This is the payoff: rigour = trust. Then the take-home.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take-home (answers: a mother-book = Tabari/al-Kamil/etc.; the difference = isnad/asma al-rijal). Keep the timeline banner visible; add the 'books' as a small label on it if you like.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for credibility / handouts. All dates above are well-established and match the source text.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322E"/>
        </a:solidFill>
        <a:effectLst/>
      </p:bgPr>
    </p:bg>
    <p:spTree>
      <p:nvGrpSpPr>
        <p:cNvPr id="1" name=""/>
        <p:cNvGrpSpPr/>
        <p:nvPr/>
      </p:nvGrpSpPr>
      <p:grpSpPr/>
      <p:sp>
        <p:nvSpPr>
          <p:cNvPr id="2" name="Rectangle 1"/>
          <p:cNvSpPr/>
          <p:nvPr/>
        </p:nvSpPr>
        <p:spPr>
          <a:xfrm>
            <a:off x="0" y="2788920"/>
            <a:ext cx="12191695" cy="128016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542032"/>
            <a:ext cx="2011680" cy="508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72800" cy="1097280"/>
          </a:xfrm>
          <a:prstGeom prst="rect">
            <a:avLst/>
          </a:prstGeom>
          <a:noFill/>
        </p:spPr>
        <p:txBody>
          <a:bodyPr wrap="square" anchor="t" lIns="50800" rIns="50800" tIns="25400" bIns="25400">
            <a:spAutoFit/>
          </a:bodyPr>
          <a:lstStyle/>
          <a:p>
            <a:pPr algn="l">
              <a:spcAft>
                <a:spcPts val="200"/>
              </a:spcAft>
            </a:pPr>
            <a:r>
              <a:rPr sz="1800" b="1" i="0">
                <a:solidFill>
                  <a:srgbClr val="C49A45"/>
                </a:solidFill>
                <a:latin typeface="Segoe UI"/>
              </a:rPr>
              <a:t>LESSONS FROM HISTORY  ·  LESSON 2</a:t>
            </a:r>
          </a:p>
          <a:p>
            <a:pPr algn="l" rtl="1">
              <a:spcAft>
                <a:spcPts val="0"/>
              </a:spcAft>
            </a:pPr>
            <a:r>
              <a:rPr sz="2000" b="0" i="0">
                <a:solidFill>
                  <a:srgbClr val="FAF7F0"/>
                </a:solidFill>
                <a:latin typeface="Traditional Arabic"/>
                <a:cs typeface="Traditional Arabic"/>
              </a:rPr>
              <a:t>تاریخ سے سبق</a:t>
            </a:r>
          </a:p>
        </p:txBody>
      </p:sp>
      <p:sp>
        <p:nvSpPr>
          <p:cNvPr id="5" name="TextBox 4"/>
          <p:cNvSpPr txBox="1"/>
          <p:nvPr/>
        </p:nvSpPr>
        <p:spPr>
          <a:xfrm>
            <a:off x="640080" y="2880360"/>
            <a:ext cx="10972800" cy="1143000"/>
          </a:xfrm>
          <a:prstGeom prst="rect">
            <a:avLst/>
          </a:prstGeom>
          <a:noFill/>
        </p:spPr>
        <p:txBody>
          <a:bodyPr wrap="square" anchor="ctr" lIns="50800" rIns="50800" tIns="25400" bIns="25400">
            <a:spAutoFit/>
          </a:bodyPr>
          <a:lstStyle/>
          <a:p>
            <a:pPr algn="l">
              <a:spcAft>
                <a:spcPts val="0"/>
              </a:spcAft>
            </a:pPr>
            <a:r>
              <a:rPr sz="4400" b="1" i="0">
                <a:solidFill>
                  <a:srgbClr val="FFFFFF"/>
                </a:solidFill>
                <a:latin typeface="Georgia"/>
              </a:rPr>
              <a:t>The Treasure House</a:t>
            </a:r>
          </a:p>
        </p:txBody>
      </p:sp>
      <p:sp>
        <p:nvSpPr>
          <p:cNvPr id="6" name="TextBox 5"/>
          <p:cNvSpPr txBox="1"/>
          <p:nvPr/>
        </p:nvSpPr>
        <p:spPr>
          <a:xfrm>
            <a:off x="640080" y="4297680"/>
            <a:ext cx="10972800" cy="914400"/>
          </a:xfrm>
          <a:prstGeom prst="rect">
            <a:avLst/>
          </a:prstGeom>
          <a:noFill/>
        </p:spPr>
        <p:txBody>
          <a:bodyPr wrap="square" anchor="t" lIns="50800" rIns="50800" tIns="25400" bIns="25400">
            <a:spAutoFit/>
          </a:bodyPr>
          <a:lstStyle/>
          <a:p>
            <a:pPr algn="l" rtl="1">
              <a:spcAft>
                <a:spcPts val="400"/>
              </a:spcAft>
            </a:pPr>
            <a:r>
              <a:rPr sz="2600" b="0" i="0">
                <a:solidFill>
                  <a:srgbClr val="FAF7F0"/>
                </a:solidFill>
                <a:latin typeface="Traditional Arabic"/>
                <a:cs typeface="Traditional Arabic"/>
              </a:rPr>
              <a:t>اسلام کے عظیم مؤرخین اور تاریخ کی عظیم کتب</a:t>
            </a:r>
          </a:p>
          <a:p>
            <a:pPr algn="l">
              <a:spcAft>
                <a:spcPts val="0"/>
              </a:spcAft>
            </a:pPr>
            <a:r>
              <a:rPr sz="1600" b="0" i="0">
                <a:solidFill>
                  <a:srgbClr val="C49A45"/>
                </a:solidFill>
                <a:latin typeface="Segoe UI"/>
              </a:rPr>
              <a:t>Who saved our history — and how we know we can trust it</a:t>
            </a:r>
          </a:p>
        </p:txBody>
      </p:sp>
      <p:sp>
        <p:nvSpPr>
          <p:cNvPr id="7" name="TextBox 6"/>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C49A45"/>
        </a:solidFill>
        <a:effectLst/>
      </p:bgPr>
    </p:bg>
    <p:spTree>
      <p:nvGrpSpPr>
        <p:cNvPr id="1" name=""/>
        <p:cNvGrpSpPr/>
        <p:nvPr/>
      </p:nvGrpSpPr>
      <p:grpSpPr/>
      <p:sp>
        <p:nvSpPr>
          <p:cNvPr id="2" name="TextBox 1"/>
          <p:cNvSpPr txBox="1"/>
          <p:nvPr/>
        </p:nvSpPr>
        <p:spPr>
          <a:xfrm>
            <a:off x="1005840" y="2011680"/>
            <a:ext cx="10149840" cy="2834640"/>
          </a:xfrm>
          <a:prstGeom prst="rect">
            <a:avLst/>
          </a:prstGeom>
          <a:noFill/>
        </p:spPr>
        <p:txBody>
          <a:bodyPr wrap="square" anchor="ctr" lIns="50800" rIns="50800" tIns="25400" bIns="25400">
            <a:spAutoFit/>
          </a:bodyPr>
          <a:lstStyle/>
          <a:p>
            <a:pPr algn="ctr">
              <a:spcAft>
                <a:spcPts val="1400"/>
              </a:spcAft>
            </a:pPr>
            <a:r>
              <a:rPr sz="3000" b="1" i="0">
                <a:solidFill>
                  <a:srgbClr val="0A322E"/>
                </a:solidFill>
                <a:latin typeface="Georgia"/>
              </a:rPr>
              <a:t>It is 1400 years later.</a:t>
            </a:r>
          </a:p>
          <a:p>
            <a:pPr algn="ctr">
              <a:spcAft>
                <a:spcPts val="1400"/>
              </a:spcAft>
            </a:pPr>
            <a:r>
              <a:rPr sz="3400" b="1" i="0">
                <a:solidFill>
                  <a:srgbClr val="1C2321"/>
                </a:solidFill>
                <a:latin typeface="Georgia"/>
              </a:rPr>
              <a:t>How do we know ANY of this actually happened?</a:t>
            </a:r>
          </a:p>
          <a:p>
            <a:pPr algn="ctr">
              <a:spcAft>
                <a:spcPts val="0"/>
              </a:spcAft>
            </a:pPr>
            <a:r>
              <a:rPr sz="2200" b="0" i="1">
                <a:solidFill>
                  <a:srgbClr val="0A322E"/>
                </a:solidFill>
                <a:latin typeface="Georgia"/>
              </a:rPr>
              <a:t>Because an army of scholars spent their lives saving it — with rules no other nation had.</a:t>
            </a:r>
          </a:p>
        </p:txBody>
      </p:sp>
      <p:sp>
        <p:nvSpPr>
          <p:cNvPr id="3" name="TextBox 2"/>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Hook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ISLAMIC HISTORY STANDS ON TWO PILLARS — BOTH BORN FROM THE SCIENCE OF HADITH</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3200" b="1" i="0">
                <a:solidFill>
                  <a:srgbClr val="0A322E"/>
                </a:solidFill>
                <a:latin typeface="Georgia"/>
              </a:rPr>
              <a:t>Two pillars</a:t>
            </a:r>
          </a:p>
        </p:txBody>
      </p:sp>
      <p:sp>
        <p:nvSpPr>
          <p:cNvPr id="5" name="Rectangle 4"/>
          <p:cNvSpPr/>
          <p:nvPr/>
        </p:nvSpPr>
        <p:spPr>
          <a:xfrm>
            <a:off x="640080" y="2286000"/>
            <a:ext cx="5318607" cy="27432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286000"/>
            <a:ext cx="5318607"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2432304"/>
            <a:ext cx="4989423" cy="2468880"/>
          </a:xfrm>
          <a:prstGeom prst="rect">
            <a:avLst/>
          </a:prstGeom>
          <a:noFill/>
        </p:spPr>
        <p:txBody>
          <a:bodyPr wrap="square" anchor="t" lIns="50800" rIns="50800" tIns="25400" bIns="25400">
            <a:spAutoFit/>
          </a:bodyPr>
          <a:lstStyle/>
          <a:p>
            <a:pPr algn="l">
              <a:spcAft>
                <a:spcPts val="200"/>
              </a:spcAft>
            </a:pPr>
            <a:r>
              <a:rPr sz="2400" b="1" i="0">
                <a:solidFill>
                  <a:srgbClr val="0A322E"/>
                </a:solidFill>
                <a:latin typeface="Segoe UI"/>
              </a:rPr>
              <a:t>Seerah-nigārī</a:t>
            </a:r>
          </a:p>
          <a:p>
            <a:pPr algn="l">
              <a:spcAft>
                <a:spcPts val="600"/>
              </a:spcAft>
            </a:pPr>
            <a:r>
              <a:rPr sz="1300" b="1" i="0">
                <a:solidFill>
                  <a:srgbClr val="C49A45"/>
                </a:solidFill>
                <a:latin typeface="Segoe UI"/>
              </a:rPr>
              <a:t>سیرت و مغازی</a:t>
            </a:r>
          </a:p>
          <a:p>
            <a:pPr algn="l">
              <a:spcAft>
                <a:spcPts val="0"/>
              </a:spcAft>
            </a:pPr>
            <a:r>
              <a:rPr sz="1900" b="0" i="0">
                <a:solidFill>
                  <a:srgbClr val="1C2321"/>
                </a:solidFill>
                <a:latin typeface="Segoe UI"/>
              </a:rPr>
              <a:t>Recording the Prophet's ﷺ life in time-order. Grew out of hadith into its own science — the root of all Islamic history-writing.</a:t>
            </a:r>
          </a:p>
        </p:txBody>
      </p:sp>
      <p:sp>
        <p:nvSpPr>
          <p:cNvPr id="8" name="Rectangle 7"/>
          <p:cNvSpPr/>
          <p:nvPr/>
        </p:nvSpPr>
        <p:spPr>
          <a:xfrm>
            <a:off x="6233007" y="2286000"/>
            <a:ext cx="5318607" cy="27432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3007" y="2286000"/>
            <a:ext cx="5318607"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7599" y="2432304"/>
            <a:ext cx="4989423" cy="2468880"/>
          </a:xfrm>
          <a:prstGeom prst="rect">
            <a:avLst/>
          </a:prstGeom>
          <a:noFill/>
        </p:spPr>
        <p:txBody>
          <a:bodyPr wrap="square" anchor="t" lIns="50800" rIns="50800" tIns="25400" bIns="25400">
            <a:spAutoFit/>
          </a:bodyPr>
          <a:lstStyle/>
          <a:p>
            <a:pPr algn="l">
              <a:spcAft>
                <a:spcPts val="200"/>
              </a:spcAft>
            </a:pPr>
            <a:r>
              <a:rPr sz="2400" b="1" i="0">
                <a:solidFill>
                  <a:srgbClr val="0A322E"/>
                </a:solidFill>
                <a:latin typeface="Segoe UI"/>
              </a:rPr>
              <a:t>Fann al-Rijāl</a:t>
            </a:r>
          </a:p>
          <a:p>
            <a:pPr algn="l">
              <a:spcAft>
                <a:spcPts val="600"/>
              </a:spcAft>
            </a:pPr>
            <a:r>
              <a:rPr sz="1300" b="1" i="0">
                <a:solidFill>
                  <a:srgbClr val="C49A45"/>
                </a:solidFill>
                <a:latin typeface="Segoe UI"/>
              </a:rPr>
              <a:t>علم اسماء الرجال</a:t>
            </a:r>
          </a:p>
          <a:p>
            <a:pPr algn="l">
              <a:spcAft>
                <a:spcPts val="0"/>
              </a:spcAft>
            </a:pPr>
            <a:r>
              <a:rPr sz="1900" b="0" i="0">
                <a:solidFill>
                  <a:srgbClr val="1C2321"/>
                </a:solidFill>
                <a:latin typeface="Segoe UI"/>
              </a:rPr>
              <a:t>The biographies of the narrators. Built to protect hadith AND history — so any report can be graded and any liar caught.</a:t>
            </a:r>
          </a:p>
        </p:txBody>
      </p:sp>
      <p:sp>
        <p:nvSpPr>
          <p:cNvPr id="11" name="TextBox 10"/>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Pillars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EVERY SCIENCE IS BUILT LIKE A HOUSE — IN FOUR STAGES</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rPr>
              <a:t>Building the house of history</a:t>
            </a:r>
          </a:p>
        </p:txBody>
      </p:sp>
      <p:sp>
        <p:nvSpPr>
          <p:cNvPr id="5" name="Rectangle 4"/>
          <p:cNvSpPr/>
          <p:nvPr/>
        </p:nvSpPr>
        <p:spPr>
          <a:xfrm>
            <a:off x="640080" y="2194560"/>
            <a:ext cx="2556433" cy="2926080"/>
          </a:xfrm>
          <a:prstGeom prst="rect">
            <a:avLst/>
          </a:prstGeom>
          <a:solidFill>
            <a:srgbClr val="EFE9DB"/>
          </a:solidFill>
          <a:ln w="19050">
            <a:solidFill>
              <a:srgbClr val="8C8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194560"/>
            <a:ext cx="2556433" cy="502920"/>
          </a:xfrm>
          <a:prstGeom prst="rect">
            <a:avLst/>
          </a:prstGeom>
          <a:solidFill>
            <a:srgbClr val="8C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49424"/>
            <a:ext cx="2282113" cy="457200"/>
          </a:xfrm>
          <a:prstGeom prst="rect">
            <a:avLst/>
          </a:prstGeom>
          <a:noFill/>
        </p:spPr>
        <p:txBody>
          <a:bodyPr wrap="square" anchor="t" lIns="50800" rIns="50800" tIns="25400" bIns="25400">
            <a:spAutoFit/>
          </a:bodyPr>
          <a:lstStyle/>
          <a:p>
            <a:pPr algn="l">
              <a:spcAft>
                <a:spcPts val="0"/>
              </a:spcAft>
            </a:pPr>
            <a:r>
              <a:rPr sz="1600" b="1" i="0">
                <a:solidFill>
                  <a:srgbClr val="FFFFFF"/>
                </a:solidFill>
                <a:latin typeface="Segoe UI"/>
              </a:rPr>
              <a:t>1 · TĀSĪS</a:t>
            </a:r>
          </a:p>
        </p:txBody>
      </p:sp>
      <p:sp>
        <p:nvSpPr>
          <p:cNvPr id="8" name="TextBox 7"/>
          <p:cNvSpPr txBox="1"/>
          <p:nvPr/>
        </p:nvSpPr>
        <p:spPr>
          <a:xfrm>
            <a:off x="777240" y="2834640"/>
            <a:ext cx="2282113" cy="2194560"/>
          </a:xfrm>
          <a:prstGeom prst="rect">
            <a:avLst/>
          </a:prstGeom>
          <a:noFill/>
        </p:spPr>
        <p:txBody>
          <a:bodyPr wrap="square" anchor="t" lIns="50800" rIns="50800" tIns="25400" bIns="25400">
            <a:spAutoFit/>
          </a:bodyPr>
          <a:lstStyle/>
          <a:p>
            <a:pPr algn="l" rtl="1">
              <a:spcAft>
                <a:spcPts val="800"/>
              </a:spcAft>
            </a:pPr>
            <a:r>
              <a:rPr sz="2200" b="1" i="0">
                <a:solidFill>
                  <a:srgbClr val="8C8C86"/>
                </a:solidFill>
                <a:latin typeface="Traditional Arabic"/>
                <a:cs typeface="Traditional Arabic"/>
              </a:rPr>
              <a:t>تاسیس</a:t>
            </a:r>
          </a:p>
          <a:p>
            <a:pPr algn="l">
              <a:spcAft>
                <a:spcPts val="0"/>
              </a:spcAft>
            </a:pPr>
            <a:r>
              <a:rPr sz="1500" b="0" i="0">
                <a:solidFill>
                  <a:srgbClr val="1C2321"/>
                </a:solidFill>
                <a:latin typeface="Segoe UI"/>
              </a:rPr>
              <a:t>Lay the foundation — mark out the new science</a:t>
            </a:r>
          </a:p>
        </p:txBody>
      </p:sp>
      <p:sp>
        <p:nvSpPr>
          <p:cNvPr id="9" name="Rectangle 8"/>
          <p:cNvSpPr/>
          <p:nvPr/>
        </p:nvSpPr>
        <p:spPr>
          <a:xfrm>
            <a:off x="3425113" y="2194560"/>
            <a:ext cx="2556433" cy="2926080"/>
          </a:xfrm>
          <a:prstGeom prst="rect">
            <a:avLst/>
          </a:prstGeom>
          <a:solidFill>
            <a:srgbClr val="EFE9DB"/>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5113" y="2194560"/>
            <a:ext cx="2556433" cy="50292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2273" y="2249424"/>
            <a:ext cx="2282113" cy="457200"/>
          </a:xfrm>
          <a:prstGeom prst="rect">
            <a:avLst/>
          </a:prstGeom>
          <a:noFill/>
        </p:spPr>
        <p:txBody>
          <a:bodyPr wrap="square" anchor="t" lIns="50800" rIns="50800" tIns="25400" bIns="25400">
            <a:spAutoFit/>
          </a:bodyPr>
          <a:lstStyle/>
          <a:p>
            <a:pPr algn="l">
              <a:spcAft>
                <a:spcPts val="0"/>
              </a:spcAft>
            </a:pPr>
            <a:r>
              <a:rPr sz="1600" b="1" i="0">
                <a:solidFill>
                  <a:srgbClr val="FFFFFF"/>
                </a:solidFill>
                <a:latin typeface="Segoe UI"/>
              </a:rPr>
              <a:t>2 · TADWĪN</a:t>
            </a:r>
          </a:p>
        </p:txBody>
      </p:sp>
      <p:sp>
        <p:nvSpPr>
          <p:cNvPr id="12" name="TextBox 11"/>
          <p:cNvSpPr txBox="1"/>
          <p:nvPr/>
        </p:nvSpPr>
        <p:spPr>
          <a:xfrm>
            <a:off x="3562273" y="2834640"/>
            <a:ext cx="2282113" cy="2194560"/>
          </a:xfrm>
          <a:prstGeom prst="rect">
            <a:avLst/>
          </a:prstGeom>
          <a:noFill/>
        </p:spPr>
        <p:txBody>
          <a:bodyPr wrap="square" anchor="t" lIns="50800" rIns="50800" tIns="25400" bIns="25400">
            <a:spAutoFit/>
          </a:bodyPr>
          <a:lstStyle/>
          <a:p>
            <a:pPr algn="l" rtl="1">
              <a:spcAft>
                <a:spcPts val="800"/>
              </a:spcAft>
            </a:pPr>
            <a:r>
              <a:rPr sz="2200" b="1" i="0">
                <a:solidFill>
                  <a:srgbClr val="104A43"/>
                </a:solidFill>
                <a:latin typeface="Traditional Arabic"/>
                <a:cs typeface="Traditional Arabic"/>
              </a:rPr>
              <a:t>تدوین</a:t>
            </a:r>
          </a:p>
          <a:p>
            <a:pPr algn="l">
              <a:spcAft>
                <a:spcPts val="0"/>
              </a:spcAft>
            </a:pPr>
            <a:r>
              <a:rPr sz="1500" b="0" i="0">
                <a:solidFill>
                  <a:srgbClr val="1C2321"/>
                </a:solidFill>
                <a:latin typeface="Segoe UI"/>
              </a:rPr>
              <a:t>Raise the walls — gather the raw material</a:t>
            </a:r>
          </a:p>
        </p:txBody>
      </p:sp>
      <p:sp>
        <p:nvSpPr>
          <p:cNvPr id="13" name="Rectangle 12"/>
          <p:cNvSpPr/>
          <p:nvPr/>
        </p:nvSpPr>
        <p:spPr>
          <a:xfrm>
            <a:off x="6210147" y="2194560"/>
            <a:ext cx="2556433" cy="2926080"/>
          </a:xfrm>
          <a:prstGeom prst="rect">
            <a:avLst/>
          </a:prstGeom>
          <a:solidFill>
            <a:srgbClr val="EFE9DB"/>
          </a:solidFill>
          <a:ln w="19050">
            <a:solidFill>
              <a:srgbClr val="0A3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0147" y="2194560"/>
            <a:ext cx="2556433" cy="50292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249424"/>
            <a:ext cx="2282113" cy="457200"/>
          </a:xfrm>
          <a:prstGeom prst="rect">
            <a:avLst/>
          </a:prstGeom>
          <a:noFill/>
        </p:spPr>
        <p:txBody>
          <a:bodyPr wrap="square" anchor="t" lIns="50800" rIns="50800" tIns="25400" bIns="25400">
            <a:spAutoFit/>
          </a:bodyPr>
          <a:lstStyle/>
          <a:p>
            <a:pPr algn="l">
              <a:spcAft>
                <a:spcPts val="0"/>
              </a:spcAft>
            </a:pPr>
            <a:r>
              <a:rPr sz="1600" b="1" i="0">
                <a:solidFill>
                  <a:srgbClr val="FFFFFF"/>
                </a:solidFill>
                <a:latin typeface="Segoe UI"/>
              </a:rPr>
              <a:t>3 · TANQĪH</a:t>
            </a:r>
          </a:p>
        </p:txBody>
      </p:sp>
      <p:sp>
        <p:nvSpPr>
          <p:cNvPr id="16" name="TextBox 15"/>
          <p:cNvSpPr txBox="1"/>
          <p:nvPr/>
        </p:nvSpPr>
        <p:spPr>
          <a:xfrm>
            <a:off x="6347307" y="2834640"/>
            <a:ext cx="2282113" cy="2194560"/>
          </a:xfrm>
          <a:prstGeom prst="rect">
            <a:avLst/>
          </a:prstGeom>
          <a:noFill/>
        </p:spPr>
        <p:txBody>
          <a:bodyPr wrap="square" anchor="t" lIns="50800" rIns="50800" tIns="25400" bIns="25400">
            <a:spAutoFit/>
          </a:bodyPr>
          <a:lstStyle/>
          <a:p>
            <a:pPr algn="l" rtl="1">
              <a:spcAft>
                <a:spcPts val="800"/>
              </a:spcAft>
            </a:pPr>
            <a:r>
              <a:rPr sz="2200" b="1" i="0">
                <a:solidFill>
                  <a:srgbClr val="0A322E"/>
                </a:solidFill>
                <a:latin typeface="Traditional Arabic"/>
                <a:cs typeface="Traditional Arabic"/>
              </a:rPr>
              <a:t>تنقیح و تہذیب</a:t>
            </a:r>
          </a:p>
          <a:p>
            <a:pPr algn="l">
              <a:spcAft>
                <a:spcPts val="0"/>
              </a:spcAft>
            </a:pPr>
            <a:r>
              <a:rPr sz="1500" b="0" i="0">
                <a:solidFill>
                  <a:srgbClr val="1C2321"/>
                </a:solidFill>
                <a:latin typeface="Segoe UI"/>
              </a:rPr>
              <a:t>Plaster &amp; clean — weed out the weak, order the sound</a:t>
            </a:r>
          </a:p>
        </p:txBody>
      </p:sp>
      <p:sp>
        <p:nvSpPr>
          <p:cNvPr id="17" name="Rectangle 16"/>
          <p:cNvSpPr/>
          <p:nvPr/>
        </p:nvSpPr>
        <p:spPr>
          <a:xfrm>
            <a:off x="8995181" y="2194560"/>
            <a:ext cx="2556433" cy="2926080"/>
          </a:xfrm>
          <a:prstGeom prst="rect">
            <a:avLst/>
          </a:prstGeom>
          <a:solidFill>
            <a:srgbClr val="EFE9DB"/>
          </a:solidFill>
          <a:ln w="19050">
            <a:solidFill>
              <a:srgbClr val="C49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95181" y="2194560"/>
            <a:ext cx="2556433" cy="50292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2341" y="2249424"/>
            <a:ext cx="2282113" cy="457200"/>
          </a:xfrm>
          <a:prstGeom prst="rect">
            <a:avLst/>
          </a:prstGeom>
          <a:noFill/>
        </p:spPr>
        <p:txBody>
          <a:bodyPr wrap="square" anchor="t" lIns="50800" rIns="50800" tIns="25400" bIns="25400">
            <a:spAutoFit/>
          </a:bodyPr>
          <a:lstStyle/>
          <a:p>
            <a:pPr algn="l">
              <a:spcAft>
                <a:spcPts val="0"/>
              </a:spcAft>
            </a:pPr>
            <a:r>
              <a:rPr sz="1600" b="1" i="0">
                <a:solidFill>
                  <a:srgbClr val="FFFFFF"/>
                </a:solidFill>
                <a:latin typeface="Segoe UI"/>
              </a:rPr>
              <a:t>4 · TAKMĪL</a:t>
            </a:r>
          </a:p>
        </p:txBody>
      </p:sp>
      <p:sp>
        <p:nvSpPr>
          <p:cNvPr id="20" name="TextBox 19"/>
          <p:cNvSpPr txBox="1"/>
          <p:nvPr/>
        </p:nvSpPr>
        <p:spPr>
          <a:xfrm>
            <a:off x="9132341" y="2834640"/>
            <a:ext cx="2282113" cy="2194560"/>
          </a:xfrm>
          <a:prstGeom prst="rect">
            <a:avLst/>
          </a:prstGeom>
          <a:noFill/>
        </p:spPr>
        <p:txBody>
          <a:bodyPr wrap="square" anchor="t" lIns="50800" rIns="50800" tIns="25400" bIns="25400">
            <a:spAutoFit/>
          </a:bodyPr>
          <a:lstStyle/>
          <a:p>
            <a:pPr algn="l" rtl="1">
              <a:spcAft>
                <a:spcPts val="800"/>
              </a:spcAft>
            </a:pPr>
            <a:r>
              <a:rPr sz="2200" b="1" i="0">
                <a:solidFill>
                  <a:srgbClr val="C49A45"/>
                </a:solidFill>
                <a:latin typeface="Traditional Arabic"/>
                <a:cs typeface="Traditional Arabic"/>
              </a:rPr>
              <a:t>تکمیل</a:t>
            </a:r>
          </a:p>
          <a:p>
            <a:pPr algn="l">
              <a:spcAft>
                <a:spcPts val="0"/>
              </a:spcAft>
            </a:pPr>
            <a:r>
              <a:rPr sz="1500" b="0" i="0">
                <a:solidFill>
                  <a:srgbClr val="1C2321"/>
                </a:solidFill>
                <a:latin typeface="Segoe UI"/>
              </a:rPr>
              <a:t>Paint &amp; furnish — perfect, simplify, publish</a:t>
            </a:r>
          </a:p>
        </p:txBody>
      </p:sp>
      <p:sp>
        <p:nvSpPr>
          <p:cNvPr id="21" name="TextBox 20"/>
          <p:cNvSpPr txBox="1"/>
          <p:nvPr/>
        </p:nvSpPr>
        <p:spPr>
          <a:xfrm>
            <a:off x="640080" y="5394960"/>
            <a:ext cx="10881360" cy="914400"/>
          </a:xfrm>
          <a:prstGeom prst="rect">
            <a:avLst/>
          </a:prstGeom>
          <a:noFill/>
        </p:spPr>
        <p:txBody>
          <a:bodyPr wrap="square" anchor="t" lIns="50800" rIns="50800" tIns="25400" bIns="25400">
            <a:spAutoFit/>
          </a:bodyPr>
          <a:lstStyle/>
          <a:p>
            <a:pPr algn="l">
              <a:spcAft>
                <a:spcPts val="0"/>
              </a:spcAft>
            </a:pPr>
            <a:r>
              <a:rPr sz="1800" b="0" i="1">
                <a:solidFill>
                  <a:srgbClr val="104A43"/>
                </a:solidFill>
                <a:latin typeface="Segoe UI"/>
              </a:rPr>
              <a:t>Islamic history: founded before Islam · collected in the 2nd–4th centuries AH · refined in the 7th · perfected in the 8th (Ibn Khaldūn).</a:t>
            </a:r>
          </a:p>
        </p:txBody>
      </p:sp>
      <p:sp>
        <p:nvSpPr>
          <p:cNvPr id="22" name="TextBox 21"/>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4 stages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322E"/>
        </a:solidFill>
        <a:effectLst/>
      </p:bgPr>
    </p:bg>
    <p:spTree>
      <p:nvGrpSpPr>
        <p:cNvPr id="1" name=""/>
        <p:cNvGrpSpPr/>
        <p:nvPr/>
      </p:nvGrpSpPr>
      <p:grpSpPr/>
      <p:sp>
        <p:nvSpPr>
          <p:cNvPr id="2" name="Rectangle 1"/>
          <p:cNvSpPr/>
          <p:nvPr/>
        </p:nvSpPr>
        <p:spPr>
          <a:xfrm>
            <a:off x="640080" y="2743200"/>
            <a:ext cx="1828800" cy="508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0"/>
            <a:ext cx="10972800" cy="2011680"/>
          </a:xfrm>
          <a:prstGeom prst="rect">
            <a:avLst/>
          </a:prstGeom>
          <a:noFill/>
        </p:spPr>
        <p:txBody>
          <a:bodyPr wrap="square" anchor="t" lIns="50800" rIns="50800" tIns="25400" bIns="25400">
            <a:spAutoFit/>
          </a:bodyPr>
          <a:lstStyle/>
          <a:p>
            <a:pPr algn="l">
              <a:spcAft>
                <a:spcPts val="800"/>
              </a:spcAft>
            </a:pPr>
            <a:r>
              <a:rPr sz="4200" b="1" i="0">
                <a:solidFill>
                  <a:srgbClr val="FFFFFF"/>
                </a:solidFill>
                <a:latin typeface="Georgia"/>
              </a:rPr>
              <a:t>Meet the giants</a:t>
            </a:r>
          </a:p>
          <a:p>
            <a:pPr algn="l" rtl="1">
              <a:spcAft>
                <a:spcPts val="0"/>
              </a:spcAft>
            </a:pPr>
            <a:r>
              <a:rPr sz="2600" b="0" i="0">
                <a:solidFill>
                  <a:srgbClr val="C49A45"/>
                </a:solidFill>
                <a:latin typeface="Traditional Arabic"/>
                <a:cs typeface="Traditional Arabic"/>
              </a:rPr>
              <a:t>عظیم مؤرخین سے ملیے</a:t>
            </a:r>
          </a:p>
        </p:txBody>
      </p:sp>
      <p:sp>
        <p:nvSpPr>
          <p:cNvPr id="4" name="TextBox 3"/>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Section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THE PIONEERS — WHO FIRST WROTE THE PROPHET'S ﷺ LIFE DOWN</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rPr>
              <a:t>The seerah pioneers</a:t>
            </a:r>
          </a:p>
        </p:txBody>
      </p:sp>
      <p:sp>
        <p:nvSpPr>
          <p:cNvPr id="5" name="Rectangle 4"/>
          <p:cNvSpPr/>
          <p:nvPr/>
        </p:nvSpPr>
        <p:spPr>
          <a:xfrm>
            <a:off x="640080" y="2377440"/>
            <a:ext cx="3454298" cy="27432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377440"/>
            <a:ext cx="3454298"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2523744"/>
            <a:ext cx="3125114" cy="2468880"/>
          </a:xfrm>
          <a:prstGeom prst="rect">
            <a:avLst/>
          </a:prstGeom>
          <a:noFill/>
        </p:spPr>
        <p:txBody>
          <a:bodyPr wrap="square" anchor="t" lIns="50800" rIns="50800" tIns="25400" bIns="25400">
            <a:spAutoFit/>
          </a:bodyPr>
          <a:lstStyle/>
          <a:p>
            <a:pPr algn="l">
              <a:spcAft>
                <a:spcPts val="200"/>
              </a:spcAft>
            </a:pPr>
            <a:r>
              <a:rPr sz="1900" b="1" i="0">
                <a:solidFill>
                  <a:srgbClr val="0A322E"/>
                </a:solidFill>
                <a:latin typeface="Segoe UI"/>
              </a:rPr>
              <a:t>Ibn Shihāb al-Zuhrī</a:t>
            </a:r>
          </a:p>
          <a:p>
            <a:pPr algn="l">
              <a:spcAft>
                <a:spcPts val="600"/>
              </a:spcAft>
            </a:pPr>
            <a:r>
              <a:rPr sz="1300" b="1" i="0">
                <a:solidFill>
                  <a:srgbClr val="C49A45"/>
                </a:solidFill>
                <a:latin typeface="Segoe UI"/>
              </a:rPr>
              <a:t>d. 124 AH</a:t>
            </a:r>
          </a:p>
          <a:p>
            <a:pPr algn="l">
              <a:spcAft>
                <a:spcPts val="0"/>
              </a:spcAft>
            </a:pPr>
            <a:r>
              <a:rPr sz="1500" b="0" i="0">
                <a:solidFill>
                  <a:srgbClr val="1C2321"/>
                </a:solidFill>
                <a:latin typeface="Segoe UI"/>
              </a:rPr>
              <a:t>Compiled the first book of maghāzī — under a caliph's order.</a:t>
            </a:r>
          </a:p>
        </p:txBody>
      </p:sp>
      <p:sp>
        <p:nvSpPr>
          <p:cNvPr id="8" name="Rectangle 7"/>
          <p:cNvSpPr/>
          <p:nvPr/>
        </p:nvSpPr>
        <p:spPr>
          <a:xfrm>
            <a:off x="4368698" y="2377440"/>
            <a:ext cx="3454298" cy="27432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68698" y="2377440"/>
            <a:ext cx="3454298"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3290" y="2523744"/>
            <a:ext cx="3125114" cy="2468880"/>
          </a:xfrm>
          <a:prstGeom prst="rect">
            <a:avLst/>
          </a:prstGeom>
          <a:noFill/>
        </p:spPr>
        <p:txBody>
          <a:bodyPr wrap="square" anchor="t" lIns="50800" rIns="50800" tIns="25400" bIns="25400">
            <a:spAutoFit/>
          </a:bodyPr>
          <a:lstStyle/>
          <a:p>
            <a:pPr algn="l">
              <a:spcAft>
                <a:spcPts val="200"/>
              </a:spcAft>
            </a:pPr>
            <a:r>
              <a:rPr sz="1900" b="1" i="0">
                <a:solidFill>
                  <a:srgbClr val="0A322E"/>
                </a:solidFill>
                <a:latin typeface="Segoe UI"/>
              </a:rPr>
              <a:t>Ibn Isḥāq</a:t>
            </a:r>
          </a:p>
          <a:p>
            <a:pPr algn="l">
              <a:spcAft>
                <a:spcPts val="600"/>
              </a:spcAft>
            </a:pPr>
            <a:r>
              <a:rPr sz="1300" b="1" i="0">
                <a:solidFill>
                  <a:srgbClr val="C49A45"/>
                </a:solidFill>
                <a:latin typeface="Segoe UI"/>
              </a:rPr>
              <a:t>d. 151 AH</a:t>
            </a:r>
          </a:p>
          <a:p>
            <a:pPr algn="l">
              <a:spcAft>
                <a:spcPts val="0"/>
              </a:spcAft>
            </a:pPr>
            <a:r>
              <a:rPr sz="1500" b="0" i="0">
                <a:solidFill>
                  <a:srgbClr val="1C2321"/>
                </a:solidFill>
                <a:latin typeface="Segoe UI"/>
              </a:rPr>
              <a:t>The great seerah collector; gathered everything (not always with strict chains).</a:t>
            </a:r>
          </a:p>
        </p:txBody>
      </p:sp>
      <p:sp>
        <p:nvSpPr>
          <p:cNvPr id="11" name="Rectangle 10"/>
          <p:cNvSpPr/>
          <p:nvPr/>
        </p:nvSpPr>
        <p:spPr>
          <a:xfrm>
            <a:off x="8097316" y="2377440"/>
            <a:ext cx="3454298" cy="27432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97316" y="2377440"/>
            <a:ext cx="3454298"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1908" y="2523744"/>
            <a:ext cx="3125114" cy="2468880"/>
          </a:xfrm>
          <a:prstGeom prst="rect">
            <a:avLst/>
          </a:prstGeom>
          <a:noFill/>
        </p:spPr>
        <p:txBody>
          <a:bodyPr wrap="square" anchor="t" lIns="50800" rIns="50800" tIns="25400" bIns="25400">
            <a:spAutoFit/>
          </a:bodyPr>
          <a:lstStyle/>
          <a:p>
            <a:pPr algn="l">
              <a:spcAft>
                <a:spcPts val="200"/>
              </a:spcAft>
            </a:pPr>
            <a:r>
              <a:rPr sz="1900" b="1" i="0">
                <a:solidFill>
                  <a:srgbClr val="0A322E"/>
                </a:solidFill>
                <a:latin typeface="Segoe UI"/>
              </a:rPr>
              <a:t>Ibn Hishām</a:t>
            </a:r>
          </a:p>
          <a:p>
            <a:pPr algn="l">
              <a:spcAft>
                <a:spcPts val="600"/>
              </a:spcAft>
            </a:pPr>
            <a:r>
              <a:rPr sz="1300" b="1" i="0">
                <a:solidFill>
                  <a:srgbClr val="C49A45"/>
                </a:solidFill>
                <a:latin typeface="Segoe UI"/>
              </a:rPr>
              <a:t>d. 213 AH</a:t>
            </a:r>
          </a:p>
          <a:p>
            <a:pPr algn="l">
              <a:spcAft>
                <a:spcPts val="0"/>
              </a:spcAft>
            </a:pPr>
            <a:r>
              <a:rPr sz="1500" b="0" i="0">
                <a:solidFill>
                  <a:srgbClr val="1C2321"/>
                </a:solidFill>
                <a:latin typeface="Segoe UI"/>
              </a:rPr>
              <a:t>Refined Ibn Isḥāq into Sīrat Ibn Hishām — the most popular seerah source of all.</a:t>
            </a:r>
          </a:p>
        </p:txBody>
      </p:sp>
      <p:sp>
        <p:nvSpPr>
          <p:cNvPr id="14" name="TextBox 13"/>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Giants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THE VIVID ONE AND THE CAREFUL ONE — TEACHER &amp; STUDENT</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rPr>
              <a:t>Wāqidī &amp; Ibn Saʿd</a:t>
            </a:r>
          </a:p>
        </p:txBody>
      </p:sp>
      <p:sp>
        <p:nvSpPr>
          <p:cNvPr id="5" name="Rectangle 4"/>
          <p:cNvSpPr/>
          <p:nvPr/>
        </p:nvSpPr>
        <p:spPr>
          <a:xfrm>
            <a:off x="640080" y="2377440"/>
            <a:ext cx="5318607" cy="292608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377440"/>
            <a:ext cx="5318607"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2523744"/>
            <a:ext cx="4989423" cy="2651760"/>
          </a:xfrm>
          <a:prstGeom prst="rect">
            <a:avLst/>
          </a:prstGeom>
          <a:noFill/>
        </p:spPr>
        <p:txBody>
          <a:bodyPr wrap="square" anchor="t" lIns="50800" rIns="50800" tIns="25400" bIns="25400">
            <a:spAutoFit/>
          </a:bodyPr>
          <a:lstStyle/>
          <a:p>
            <a:pPr algn="l">
              <a:spcAft>
                <a:spcPts val="200"/>
              </a:spcAft>
            </a:pPr>
            <a:r>
              <a:rPr sz="2300" b="1" i="0">
                <a:solidFill>
                  <a:srgbClr val="0A322E"/>
                </a:solidFill>
                <a:latin typeface="Segoe UI"/>
              </a:rPr>
              <a:t>Al-Wāqidī</a:t>
            </a:r>
          </a:p>
          <a:p>
            <a:pPr algn="l">
              <a:spcAft>
                <a:spcPts val="600"/>
              </a:spcAft>
            </a:pPr>
            <a:r>
              <a:rPr sz="1300" b="1" i="0">
                <a:solidFill>
                  <a:srgbClr val="C49A45"/>
                </a:solidFill>
                <a:latin typeface="Segoe UI"/>
              </a:rPr>
              <a:t>d. 207 AH</a:t>
            </a:r>
          </a:p>
          <a:p>
            <a:pPr algn="l">
              <a:spcAft>
                <a:spcPts val="0"/>
              </a:spcAft>
            </a:pPr>
            <a:r>
              <a:rPr sz="1800" b="0" i="0">
                <a:solidFill>
                  <a:srgbClr val="1C2321"/>
                </a:solidFill>
                <a:latin typeface="Segoe UI"/>
              </a:rPr>
              <a:t>A judge of Baghdad and a giant memory. His Maghāzī is vivid and detailed — but he gathered weak material too, so scholars handle him with care.</a:t>
            </a:r>
          </a:p>
        </p:txBody>
      </p:sp>
      <p:sp>
        <p:nvSpPr>
          <p:cNvPr id="8" name="Rectangle 7"/>
          <p:cNvSpPr/>
          <p:nvPr/>
        </p:nvSpPr>
        <p:spPr>
          <a:xfrm>
            <a:off x="6233007" y="2377440"/>
            <a:ext cx="5318607" cy="292608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3007" y="2377440"/>
            <a:ext cx="5318607"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7599" y="2523744"/>
            <a:ext cx="4989423" cy="2651760"/>
          </a:xfrm>
          <a:prstGeom prst="rect">
            <a:avLst/>
          </a:prstGeom>
          <a:noFill/>
        </p:spPr>
        <p:txBody>
          <a:bodyPr wrap="square" anchor="t" lIns="50800" rIns="50800" tIns="25400" bIns="25400">
            <a:spAutoFit/>
          </a:bodyPr>
          <a:lstStyle/>
          <a:p>
            <a:pPr algn="l">
              <a:spcAft>
                <a:spcPts val="200"/>
              </a:spcAft>
            </a:pPr>
            <a:r>
              <a:rPr sz="2300" b="1" i="0">
                <a:solidFill>
                  <a:srgbClr val="0A322E"/>
                </a:solidFill>
                <a:latin typeface="Segoe UI"/>
              </a:rPr>
              <a:t>Ibn Saʿd</a:t>
            </a:r>
          </a:p>
          <a:p>
            <a:pPr algn="l">
              <a:spcAft>
                <a:spcPts val="600"/>
              </a:spcAft>
            </a:pPr>
            <a:r>
              <a:rPr sz="1300" b="1" i="0">
                <a:solidFill>
                  <a:srgbClr val="C49A45"/>
                </a:solidFill>
                <a:latin typeface="Segoe UI"/>
              </a:rPr>
              <a:t>d. 230 AH</a:t>
            </a:r>
          </a:p>
          <a:p>
            <a:pPr algn="l">
              <a:spcAft>
                <a:spcPts val="0"/>
              </a:spcAft>
            </a:pPr>
            <a:r>
              <a:rPr sz="1800" b="0" i="0">
                <a:solidFill>
                  <a:srgbClr val="1C2321"/>
                </a:solidFill>
                <a:latin typeface="Segoe UI"/>
              </a:rPr>
              <a:t>Wāqidī's student — but stricter. His Ṭabaqāt al-Kubrā is a huge, ordered treasury of the Companions' lives that no historian can do without.</a:t>
            </a:r>
          </a:p>
        </p:txBody>
      </p:sp>
      <p:sp>
        <p:nvSpPr>
          <p:cNvPr id="11" name="TextBox 10"/>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Giants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THE FIRST TRUE TĀRĪKHS — AND A CAUTION</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rPr>
              <a:t>The encyclopedists</a:t>
            </a:r>
          </a:p>
        </p:txBody>
      </p:sp>
      <p:sp>
        <p:nvSpPr>
          <p:cNvPr id="5" name="Rectangle 4"/>
          <p:cNvSpPr/>
          <p:nvPr/>
        </p:nvSpPr>
        <p:spPr>
          <a:xfrm>
            <a:off x="640080" y="2286000"/>
            <a:ext cx="5318607" cy="219456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286000"/>
            <a:ext cx="5318607"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2432304"/>
            <a:ext cx="4989423" cy="1920240"/>
          </a:xfrm>
          <a:prstGeom prst="rect">
            <a:avLst/>
          </a:prstGeom>
          <a:noFill/>
        </p:spPr>
        <p:txBody>
          <a:bodyPr wrap="square" anchor="t" lIns="50800" rIns="50800" tIns="25400" bIns="25400">
            <a:spAutoFit/>
          </a:bodyPr>
          <a:lstStyle/>
          <a:p>
            <a:pPr algn="l">
              <a:spcAft>
                <a:spcPts val="200"/>
              </a:spcAft>
            </a:pPr>
            <a:r>
              <a:rPr sz="2100" b="1" i="0">
                <a:solidFill>
                  <a:srgbClr val="0A322E"/>
                </a:solidFill>
                <a:latin typeface="Segoe UI"/>
              </a:rPr>
              <a:t>Khalīfa b. Khayyāṭ</a:t>
            </a:r>
          </a:p>
          <a:p>
            <a:pPr algn="l">
              <a:spcAft>
                <a:spcPts val="600"/>
              </a:spcAft>
            </a:pPr>
            <a:r>
              <a:rPr sz="1300" b="1" i="0">
                <a:solidFill>
                  <a:srgbClr val="C49A45"/>
                </a:solidFill>
                <a:latin typeface="Segoe UI"/>
              </a:rPr>
              <a:t>d. 240 AH</a:t>
            </a:r>
          </a:p>
          <a:p>
            <a:pPr algn="l">
              <a:spcAft>
                <a:spcPts val="0"/>
              </a:spcAft>
            </a:pPr>
            <a:r>
              <a:rPr sz="1700" b="0" i="0">
                <a:solidFill>
                  <a:srgbClr val="1C2321"/>
                </a:solidFill>
                <a:latin typeface="Segoe UI"/>
              </a:rPr>
              <a:t>His annalistic Tārīkh is arguably the first proper Muslim history — sober, year-by-year, reliable narrators.</a:t>
            </a:r>
          </a:p>
        </p:txBody>
      </p:sp>
      <p:sp>
        <p:nvSpPr>
          <p:cNvPr id="8" name="Rectangle 7"/>
          <p:cNvSpPr/>
          <p:nvPr/>
        </p:nvSpPr>
        <p:spPr>
          <a:xfrm>
            <a:off x="6233007" y="2286000"/>
            <a:ext cx="5318607" cy="219456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3007" y="2286000"/>
            <a:ext cx="5318607"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7599" y="2432304"/>
            <a:ext cx="4989423" cy="1920240"/>
          </a:xfrm>
          <a:prstGeom prst="rect">
            <a:avLst/>
          </a:prstGeom>
          <a:noFill/>
        </p:spPr>
        <p:txBody>
          <a:bodyPr wrap="square" anchor="t" lIns="50800" rIns="50800" tIns="25400" bIns="25400">
            <a:spAutoFit/>
          </a:bodyPr>
          <a:lstStyle/>
          <a:p>
            <a:pPr algn="l">
              <a:spcAft>
                <a:spcPts val="200"/>
              </a:spcAft>
            </a:pPr>
            <a:r>
              <a:rPr sz="2100" b="1" i="0">
                <a:solidFill>
                  <a:srgbClr val="0A322E"/>
                </a:solidFill>
                <a:latin typeface="Segoe UI"/>
              </a:rPr>
              <a:t>Al-Balādhurī</a:t>
            </a:r>
          </a:p>
          <a:p>
            <a:pPr algn="l">
              <a:spcAft>
                <a:spcPts val="600"/>
              </a:spcAft>
            </a:pPr>
            <a:r>
              <a:rPr sz="1300" b="1" i="0">
                <a:solidFill>
                  <a:srgbClr val="C49A45"/>
                </a:solidFill>
                <a:latin typeface="Segoe UI"/>
              </a:rPr>
              <a:t>d. 279 AH</a:t>
            </a:r>
          </a:p>
          <a:p>
            <a:pPr algn="l">
              <a:spcAft>
                <a:spcPts val="0"/>
              </a:spcAft>
            </a:pPr>
            <a:r>
              <a:rPr sz="1700" b="0" i="0">
                <a:solidFill>
                  <a:srgbClr val="1C2321"/>
                </a:solidFill>
                <a:latin typeface="Segoe UI"/>
              </a:rPr>
              <a:t>Futūḥ al-Buldān &amp; Ansāb al-Ashrāf — careful, city-by-city conquests; a primary source.</a:t>
            </a:r>
          </a:p>
        </p:txBody>
      </p:sp>
      <p:sp>
        <p:nvSpPr>
          <p:cNvPr id="11" name="Rectangle 10"/>
          <p:cNvSpPr/>
          <p:nvPr/>
        </p:nvSpPr>
        <p:spPr>
          <a:xfrm>
            <a:off x="640080" y="4754880"/>
            <a:ext cx="10908792" cy="1371600"/>
          </a:xfrm>
          <a:prstGeom prst="rect">
            <a:avLst/>
          </a:prstGeom>
          <a:solidFill>
            <a:srgbClr val="EFE9DB"/>
          </a:solidFill>
          <a:ln w="19050">
            <a:solidFill>
              <a:srgbClr val="7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892040"/>
            <a:ext cx="10332720" cy="1097280"/>
          </a:xfrm>
          <a:prstGeom prst="rect">
            <a:avLst/>
          </a:prstGeom>
          <a:noFill/>
        </p:spPr>
        <p:txBody>
          <a:bodyPr wrap="square" anchor="t" lIns="50800" rIns="50800" tIns="25400" bIns="25400">
            <a:spAutoFit/>
          </a:bodyPr>
          <a:lstStyle/>
          <a:p>
            <a:pPr algn="l">
              <a:spcAft>
                <a:spcPts val="400"/>
              </a:spcAft>
            </a:pPr>
            <a:r>
              <a:rPr sz="1600" b="1" i="0">
                <a:solidFill>
                  <a:srgbClr val="7A2E2E"/>
                </a:solidFill>
                <a:latin typeface="Segoe UI"/>
              </a:rPr>
              <a:t>⚠  Know your author's lens:</a:t>
            </a:r>
          </a:p>
          <a:p>
            <a:pPr algn="l">
              <a:spcAft>
                <a:spcPts val="0"/>
              </a:spcAft>
            </a:pPr>
            <a:r>
              <a:rPr sz="1700" b="0" i="0">
                <a:solidFill>
                  <a:srgbClr val="1C2321"/>
                </a:solidFill>
                <a:latin typeface="Segoe UI"/>
              </a:rPr>
              <a:t>Some early historians — e.g. al-Yaʿqūbī (3rd c.) and al-Masʿūdī (d. 346 AH) — were Shīʿa; parts of their work tilt against the Companions. We read them aware, not blind.</a:t>
            </a:r>
          </a:p>
        </p:txBody>
      </p:sp>
      <p:sp>
        <p:nvSpPr>
          <p:cNvPr id="13" name="TextBox 12"/>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Giants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322E"/>
        </a:solidFill>
        <a:effectLst/>
      </p:bgPr>
    </p:bg>
    <p:spTree>
      <p:nvGrpSpPr>
        <p:cNvPr id="1" name=""/>
        <p:cNvGrpSpPr/>
        <p:nvPr/>
      </p:nvGrpSpPr>
      <p:grpSpPr/>
      <p:sp>
        <p:nvSpPr>
          <p:cNvPr id="2" name="Rectangle 1"/>
          <p:cNvSpPr/>
          <p:nvPr/>
        </p:nvSpPr>
        <p:spPr>
          <a:xfrm>
            <a:off x="640080" y="2743200"/>
            <a:ext cx="1828800" cy="508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0"/>
            <a:ext cx="10972800" cy="2011680"/>
          </a:xfrm>
          <a:prstGeom prst="rect">
            <a:avLst/>
          </a:prstGeom>
          <a:noFill/>
        </p:spPr>
        <p:txBody>
          <a:bodyPr wrap="square" anchor="t" lIns="50800" rIns="50800" tIns="25400" bIns="25400">
            <a:spAutoFit/>
          </a:bodyPr>
          <a:lstStyle/>
          <a:p>
            <a:pPr algn="l">
              <a:spcAft>
                <a:spcPts val="800"/>
              </a:spcAft>
            </a:pPr>
            <a:r>
              <a:rPr sz="4200" b="1" i="0">
                <a:solidFill>
                  <a:srgbClr val="FFFFFF"/>
                </a:solidFill>
                <a:latin typeface="Georgia"/>
              </a:rPr>
              <a:t>The five mother-books</a:t>
            </a:r>
          </a:p>
          <a:p>
            <a:pPr algn="l" rtl="1">
              <a:spcAft>
                <a:spcPts val="0"/>
              </a:spcAft>
            </a:pPr>
            <a:r>
              <a:rPr sz="2600" b="0" i="0">
                <a:solidFill>
                  <a:srgbClr val="C49A45"/>
                </a:solidFill>
                <a:latin typeface="Traditional Arabic"/>
                <a:cs typeface="Traditional Arabic"/>
              </a:rPr>
              <a:t>تاریخ کی پانچ اہم کتب (موسوعات)</a:t>
            </a:r>
          </a:p>
        </p:txBody>
      </p:sp>
      <p:sp>
        <p:nvSpPr>
          <p:cNvPr id="4" name="TextBox 3"/>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Section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THE FIVE GREAT ENCYCLOPEDIC HISTORIES EVERYTHING ELSE DRAWS ON</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rPr>
              <a:t>The library shelf</a:t>
            </a:r>
          </a:p>
        </p:txBody>
      </p:sp>
      <p:sp>
        <p:nvSpPr>
          <p:cNvPr id="5" name="Rectangle 4"/>
          <p:cNvSpPr/>
          <p:nvPr/>
        </p:nvSpPr>
        <p:spPr>
          <a:xfrm>
            <a:off x="640080" y="2468880"/>
            <a:ext cx="1962851" cy="27432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468880"/>
            <a:ext cx="1962851"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2615184"/>
            <a:ext cx="1633667" cy="2468880"/>
          </a:xfrm>
          <a:prstGeom prst="rect">
            <a:avLst/>
          </a:prstGeom>
          <a:noFill/>
        </p:spPr>
        <p:txBody>
          <a:bodyPr wrap="square" anchor="t" lIns="50800" rIns="50800" tIns="25400" bIns="25400">
            <a:spAutoFit/>
          </a:bodyPr>
          <a:lstStyle/>
          <a:p>
            <a:pPr algn="l">
              <a:spcAft>
                <a:spcPts val="200"/>
              </a:spcAft>
            </a:pPr>
            <a:r>
              <a:rPr sz="1600" b="1" i="0">
                <a:solidFill>
                  <a:srgbClr val="0A322E"/>
                </a:solidFill>
                <a:latin typeface="Segoe UI"/>
              </a:rPr>
              <a:t>Tārīkh al-Ṭabarī</a:t>
            </a:r>
          </a:p>
          <a:p>
            <a:pPr algn="l">
              <a:spcAft>
                <a:spcPts val="600"/>
              </a:spcAft>
            </a:pPr>
            <a:r>
              <a:rPr sz="1300" b="1" i="0">
                <a:solidFill>
                  <a:srgbClr val="C49A45"/>
                </a:solidFill>
                <a:latin typeface="Segoe UI"/>
              </a:rPr>
              <a:t>Ṭabarī · d. 310</a:t>
            </a:r>
          </a:p>
          <a:p>
            <a:pPr algn="l">
              <a:spcAft>
                <a:spcPts val="0"/>
              </a:spcAft>
            </a:pPr>
            <a:r>
              <a:rPr sz="1400" b="0" i="0">
                <a:solidFill>
                  <a:srgbClr val="1C2321"/>
                </a:solidFill>
                <a:latin typeface="Segoe UI"/>
              </a:rPr>
              <a:t>The great well: every report with its chain.</a:t>
            </a:r>
          </a:p>
        </p:txBody>
      </p:sp>
      <p:sp>
        <p:nvSpPr>
          <p:cNvPr id="8" name="Rectangle 7"/>
          <p:cNvSpPr/>
          <p:nvPr/>
        </p:nvSpPr>
        <p:spPr>
          <a:xfrm>
            <a:off x="2877251" y="2468880"/>
            <a:ext cx="1962851" cy="27432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77251" y="2468880"/>
            <a:ext cx="1962851"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1843" y="2615184"/>
            <a:ext cx="1633667" cy="2468880"/>
          </a:xfrm>
          <a:prstGeom prst="rect">
            <a:avLst/>
          </a:prstGeom>
          <a:noFill/>
        </p:spPr>
        <p:txBody>
          <a:bodyPr wrap="square" anchor="t" lIns="50800" rIns="50800" tIns="25400" bIns="25400">
            <a:spAutoFit/>
          </a:bodyPr>
          <a:lstStyle/>
          <a:p>
            <a:pPr algn="l">
              <a:spcAft>
                <a:spcPts val="200"/>
              </a:spcAft>
            </a:pPr>
            <a:r>
              <a:rPr sz="1600" b="1" i="0">
                <a:solidFill>
                  <a:srgbClr val="0A322E"/>
                </a:solidFill>
                <a:latin typeface="Segoe UI"/>
              </a:rPr>
              <a:t>Al-Kāmil</a:t>
            </a:r>
          </a:p>
          <a:p>
            <a:pPr algn="l">
              <a:spcAft>
                <a:spcPts val="600"/>
              </a:spcAft>
            </a:pPr>
            <a:r>
              <a:rPr sz="1300" b="1" i="0">
                <a:solidFill>
                  <a:srgbClr val="C49A45"/>
                </a:solidFill>
                <a:latin typeface="Segoe UI"/>
              </a:rPr>
              <a:t>Ibn al-Athīr · d. 630</a:t>
            </a:r>
          </a:p>
          <a:p>
            <a:pPr algn="l">
              <a:spcAft>
                <a:spcPts val="0"/>
              </a:spcAft>
            </a:pPr>
            <a:r>
              <a:rPr sz="1400" b="0" i="0">
                <a:solidFill>
                  <a:srgbClr val="1C2321"/>
                </a:solidFill>
                <a:latin typeface="Segoe UI"/>
              </a:rPr>
              <a:t>Year-by-year, distilled and readable.</a:t>
            </a:r>
          </a:p>
        </p:txBody>
      </p:sp>
      <p:sp>
        <p:nvSpPr>
          <p:cNvPr id="11" name="Rectangle 10"/>
          <p:cNvSpPr/>
          <p:nvPr/>
        </p:nvSpPr>
        <p:spPr>
          <a:xfrm>
            <a:off x="5114422" y="2468880"/>
            <a:ext cx="1962851" cy="27432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114422" y="2468880"/>
            <a:ext cx="1962851"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9014" y="2615184"/>
            <a:ext cx="1633667" cy="2468880"/>
          </a:xfrm>
          <a:prstGeom prst="rect">
            <a:avLst/>
          </a:prstGeom>
          <a:noFill/>
        </p:spPr>
        <p:txBody>
          <a:bodyPr wrap="square" anchor="t" lIns="50800" rIns="50800" tIns="25400" bIns="25400">
            <a:spAutoFit/>
          </a:bodyPr>
          <a:lstStyle/>
          <a:p>
            <a:pPr algn="l">
              <a:spcAft>
                <a:spcPts val="200"/>
              </a:spcAft>
            </a:pPr>
            <a:r>
              <a:rPr sz="1600" b="1" i="0">
                <a:solidFill>
                  <a:srgbClr val="0A322E"/>
                </a:solidFill>
                <a:latin typeface="Segoe UI"/>
              </a:rPr>
              <a:t>Tārīkh al-Islām</a:t>
            </a:r>
          </a:p>
          <a:p>
            <a:pPr algn="l">
              <a:spcAft>
                <a:spcPts val="600"/>
              </a:spcAft>
            </a:pPr>
            <a:r>
              <a:rPr sz="1300" b="1" i="0">
                <a:solidFill>
                  <a:srgbClr val="C49A45"/>
                </a:solidFill>
                <a:latin typeface="Segoe UI"/>
              </a:rPr>
              <a:t>Dhahabī · d. 748</a:t>
            </a:r>
          </a:p>
          <a:p>
            <a:pPr algn="l">
              <a:spcAft>
                <a:spcPts val="0"/>
              </a:spcAft>
            </a:pPr>
            <a:r>
              <a:rPr sz="1400" b="0" i="0">
                <a:solidFill>
                  <a:srgbClr val="1C2321"/>
                </a:solidFill>
                <a:latin typeface="Segoe UI"/>
              </a:rPr>
              <a:t>The most careful sieve of all.</a:t>
            </a:r>
          </a:p>
        </p:txBody>
      </p:sp>
      <p:sp>
        <p:nvSpPr>
          <p:cNvPr id="14" name="Rectangle 13"/>
          <p:cNvSpPr/>
          <p:nvPr/>
        </p:nvSpPr>
        <p:spPr>
          <a:xfrm>
            <a:off x="7351593" y="2468880"/>
            <a:ext cx="1962851" cy="27432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51593" y="2468880"/>
            <a:ext cx="1962851"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16185" y="2615184"/>
            <a:ext cx="1633667" cy="2468880"/>
          </a:xfrm>
          <a:prstGeom prst="rect">
            <a:avLst/>
          </a:prstGeom>
          <a:noFill/>
        </p:spPr>
        <p:txBody>
          <a:bodyPr wrap="square" anchor="t" lIns="50800" rIns="50800" tIns="25400" bIns="25400">
            <a:spAutoFit/>
          </a:bodyPr>
          <a:lstStyle/>
          <a:p>
            <a:pPr algn="l">
              <a:spcAft>
                <a:spcPts val="200"/>
              </a:spcAft>
            </a:pPr>
            <a:r>
              <a:rPr sz="1600" b="1" i="0">
                <a:solidFill>
                  <a:srgbClr val="0A322E"/>
                </a:solidFill>
                <a:latin typeface="Segoe UI"/>
              </a:rPr>
              <a:t>Al-Bidāya wa'l-Nihāya</a:t>
            </a:r>
          </a:p>
          <a:p>
            <a:pPr algn="l">
              <a:spcAft>
                <a:spcPts val="600"/>
              </a:spcAft>
            </a:pPr>
            <a:r>
              <a:rPr sz="1300" b="1" i="0">
                <a:solidFill>
                  <a:srgbClr val="C49A45"/>
                </a:solidFill>
                <a:latin typeface="Segoe UI"/>
              </a:rPr>
              <a:t>Ibn Kathīr · d. 774</a:t>
            </a:r>
          </a:p>
          <a:p>
            <a:pPr algn="l">
              <a:spcAft>
                <a:spcPts val="0"/>
              </a:spcAft>
            </a:pPr>
            <a:r>
              <a:rPr sz="1400" b="0" i="0">
                <a:solidFill>
                  <a:srgbClr val="1C2321"/>
                </a:solidFill>
                <a:latin typeface="Segoe UI"/>
              </a:rPr>
              <a:t>Reason + chains; the reader-friendly one.</a:t>
            </a:r>
          </a:p>
        </p:txBody>
      </p:sp>
      <p:sp>
        <p:nvSpPr>
          <p:cNvPr id="17" name="Rectangle 16"/>
          <p:cNvSpPr/>
          <p:nvPr/>
        </p:nvSpPr>
        <p:spPr>
          <a:xfrm>
            <a:off x="9588764" y="2468880"/>
            <a:ext cx="1962851" cy="27432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588764" y="2468880"/>
            <a:ext cx="1962851"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53356" y="2615184"/>
            <a:ext cx="1633667" cy="2468880"/>
          </a:xfrm>
          <a:prstGeom prst="rect">
            <a:avLst/>
          </a:prstGeom>
          <a:noFill/>
        </p:spPr>
        <p:txBody>
          <a:bodyPr wrap="square" anchor="t" lIns="50800" rIns="50800" tIns="25400" bIns="25400">
            <a:spAutoFit/>
          </a:bodyPr>
          <a:lstStyle/>
          <a:p>
            <a:pPr algn="l">
              <a:spcAft>
                <a:spcPts val="200"/>
              </a:spcAft>
            </a:pPr>
            <a:r>
              <a:rPr sz="1600" b="1" i="0">
                <a:solidFill>
                  <a:srgbClr val="0A322E"/>
                </a:solidFill>
                <a:latin typeface="Segoe UI"/>
              </a:rPr>
              <a:t>Tārīkh Ibn Khaldūn</a:t>
            </a:r>
          </a:p>
          <a:p>
            <a:pPr algn="l">
              <a:spcAft>
                <a:spcPts val="600"/>
              </a:spcAft>
            </a:pPr>
            <a:r>
              <a:rPr sz="1300" b="1" i="0">
                <a:solidFill>
                  <a:srgbClr val="C49A45"/>
                </a:solidFill>
                <a:latin typeface="Segoe UI"/>
              </a:rPr>
              <a:t>Ibn Khaldūn · d. 808</a:t>
            </a:r>
          </a:p>
          <a:p>
            <a:pPr algn="l">
              <a:spcAft>
                <a:spcPts val="0"/>
              </a:spcAft>
            </a:pPr>
            <a:r>
              <a:rPr sz="1400" b="0" i="0">
                <a:solidFill>
                  <a:srgbClr val="1C2321"/>
                </a:solidFill>
                <a:latin typeface="Segoe UI"/>
              </a:rPr>
              <a:t>Its Muqaddima founded social science.</a:t>
            </a:r>
          </a:p>
        </p:txBody>
      </p:sp>
      <p:sp>
        <p:nvSpPr>
          <p:cNvPr id="20" name="TextBox 19"/>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Mother-books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THE SINGLE MOST IMPORTANT SOURCE — AND A FAMOUS MIX-UP</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rPr>
              <a:t>Tārīkh al-Ṭabarī</a:t>
            </a:r>
          </a:p>
        </p:txBody>
      </p:sp>
      <p:sp>
        <p:nvSpPr>
          <p:cNvPr id="5" name="TextBox 4"/>
          <p:cNvSpPr txBox="1"/>
          <p:nvPr/>
        </p:nvSpPr>
        <p:spPr>
          <a:xfrm>
            <a:off x="640080" y="1874519"/>
            <a:ext cx="10881360" cy="2468880"/>
          </a:xfrm>
          <a:prstGeom prst="rect">
            <a:avLst/>
          </a:prstGeom>
          <a:noFill/>
        </p:spPr>
        <p:txBody>
          <a:bodyPr wrap="square" anchor="t" lIns="50800" rIns="50800" tIns="25400" bIns="25400">
            <a:spAutoFit/>
          </a:bodyPr>
          <a:lstStyle/>
          <a:p>
            <a:pPr algn="l">
              <a:spcAft>
                <a:spcPts val="1200"/>
              </a:spcAft>
            </a:pPr>
            <a:r>
              <a:rPr sz="2000" b="0" i="0">
                <a:solidFill>
                  <a:srgbClr val="1C2321"/>
                </a:solidFill>
                <a:latin typeface="Segoe UI"/>
              </a:rPr>
              <a:t>•  Abū Jaʿfar Muḥammad b. Jarīr al-Ṭabarī (d. 310 AH) — himself a master mufassir, muḥaddith and faqīh.</a:t>
            </a:r>
          </a:p>
          <a:p>
            <a:pPr algn="l">
              <a:spcAft>
                <a:spcPts val="1200"/>
              </a:spcAft>
            </a:pPr>
            <a:r>
              <a:rPr sz="2000" b="0" i="0">
                <a:solidFill>
                  <a:srgbClr val="1C2321"/>
                </a:solidFill>
                <a:latin typeface="Segoe UI"/>
              </a:rPr>
              <a:t>•  He wrote tārīkh bi'l-riwāyah: he records each report WITH its chain, changing nothing — so reading him is like reading the lost early sources verbatim.</a:t>
            </a:r>
          </a:p>
          <a:p>
            <a:pPr algn="l">
              <a:spcAft>
                <a:spcPts val="1200"/>
              </a:spcAft>
            </a:pPr>
            <a:r>
              <a:rPr sz="2000" b="0" i="0">
                <a:solidFill>
                  <a:srgbClr val="1C2321"/>
                </a:solidFill>
                <a:latin typeface="Segoe UI"/>
              </a:rPr>
              <a:t>•  That is also its catch: he gathered sound AND weak reports, leaving the sifting to us. Don't read it raw without training.</a:t>
            </a:r>
          </a:p>
        </p:txBody>
      </p:sp>
      <p:sp>
        <p:nvSpPr>
          <p:cNvPr id="6" name="Rectangle 5"/>
          <p:cNvSpPr/>
          <p:nvPr/>
        </p:nvSpPr>
        <p:spPr>
          <a:xfrm>
            <a:off x="640080" y="4572000"/>
            <a:ext cx="10908792" cy="1554480"/>
          </a:xfrm>
          <a:prstGeom prst="rect">
            <a:avLst/>
          </a:prstGeom>
          <a:solidFill>
            <a:srgbClr val="EFE9DB"/>
          </a:solidFill>
          <a:ln w="19050">
            <a:solidFill>
              <a:srgbClr val="C49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09160"/>
            <a:ext cx="10332720" cy="1280160"/>
          </a:xfrm>
          <a:prstGeom prst="rect">
            <a:avLst/>
          </a:prstGeom>
          <a:noFill/>
        </p:spPr>
        <p:txBody>
          <a:bodyPr wrap="square" anchor="t" lIns="50800" rIns="50800" tIns="25400" bIns="25400">
            <a:spAutoFit/>
          </a:bodyPr>
          <a:lstStyle/>
          <a:p>
            <a:pPr algn="l">
              <a:spcAft>
                <a:spcPts val="400"/>
              </a:spcAft>
            </a:pPr>
            <a:r>
              <a:rPr sz="1600" b="1" i="0">
                <a:solidFill>
                  <a:srgbClr val="104A43"/>
                </a:solidFill>
                <a:latin typeface="Segoe UI"/>
              </a:rPr>
              <a:t>🎯  FUN FACT — two men, one name:</a:t>
            </a:r>
          </a:p>
          <a:p>
            <a:pPr algn="l">
              <a:spcAft>
                <a:spcPts val="0"/>
              </a:spcAft>
            </a:pPr>
            <a:r>
              <a:rPr sz="1600" b="0" i="0">
                <a:solidFill>
                  <a:srgbClr val="1C2321"/>
                </a:solidFill>
                <a:latin typeface="Segoe UI"/>
              </a:rPr>
              <a:t>There were TWO Abū Jaʿfar Muḥammad b. Jarīr al-Ṭabarīs. Ours (grandson of Yazīd) is the Sunnī imam; the other (descendant of Rustam) was Shīʿa. The name-clash has fooled many — including into calling our Ṭabarī a Shīʿa.</a:t>
            </a:r>
          </a:p>
        </p:txBody>
      </p:sp>
      <p:sp>
        <p:nvSpPr>
          <p:cNvPr id="8" name="TextBox 7"/>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Ṭabarī</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…AND HOW THE OTHER FOUR IMPROVED ON IT</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rPr>
              <a:t>From raw well to refined history</a:t>
            </a:r>
          </a:p>
        </p:txBody>
      </p:sp>
      <p:sp>
        <p:nvSpPr>
          <p:cNvPr id="5" name="TextBox 4"/>
          <p:cNvSpPr txBox="1"/>
          <p:nvPr/>
        </p:nvSpPr>
        <p:spPr>
          <a:xfrm>
            <a:off x="640080" y="1920240"/>
            <a:ext cx="10881360" cy="4114800"/>
          </a:xfrm>
          <a:prstGeom prst="rect">
            <a:avLst/>
          </a:prstGeom>
          <a:noFill/>
        </p:spPr>
        <p:txBody>
          <a:bodyPr wrap="square" anchor="t" lIns="50800" rIns="50800" tIns="25400" bIns="25400">
            <a:spAutoFit/>
          </a:bodyPr>
          <a:lstStyle/>
          <a:p>
            <a:pPr algn="l">
              <a:spcAft>
                <a:spcPts val="1200"/>
              </a:spcAft>
            </a:pPr>
            <a:r>
              <a:rPr sz="2000" b="1" i="0">
                <a:solidFill>
                  <a:srgbClr val="104A43"/>
                </a:solidFill>
                <a:latin typeface="Segoe UI"/>
              </a:rPr>
              <a:t>Al-Kāmil — Ibn al-Athīr (d. 630): </a:t>
            </a:r>
            <a:r>
              <a:rPr sz="2000">
                <a:solidFill>
                  <a:srgbClr val="1C2321"/>
                </a:solidFill>
                <a:latin typeface="Segoe UI"/>
              </a:rPr>
              <a:t>took the gist, dropped the clutter, ran it year-by-year across the whole world.</a:t>
            </a:r>
          </a:p>
          <a:p>
            <a:pPr algn="l">
              <a:spcAft>
                <a:spcPts val="1200"/>
              </a:spcAft>
            </a:pPr>
            <a:r>
              <a:rPr sz="2000" b="1" i="0">
                <a:solidFill>
                  <a:srgbClr val="104A43"/>
                </a:solidFill>
                <a:latin typeface="Segoe UI"/>
              </a:rPr>
              <a:t>Tārīkh al-Islām — al-Dhahabī (d. 748): </a:t>
            </a:r>
            <a:r>
              <a:rPr sz="2000">
                <a:solidFill>
                  <a:srgbClr val="1C2321"/>
                </a:solidFill>
                <a:latin typeface="Segoe UI"/>
              </a:rPr>
              <a:t>the most careful selection; merges history + narrators + generations in one.</a:t>
            </a:r>
          </a:p>
          <a:p>
            <a:pPr algn="l">
              <a:spcAft>
                <a:spcPts val="1200"/>
              </a:spcAft>
            </a:pPr>
            <a:r>
              <a:rPr sz="2000" b="1" i="0">
                <a:solidFill>
                  <a:srgbClr val="104A43"/>
                </a:solidFill>
                <a:latin typeface="Segoe UI"/>
              </a:rPr>
              <a:t>Al-Bidāya wa'l-Nihāya — Ibn Kathīr (d. 774): </a:t>
            </a:r>
            <a:r>
              <a:rPr sz="2000">
                <a:solidFill>
                  <a:srgbClr val="1C2321"/>
                </a:solidFill>
                <a:latin typeface="Segoe UI"/>
              </a:rPr>
              <a:t>weighs chains AND reason; careful with the seerah; the friendliest read.</a:t>
            </a:r>
          </a:p>
          <a:p>
            <a:pPr algn="l">
              <a:spcAft>
                <a:spcPts val="1200"/>
              </a:spcAft>
            </a:pPr>
            <a:r>
              <a:rPr sz="2000" b="1" i="0">
                <a:solidFill>
                  <a:srgbClr val="104A43"/>
                </a:solidFill>
                <a:latin typeface="Segoe UI"/>
              </a:rPr>
              <a:t>Tārīkh Ibn Khaldūn (d. 808): </a:t>
            </a:r>
            <a:r>
              <a:rPr sz="2000">
                <a:solidFill>
                  <a:srgbClr val="1C2321"/>
                </a:solidFill>
                <a:latin typeface="Segoe UI"/>
              </a:rPr>
              <a:t>its Muqaddima theorised why nations rise and fall — the birth of sociology.</a:t>
            </a:r>
          </a:p>
        </p:txBody>
      </p:sp>
      <p:sp>
        <p:nvSpPr>
          <p:cNvPr id="6" name="TextBox 5"/>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The four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TWO TREASURES MOST PEOPLE OVERLOOK</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rPr>
              <a:t>The hidden gems</a:t>
            </a:r>
          </a:p>
        </p:txBody>
      </p:sp>
      <p:sp>
        <p:nvSpPr>
          <p:cNvPr id="5" name="Rectangle 4"/>
          <p:cNvSpPr/>
          <p:nvPr/>
        </p:nvSpPr>
        <p:spPr>
          <a:xfrm>
            <a:off x="640080" y="2377440"/>
            <a:ext cx="5318607" cy="246888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377440"/>
            <a:ext cx="5318607"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2523744"/>
            <a:ext cx="4989423" cy="2194560"/>
          </a:xfrm>
          <a:prstGeom prst="rect">
            <a:avLst/>
          </a:prstGeom>
          <a:noFill/>
        </p:spPr>
        <p:txBody>
          <a:bodyPr wrap="square" anchor="t" lIns="50800" rIns="50800" tIns="25400" bIns="25400">
            <a:spAutoFit/>
          </a:bodyPr>
          <a:lstStyle/>
          <a:p>
            <a:pPr algn="l">
              <a:spcAft>
                <a:spcPts val="200"/>
              </a:spcAft>
            </a:pPr>
            <a:r>
              <a:rPr sz="2200" b="1" i="0">
                <a:solidFill>
                  <a:srgbClr val="0A322E"/>
                </a:solidFill>
                <a:latin typeface="Segoe UI"/>
              </a:rPr>
              <a:t>Al-Muntaẓam</a:t>
            </a:r>
          </a:p>
          <a:p>
            <a:pPr algn="l">
              <a:spcAft>
                <a:spcPts val="600"/>
              </a:spcAft>
            </a:pPr>
            <a:r>
              <a:rPr sz="1300" b="1" i="0">
                <a:solidFill>
                  <a:srgbClr val="C49A45"/>
                </a:solidFill>
                <a:latin typeface="Segoe UI"/>
              </a:rPr>
              <a:t>Ibn al-Jawzī · d. 597 AH</a:t>
            </a:r>
          </a:p>
          <a:p>
            <a:pPr algn="l">
              <a:spcAft>
                <a:spcPts val="0"/>
              </a:spcAft>
            </a:pPr>
            <a:r>
              <a:rPr sz="1800" b="0" i="0">
                <a:solidFill>
                  <a:srgbClr val="1C2321"/>
                </a:solidFill>
                <a:latin typeface="Segoe UI"/>
              </a:rPr>
              <a:t>By a standard of rigour, finer than Ṭabarī in places — yet far less famous.</a:t>
            </a:r>
          </a:p>
        </p:txBody>
      </p:sp>
      <p:sp>
        <p:nvSpPr>
          <p:cNvPr id="8" name="Rectangle 7"/>
          <p:cNvSpPr/>
          <p:nvPr/>
        </p:nvSpPr>
        <p:spPr>
          <a:xfrm>
            <a:off x="6233007" y="2377440"/>
            <a:ext cx="5318607" cy="246888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3007" y="2377440"/>
            <a:ext cx="5318607"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7599" y="2523744"/>
            <a:ext cx="4989423" cy="2194560"/>
          </a:xfrm>
          <a:prstGeom prst="rect">
            <a:avLst/>
          </a:prstGeom>
          <a:noFill/>
        </p:spPr>
        <p:txBody>
          <a:bodyPr wrap="square" anchor="t" lIns="50800" rIns="50800" tIns="25400" bIns="25400">
            <a:spAutoFit/>
          </a:bodyPr>
          <a:lstStyle/>
          <a:p>
            <a:pPr algn="l">
              <a:spcAft>
                <a:spcPts val="200"/>
              </a:spcAft>
            </a:pPr>
            <a:r>
              <a:rPr sz="2200" b="1" i="0">
                <a:solidFill>
                  <a:srgbClr val="0A322E"/>
                </a:solidFill>
                <a:latin typeface="Segoe UI"/>
              </a:rPr>
              <a:t>Mir'āt al-Zamān</a:t>
            </a:r>
          </a:p>
          <a:p>
            <a:pPr algn="l">
              <a:spcAft>
                <a:spcPts val="600"/>
              </a:spcAft>
            </a:pPr>
            <a:r>
              <a:rPr sz="1300" b="1" i="0">
                <a:solidFill>
                  <a:srgbClr val="C49A45"/>
                </a:solidFill>
                <a:latin typeface="Segoe UI"/>
              </a:rPr>
              <a:t>Sibṭ Ibn al-Jawzī · d. 654 AH</a:t>
            </a:r>
          </a:p>
          <a:p>
            <a:pPr algn="l">
              <a:spcAft>
                <a:spcPts val="0"/>
              </a:spcAft>
            </a:pPr>
            <a:r>
              <a:rPr sz="1800" b="0" i="0">
                <a:solidFill>
                  <a:srgbClr val="1C2321"/>
                </a:solidFill>
                <a:latin typeface="Segoe UI"/>
              </a:rPr>
              <a:t>His grandson's work; in craft, it outdoes al-Kāmil. Long lost, recently reassembled.</a:t>
            </a:r>
          </a:p>
        </p:txBody>
      </p:sp>
      <p:sp>
        <p:nvSpPr>
          <p:cNvPr id="11" name="TextBox 10"/>
          <p:cNvSpPr txBox="1"/>
          <p:nvPr/>
        </p:nvSpPr>
        <p:spPr>
          <a:xfrm>
            <a:off x="640080" y="5120640"/>
            <a:ext cx="10881360" cy="822960"/>
          </a:xfrm>
          <a:prstGeom prst="rect">
            <a:avLst/>
          </a:prstGeom>
          <a:noFill/>
        </p:spPr>
        <p:txBody>
          <a:bodyPr wrap="square" anchor="t" lIns="50800" rIns="50800" tIns="25400" bIns="25400">
            <a:spAutoFit/>
          </a:bodyPr>
          <a:lstStyle/>
          <a:p>
            <a:pPr algn="l">
              <a:spcAft>
                <a:spcPts val="0"/>
              </a:spcAft>
            </a:pPr>
            <a:r>
              <a:rPr sz="1800" b="0" i="1">
                <a:solidFill>
                  <a:srgbClr val="104A43"/>
                </a:solidFill>
                <a:latin typeface="Segoe UI"/>
              </a:rPr>
              <a:t>Dhahabī and Ibn Kathīr quietly leaned on both. Worth knowing the gems, not just the famous five.</a:t>
            </a:r>
          </a:p>
        </p:txBody>
      </p:sp>
      <p:sp>
        <p:nvSpPr>
          <p:cNvPr id="12" name="TextBox 11"/>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Gems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322E"/>
        </a:solidFill>
        <a:effectLst/>
      </p:bgPr>
    </p:bg>
    <p:spTree>
      <p:nvGrpSpPr>
        <p:cNvPr id="1" name=""/>
        <p:cNvGrpSpPr/>
        <p:nvPr/>
      </p:nvGrpSpPr>
      <p:grpSpPr/>
      <p:sp>
        <p:nvSpPr>
          <p:cNvPr id="2" name="Rectangle 1"/>
          <p:cNvSpPr/>
          <p:nvPr/>
        </p:nvSpPr>
        <p:spPr>
          <a:xfrm>
            <a:off x="640080" y="2743200"/>
            <a:ext cx="1828800" cy="508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0"/>
            <a:ext cx="10972800" cy="2011680"/>
          </a:xfrm>
          <a:prstGeom prst="rect">
            <a:avLst/>
          </a:prstGeom>
          <a:noFill/>
        </p:spPr>
        <p:txBody>
          <a:bodyPr wrap="square" anchor="t" lIns="50800" rIns="50800" tIns="25400" bIns="25400">
            <a:spAutoFit/>
          </a:bodyPr>
          <a:lstStyle/>
          <a:p>
            <a:pPr algn="l">
              <a:spcAft>
                <a:spcPts val="800"/>
              </a:spcAft>
            </a:pPr>
            <a:r>
              <a:rPr sz="4200" b="1" i="0">
                <a:solidFill>
                  <a:srgbClr val="FFFFFF"/>
                </a:solidFill>
                <a:latin typeface="Georgia"/>
              </a:rPr>
              <a:t>The detective science</a:t>
            </a:r>
          </a:p>
          <a:p>
            <a:pPr algn="l" rtl="1">
              <a:spcAft>
                <a:spcPts val="0"/>
              </a:spcAft>
            </a:pPr>
            <a:r>
              <a:rPr sz="2600" b="0" i="0">
                <a:solidFill>
                  <a:srgbClr val="C49A45"/>
                </a:solidFill>
                <a:latin typeface="Traditional Arabic"/>
                <a:cs typeface="Traditional Arabic"/>
              </a:rPr>
              <a:t>جعلی روایات کیسے پکڑی جاتی ہیں</a:t>
            </a:r>
          </a:p>
        </p:txBody>
      </p:sp>
      <p:sp>
        <p:nvSpPr>
          <p:cNvPr id="4" name="TextBox 3"/>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Section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HOW THE RULES CATCH A FORGED STORY</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rPr>
              <a:t>The case of the “wine cup”</a:t>
            </a:r>
          </a:p>
        </p:txBody>
      </p:sp>
      <p:sp>
        <p:nvSpPr>
          <p:cNvPr id="5" name="TextBox 4"/>
          <p:cNvSpPr txBox="1"/>
          <p:nvPr/>
        </p:nvSpPr>
        <p:spPr>
          <a:xfrm>
            <a:off x="640080" y="1920240"/>
            <a:ext cx="10881360" cy="4206240"/>
          </a:xfrm>
          <a:prstGeom prst="rect">
            <a:avLst/>
          </a:prstGeom>
          <a:noFill/>
        </p:spPr>
        <p:txBody>
          <a:bodyPr wrap="square" anchor="t" lIns="50800" rIns="50800" tIns="25400" bIns="25400">
            <a:spAutoFit/>
          </a:bodyPr>
          <a:lstStyle/>
          <a:p>
            <a:pPr algn="l">
              <a:spcAft>
                <a:spcPts val="1400"/>
              </a:spcAft>
            </a:pPr>
            <a:r>
              <a:rPr sz="2200" b="0" i="0">
                <a:solidFill>
                  <a:srgbClr val="1C2321"/>
                </a:solidFill>
                <a:latin typeface="Segoe UI"/>
              </a:rPr>
              <a:t>A report circulated: Maʾmūn al-Rashīd once tested Imām al-Shāfiʿī with so much wine it would floor any man — yet it had no effect on him.</a:t>
            </a:r>
          </a:p>
          <a:p>
            <a:pPr algn="l">
              <a:spcAft>
                <a:spcPts val="1000"/>
              </a:spcAft>
            </a:pPr>
            <a:r>
              <a:rPr sz="2200" b="1" i="0">
                <a:solidFill>
                  <a:srgbClr val="104A43"/>
                </a:solidFill>
                <a:latin typeface="Segoe UI"/>
              </a:rPr>
              <a:t>Ḥāfiẓ Ibn Ḥajar dismantled it in Lisān al-Mīzān, on two grounds:</a:t>
            </a:r>
          </a:p>
          <a:p>
            <a:pPr algn="l">
              <a:spcAft>
                <a:spcPts val="800"/>
              </a:spcAft>
            </a:pPr>
            <a:r>
              <a:rPr sz="2100" b="0" i="0">
                <a:solidFill>
                  <a:srgbClr val="1C2321"/>
                </a:solidFill>
                <a:latin typeface="Segoe UI"/>
              </a:rPr>
              <a:t>•  History: al-Shāfiʿī meeting Maʾmūn is not even established — the chain fails.</a:t>
            </a:r>
          </a:p>
          <a:p>
            <a:pPr algn="l">
              <a:spcAft>
                <a:spcPts val="0"/>
              </a:spcAft>
            </a:pPr>
            <a:r>
              <a:rPr sz="2100" b="0" i="0">
                <a:solidFill>
                  <a:srgbClr val="1C2321"/>
                </a:solidFill>
                <a:latin typeface="Segoe UI"/>
              </a:rPr>
              <a:t>•  Reason (dirāyah): al-Shāfiʿī said he'd avoid even COLD WATER if it dulled his mind — so a wine-cup tale is absurd.</a:t>
            </a:r>
          </a:p>
        </p:txBody>
      </p:sp>
      <p:sp>
        <p:nvSpPr>
          <p:cNvPr id="6" name="TextBox 5"/>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Detective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4A43"/>
        </a:solidFill>
        <a:effectLst/>
      </p:bgPr>
    </p:bg>
    <p:spTree>
      <p:nvGrpSpPr>
        <p:cNvPr id="1" name=""/>
        <p:cNvGrpSpPr/>
        <p:nvPr/>
      </p:nvGrpSpPr>
      <p:grpSpPr/>
      <p:sp>
        <p:nvSpPr>
          <p:cNvPr id="2" name="Rectangle 1"/>
          <p:cNvSpPr/>
          <p:nvPr/>
        </p:nvSpPr>
        <p:spPr>
          <a:xfrm>
            <a:off x="640080" y="1371600"/>
            <a:ext cx="63500" cy="402336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554480"/>
            <a:ext cx="10241280" cy="3840480"/>
          </a:xfrm>
          <a:prstGeom prst="rect">
            <a:avLst/>
          </a:prstGeom>
          <a:noFill/>
        </p:spPr>
        <p:txBody>
          <a:bodyPr wrap="square" anchor="ctr" lIns="50800" rIns="50800" tIns="25400" bIns="25400">
            <a:spAutoFit/>
          </a:bodyPr>
          <a:lstStyle/>
          <a:p>
            <a:pPr algn="l">
              <a:spcAft>
                <a:spcPts val="1800"/>
              </a:spcAft>
            </a:pPr>
            <a:r>
              <a:rPr sz="3200" b="1" i="0">
                <a:solidFill>
                  <a:srgbClr val="FFFFFF"/>
                </a:solidFill>
                <a:latin typeface="Georgia"/>
              </a:rPr>
              <a:t>This is why we can trust what we'll say.</a:t>
            </a:r>
          </a:p>
          <a:p>
            <a:pPr algn="l">
              <a:spcAft>
                <a:spcPts val="1200"/>
              </a:spcAft>
            </a:pPr>
            <a:r>
              <a:rPr sz="2200" b="0" i="0">
                <a:solidFill>
                  <a:srgbClr val="FAF7F0"/>
                </a:solidFill>
                <a:latin typeface="Segoe UI"/>
              </a:rPr>
              <a:t>•  These books and these rules are the ground under every claim in this course.</a:t>
            </a:r>
          </a:p>
          <a:p>
            <a:pPr algn="l">
              <a:spcAft>
                <a:spcPts val="1200"/>
              </a:spcAft>
            </a:pPr>
            <a:r>
              <a:rPr sz="2200" b="0" i="0">
                <a:solidFill>
                  <a:srgbClr val="FAF7F0"/>
                </a:solidFill>
                <a:latin typeface="Segoe UI"/>
              </a:rPr>
              <a:t>•  When we reach the hard chapters, we'll stand on this — not on guesswork, not on novels, not on films.</a:t>
            </a:r>
          </a:p>
          <a:p>
            <a:pPr algn="l">
              <a:spcAft>
                <a:spcPts val="1200"/>
              </a:spcAft>
            </a:pPr>
            <a:r>
              <a:rPr sz="2200" b="0" i="0">
                <a:solidFill>
                  <a:srgbClr val="FAF7F0"/>
                </a:solidFill>
                <a:latin typeface="Segoe UI"/>
              </a:rPr>
              <a:t>•  No other civilisation built a machine like this to guard its own past.</a:t>
            </a:r>
          </a:p>
        </p:txBody>
      </p:sp>
      <p:sp>
        <p:nvSpPr>
          <p:cNvPr id="4" name="TextBox 3"/>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Why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322E"/>
        </a:solidFill>
        <a:effectLst/>
      </p:bgPr>
    </p:bg>
    <p:spTree>
      <p:nvGrpSpPr>
        <p:cNvPr id="1" name=""/>
        <p:cNvGrpSpPr/>
        <p:nvPr/>
      </p:nvGrpSpPr>
      <p:grpSpPr/>
      <p:sp>
        <p:nvSpPr>
          <p:cNvPr id="2" name="Rectangle 1"/>
          <p:cNvSpPr/>
          <p:nvPr/>
        </p:nvSpPr>
        <p:spPr>
          <a:xfrm>
            <a:off x="640080" y="1097280"/>
            <a:ext cx="1828800" cy="508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280160"/>
            <a:ext cx="10881360" cy="2011680"/>
          </a:xfrm>
          <a:prstGeom prst="rect">
            <a:avLst/>
          </a:prstGeom>
          <a:noFill/>
        </p:spPr>
        <p:txBody>
          <a:bodyPr wrap="square" anchor="t" lIns="50800" rIns="50800" tIns="25400" bIns="25400">
            <a:spAutoFit/>
          </a:bodyPr>
          <a:lstStyle/>
          <a:p>
            <a:pPr algn="l">
              <a:spcAft>
                <a:spcPts val="800"/>
              </a:spcAft>
            </a:pPr>
            <a:r>
              <a:rPr sz="1800" b="1" i="0">
                <a:solidFill>
                  <a:srgbClr val="C49A45"/>
                </a:solidFill>
                <a:latin typeface="Segoe UI"/>
              </a:rPr>
              <a:t>Next week</a:t>
            </a:r>
          </a:p>
          <a:p>
            <a:pPr algn="l">
              <a:spcAft>
                <a:spcPts val="600"/>
              </a:spcAft>
            </a:pPr>
            <a:r>
              <a:rPr sz="3800" b="1" i="0">
                <a:solidFill>
                  <a:srgbClr val="FFFFFF"/>
                </a:solidFill>
                <a:latin typeface="Georgia"/>
              </a:rPr>
              <a:t>The story begins: Abu Bakr ؓ</a:t>
            </a:r>
          </a:p>
          <a:p>
            <a:pPr algn="l" rtl="1">
              <a:spcAft>
                <a:spcPts val="0"/>
              </a:spcAft>
            </a:pPr>
            <a:r>
              <a:rPr sz="2600" b="0" i="0">
                <a:solidFill>
                  <a:srgbClr val="FAF7F0"/>
                </a:solidFill>
                <a:latin typeface="Traditional Arabic"/>
                <a:cs typeface="Traditional Arabic"/>
              </a:rPr>
              <a:t>خلافتِ راشدہ اور سیدنا ابوبکر صدیق ؓ</a:t>
            </a:r>
          </a:p>
        </p:txBody>
      </p:sp>
      <p:sp>
        <p:nvSpPr>
          <p:cNvPr id="4" name="TextBox 3"/>
          <p:cNvSpPr txBox="1"/>
          <p:nvPr/>
        </p:nvSpPr>
        <p:spPr>
          <a:xfrm>
            <a:off x="640080" y="4023360"/>
            <a:ext cx="10881360" cy="2194560"/>
          </a:xfrm>
          <a:prstGeom prst="rect">
            <a:avLst/>
          </a:prstGeom>
          <a:noFill/>
        </p:spPr>
        <p:txBody>
          <a:bodyPr wrap="square" anchor="t" lIns="50800" rIns="50800" tIns="25400" bIns="25400">
            <a:spAutoFit/>
          </a:bodyPr>
          <a:lstStyle/>
          <a:p>
            <a:pPr algn="l">
              <a:spcAft>
                <a:spcPts val="1800"/>
              </a:spcAft>
            </a:pPr>
            <a:r>
              <a:rPr sz="2200" b="0" i="0">
                <a:solidFill>
                  <a:srgbClr val="FAF7F0"/>
                </a:solidFill>
                <a:latin typeface="Segoe UI"/>
              </a:rPr>
              <a:t>We place our first bright peg on the timeline — armed now with the books and the rules to read it safely.</a:t>
            </a:r>
          </a:p>
          <a:p>
            <a:pPr algn="l">
              <a:spcAft>
                <a:spcPts val="0"/>
              </a:spcAft>
            </a:pPr>
            <a:r>
              <a:rPr sz="2200" b="1" i="1">
                <a:solidFill>
                  <a:srgbClr val="C49A45"/>
                </a:solidFill>
                <a:latin typeface="Segoe UI"/>
              </a:rPr>
              <a:t>Take-home: name ONE mother-book and ONE thing that makes Islamic history different from the rest.</a:t>
            </a:r>
          </a:p>
        </p:txBody>
      </p:sp>
      <p:sp>
        <p:nvSpPr>
          <p:cNvPr id="5" name="TextBox 4"/>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Close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rPr>
              <a:t>WHERE THIS COMES FROM</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881360" cy="1097280"/>
          </a:xfrm>
          <a:prstGeom prst="rect">
            <a:avLst/>
          </a:prstGeom>
          <a:noFill/>
        </p:spPr>
        <p:txBody>
          <a:bodyPr wrap="square" anchor="t" lIns="50800" rIns="50800" tIns="25400" bIns="25400">
            <a:spAutoFit/>
          </a:bodyPr>
          <a:lstStyle/>
          <a:p>
            <a:pPr algn="l">
              <a:spcAft>
                <a:spcPts val="0"/>
              </a:spcAft>
            </a:pPr>
            <a:r>
              <a:rPr sz="2800" b="1" i="0">
                <a:solidFill>
                  <a:srgbClr val="0A322E"/>
                </a:solidFill>
                <a:latin typeface="Georgia"/>
              </a:rPr>
              <a:t>Sources</a:t>
            </a:r>
          </a:p>
        </p:txBody>
      </p:sp>
      <p:sp>
        <p:nvSpPr>
          <p:cNvPr id="5" name="TextBox 4"/>
          <p:cNvSpPr txBox="1"/>
          <p:nvPr/>
        </p:nvSpPr>
        <p:spPr>
          <a:xfrm>
            <a:off x="640080" y="1920240"/>
            <a:ext cx="10881360" cy="4206240"/>
          </a:xfrm>
          <a:prstGeom prst="rect">
            <a:avLst/>
          </a:prstGeom>
          <a:noFill/>
        </p:spPr>
        <p:txBody>
          <a:bodyPr wrap="square" anchor="t" lIns="50800" rIns="50800" tIns="25400" bIns="25400">
            <a:spAutoFit/>
          </a:bodyPr>
          <a:lstStyle/>
          <a:p>
            <a:pPr algn="l">
              <a:spcAft>
                <a:spcPts val="1100"/>
              </a:spcAft>
            </a:pPr>
            <a:r>
              <a:rPr sz="1800" b="0" i="0">
                <a:solidFill>
                  <a:srgbClr val="1C2321"/>
                </a:solidFill>
                <a:latin typeface="Segoe UI"/>
              </a:rPr>
              <a:t>•  Primary course text — Tareekh-e-Ummat, Maulana Muhammad Ismail Rehan, Vol. 1 (Muqaddima).</a:t>
            </a:r>
          </a:p>
          <a:p>
            <a:pPr algn="l">
              <a:spcAft>
                <a:spcPts val="1100"/>
              </a:spcAft>
            </a:pPr>
            <a:r>
              <a:rPr sz="1800" b="0" i="0">
                <a:solidFill>
                  <a:srgbClr val="1C2321"/>
                </a:solidFill>
                <a:latin typeface="Segoe UI"/>
              </a:rPr>
              <a:t>•  Two foundations &amp; the development of historiography — muqaddima pp. 43–48.</a:t>
            </a:r>
          </a:p>
          <a:p>
            <a:pPr algn="l">
              <a:spcAft>
                <a:spcPts val="1100"/>
              </a:spcAft>
            </a:pPr>
            <a:r>
              <a:rPr sz="1800" b="0" i="0">
                <a:solidFill>
                  <a:srgbClr val="1C2321"/>
                </a:solidFill>
                <a:latin typeface="Segoe UI"/>
              </a:rPr>
              <a:t>•  The four stages — muqaddima pp. 41–42, 45.</a:t>
            </a:r>
          </a:p>
          <a:p>
            <a:pPr algn="l">
              <a:spcAft>
                <a:spcPts val="1100"/>
              </a:spcAft>
            </a:pPr>
            <a:r>
              <a:rPr sz="1800" b="0" i="0">
                <a:solidFill>
                  <a:srgbClr val="1C2321"/>
                </a:solidFill>
                <a:latin typeface="Segoe UI"/>
              </a:rPr>
              <a:t>•  The five mother-books &amp; the hidden gems — muqaddima pp. 69–78.</a:t>
            </a:r>
          </a:p>
          <a:p>
            <a:pPr algn="l">
              <a:spcAft>
                <a:spcPts val="1100"/>
              </a:spcAft>
            </a:pPr>
            <a:r>
              <a:rPr sz="1800" b="0" i="0">
                <a:solidFill>
                  <a:srgbClr val="1C2321"/>
                </a:solidFill>
                <a:latin typeface="Segoe UI"/>
              </a:rPr>
              <a:t>•  Ṭabarī namesake &amp; defence — muqaddima pp. 69–70 (Mīzān al-Iʿtidāl, al-Dhahabī).</a:t>
            </a:r>
          </a:p>
          <a:p>
            <a:pPr algn="l">
              <a:spcAft>
                <a:spcPts val="1100"/>
              </a:spcAft>
            </a:pPr>
            <a:r>
              <a:rPr sz="1800" b="0" i="0">
                <a:solidFill>
                  <a:srgbClr val="1C2321"/>
                </a:solidFill>
                <a:latin typeface="Segoe UI"/>
              </a:rPr>
              <a:t>•  The forged 'wine' report — muqaddima p. 57 (Lisān al-Mīzān, Ibn Ḥajar).</a:t>
            </a:r>
          </a:p>
        </p:txBody>
      </p:sp>
      <p:sp>
        <p:nvSpPr>
          <p:cNvPr id="6" name="TextBox 5"/>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rPr>
              <a:t>Lesson 2  ·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