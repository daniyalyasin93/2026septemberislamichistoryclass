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395" r:id="rId9"/>
    <p:sldId id="263" r:id="rId10"/>
    <p:sldId id="264" r:id="rId11"/>
    <p:sldId id="396" r:id="rId12"/>
    <p:sldId id="265" r:id="rId13"/>
    <p:sldId id="266" r:id="rId14"/>
    <p:sldId id="267" r:id="rId15"/>
    <p:sldId id="268" r:id="rId16"/>
    <p:sldId id="269" r:id="rId17"/>
    <p:sldId id="65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9" r:id="rId28"/>
    <p:sldId id="280" r:id="rId29"/>
    <p:sldId id="281" r:id="rId30"/>
    <p:sldId id="282" r:id="rId31"/>
    <p:sldId id="283" r:id="rId32"/>
    <p:sldId id="284" r:id="rId33"/>
    <p:sldId id="285" r:id="rId34"/>
    <p:sldId id="286" r:id="rId35"/>
    <p:sldId id="287" r:id="rId36"/>
    <p:sldId id="288" r:id="rId37"/>
    <p:sldId id="289" r:id="rId38"/>
    <p:sldId id="290" r:id="rId39"/>
    <p:sldId id="291" r:id="rId40"/>
    <p:sldId id="292" r:id="rId41"/>
    <p:sldId id="293" r:id="rId42"/>
    <p:sldId id="294" r:id="rId43"/>
    <p:sldId id="295" r:id="rId44"/>
    <p:sldId id="296" r:id="rId45"/>
    <p:sldId id="297" r:id="rId46"/>
    <p:sldId id="298" r:id="rId47"/>
    <p:sldId id="299" r:id="rId48"/>
    <p:sldId id="300" r:id="rId49"/>
    <p:sldId id="301" r:id="rId50"/>
    <p:sldId id="302" r:id="rId51"/>
    <p:sldId id="303" r:id="rId52"/>
    <p:sldId id="304" r:id="rId53"/>
    <p:sldId id="305" r:id="rId54"/>
    <p:sldId id="306" r:id="rId55"/>
    <p:sldId id="307" r:id="rId56"/>
    <p:sldId id="308" r:id="rId57"/>
    <p:sldId id="309" r:id="rId58"/>
    <p:sldId id="311" r:id="rId60"/>
    <p:sldId id="313" r:id="rId62"/>
    <p:sldId id="314" r:id="rId63"/>
    <p:sldId id="315" r:id="rId64"/>
    <p:sldId id="316" r:id="rId65"/>
    <p:sldId id="317" r:id="rId66"/>
    <p:sldId id="318" r:id="rId67"/>
    <p:sldId id="319" r:id="rId68"/>
    <p:sldId id="320" r:id="rId69"/>
    <p:sldId id="321" r:id="rId70"/>
    <p:sldId id="323" r:id="rId72"/>
    <p:sldId id="324" r:id="rId73"/>
    <p:sldId id="325" r:id="rId74"/>
    <p:sldId id="326" r:id="rId75"/>
    <p:sldId id="327" r:id="rId76"/>
    <p:sldId id="328" r:id="rId77"/>
    <p:sldId id="329" r:id="rId78"/>
    <p:sldId id="330" r:id="rId79"/>
    <p:sldId id="331" r:id="rId80"/>
    <p:sldId id="332" r:id="rId81"/>
    <p:sldId id="333" r:id="rId82"/>
    <p:sldId id="334" r:id="rId83"/>
    <p:sldId id="335" r:id="rId84"/>
    <p:sldId id="336" r:id="rId85"/>
    <p:sldId id="337" r:id="rId86"/>
    <p:sldId id="338" r:id="rId87"/>
    <p:sldId id="339" r:id="rId88"/>
    <p:sldId id="340" r:id="rId89"/>
    <p:sldId id="341" r:id="rId90"/>
    <p:sldId id="342" r:id="rId91"/>
    <p:sldId id="343" r:id="rId92"/>
    <p:sldId id="344" r:id="rId93"/>
    <p:sldId id="345" r:id="rId94"/>
    <p:sldId id="346" r:id="rId95"/>
    <p:sldId id="347" r:id="rId96"/>
    <p:sldId id="348" r:id="rId97"/>
    <p:sldId id="349" r:id="rId98"/>
    <p:sldId id="350" r:id="rId99"/>
    <p:sldId id="351" r:id="rId100"/>
    <p:sldId id="352" r:id="rId101"/>
    <p:sldId id="353" r:id="rId102"/>
    <p:sldId id="354" r:id="rId103"/>
    <p:sldId id="355" r:id="rId104"/>
    <p:sldId id="356" r:id="rId105"/>
    <p:sldId id="357" r:id="rId106"/>
    <p:sldId id="358" r:id="rId107"/>
    <p:sldId id="359" r:id="rId108"/>
    <p:sldId id="360" r:id="rId109"/>
    <p:sldId id="361" r:id="rId110"/>
    <p:sldId id="362" r:id="rId111"/>
    <p:sldId id="363" r:id="rId112"/>
    <p:sldId id="364" r:id="rId113"/>
    <p:sldId id="365" r:id="rId114"/>
    <p:sldId id="366" r:id="rId115"/>
    <p:sldId id="367" r:id="rId116"/>
    <p:sldId id="368" r:id="rId117"/>
    <p:sldId id="369" r:id="rId118"/>
    <p:sldId id="370" r:id="rId119"/>
    <p:sldId id="371" r:id="rId120"/>
    <p:sldId id="372" r:id="rId121"/>
    <p:sldId id="373" r:id="rId122"/>
    <p:sldId id="374" r:id="rId123"/>
    <p:sldId id="375" r:id="rId124"/>
    <p:sldId id="376" r:id="rId125"/>
    <p:sldId id="377" r:id="rId126"/>
    <p:sldId id="378" r:id="rId127"/>
    <p:sldId id="379" r:id="rId128"/>
    <p:sldId id="380" r:id="rId129"/>
    <p:sldId id="381" r:id="rId130"/>
    <p:sldId id="382" r:id="rId131"/>
    <p:sldId id="383" r:id="rId132"/>
    <p:sldId id="384" r:id="rId133"/>
    <p:sldId id="385" r:id="rId134"/>
    <p:sldId id="386" r:id="rId13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53805" autoAdjust="0"/>
  </p:normalViewPr>
  <p:slideViewPr>
    <p:cSldViewPr snapToGrid="0" snapToObjects="1">
      <p:cViewPr varScale="1">
        <p:scale>
          <a:sx n="44" d="100"/>
          <a:sy n="44" d="100"/>
        </p:scale>
        <p:origin x="2165" y="5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60" Type="http://schemas.openxmlformats.org/officeDocument/2006/relationships/slide" Target="slides/slide59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slide" Target="slides/slide65.xml"/><Relationship Id="rId67" Type="http://schemas.openxmlformats.org/officeDocument/2006/relationships/slide" Target="slides/slide66.xml"/><Relationship Id="rId68" Type="http://schemas.openxmlformats.org/officeDocument/2006/relationships/slide" Target="slides/slide67.xml"/><Relationship Id="rId69" Type="http://schemas.openxmlformats.org/officeDocument/2006/relationships/slide" Target="slides/slide68.xml"/><Relationship Id="rId70" Type="http://schemas.openxmlformats.org/officeDocument/2006/relationships/slide" Target="slides/slide69.xml"/><Relationship Id="rId72" Type="http://schemas.openxmlformats.org/officeDocument/2006/relationships/slide" Target="slides/slide71.xml"/><Relationship Id="rId73" Type="http://schemas.openxmlformats.org/officeDocument/2006/relationships/slide" Target="slides/slide72.xml"/><Relationship Id="rId74" Type="http://schemas.openxmlformats.org/officeDocument/2006/relationships/slide" Target="slides/slide73.xml"/><Relationship Id="rId75" Type="http://schemas.openxmlformats.org/officeDocument/2006/relationships/slide" Target="slides/slide74.xml"/><Relationship Id="rId76" Type="http://schemas.openxmlformats.org/officeDocument/2006/relationships/slide" Target="slides/slide75.xml"/><Relationship Id="rId77" Type="http://schemas.openxmlformats.org/officeDocument/2006/relationships/slide" Target="slides/slide76.xml"/><Relationship Id="rId78" Type="http://schemas.openxmlformats.org/officeDocument/2006/relationships/slide" Target="slides/slide77.xml"/><Relationship Id="rId79" Type="http://schemas.openxmlformats.org/officeDocument/2006/relationships/slide" Target="slides/slide78.xml"/><Relationship Id="rId80" Type="http://schemas.openxmlformats.org/officeDocument/2006/relationships/slide" Target="slides/slide79.xml"/><Relationship Id="rId81" Type="http://schemas.openxmlformats.org/officeDocument/2006/relationships/slide" Target="slides/slide80.xml"/><Relationship Id="rId82" Type="http://schemas.openxmlformats.org/officeDocument/2006/relationships/slide" Target="slides/slide81.xml"/><Relationship Id="rId83" Type="http://schemas.openxmlformats.org/officeDocument/2006/relationships/slide" Target="slides/slide82.xml"/><Relationship Id="rId84" Type="http://schemas.openxmlformats.org/officeDocument/2006/relationships/slide" Target="slides/slide83.xml"/><Relationship Id="rId85" Type="http://schemas.openxmlformats.org/officeDocument/2006/relationships/slide" Target="slides/slide84.xml"/><Relationship Id="rId86" Type="http://schemas.openxmlformats.org/officeDocument/2006/relationships/slide" Target="slides/slide85.xml"/><Relationship Id="rId87" Type="http://schemas.openxmlformats.org/officeDocument/2006/relationships/slide" Target="slides/slide86.xml"/><Relationship Id="rId88" Type="http://schemas.openxmlformats.org/officeDocument/2006/relationships/slide" Target="slides/slide87.xml"/><Relationship Id="rId89" Type="http://schemas.openxmlformats.org/officeDocument/2006/relationships/slide" Target="slides/slide88.xml"/><Relationship Id="rId90" Type="http://schemas.openxmlformats.org/officeDocument/2006/relationships/slide" Target="slides/slide89.xml"/><Relationship Id="rId91" Type="http://schemas.openxmlformats.org/officeDocument/2006/relationships/slide" Target="slides/slide90.xml"/><Relationship Id="rId92" Type="http://schemas.openxmlformats.org/officeDocument/2006/relationships/slide" Target="slides/slide91.xml"/><Relationship Id="rId93" Type="http://schemas.openxmlformats.org/officeDocument/2006/relationships/slide" Target="slides/slide92.xml"/><Relationship Id="rId94" Type="http://schemas.openxmlformats.org/officeDocument/2006/relationships/slide" Target="slides/slide93.xml"/><Relationship Id="rId95" Type="http://schemas.openxmlformats.org/officeDocument/2006/relationships/slide" Target="slides/slide94.xml"/><Relationship Id="rId96" Type="http://schemas.openxmlformats.org/officeDocument/2006/relationships/slide" Target="slides/slide95.xml"/><Relationship Id="rId97" Type="http://schemas.openxmlformats.org/officeDocument/2006/relationships/slide" Target="slides/slide96.xml"/><Relationship Id="rId98" Type="http://schemas.openxmlformats.org/officeDocument/2006/relationships/slide" Target="slides/slide97.xml"/><Relationship Id="rId99" Type="http://schemas.openxmlformats.org/officeDocument/2006/relationships/slide" Target="slides/slide98.xml"/><Relationship Id="rId100" Type="http://schemas.openxmlformats.org/officeDocument/2006/relationships/slide" Target="slides/slide99.xml"/><Relationship Id="rId101" Type="http://schemas.openxmlformats.org/officeDocument/2006/relationships/slide" Target="slides/slide100.xml"/><Relationship Id="rId102" Type="http://schemas.openxmlformats.org/officeDocument/2006/relationships/slide" Target="slides/slide101.xml"/><Relationship Id="rId103" Type="http://schemas.openxmlformats.org/officeDocument/2006/relationships/slide" Target="slides/slide102.xml"/><Relationship Id="rId104" Type="http://schemas.openxmlformats.org/officeDocument/2006/relationships/slide" Target="slides/slide103.xml"/><Relationship Id="rId105" Type="http://schemas.openxmlformats.org/officeDocument/2006/relationships/slide" Target="slides/slide104.xml"/><Relationship Id="rId106" Type="http://schemas.openxmlformats.org/officeDocument/2006/relationships/slide" Target="slides/slide105.xml"/><Relationship Id="rId107" Type="http://schemas.openxmlformats.org/officeDocument/2006/relationships/slide" Target="slides/slide106.xml"/><Relationship Id="rId108" Type="http://schemas.openxmlformats.org/officeDocument/2006/relationships/slide" Target="slides/slide107.xml"/><Relationship Id="rId109" Type="http://schemas.openxmlformats.org/officeDocument/2006/relationships/slide" Target="slides/slide108.xml"/><Relationship Id="rId110" Type="http://schemas.openxmlformats.org/officeDocument/2006/relationships/slide" Target="slides/slide109.xml"/><Relationship Id="rId111" Type="http://schemas.openxmlformats.org/officeDocument/2006/relationships/slide" Target="slides/slide110.xml"/><Relationship Id="rId112" Type="http://schemas.openxmlformats.org/officeDocument/2006/relationships/slide" Target="slides/slide111.xml"/><Relationship Id="rId113" Type="http://schemas.openxmlformats.org/officeDocument/2006/relationships/slide" Target="slides/slide112.xml"/><Relationship Id="rId114" Type="http://schemas.openxmlformats.org/officeDocument/2006/relationships/slide" Target="slides/slide113.xml"/><Relationship Id="rId115" Type="http://schemas.openxmlformats.org/officeDocument/2006/relationships/slide" Target="slides/slide114.xml"/><Relationship Id="rId116" Type="http://schemas.openxmlformats.org/officeDocument/2006/relationships/slide" Target="slides/slide115.xml"/><Relationship Id="rId117" Type="http://schemas.openxmlformats.org/officeDocument/2006/relationships/slide" Target="slides/slide116.xml"/><Relationship Id="rId118" Type="http://schemas.openxmlformats.org/officeDocument/2006/relationships/slide" Target="slides/slide117.xml"/><Relationship Id="rId119" Type="http://schemas.openxmlformats.org/officeDocument/2006/relationships/slide" Target="slides/slide118.xml"/><Relationship Id="rId120" Type="http://schemas.openxmlformats.org/officeDocument/2006/relationships/slide" Target="slides/slide119.xml"/><Relationship Id="rId121" Type="http://schemas.openxmlformats.org/officeDocument/2006/relationships/slide" Target="slides/slide120.xml"/><Relationship Id="rId122" Type="http://schemas.openxmlformats.org/officeDocument/2006/relationships/slide" Target="slides/slide121.xml"/><Relationship Id="rId123" Type="http://schemas.openxmlformats.org/officeDocument/2006/relationships/slide" Target="slides/slide122.xml"/><Relationship Id="rId124" Type="http://schemas.openxmlformats.org/officeDocument/2006/relationships/slide" Target="slides/slide123.xml"/><Relationship Id="rId125" Type="http://schemas.openxmlformats.org/officeDocument/2006/relationships/slide" Target="slides/slide124.xml"/><Relationship Id="rId126" Type="http://schemas.openxmlformats.org/officeDocument/2006/relationships/slide" Target="slides/slide125.xml"/><Relationship Id="rId127" Type="http://schemas.openxmlformats.org/officeDocument/2006/relationships/slide" Target="slides/slide126.xml"/><Relationship Id="rId128" Type="http://schemas.openxmlformats.org/officeDocument/2006/relationships/slide" Target="slides/slide127.xml"/><Relationship Id="rId129" Type="http://schemas.openxmlformats.org/officeDocument/2006/relationships/slide" Target="slides/slide128.xml"/><Relationship Id="rId130" Type="http://schemas.openxmlformats.org/officeDocument/2006/relationships/slide" Target="slides/slide129.xml"/><Relationship Id="rId131" Type="http://schemas.openxmlformats.org/officeDocument/2006/relationships/slide" Target="slides/slide130.xml"/><Relationship Id="rId132" Type="http://schemas.openxmlformats.org/officeDocument/2006/relationships/slide" Target="slides/slide131.xml"/><Relationship Id="rId133" Type="http://schemas.openxmlformats.org/officeDocument/2006/relationships/slide" Target="slides/slide132.xml"/><Relationship Id="rId134" Type="http://schemas.openxmlformats.org/officeDocument/2006/relationships/slide" Target="slides/slide133.xml"/><Relationship Id="rId135" Type="http://schemas.openxmlformats.org/officeDocument/2006/relationships/slide" Target="slides/slide134.xml"/><Relationship Id="rId144" Type="http://schemas.openxmlformats.org/officeDocument/2006/relationships/notesMaster" Target="notesMasters/notesMaster1.xml"/><Relationship Id="rId145" Type="http://schemas.openxmlformats.org/officeDocument/2006/relationships/presProps" Target="presProps.xml"/><Relationship Id="rId146" Type="http://schemas.openxmlformats.org/officeDocument/2006/relationships/viewProps" Target="viewProps.xml"/><Relationship Id="rId147" Type="http://schemas.openxmlformats.org/officeDocument/2006/relationships/theme" Target="theme/theme1.xml"/><Relationship Id="rId148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PK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94D21B1-4618-4D6F-902E-E05F6360DB0A}" type="datetimeFigureOut">
              <a:rPr lang="en-PK" smtClean="0"/>
              <a:t>24/09/2026</a:t>
            </a:fld>
            <a:endParaRPr lang="en-PK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PK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P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4D5EBF0-8708-465A-AED1-969474A17233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344016564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3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3" Type="http://schemas.openxmlformats.org/officeDocument/2006/relationships/image" Target="../media/image4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3" Type="http://schemas.openxmlformats.org/officeDocument/2006/relationships/image" Target="../media/image6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3" Type="http://schemas.openxmlformats.org/officeDocument/2006/relationships/image" Target="../media/image8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3" Type="http://schemas.openxmlformats.org/officeDocument/2006/relationships/image" Target="../media/image9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3" Type="http://schemas.openxmlformats.org/officeDocument/2006/relationships/image" Target="../media/image10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3" Type="http://schemas.openxmlformats.org/officeDocument/2006/relationships/image" Target="../media/image11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3" Type="http://schemas.openxmlformats.org/officeDocument/2006/relationships/image" Target="../media/image12.jp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3" Type="http://schemas.openxmlformats.org/officeDocument/2006/relationships/image" Target="../media/image13.png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3" Type="http://schemas.openxmlformats.org/officeDocument/2006/relationships/image" Target="../media/image14.png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3" Type="http://schemas.openxmlformats.org/officeDocument/2006/relationships/image" Target="../media/image13.png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3" Type="http://schemas.openxmlformats.org/officeDocument/2006/relationships/image" Target="../media/image15.png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3" Type="http://schemas.openxmlformats.org/officeDocument/2006/relationships/image" Target="../media/image16.png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3" Type="http://schemas.openxmlformats.org/officeDocument/2006/relationships/image" Target="../media/image17.png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3" Type="http://schemas.openxmlformats.org/officeDocument/2006/relationships/image" Target="../media/image18.png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3" Type="http://schemas.openxmlformats.org/officeDocument/2006/relationships/image" Target="../media/image19.png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3" Type="http://schemas.openxmlformats.org/officeDocument/2006/relationships/image" Target="../media/image20.jpg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4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66928" y="3017520"/>
            <a:ext cx="2011680" cy="76200"/>
          </a:xfrm>
          <a:prstGeom prst="rect">
            <a:avLst/>
          </a:prstGeom>
          <a:solidFill>
            <a:srgbClr val="C49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66928" y="1554480"/>
            <a:ext cx="11057839" cy="457200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400" b="1" i="0">
                <a:solidFill>
                  <a:srgbClr val="C49A45"/>
                </a:solidFill>
                <a:latin typeface="Segoe UI"/>
                <a:cs typeface="Segoe UI"/>
              </a:rPr>
              <a:t>Evening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2011680"/>
            <a:ext cx="11057839" cy="1005840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6000" b="1" i="0">
                <a:solidFill>
                  <a:srgbClr val="FFFFFF"/>
                </a:solidFill>
                <a:latin typeface="Georgia"/>
                <a:cs typeface="Georgia"/>
              </a:rPr>
              <a:t>al-Buṭāḥ and al-Yamāma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3383280"/>
            <a:ext cx="11057839" cy="640080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200" b="0" i="0">
                <a:solidFill>
                  <a:srgbClr val="FAF7F0"/>
                </a:solidFill>
                <a:latin typeface="Segoe UI"/>
                <a:cs typeface="Segoe UI"/>
              </a:rPr>
              <a:t>10–12 AH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nd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04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ule"/>
          <p:cNvSpPr/>
          <p:nvPr/>
        </p:nvSpPr>
        <p:spPr>
          <a:xfrm>
            <a:off x="0" y="1078992"/>
            <a:ext cx="12191695" cy="57150"/>
          </a:xfrm>
          <a:prstGeom prst="rect">
            <a:avLst/>
          </a:prstGeom>
          <a:solidFill>
            <a:srgbClr val="C49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66928" y="182880"/>
            <a:ext cx="11057839" cy="711199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4000" b="1" i="0">
                <a:solidFill>
                  <a:srgbClr val="FAF7F0"/>
                </a:solidFill>
                <a:latin typeface="Georgia"/>
                <a:cs typeface="Georgia"/>
              </a:rPr>
              <a:t>Where we stopped</a:t>
            </a:r>
          </a:p>
        </p:txBody>
      </p:sp>
      <p:pic>
        <p:nvPicPr>
          <p:cNvPr id="5" name="Picture 4" descr="line_s04_open.tri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02869" y="1389888"/>
            <a:ext cx="8785957" cy="4956048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nd"/>
          <p:cNvSpPr/>
          <p:nvPr/>
        </p:nvSpPr>
        <p:spPr>
          <a:xfrm>
            <a:off x="0" y="0"/>
            <a:ext cx="12191695" cy="1223263"/>
          </a:xfrm>
          <a:prstGeom prst="rect">
            <a:avLst/>
          </a:prstGeom>
          <a:solidFill>
            <a:srgbClr val="104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ule"/>
          <p:cNvSpPr/>
          <p:nvPr/>
        </p:nvSpPr>
        <p:spPr>
          <a:xfrm>
            <a:off x="0" y="1223263"/>
            <a:ext cx="12191695" cy="57150"/>
          </a:xfrm>
          <a:prstGeom prst="rect">
            <a:avLst/>
          </a:prstGeom>
          <a:solidFill>
            <a:srgbClr val="C49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66928" y="91440"/>
            <a:ext cx="11057839" cy="274320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400" b="1" i="0">
                <a:solidFill>
                  <a:srgbClr val="C49A45"/>
                </a:solidFill>
                <a:latin typeface="Segoe UI"/>
                <a:cs typeface="Segoe UI"/>
              </a:rPr>
              <a:t>From last week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02336"/>
            <a:ext cx="11057839" cy="711199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4000" b="1" i="0">
                <a:solidFill>
                  <a:srgbClr val="FAF7F0"/>
                </a:solidFill>
                <a:latin typeface="Georgia"/>
                <a:cs typeface="Georgia"/>
              </a:rPr>
              <a:t>Where we stand</a:t>
            </a:r>
          </a:p>
        </p:txBody>
      </p:sp>
      <p:sp>
        <p:nvSpPr>
          <p:cNvPr id="7" name="Rectangle 6"/>
          <p:cNvSpPr/>
          <p:nvPr/>
        </p:nvSpPr>
        <p:spPr>
          <a:xfrm>
            <a:off x="8618311" y="1554480"/>
            <a:ext cx="54864" cy="310896"/>
          </a:xfrm>
          <a:prstGeom prst="rect">
            <a:avLst/>
          </a:prstGeom>
          <a:solidFill>
            <a:srgbClr val="C49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819479" y="1499616"/>
            <a:ext cx="2805288" cy="457200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800" b="1" i="0">
                <a:solidFill>
                  <a:srgbClr val="0A322E"/>
                </a:solidFill>
                <a:latin typeface="Georgia"/>
                <a:cs typeface="Georgia"/>
              </a:rPr>
              <a:t>Ṣanʿāʾ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19479" y="1920240"/>
            <a:ext cx="2805288" cy="1943100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400" b="0" i="0">
                <a:solidFill>
                  <a:srgbClr val="5A6862"/>
                </a:solidFill>
                <a:latin typeface="Segoe UI"/>
                <a:cs typeface="Segoe UI"/>
              </a:rPr>
              <a:t>restored</a:t>
            </a:r>
          </a:p>
        </p:txBody>
      </p:sp>
      <p:sp>
        <p:nvSpPr>
          <p:cNvPr id="10" name="Rectangle 9"/>
          <p:cNvSpPr/>
          <p:nvPr/>
        </p:nvSpPr>
        <p:spPr>
          <a:xfrm>
            <a:off x="8618311" y="3918204"/>
            <a:ext cx="54864" cy="310896"/>
          </a:xfrm>
          <a:prstGeom prst="rect">
            <a:avLst/>
          </a:prstGeom>
          <a:solidFill>
            <a:srgbClr val="C49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819479" y="3863340"/>
            <a:ext cx="2805288" cy="457200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800" b="1" i="0">
                <a:solidFill>
                  <a:srgbClr val="0A322E"/>
                </a:solidFill>
                <a:latin typeface="Georgia"/>
                <a:cs typeface="Georgia"/>
              </a:rPr>
              <a:t>Ḥaḍramawt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19479" y="4283964"/>
            <a:ext cx="2805288" cy="1943100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400" b="0" i="0">
                <a:solidFill>
                  <a:srgbClr val="5A6862"/>
                </a:solidFill>
                <a:latin typeface="Segoe UI"/>
                <a:cs typeface="Segoe UI"/>
              </a:rPr>
              <a:t>still to come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3964B9A6-A58E-6EE0-B24D-DC9F5D61DB3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299" y="1449830"/>
            <a:ext cx="8492860" cy="477723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2651760"/>
            <a:ext cx="12191695" cy="1554480"/>
          </a:xfrm>
          <a:prstGeom prst="rect">
            <a:avLst/>
          </a:prstGeom>
          <a:solidFill>
            <a:srgbClr val="FAF7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2651760"/>
            <a:ext cx="114300" cy="1554480"/>
          </a:xfrm>
          <a:prstGeom prst="rect">
            <a:avLst/>
          </a:prstGeom>
          <a:solidFill>
            <a:srgbClr val="C49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68680" y="2788920"/>
            <a:ext cx="10728655" cy="731520"/>
          </a:xfrm>
          <a:prstGeom prst="rect">
            <a:avLst/>
          </a:prstGeom>
          <a:noFill/>
        </p:spPr>
        <p:txBody>
          <a:bodyPr wrap="square" lIns="36576" tIns="0" rIns="36576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4600" b="1" i="0">
                <a:solidFill>
                  <a:srgbClr val="0A322E"/>
                </a:solidFill>
                <a:latin typeface="Georgia"/>
                <a:cs typeface="Georgia"/>
              </a:rPr>
              <a:t>Part 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3520440"/>
            <a:ext cx="10728655" cy="548640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800" b="0" i="0">
                <a:solidFill>
                  <a:srgbClr val="5A6862"/>
                </a:solidFill>
                <a:latin typeface="Segoe UI"/>
                <a:cs typeface="Segoe UI"/>
              </a:rPr>
              <a:t>The two claimants still standing (10–12 AH)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nd"/>
          <p:cNvSpPr/>
          <p:nvPr/>
        </p:nvSpPr>
        <p:spPr>
          <a:xfrm>
            <a:off x="0" y="0"/>
            <a:ext cx="12191695" cy="1223263"/>
          </a:xfrm>
          <a:prstGeom prst="rect">
            <a:avLst/>
          </a:prstGeom>
          <a:solidFill>
            <a:srgbClr val="104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ule"/>
          <p:cNvSpPr/>
          <p:nvPr/>
        </p:nvSpPr>
        <p:spPr>
          <a:xfrm>
            <a:off x="0" y="1223263"/>
            <a:ext cx="12191695" cy="57150"/>
          </a:xfrm>
          <a:prstGeom prst="rect">
            <a:avLst/>
          </a:prstGeom>
          <a:solidFill>
            <a:srgbClr val="C49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66928" y="91440"/>
            <a:ext cx="11057839" cy="274320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400" b="1" i="0">
                <a:solidFill>
                  <a:srgbClr val="C49A45"/>
                </a:solidFill>
                <a:latin typeface="Segoe UI"/>
                <a:cs typeface="Segoe UI"/>
              </a:rPr>
              <a:t>Where the story stands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02336"/>
            <a:ext cx="11057839" cy="711199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4000" b="1" i="0">
                <a:solidFill>
                  <a:srgbClr val="FAF7F0"/>
                </a:solidFill>
                <a:latin typeface="Georgia"/>
                <a:cs typeface="Georgia"/>
              </a:rPr>
              <a:t>Tonight: back to the north</a:t>
            </a:r>
          </a:p>
        </p:txBody>
      </p:sp>
      <p:sp>
        <p:nvSpPr>
          <p:cNvPr id="6" name="card0"/>
          <p:cNvSpPr/>
          <p:nvPr/>
        </p:nvSpPr>
        <p:spPr>
          <a:xfrm>
            <a:off x="566928" y="1389888"/>
            <a:ext cx="3527450" cy="4663440"/>
          </a:xfrm>
          <a:prstGeom prst="rect">
            <a:avLst/>
          </a:prstGeom>
          <a:solidFill>
            <a:srgbClr val="FAF7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66928" y="1389888"/>
            <a:ext cx="3527450" cy="88900"/>
          </a:xfrm>
          <a:prstGeom prst="rect">
            <a:avLst/>
          </a:prstGeom>
          <a:solidFill>
            <a:srgbClr val="104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49808" y="1700784"/>
            <a:ext cx="3161690" cy="556691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lang="en-US" sz="3200" b="1" i="0" dirty="0">
                <a:solidFill>
                  <a:srgbClr val="0A322E"/>
                </a:solidFill>
                <a:latin typeface="Georgia"/>
                <a:cs typeface="Georgia"/>
              </a:rPr>
              <a:t>Session</a:t>
            </a:r>
            <a:r>
              <a:rPr sz="3200" b="1" i="0" dirty="0">
                <a:solidFill>
                  <a:srgbClr val="0A322E"/>
                </a:solidFill>
                <a:latin typeface="Georgia"/>
                <a:cs typeface="Georgia"/>
              </a:rPr>
              <a:t> 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2807208"/>
            <a:ext cx="3161690" cy="2135265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2700" b="0" i="0" dirty="0" err="1">
                <a:solidFill>
                  <a:srgbClr val="1C2321"/>
                </a:solidFill>
                <a:latin typeface="Segoe UI"/>
                <a:cs typeface="Arabic Typesetting"/>
              </a:rPr>
              <a:t>Khālid</a:t>
            </a:r>
            <a:r>
              <a:rPr sz="2700" b="0" i="0" dirty="0">
                <a:solidFill>
                  <a:srgbClr val="1C2321"/>
                </a:solidFill>
                <a:latin typeface="Segoe UI"/>
                <a:cs typeface="Arabic Typesetting"/>
              </a:rPr>
              <a:t> ؓ at </a:t>
            </a:r>
            <a:r>
              <a:rPr sz="2700" b="1" i="0" dirty="0" err="1">
                <a:solidFill>
                  <a:srgbClr val="1C2321"/>
                </a:solidFill>
                <a:latin typeface="Segoe UI"/>
                <a:cs typeface="Arabic Typesetting"/>
              </a:rPr>
              <a:t>Buzākha</a:t>
            </a:r>
            <a:r>
              <a:rPr sz="2700" b="0" i="0" dirty="0">
                <a:solidFill>
                  <a:srgbClr val="1C2321"/>
                </a:solidFill>
                <a:latin typeface="Segoe UI"/>
                <a:cs typeface="Arabic Typesetting"/>
              </a:rPr>
              <a:t>, in Najd: </a:t>
            </a:r>
            <a:r>
              <a:rPr sz="2700" b="0" i="0" dirty="0" err="1">
                <a:solidFill>
                  <a:srgbClr val="1C2321"/>
                </a:solidFill>
                <a:latin typeface="Segoe UI"/>
                <a:cs typeface="Arabic Typesetting"/>
              </a:rPr>
              <a:t>Ṭulayḥa</a:t>
            </a:r>
            <a:r>
              <a:rPr sz="2700" b="0" i="0" dirty="0">
                <a:solidFill>
                  <a:srgbClr val="1C2321"/>
                </a:solidFill>
                <a:latin typeface="Segoe UI"/>
                <a:cs typeface="Arabic Typesetting"/>
              </a:rPr>
              <a:t> </a:t>
            </a:r>
            <a:r>
              <a:rPr lang="en-US" sz="2700" b="0" i="0" dirty="0">
                <a:solidFill>
                  <a:srgbClr val="1C2321"/>
                </a:solidFill>
                <a:latin typeface="Segoe UI"/>
                <a:cs typeface="Arabic Typesetting"/>
              </a:rPr>
              <a:t>al Asadi defeated and flees</a:t>
            </a:r>
            <a:endParaRPr sz="2700" b="0" i="0" dirty="0">
              <a:solidFill>
                <a:srgbClr val="1C2321"/>
              </a:solidFill>
              <a:latin typeface="Segoe UI"/>
              <a:cs typeface="Arabic Typesetting"/>
            </a:endParaRPr>
          </a:p>
        </p:txBody>
      </p:sp>
      <p:sp>
        <p:nvSpPr>
          <p:cNvPr id="10" name="card1"/>
          <p:cNvSpPr/>
          <p:nvPr/>
        </p:nvSpPr>
        <p:spPr>
          <a:xfrm>
            <a:off x="4332122" y="1389888"/>
            <a:ext cx="3527450" cy="4663440"/>
          </a:xfrm>
          <a:prstGeom prst="rect">
            <a:avLst/>
          </a:prstGeom>
          <a:solidFill>
            <a:srgbClr val="FAF7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332122" y="1389888"/>
            <a:ext cx="3527450" cy="88900"/>
          </a:xfrm>
          <a:prstGeom prst="rect">
            <a:avLst/>
          </a:prstGeom>
          <a:solidFill>
            <a:srgbClr val="104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15002" y="1700784"/>
            <a:ext cx="3161690" cy="556691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>
              <a:lnSpc>
                <a:spcPct val="125000"/>
              </a:lnSpc>
            </a:pPr>
            <a:r>
              <a:rPr lang="en-US" sz="3200" b="1" dirty="0">
                <a:solidFill>
                  <a:srgbClr val="0A322E"/>
                </a:solidFill>
                <a:latin typeface="Georgia"/>
                <a:cs typeface="Georgia"/>
              </a:rPr>
              <a:t>Session</a:t>
            </a:r>
            <a:r>
              <a:rPr sz="3200" b="1" i="0" dirty="0">
                <a:solidFill>
                  <a:srgbClr val="0A322E"/>
                </a:solidFill>
                <a:latin typeface="Georgia"/>
                <a:cs typeface="Georgia"/>
              </a:rPr>
              <a:t> 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15002" y="2807208"/>
            <a:ext cx="3161690" cy="2683748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2700" b="0" i="0" dirty="0">
                <a:solidFill>
                  <a:srgbClr val="1C2321"/>
                </a:solidFill>
                <a:latin typeface="Segoe UI"/>
                <a:cs typeface="Segoe UI"/>
              </a:rPr>
              <a:t>The south: al-Aswad killed in </a:t>
            </a:r>
            <a:r>
              <a:rPr sz="2700" b="0" i="0" dirty="0" err="1">
                <a:solidFill>
                  <a:srgbClr val="1C2321"/>
                </a:solidFill>
                <a:latin typeface="Segoe UI"/>
                <a:cs typeface="Segoe UI"/>
              </a:rPr>
              <a:t>Ṣanʿāʾ</a:t>
            </a:r>
            <a:r>
              <a:rPr sz="2700" b="0" i="0" dirty="0">
                <a:solidFill>
                  <a:srgbClr val="1C2321"/>
                </a:solidFill>
                <a:latin typeface="Segoe UI"/>
                <a:cs typeface="Segoe UI"/>
              </a:rPr>
              <a:t>, the </a:t>
            </a:r>
            <a:r>
              <a:rPr sz="2700" b="1" i="0" dirty="0">
                <a:solidFill>
                  <a:srgbClr val="1C2321"/>
                </a:solidFill>
                <a:latin typeface="Segoe UI"/>
                <a:cs typeface="Segoe UI"/>
              </a:rPr>
              <a:t>Yemen</a:t>
            </a:r>
            <a:r>
              <a:rPr sz="2700" b="0" i="0" dirty="0">
                <a:solidFill>
                  <a:srgbClr val="1C2321"/>
                </a:solidFill>
                <a:latin typeface="Segoe UI"/>
                <a:cs typeface="Segoe UI"/>
              </a:rPr>
              <a:t> restored; </a:t>
            </a:r>
            <a:r>
              <a:rPr sz="2700" b="1" i="0" dirty="0" err="1">
                <a:solidFill>
                  <a:srgbClr val="1C2321"/>
                </a:solidFill>
                <a:latin typeface="Segoe UI"/>
                <a:cs typeface="Segoe UI"/>
              </a:rPr>
              <a:t>Ḥaḍramawt</a:t>
            </a:r>
            <a:r>
              <a:rPr sz="2700" b="0" i="0" dirty="0">
                <a:solidFill>
                  <a:srgbClr val="1C2321"/>
                </a:solidFill>
                <a:latin typeface="Segoe UI"/>
                <a:cs typeface="Segoe UI"/>
              </a:rPr>
              <a:t> still to come</a:t>
            </a:r>
          </a:p>
        </p:txBody>
      </p:sp>
      <p:sp>
        <p:nvSpPr>
          <p:cNvPr id="14" name="card2"/>
          <p:cNvSpPr/>
          <p:nvPr/>
        </p:nvSpPr>
        <p:spPr>
          <a:xfrm>
            <a:off x="8097316" y="1389888"/>
            <a:ext cx="3527450" cy="4663440"/>
          </a:xfrm>
          <a:prstGeom prst="rect">
            <a:avLst/>
          </a:prstGeom>
          <a:solidFill>
            <a:srgbClr val="FAF7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097316" y="1389888"/>
            <a:ext cx="3527450" cy="88900"/>
          </a:xfrm>
          <a:prstGeom prst="rect">
            <a:avLst/>
          </a:prstGeom>
          <a:solidFill>
            <a:srgbClr val="104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280196" y="1700784"/>
            <a:ext cx="3161690" cy="1097280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200" b="1" i="0">
                <a:solidFill>
                  <a:srgbClr val="0A322E"/>
                </a:solidFill>
                <a:latin typeface="Georgia"/>
                <a:cs typeface="Georgia"/>
              </a:rPr>
              <a:t>Tonight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80196" y="2807208"/>
            <a:ext cx="3161690" cy="2683748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2700" b="0" i="0" dirty="0">
                <a:solidFill>
                  <a:srgbClr val="1C2321"/>
                </a:solidFill>
                <a:latin typeface="Segoe UI"/>
                <a:cs typeface="Segoe UI"/>
              </a:rPr>
              <a:t>Two claimants still standing in the north: </a:t>
            </a:r>
            <a:r>
              <a:rPr sz="2700" b="1" i="0" dirty="0" err="1">
                <a:solidFill>
                  <a:srgbClr val="1C2321"/>
                </a:solidFill>
                <a:latin typeface="Segoe UI"/>
                <a:cs typeface="Segoe UI"/>
              </a:rPr>
              <a:t>Musaylima</a:t>
            </a:r>
            <a:r>
              <a:rPr sz="2700" b="0" i="0" dirty="0">
                <a:solidFill>
                  <a:srgbClr val="1C2321"/>
                </a:solidFill>
                <a:latin typeface="Segoe UI"/>
                <a:cs typeface="Segoe UI"/>
              </a:rPr>
              <a:t> at al-</a:t>
            </a:r>
            <a:r>
              <a:rPr sz="2700" b="0" i="0" dirty="0" err="1">
                <a:solidFill>
                  <a:srgbClr val="1C2321"/>
                </a:solidFill>
                <a:latin typeface="Segoe UI"/>
                <a:cs typeface="Segoe UI"/>
              </a:rPr>
              <a:t>Yamāma</a:t>
            </a:r>
            <a:r>
              <a:rPr sz="2700" b="0" i="0" dirty="0">
                <a:solidFill>
                  <a:srgbClr val="1C2321"/>
                </a:solidFill>
                <a:latin typeface="Segoe UI"/>
                <a:cs typeface="Segoe UI"/>
              </a:rPr>
              <a:t>, and </a:t>
            </a:r>
            <a:r>
              <a:rPr sz="2700" b="1" i="0" dirty="0" err="1">
                <a:solidFill>
                  <a:srgbClr val="1C2321"/>
                </a:solidFill>
                <a:latin typeface="Segoe UI"/>
                <a:cs typeface="Segoe UI"/>
              </a:rPr>
              <a:t>Sajāḥ</a:t>
            </a:r>
            <a:endParaRPr sz="2700" b="1" i="0" dirty="0">
              <a:solidFill>
                <a:srgbClr val="1C2321"/>
              </a:solidFill>
              <a:latin typeface="Segoe UI"/>
              <a:cs typeface="Segoe U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nd"/>
          <p:cNvSpPr/>
          <p:nvPr/>
        </p:nvSpPr>
        <p:spPr>
          <a:xfrm>
            <a:off x="0" y="0"/>
            <a:ext cx="12191695" cy="1223263"/>
          </a:xfrm>
          <a:prstGeom prst="rect">
            <a:avLst/>
          </a:prstGeom>
          <a:solidFill>
            <a:srgbClr val="104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ule"/>
          <p:cNvSpPr/>
          <p:nvPr/>
        </p:nvSpPr>
        <p:spPr>
          <a:xfrm>
            <a:off x="0" y="1223263"/>
            <a:ext cx="12191695" cy="57150"/>
          </a:xfrm>
          <a:prstGeom prst="rect">
            <a:avLst/>
          </a:prstGeom>
          <a:solidFill>
            <a:srgbClr val="C49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66928" y="91440"/>
            <a:ext cx="11057839" cy="274320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400" b="1" i="0">
                <a:solidFill>
                  <a:srgbClr val="C49A45"/>
                </a:solidFill>
                <a:latin typeface="Segoe UI"/>
                <a:cs typeface="Segoe UI"/>
              </a:rPr>
              <a:t>End of 10 AH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02336"/>
            <a:ext cx="11057839" cy="711199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4000" b="1" i="0">
                <a:solidFill>
                  <a:srgbClr val="FAF7F0"/>
                </a:solidFill>
                <a:latin typeface="Georgia"/>
                <a:cs typeface="Georgia"/>
              </a:rPr>
              <a:t>Musaylima's letter, and the reply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634490"/>
            <a:ext cx="11057839" cy="2331720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r" rtl="1">
              <a:lnSpc>
                <a:spcPct val="150000"/>
              </a:lnSpc>
            </a:pPr>
            <a:r>
              <a:rPr lang="ar-SA" sz="5400" b="0" i="0">
                <a:solidFill>
                  <a:srgbClr val="0A322E"/>
                </a:solidFill>
                <a:latin typeface="Traditional Arabic"/>
                <a:cs typeface="Traditional Arabic"/>
              </a:rPr>
              <a:t>فإنَّ الأرضَ لله يُورِثُها منْ يَشاءُ من عباده والعاقبة للمتقين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4094226"/>
            <a:ext cx="1554480" cy="38100"/>
          </a:xfrm>
          <a:prstGeom prst="rect">
            <a:avLst/>
          </a:prstGeom>
          <a:solidFill>
            <a:srgbClr val="C49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66928" y="4405122"/>
            <a:ext cx="11057839" cy="1632204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3000" b="0" i="1">
                <a:solidFill>
                  <a:srgbClr val="1C2321"/>
                </a:solidFill>
                <a:latin typeface="Georgia"/>
                <a:cs typeface="Georgia"/>
              </a:rPr>
              <a:t>…the earth belongs to Allah; He gives it in inheritance to whomever He wills of His servants; and the outcome is for those who fear Him.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144768"/>
            <a:ext cx="11057839" cy="457200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400" b="0" i="0">
                <a:solidFill>
                  <a:srgbClr val="5A6862"/>
                </a:solidFill>
                <a:latin typeface="Segoe UI"/>
                <a:cs typeface="Segoe UI"/>
              </a:rPr>
              <a:t>al-Bidaya wa'l-Nihaya, vol. 5, p. 24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nd"/>
          <p:cNvSpPr/>
          <p:nvPr/>
        </p:nvSpPr>
        <p:spPr>
          <a:xfrm>
            <a:off x="0" y="0"/>
            <a:ext cx="12191695" cy="1223263"/>
          </a:xfrm>
          <a:prstGeom prst="rect">
            <a:avLst/>
          </a:prstGeom>
          <a:solidFill>
            <a:srgbClr val="104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ule"/>
          <p:cNvSpPr/>
          <p:nvPr/>
        </p:nvSpPr>
        <p:spPr>
          <a:xfrm>
            <a:off x="0" y="1223263"/>
            <a:ext cx="12191695" cy="57150"/>
          </a:xfrm>
          <a:prstGeom prst="rect">
            <a:avLst/>
          </a:prstGeom>
          <a:solidFill>
            <a:srgbClr val="C49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66928" y="91440"/>
            <a:ext cx="11057839" cy="274320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400" b="1" i="0">
                <a:solidFill>
                  <a:srgbClr val="C49A45"/>
                </a:solidFill>
                <a:latin typeface="Segoe UI"/>
                <a:cs typeface="Traditional Arabic"/>
              </a:rPr>
              <a:t>in the Prophet's ﷺ lifetime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02336"/>
            <a:ext cx="11057839" cy="654282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lang="en-US" sz="4000" b="1" i="0" dirty="0">
                <a:solidFill>
                  <a:srgbClr val="FAF7F0"/>
                </a:solidFill>
                <a:latin typeface="Georgia"/>
                <a:cs typeface="Georgia"/>
              </a:rPr>
              <a:t>Earlier: </a:t>
            </a:r>
            <a:r>
              <a:rPr sz="4000" b="1" i="0" dirty="0" err="1">
                <a:solidFill>
                  <a:srgbClr val="FAF7F0"/>
                </a:solidFill>
                <a:latin typeface="Georgia"/>
                <a:cs typeface="Georgia"/>
              </a:rPr>
              <a:t>Musaylima</a:t>
            </a:r>
            <a:r>
              <a:rPr sz="4000" b="1" i="0" dirty="0">
                <a:solidFill>
                  <a:srgbClr val="FAF7F0"/>
                </a:solidFill>
                <a:latin typeface="Georgia"/>
                <a:cs typeface="Georgia"/>
              </a:rPr>
              <a:t> at Medina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2396490"/>
            <a:ext cx="11057839" cy="1303020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r" rtl="1">
              <a:lnSpc>
                <a:spcPct val="150000"/>
              </a:lnSpc>
            </a:pPr>
            <a:r>
              <a:rPr lang="ar-SA" sz="5400" b="0" i="0">
                <a:solidFill>
                  <a:srgbClr val="0A322E"/>
                </a:solidFill>
                <a:latin typeface="Traditional Arabic"/>
                <a:cs typeface="Traditional Arabic"/>
              </a:rPr>
              <a:t>لو سألتني هذه القطعة ما أعطيتكها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3827526"/>
            <a:ext cx="1554480" cy="38100"/>
          </a:xfrm>
          <a:prstGeom prst="rect">
            <a:avLst/>
          </a:prstGeom>
          <a:solidFill>
            <a:srgbClr val="C49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66928" y="4138422"/>
            <a:ext cx="11057839" cy="1136903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3000" b="0" i="1">
                <a:solidFill>
                  <a:srgbClr val="1C2321"/>
                </a:solidFill>
                <a:latin typeface="Georgia"/>
                <a:cs typeface="Georgia"/>
              </a:rPr>
              <a:t>If you asked me for this piece, I would not give it to you…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144768"/>
            <a:ext cx="11057839" cy="457200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400" b="0" i="0">
                <a:solidFill>
                  <a:srgbClr val="5A6862"/>
                </a:solidFill>
                <a:latin typeface="Segoe UI"/>
                <a:cs typeface="Segoe UI"/>
              </a:rPr>
              <a:t>al-Bidaya wa'l-Nihaya, vol. 5, p. 21 — Sahih al-Bukhari 4373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44BBE4A-370A-47FE-62B4-FE100E8890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12256"/>
            <a:ext cx="12192000" cy="54334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818703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nd"/>
          <p:cNvSpPr/>
          <p:nvPr/>
        </p:nvSpPr>
        <p:spPr>
          <a:xfrm>
            <a:off x="0" y="0"/>
            <a:ext cx="12191695" cy="1223263"/>
          </a:xfrm>
          <a:prstGeom prst="rect">
            <a:avLst/>
          </a:prstGeom>
          <a:solidFill>
            <a:srgbClr val="104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ule"/>
          <p:cNvSpPr/>
          <p:nvPr/>
        </p:nvSpPr>
        <p:spPr>
          <a:xfrm>
            <a:off x="0" y="1223263"/>
            <a:ext cx="12191695" cy="57150"/>
          </a:xfrm>
          <a:prstGeom prst="rect">
            <a:avLst/>
          </a:prstGeom>
          <a:solidFill>
            <a:srgbClr val="C49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66928" y="91440"/>
            <a:ext cx="11057839" cy="274320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400" b="1" i="0">
                <a:solidFill>
                  <a:srgbClr val="C49A45"/>
                </a:solidFill>
                <a:latin typeface="Segoe UI"/>
                <a:cs typeface="Segoe UI"/>
              </a:rPr>
              <a:t>11–12 AH, al-Yamāma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02336"/>
            <a:ext cx="11057839" cy="711199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4000" b="1" i="0">
                <a:solidFill>
                  <a:srgbClr val="FAF7F0"/>
                </a:solidFill>
                <a:latin typeface="Georgia"/>
                <a:cs typeface="Georgia"/>
              </a:rPr>
              <a:t>"A liar of Rabīʿa"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824990"/>
            <a:ext cx="11057839" cy="1950720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r" rtl="1">
              <a:lnSpc>
                <a:spcPct val="150000"/>
              </a:lnSpc>
            </a:pPr>
            <a:r>
              <a:rPr lang="ar-SA" sz="4400" b="0" i="0">
                <a:solidFill>
                  <a:srgbClr val="0A322E"/>
                </a:solidFill>
                <a:latin typeface="Traditional Arabic"/>
                <a:cs typeface="Traditional Arabic"/>
              </a:rPr>
              <a:t>فقال أشهد أنَّك كذّابٌ وأن محمدًا صادقٌ، ولكن كذّابَ رَبيعة أحبُّ إلينا من صادقِ مُضَر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3903726"/>
            <a:ext cx="1554480" cy="38100"/>
          </a:xfrm>
          <a:prstGeom prst="rect">
            <a:avLst/>
          </a:prstGeom>
          <a:solidFill>
            <a:srgbClr val="C49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66928" y="4214622"/>
            <a:ext cx="11057839" cy="1632204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3000" b="0" i="1">
                <a:solidFill>
                  <a:srgbClr val="1C2321"/>
                </a:solidFill>
                <a:latin typeface="Georgia"/>
                <a:cs typeface="Traditional Arabic"/>
              </a:rPr>
              <a:t>He said: I bear witness that you are a liar and that Muḥammad ﷺ is truthful — but a liar of Rabīʿa is dearer to us than a truthful man of Muḍar.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144768"/>
            <a:ext cx="11057839" cy="457200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400" b="0" i="0">
                <a:solidFill>
                  <a:srgbClr val="5A6862"/>
                </a:solidFill>
                <a:latin typeface="Segoe UI"/>
                <a:cs typeface="Segoe UI"/>
              </a:rPr>
              <a:t>al-Bidaya wa'l-Nihaya, vol. 7, p. 37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nd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04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ule"/>
          <p:cNvSpPr/>
          <p:nvPr/>
        </p:nvSpPr>
        <p:spPr>
          <a:xfrm>
            <a:off x="0" y="1078992"/>
            <a:ext cx="12191695" cy="57150"/>
          </a:xfrm>
          <a:prstGeom prst="rect">
            <a:avLst/>
          </a:prstGeom>
          <a:solidFill>
            <a:srgbClr val="C49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66928" y="182880"/>
            <a:ext cx="11057839" cy="711199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4000" b="1" i="0">
                <a:solidFill>
                  <a:srgbClr val="FAF7F0"/>
                </a:solidFill>
                <a:latin typeface="Georgia"/>
                <a:cs typeface="Georgia"/>
              </a:rPr>
              <a:t>Sajāḥ comes down from the north</a:t>
            </a:r>
          </a:p>
        </p:txBody>
      </p:sp>
      <p:pic>
        <p:nvPicPr>
          <p:cNvPr id="5" name="Picture 4" descr="s04-01-sajah-step-03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1690900"/>
            <a:ext cx="7740487" cy="4354023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8618311" y="1554480"/>
            <a:ext cx="54864" cy="310896"/>
          </a:xfrm>
          <a:prstGeom prst="rect">
            <a:avLst/>
          </a:prstGeom>
          <a:solidFill>
            <a:srgbClr val="C49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819479" y="1499616"/>
            <a:ext cx="2805288" cy="457200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800" b="1" i="0">
                <a:solidFill>
                  <a:srgbClr val="0A322E"/>
                </a:solidFill>
                <a:latin typeface="Georgia"/>
                <a:cs typeface="Georgia"/>
              </a:rPr>
              <a:t>al-Jazīra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19479" y="1920240"/>
            <a:ext cx="2805288" cy="1943100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400" b="0" i="0">
                <a:solidFill>
                  <a:srgbClr val="5A6862"/>
                </a:solidFill>
                <a:latin typeface="Segoe UI"/>
                <a:cs typeface="Segoe UI"/>
              </a:rPr>
              <a:t>where she came from</a:t>
            </a:r>
          </a:p>
        </p:txBody>
      </p:sp>
      <p:sp>
        <p:nvSpPr>
          <p:cNvPr id="9" name="Rectangle 8"/>
          <p:cNvSpPr/>
          <p:nvPr/>
        </p:nvSpPr>
        <p:spPr>
          <a:xfrm>
            <a:off x="8618311" y="3918204"/>
            <a:ext cx="54864" cy="310896"/>
          </a:xfrm>
          <a:prstGeom prst="rect">
            <a:avLst/>
          </a:prstGeom>
          <a:solidFill>
            <a:srgbClr val="C49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819479" y="3863340"/>
            <a:ext cx="2805288" cy="457200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800" b="1" i="0">
                <a:solidFill>
                  <a:srgbClr val="0A322E"/>
                </a:solidFill>
                <a:latin typeface="Georgia"/>
                <a:cs typeface="Georgia"/>
              </a:rPr>
              <a:t>al-Yamāma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19479" y="4283964"/>
            <a:ext cx="2805288" cy="1943100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400" b="0" i="0">
                <a:solidFill>
                  <a:srgbClr val="5A6862"/>
                </a:solidFill>
                <a:latin typeface="Segoe UI"/>
                <a:cs typeface="Segoe UI"/>
              </a:rPr>
              <a:t>where she turned back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20031F0-87DC-076F-56C6-2DEF111BF1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31575"/>
            <a:ext cx="12192000" cy="5794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793449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nd"/>
          <p:cNvSpPr/>
          <p:nvPr/>
        </p:nvSpPr>
        <p:spPr>
          <a:xfrm>
            <a:off x="0" y="0"/>
            <a:ext cx="12191695" cy="1223263"/>
          </a:xfrm>
          <a:prstGeom prst="rect">
            <a:avLst/>
          </a:prstGeom>
          <a:solidFill>
            <a:srgbClr val="104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ule"/>
          <p:cNvSpPr/>
          <p:nvPr/>
        </p:nvSpPr>
        <p:spPr>
          <a:xfrm>
            <a:off x="0" y="1223263"/>
            <a:ext cx="12191695" cy="57150"/>
          </a:xfrm>
          <a:prstGeom prst="rect">
            <a:avLst/>
          </a:prstGeom>
          <a:solidFill>
            <a:srgbClr val="C49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66928" y="91440"/>
            <a:ext cx="11057839" cy="274320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400" b="1" i="0">
                <a:solidFill>
                  <a:srgbClr val="C49A45"/>
                </a:solidFill>
                <a:latin typeface="Segoe UI"/>
                <a:cs typeface="Segoe UI"/>
              </a:rPr>
              <a:t>11 AH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02336"/>
            <a:ext cx="11057839" cy="711199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4000" b="1" i="0">
                <a:solidFill>
                  <a:srgbClr val="FAF7F0"/>
                </a:solidFill>
                <a:latin typeface="Georgia"/>
                <a:cs typeface="Georgia"/>
              </a:rPr>
              <a:t>Sajāḥ — who she actually was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824990"/>
            <a:ext cx="11057839" cy="1950720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r" rtl="1">
              <a:lnSpc>
                <a:spcPct val="150000"/>
              </a:lnSpc>
            </a:pPr>
            <a:r>
              <a:rPr lang="ar-SA" sz="4400" b="0" i="0">
                <a:solidFill>
                  <a:srgbClr val="0A322E"/>
                </a:solidFill>
                <a:latin typeface="Traditional Arabic"/>
                <a:cs typeface="Traditional Arabic"/>
              </a:rPr>
              <a:t>إذ أقبلت سجاح … التغلبية من الجزيرة، وهي من نصارى العرب، وقد ادَّعتِ النبوَّة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3903726"/>
            <a:ext cx="1554480" cy="38100"/>
          </a:xfrm>
          <a:prstGeom prst="rect">
            <a:avLst/>
          </a:prstGeom>
          <a:solidFill>
            <a:srgbClr val="C49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66928" y="4214622"/>
            <a:ext cx="11057839" cy="1632204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3000" b="0" i="1">
                <a:solidFill>
                  <a:srgbClr val="1C2321"/>
                </a:solidFill>
                <a:latin typeface="Georgia"/>
                <a:cs typeface="Georgia"/>
              </a:rPr>
              <a:t>…Sajāḥ … al-Taghlibiyya came forward from al-Jazīra — and she was of the Christians of the Arabs — having claimed prophethood.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144768"/>
            <a:ext cx="11057839" cy="457200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400" b="0" i="0">
                <a:solidFill>
                  <a:srgbClr val="5A6862"/>
                </a:solidFill>
                <a:latin typeface="Segoe UI"/>
                <a:cs typeface="Segoe UI"/>
              </a:rPr>
              <a:t>al-Bidaya wa'l-Nihaya, vol. 7, p. 28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nd"/>
          <p:cNvSpPr/>
          <p:nvPr/>
        </p:nvSpPr>
        <p:spPr>
          <a:xfrm>
            <a:off x="0" y="0"/>
            <a:ext cx="12191695" cy="1223263"/>
          </a:xfrm>
          <a:prstGeom prst="rect">
            <a:avLst/>
          </a:prstGeom>
          <a:solidFill>
            <a:srgbClr val="104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ule"/>
          <p:cNvSpPr/>
          <p:nvPr/>
        </p:nvSpPr>
        <p:spPr>
          <a:xfrm>
            <a:off x="0" y="1223263"/>
            <a:ext cx="12191695" cy="57150"/>
          </a:xfrm>
          <a:prstGeom prst="rect">
            <a:avLst/>
          </a:prstGeom>
          <a:solidFill>
            <a:srgbClr val="C49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66928" y="91440"/>
            <a:ext cx="11057839" cy="274320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400" b="1" i="0">
                <a:solidFill>
                  <a:srgbClr val="C49A45"/>
                </a:solidFill>
                <a:latin typeface="Segoe UI"/>
                <a:cs typeface="Segoe UI"/>
              </a:rPr>
              <a:t>11 AH, and afterwards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02336"/>
            <a:ext cx="11057839" cy="711199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4000" b="1" i="0">
                <a:solidFill>
                  <a:srgbClr val="FAF7F0"/>
                </a:solidFill>
                <a:latin typeface="Georgia"/>
                <a:cs typeface="Georgia"/>
              </a:rPr>
              <a:t>What her claim was worth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882140"/>
            <a:ext cx="11057839" cy="2331720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r" rtl="1">
              <a:lnSpc>
                <a:spcPct val="150000"/>
              </a:lnSpc>
            </a:pPr>
            <a:r>
              <a:rPr lang="ar-SA" sz="5400" b="0" i="0">
                <a:solidFill>
                  <a:srgbClr val="0A322E"/>
                </a:solidFill>
                <a:latin typeface="Traditional Arabic"/>
                <a:cs typeface="Traditional Arabic"/>
              </a:rPr>
              <a:t>فكرَّتْ راجعةً إلى الجزيرة بعدما قبضَتْ من مسيلمة نصفَ خراجِ أرضِهِ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4341876"/>
            <a:ext cx="1554480" cy="38100"/>
          </a:xfrm>
          <a:prstGeom prst="rect">
            <a:avLst/>
          </a:prstGeom>
          <a:solidFill>
            <a:srgbClr val="C49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66928" y="4652772"/>
            <a:ext cx="11057839" cy="1136903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3000" b="0" i="1">
                <a:solidFill>
                  <a:srgbClr val="1C2321"/>
                </a:solidFill>
                <a:latin typeface="Georgia"/>
                <a:cs typeface="Georgia"/>
              </a:rPr>
              <a:t>…she went back to al-Jazīra after she had taken from Musaylima half the kharāj of his land…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144768"/>
            <a:ext cx="11057839" cy="457200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400" b="0" i="0">
                <a:solidFill>
                  <a:srgbClr val="5A6862"/>
                </a:solidFill>
                <a:latin typeface="Segoe UI"/>
                <a:cs typeface="Segoe UI"/>
              </a:rPr>
              <a:t>al-Bidaya wa'l-Nihaya, vol. 7, p. 30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nd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04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ule"/>
          <p:cNvSpPr/>
          <p:nvPr/>
        </p:nvSpPr>
        <p:spPr>
          <a:xfrm>
            <a:off x="0" y="1078992"/>
            <a:ext cx="12191695" cy="57150"/>
          </a:xfrm>
          <a:prstGeom prst="rect">
            <a:avLst/>
          </a:prstGeom>
          <a:solidFill>
            <a:srgbClr val="C49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66928" y="182880"/>
            <a:ext cx="11057839" cy="711199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4000" b="1" i="0">
                <a:solidFill>
                  <a:srgbClr val="FAF7F0"/>
                </a:solidFill>
                <a:latin typeface="Georgia"/>
                <a:cs typeface="Georgia"/>
              </a:rPr>
              <a:t>al-Yamāma before the army came</a:t>
            </a:r>
          </a:p>
        </p:txBody>
      </p:sp>
      <p:pic>
        <p:nvPicPr>
          <p:cNvPr id="5" name="Picture 4" descr="s04-02-al-yamama-before-step-02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1690900"/>
            <a:ext cx="7740487" cy="4354023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8618311" y="1554480"/>
            <a:ext cx="54864" cy="310896"/>
          </a:xfrm>
          <a:prstGeom prst="rect">
            <a:avLst/>
          </a:prstGeom>
          <a:solidFill>
            <a:srgbClr val="C49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819479" y="1499616"/>
            <a:ext cx="2805288" cy="457200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800" b="1" i="0">
                <a:solidFill>
                  <a:srgbClr val="0A322E"/>
                </a:solidFill>
                <a:latin typeface="Georgia"/>
                <a:cs typeface="Georgia"/>
              </a:rPr>
              <a:t>Ḥajr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19479" y="1920240"/>
            <a:ext cx="2805288" cy="1943100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400" b="0" i="0">
                <a:solidFill>
                  <a:srgbClr val="5A6862"/>
                </a:solidFill>
                <a:latin typeface="Segoe UI"/>
                <a:cs typeface="Segoe UI"/>
              </a:rPr>
              <a:t>the town</a:t>
            </a:r>
          </a:p>
        </p:txBody>
      </p:sp>
      <p:sp>
        <p:nvSpPr>
          <p:cNvPr id="9" name="Rectangle 8"/>
          <p:cNvSpPr/>
          <p:nvPr/>
        </p:nvSpPr>
        <p:spPr>
          <a:xfrm>
            <a:off x="8618311" y="3918204"/>
            <a:ext cx="54864" cy="310896"/>
          </a:xfrm>
          <a:prstGeom prst="rect">
            <a:avLst/>
          </a:prstGeom>
          <a:solidFill>
            <a:srgbClr val="C49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819479" y="3863340"/>
            <a:ext cx="2805288" cy="457200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800" b="1" i="0">
                <a:solidFill>
                  <a:srgbClr val="0A322E"/>
                </a:solidFill>
                <a:latin typeface="Georgia"/>
                <a:cs typeface="Arabic Typesetting"/>
              </a:rPr>
              <a:t>Thumāma 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19479" y="4283964"/>
            <a:ext cx="2805288" cy="1943100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400" b="0" i="0">
                <a:solidFill>
                  <a:srgbClr val="5A6862"/>
                </a:solidFill>
                <a:latin typeface="Segoe UI"/>
                <a:cs typeface="Segoe UI"/>
              </a:rPr>
              <a:t>of Banū Ḥanīfa itself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nd"/>
          <p:cNvSpPr/>
          <p:nvPr/>
        </p:nvSpPr>
        <p:spPr>
          <a:xfrm>
            <a:off x="0" y="0"/>
            <a:ext cx="12191695" cy="1223263"/>
          </a:xfrm>
          <a:prstGeom prst="rect">
            <a:avLst/>
          </a:prstGeom>
          <a:solidFill>
            <a:srgbClr val="104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ule"/>
          <p:cNvSpPr/>
          <p:nvPr/>
        </p:nvSpPr>
        <p:spPr>
          <a:xfrm>
            <a:off x="0" y="1223263"/>
            <a:ext cx="12191695" cy="57150"/>
          </a:xfrm>
          <a:prstGeom prst="rect">
            <a:avLst/>
          </a:prstGeom>
          <a:solidFill>
            <a:srgbClr val="C49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66928" y="91440"/>
            <a:ext cx="11057839" cy="274320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400" b="1" i="0">
                <a:solidFill>
                  <a:srgbClr val="C49A45"/>
                </a:solidFill>
                <a:latin typeface="Segoe UI"/>
                <a:cs typeface="Arabic Typesetting"/>
              </a:rPr>
              <a:t>11 AH, before Khālid ؓ arrived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02336"/>
            <a:ext cx="11057839" cy="711199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4000" b="1" i="0">
                <a:solidFill>
                  <a:srgbClr val="FAF7F0"/>
                </a:solidFill>
                <a:latin typeface="Georgia"/>
                <a:cs typeface="Georgia"/>
              </a:rPr>
              <a:t>There were Muslims inside already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824990"/>
            <a:ext cx="11057839" cy="1950720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r" rtl="1">
              <a:lnSpc>
                <a:spcPct val="150000"/>
              </a:lnSpc>
            </a:pPr>
            <a:r>
              <a:rPr lang="ar-SA" sz="4400" b="0" i="0">
                <a:solidFill>
                  <a:srgbClr val="0A322E"/>
                </a:solidFill>
                <a:latin typeface="Traditional Arabic"/>
                <a:cs typeface="Traditional Arabic"/>
              </a:rPr>
              <a:t>فَخَافَ إِنْ هُوَ شُغِلَ بِهَا أَنْ يَغْلِبَ ثُمَامَةُ وَشُرَحْبِيلُ بْنُ حَسَنَةَ وَالْقَبَائِلُ التى حَوْلَهُمْ عَلَى حَجْرٍ، وَهِيَ الْيَمَامَةُ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3903726"/>
            <a:ext cx="1554480" cy="38100"/>
          </a:xfrm>
          <a:prstGeom prst="rect">
            <a:avLst/>
          </a:prstGeom>
          <a:solidFill>
            <a:srgbClr val="C49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66928" y="4214622"/>
            <a:ext cx="11057839" cy="1632204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3000" b="0" i="1">
                <a:solidFill>
                  <a:srgbClr val="1C2321"/>
                </a:solidFill>
                <a:latin typeface="Georgia"/>
                <a:cs typeface="Georgia"/>
              </a:rPr>
              <a:t>"He feared that if he were occupied with her, Thumāma and Shuraḥbīl b. Ḥasana and the tribes around them would overcome Ḥajr — which is al-Yamāma."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144768"/>
            <a:ext cx="11057839" cy="457200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400" b="0" i="0">
                <a:solidFill>
                  <a:srgbClr val="5A6862"/>
                </a:solidFill>
                <a:latin typeface="Segoe UI"/>
                <a:cs typeface="Segoe UI"/>
              </a:rPr>
              <a:t>al-Kamil, vol. 2, p. 210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2651760"/>
            <a:ext cx="12191695" cy="1554480"/>
          </a:xfrm>
          <a:prstGeom prst="rect">
            <a:avLst/>
          </a:prstGeom>
          <a:solidFill>
            <a:srgbClr val="FAF7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2651760"/>
            <a:ext cx="114300" cy="1554480"/>
          </a:xfrm>
          <a:prstGeom prst="rect">
            <a:avLst/>
          </a:prstGeom>
          <a:solidFill>
            <a:srgbClr val="C49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68680" y="2788920"/>
            <a:ext cx="10728655" cy="731520"/>
          </a:xfrm>
          <a:prstGeom prst="rect">
            <a:avLst/>
          </a:prstGeom>
          <a:noFill/>
        </p:spPr>
        <p:txBody>
          <a:bodyPr wrap="square" lIns="36576" tIns="0" rIns="36576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4600" b="1" i="0">
                <a:solidFill>
                  <a:srgbClr val="0A322E"/>
                </a:solidFill>
                <a:latin typeface="Georgia"/>
                <a:cs typeface="Georgia"/>
              </a:rPr>
              <a:t>Part II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3520440"/>
            <a:ext cx="10728655" cy="548640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800" b="0" i="0">
                <a:solidFill>
                  <a:srgbClr val="5A6862"/>
                </a:solidFill>
                <a:latin typeface="Segoe UI"/>
                <a:cs typeface="Segoe UI"/>
              </a:rPr>
              <a:t>al-Buṭāḥ, and the reckoning at Medina (11 AH)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9196E4C-6CA9-3B58-CF5B-6A3D777327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176833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nd"/>
          <p:cNvSpPr/>
          <p:nvPr/>
        </p:nvSpPr>
        <p:spPr>
          <a:xfrm>
            <a:off x="0" y="0"/>
            <a:ext cx="12191695" cy="1223263"/>
          </a:xfrm>
          <a:prstGeom prst="rect">
            <a:avLst/>
          </a:prstGeom>
          <a:solidFill>
            <a:srgbClr val="104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ule"/>
          <p:cNvSpPr/>
          <p:nvPr/>
        </p:nvSpPr>
        <p:spPr>
          <a:xfrm>
            <a:off x="0" y="1223263"/>
            <a:ext cx="12191695" cy="57150"/>
          </a:xfrm>
          <a:prstGeom prst="rect">
            <a:avLst/>
          </a:prstGeom>
          <a:solidFill>
            <a:srgbClr val="C49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66928" y="91440"/>
            <a:ext cx="11057839" cy="274320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400" b="1" i="0">
                <a:solidFill>
                  <a:srgbClr val="C49A45"/>
                </a:solidFill>
                <a:latin typeface="Segoe UI"/>
                <a:cs typeface="Segoe UI"/>
              </a:rPr>
              <a:t>11 AH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02336"/>
            <a:ext cx="11057839" cy="711199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4000" b="1" i="0">
                <a:solidFill>
                  <a:srgbClr val="FAF7F0"/>
                </a:solidFill>
                <a:latin typeface="Georgia"/>
                <a:cs typeface="Georgia"/>
              </a:rPr>
              <a:t>After Buzākha</a:t>
            </a:r>
          </a:p>
        </p:txBody>
      </p:sp>
      <p:sp>
        <p:nvSpPr>
          <p:cNvPr id="6" name="card0"/>
          <p:cNvSpPr/>
          <p:nvPr/>
        </p:nvSpPr>
        <p:spPr>
          <a:xfrm>
            <a:off x="566928" y="1389888"/>
            <a:ext cx="3527450" cy="4846320"/>
          </a:xfrm>
          <a:prstGeom prst="rect">
            <a:avLst/>
          </a:prstGeom>
          <a:solidFill>
            <a:srgbClr val="FAF7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66928" y="1389888"/>
            <a:ext cx="3527450" cy="88900"/>
          </a:xfrm>
          <a:prstGeom prst="rect">
            <a:avLst/>
          </a:prstGeom>
          <a:solidFill>
            <a:srgbClr val="104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49808" y="1700784"/>
            <a:ext cx="3161690" cy="1097280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200" b="1" i="0">
                <a:solidFill>
                  <a:srgbClr val="0A322E"/>
                </a:solidFill>
                <a:latin typeface="Georgia"/>
                <a:cs typeface="Georgia"/>
              </a:rPr>
              <a:t>The orders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2807208"/>
            <a:ext cx="3161690" cy="2135265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2700" b="0" i="0" dirty="0">
                <a:solidFill>
                  <a:srgbClr val="1C2321"/>
                </a:solidFill>
                <a:latin typeface="Segoe UI"/>
                <a:cs typeface="Arabic Typesetting"/>
              </a:rPr>
              <a:t>Tied at </a:t>
            </a:r>
            <a:r>
              <a:rPr sz="2700" b="1" i="0" dirty="0" err="1">
                <a:solidFill>
                  <a:srgbClr val="1C2321"/>
                </a:solidFill>
                <a:latin typeface="Segoe UI"/>
                <a:cs typeface="Arabic Typesetting"/>
              </a:rPr>
              <a:t>Dhū</a:t>
            </a:r>
            <a:r>
              <a:rPr sz="2700" b="1" i="0" dirty="0">
                <a:solidFill>
                  <a:srgbClr val="1C2321"/>
                </a:solidFill>
                <a:latin typeface="Segoe UI"/>
                <a:cs typeface="Arabic Typesetting"/>
              </a:rPr>
              <a:t> al-</a:t>
            </a:r>
            <a:r>
              <a:rPr sz="2700" b="1" i="0" dirty="0" err="1">
                <a:solidFill>
                  <a:srgbClr val="1C2321"/>
                </a:solidFill>
                <a:latin typeface="Segoe UI"/>
                <a:cs typeface="Arabic Typesetting"/>
              </a:rPr>
              <a:t>Qaṣṣa</a:t>
            </a:r>
            <a:r>
              <a:rPr sz="2700" b="0" i="0" dirty="0">
                <a:solidFill>
                  <a:srgbClr val="1C2321"/>
                </a:solidFill>
                <a:latin typeface="Segoe UI"/>
                <a:cs typeface="Arabic Typesetting"/>
              </a:rPr>
              <a:t>: </a:t>
            </a:r>
            <a:r>
              <a:rPr sz="2700" b="0" i="0" dirty="0" err="1">
                <a:solidFill>
                  <a:srgbClr val="1C2321"/>
                </a:solidFill>
                <a:latin typeface="Segoe UI"/>
                <a:cs typeface="Arabic Typesetting"/>
              </a:rPr>
              <a:t>Ṭulayḥa</a:t>
            </a:r>
            <a:r>
              <a:rPr sz="2700" b="0" i="0" dirty="0">
                <a:solidFill>
                  <a:srgbClr val="1C2321"/>
                </a:solidFill>
                <a:latin typeface="Segoe UI"/>
                <a:cs typeface="Arabic Typesetting"/>
              </a:rPr>
              <a:t> first; when done, </a:t>
            </a:r>
            <a:r>
              <a:rPr sz="2700" b="0" i="0" dirty="0" err="1">
                <a:solidFill>
                  <a:srgbClr val="1C2321"/>
                </a:solidFill>
                <a:latin typeface="Segoe UI"/>
                <a:cs typeface="Arabic Typesetting"/>
              </a:rPr>
              <a:t>Mālik</a:t>
            </a:r>
            <a:r>
              <a:rPr sz="2700" b="0" i="0" dirty="0">
                <a:solidFill>
                  <a:srgbClr val="1C2321"/>
                </a:solidFill>
                <a:latin typeface="Segoe UI"/>
                <a:cs typeface="Arabic Typesetting"/>
              </a:rPr>
              <a:t> b. </a:t>
            </a:r>
            <a:r>
              <a:rPr sz="2700" b="0" i="0" dirty="0" err="1">
                <a:solidFill>
                  <a:srgbClr val="1C2321"/>
                </a:solidFill>
                <a:latin typeface="Segoe UI"/>
                <a:cs typeface="Arabic Typesetting"/>
              </a:rPr>
              <a:t>Nuwayra</a:t>
            </a:r>
            <a:r>
              <a:rPr lang="en-US" sz="2700" dirty="0">
                <a:solidFill>
                  <a:srgbClr val="1C2321"/>
                </a:solidFill>
                <a:latin typeface="Segoe UI"/>
                <a:cs typeface="Arabic Typesetting"/>
              </a:rPr>
              <a:t> </a:t>
            </a:r>
            <a:r>
              <a:rPr sz="2700" b="0" i="0" dirty="0">
                <a:solidFill>
                  <a:srgbClr val="1C2321"/>
                </a:solidFill>
                <a:latin typeface="Segoe UI"/>
                <a:cs typeface="Arabic Typesetting"/>
              </a:rPr>
              <a:t>at al-</a:t>
            </a:r>
            <a:r>
              <a:rPr sz="2700" b="0" i="0" dirty="0" err="1">
                <a:solidFill>
                  <a:srgbClr val="1C2321"/>
                </a:solidFill>
                <a:latin typeface="Segoe UI"/>
                <a:cs typeface="Arabic Typesetting"/>
              </a:rPr>
              <a:t>Buṭāḥ</a:t>
            </a:r>
            <a:endParaRPr sz="2700" b="0" i="0" dirty="0">
              <a:solidFill>
                <a:srgbClr val="1C2321"/>
              </a:solidFill>
              <a:latin typeface="Segoe UI"/>
              <a:cs typeface="Arabic Typesetting"/>
            </a:endParaRPr>
          </a:p>
        </p:txBody>
      </p:sp>
      <p:sp>
        <p:nvSpPr>
          <p:cNvPr id="10" name="card1"/>
          <p:cNvSpPr/>
          <p:nvPr/>
        </p:nvSpPr>
        <p:spPr>
          <a:xfrm>
            <a:off x="4332122" y="1389888"/>
            <a:ext cx="3527450" cy="4846320"/>
          </a:xfrm>
          <a:prstGeom prst="rect">
            <a:avLst/>
          </a:prstGeom>
          <a:solidFill>
            <a:srgbClr val="FAF7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332122" y="1389888"/>
            <a:ext cx="3527450" cy="88900"/>
          </a:xfrm>
          <a:prstGeom prst="rect">
            <a:avLst/>
          </a:prstGeom>
          <a:solidFill>
            <a:srgbClr val="104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15002" y="1700784"/>
            <a:ext cx="3161690" cy="1097280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200" b="1" i="0">
                <a:solidFill>
                  <a:srgbClr val="0A322E"/>
                </a:solidFill>
                <a:latin typeface="Georgia"/>
                <a:cs typeface="Georgia"/>
              </a:rPr>
              <a:t>Buzākha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15002" y="2807208"/>
            <a:ext cx="3161690" cy="2135265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2700" b="0" i="0" dirty="0">
                <a:solidFill>
                  <a:srgbClr val="1C2321"/>
                </a:solidFill>
                <a:latin typeface="Segoe UI"/>
                <a:cs typeface="Segoe UI"/>
              </a:rPr>
              <a:t>Done: </a:t>
            </a:r>
            <a:r>
              <a:rPr sz="2700" b="0" i="0" dirty="0" err="1">
                <a:solidFill>
                  <a:srgbClr val="1C2321"/>
                </a:solidFill>
                <a:latin typeface="Segoe UI"/>
                <a:cs typeface="Segoe UI"/>
              </a:rPr>
              <a:t>Ṭulayḥa</a:t>
            </a:r>
            <a:r>
              <a:rPr sz="2700" b="0" i="0" dirty="0">
                <a:solidFill>
                  <a:srgbClr val="1C2321"/>
                </a:solidFill>
                <a:latin typeface="Segoe UI"/>
                <a:cs typeface="Segoe UI"/>
              </a:rPr>
              <a:t> </a:t>
            </a:r>
            <a:r>
              <a:rPr lang="en-US" sz="2700" b="0" i="0" dirty="0">
                <a:solidFill>
                  <a:srgbClr val="1C2321"/>
                </a:solidFill>
                <a:latin typeface="Segoe UI"/>
                <a:cs typeface="Segoe UI"/>
              </a:rPr>
              <a:t>al Asadi flees</a:t>
            </a:r>
            <a:r>
              <a:rPr sz="2700" b="0" i="0" dirty="0">
                <a:solidFill>
                  <a:srgbClr val="1C2321"/>
                </a:solidFill>
                <a:latin typeface="Segoe UI"/>
                <a:cs typeface="Segoe UI"/>
              </a:rPr>
              <a:t>, and the tribes around him came back</a:t>
            </a:r>
          </a:p>
        </p:txBody>
      </p:sp>
      <p:sp>
        <p:nvSpPr>
          <p:cNvPr id="14" name="card2"/>
          <p:cNvSpPr/>
          <p:nvPr/>
        </p:nvSpPr>
        <p:spPr>
          <a:xfrm>
            <a:off x="8097316" y="1389888"/>
            <a:ext cx="3527450" cy="4846320"/>
          </a:xfrm>
          <a:prstGeom prst="rect">
            <a:avLst/>
          </a:prstGeom>
          <a:solidFill>
            <a:srgbClr val="FAF7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5" name="Rectangle 14"/>
          <p:cNvSpPr/>
          <p:nvPr/>
        </p:nvSpPr>
        <p:spPr>
          <a:xfrm>
            <a:off x="8097316" y="1389888"/>
            <a:ext cx="3527450" cy="88900"/>
          </a:xfrm>
          <a:prstGeom prst="rect">
            <a:avLst/>
          </a:prstGeom>
          <a:solidFill>
            <a:srgbClr val="104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280196" y="1700784"/>
            <a:ext cx="3161690" cy="1097280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200" b="1" i="0">
                <a:solidFill>
                  <a:srgbClr val="0A322E"/>
                </a:solidFill>
                <a:latin typeface="Georgia"/>
                <a:cs typeface="Georgia"/>
              </a:rPr>
              <a:t>al-Buṭāḥ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80196" y="2807208"/>
            <a:ext cx="3161690" cy="2160720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2700" b="0" i="0" dirty="0">
                <a:solidFill>
                  <a:srgbClr val="1C2321"/>
                </a:solidFill>
                <a:latin typeface="Segoe UI"/>
                <a:cs typeface="Arabic Typesetting"/>
              </a:rPr>
              <a:t>Next in the orders: the </a:t>
            </a:r>
            <a:r>
              <a:rPr lang="en-US" sz="2700" b="1" i="0" dirty="0">
                <a:solidFill>
                  <a:srgbClr val="1C2321"/>
                </a:solidFill>
                <a:latin typeface="Segoe UI"/>
                <a:cs typeface="Arabic Typesetting"/>
              </a:rPr>
              <a:t>Banu </a:t>
            </a:r>
            <a:r>
              <a:rPr sz="2700" b="1" i="0" dirty="0" err="1">
                <a:solidFill>
                  <a:srgbClr val="1C2321"/>
                </a:solidFill>
                <a:latin typeface="Segoe UI"/>
                <a:cs typeface="Arabic Typesetting"/>
              </a:rPr>
              <a:t>Tamīm</a:t>
            </a:r>
            <a:r>
              <a:rPr sz="2700" b="0" i="0" dirty="0">
                <a:solidFill>
                  <a:srgbClr val="1C2321"/>
                </a:solidFill>
                <a:latin typeface="Segoe UI"/>
                <a:cs typeface="Arabic Typesetting"/>
              </a:rPr>
              <a:t>, and </a:t>
            </a:r>
            <a:r>
              <a:rPr sz="2700" b="1" i="0" dirty="0" err="1">
                <a:solidFill>
                  <a:srgbClr val="1C2321"/>
                </a:solidFill>
                <a:latin typeface="Segoe UI"/>
                <a:cs typeface="Arabic Typesetting"/>
              </a:rPr>
              <a:t>Mālik</a:t>
            </a:r>
            <a:r>
              <a:rPr sz="2700" b="1" i="0" dirty="0">
                <a:solidFill>
                  <a:srgbClr val="1C2321"/>
                </a:solidFill>
                <a:latin typeface="Segoe UI"/>
                <a:cs typeface="Arabic Typesetting"/>
              </a:rPr>
              <a:t> b. </a:t>
            </a:r>
            <a:r>
              <a:rPr sz="2700" b="1" i="0" dirty="0" err="1">
                <a:solidFill>
                  <a:srgbClr val="1C2321"/>
                </a:solidFill>
                <a:latin typeface="Segoe UI"/>
                <a:cs typeface="Arabic Typesetting"/>
              </a:rPr>
              <a:t>Nuwayra</a:t>
            </a:r>
            <a:endParaRPr sz="2700" b="0" i="0" dirty="0">
              <a:solidFill>
                <a:srgbClr val="1C2321"/>
              </a:solidFill>
              <a:latin typeface="Segoe UI"/>
              <a:cs typeface="Arabic Typesetting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nd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04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ule"/>
          <p:cNvSpPr/>
          <p:nvPr/>
        </p:nvSpPr>
        <p:spPr>
          <a:xfrm>
            <a:off x="0" y="1078992"/>
            <a:ext cx="12191695" cy="57150"/>
          </a:xfrm>
          <a:prstGeom prst="rect">
            <a:avLst/>
          </a:prstGeom>
          <a:solidFill>
            <a:srgbClr val="C49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66928" y="182880"/>
            <a:ext cx="11057839" cy="711199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4000" b="1" i="0">
                <a:solidFill>
                  <a:srgbClr val="FAF7F0"/>
                </a:solidFill>
                <a:latin typeface="Georgia"/>
                <a:cs typeface="Georgia"/>
              </a:rPr>
              <a:t>From Buzākha to al-Buṭāḥ</a:t>
            </a:r>
          </a:p>
        </p:txBody>
      </p:sp>
      <p:sp>
        <p:nvSpPr>
          <p:cNvPr id="6" name="Rectangle 5"/>
          <p:cNvSpPr/>
          <p:nvPr/>
        </p:nvSpPr>
        <p:spPr>
          <a:xfrm>
            <a:off x="8618311" y="1554480"/>
            <a:ext cx="54864" cy="310896"/>
          </a:xfrm>
          <a:prstGeom prst="rect">
            <a:avLst/>
          </a:prstGeom>
          <a:solidFill>
            <a:srgbClr val="C49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819479" y="1499616"/>
            <a:ext cx="2805288" cy="457200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800" b="1" i="0">
                <a:solidFill>
                  <a:srgbClr val="0A322E"/>
                </a:solidFill>
                <a:latin typeface="Georgia"/>
                <a:cs typeface="Georgia"/>
              </a:rPr>
              <a:t>Buzākha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19479" y="1920240"/>
            <a:ext cx="2805288" cy="1943100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400" b="0" i="0">
                <a:solidFill>
                  <a:srgbClr val="5A6862"/>
                </a:solidFill>
                <a:latin typeface="Segoe UI"/>
                <a:cs typeface="Segoe UI"/>
              </a:rPr>
              <a:t>where evening 2 stopped</a:t>
            </a:r>
          </a:p>
        </p:txBody>
      </p:sp>
      <p:sp>
        <p:nvSpPr>
          <p:cNvPr id="9" name="Rectangle 8"/>
          <p:cNvSpPr/>
          <p:nvPr/>
        </p:nvSpPr>
        <p:spPr>
          <a:xfrm>
            <a:off x="8618311" y="3918204"/>
            <a:ext cx="54864" cy="310896"/>
          </a:xfrm>
          <a:prstGeom prst="rect">
            <a:avLst/>
          </a:prstGeom>
          <a:solidFill>
            <a:srgbClr val="C49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819479" y="3863340"/>
            <a:ext cx="2805288" cy="457200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800" b="1" i="0">
                <a:solidFill>
                  <a:srgbClr val="0A322E"/>
                </a:solidFill>
                <a:latin typeface="Georgia"/>
                <a:cs typeface="Georgia"/>
              </a:rPr>
              <a:t>al-Buṭāḥ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19479" y="4283964"/>
            <a:ext cx="2805288" cy="1943100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400" b="0" i="0">
                <a:solidFill>
                  <a:srgbClr val="5A6862"/>
                </a:solidFill>
                <a:latin typeface="Segoe UI"/>
                <a:cs typeface="Segoe UI"/>
              </a:rPr>
              <a:t>the third stop in the orders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F97EEA78-924B-127A-09E9-85CC4971662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656" r="1"/>
          <a:stretch>
            <a:fillRect/>
          </a:stretch>
        </p:blipFill>
        <p:spPr>
          <a:xfrm>
            <a:off x="-42032" y="1499616"/>
            <a:ext cx="8397616" cy="475488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nd"/>
          <p:cNvSpPr/>
          <p:nvPr/>
        </p:nvSpPr>
        <p:spPr>
          <a:xfrm>
            <a:off x="0" y="0"/>
            <a:ext cx="12191695" cy="1223263"/>
          </a:xfrm>
          <a:prstGeom prst="rect">
            <a:avLst/>
          </a:prstGeom>
          <a:solidFill>
            <a:srgbClr val="104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ule"/>
          <p:cNvSpPr/>
          <p:nvPr/>
        </p:nvSpPr>
        <p:spPr>
          <a:xfrm>
            <a:off x="0" y="1223263"/>
            <a:ext cx="12191695" cy="57150"/>
          </a:xfrm>
          <a:prstGeom prst="rect">
            <a:avLst/>
          </a:prstGeom>
          <a:solidFill>
            <a:srgbClr val="C49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66928" y="91440"/>
            <a:ext cx="11057839" cy="274320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400" b="1" i="0">
                <a:solidFill>
                  <a:srgbClr val="C49A45"/>
                </a:solidFill>
                <a:latin typeface="Segoe UI"/>
                <a:cs typeface="Segoe UI"/>
              </a:rPr>
              <a:t>11 AH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02336"/>
            <a:ext cx="11057839" cy="711199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4000" b="1" i="0">
                <a:solidFill>
                  <a:srgbClr val="FAF7F0"/>
                </a:solidFill>
                <a:latin typeface="Georgia"/>
                <a:cs typeface="Georgia"/>
              </a:rPr>
              <a:t>The Anṣār who would not march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824990"/>
            <a:ext cx="11057839" cy="1950720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r" rtl="1">
              <a:lnSpc>
                <a:spcPct val="150000"/>
              </a:lnSpc>
            </a:pPr>
            <a:r>
              <a:rPr lang="ar-SA" sz="4400" b="0" i="0">
                <a:solidFill>
                  <a:srgbClr val="0A322E"/>
                </a:solidFill>
                <a:latin typeface="Traditional Arabic"/>
                <a:cs typeface="Traditional Arabic"/>
              </a:rPr>
              <a:t>قَدْ عَهِدَ إِلَيَّ أَنْ أَمْضِيَ، وَأَنَا الْأَمِيرُ … فَأَنَا قَاصِدٌ إِلَى مَالِكٍ وَمَنْ مَعِي، وَلَسْتُ أُكْرِهُهُمْ.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3903726"/>
            <a:ext cx="1554480" cy="38100"/>
          </a:xfrm>
          <a:prstGeom prst="rect">
            <a:avLst/>
          </a:prstGeom>
          <a:solidFill>
            <a:srgbClr val="C49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66928" y="4214622"/>
            <a:ext cx="11057839" cy="1632204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3000" b="0" i="1">
                <a:solidFill>
                  <a:srgbClr val="1C2321"/>
                </a:solidFill>
                <a:latin typeface="Georgia"/>
                <a:cs typeface="Georgia"/>
              </a:rPr>
              <a:t>"He instructed me to go on, and I am the commander … So I am making for Mālik, with whoever is with me — and I do not compel them."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144768"/>
            <a:ext cx="11057839" cy="457200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400" b="0" i="0">
                <a:solidFill>
                  <a:srgbClr val="5A6862"/>
                </a:solidFill>
                <a:latin typeface="Segoe UI"/>
                <a:cs typeface="Segoe UI"/>
              </a:rPr>
              <a:t>al-Kamil, vol. 2, p. 212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nd"/>
          <p:cNvSpPr/>
          <p:nvPr/>
        </p:nvSpPr>
        <p:spPr>
          <a:xfrm>
            <a:off x="0" y="0"/>
            <a:ext cx="12191695" cy="1223263"/>
          </a:xfrm>
          <a:prstGeom prst="rect">
            <a:avLst/>
          </a:prstGeom>
          <a:solidFill>
            <a:srgbClr val="104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ule"/>
          <p:cNvSpPr/>
          <p:nvPr/>
        </p:nvSpPr>
        <p:spPr>
          <a:xfrm>
            <a:off x="0" y="1223263"/>
            <a:ext cx="12191695" cy="57150"/>
          </a:xfrm>
          <a:prstGeom prst="rect">
            <a:avLst/>
          </a:prstGeom>
          <a:solidFill>
            <a:srgbClr val="C49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66928" y="91440"/>
            <a:ext cx="11057839" cy="274320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400" b="1" i="0">
                <a:solidFill>
                  <a:srgbClr val="C49A45"/>
                </a:solidFill>
                <a:latin typeface="Segoe UI"/>
                <a:cs typeface="Segoe UI"/>
              </a:rPr>
              <a:t>11 AH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02336"/>
            <a:ext cx="11057839" cy="711199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4000" b="1" i="0">
                <a:solidFill>
                  <a:srgbClr val="FAF7F0"/>
                </a:solidFill>
                <a:latin typeface="Georgia"/>
                <a:cs typeface="Arabic Typesetting"/>
              </a:rPr>
              <a:t>Mālik b. Nuwayra ؓ stands apart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634490"/>
            <a:ext cx="11057839" cy="2331720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r" rtl="1">
              <a:lnSpc>
                <a:spcPct val="150000"/>
              </a:lnSpc>
            </a:pPr>
            <a:r>
              <a:rPr lang="ar-SA" sz="5400" b="0" i="0">
                <a:solidFill>
                  <a:srgbClr val="0A322E"/>
                </a:solidFill>
                <a:latin typeface="Traditional Arabic"/>
                <a:cs typeface="Traditional Arabic"/>
              </a:rPr>
              <a:t>إلَّا ما كانَ من مالك بن نويرة فإنّه متحيرٌ في أمره، مُتَنحٍّ عن الناس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4094226"/>
            <a:ext cx="1554480" cy="38100"/>
          </a:xfrm>
          <a:prstGeom prst="rect">
            <a:avLst/>
          </a:prstGeom>
          <a:solidFill>
            <a:srgbClr val="C49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66928" y="4405122"/>
            <a:ext cx="11057839" cy="1632204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3000" b="0" i="1">
                <a:solidFill>
                  <a:srgbClr val="1C2321"/>
                </a:solidFill>
                <a:latin typeface="Georgia"/>
                <a:cs typeface="Georgia"/>
              </a:rPr>
              <a:t>"— except for what was from Mālik b. Nuwayra, for he was perplexed about his own affair, keeping apart from the people."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144768"/>
            <a:ext cx="11057839" cy="457200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400" b="0" i="0">
                <a:solidFill>
                  <a:srgbClr val="5A6862"/>
                </a:solidFill>
                <a:latin typeface="Segoe UI"/>
                <a:cs typeface="Segoe UI"/>
              </a:rPr>
              <a:t>al-Bidaya wa'l-Nihaya, vol. 7, p. 30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nd"/>
          <p:cNvSpPr/>
          <p:nvPr/>
        </p:nvSpPr>
        <p:spPr>
          <a:xfrm>
            <a:off x="0" y="0"/>
            <a:ext cx="12191695" cy="1223263"/>
          </a:xfrm>
          <a:prstGeom prst="rect">
            <a:avLst/>
          </a:prstGeom>
          <a:solidFill>
            <a:srgbClr val="104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ule"/>
          <p:cNvSpPr/>
          <p:nvPr/>
        </p:nvSpPr>
        <p:spPr>
          <a:xfrm>
            <a:off x="0" y="1223263"/>
            <a:ext cx="12191695" cy="57150"/>
          </a:xfrm>
          <a:prstGeom prst="rect">
            <a:avLst/>
          </a:prstGeom>
          <a:solidFill>
            <a:srgbClr val="C49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66928" y="91440"/>
            <a:ext cx="11057839" cy="274320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400" b="1" i="0">
                <a:solidFill>
                  <a:srgbClr val="C49A45"/>
                </a:solidFill>
                <a:latin typeface="Segoe UI"/>
                <a:cs typeface="Segoe UI"/>
              </a:rPr>
              <a:t>11 AH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02336"/>
            <a:ext cx="11057839" cy="711199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4000" b="1" i="0">
                <a:solidFill>
                  <a:srgbClr val="FAF7F0"/>
                </a:solidFill>
                <a:latin typeface="Georgia"/>
                <a:cs typeface="Georgia"/>
              </a:rPr>
              <a:t>"Disperse, and enter into this matter"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824990"/>
            <a:ext cx="11057839" cy="1950720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r" rtl="1">
              <a:lnSpc>
                <a:spcPct val="150000"/>
              </a:lnSpc>
            </a:pPr>
            <a:r>
              <a:rPr lang="ar-SA" sz="4400" b="0" i="0">
                <a:solidFill>
                  <a:srgbClr val="0A322E"/>
                </a:solidFill>
                <a:latin typeface="Traditional Arabic"/>
                <a:cs typeface="Traditional Arabic"/>
              </a:rPr>
              <a:t>إِنَّا دُعِينَا إِلَى هَذَا الْأَمْرِ فَأَبْطَأْنَا عَنْهُ فَلَمْ نُفْلِحْ … فَتَفَرَّقُوا وَادْخُلُوا فِي هَذَا الْأَمْرِ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3903726"/>
            <a:ext cx="1554480" cy="38100"/>
          </a:xfrm>
          <a:prstGeom prst="rect">
            <a:avLst/>
          </a:prstGeom>
          <a:solidFill>
            <a:srgbClr val="C49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66928" y="4214622"/>
            <a:ext cx="11057839" cy="1632204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3000" b="0" i="1">
                <a:solidFill>
                  <a:srgbClr val="1C2321"/>
                </a:solidFill>
                <a:latin typeface="Georgia"/>
                <a:cs typeface="Georgia"/>
              </a:rPr>
              <a:t>…we were called to this matter and we were slow to it and did not prosper … Disperse, and enter into this matter.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144768"/>
            <a:ext cx="11057839" cy="457200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400" b="0" i="0">
                <a:solidFill>
                  <a:srgbClr val="5A6862"/>
                </a:solidFill>
                <a:latin typeface="Segoe UI"/>
                <a:cs typeface="Segoe UI"/>
              </a:rPr>
              <a:t>al-Kamil, vol. 2, pp. 212–213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nd"/>
          <p:cNvSpPr/>
          <p:nvPr/>
        </p:nvSpPr>
        <p:spPr>
          <a:xfrm>
            <a:off x="0" y="0"/>
            <a:ext cx="12191695" cy="1223263"/>
          </a:xfrm>
          <a:prstGeom prst="rect">
            <a:avLst/>
          </a:prstGeom>
          <a:solidFill>
            <a:srgbClr val="104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ule"/>
          <p:cNvSpPr/>
          <p:nvPr/>
        </p:nvSpPr>
        <p:spPr>
          <a:xfrm>
            <a:off x="0" y="1223263"/>
            <a:ext cx="12191695" cy="57150"/>
          </a:xfrm>
          <a:prstGeom prst="rect">
            <a:avLst/>
          </a:prstGeom>
          <a:solidFill>
            <a:srgbClr val="C49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66928" y="91440"/>
            <a:ext cx="11057839" cy="274320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400" b="1" i="0">
                <a:solidFill>
                  <a:srgbClr val="C49A45"/>
                </a:solidFill>
                <a:latin typeface="Segoe UI"/>
                <a:cs typeface="Segoe UI"/>
              </a:rPr>
              <a:t>11 AH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02336"/>
            <a:ext cx="11057839" cy="711199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4000" b="1" i="0">
                <a:solidFill>
                  <a:srgbClr val="FAF7F0"/>
                </a:solidFill>
                <a:latin typeface="Georgia"/>
                <a:cs typeface="Georgia"/>
              </a:rPr>
              <a:t>The patrol could not agree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824990"/>
            <a:ext cx="11057839" cy="1950720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r" rtl="1">
              <a:lnSpc>
                <a:spcPct val="150000"/>
              </a:lnSpc>
            </a:pPr>
            <a:r>
              <a:rPr lang="ar-SA" sz="4400" b="0" i="0">
                <a:solidFill>
                  <a:srgbClr val="0A322E"/>
                </a:solidFill>
                <a:latin typeface="Traditional Arabic"/>
                <a:cs typeface="Traditional Arabic"/>
              </a:rPr>
              <a:t>فشهد أبو قتادة - الحارث بن ربعي الأنصاري - أنهم أقاموا الصلاةَ، وقال آخرون: إنهم لم يُؤَذّنوا ولا صَلّوا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3903726"/>
            <a:ext cx="1554480" cy="38100"/>
          </a:xfrm>
          <a:prstGeom prst="rect">
            <a:avLst/>
          </a:prstGeom>
          <a:solidFill>
            <a:srgbClr val="C49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66928" y="4214622"/>
            <a:ext cx="11057839" cy="1632204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3000" b="0" i="1">
                <a:solidFill>
                  <a:srgbClr val="1C2321"/>
                </a:solidFill>
                <a:latin typeface="Georgia"/>
                <a:cs typeface="Georgia"/>
              </a:rPr>
              <a:t>…Abū Qatāda al-Anṣārī — al-Ḥārith b. Ribʿī — testified that they had established the prayer, and others said they had neither given the adhān nor prayed.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144768"/>
            <a:ext cx="11057839" cy="457200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400" b="0" i="0">
                <a:solidFill>
                  <a:srgbClr val="5A6862"/>
                </a:solidFill>
                <a:latin typeface="Segoe UI"/>
                <a:cs typeface="Segoe UI"/>
              </a:rPr>
              <a:t>al-Bidaya wa'l-Nihaya, vol. 7, p. 30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nd"/>
          <p:cNvSpPr/>
          <p:nvPr/>
        </p:nvSpPr>
        <p:spPr>
          <a:xfrm>
            <a:off x="0" y="0"/>
            <a:ext cx="12191695" cy="1223263"/>
          </a:xfrm>
          <a:prstGeom prst="rect">
            <a:avLst/>
          </a:prstGeom>
          <a:solidFill>
            <a:srgbClr val="104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ule"/>
          <p:cNvSpPr/>
          <p:nvPr/>
        </p:nvSpPr>
        <p:spPr>
          <a:xfrm>
            <a:off x="0" y="1223263"/>
            <a:ext cx="12191695" cy="57150"/>
          </a:xfrm>
          <a:prstGeom prst="rect">
            <a:avLst/>
          </a:prstGeom>
          <a:solidFill>
            <a:srgbClr val="C49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66928" y="91440"/>
            <a:ext cx="11057839" cy="274320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400" b="1" i="0">
                <a:solidFill>
                  <a:srgbClr val="C49A45"/>
                </a:solidFill>
                <a:latin typeface="Segoe UI"/>
                <a:cs typeface="Segoe UI"/>
              </a:rPr>
              <a:t>11 AH — the books disagree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02336"/>
            <a:ext cx="11057839" cy="711199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4000" b="1" i="0">
                <a:solidFill>
                  <a:srgbClr val="FAF7F0"/>
                </a:solidFill>
                <a:latin typeface="Georgia"/>
                <a:cs typeface="Georgia"/>
              </a:rPr>
              <a:t>One night, four accounts</a:t>
            </a:r>
          </a:p>
        </p:txBody>
      </p:sp>
      <p:sp>
        <p:nvSpPr>
          <p:cNvPr id="6" name="card0"/>
          <p:cNvSpPr/>
          <p:nvPr/>
        </p:nvSpPr>
        <p:spPr>
          <a:xfrm>
            <a:off x="566928" y="2779075"/>
            <a:ext cx="5419191" cy="2684212"/>
          </a:xfrm>
          <a:prstGeom prst="rect">
            <a:avLst/>
          </a:prstGeom>
          <a:solidFill>
            <a:srgbClr val="FAF7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66928" y="2779075"/>
            <a:ext cx="5419191" cy="88900"/>
          </a:xfrm>
          <a:prstGeom prst="rect">
            <a:avLst/>
          </a:prstGeom>
          <a:solidFill>
            <a:srgbClr val="104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68096" y="2925379"/>
            <a:ext cx="5016855" cy="502920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lang="en-US" sz="2800" b="1" i="0" dirty="0">
                <a:solidFill>
                  <a:srgbClr val="0A322E"/>
                </a:solidFill>
                <a:latin typeface="Georgia"/>
                <a:cs typeface="Georgia"/>
              </a:rPr>
              <a:t>1. </a:t>
            </a:r>
            <a:r>
              <a:rPr sz="2800" b="1" i="0" dirty="0">
                <a:solidFill>
                  <a:srgbClr val="0A322E"/>
                </a:solidFill>
                <a:latin typeface="Georgia"/>
                <a:cs typeface="Georgia"/>
              </a:rPr>
              <a:t>The cold night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8096" y="3437443"/>
            <a:ext cx="5016855" cy="1506695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700" b="0" i="0" dirty="0">
                <a:solidFill>
                  <a:srgbClr val="1C2321"/>
                </a:solidFill>
                <a:latin typeface="Segoe UI"/>
                <a:cs typeface="Segoe UI"/>
              </a:rPr>
              <a:t>"</a:t>
            </a:r>
            <a:r>
              <a:rPr sz="2700" b="1" i="0" dirty="0">
                <a:solidFill>
                  <a:srgbClr val="1C2321"/>
                </a:solidFill>
                <a:latin typeface="Segoe UI"/>
                <a:cs typeface="Segoe UI"/>
              </a:rPr>
              <a:t>warm your prisoners</a:t>
            </a:r>
            <a:r>
              <a:rPr sz="2700" b="0" i="0" dirty="0">
                <a:solidFill>
                  <a:srgbClr val="1C2321"/>
                </a:solidFill>
                <a:latin typeface="Segoe UI"/>
                <a:cs typeface="Segoe UI"/>
              </a:rPr>
              <a:t>" taken as an order to kill. </a:t>
            </a:r>
            <a:r>
              <a:rPr lang="en-US" sz="2700" dirty="0">
                <a:solidFill>
                  <a:srgbClr val="1C2321"/>
                </a:solidFill>
                <a:latin typeface="Segoe UI"/>
                <a:cs typeface="Segoe UI"/>
              </a:rPr>
              <a:t>In </a:t>
            </a:r>
            <a:r>
              <a:rPr lang="en-US" sz="2700" dirty="0" err="1">
                <a:solidFill>
                  <a:srgbClr val="1C2321"/>
                </a:solidFill>
                <a:latin typeface="Segoe UI"/>
                <a:cs typeface="Segoe UI"/>
              </a:rPr>
              <a:t>banu</a:t>
            </a:r>
            <a:r>
              <a:rPr lang="en-US" sz="2700" dirty="0">
                <a:solidFill>
                  <a:srgbClr val="1C2321"/>
                </a:solidFill>
                <a:latin typeface="Segoe UI"/>
                <a:cs typeface="Segoe UI"/>
              </a:rPr>
              <a:t> </a:t>
            </a:r>
            <a:r>
              <a:rPr lang="en-US" sz="2700" dirty="0" err="1">
                <a:solidFill>
                  <a:srgbClr val="1C2321"/>
                </a:solidFill>
                <a:latin typeface="Segoe UI"/>
                <a:cs typeface="Segoe UI"/>
              </a:rPr>
              <a:t>kinana’s</a:t>
            </a:r>
            <a:r>
              <a:rPr lang="en-US" sz="2700" dirty="0">
                <a:solidFill>
                  <a:srgbClr val="1C2321"/>
                </a:solidFill>
                <a:latin typeface="Segoe UI"/>
                <a:cs typeface="Segoe UI"/>
              </a:rPr>
              <a:t> language it meant to kill.</a:t>
            </a:r>
            <a:endParaRPr sz="2700" b="0" i="0" dirty="0">
              <a:solidFill>
                <a:srgbClr val="1C2321"/>
              </a:solidFill>
              <a:latin typeface="Segoe UI"/>
              <a:cs typeface="Segoe UI"/>
            </a:endParaRPr>
          </a:p>
        </p:txBody>
      </p:sp>
      <p:sp>
        <p:nvSpPr>
          <p:cNvPr id="10" name="card1"/>
          <p:cNvSpPr/>
          <p:nvPr/>
        </p:nvSpPr>
        <p:spPr>
          <a:xfrm>
            <a:off x="6205575" y="2761491"/>
            <a:ext cx="5419191" cy="3006266"/>
          </a:xfrm>
          <a:prstGeom prst="rect">
            <a:avLst/>
          </a:prstGeom>
          <a:solidFill>
            <a:srgbClr val="FAF7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205575" y="2761491"/>
            <a:ext cx="5419191" cy="88900"/>
          </a:xfrm>
          <a:prstGeom prst="rect">
            <a:avLst/>
          </a:prstGeom>
          <a:solidFill>
            <a:srgbClr val="104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06743" y="2907795"/>
            <a:ext cx="5016855" cy="502920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lang="en-US" sz="2800" b="1" i="0" dirty="0">
                <a:solidFill>
                  <a:srgbClr val="0A322E"/>
                </a:solidFill>
                <a:latin typeface="Georgia"/>
                <a:cs typeface="Georgia"/>
              </a:rPr>
              <a:t>2. </a:t>
            </a:r>
            <a:r>
              <a:rPr sz="2800" b="1" i="0" dirty="0">
                <a:solidFill>
                  <a:srgbClr val="0A322E"/>
                </a:solidFill>
                <a:latin typeface="Georgia"/>
                <a:cs typeface="Georgia"/>
              </a:rPr>
              <a:t>Summoned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6743" y="3419859"/>
            <a:ext cx="5016855" cy="1506695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700" b="0" i="0" dirty="0">
                <a:solidFill>
                  <a:srgbClr val="1C2321"/>
                </a:solidFill>
                <a:latin typeface="Segoe UI"/>
                <a:cs typeface="Segoe UI"/>
              </a:rPr>
              <a:t>reproached over </a:t>
            </a:r>
            <a:r>
              <a:rPr sz="2700" b="0" i="0" dirty="0" err="1">
                <a:solidFill>
                  <a:srgbClr val="1C2321"/>
                </a:solidFill>
                <a:latin typeface="Segoe UI"/>
                <a:cs typeface="Segoe UI"/>
              </a:rPr>
              <a:t>Sajāḥ</a:t>
            </a:r>
            <a:r>
              <a:rPr sz="2700" b="0" i="0" dirty="0">
                <a:solidFill>
                  <a:srgbClr val="1C2321"/>
                </a:solidFill>
                <a:latin typeface="Segoe UI"/>
                <a:cs typeface="Segoe UI"/>
              </a:rPr>
              <a:t> and the </a:t>
            </a:r>
            <a:r>
              <a:rPr sz="2700" b="0" i="0" dirty="0" err="1">
                <a:solidFill>
                  <a:srgbClr val="1C2321"/>
                </a:solidFill>
                <a:latin typeface="Segoe UI"/>
                <a:cs typeface="Segoe UI"/>
              </a:rPr>
              <a:t>zakāt</a:t>
            </a:r>
            <a:r>
              <a:rPr sz="2700" b="0" i="0" dirty="0">
                <a:solidFill>
                  <a:srgbClr val="1C2321"/>
                </a:solidFill>
                <a:latin typeface="Segoe UI"/>
                <a:cs typeface="Segoe UI"/>
              </a:rPr>
              <a:t>, </a:t>
            </a:r>
            <a:r>
              <a:rPr lang="en-US" sz="2700" b="0" i="0" dirty="0">
                <a:solidFill>
                  <a:srgbClr val="1C2321"/>
                </a:solidFill>
                <a:latin typeface="Segoe UI"/>
                <a:cs typeface="Segoe UI"/>
              </a:rPr>
              <a:t>and the </a:t>
            </a:r>
            <a:r>
              <a:rPr lang="en-US" sz="2700" b="0" i="0" dirty="0" err="1">
                <a:solidFill>
                  <a:srgbClr val="1C2321"/>
                </a:solidFill>
                <a:latin typeface="Segoe UI"/>
                <a:cs typeface="Segoe UI"/>
              </a:rPr>
              <a:t>muslims</a:t>
            </a:r>
            <a:r>
              <a:rPr lang="en-US" sz="2700" b="0" i="0" dirty="0">
                <a:solidFill>
                  <a:srgbClr val="1C2321"/>
                </a:solidFill>
                <a:latin typeface="Segoe UI"/>
                <a:cs typeface="Segoe UI"/>
              </a:rPr>
              <a:t> of Rabah. </a:t>
            </a:r>
            <a:r>
              <a:rPr sz="2700" b="0" i="0" dirty="0">
                <a:solidFill>
                  <a:srgbClr val="1C2321"/>
                </a:solidFill>
                <a:latin typeface="Segoe UI"/>
                <a:cs typeface="Segoe UI"/>
              </a:rPr>
              <a:t>then an order to strike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nd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04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ule"/>
          <p:cNvSpPr/>
          <p:nvPr/>
        </p:nvSpPr>
        <p:spPr>
          <a:xfrm>
            <a:off x="0" y="1078992"/>
            <a:ext cx="12191695" cy="57150"/>
          </a:xfrm>
          <a:prstGeom prst="rect">
            <a:avLst/>
          </a:prstGeom>
          <a:solidFill>
            <a:srgbClr val="C49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66928" y="182880"/>
            <a:ext cx="11057839" cy="711199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4000" b="1" i="0">
                <a:solidFill>
                  <a:srgbClr val="FAF7F0"/>
                </a:solidFill>
                <a:latin typeface="Georgia"/>
                <a:cs typeface="Georgia"/>
              </a:rPr>
              <a:t>Back to Medina</a:t>
            </a:r>
          </a:p>
        </p:txBody>
      </p:sp>
      <p:sp>
        <p:nvSpPr>
          <p:cNvPr id="6" name="Rectangle 5"/>
          <p:cNvSpPr/>
          <p:nvPr/>
        </p:nvSpPr>
        <p:spPr>
          <a:xfrm>
            <a:off x="8618311" y="1554480"/>
            <a:ext cx="54864" cy="310896"/>
          </a:xfrm>
          <a:prstGeom prst="rect">
            <a:avLst/>
          </a:prstGeom>
          <a:solidFill>
            <a:srgbClr val="C49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819479" y="1499616"/>
            <a:ext cx="2805288" cy="457200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800" b="1" i="0">
                <a:solidFill>
                  <a:srgbClr val="0A322E"/>
                </a:solidFill>
                <a:latin typeface="Georgia"/>
                <a:cs typeface="Georgia"/>
              </a:rPr>
              <a:t>To Medina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19479" y="1920240"/>
            <a:ext cx="2805288" cy="4306824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400" b="0" i="0">
                <a:solidFill>
                  <a:srgbClr val="5A6862"/>
                </a:solidFill>
                <a:latin typeface="Segoe UI"/>
                <a:cs typeface="Arabic Typesetting"/>
              </a:rPr>
              <a:t>Khālid ؓ is sent for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9B2F3F36-7E9D-1CCE-0A4D-1A5407B17D6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9623" y="1641348"/>
            <a:ext cx="8152384" cy="4585716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nd"/>
          <p:cNvSpPr/>
          <p:nvPr/>
        </p:nvSpPr>
        <p:spPr>
          <a:xfrm>
            <a:off x="0" y="0"/>
            <a:ext cx="12191695" cy="1223263"/>
          </a:xfrm>
          <a:prstGeom prst="rect">
            <a:avLst/>
          </a:prstGeom>
          <a:solidFill>
            <a:srgbClr val="104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ule"/>
          <p:cNvSpPr/>
          <p:nvPr/>
        </p:nvSpPr>
        <p:spPr>
          <a:xfrm>
            <a:off x="0" y="1223263"/>
            <a:ext cx="12191695" cy="57150"/>
          </a:xfrm>
          <a:prstGeom prst="rect">
            <a:avLst/>
          </a:prstGeom>
          <a:solidFill>
            <a:srgbClr val="C49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66928" y="91440"/>
            <a:ext cx="11057839" cy="274320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400" b="1" i="0">
                <a:solidFill>
                  <a:srgbClr val="C49A45"/>
                </a:solidFill>
                <a:latin typeface="Segoe UI"/>
                <a:cs typeface="Segoe UI"/>
              </a:rPr>
              <a:t>11 AH, Medina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02336"/>
            <a:ext cx="11057839" cy="711199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4000" b="1" i="0">
                <a:solidFill>
                  <a:srgbClr val="FAF7F0"/>
                </a:solidFill>
                <a:latin typeface="Georgia"/>
                <a:cs typeface="Georgia"/>
              </a:rPr>
              <a:t>"He interpreted, and he was mistaken"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824990"/>
            <a:ext cx="11057839" cy="1950720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r" rtl="1">
              <a:lnSpc>
                <a:spcPct val="150000"/>
              </a:lnSpc>
            </a:pPr>
            <a:r>
              <a:rPr lang="ar-SA" sz="4400" b="0" i="0">
                <a:solidFill>
                  <a:srgbClr val="0A322E"/>
                </a:solidFill>
                <a:latin typeface="Traditional Arabic"/>
                <a:cs typeface="Traditional Arabic"/>
              </a:rPr>
              <a:t>هِيهِ يَا عُمَرُ! تَأَوَّلَ فَأَخْطَأَ، فَارْفَعْ لِسَانَكَ عَنْ خَالِدٍ، فَإِنِّي لَا أَشِيمُ سَيْفًا سَلَّهُ اللَّهُ عَلَى الْكَافِرِينَ.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3903726"/>
            <a:ext cx="1554480" cy="38100"/>
          </a:xfrm>
          <a:prstGeom prst="rect">
            <a:avLst/>
          </a:prstGeom>
          <a:solidFill>
            <a:srgbClr val="C49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66928" y="4214622"/>
            <a:ext cx="11057839" cy="1632204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3000" b="0" i="1">
                <a:solidFill>
                  <a:srgbClr val="1C2321"/>
                </a:solidFill>
                <a:latin typeface="Georgia"/>
                <a:cs typeface="Georgia"/>
              </a:rPr>
              <a:t>"Enough, ʿUmar! He interpreted and was mistaken. Lift your tongue off Khālid — for I do not sheathe a sword Allah has drawn against the disbelievers."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144768"/>
            <a:ext cx="11057839" cy="457200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400" b="0" i="0">
                <a:solidFill>
                  <a:srgbClr val="5A6862"/>
                </a:solidFill>
                <a:latin typeface="Segoe UI"/>
                <a:cs typeface="Segoe UI"/>
              </a:rPr>
              <a:t>al-Kamil, vol. 2, p. 213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nd"/>
          <p:cNvSpPr/>
          <p:nvPr/>
        </p:nvSpPr>
        <p:spPr>
          <a:xfrm>
            <a:off x="0" y="0"/>
            <a:ext cx="12191695" cy="1223263"/>
          </a:xfrm>
          <a:prstGeom prst="rect">
            <a:avLst/>
          </a:prstGeom>
          <a:solidFill>
            <a:srgbClr val="104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ule"/>
          <p:cNvSpPr/>
          <p:nvPr/>
        </p:nvSpPr>
        <p:spPr>
          <a:xfrm>
            <a:off x="0" y="1223263"/>
            <a:ext cx="12191695" cy="57150"/>
          </a:xfrm>
          <a:prstGeom prst="rect">
            <a:avLst/>
          </a:prstGeom>
          <a:solidFill>
            <a:srgbClr val="C49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66928" y="91440"/>
            <a:ext cx="11057839" cy="274320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400" b="1" i="0">
                <a:solidFill>
                  <a:srgbClr val="C49A45"/>
                </a:solidFill>
                <a:latin typeface="Segoe UI"/>
                <a:cs typeface="Segoe UI"/>
              </a:rPr>
              <a:t>the historian's own comment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02336"/>
            <a:ext cx="11057839" cy="654282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lang="en-US" sz="4000" b="1" i="0" dirty="0">
                <a:solidFill>
                  <a:srgbClr val="FAF7F0"/>
                </a:solidFill>
                <a:latin typeface="Georgia"/>
                <a:cs typeface="Georgia"/>
              </a:rPr>
              <a:t>Ibn Kathir</a:t>
            </a:r>
            <a:r>
              <a:rPr sz="4000" b="1" i="0" dirty="0">
                <a:solidFill>
                  <a:srgbClr val="FAF7F0"/>
                </a:solidFill>
                <a:latin typeface="Georgia"/>
                <a:cs typeface="Georgia"/>
              </a:rPr>
              <a:t>'s verdict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824990"/>
            <a:ext cx="11057839" cy="1950720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r" rtl="1">
              <a:lnSpc>
                <a:spcPct val="150000"/>
              </a:lnSpc>
            </a:pPr>
            <a:r>
              <a:rPr lang="ar-SA" sz="4400" b="0" i="0">
                <a:solidFill>
                  <a:srgbClr val="0A322E"/>
                </a:solidFill>
                <a:latin typeface="Traditional Arabic"/>
                <a:cs typeface="Traditional Arabic"/>
              </a:rPr>
              <a:t>واستمرَّ أبو بكر بخالدٍ على الإمرة، وإن كان قد اجتهد في قتلِ مالك بن نويرة وأخطأَ في قتله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3903726"/>
            <a:ext cx="1554480" cy="38100"/>
          </a:xfrm>
          <a:prstGeom prst="rect">
            <a:avLst/>
          </a:prstGeom>
          <a:solidFill>
            <a:srgbClr val="C49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66928" y="4214622"/>
            <a:ext cx="11057839" cy="1632204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3000" b="0" i="1">
                <a:solidFill>
                  <a:srgbClr val="1C2321"/>
                </a:solidFill>
                <a:latin typeface="Georgia"/>
                <a:cs typeface="Georgia"/>
              </a:rPr>
              <a:t>"Abū Bakr continued with Khālid in command, even though he had exercised his judgement in the killing of Mālik b. Nuwayra and was mistaken in killing him."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144768"/>
            <a:ext cx="11057839" cy="457200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400" b="0" i="0">
                <a:solidFill>
                  <a:srgbClr val="5A6862"/>
                </a:solidFill>
                <a:latin typeface="Segoe UI"/>
                <a:cs typeface="Segoe UI"/>
              </a:rPr>
              <a:t>al-Bidaya wa'l-Nihaya, vol. 7, p. 32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nd"/>
          <p:cNvSpPr/>
          <p:nvPr/>
        </p:nvSpPr>
        <p:spPr>
          <a:xfrm>
            <a:off x="0" y="0"/>
            <a:ext cx="12191695" cy="1223263"/>
          </a:xfrm>
          <a:prstGeom prst="rect">
            <a:avLst/>
          </a:prstGeom>
          <a:solidFill>
            <a:srgbClr val="104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ule"/>
          <p:cNvSpPr/>
          <p:nvPr/>
        </p:nvSpPr>
        <p:spPr>
          <a:xfrm>
            <a:off x="0" y="1223263"/>
            <a:ext cx="12191695" cy="57150"/>
          </a:xfrm>
          <a:prstGeom prst="rect">
            <a:avLst/>
          </a:prstGeom>
          <a:solidFill>
            <a:srgbClr val="C49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66928" y="91440"/>
            <a:ext cx="11057839" cy="274320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400" b="1" i="0">
                <a:solidFill>
                  <a:srgbClr val="C49A45"/>
                </a:solidFill>
                <a:latin typeface="Segoe UI"/>
                <a:cs typeface="Arabic Typesetting"/>
              </a:rPr>
              <a:t>ʿUmar's ؓ caliphate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02336"/>
            <a:ext cx="11057839" cy="711199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4000" b="1" i="0">
                <a:solidFill>
                  <a:srgbClr val="FAF7F0"/>
                </a:solidFill>
                <a:latin typeface="Georgia"/>
                <a:cs typeface="Arabic Typesetting"/>
              </a:rPr>
              <a:t>ʿUmar ؓ and Mutammim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824990"/>
            <a:ext cx="11057839" cy="1950720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r" rtl="1">
              <a:lnSpc>
                <a:spcPct val="150000"/>
              </a:lnSpc>
            </a:pPr>
            <a:r>
              <a:rPr lang="ar-SA" sz="4400" b="0" i="0">
                <a:solidFill>
                  <a:srgbClr val="0A322E"/>
                </a:solidFill>
                <a:latin typeface="Traditional Arabic"/>
                <a:cs typeface="Traditional Arabic"/>
              </a:rPr>
              <a:t>فَقَالَ مُتَمِّمٌ: … لَوْ كَانَ أَخِي صُرِعَ مَصْرَعَ أَخِيكَ لَمَا بَكَيْتُهُ. فَقَالَ عُمَرُ: مَا عَزَّانِي أَحَدٌ بِأَحْسَنَ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3903726"/>
            <a:ext cx="1554480" cy="38100"/>
          </a:xfrm>
          <a:prstGeom prst="rect">
            <a:avLst/>
          </a:prstGeom>
          <a:solidFill>
            <a:srgbClr val="C49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66928" y="4214622"/>
            <a:ext cx="11057839" cy="1632204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3000" b="0" i="1">
                <a:solidFill>
                  <a:srgbClr val="1C2321"/>
                </a:solidFill>
                <a:latin typeface="Georgia"/>
                <a:cs typeface="Georgia"/>
              </a:rPr>
              <a:t>Mutammim said: … had my brother fallen where your brother fell, I would not have wept for him. ʿUmar said: No one has ever consoled me better…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144768"/>
            <a:ext cx="11057839" cy="457200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400" b="0" i="0">
                <a:solidFill>
                  <a:srgbClr val="5A6862"/>
                </a:solidFill>
                <a:latin typeface="Segoe UI"/>
                <a:cs typeface="Segoe UI"/>
              </a:rPr>
              <a:t>al-Kamil, vol. 2, p. 214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2651760"/>
            <a:ext cx="12191695" cy="1554480"/>
          </a:xfrm>
          <a:prstGeom prst="rect">
            <a:avLst/>
          </a:prstGeom>
          <a:solidFill>
            <a:srgbClr val="FAF7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2651760"/>
            <a:ext cx="114300" cy="1554480"/>
          </a:xfrm>
          <a:prstGeom prst="rect">
            <a:avLst/>
          </a:prstGeom>
          <a:solidFill>
            <a:srgbClr val="C49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68680" y="2788920"/>
            <a:ext cx="10728655" cy="731520"/>
          </a:xfrm>
          <a:prstGeom prst="rect">
            <a:avLst/>
          </a:prstGeom>
          <a:noFill/>
        </p:spPr>
        <p:txBody>
          <a:bodyPr wrap="square" lIns="36576" tIns="0" rIns="36576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4600" b="1" i="0">
                <a:solidFill>
                  <a:srgbClr val="0A322E"/>
                </a:solidFill>
                <a:latin typeface="Georgia"/>
                <a:cs typeface="Georgia"/>
              </a:rPr>
              <a:t>Part III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3520440"/>
            <a:ext cx="10728655" cy="548640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800" b="0" i="0">
                <a:solidFill>
                  <a:srgbClr val="5A6862"/>
                </a:solidFill>
                <a:latin typeface="Segoe UI"/>
                <a:cs typeface="Segoe UI"/>
              </a:rPr>
              <a:t>The road to al-Yamāma (11–12 AH)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nd"/>
          <p:cNvSpPr/>
          <p:nvPr/>
        </p:nvSpPr>
        <p:spPr>
          <a:xfrm>
            <a:off x="0" y="0"/>
            <a:ext cx="12191695" cy="1223263"/>
          </a:xfrm>
          <a:prstGeom prst="rect">
            <a:avLst/>
          </a:prstGeom>
          <a:solidFill>
            <a:srgbClr val="104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ule"/>
          <p:cNvSpPr/>
          <p:nvPr/>
        </p:nvSpPr>
        <p:spPr>
          <a:xfrm>
            <a:off x="0" y="1223263"/>
            <a:ext cx="12191695" cy="57150"/>
          </a:xfrm>
          <a:prstGeom prst="rect">
            <a:avLst/>
          </a:prstGeom>
          <a:solidFill>
            <a:srgbClr val="C49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66928" y="91440"/>
            <a:ext cx="11057839" cy="274320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400" b="1" i="0">
                <a:solidFill>
                  <a:srgbClr val="C49A45"/>
                </a:solidFill>
                <a:latin typeface="Segoe UI"/>
                <a:cs typeface="Segoe UI"/>
              </a:rPr>
              <a:t>11 AH, Medina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02336"/>
            <a:ext cx="11057839" cy="711199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4000" b="1" i="0">
                <a:solidFill>
                  <a:srgbClr val="FAF7F0"/>
                </a:solidFill>
                <a:latin typeface="Georgia"/>
                <a:cs typeface="Georgia"/>
              </a:rPr>
              <a:t>Back to the mosque, 11 AH</a:t>
            </a:r>
          </a:p>
        </p:txBody>
      </p:sp>
      <p:sp>
        <p:nvSpPr>
          <p:cNvPr id="6" name="card0"/>
          <p:cNvSpPr/>
          <p:nvPr/>
        </p:nvSpPr>
        <p:spPr>
          <a:xfrm>
            <a:off x="566928" y="1389888"/>
            <a:ext cx="3527450" cy="4846320"/>
          </a:xfrm>
          <a:prstGeom prst="rect">
            <a:avLst/>
          </a:prstGeom>
          <a:solidFill>
            <a:srgbClr val="FAF7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66928" y="1389888"/>
            <a:ext cx="3527450" cy="88900"/>
          </a:xfrm>
          <a:prstGeom prst="rect">
            <a:avLst/>
          </a:prstGeom>
          <a:solidFill>
            <a:srgbClr val="104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49808" y="1700784"/>
            <a:ext cx="3161690" cy="1097280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200" b="1" i="0">
                <a:solidFill>
                  <a:srgbClr val="0A322E"/>
                </a:solidFill>
                <a:latin typeface="Georgia"/>
                <a:cs typeface="Georgia"/>
              </a:rPr>
              <a:t>al-Buṭāḥ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2807208"/>
            <a:ext cx="3161690" cy="1038298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2700" b="0" i="0" dirty="0" err="1">
                <a:solidFill>
                  <a:srgbClr val="1C2321"/>
                </a:solidFill>
                <a:latin typeface="Segoe UI"/>
                <a:cs typeface="Arabic Typesetting"/>
              </a:rPr>
              <a:t>Mālik</a:t>
            </a:r>
            <a:r>
              <a:rPr sz="2700" b="0" i="0" dirty="0">
                <a:solidFill>
                  <a:srgbClr val="1C2321"/>
                </a:solidFill>
                <a:latin typeface="Segoe UI"/>
                <a:cs typeface="Arabic Typesetting"/>
              </a:rPr>
              <a:t> b. </a:t>
            </a:r>
            <a:r>
              <a:rPr sz="2700" b="0" i="0" dirty="0" err="1">
                <a:solidFill>
                  <a:srgbClr val="1C2321"/>
                </a:solidFill>
                <a:latin typeface="Segoe UI"/>
                <a:cs typeface="Arabic Typesetting"/>
              </a:rPr>
              <a:t>Nuwayra</a:t>
            </a:r>
            <a:r>
              <a:rPr sz="2700" b="0" i="0" dirty="0">
                <a:solidFill>
                  <a:srgbClr val="1C2321"/>
                </a:solidFill>
                <a:latin typeface="Segoe UI"/>
                <a:cs typeface="Arabic Typesetting"/>
              </a:rPr>
              <a:t> ؓ killed</a:t>
            </a:r>
          </a:p>
        </p:txBody>
      </p:sp>
      <p:sp>
        <p:nvSpPr>
          <p:cNvPr id="10" name="card1"/>
          <p:cNvSpPr/>
          <p:nvPr/>
        </p:nvSpPr>
        <p:spPr>
          <a:xfrm>
            <a:off x="4332122" y="1389888"/>
            <a:ext cx="3527450" cy="4846320"/>
          </a:xfrm>
          <a:prstGeom prst="rect">
            <a:avLst/>
          </a:prstGeom>
          <a:solidFill>
            <a:srgbClr val="FAF7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332122" y="1389888"/>
            <a:ext cx="3527450" cy="88900"/>
          </a:xfrm>
          <a:prstGeom prst="rect">
            <a:avLst/>
          </a:prstGeom>
          <a:solidFill>
            <a:srgbClr val="104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15002" y="1700784"/>
            <a:ext cx="3161690" cy="1097280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200" b="1" i="0">
                <a:solidFill>
                  <a:srgbClr val="0A322E"/>
                </a:solidFill>
                <a:latin typeface="Georgia"/>
                <a:cs typeface="Georgia"/>
              </a:rPr>
              <a:t>Medina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15002" y="2807208"/>
            <a:ext cx="3161690" cy="2683748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2700" b="0" i="0" dirty="0" err="1">
                <a:solidFill>
                  <a:srgbClr val="1C2321"/>
                </a:solidFill>
                <a:latin typeface="Segoe UI"/>
                <a:cs typeface="Arabic Typesetting"/>
              </a:rPr>
              <a:t>ʿUmar</a:t>
            </a:r>
            <a:r>
              <a:rPr sz="2700" b="0" i="0" dirty="0">
                <a:solidFill>
                  <a:srgbClr val="1C2321"/>
                </a:solidFill>
                <a:latin typeface="Segoe UI"/>
                <a:cs typeface="Arabic Typesetting"/>
              </a:rPr>
              <a:t> ؓ objects in the mosque; </a:t>
            </a:r>
            <a:r>
              <a:rPr sz="2700" b="0" i="0" dirty="0" err="1">
                <a:solidFill>
                  <a:srgbClr val="1C2321"/>
                </a:solidFill>
                <a:latin typeface="Segoe UI"/>
                <a:cs typeface="Arabic Typesetting"/>
              </a:rPr>
              <a:t>Abū</a:t>
            </a:r>
            <a:r>
              <a:rPr sz="2700" b="0" i="0" dirty="0">
                <a:solidFill>
                  <a:srgbClr val="1C2321"/>
                </a:solidFill>
                <a:latin typeface="Segoe UI"/>
                <a:cs typeface="Arabic Typesetting"/>
              </a:rPr>
              <a:t> Bakr ؓ: he interpreted, and was mistaken</a:t>
            </a:r>
          </a:p>
        </p:txBody>
      </p:sp>
      <p:sp>
        <p:nvSpPr>
          <p:cNvPr id="14" name="card2"/>
          <p:cNvSpPr/>
          <p:nvPr/>
        </p:nvSpPr>
        <p:spPr>
          <a:xfrm>
            <a:off x="8097316" y="1389888"/>
            <a:ext cx="3527450" cy="4846320"/>
          </a:xfrm>
          <a:prstGeom prst="rect">
            <a:avLst/>
          </a:prstGeom>
          <a:solidFill>
            <a:srgbClr val="FAF7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097316" y="1389888"/>
            <a:ext cx="3527450" cy="88900"/>
          </a:xfrm>
          <a:prstGeom prst="rect">
            <a:avLst/>
          </a:prstGeom>
          <a:solidFill>
            <a:srgbClr val="104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280196" y="1700784"/>
            <a:ext cx="3161690" cy="1097280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200" b="1" i="0">
                <a:solidFill>
                  <a:srgbClr val="0A322E"/>
                </a:solidFill>
                <a:latin typeface="Georgia"/>
                <a:cs typeface="Georgia"/>
              </a:rPr>
              <a:t>Next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80196" y="2807208"/>
            <a:ext cx="3161690" cy="2135265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2700" b="0" i="0" dirty="0">
                <a:solidFill>
                  <a:srgbClr val="1C2321"/>
                </a:solidFill>
                <a:latin typeface="Segoe UI"/>
                <a:cs typeface="Segoe UI"/>
              </a:rPr>
              <a:t>One claimant still standing: </a:t>
            </a:r>
            <a:r>
              <a:rPr sz="2700" b="1" i="0" dirty="0" err="1">
                <a:solidFill>
                  <a:srgbClr val="1C2321"/>
                </a:solidFill>
                <a:latin typeface="Segoe UI"/>
                <a:cs typeface="Segoe UI"/>
              </a:rPr>
              <a:t>Musaylima</a:t>
            </a:r>
            <a:r>
              <a:rPr sz="2700" b="0" i="0" dirty="0">
                <a:solidFill>
                  <a:srgbClr val="1C2321"/>
                </a:solidFill>
                <a:latin typeface="Segoe UI"/>
                <a:cs typeface="Segoe UI"/>
              </a:rPr>
              <a:t>, at </a:t>
            </a:r>
            <a:r>
              <a:rPr sz="2700" b="1" i="0" dirty="0">
                <a:solidFill>
                  <a:srgbClr val="1C2321"/>
                </a:solidFill>
                <a:latin typeface="Segoe UI"/>
                <a:cs typeface="Segoe UI"/>
              </a:rPr>
              <a:t>al-</a:t>
            </a:r>
            <a:r>
              <a:rPr sz="2700" b="1" i="0" dirty="0" err="1">
                <a:solidFill>
                  <a:srgbClr val="1C2321"/>
                </a:solidFill>
                <a:latin typeface="Segoe UI"/>
                <a:cs typeface="Segoe UI"/>
              </a:rPr>
              <a:t>Yamāma</a:t>
            </a:r>
            <a:endParaRPr sz="2700" b="1" i="0" dirty="0">
              <a:solidFill>
                <a:srgbClr val="1C2321"/>
              </a:solidFill>
              <a:latin typeface="Segoe UI"/>
              <a:cs typeface="Segoe UI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nd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04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ule"/>
          <p:cNvSpPr/>
          <p:nvPr/>
        </p:nvSpPr>
        <p:spPr>
          <a:xfrm>
            <a:off x="0" y="1078992"/>
            <a:ext cx="12191695" cy="57150"/>
          </a:xfrm>
          <a:prstGeom prst="rect">
            <a:avLst/>
          </a:prstGeom>
          <a:solidFill>
            <a:srgbClr val="C49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66928" y="182880"/>
            <a:ext cx="11057839" cy="711199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4000" b="1" i="0">
                <a:solidFill>
                  <a:srgbClr val="FAF7F0"/>
                </a:solidFill>
                <a:latin typeface="Georgia"/>
                <a:cs typeface="Georgia"/>
              </a:rPr>
              <a:t>Out again, to al-Yamāma</a:t>
            </a:r>
          </a:p>
        </p:txBody>
      </p:sp>
      <p:sp>
        <p:nvSpPr>
          <p:cNvPr id="6" name="Rectangle 5"/>
          <p:cNvSpPr/>
          <p:nvPr/>
        </p:nvSpPr>
        <p:spPr>
          <a:xfrm>
            <a:off x="8618311" y="1554480"/>
            <a:ext cx="54864" cy="310896"/>
          </a:xfrm>
          <a:prstGeom prst="rect">
            <a:avLst/>
          </a:prstGeom>
          <a:solidFill>
            <a:srgbClr val="C49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819479" y="1499616"/>
            <a:ext cx="2805288" cy="457200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800" b="1" i="0">
                <a:solidFill>
                  <a:srgbClr val="0A322E"/>
                </a:solidFill>
                <a:latin typeface="Georgia"/>
                <a:cs typeface="Georgia"/>
              </a:rPr>
              <a:t>To al-Yamāma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19479" y="1920240"/>
            <a:ext cx="2805288" cy="4306824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400" b="0" i="0">
                <a:solidFill>
                  <a:srgbClr val="5A6862"/>
                </a:solidFill>
                <a:latin typeface="Segoe UI"/>
                <a:cs typeface="Segoe UI"/>
              </a:rPr>
              <a:t>the army, and the reserve behind it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24FF1D7B-D8B5-6FDF-DD48-ADD11C02C85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170" y="1577696"/>
            <a:ext cx="8355584" cy="4700016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nd"/>
          <p:cNvSpPr/>
          <p:nvPr/>
        </p:nvSpPr>
        <p:spPr>
          <a:xfrm>
            <a:off x="0" y="0"/>
            <a:ext cx="12191695" cy="1223263"/>
          </a:xfrm>
          <a:prstGeom prst="rect">
            <a:avLst/>
          </a:prstGeom>
          <a:solidFill>
            <a:srgbClr val="104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ule"/>
          <p:cNvSpPr/>
          <p:nvPr/>
        </p:nvSpPr>
        <p:spPr>
          <a:xfrm>
            <a:off x="0" y="1223263"/>
            <a:ext cx="12191695" cy="57150"/>
          </a:xfrm>
          <a:prstGeom prst="rect">
            <a:avLst/>
          </a:prstGeom>
          <a:solidFill>
            <a:srgbClr val="C49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66928" y="91440"/>
            <a:ext cx="11057839" cy="274320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400" b="1" i="0">
                <a:solidFill>
                  <a:srgbClr val="C49A45"/>
                </a:solidFill>
                <a:latin typeface="Segoe UI"/>
                <a:cs typeface="Segoe UI"/>
              </a:rPr>
              <a:t>11 AH, Medina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02336"/>
            <a:ext cx="11057839" cy="711199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4000" b="1" i="0">
                <a:solidFill>
                  <a:srgbClr val="FAF7F0"/>
                </a:solidFill>
                <a:latin typeface="Georgia"/>
                <a:cs typeface="Georgia"/>
              </a:rPr>
              <a:t>Excused, and sent to al-Yamāma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824990"/>
            <a:ext cx="11057839" cy="1950720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r" rtl="1">
              <a:lnSpc>
                <a:spcPct val="150000"/>
              </a:lnSpc>
            </a:pPr>
            <a:r>
              <a:rPr lang="ar-SA" sz="4400" b="0" i="0">
                <a:solidFill>
                  <a:srgbClr val="0A322E"/>
                </a:solidFill>
                <a:latin typeface="Traditional Arabic"/>
                <a:cs typeface="Traditional Arabic"/>
              </a:rPr>
              <a:t>لما رضيَ الصدِّيقُ عن خالد بن الوليد وعذَرَهُ بما اعتذرَ به، بعثَه إلى قتالِ بني حنيفة باليمامة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3903726"/>
            <a:ext cx="1554480" cy="38100"/>
          </a:xfrm>
          <a:prstGeom prst="rect">
            <a:avLst/>
          </a:prstGeom>
          <a:solidFill>
            <a:srgbClr val="C49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66928" y="4214622"/>
            <a:ext cx="11057839" cy="1632204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3000" b="0" i="1">
                <a:solidFill>
                  <a:srgbClr val="1C2321"/>
                </a:solidFill>
                <a:latin typeface="Georgia"/>
                <a:cs typeface="Georgia"/>
              </a:rPr>
              <a:t>When the Ṣiddīq was satisfied with Khālid b. al-Walīd and accepted the excuse he made, he sent him to fight Banū Ḥanīfa at al-Yamāma.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144768"/>
            <a:ext cx="11057839" cy="457200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400" b="0" i="0">
                <a:solidFill>
                  <a:srgbClr val="5A6862"/>
                </a:solidFill>
                <a:latin typeface="Segoe UI"/>
                <a:cs typeface="Segoe UI"/>
              </a:rPr>
              <a:t>al-Bidaya wa'l-Nihaya, vol. 7, p. 32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nd"/>
          <p:cNvSpPr/>
          <p:nvPr/>
        </p:nvSpPr>
        <p:spPr>
          <a:xfrm>
            <a:off x="0" y="0"/>
            <a:ext cx="12191695" cy="1223263"/>
          </a:xfrm>
          <a:prstGeom prst="rect">
            <a:avLst/>
          </a:prstGeom>
          <a:solidFill>
            <a:srgbClr val="104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ule"/>
          <p:cNvSpPr/>
          <p:nvPr/>
        </p:nvSpPr>
        <p:spPr>
          <a:xfrm>
            <a:off x="0" y="1223263"/>
            <a:ext cx="12191695" cy="57150"/>
          </a:xfrm>
          <a:prstGeom prst="rect">
            <a:avLst/>
          </a:prstGeom>
          <a:solidFill>
            <a:srgbClr val="C49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66928" y="91440"/>
            <a:ext cx="11057839" cy="274320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400" b="1" i="0">
                <a:solidFill>
                  <a:srgbClr val="C49A45"/>
                </a:solidFill>
                <a:latin typeface="Segoe UI"/>
                <a:cs typeface="Arabic Typesetting"/>
              </a:rPr>
              <a:t>11 AH, before Khālid ؓ arrived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02336"/>
            <a:ext cx="11057839" cy="711199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4000" b="1" i="0">
                <a:solidFill>
                  <a:srgbClr val="FAF7F0"/>
                </a:solidFill>
                <a:latin typeface="Georgia"/>
                <a:cs typeface="Georgia"/>
              </a:rPr>
              <a:t>Meanwhile, at al-Yamāma</a:t>
            </a:r>
          </a:p>
        </p:txBody>
      </p:sp>
      <p:sp>
        <p:nvSpPr>
          <p:cNvPr id="6" name="card0"/>
          <p:cNvSpPr/>
          <p:nvPr/>
        </p:nvSpPr>
        <p:spPr>
          <a:xfrm>
            <a:off x="566928" y="1389888"/>
            <a:ext cx="3527450" cy="4480560"/>
          </a:xfrm>
          <a:prstGeom prst="rect">
            <a:avLst/>
          </a:prstGeom>
          <a:solidFill>
            <a:srgbClr val="FAF7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66928" y="1389888"/>
            <a:ext cx="3527450" cy="88900"/>
          </a:xfrm>
          <a:prstGeom prst="rect">
            <a:avLst/>
          </a:prstGeom>
          <a:solidFill>
            <a:srgbClr val="104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49808" y="1700784"/>
            <a:ext cx="3161690" cy="1097280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200" b="1" i="0">
                <a:solidFill>
                  <a:srgbClr val="0A322E"/>
                </a:solidFill>
                <a:latin typeface="Georgia"/>
                <a:cs typeface="Georgia"/>
              </a:rPr>
              <a:t>One banner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2807208"/>
            <a:ext cx="3161690" cy="2135265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2700" b="0" i="0" dirty="0">
                <a:solidFill>
                  <a:srgbClr val="1C2321"/>
                </a:solidFill>
                <a:latin typeface="Segoe UI"/>
                <a:cs typeface="Arabic Typesetting"/>
              </a:rPr>
              <a:t>Of the eleven banners, </a:t>
            </a:r>
            <a:r>
              <a:rPr sz="2700" b="1" i="0" dirty="0" err="1">
                <a:solidFill>
                  <a:srgbClr val="1C2321"/>
                </a:solidFill>
                <a:latin typeface="Segoe UI"/>
                <a:cs typeface="Arabic Typesetting"/>
              </a:rPr>
              <a:t>ʿIkrima</a:t>
            </a:r>
            <a:r>
              <a:rPr sz="2700" b="1" i="0" dirty="0">
                <a:solidFill>
                  <a:srgbClr val="1C2321"/>
                </a:solidFill>
                <a:latin typeface="Segoe UI"/>
                <a:cs typeface="Arabic Typesetting"/>
              </a:rPr>
              <a:t> ؓ</a:t>
            </a:r>
            <a:r>
              <a:rPr sz="2700" b="0" i="0" dirty="0">
                <a:solidFill>
                  <a:srgbClr val="1C2321"/>
                </a:solidFill>
                <a:latin typeface="Segoe UI"/>
                <a:cs typeface="Arabic Typesetting"/>
              </a:rPr>
              <a:t> had the one sent against </a:t>
            </a:r>
            <a:r>
              <a:rPr sz="2700" b="1" i="0" dirty="0" err="1">
                <a:solidFill>
                  <a:srgbClr val="1C2321"/>
                </a:solidFill>
                <a:latin typeface="Segoe UI"/>
                <a:cs typeface="Arabic Typesetting"/>
              </a:rPr>
              <a:t>Musaylima</a:t>
            </a:r>
            <a:endParaRPr sz="2700" b="1" i="0" dirty="0">
              <a:solidFill>
                <a:srgbClr val="1C2321"/>
              </a:solidFill>
              <a:latin typeface="Segoe UI"/>
              <a:cs typeface="Arabic Typesetting"/>
            </a:endParaRPr>
          </a:p>
        </p:txBody>
      </p:sp>
      <p:sp>
        <p:nvSpPr>
          <p:cNvPr id="10" name="card1"/>
          <p:cNvSpPr/>
          <p:nvPr/>
        </p:nvSpPr>
        <p:spPr>
          <a:xfrm>
            <a:off x="4332122" y="1389888"/>
            <a:ext cx="3527450" cy="4480560"/>
          </a:xfrm>
          <a:prstGeom prst="rect">
            <a:avLst/>
          </a:prstGeom>
          <a:solidFill>
            <a:srgbClr val="FAF7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332122" y="1389888"/>
            <a:ext cx="3527450" cy="88900"/>
          </a:xfrm>
          <a:prstGeom prst="rect">
            <a:avLst/>
          </a:prstGeom>
          <a:solidFill>
            <a:srgbClr val="104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15002" y="1700784"/>
            <a:ext cx="3161690" cy="1097280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200" b="1" i="0">
                <a:solidFill>
                  <a:srgbClr val="0A322E"/>
                </a:solidFill>
                <a:latin typeface="Georgia"/>
                <a:cs typeface="Georgia"/>
              </a:rPr>
              <a:t>Behind him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15002" y="2807208"/>
            <a:ext cx="3161690" cy="1586781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2700" b="1" i="0" dirty="0" err="1">
                <a:solidFill>
                  <a:srgbClr val="1C2321"/>
                </a:solidFill>
                <a:latin typeface="Segoe UI"/>
                <a:cs typeface="Arabic Typesetting"/>
              </a:rPr>
              <a:t>Shuraḥbīl</a:t>
            </a:r>
            <a:r>
              <a:rPr sz="2700" b="1" i="0" dirty="0">
                <a:solidFill>
                  <a:srgbClr val="1C2321"/>
                </a:solidFill>
                <a:latin typeface="Segoe UI"/>
                <a:cs typeface="Arabic Typesetting"/>
              </a:rPr>
              <a:t> b. </a:t>
            </a:r>
            <a:r>
              <a:rPr sz="2700" b="1" i="0" dirty="0" err="1">
                <a:solidFill>
                  <a:srgbClr val="1C2321"/>
                </a:solidFill>
                <a:latin typeface="Segoe UI"/>
                <a:cs typeface="Arabic Typesetting"/>
              </a:rPr>
              <a:t>Ḥasana</a:t>
            </a:r>
            <a:r>
              <a:rPr sz="2700" b="1" i="0" dirty="0">
                <a:solidFill>
                  <a:srgbClr val="1C2321"/>
                </a:solidFill>
                <a:latin typeface="Segoe UI"/>
                <a:cs typeface="Arabic Typesetting"/>
              </a:rPr>
              <a:t> ؓ</a:t>
            </a:r>
            <a:r>
              <a:rPr sz="2700" b="0" i="0" dirty="0">
                <a:solidFill>
                  <a:srgbClr val="1C2321"/>
                </a:solidFill>
                <a:latin typeface="Segoe UI"/>
                <a:cs typeface="Arabic Typesetting"/>
              </a:rPr>
              <a:t>, sent to follow him</a:t>
            </a:r>
          </a:p>
        </p:txBody>
      </p:sp>
      <p:sp>
        <p:nvSpPr>
          <p:cNvPr id="14" name="card2"/>
          <p:cNvSpPr/>
          <p:nvPr/>
        </p:nvSpPr>
        <p:spPr>
          <a:xfrm>
            <a:off x="8097316" y="1389888"/>
            <a:ext cx="3527450" cy="4480560"/>
          </a:xfrm>
          <a:prstGeom prst="rect">
            <a:avLst/>
          </a:prstGeom>
          <a:solidFill>
            <a:srgbClr val="FAF7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097316" y="1389888"/>
            <a:ext cx="3527450" cy="88900"/>
          </a:xfrm>
          <a:prstGeom prst="rect">
            <a:avLst/>
          </a:prstGeom>
          <a:solidFill>
            <a:srgbClr val="104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280196" y="1700784"/>
            <a:ext cx="3161690" cy="1097280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200" b="1" i="0">
                <a:solidFill>
                  <a:srgbClr val="0A322E"/>
                </a:solidFill>
                <a:latin typeface="Georgia"/>
                <a:cs typeface="Georgia"/>
              </a:rPr>
              <a:t>First there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80196" y="2807208"/>
            <a:ext cx="3161690" cy="2135265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2700" b="0" i="0" dirty="0">
                <a:solidFill>
                  <a:srgbClr val="1C2321"/>
                </a:solidFill>
                <a:latin typeface="Segoe UI"/>
                <a:cs typeface="Arabic Typesetting"/>
              </a:rPr>
              <a:t>Both reached al-</a:t>
            </a:r>
            <a:r>
              <a:rPr sz="2700" b="0" i="0" dirty="0" err="1">
                <a:solidFill>
                  <a:srgbClr val="1C2321"/>
                </a:solidFill>
                <a:latin typeface="Segoe UI"/>
                <a:cs typeface="Arabic Typesetting"/>
              </a:rPr>
              <a:t>Yamāma</a:t>
            </a:r>
            <a:r>
              <a:rPr sz="2700" b="0" i="0" dirty="0">
                <a:solidFill>
                  <a:srgbClr val="1C2321"/>
                </a:solidFill>
                <a:latin typeface="Segoe UI"/>
                <a:cs typeface="Arabic Typesetting"/>
              </a:rPr>
              <a:t> before </a:t>
            </a:r>
            <a:r>
              <a:rPr sz="2700" b="0" i="0" dirty="0" err="1">
                <a:solidFill>
                  <a:srgbClr val="1C2321"/>
                </a:solidFill>
                <a:latin typeface="Segoe UI"/>
                <a:cs typeface="Arabic Typesetting"/>
              </a:rPr>
              <a:t>Khālid</a:t>
            </a:r>
            <a:r>
              <a:rPr sz="2700" b="0" i="0" dirty="0">
                <a:solidFill>
                  <a:srgbClr val="1C2321"/>
                </a:solidFill>
                <a:latin typeface="Segoe UI"/>
                <a:cs typeface="Arabic Typesetting"/>
              </a:rPr>
              <a:t> ؓ and the main army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nd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04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ule"/>
          <p:cNvSpPr/>
          <p:nvPr/>
        </p:nvSpPr>
        <p:spPr>
          <a:xfrm>
            <a:off x="0" y="1078992"/>
            <a:ext cx="12191695" cy="57150"/>
          </a:xfrm>
          <a:prstGeom prst="rect">
            <a:avLst/>
          </a:prstGeom>
          <a:solidFill>
            <a:srgbClr val="C49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66928" y="182880"/>
            <a:ext cx="11057839" cy="711199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4000" b="1" i="0">
                <a:solidFill>
                  <a:srgbClr val="FAF7F0"/>
                </a:solidFill>
                <a:latin typeface="Georgia"/>
                <a:cs typeface="Georgia"/>
              </a:rPr>
              <a:t>Two commanders sent ahead</a:t>
            </a:r>
          </a:p>
        </p:txBody>
      </p:sp>
      <p:sp>
        <p:nvSpPr>
          <p:cNvPr id="6" name="Rectangle 5"/>
          <p:cNvSpPr/>
          <p:nvPr/>
        </p:nvSpPr>
        <p:spPr>
          <a:xfrm>
            <a:off x="8618311" y="1554480"/>
            <a:ext cx="54864" cy="310896"/>
          </a:xfrm>
          <a:prstGeom prst="rect">
            <a:avLst/>
          </a:prstGeom>
          <a:solidFill>
            <a:srgbClr val="C49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819479" y="1499616"/>
            <a:ext cx="2805288" cy="457200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800" b="1" i="0">
                <a:solidFill>
                  <a:srgbClr val="0A322E"/>
                </a:solidFill>
                <a:latin typeface="Georgia"/>
                <a:cs typeface="Arabic Typesetting"/>
              </a:rPr>
              <a:t>ʿIkrima 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19479" y="1920240"/>
            <a:ext cx="2805288" cy="845296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lang="en-US" sz="2400" b="0" i="0" dirty="0">
                <a:solidFill>
                  <a:srgbClr val="5A6862"/>
                </a:solidFill>
                <a:latin typeface="Segoe UI"/>
                <a:cs typeface="Segoe UI"/>
              </a:rPr>
              <a:t>Set back</a:t>
            </a:r>
            <a:r>
              <a:rPr sz="2400" b="0" i="0" dirty="0">
                <a:solidFill>
                  <a:srgbClr val="5A6862"/>
                </a:solidFill>
                <a:latin typeface="Segoe UI"/>
                <a:cs typeface="Segoe UI"/>
              </a:rPr>
              <a:t>, then sent on to Oman</a:t>
            </a:r>
          </a:p>
        </p:txBody>
      </p:sp>
      <p:sp>
        <p:nvSpPr>
          <p:cNvPr id="9" name="Rectangle 8"/>
          <p:cNvSpPr/>
          <p:nvPr/>
        </p:nvSpPr>
        <p:spPr>
          <a:xfrm>
            <a:off x="8618311" y="3918204"/>
            <a:ext cx="54864" cy="310896"/>
          </a:xfrm>
          <a:prstGeom prst="rect">
            <a:avLst/>
          </a:prstGeom>
          <a:solidFill>
            <a:srgbClr val="C49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819479" y="3863340"/>
            <a:ext cx="2805288" cy="457200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800" b="1" i="0">
                <a:solidFill>
                  <a:srgbClr val="0A322E"/>
                </a:solidFill>
                <a:latin typeface="Georgia"/>
                <a:cs typeface="Arabic Typesetting"/>
              </a:rPr>
              <a:t>Shuraḥbīl 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19479" y="4283964"/>
            <a:ext cx="2805288" cy="1943100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400" b="0" i="0">
                <a:solidFill>
                  <a:srgbClr val="5A6862"/>
                </a:solidFill>
                <a:latin typeface="Segoe UI"/>
                <a:cs typeface="Segoe UI"/>
              </a:rPr>
              <a:t>halted on the road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FC54C0E6-265B-D1E5-4D26-3E0EFC6294B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" y="1617706"/>
            <a:ext cx="8472006" cy="4765503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nd"/>
          <p:cNvSpPr/>
          <p:nvPr/>
        </p:nvSpPr>
        <p:spPr>
          <a:xfrm>
            <a:off x="0" y="0"/>
            <a:ext cx="12191695" cy="1223263"/>
          </a:xfrm>
          <a:prstGeom prst="rect">
            <a:avLst/>
          </a:prstGeom>
          <a:solidFill>
            <a:srgbClr val="104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ule"/>
          <p:cNvSpPr/>
          <p:nvPr/>
        </p:nvSpPr>
        <p:spPr>
          <a:xfrm>
            <a:off x="0" y="1223263"/>
            <a:ext cx="12191695" cy="57150"/>
          </a:xfrm>
          <a:prstGeom prst="rect">
            <a:avLst/>
          </a:prstGeom>
          <a:solidFill>
            <a:srgbClr val="C49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66928" y="91440"/>
            <a:ext cx="11057839" cy="274320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400" b="1" i="0">
                <a:solidFill>
                  <a:srgbClr val="C49A45"/>
                </a:solidFill>
                <a:latin typeface="Segoe UI"/>
                <a:cs typeface="Segoe UI"/>
              </a:rPr>
              <a:t>11 AH, al-Yamāma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02336"/>
            <a:ext cx="11057839" cy="711199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4000" b="1" i="0">
                <a:solidFill>
                  <a:srgbClr val="FAF7F0"/>
                </a:solidFill>
                <a:latin typeface="Georgia"/>
                <a:cs typeface="Arabic Typesetting"/>
              </a:rPr>
              <a:t>ʿIkrima ؓ goes too early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824990"/>
            <a:ext cx="11057839" cy="1950720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r" rtl="1">
              <a:lnSpc>
                <a:spcPct val="150000"/>
              </a:lnSpc>
            </a:pPr>
            <a:r>
              <a:rPr lang="ar-SA" sz="4400" b="0" i="0">
                <a:solidFill>
                  <a:srgbClr val="0A322E"/>
                </a:solidFill>
                <a:latin typeface="Traditional Arabic"/>
                <a:cs typeface="Traditional Arabic"/>
              </a:rPr>
              <a:t>لَا أَرَيَنَّكَ وَلَا تَرَانِي، لَا تَرْجِعَنَّ فَتُوهِنَ النَّاسَ … فَقَاتِلْ أَهْلَ عُمَانَ وَمَهْرَةَ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3903726"/>
            <a:ext cx="1554480" cy="38100"/>
          </a:xfrm>
          <a:prstGeom prst="rect">
            <a:avLst/>
          </a:prstGeom>
          <a:solidFill>
            <a:srgbClr val="C49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66928" y="4214622"/>
            <a:ext cx="11057839" cy="1632204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3000" b="0" i="1">
                <a:solidFill>
                  <a:srgbClr val="1C2321"/>
                </a:solidFill>
                <a:latin typeface="Georgia"/>
                <a:cs typeface="Georgia"/>
              </a:rPr>
              <a:t>Let me not see you and do not you see me. Do not come back and weaken the people … fight the people of ʿUmān and Mahra…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144768"/>
            <a:ext cx="11057839" cy="457200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400" b="0" i="0">
                <a:solidFill>
                  <a:srgbClr val="5A6862"/>
                </a:solidFill>
                <a:latin typeface="Segoe UI"/>
                <a:cs typeface="Segoe UI"/>
              </a:rPr>
              <a:t>al-Kamil, vol. 2, pp. 214–215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nd"/>
          <p:cNvSpPr/>
          <p:nvPr/>
        </p:nvSpPr>
        <p:spPr>
          <a:xfrm>
            <a:off x="0" y="0"/>
            <a:ext cx="12191695" cy="1223263"/>
          </a:xfrm>
          <a:prstGeom prst="rect">
            <a:avLst/>
          </a:prstGeom>
          <a:solidFill>
            <a:srgbClr val="104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ule"/>
          <p:cNvSpPr/>
          <p:nvPr/>
        </p:nvSpPr>
        <p:spPr>
          <a:xfrm>
            <a:off x="0" y="1223263"/>
            <a:ext cx="12191695" cy="57150"/>
          </a:xfrm>
          <a:prstGeom prst="rect">
            <a:avLst/>
          </a:prstGeom>
          <a:solidFill>
            <a:srgbClr val="C49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66928" y="91440"/>
            <a:ext cx="11057839" cy="274320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400" b="1" i="0">
                <a:solidFill>
                  <a:srgbClr val="C49A45"/>
                </a:solidFill>
                <a:latin typeface="Segoe UI"/>
                <a:cs typeface="Segoe UI"/>
              </a:rPr>
              <a:t>11 AH, al-Yamāma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02336"/>
            <a:ext cx="11057839" cy="654282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lang="en-US" sz="4000" b="1" i="0" dirty="0">
                <a:solidFill>
                  <a:srgbClr val="FAF7F0"/>
                </a:solidFill>
                <a:latin typeface="Georgia"/>
                <a:cs typeface="Georgia"/>
              </a:rPr>
              <a:t>Another premature attack</a:t>
            </a:r>
            <a:endParaRPr sz="4000" b="1" i="0" dirty="0">
              <a:solidFill>
                <a:srgbClr val="FAF7F0"/>
              </a:solidFill>
              <a:latin typeface="Georgia"/>
              <a:cs typeface="Georgia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66928" y="1824990"/>
            <a:ext cx="11057839" cy="1950720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r" rtl="1">
              <a:lnSpc>
                <a:spcPct val="150000"/>
              </a:lnSpc>
            </a:pPr>
            <a:r>
              <a:rPr lang="ar-SA" sz="4400" b="0" i="0">
                <a:solidFill>
                  <a:srgbClr val="0A322E"/>
                </a:solidFill>
                <a:latin typeface="Traditional Arabic"/>
                <a:cs typeface="Traditional Arabic"/>
              </a:rPr>
              <a:t>وَعَجَّلَ شُرَحْبِيلُ بْنُ حَسَنَةَ، وَبَادَرَ خَالِدًا بِقِتَالِ مُسَيْلِمَةَ، فَنُكِبَ، فَلَامَهُ خَالِدٌ.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3903726"/>
            <a:ext cx="1554480" cy="38100"/>
          </a:xfrm>
          <a:prstGeom prst="rect">
            <a:avLst/>
          </a:prstGeom>
          <a:solidFill>
            <a:srgbClr val="C49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66928" y="4214622"/>
            <a:ext cx="11057839" cy="1632204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3000" b="0" i="1">
                <a:solidFill>
                  <a:srgbClr val="1C2321"/>
                </a:solidFill>
                <a:latin typeface="Georgia"/>
                <a:cs typeface="Georgia"/>
              </a:rPr>
              <a:t>"Shuraḥbīl b. Ḥasana hurried, and got ahead of Khālid in fighting Musaylima, and was struck down; and Khālid reproached him."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144768"/>
            <a:ext cx="11057839" cy="457200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400" b="0" i="0">
                <a:solidFill>
                  <a:srgbClr val="5A6862"/>
                </a:solidFill>
                <a:latin typeface="Segoe UI"/>
                <a:cs typeface="Segoe UI"/>
              </a:rPr>
              <a:t>al-Kamil, vol. 2, p. 215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nd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04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ule"/>
          <p:cNvSpPr/>
          <p:nvPr/>
        </p:nvSpPr>
        <p:spPr>
          <a:xfrm>
            <a:off x="0" y="1078992"/>
            <a:ext cx="12191695" cy="57150"/>
          </a:xfrm>
          <a:prstGeom prst="rect">
            <a:avLst/>
          </a:prstGeom>
          <a:solidFill>
            <a:srgbClr val="C49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66928" y="182880"/>
            <a:ext cx="11057839" cy="711199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4000" b="1" i="0">
                <a:solidFill>
                  <a:srgbClr val="FAF7F0"/>
                </a:solidFill>
                <a:latin typeface="Georgia"/>
                <a:cs typeface="Georgia"/>
              </a:rPr>
              <a:t>ʿAqrabāʾ, and the ground behind it</a:t>
            </a:r>
          </a:p>
        </p:txBody>
      </p:sp>
      <p:pic>
        <p:nvPicPr>
          <p:cNvPr id="5" name="Picture 4" descr="s04-07-aqraba-step-02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1690900"/>
            <a:ext cx="7740487" cy="4354023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8618311" y="1554480"/>
            <a:ext cx="54864" cy="310896"/>
          </a:xfrm>
          <a:prstGeom prst="rect">
            <a:avLst/>
          </a:prstGeom>
          <a:solidFill>
            <a:srgbClr val="C49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819479" y="1499616"/>
            <a:ext cx="2805288" cy="457200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800" b="1" i="0">
                <a:solidFill>
                  <a:srgbClr val="0A322E"/>
                </a:solidFill>
                <a:latin typeface="Georgia"/>
                <a:cs typeface="Georgia"/>
              </a:rPr>
              <a:t>ʿAqrabāʾ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19479" y="1920240"/>
            <a:ext cx="2805288" cy="1943100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400" b="0" i="0">
                <a:solidFill>
                  <a:srgbClr val="5A6862"/>
                </a:solidFill>
                <a:latin typeface="Segoe UI"/>
                <a:cs typeface="Segoe UI"/>
              </a:rPr>
              <a:t>the enemy camp</a:t>
            </a:r>
          </a:p>
        </p:txBody>
      </p:sp>
      <p:sp>
        <p:nvSpPr>
          <p:cNvPr id="9" name="Rectangle 8"/>
          <p:cNvSpPr/>
          <p:nvPr/>
        </p:nvSpPr>
        <p:spPr>
          <a:xfrm>
            <a:off x="8618311" y="3918204"/>
            <a:ext cx="54864" cy="310896"/>
          </a:xfrm>
          <a:prstGeom prst="rect">
            <a:avLst/>
          </a:prstGeom>
          <a:solidFill>
            <a:srgbClr val="C49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819479" y="3863340"/>
            <a:ext cx="2805288" cy="457200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800" b="1" i="0">
                <a:solidFill>
                  <a:srgbClr val="0A322E"/>
                </a:solidFill>
                <a:latin typeface="Georgia"/>
                <a:cs typeface="Georgia"/>
              </a:rPr>
              <a:t>The farmland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19479" y="4283964"/>
            <a:ext cx="2805288" cy="1943100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400" b="0" i="0">
                <a:solidFill>
                  <a:srgbClr val="5A6862"/>
                </a:solidFill>
                <a:latin typeface="Segoe UI"/>
                <a:cs typeface="Segoe UI"/>
              </a:rPr>
              <a:t>behind their own line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nd"/>
          <p:cNvSpPr/>
          <p:nvPr/>
        </p:nvSpPr>
        <p:spPr>
          <a:xfrm>
            <a:off x="0" y="0"/>
            <a:ext cx="12191695" cy="1223263"/>
          </a:xfrm>
          <a:prstGeom prst="rect">
            <a:avLst/>
          </a:prstGeom>
          <a:solidFill>
            <a:srgbClr val="104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ule"/>
          <p:cNvSpPr/>
          <p:nvPr/>
        </p:nvSpPr>
        <p:spPr>
          <a:xfrm>
            <a:off x="0" y="1223263"/>
            <a:ext cx="12191695" cy="57150"/>
          </a:xfrm>
          <a:prstGeom prst="rect">
            <a:avLst/>
          </a:prstGeom>
          <a:solidFill>
            <a:srgbClr val="C49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66928" y="91440"/>
            <a:ext cx="11057839" cy="274320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400" b="1" i="0">
                <a:solidFill>
                  <a:srgbClr val="C49A45"/>
                </a:solidFill>
                <a:latin typeface="Segoe UI"/>
                <a:cs typeface="Segoe UI"/>
              </a:rPr>
              <a:t>11–12 AH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02336"/>
            <a:ext cx="11057839" cy="654282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lang="en-US" sz="4000" b="1" i="0" dirty="0">
                <a:solidFill>
                  <a:srgbClr val="FAF7F0"/>
                </a:solidFill>
                <a:latin typeface="Georgia"/>
                <a:cs typeface="Georgia"/>
              </a:rPr>
              <a:t>Banu Hanifa</a:t>
            </a:r>
            <a:endParaRPr sz="4000" b="1" i="0" dirty="0">
              <a:solidFill>
                <a:srgbClr val="FAF7F0"/>
              </a:solidFill>
              <a:latin typeface="Georgia"/>
              <a:cs typeface="Georgia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66928" y="1824990"/>
            <a:ext cx="11057839" cy="1950720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r" rtl="1">
              <a:lnSpc>
                <a:spcPct val="150000"/>
              </a:lnSpc>
            </a:pPr>
            <a:r>
              <a:rPr lang="ar-SA" sz="4400" b="0" i="0">
                <a:solidFill>
                  <a:srgbClr val="0A322E"/>
                </a:solidFill>
                <a:latin typeface="Traditional Arabic"/>
                <a:cs typeface="Traditional Arabic"/>
              </a:rPr>
              <a:t>فلما سمع مسيلمةُ بقدوم خالدٍ عسكر بمكانٍ يقال له: (عقربا) في طرف اليمامة والريفُ وراءَ ظهورهم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3903726"/>
            <a:ext cx="1554480" cy="38100"/>
          </a:xfrm>
          <a:prstGeom prst="rect">
            <a:avLst/>
          </a:prstGeom>
          <a:solidFill>
            <a:srgbClr val="C49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66928" y="4214622"/>
            <a:ext cx="11057839" cy="1632204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3000" b="0" i="1">
                <a:solidFill>
                  <a:srgbClr val="1C2321"/>
                </a:solidFill>
                <a:latin typeface="Georgia"/>
                <a:cs typeface="Georgia"/>
              </a:rPr>
              <a:t>"When Musaylima heard of Khālid's coming, he encamped at a place called ʿAqrabāʾ, at the edge of al-Yamāma, with the cultivated country behind their backs."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144768"/>
            <a:ext cx="11057839" cy="457200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400" b="0" i="0">
                <a:solidFill>
                  <a:srgbClr val="5A6862"/>
                </a:solidFill>
                <a:latin typeface="Segoe UI"/>
                <a:cs typeface="Segoe UI"/>
              </a:rPr>
              <a:t>al-Bidaya wa'l-Nihaya, vol. 7, p. 32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nd"/>
          <p:cNvSpPr/>
          <p:nvPr/>
        </p:nvSpPr>
        <p:spPr>
          <a:xfrm>
            <a:off x="0" y="0"/>
            <a:ext cx="12191695" cy="1223263"/>
          </a:xfrm>
          <a:prstGeom prst="rect">
            <a:avLst/>
          </a:prstGeom>
          <a:solidFill>
            <a:srgbClr val="104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ule"/>
          <p:cNvSpPr/>
          <p:nvPr/>
        </p:nvSpPr>
        <p:spPr>
          <a:xfrm>
            <a:off x="0" y="1223263"/>
            <a:ext cx="12191695" cy="57150"/>
          </a:xfrm>
          <a:prstGeom prst="rect">
            <a:avLst/>
          </a:prstGeom>
          <a:solidFill>
            <a:srgbClr val="C49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66928" y="91440"/>
            <a:ext cx="11057839" cy="274320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400" b="1" i="0">
                <a:solidFill>
                  <a:srgbClr val="C49A45"/>
                </a:solidFill>
                <a:latin typeface="Segoe UI"/>
                <a:cs typeface="Segoe UI"/>
              </a:rPr>
              <a:t>11–12 AH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02336"/>
            <a:ext cx="11057839" cy="711199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4000" b="1" i="0">
                <a:solidFill>
                  <a:srgbClr val="FAF7F0"/>
                </a:solidFill>
                <a:latin typeface="Georgia"/>
                <a:cs typeface="Georgia"/>
              </a:rPr>
              <a:t>The tent and the prisoner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2072640"/>
            <a:ext cx="11057839" cy="1950720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r" rtl="1">
              <a:lnSpc>
                <a:spcPct val="150000"/>
              </a:lnSpc>
            </a:pPr>
            <a:r>
              <a:rPr lang="ar-SA" sz="4400" b="0" i="0">
                <a:solidFill>
                  <a:srgbClr val="0A322E"/>
                </a:solidFill>
                <a:latin typeface="Traditional Arabic"/>
                <a:cs typeface="Traditional Arabic"/>
              </a:rPr>
              <a:t>أيها الرجل إن كنتَ تريد بأهل اليمامة غدًا خيرًا أو شرًا فاستبق هذا الرجل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4151376"/>
            <a:ext cx="1554480" cy="38100"/>
          </a:xfrm>
          <a:prstGeom prst="rect">
            <a:avLst/>
          </a:prstGeom>
          <a:solidFill>
            <a:srgbClr val="C49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66928" y="4462272"/>
            <a:ext cx="11057839" cy="1136903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3000" b="0" i="1">
                <a:solidFill>
                  <a:srgbClr val="1C2321"/>
                </a:solidFill>
                <a:latin typeface="Georgia"/>
                <a:cs typeface="Georgia"/>
              </a:rPr>
              <a:t>Man — if you intend anything tomorrow for the people of Yamāma, good or ill, keep this man alive…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144768"/>
            <a:ext cx="11057839" cy="457200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400" b="0" i="0">
                <a:solidFill>
                  <a:srgbClr val="5A6862"/>
                </a:solidFill>
                <a:latin typeface="Segoe UI"/>
                <a:cs typeface="Segoe UI"/>
              </a:rPr>
              <a:t>al-Bidaya wa'l-Nihaya, vol. 7, p. 33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2651760"/>
            <a:ext cx="12191695" cy="1554480"/>
          </a:xfrm>
          <a:prstGeom prst="rect">
            <a:avLst/>
          </a:prstGeom>
          <a:solidFill>
            <a:srgbClr val="FAF7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2651760"/>
            <a:ext cx="114300" cy="1554480"/>
          </a:xfrm>
          <a:prstGeom prst="rect">
            <a:avLst/>
          </a:prstGeom>
          <a:solidFill>
            <a:srgbClr val="C49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68680" y="2788920"/>
            <a:ext cx="10728655" cy="731520"/>
          </a:xfrm>
          <a:prstGeom prst="rect">
            <a:avLst/>
          </a:prstGeom>
          <a:noFill/>
        </p:spPr>
        <p:txBody>
          <a:bodyPr wrap="square" lIns="36576" tIns="0" rIns="36576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4600" b="1" i="0">
                <a:solidFill>
                  <a:srgbClr val="0A322E"/>
                </a:solidFill>
                <a:latin typeface="Georgia"/>
                <a:cs typeface="Georgia"/>
              </a:rPr>
              <a:t>Part IV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3520440"/>
            <a:ext cx="10728655" cy="548640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800" b="0" i="0">
                <a:solidFill>
                  <a:srgbClr val="5A6862"/>
                </a:solidFill>
                <a:latin typeface="Segoe UI"/>
                <a:cs typeface="Segoe UI"/>
              </a:rPr>
              <a:t>The day begins (11–12 AH)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nd"/>
          <p:cNvSpPr/>
          <p:nvPr/>
        </p:nvSpPr>
        <p:spPr>
          <a:xfrm>
            <a:off x="0" y="0"/>
            <a:ext cx="12191695" cy="1223263"/>
          </a:xfrm>
          <a:prstGeom prst="rect">
            <a:avLst/>
          </a:prstGeom>
          <a:solidFill>
            <a:srgbClr val="104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ule"/>
          <p:cNvSpPr/>
          <p:nvPr/>
        </p:nvSpPr>
        <p:spPr>
          <a:xfrm>
            <a:off x="0" y="1223263"/>
            <a:ext cx="12191695" cy="57150"/>
          </a:xfrm>
          <a:prstGeom prst="rect">
            <a:avLst/>
          </a:prstGeom>
          <a:solidFill>
            <a:srgbClr val="C49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66928" y="91440"/>
            <a:ext cx="11057839" cy="274320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400" b="1" i="0">
                <a:solidFill>
                  <a:srgbClr val="C49A45"/>
                </a:solidFill>
                <a:latin typeface="Segoe UI"/>
                <a:cs typeface="Segoe UI"/>
              </a:rPr>
              <a:t>The night before ʿAqrabāʾ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02336"/>
            <a:ext cx="11057839" cy="711199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4000" b="1" i="0">
                <a:solidFill>
                  <a:srgbClr val="FAF7F0"/>
                </a:solidFill>
                <a:latin typeface="Georgia"/>
                <a:cs typeface="Georgia"/>
              </a:rPr>
              <a:t>Where we are</a:t>
            </a:r>
          </a:p>
        </p:txBody>
      </p:sp>
      <p:sp>
        <p:nvSpPr>
          <p:cNvPr id="6" name="card0"/>
          <p:cNvSpPr/>
          <p:nvPr/>
        </p:nvSpPr>
        <p:spPr>
          <a:xfrm>
            <a:off x="566928" y="1389888"/>
            <a:ext cx="3527450" cy="4663440"/>
          </a:xfrm>
          <a:prstGeom prst="rect">
            <a:avLst/>
          </a:prstGeom>
          <a:solidFill>
            <a:srgbClr val="FAF7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66928" y="1389888"/>
            <a:ext cx="3527450" cy="88900"/>
          </a:xfrm>
          <a:prstGeom prst="rect">
            <a:avLst/>
          </a:prstGeom>
          <a:solidFill>
            <a:srgbClr val="104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49808" y="1700784"/>
            <a:ext cx="3161690" cy="1097280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200" b="1" i="0">
                <a:solidFill>
                  <a:srgbClr val="0A322E"/>
                </a:solidFill>
                <a:latin typeface="Georgia"/>
                <a:cs typeface="Georgia"/>
              </a:rPr>
              <a:t>Medina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2807208"/>
            <a:ext cx="3161690" cy="2135265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2700" b="0" i="0" dirty="0" err="1">
                <a:solidFill>
                  <a:srgbClr val="1C2321"/>
                </a:solidFill>
                <a:latin typeface="Segoe UI"/>
                <a:cs typeface="Arabic Typesetting"/>
              </a:rPr>
              <a:t>Khālid</a:t>
            </a:r>
            <a:r>
              <a:rPr sz="2700" b="0" i="0" dirty="0">
                <a:solidFill>
                  <a:srgbClr val="1C2321"/>
                </a:solidFill>
                <a:latin typeface="Segoe UI"/>
                <a:cs typeface="Arabic Typesetting"/>
              </a:rPr>
              <a:t> ؓ answered for al-</a:t>
            </a:r>
            <a:r>
              <a:rPr sz="2700" b="0" i="0" dirty="0" err="1">
                <a:solidFill>
                  <a:srgbClr val="1C2321"/>
                </a:solidFill>
                <a:latin typeface="Segoe UI"/>
                <a:cs typeface="Arabic Typesetting"/>
              </a:rPr>
              <a:t>Buṭāḥ</a:t>
            </a:r>
            <a:r>
              <a:rPr sz="2700" b="0" i="0" dirty="0">
                <a:solidFill>
                  <a:srgbClr val="1C2321"/>
                </a:solidFill>
                <a:latin typeface="Segoe UI"/>
                <a:cs typeface="Arabic Typesetting"/>
              </a:rPr>
              <a:t>, and was kept in command</a:t>
            </a:r>
          </a:p>
        </p:txBody>
      </p:sp>
      <p:sp>
        <p:nvSpPr>
          <p:cNvPr id="10" name="card1"/>
          <p:cNvSpPr/>
          <p:nvPr/>
        </p:nvSpPr>
        <p:spPr>
          <a:xfrm>
            <a:off x="4332122" y="1389888"/>
            <a:ext cx="3527450" cy="4663440"/>
          </a:xfrm>
          <a:prstGeom prst="rect">
            <a:avLst/>
          </a:prstGeom>
          <a:solidFill>
            <a:srgbClr val="FAF7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332122" y="1389888"/>
            <a:ext cx="3527450" cy="88900"/>
          </a:xfrm>
          <a:prstGeom prst="rect">
            <a:avLst/>
          </a:prstGeom>
          <a:solidFill>
            <a:srgbClr val="104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15002" y="1700784"/>
            <a:ext cx="3161690" cy="1097280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200" b="1" i="0">
                <a:solidFill>
                  <a:srgbClr val="0A322E"/>
                </a:solidFill>
                <a:latin typeface="Georgia"/>
                <a:cs typeface="Georgia"/>
              </a:rPr>
              <a:t>The road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15002" y="2807208"/>
            <a:ext cx="3161690" cy="2683748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2700" b="0" i="0" dirty="0" err="1">
                <a:solidFill>
                  <a:srgbClr val="1C2321"/>
                </a:solidFill>
                <a:latin typeface="Segoe UI"/>
                <a:cs typeface="Arabic Typesetting"/>
              </a:rPr>
              <a:t>ʿIkrima</a:t>
            </a:r>
            <a:r>
              <a:rPr sz="2700" b="0" i="0" dirty="0">
                <a:solidFill>
                  <a:srgbClr val="1C2321"/>
                </a:solidFill>
                <a:latin typeface="Segoe UI"/>
                <a:cs typeface="Arabic Typesetting"/>
              </a:rPr>
              <a:t> ؓ and </a:t>
            </a:r>
            <a:r>
              <a:rPr sz="2700" b="0" i="0" dirty="0" err="1">
                <a:solidFill>
                  <a:srgbClr val="1C2321"/>
                </a:solidFill>
                <a:latin typeface="Segoe UI"/>
                <a:cs typeface="Arabic Typesetting"/>
              </a:rPr>
              <a:t>Shuraḥbīl</a:t>
            </a:r>
            <a:r>
              <a:rPr sz="2700" b="0" i="0" dirty="0">
                <a:solidFill>
                  <a:srgbClr val="1C2321"/>
                </a:solidFill>
                <a:latin typeface="Segoe UI"/>
                <a:cs typeface="Arabic Typesetting"/>
              </a:rPr>
              <a:t> ؓ </a:t>
            </a:r>
            <a:r>
              <a:rPr lang="en-US" sz="2700" b="0" i="0" dirty="0">
                <a:solidFill>
                  <a:srgbClr val="1C2321"/>
                </a:solidFill>
                <a:latin typeface="Segoe UI"/>
                <a:cs typeface="Arabic Typesetting"/>
              </a:rPr>
              <a:t>face set back</a:t>
            </a:r>
            <a:r>
              <a:rPr sz="2700" b="0" i="0" dirty="0">
                <a:solidFill>
                  <a:srgbClr val="1C2321"/>
                </a:solidFill>
                <a:latin typeface="Segoe UI"/>
                <a:cs typeface="Arabic Typesetting"/>
              </a:rPr>
              <a:t> ahead of him; forty thousand at </a:t>
            </a:r>
            <a:r>
              <a:rPr sz="2700" b="1" i="0" dirty="0" err="1">
                <a:solidFill>
                  <a:srgbClr val="1C2321"/>
                </a:solidFill>
                <a:latin typeface="Segoe UI"/>
                <a:cs typeface="Arabic Typesetting"/>
              </a:rPr>
              <a:t>ʿAqrabāʾ</a:t>
            </a:r>
            <a:endParaRPr sz="2700" b="1" i="0" dirty="0">
              <a:solidFill>
                <a:srgbClr val="1C2321"/>
              </a:solidFill>
              <a:latin typeface="Segoe UI"/>
              <a:cs typeface="Arabic Typesetting"/>
            </a:endParaRPr>
          </a:p>
        </p:txBody>
      </p:sp>
      <p:sp>
        <p:nvSpPr>
          <p:cNvPr id="14" name="card2"/>
          <p:cNvSpPr/>
          <p:nvPr/>
        </p:nvSpPr>
        <p:spPr>
          <a:xfrm>
            <a:off x="8097316" y="1389888"/>
            <a:ext cx="3527450" cy="4663440"/>
          </a:xfrm>
          <a:prstGeom prst="rect">
            <a:avLst/>
          </a:prstGeom>
          <a:solidFill>
            <a:srgbClr val="FAF7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097316" y="1389888"/>
            <a:ext cx="3527450" cy="88900"/>
          </a:xfrm>
          <a:prstGeom prst="rect">
            <a:avLst/>
          </a:prstGeom>
          <a:solidFill>
            <a:srgbClr val="104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280196" y="1700784"/>
            <a:ext cx="3161690" cy="1097280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200" b="1" i="0">
                <a:solidFill>
                  <a:srgbClr val="0A322E"/>
                </a:solidFill>
                <a:latin typeface="Georgia"/>
                <a:cs typeface="Georgia"/>
              </a:rPr>
              <a:t>The tent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80196" y="2807208"/>
            <a:ext cx="3161690" cy="2214132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2700" b="0" i="0" dirty="0">
                <a:solidFill>
                  <a:srgbClr val="1C2321"/>
                </a:solidFill>
                <a:latin typeface="Segoe UI"/>
                <a:cs typeface="Arabic Typesetting"/>
              </a:rPr>
              <a:t>A prisoner in irons in </a:t>
            </a:r>
            <a:r>
              <a:rPr sz="2700" b="0" i="0" dirty="0" err="1">
                <a:solidFill>
                  <a:srgbClr val="1C2321"/>
                </a:solidFill>
                <a:latin typeface="Segoe UI"/>
                <a:cs typeface="Arabic Typesetting"/>
              </a:rPr>
              <a:t>Khālid's</a:t>
            </a:r>
            <a:r>
              <a:rPr sz="2700" b="0" i="0" dirty="0">
                <a:solidFill>
                  <a:srgbClr val="1C2321"/>
                </a:solidFill>
                <a:latin typeface="Segoe UI"/>
                <a:cs typeface="Arabic Typesetting"/>
              </a:rPr>
              <a:t> ؓ own tent: </a:t>
            </a:r>
            <a:r>
              <a:rPr sz="2700" b="1" i="0" dirty="0" err="1">
                <a:solidFill>
                  <a:srgbClr val="1C2321"/>
                </a:solidFill>
                <a:latin typeface="Segoe UI"/>
                <a:cs typeface="Arabic Typesetting"/>
              </a:rPr>
              <a:t>Mujjāʿa</a:t>
            </a:r>
            <a:r>
              <a:rPr sz="2700" b="0" i="0" dirty="0">
                <a:solidFill>
                  <a:srgbClr val="1C2321"/>
                </a:solidFill>
                <a:latin typeface="Segoe UI"/>
                <a:cs typeface="Arabic Typesetting"/>
              </a:rPr>
              <a:t> of </a:t>
            </a:r>
            <a:r>
              <a:rPr sz="2700" b="0" i="0" dirty="0" err="1">
                <a:solidFill>
                  <a:srgbClr val="1C2321"/>
                </a:solidFill>
                <a:latin typeface="Segoe UI"/>
                <a:cs typeface="Arabic Typesetting"/>
              </a:rPr>
              <a:t>Banū</a:t>
            </a:r>
            <a:r>
              <a:rPr sz="2700" b="0" i="0" dirty="0">
                <a:solidFill>
                  <a:srgbClr val="1C2321"/>
                </a:solidFill>
                <a:latin typeface="Segoe UI"/>
                <a:cs typeface="Arabic Typesetting"/>
              </a:rPr>
              <a:t> </a:t>
            </a:r>
            <a:r>
              <a:rPr sz="2700" b="0" i="0" dirty="0" err="1">
                <a:solidFill>
                  <a:srgbClr val="1C2321"/>
                </a:solidFill>
                <a:latin typeface="Segoe UI"/>
                <a:cs typeface="Arabic Typesetting"/>
              </a:rPr>
              <a:t>Ḥanīfa</a:t>
            </a:r>
            <a:endParaRPr sz="2700" b="0" i="0" dirty="0">
              <a:solidFill>
                <a:srgbClr val="1C2321"/>
              </a:solidFill>
              <a:latin typeface="Segoe UI"/>
              <a:cs typeface="Arabic Typesetting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nd"/>
          <p:cNvSpPr/>
          <p:nvPr/>
        </p:nvSpPr>
        <p:spPr>
          <a:xfrm>
            <a:off x="0" y="0"/>
            <a:ext cx="12191695" cy="1223263"/>
          </a:xfrm>
          <a:prstGeom prst="rect">
            <a:avLst/>
          </a:prstGeom>
          <a:solidFill>
            <a:srgbClr val="104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ule"/>
          <p:cNvSpPr/>
          <p:nvPr/>
        </p:nvSpPr>
        <p:spPr>
          <a:xfrm>
            <a:off x="0" y="1223263"/>
            <a:ext cx="12191695" cy="57150"/>
          </a:xfrm>
          <a:prstGeom prst="rect">
            <a:avLst/>
          </a:prstGeom>
          <a:solidFill>
            <a:srgbClr val="C49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66928" y="91440"/>
            <a:ext cx="11057839" cy="274320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400" b="1" i="0">
                <a:solidFill>
                  <a:srgbClr val="C49A45"/>
                </a:solidFill>
                <a:latin typeface="Segoe UI"/>
                <a:cs typeface="Segoe UI"/>
              </a:rPr>
              <a:t>11–12 AH — the books disagree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02336"/>
            <a:ext cx="11057839" cy="711199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4000" b="1" i="0">
                <a:solidFill>
                  <a:srgbClr val="FAF7F0"/>
                </a:solidFill>
                <a:latin typeface="Georgia"/>
                <a:cs typeface="Georgia"/>
              </a:rPr>
              <a:t>The order of battle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824990"/>
            <a:ext cx="11057839" cy="1950720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r" rtl="1">
              <a:lnSpc>
                <a:spcPct val="150000"/>
              </a:lnSpc>
            </a:pPr>
            <a:r>
              <a:rPr lang="ar-SA" sz="4400" b="0" i="0">
                <a:solidFill>
                  <a:srgbClr val="0A322E"/>
                </a:solidFill>
                <a:latin typeface="Traditional Arabic"/>
                <a:cs typeface="Traditional Arabic"/>
              </a:rPr>
              <a:t>ورايةُ المهاجرين مع سالم … ورايةُ الأنصار مع ثابت بن قيس … والعرب على راياتها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3903726"/>
            <a:ext cx="1554480" cy="38100"/>
          </a:xfrm>
          <a:prstGeom prst="rect">
            <a:avLst/>
          </a:prstGeom>
          <a:solidFill>
            <a:srgbClr val="C49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66928" y="4214622"/>
            <a:ext cx="11057839" cy="1632204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3000" b="0" i="1">
                <a:solidFill>
                  <a:srgbClr val="1C2321"/>
                </a:solidFill>
                <a:latin typeface="Georgia"/>
                <a:cs typeface="Georgia"/>
              </a:rPr>
              <a:t>The Muhājirūn's banner was with Sālim … the Anṣār's banner with Thābit b. Qays … and the Arabs each under their own banners.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144768"/>
            <a:ext cx="11057839" cy="457200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400" b="0" i="0">
                <a:solidFill>
                  <a:srgbClr val="5A6862"/>
                </a:solidFill>
                <a:latin typeface="Segoe UI"/>
                <a:cs typeface="Segoe UI"/>
              </a:rPr>
              <a:t>al-Bidaya wa'l-Nihaya, vol. 7, p. 33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nd"/>
          <p:cNvSpPr/>
          <p:nvPr/>
        </p:nvSpPr>
        <p:spPr>
          <a:xfrm>
            <a:off x="0" y="0"/>
            <a:ext cx="12191695" cy="1223263"/>
          </a:xfrm>
          <a:prstGeom prst="rect">
            <a:avLst/>
          </a:prstGeom>
          <a:solidFill>
            <a:srgbClr val="104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ule"/>
          <p:cNvSpPr/>
          <p:nvPr/>
        </p:nvSpPr>
        <p:spPr>
          <a:xfrm>
            <a:off x="0" y="1223263"/>
            <a:ext cx="12191695" cy="57150"/>
          </a:xfrm>
          <a:prstGeom prst="rect">
            <a:avLst/>
          </a:prstGeom>
          <a:solidFill>
            <a:srgbClr val="C49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66928" y="91440"/>
            <a:ext cx="11057839" cy="274320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400" b="1" i="0">
                <a:solidFill>
                  <a:srgbClr val="C49A45"/>
                </a:solidFill>
                <a:latin typeface="Segoe UI"/>
                <a:cs typeface="Segoe UI"/>
              </a:rPr>
              <a:t>11–12 AH — attribution disputed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02336"/>
            <a:ext cx="11057839" cy="711199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4000" b="1" i="0">
                <a:solidFill>
                  <a:srgbClr val="FAF7F0"/>
                </a:solidFill>
                <a:latin typeface="Georgia"/>
                <a:cs typeface="Georgia"/>
              </a:rPr>
              <a:t>"Today is the day of honour"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824990"/>
            <a:ext cx="11057839" cy="1950720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r" rtl="1">
              <a:lnSpc>
                <a:spcPct val="150000"/>
              </a:lnSpc>
            </a:pPr>
            <a:r>
              <a:rPr lang="ar-SA" sz="4400" b="0" i="0">
                <a:solidFill>
                  <a:srgbClr val="0A322E"/>
                </a:solidFill>
                <a:latin typeface="Traditional Arabic"/>
                <a:cs typeface="Traditional Arabic"/>
              </a:rPr>
              <a:t>اليوم يوم الغيرة، اليوم إن هُزمتم تُستنكح النساء سَبيّاتٍ … فقاتلوا عن أحسابكم، وامنعوا نساءكم.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3903726"/>
            <a:ext cx="1554480" cy="38100"/>
          </a:xfrm>
          <a:prstGeom prst="rect">
            <a:avLst/>
          </a:prstGeom>
          <a:solidFill>
            <a:srgbClr val="C49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66928" y="4214622"/>
            <a:ext cx="11057839" cy="1632204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3000" b="0" i="1">
                <a:solidFill>
                  <a:srgbClr val="1C2321"/>
                </a:solidFill>
                <a:latin typeface="Georgia"/>
                <a:cs typeface="Georgia"/>
              </a:rPr>
              <a:t>Today is the day of honour. Today, if you are routed, the women will be taken as captives … So fight for your own standing, and protect your women.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144768"/>
            <a:ext cx="11057839" cy="457200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400" b="0" i="0">
                <a:solidFill>
                  <a:srgbClr val="5A6862"/>
                </a:solidFill>
                <a:latin typeface="Segoe UI"/>
                <a:cs typeface="Segoe UI"/>
              </a:rPr>
              <a:t>al-Bidaya wa'l-Nihaya, vol. 7, p. 33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nd"/>
          <p:cNvSpPr/>
          <p:nvPr/>
        </p:nvSpPr>
        <p:spPr>
          <a:xfrm>
            <a:off x="0" y="0"/>
            <a:ext cx="12191695" cy="1223263"/>
          </a:xfrm>
          <a:prstGeom prst="rect">
            <a:avLst/>
          </a:prstGeom>
          <a:solidFill>
            <a:srgbClr val="104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ule"/>
          <p:cNvSpPr/>
          <p:nvPr/>
        </p:nvSpPr>
        <p:spPr>
          <a:xfrm>
            <a:off x="0" y="1223263"/>
            <a:ext cx="12191695" cy="57150"/>
          </a:xfrm>
          <a:prstGeom prst="rect">
            <a:avLst/>
          </a:prstGeom>
          <a:solidFill>
            <a:srgbClr val="C49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66928" y="91440"/>
            <a:ext cx="11057839" cy="274320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400" b="1" i="0">
                <a:solidFill>
                  <a:srgbClr val="C49A45"/>
                </a:solidFill>
                <a:latin typeface="Segoe UI"/>
                <a:cs typeface="Segoe UI"/>
              </a:rPr>
              <a:t>11–12 AH, ʿAqrabāʾ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02336"/>
            <a:ext cx="11057839" cy="654282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4000" b="1" i="0" dirty="0">
                <a:solidFill>
                  <a:srgbClr val="FAF7F0"/>
                </a:solidFill>
                <a:latin typeface="Georgia"/>
                <a:cs typeface="Georgia"/>
              </a:rPr>
              <a:t>The line breaks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824990"/>
            <a:ext cx="11057839" cy="1950720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r" rtl="1">
              <a:lnSpc>
                <a:spcPct val="150000"/>
              </a:lnSpc>
            </a:pPr>
            <a:r>
              <a:rPr lang="ar-SA" sz="4400" b="0" i="0">
                <a:solidFill>
                  <a:srgbClr val="0A322E"/>
                </a:solidFill>
                <a:latin typeface="Traditional Arabic"/>
                <a:cs typeface="Traditional Arabic"/>
              </a:rPr>
              <a:t>فكانت جولة … حتى دخلت بنو حنيفة خيمةَ خالد بن الوليد وهمّوا بقتل أم تميم، حتى أجارها مجاعة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3903726"/>
            <a:ext cx="1554480" cy="38100"/>
          </a:xfrm>
          <a:prstGeom prst="rect">
            <a:avLst/>
          </a:prstGeom>
          <a:solidFill>
            <a:srgbClr val="C49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66928" y="4214622"/>
            <a:ext cx="11057839" cy="1632204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3000" b="0" i="1">
                <a:solidFill>
                  <a:srgbClr val="1C2321"/>
                </a:solidFill>
                <a:latin typeface="Georgia"/>
                <a:cs typeface="Georgia"/>
              </a:rPr>
              <a:t>There was a rout … Banū Ḥanīfa entered Khālid b. al-Walīd's own tent and were minded to kill Umm Tamīm — until Mujjāʿa gave her his protection…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144768"/>
            <a:ext cx="11057839" cy="457200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400" b="0" i="0">
                <a:solidFill>
                  <a:srgbClr val="5A6862"/>
                </a:solidFill>
                <a:latin typeface="Segoe UI"/>
                <a:cs typeface="Segoe UI"/>
              </a:rPr>
              <a:t>al-Bidaya wa'l-Nihaya, vol. 7, p. 33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nd"/>
          <p:cNvSpPr/>
          <p:nvPr/>
        </p:nvSpPr>
        <p:spPr>
          <a:xfrm>
            <a:off x="0" y="0"/>
            <a:ext cx="12191695" cy="1223263"/>
          </a:xfrm>
          <a:prstGeom prst="rect">
            <a:avLst/>
          </a:prstGeom>
          <a:solidFill>
            <a:srgbClr val="104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ule"/>
          <p:cNvSpPr/>
          <p:nvPr/>
        </p:nvSpPr>
        <p:spPr>
          <a:xfrm>
            <a:off x="0" y="1223263"/>
            <a:ext cx="12191695" cy="57150"/>
          </a:xfrm>
          <a:prstGeom prst="rect">
            <a:avLst/>
          </a:prstGeom>
          <a:solidFill>
            <a:srgbClr val="C49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66928" y="91440"/>
            <a:ext cx="11057839" cy="274320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400" b="1" i="0">
                <a:solidFill>
                  <a:srgbClr val="C49A45"/>
                </a:solidFill>
                <a:latin typeface="Segoe UI"/>
                <a:cs typeface="Segoe UI"/>
              </a:rPr>
              <a:t>11–12 AH, ʿAqrabāʾ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02336"/>
            <a:ext cx="11057839" cy="655500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lang="en-US" sz="4000" b="1" i="0" dirty="0">
                <a:solidFill>
                  <a:srgbClr val="FAF7F0"/>
                </a:solidFill>
                <a:latin typeface="Georgia"/>
                <a:cs typeface="Georgia"/>
              </a:rPr>
              <a:t>al-</a:t>
            </a:r>
            <a:r>
              <a:rPr lang="en-US" sz="4000" b="1" i="0" dirty="0" err="1">
                <a:solidFill>
                  <a:srgbClr val="FAF7F0"/>
                </a:solidFill>
                <a:latin typeface="Georgia"/>
                <a:cs typeface="Georgia"/>
              </a:rPr>
              <a:t>Rajjāl</a:t>
            </a:r>
            <a:r>
              <a:rPr lang="en-US" sz="4000" b="1" i="0" dirty="0">
                <a:solidFill>
                  <a:srgbClr val="FAF7F0"/>
                </a:solidFill>
                <a:latin typeface="Georgia"/>
                <a:cs typeface="Georgia"/>
              </a:rPr>
              <a:t> b. </a:t>
            </a:r>
            <a:r>
              <a:rPr lang="en-US" sz="4000" b="1" i="0" dirty="0" err="1">
                <a:solidFill>
                  <a:srgbClr val="FAF7F0"/>
                </a:solidFill>
                <a:latin typeface="Georgia"/>
                <a:cs typeface="Georgia"/>
              </a:rPr>
              <a:t>ʿUnfuwa</a:t>
            </a:r>
            <a:endParaRPr sz="4000" b="1" i="0" dirty="0">
              <a:solidFill>
                <a:srgbClr val="FAF7F0"/>
              </a:solidFill>
              <a:latin typeface="Georgia"/>
              <a:cs typeface="Georgia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66928" y="1882140"/>
            <a:ext cx="11057839" cy="2331720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r" rtl="1">
              <a:lnSpc>
                <a:spcPct val="150000"/>
              </a:lnSpc>
            </a:pPr>
            <a:r>
              <a:rPr lang="ar-SA" sz="5400" b="0" i="0">
                <a:solidFill>
                  <a:srgbClr val="0A322E"/>
                </a:solidFill>
                <a:latin typeface="Traditional Arabic"/>
                <a:cs typeface="Traditional Arabic"/>
              </a:rPr>
              <a:t>فَكَانَ أَعْظَمَ فِتْنَةً عَلَى بَنِي حَنِيفَةَ مِنْ مُسَيْلِمَةَ … فَصَدَّقُوهُ وَاسْتَجَابُوا لَهُ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4341876"/>
            <a:ext cx="1554480" cy="38100"/>
          </a:xfrm>
          <a:prstGeom prst="rect">
            <a:avLst/>
          </a:prstGeom>
          <a:solidFill>
            <a:srgbClr val="C49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66928" y="4652772"/>
            <a:ext cx="11057839" cy="1136903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3000" b="0" i="1">
                <a:solidFill>
                  <a:srgbClr val="1C2321"/>
                </a:solidFill>
                <a:latin typeface="Georgia"/>
                <a:cs typeface="Georgia"/>
              </a:rPr>
              <a:t>He was a greater fitna upon Banū Ḥanīfa than Musaylima … and they believed him and answered him.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144768"/>
            <a:ext cx="11057839" cy="457200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400" b="0" i="0">
                <a:solidFill>
                  <a:srgbClr val="5A6862"/>
                </a:solidFill>
                <a:latin typeface="Segoe UI"/>
                <a:cs typeface="Segoe UI"/>
              </a:rPr>
              <a:t>al-Kamil, vol. 2, p. 215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nd"/>
          <p:cNvSpPr/>
          <p:nvPr/>
        </p:nvSpPr>
        <p:spPr>
          <a:xfrm>
            <a:off x="0" y="0"/>
            <a:ext cx="12191695" cy="1223263"/>
          </a:xfrm>
          <a:prstGeom prst="rect">
            <a:avLst/>
          </a:prstGeom>
          <a:solidFill>
            <a:srgbClr val="104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ule"/>
          <p:cNvSpPr/>
          <p:nvPr/>
        </p:nvSpPr>
        <p:spPr>
          <a:xfrm>
            <a:off x="0" y="1223263"/>
            <a:ext cx="12191695" cy="57150"/>
          </a:xfrm>
          <a:prstGeom prst="rect">
            <a:avLst/>
          </a:prstGeom>
          <a:solidFill>
            <a:srgbClr val="C49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66928" y="91440"/>
            <a:ext cx="11057839" cy="274320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400" b="1" i="0">
                <a:solidFill>
                  <a:srgbClr val="C49A45"/>
                </a:solidFill>
                <a:latin typeface="Segoe UI"/>
                <a:cs typeface="Segoe UI"/>
              </a:rPr>
              <a:t>11–12 AH, ʿAqrabāʾ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02336"/>
            <a:ext cx="11057839" cy="711199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4000" b="1" i="0">
                <a:solidFill>
                  <a:srgbClr val="FAF7F0"/>
                </a:solidFill>
                <a:latin typeface="Georgia"/>
                <a:cs typeface="Georgia"/>
              </a:rPr>
              <a:t>"People of Sūrat al-Baqara"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824990"/>
            <a:ext cx="11057839" cy="1950720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r" rtl="1">
              <a:lnSpc>
                <a:spcPct val="150000"/>
              </a:lnSpc>
            </a:pPr>
            <a:r>
              <a:rPr lang="ar-SA" sz="4400" b="0" i="0">
                <a:solidFill>
                  <a:srgbClr val="0A322E"/>
                </a:solidFill>
                <a:latin typeface="Traditional Arabic"/>
                <a:cs typeface="Traditional Arabic"/>
              </a:rPr>
              <a:t>وجعلت الصحابة يتواصَون بينهم ويقولون: يا أصحاب سورةِ البقرةِ، بَطلَ السِّحْرُ اليوم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3903726"/>
            <a:ext cx="1554480" cy="38100"/>
          </a:xfrm>
          <a:prstGeom prst="rect">
            <a:avLst/>
          </a:prstGeom>
          <a:solidFill>
            <a:srgbClr val="C49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66928" y="4214622"/>
            <a:ext cx="11057839" cy="1632204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3000" b="0" i="1">
                <a:solidFill>
                  <a:srgbClr val="1C2321"/>
                </a:solidFill>
                <a:latin typeface="Georgia"/>
                <a:cs typeface="Georgia"/>
              </a:rPr>
              <a:t>"And the Companions began enjoining one another, saying: People of Sūrat al-Baqara — today the sorcery is undone."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144768"/>
            <a:ext cx="11057839" cy="457200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400" b="0" i="0">
                <a:solidFill>
                  <a:srgbClr val="5A6862"/>
                </a:solidFill>
                <a:latin typeface="Segoe UI"/>
                <a:cs typeface="Segoe UI"/>
              </a:rPr>
              <a:t>al-Bidaya wa'l-Nihaya, vol. 7, p. 33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nd"/>
          <p:cNvSpPr/>
          <p:nvPr/>
        </p:nvSpPr>
        <p:spPr>
          <a:xfrm>
            <a:off x="0" y="0"/>
            <a:ext cx="12191695" cy="1223263"/>
          </a:xfrm>
          <a:prstGeom prst="rect">
            <a:avLst/>
          </a:prstGeom>
          <a:solidFill>
            <a:srgbClr val="104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ule"/>
          <p:cNvSpPr/>
          <p:nvPr/>
        </p:nvSpPr>
        <p:spPr>
          <a:xfrm>
            <a:off x="0" y="1223263"/>
            <a:ext cx="12191695" cy="57150"/>
          </a:xfrm>
          <a:prstGeom prst="rect">
            <a:avLst/>
          </a:prstGeom>
          <a:solidFill>
            <a:srgbClr val="C49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66928" y="91440"/>
            <a:ext cx="11057839" cy="274320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400" b="1" i="0">
                <a:solidFill>
                  <a:srgbClr val="C49A45"/>
                </a:solidFill>
                <a:latin typeface="Segoe UI"/>
                <a:cs typeface="Segoe UI"/>
              </a:rPr>
              <a:t>11–12 AH, ʿAqrabāʾ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02336"/>
            <a:ext cx="11057839" cy="711199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4000" b="1" i="0">
                <a:solidFill>
                  <a:srgbClr val="FAF7F0"/>
                </a:solidFill>
                <a:latin typeface="Georgia"/>
                <a:cs typeface="Arabic Typesetting"/>
              </a:rPr>
              <a:t>Thābit b. Qays ؓ puts on his shroud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824990"/>
            <a:ext cx="11057839" cy="1950720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r" rtl="1">
              <a:lnSpc>
                <a:spcPct val="150000"/>
              </a:lnSpc>
            </a:pPr>
            <a:r>
              <a:rPr lang="ar-SA" sz="4400" b="0" i="0">
                <a:solidFill>
                  <a:srgbClr val="0A322E"/>
                </a:solidFill>
                <a:latin typeface="Traditional Arabic"/>
                <a:cs typeface="Traditional Arabic"/>
              </a:rPr>
              <a:t>هَكَذَا عَنْ وُجُوْهِنَا نُقَارِعُ القَوْمَ … مَا هَكَذَا كُنَّا نُقَاتِلُ مَعَ رَسُوْلِ اللهِ ﷺ.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3903726"/>
            <a:ext cx="1554480" cy="38100"/>
          </a:xfrm>
          <a:prstGeom prst="rect">
            <a:avLst/>
          </a:prstGeom>
          <a:solidFill>
            <a:srgbClr val="C49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66928" y="4214622"/>
            <a:ext cx="11057839" cy="1632204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3000" b="0" i="1">
                <a:solidFill>
                  <a:srgbClr val="1C2321"/>
                </a:solidFill>
                <a:latin typeface="Georgia"/>
                <a:cs typeface="Traditional Arabic"/>
              </a:rPr>
              <a:t>Get out of our faces so we can strike the enemy … This is not how we used to fight alongside the Messenger of Allah ﷺ.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144768"/>
            <a:ext cx="11057839" cy="457200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400" b="0" i="0">
                <a:solidFill>
                  <a:srgbClr val="5A6862"/>
                </a:solidFill>
                <a:latin typeface="Segoe UI"/>
                <a:cs typeface="Segoe UI"/>
              </a:rPr>
              <a:t>Siyar A'lam al-Nubala, vol. 1, p. 311 — Sahih al-Bukhari 2845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nd"/>
          <p:cNvSpPr/>
          <p:nvPr/>
        </p:nvSpPr>
        <p:spPr>
          <a:xfrm>
            <a:off x="0" y="0"/>
            <a:ext cx="12191695" cy="1223263"/>
          </a:xfrm>
          <a:prstGeom prst="rect">
            <a:avLst/>
          </a:prstGeom>
          <a:solidFill>
            <a:srgbClr val="104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ule"/>
          <p:cNvSpPr/>
          <p:nvPr/>
        </p:nvSpPr>
        <p:spPr>
          <a:xfrm>
            <a:off x="0" y="1223263"/>
            <a:ext cx="12191695" cy="57150"/>
          </a:xfrm>
          <a:prstGeom prst="rect">
            <a:avLst/>
          </a:prstGeom>
          <a:solidFill>
            <a:srgbClr val="C49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66928" y="91440"/>
            <a:ext cx="11057839" cy="274320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400" b="1" i="0">
                <a:solidFill>
                  <a:srgbClr val="C49A45"/>
                </a:solidFill>
                <a:latin typeface="Segoe UI"/>
                <a:cs typeface="Arabic Typesetting"/>
              </a:rPr>
              <a:t>Sālim ؓ with the Muhājirūn's banner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02336"/>
            <a:ext cx="11057839" cy="654282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4000" b="1" i="0" dirty="0">
                <a:solidFill>
                  <a:srgbClr val="FAF7F0"/>
                </a:solidFill>
                <a:latin typeface="Georgia"/>
                <a:cs typeface="Georgia"/>
              </a:rPr>
              <a:t>"</a:t>
            </a:r>
            <a:r>
              <a:rPr lang="en-US" sz="4000" b="1" i="0" dirty="0">
                <a:solidFill>
                  <a:srgbClr val="FAF7F0"/>
                </a:solidFill>
                <a:latin typeface="Georgia"/>
                <a:cs typeface="Georgia"/>
              </a:rPr>
              <a:t>Salim mawla Abi Hudaifa R.A</a:t>
            </a:r>
            <a:r>
              <a:rPr sz="4000" b="1" i="0" dirty="0">
                <a:solidFill>
                  <a:srgbClr val="FAF7F0"/>
                </a:solidFill>
                <a:latin typeface="Georgia"/>
                <a:cs typeface="Georgia"/>
              </a:rPr>
              <a:t>"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882140"/>
            <a:ext cx="11057839" cy="2331720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r" rtl="1">
              <a:lnSpc>
                <a:spcPct val="150000"/>
              </a:lnSpc>
            </a:pPr>
            <a:r>
              <a:rPr lang="ar-SA" sz="5400" b="0" i="0">
                <a:solidFill>
                  <a:srgbClr val="0A322E"/>
                </a:solidFill>
                <a:latin typeface="Traditional Arabic"/>
                <a:cs typeface="Traditional Arabic"/>
              </a:rPr>
              <a:t>أتخشى أن نؤتى من قبلك؟ فقال: بئس حامل القرآن أنا إذًا.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4341876"/>
            <a:ext cx="1554480" cy="38100"/>
          </a:xfrm>
          <a:prstGeom prst="rect">
            <a:avLst/>
          </a:prstGeom>
          <a:solidFill>
            <a:srgbClr val="C49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66928" y="4652772"/>
            <a:ext cx="11057839" cy="1136903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3000" b="0" i="1">
                <a:solidFill>
                  <a:srgbClr val="1C2321"/>
                </a:solidFill>
                <a:latin typeface="Georgia"/>
                <a:cs typeface="Georgia"/>
              </a:rPr>
              <a:t>…Do you fear we shall be broken from your side? He said: A wretched bearer of the Qurʾān I should be, then.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144768"/>
            <a:ext cx="11057839" cy="457200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400" b="0" i="0">
                <a:solidFill>
                  <a:srgbClr val="5A6862"/>
                </a:solidFill>
                <a:latin typeface="Segoe UI"/>
                <a:cs typeface="Segoe UI"/>
              </a:rPr>
              <a:t>al-Bidaya wa'l-Nihaya, vol. 7, p. 34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nd"/>
          <p:cNvSpPr/>
          <p:nvPr/>
        </p:nvSpPr>
        <p:spPr>
          <a:xfrm>
            <a:off x="0" y="0"/>
            <a:ext cx="12191695" cy="1223263"/>
          </a:xfrm>
          <a:prstGeom prst="rect">
            <a:avLst/>
          </a:prstGeom>
          <a:solidFill>
            <a:srgbClr val="104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ule"/>
          <p:cNvSpPr/>
          <p:nvPr/>
        </p:nvSpPr>
        <p:spPr>
          <a:xfrm>
            <a:off x="0" y="1223263"/>
            <a:ext cx="12191695" cy="57150"/>
          </a:xfrm>
          <a:prstGeom prst="rect">
            <a:avLst/>
          </a:prstGeom>
          <a:solidFill>
            <a:srgbClr val="C49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66928" y="91440"/>
            <a:ext cx="11057839" cy="274320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400" b="1" i="0">
                <a:solidFill>
                  <a:srgbClr val="C49A45"/>
                </a:solidFill>
                <a:latin typeface="Segoe UI"/>
                <a:cs typeface="Segoe UI"/>
              </a:rPr>
              <a:t>11–12 AH, ʿAqrabāʾ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02336"/>
            <a:ext cx="11057839" cy="711199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4000" b="1" i="0">
                <a:solidFill>
                  <a:srgbClr val="FAF7F0"/>
                </a:solidFill>
                <a:latin typeface="Georgia"/>
                <a:cs typeface="Arabic Typesetting"/>
              </a:rPr>
              <a:t>Zayd b. al-Khaṭṭāb ؓ — "I will not speak"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882140"/>
            <a:ext cx="11057839" cy="2331720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r" rtl="1">
              <a:lnSpc>
                <a:spcPct val="150000"/>
              </a:lnSpc>
            </a:pPr>
            <a:r>
              <a:rPr lang="ar-SA" sz="5400" b="0" i="0">
                <a:solidFill>
                  <a:srgbClr val="0A322E"/>
                </a:solidFill>
                <a:latin typeface="Traditional Arabic"/>
                <a:cs typeface="Traditional Arabic"/>
              </a:rPr>
              <a:t>والله لا أتكلَّمُ حتى يهزمهم اللهُ أو ألقىَ اللهَ فأكلِّمه بحجَّتي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4341876"/>
            <a:ext cx="1554480" cy="38100"/>
          </a:xfrm>
          <a:prstGeom prst="rect">
            <a:avLst/>
          </a:prstGeom>
          <a:solidFill>
            <a:srgbClr val="C49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66928" y="4652772"/>
            <a:ext cx="11057839" cy="1136903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3000" b="0" i="1">
                <a:solidFill>
                  <a:srgbClr val="1C2321"/>
                </a:solidFill>
                <a:latin typeface="Georgia"/>
                <a:cs typeface="Georgia"/>
              </a:rPr>
              <a:t>…By Allah, I will not speak until Allah routs them, or I meet Allah and speak to Him with my case.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144768"/>
            <a:ext cx="11057839" cy="457200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400" b="0" i="0">
                <a:solidFill>
                  <a:srgbClr val="5A6862"/>
                </a:solidFill>
                <a:latin typeface="Segoe UI"/>
                <a:cs typeface="Segoe UI"/>
              </a:rPr>
              <a:t>al-Bidaya wa'l-Nihaya, vol. 7, p. 34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nd"/>
          <p:cNvSpPr/>
          <p:nvPr/>
        </p:nvSpPr>
        <p:spPr>
          <a:xfrm>
            <a:off x="0" y="0"/>
            <a:ext cx="12191695" cy="1223263"/>
          </a:xfrm>
          <a:prstGeom prst="rect">
            <a:avLst/>
          </a:prstGeom>
          <a:solidFill>
            <a:srgbClr val="104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ule"/>
          <p:cNvSpPr/>
          <p:nvPr/>
        </p:nvSpPr>
        <p:spPr>
          <a:xfrm>
            <a:off x="0" y="1223263"/>
            <a:ext cx="12191695" cy="57150"/>
          </a:xfrm>
          <a:prstGeom prst="rect">
            <a:avLst/>
          </a:prstGeom>
          <a:solidFill>
            <a:srgbClr val="C49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66928" y="91440"/>
            <a:ext cx="11057839" cy="274320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400" b="1" i="0">
                <a:solidFill>
                  <a:srgbClr val="C49A45"/>
                </a:solidFill>
                <a:latin typeface="Segoe UI"/>
                <a:cs typeface="Arabic Typesetting"/>
              </a:rPr>
              <a:t>The other wing: Abū Ḥudhayfa ؓ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02336"/>
            <a:ext cx="11057839" cy="711199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4000" b="1" i="0">
                <a:solidFill>
                  <a:srgbClr val="FAF7F0"/>
                </a:solidFill>
                <a:latin typeface="Georgia"/>
                <a:cs typeface="Georgia"/>
              </a:rPr>
              <a:t>"Adorn the Qurʾān with deeds"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2644140"/>
            <a:ext cx="11057839" cy="1303020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r" rtl="1">
              <a:lnSpc>
                <a:spcPct val="150000"/>
              </a:lnSpc>
            </a:pPr>
            <a:r>
              <a:rPr lang="ar-SA" sz="5400" b="0" i="0">
                <a:solidFill>
                  <a:srgbClr val="0A322E"/>
                </a:solidFill>
                <a:latin typeface="Traditional Arabic"/>
                <a:cs typeface="Traditional Arabic"/>
              </a:rPr>
              <a:t>يا أهلَ القرآنِ زيِّنوا القرآنَ بالفِعال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4075176"/>
            <a:ext cx="1554480" cy="38100"/>
          </a:xfrm>
          <a:prstGeom prst="rect">
            <a:avLst/>
          </a:prstGeom>
          <a:solidFill>
            <a:srgbClr val="C49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66928" y="4386072"/>
            <a:ext cx="11057839" cy="641604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3000" b="0" i="1">
                <a:solidFill>
                  <a:srgbClr val="1C2321"/>
                </a:solidFill>
                <a:latin typeface="Georgia"/>
                <a:cs typeface="Georgia"/>
              </a:rPr>
              <a:t>"People of the Qurʾān — adorn the Qurʾān with deeds."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144768"/>
            <a:ext cx="11057839" cy="457200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400" b="0" i="0">
                <a:solidFill>
                  <a:srgbClr val="5A6862"/>
                </a:solidFill>
                <a:latin typeface="Segoe UI"/>
                <a:cs typeface="Segoe UI"/>
              </a:rPr>
              <a:t>al-Bidaya wa'l-Nihaya, vol. 7, p. 34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nd"/>
          <p:cNvSpPr/>
          <p:nvPr/>
        </p:nvSpPr>
        <p:spPr>
          <a:xfrm>
            <a:off x="0" y="0"/>
            <a:ext cx="12191695" cy="1223263"/>
          </a:xfrm>
          <a:prstGeom prst="rect">
            <a:avLst/>
          </a:prstGeom>
          <a:solidFill>
            <a:srgbClr val="104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ule"/>
          <p:cNvSpPr/>
          <p:nvPr/>
        </p:nvSpPr>
        <p:spPr>
          <a:xfrm>
            <a:off x="0" y="1223263"/>
            <a:ext cx="12191695" cy="57150"/>
          </a:xfrm>
          <a:prstGeom prst="rect">
            <a:avLst/>
          </a:prstGeom>
          <a:solidFill>
            <a:srgbClr val="C49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66928" y="91440"/>
            <a:ext cx="11057839" cy="274320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400" b="1" i="0">
                <a:solidFill>
                  <a:srgbClr val="C49A45"/>
                </a:solidFill>
                <a:latin typeface="Segoe UI"/>
                <a:cs typeface="Segoe UI"/>
              </a:rPr>
              <a:t>11–12 AH, ʿAqrabāʾ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02336"/>
            <a:ext cx="11057839" cy="711199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4000" b="1" i="0">
                <a:solidFill>
                  <a:srgbClr val="FAF7F0"/>
                </a:solidFill>
                <a:latin typeface="Georgia"/>
                <a:cs typeface="Arabic Typesetting"/>
              </a:rPr>
              <a:t>Khālid ؓ between the lines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824990"/>
            <a:ext cx="11057839" cy="1950720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r" rtl="1">
              <a:lnSpc>
                <a:spcPct val="150000"/>
              </a:lnSpc>
            </a:pPr>
            <a:r>
              <a:rPr lang="ar-SA" sz="4400" b="0" i="0">
                <a:solidFill>
                  <a:srgbClr val="0A322E"/>
                </a:solidFill>
                <a:latin typeface="Traditional Arabic"/>
                <a:cs typeface="Traditional Arabic"/>
              </a:rPr>
              <a:t>أنا ابن الوليد العَوْد، أنا ابن عامر وزيد … وجعل لا يبرز لهم أحدٌ إلا قتله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3903726"/>
            <a:ext cx="1554480" cy="38100"/>
          </a:xfrm>
          <a:prstGeom prst="rect">
            <a:avLst/>
          </a:prstGeom>
          <a:solidFill>
            <a:srgbClr val="C49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66928" y="4214622"/>
            <a:ext cx="11057839" cy="1632204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3000" b="0" i="1">
                <a:solidFill>
                  <a:srgbClr val="1C2321"/>
                </a:solidFill>
                <a:latin typeface="Georgia"/>
                <a:cs typeface="Georgia"/>
              </a:rPr>
              <a:t>I am the son of al-Walīd the seasoned; I am the son of ʿĀmir and Zayd … and no one came out against him but he killed him.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144768"/>
            <a:ext cx="11057839" cy="457200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400" b="0" i="0">
                <a:solidFill>
                  <a:srgbClr val="5A6862"/>
                </a:solidFill>
                <a:latin typeface="Segoe UI"/>
                <a:cs typeface="Segoe UI"/>
              </a:rPr>
              <a:t>al-Bidaya wa'l-Nihaya, vol. 7, p. 34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nd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04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ule"/>
          <p:cNvSpPr/>
          <p:nvPr/>
        </p:nvSpPr>
        <p:spPr>
          <a:xfrm>
            <a:off x="0" y="1078992"/>
            <a:ext cx="12191695" cy="57150"/>
          </a:xfrm>
          <a:prstGeom prst="rect">
            <a:avLst/>
          </a:prstGeom>
          <a:solidFill>
            <a:srgbClr val="C49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66928" y="182880"/>
            <a:ext cx="11057839" cy="711199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4000" b="1" i="0">
                <a:solidFill>
                  <a:srgbClr val="FAF7F0"/>
                </a:solidFill>
                <a:latin typeface="Georgia"/>
                <a:cs typeface="Georgia"/>
              </a:rPr>
              <a:t>The line re-formed</a:t>
            </a:r>
          </a:p>
        </p:txBody>
      </p:sp>
      <p:sp>
        <p:nvSpPr>
          <p:cNvPr id="6" name="Rectangle 5"/>
          <p:cNvSpPr/>
          <p:nvPr/>
        </p:nvSpPr>
        <p:spPr>
          <a:xfrm>
            <a:off x="8618311" y="1554480"/>
            <a:ext cx="54864" cy="310896"/>
          </a:xfrm>
          <a:prstGeom prst="rect">
            <a:avLst/>
          </a:prstGeom>
          <a:solidFill>
            <a:srgbClr val="C49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819479" y="1499616"/>
            <a:ext cx="2805288" cy="457200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800" b="1" i="0">
                <a:solidFill>
                  <a:srgbClr val="0A322E"/>
                </a:solidFill>
                <a:latin typeface="Georgia"/>
                <a:cs typeface="Georgia"/>
              </a:rPr>
              <a:t>Clan by clan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19479" y="1920240"/>
            <a:ext cx="2805288" cy="4306824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400" b="0" i="0">
                <a:solidFill>
                  <a:srgbClr val="5A6862"/>
                </a:solidFill>
                <a:latin typeface="Segoe UI"/>
                <a:cs typeface="Segoe UI"/>
              </a:rPr>
              <a:t>Muhājirūn, Anṣār, the tribes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AAD199E0-8065-AF96-D755-D6338C7951E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507355"/>
            <a:ext cx="8355584" cy="4700016"/>
          </a:xfrm>
          <a:prstGeom prst="rect">
            <a:avLst/>
          </a:prstGeom>
        </p:spPr>
      </p:pic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nd"/>
          <p:cNvSpPr/>
          <p:nvPr/>
        </p:nvSpPr>
        <p:spPr>
          <a:xfrm>
            <a:off x="0" y="0"/>
            <a:ext cx="12191695" cy="1223263"/>
          </a:xfrm>
          <a:prstGeom prst="rect">
            <a:avLst/>
          </a:prstGeom>
          <a:solidFill>
            <a:srgbClr val="104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ule"/>
          <p:cNvSpPr/>
          <p:nvPr/>
        </p:nvSpPr>
        <p:spPr>
          <a:xfrm>
            <a:off x="0" y="1223263"/>
            <a:ext cx="12191695" cy="57150"/>
          </a:xfrm>
          <a:prstGeom prst="rect">
            <a:avLst/>
          </a:prstGeom>
          <a:solidFill>
            <a:srgbClr val="C49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66928" y="91440"/>
            <a:ext cx="11057839" cy="274320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400" b="1" i="0">
                <a:solidFill>
                  <a:srgbClr val="C49A45"/>
                </a:solidFill>
                <a:latin typeface="Segoe UI"/>
                <a:cs typeface="Segoe UI"/>
              </a:rPr>
              <a:t>11–12 AH, ʿAqrabāʾ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02336"/>
            <a:ext cx="11057839" cy="711199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4000" b="1" i="0">
                <a:solidFill>
                  <a:srgbClr val="FAF7F0"/>
                </a:solidFill>
                <a:latin typeface="Georgia"/>
                <a:cs typeface="Georgia"/>
              </a:rPr>
              <a:t>Every clan under its own banner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824990"/>
            <a:ext cx="11057839" cy="1950720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r" rtl="1">
              <a:lnSpc>
                <a:spcPct val="150000"/>
              </a:lnSpc>
            </a:pPr>
            <a:r>
              <a:rPr lang="ar-SA" sz="4400" b="0" i="0">
                <a:solidFill>
                  <a:srgbClr val="0A322E"/>
                </a:solidFill>
                <a:latin typeface="Traditional Arabic"/>
                <a:cs typeface="Traditional Arabic"/>
              </a:rPr>
              <a:t>امْتَازُوا أَيُّهَا النَّاسُ لِنَعْلَمَ بَلَاءَ كُلِّ حَيٍّ … قَالَ بَعْضُهُمْ لِبَعْضٍ: الْيَوْمَ يُسْتَحَى مِنَ الْفِرَارِ.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3903726"/>
            <a:ext cx="1554480" cy="38100"/>
          </a:xfrm>
          <a:prstGeom prst="rect">
            <a:avLst/>
          </a:prstGeom>
          <a:solidFill>
            <a:srgbClr val="C49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66928" y="4214622"/>
            <a:ext cx="11057839" cy="1632204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3000" b="0" i="1">
                <a:solidFill>
                  <a:srgbClr val="1C2321"/>
                </a:solidFill>
                <a:latin typeface="Georgia"/>
                <a:cs typeface="Georgia"/>
              </a:rPr>
              <a:t>Separate out, people, so we may know what each clan is worth … they said to one another: Today, running is shameful.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144768"/>
            <a:ext cx="11057839" cy="457200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400" b="0" i="0">
                <a:solidFill>
                  <a:srgbClr val="5A6862"/>
                </a:solidFill>
                <a:latin typeface="Segoe UI"/>
                <a:cs typeface="Segoe UI"/>
              </a:rPr>
              <a:t>al-Kamil, vol. 2, p. 217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nd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04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ule"/>
          <p:cNvSpPr/>
          <p:nvPr/>
        </p:nvSpPr>
        <p:spPr>
          <a:xfrm>
            <a:off x="0" y="1078992"/>
            <a:ext cx="12191695" cy="57150"/>
          </a:xfrm>
          <a:prstGeom prst="rect">
            <a:avLst/>
          </a:prstGeom>
          <a:solidFill>
            <a:srgbClr val="C49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66928" y="182880"/>
            <a:ext cx="11057839" cy="711199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4000" b="1" i="0">
                <a:solidFill>
                  <a:srgbClr val="FAF7F0"/>
                </a:solidFill>
                <a:latin typeface="Georgia"/>
                <a:cs typeface="Georgia"/>
              </a:rPr>
              <a:t>Tonight on the Line</a:t>
            </a:r>
          </a:p>
        </p:txBody>
      </p:sp>
      <p:pic>
        <p:nvPicPr>
          <p:cNvPr id="5" name="Picture 4" descr="line_s04_stop_c.tri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62354" y="1389888"/>
            <a:ext cx="8466986" cy="4956048"/>
          </a:xfrm>
          <a:prstGeom prst="rect">
            <a:avLst/>
          </a:prstGeom>
        </p:spPr>
      </p:pic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nd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04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ule"/>
          <p:cNvSpPr/>
          <p:nvPr/>
        </p:nvSpPr>
        <p:spPr>
          <a:xfrm>
            <a:off x="0" y="1078992"/>
            <a:ext cx="12191695" cy="57150"/>
          </a:xfrm>
          <a:prstGeom prst="rect">
            <a:avLst/>
          </a:prstGeom>
          <a:solidFill>
            <a:srgbClr val="C49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66928" y="182880"/>
            <a:ext cx="11057839" cy="711199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4000" b="1" i="0">
                <a:solidFill>
                  <a:srgbClr val="FAF7F0"/>
                </a:solidFill>
                <a:latin typeface="Georgia"/>
                <a:cs typeface="Georgia"/>
              </a:rPr>
              <a:t>Where we stand</a:t>
            </a:r>
          </a:p>
        </p:txBody>
      </p:sp>
      <p:sp>
        <p:nvSpPr>
          <p:cNvPr id="6" name="Rectangle 5"/>
          <p:cNvSpPr/>
          <p:nvPr/>
        </p:nvSpPr>
        <p:spPr>
          <a:xfrm>
            <a:off x="8618311" y="1554480"/>
            <a:ext cx="54864" cy="310896"/>
          </a:xfrm>
          <a:prstGeom prst="rect">
            <a:avLst/>
          </a:prstGeom>
          <a:solidFill>
            <a:srgbClr val="C49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819479" y="1499616"/>
            <a:ext cx="2805288" cy="457200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800" b="1" i="0">
                <a:solidFill>
                  <a:srgbClr val="0A322E"/>
                </a:solidFill>
                <a:latin typeface="Georgia"/>
                <a:cs typeface="Georgia"/>
              </a:rPr>
              <a:t>ʿAqrabāʾ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19479" y="1920240"/>
            <a:ext cx="2805288" cy="1943100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400" b="0" i="0">
                <a:solidFill>
                  <a:srgbClr val="5A6862"/>
                </a:solidFill>
                <a:latin typeface="Segoe UI"/>
                <a:cs typeface="Segoe UI"/>
              </a:rPr>
              <a:t>the line re-formed</a:t>
            </a:r>
          </a:p>
        </p:txBody>
      </p:sp>
      <p:sp>
        <p:nvSpPr>
          <p:cNvPr id="9" name="Rectangle 8"/>
          <p:cNvSpPr/>
          <p:nvPr/>
        </p:nvSpPr>
        <p:spPr>
          <a:xfrm>
            <a:off x="8618311" y="3918204"/>
            <a:ext cx="54864" cy="310896"/>
          </a:xfrm>
          <a:prstGeom prst="rect">
            <a:avLst/>
          </a:prstGeom>
          <a:solidFill>
            <a:srgbClr val="C49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819479" y="3863340"/>
            <a:ext cx="2805288" cy="457200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800" b="1" i="0">
                <a:solidFill>
                  <a:srgbClr val="0A322E"/>
                </a:solidFill>
                <a:latin typeface="Georgia"/>
                <a:cs typeface="Georgia"/>
              </a:rPr>
              <a:t>Ḥajr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19479" y="4283964"/>
            <a:ext cx="2805288" cy="1943100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400" b="0" i="0">
                <a:solidFill>
                  <a:srgbClr val="5A6862"/>
                </a:solidFill>
                <a:latin typeface="Segoe UI"/>
                <a:cs typeface="Segoe UI"/>
              </a:rPr>
              <a:t>the town behind them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E245BB74-97D9-5A64-DCC8-0070CA9F5C6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507355"/>
            <a:ext cx="8355584" cy="4700016"/>
          </a:xfrm>
          <a:prstGeom prst="rect">
            <a:avLst/>
          </a:prstGeom>
        </p:spPr>
      </p:pic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nd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04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ule"/>
          <p:cNvSpPr/>
          <p:nvPr/>
        </p:nvSpPr>
        <p:spPr>
          <a:xfrm>
            <a:off x="0" y="1078992"/>
            <a:ext cx="12191695" cy="57150"/>
          </a:xfrm>
          <a:prstGeom prst="rect">
            <a:avLst/>
          </a:prstGeom>
          <a:solidFill>
            <a:srgbClr val="C49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66928" y="182880"/>
            <a:ext cx="11057839" cy="711199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4000" b="1" i="0">
                <a:solidFill>
                  <a:srgbClr val="FAF7F0"/>
                </a:solidFill>
                <a:latin typeface="Georgia"/>
                <a:cs typeface="Georgia"/>
              </a:rPr>
              <a:t>Tonight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545336"/>
            <a:ext cx="64008" cy="420624"/>
          </a:xfrm>
          <a:prstGeom prst="rect">
            <a:avLst/>
          </a:prstGeom>
          <a:solidFill>
            <a:srgbClr val="C49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77824" y="1499616"/>
            <a:ext cx="10746943" cy="477438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lang="en-US" sz="2800" b="0" i="0" dirty="0" err="1">
                <a:solidFill>
                  <a:srgbClr val="1C2321"/>
                </a:solidFill>
                <a:latin typeface="Georgia"/>
                <a:cs typeface="Georgia"/>
              </a:rPr>
              <a:t>Musalyma</a:t>
            </a:r>
            <a:r>
              <a:rPr lang="en-US" sz="2800" b="0" i="0" dirty="0">
                <a:solidFill>
                  <a:srgbClr val="1C2321"/>
                </a:solidFill>
                <a:latin typeface="Georgia"/>
                <a:cs typeface="Georgia"/>
              </a:rPr>
              <a:t> asks for half of Arabia</a:t>
            </a:r>
            <a:endParaRPr sz="2800" b="0" i="0" dirty="0">
              <a:solidFill>
                <a:srgbClr val="1C2321"/>
              </a:solidFill>
              <a:latin typeface="Georgia"/>
              <a:cs typeface="Georgia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566928" y="2727198"/>
            <a:ext cx="64008" cy="420624"/>
          </a:xfrm>
          <a:prstGeom prst="rect">
            <a:avLst/>
          </a:prstGeom>
          <a:solidFill>
            <a:srgbClr val="C49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77824" y="2681478"/>
            <a:ext cx="10746943" cy="1003095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lang="en-US" sz="2800" b="0" i="0" dirty="0">
                <a:solidFill>
                  <a:srgbClr val="1C2321"/>
                </a:solidFill>
                <a:latin typeface="Georgia"/>
                <a:cs typeface="Georgia"/>
              </a:rPr>
              <a:t>Abu Bakr R.A</a:t>
            </a:r>
            <a:r>
              <a:rPr sz="2800" b="0" i="0" dirty="0">
                <a:solidFill>
                  <a:srgbClr val="1C2321"/>
                </a:solidFill>
                <a:latin typeface="Georgia"/>
                <a:cs typeface="Georgia"/>
              </a:rPr>
              <a:t> </a:t>
            </a:r>
            <a:r>
              <a:rPr lang="en-US" sz="2800" b="0" i="0" dirty="0">
                <a:solidFill>
                  <a:srgbClr val="1C2321"/>
                </a:solidFill>
                <a:latin typeface="Georgia"/>
                <a:cs typeface="Georgia"/>
              </a:rPr>
              <a:t>accepted that Khalid R.A had erred</a:t>
            </a:r>
            <a:r>
              <a:rPr sz="2800" b="0" i="0" dirty="0">
                <a:solidFill>
                  <a:srgbClr val="1C2321"/>
                </a:solidFill>
                <a:latin typeface="Georgia"/>
                <a:cs typeface="Georgia"/>
              </a:rPr>
              <a:t>, paid </a:t>
            </a:r>
            <a:r>
              <a:rPr lang="en-US" sz="2800" b="0" i="0" dirty="0">
                <a:solidFill>
                  <a:srgbClr val="1C2321"/>
                </a:solidFill>
                <a:latin typeface="Georgia"/>
                <a:cs typeface="Georgia"/>
              </a:rPr>
              <a:t>blood money</a:t>
            </a:r>
            <a:r>
              <a:rPr sz="2800" b="0" i="0" dirty="0">
                <a:solidFill>
                  <a:srgbClr val="1C2321"/>
                </a:solidFill>
                <a:latin typeface="Georgia"/>
                <a:cs typeface="Georgia"/>
              </a:rPr>
              <a:t>, </a:t>
            </a:r>
            <a:r>
              <a:rPr lang="en-US" sz="2800" dirty="0">
                <a:solidFill>
                  <a:srgbClr val="1C2321"/>
                </a:solidFill>
                <a:latin typeface="Georgia"/>
                <a:cs typeface="Georgia"/>
              </a:rPr>
              <a:t>but didn’t remove him</a:t>
            </a:r>
            <a:endParaRPr sz="2800" b="0" i="0" dirty="0">
              <a:solidFill>
                <a:srgbClr val="1C2321"/>
              </a:solidFill>
              <a:latin typeface="Georgia"/>
              <a:cs typeface="Georgia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566928" y="3909060"/>
            <a:ext cx="64008" cy="420624"/>
          </a:xfrm>
          <a:prstGeom prst="rect">
            <a:avLst/>
          </a:prstGeom>
          <a:solidFill>
            <a:srgbClr val="C49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77824" y="3863340"/>
            <a:ext cx="10746943" cy="1181862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2800" b="0" i="0" dirty="0">
                <a:solidFill>
                  <a:srgbClr val="1C2321"/>
                </a:solidFill>
                <a:latin typeface="Georgia"/>
                <a:cs typeface="Georgia"/>
              </a:rPr>
              <a:t>When the line broke, what re-formed it was what the men had </a:t>
            </a:r>
            <a:r>
              <a:rPr sz="2800" b="0" i="0" dirty="0" err="1">
                <a:solidFill>
                  <a:srgbClr val="1C2321"/>
                </a:solidFill>
                <a:latin typeface="Georgia"/>
                <a:cs typeface="Georgia"/>
              </a:rPr>
              <a:t>memorised</a:t>
            </a:r>
            <a:r>
              <a:rPr sz="2800" b="0" i="0" dirty="0">
                <a:solidFill>
                  <a:srgbClr val="1C2321"/>
                </a:solidFill>
                <a:latin typeface="Georgia"/>
                <a:cs typeface="Georgia"/>
              </a:rPr>
              <a:t>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66928" y="5090922"/>
            <a:ext cx="64008" cy="420624"/>
          </a:xfrm>
          <a:prstGeom prst="rect">
            <a:avLst/>
          </a:prstGeom>
          <a:solidFill>
            <a:srgbClr val="C49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77824" y="5045202"/>
            <a:ext cx="10746943" cy="477438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lang="en-US" sz="2800" b="0" i="0" dirty="0">
                <a:solidFill>
                  <a:srgbClr val="1C2321"/>
                </a:solidFill>
                <a:latin typeface="Georgia"/>
                <a:cs typeface="Georgia"/>
              </a:rPr>
              <a:t>Banu Hanifa go to the garden of death</a:t>
            </a:r>
            <a:endParaRPr sz="2800" b="0" i="0" dirty="0">
              <a:solidFill>
                <a:srgbClr val="1C2321"/>
              </a:solidFill>
              <a:latin typeface="Georgia"/>
              <a:cs typeface="Georgia"/>
            </a:endParaRP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2651760"/>
            <a:ext cx="12191695" cy="1554480"/>
          </a:xfrm>
          <a:prstGeom prst="rect">
            <a:avLst/>
          </a:prstGeom>
          <a:solidFill>
            <a:srgbClr val="FAF7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2651760"/>
            <a:ext cx="114300" cy="1554480"/>
          </a:xfrm>
          <a:prstGeom prst="rect">
            <a:avLst/>
          </a:prstGeom>
          <a:solidFill>
            <a:srgbClr val="C49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68680" y="2788920"/>
            <a:ext cx="10728655" cy="731520"/>
          </a:xfrm>
          <a:prstGeom prst="rect">
            <a:avLst/>
          </a:prstGeom>
          <a:noFill/>
        </p:spPr>
        <p:txBody>
          <a:bodyPr wrap="square" lIns="36576" tIns="0" rIns="36576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4600" b="1" i="0">
                <a:solidFill>
                  <a:srgbClr val="0A322E"/>
                </a:solidFill>
                <a:latin typeface="Georgia"/>
                <a:cs typeface="Georgia"/>
              </a:rPr>
              <a:t>Part V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3520440"/>
            <a:ext cx="10728655" cy="548640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800" b="0" i="0">
                <a:solidFill>
                  <a:srgbClr val="5A6862"/>
                </a:solidFill>
                <a:latin typeface="Segoe UI"/>
                <a:cs typeface="Segoe UI"/>
              </a:rPr>
              <a:t>The day decided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nd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04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ule"/>
          <p:cNvSpPr/>
          <p:nvPr/>
        </p:nvSpPr>
        <p:spPr>
          <a:xfrm>
            <a:off x="0" y="1078992"/>
            <a:ext cx="12191695" cy="57150"/>
          </a:xfrm>
          <a:prstGeom prst="rect">
            <a:avLst/>
          </a:prstGeom>
          <a:solidFill>
            <a:srgbClr val="C49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66928" y="182880"/>
            <a:ext cx="11057839" cy="711199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4000" b="1" i="0">
                <a:solidFill>
                  <a:srgbClr val="FAF7F0"/>
                </a:solidFill>
                <a:latin typeface="Georgia"/>
                <a:cs typeface="Georgia"/>
              </a:rPr>
              <a:t>Into the garden</a:t>
            </a:r>
          </a:p>
        </p:txBody>
      </p:sp>
      <p:sp>
        <p:nvSpPr>
          <p:cNvPr id="6" name="Rectangle 5"/>
          <p:cNvSpPr/>
          <p:nvPr/>
        </p:nvSpPr>
        <p:spPr>
          <a:xfrm>
            <a:off x="8618311" y="1554480"/>
            <a:ext cx="54864" cy="310896"/>
          </a:xfrm>
          <a:prstGeom prst="rect">
            <a:avLst/>
          </a:prstGeom>
          <a:solidFill>
            <a:srgbClr val="C49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819479" y="1499616"/>
            <a:ext cx="2805288" cy="457200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800" b="1" i="0">
                <a:solidFill>
                  <a:srgbClr val="0A322E"/>
                </a:solidFill>
                <a:latin typeface="Georgia"/>
                <a:cs typeface="Georgia"/>
              </a:rPr>
              <a:t>The garden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19479" y="1920240"/>
            <a:ext cx="2805288" cy="4306824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400" b="0" i="0">
                <a:solidFill>
                  <a:srgbClr val="5A6862"/>
                </a:solidFill>
                <a:latin typeface="Segoe UI"/>
                <a:cs typeface="Segoe UI"/>
              </a:rPr>
              <a:t>the gate shut behind them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3098DE3B-4133-05BD-4D2E-60272A07A31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419156"/>
            <a:ext cx="8481120" cy="4770630"/>
          </a:xfrm>
          <a:prstGeom prst="rect">
            <a:avLst/>
          </a:prstGeom>
        </p:spPr>
      </p:pic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nd"/>
          <p:cNvSpPr/>
          <p:nvPr/>
        </p:nvSpPr>
        <p:spPr>
          <a:xfrm>
            <a:off x="0" y="0"/>
            <a:ext cx="12191695" cy="1223263"/>
          </a:xfrm>
          <a:prstGeom prst="rect">
            <a:avLst/>
          </a:prstGeom>
          <a:solidFill>
            <a:srgbClr val="104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ule"/>
          <p:cNvSpPr/>
          <p:nvPr/>
        </p:nvSpPr>
        <p:spPr>
          <a:xfrm>
            <a:off x="0" y="1223263"/>
            <a:ext cx="12191695" cy="57150"/>
          </a:xfrm>
          <a:prstGeom prst="rect">
            <a:avLst/>
          </a:prstGeom>
          <a:solidFill>
            <a:srgbClr val="C49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66928" y="91440"/>
            <a:ext cx="11057839" cy="274320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400" b="1" i="0">
                <a:solidFill>
                  <a:srgbClr val="C49A45"/>
                </a:solidFill>
                <a:latin typeface="Segoe UI"/>
                <a:cs typeface="Segoe UI"/>
              </a:rPr>
              <a:t>11–12 AH, ʿAqrabāʾ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02336"/>
            <a:ext cx="11057839" cy="711199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4000" b="1" i="0">
                <a:solidFill>
                  <a:srgbClr val="FAF7F0"/>
                </a:solidFill>
                <a:latin typeface="Georgia"/>
                <a:cs typeface="Georgia"/>
              </a:rPr>
              <a:t>«The garden, the garden!»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824990"/>
            <a:ext cx="11057839" cy="1950720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r" rtl="1">
              <a:lnSpc>
                <a:spcPct val="150000"/>
              </a:lnSpc>
            </a:pPr>
            <a:r>
              <a:rPr lang="ar-SA" sz="4400" b="0" i="0">
                <a:solidFill>
                  <a:srgbClr val="0A322E"/>
                </a:solidFill>
                <a:latin typeface="Traditional Arabic"/>
                <a:cs typeface="Traditional Arabic"/>
              </a:rPr>
              <a:t>وَنَادَى الْمُحَكَّمُ: يَا بَنِي حَنِيفَةَ، الْحَدِيقَةَ الْحَدِيقَةَ! فَدَخَلُوهَا وَأَغْلَقُوا عَلَيْهِمْ بَابَهَا.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3903726"/>
            <a:ext cx="1554480" cy="38100"/>
          </a:xfrm>
          <a:prstGeom prst="rect">
            <a:avLst/>
          </a:prstGeom>
          <a:solidFill>
            <a:srgbClr val="C49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66928" y="4214622"/>
            <a:ext cx="11057839" cy="1632204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3000" b="0" i="1">
                <a:solidFill>
                  <a:srgbClr val="1C2321"/>
                </a:solidFill>
                <a:latin typeface="Georgia"/>
                <a:cs typeface="Georgia"/>
              </a:rPr>
              <a:t>"And al-Muḥakkam called out: Banū Ḥanīfa — the garden, the garden! So they went into it and barred its gate behind them."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144768"/>
            <a:ext cx="11057839" cy="457200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400" b="0" i="0">
                <a:solidFill>
                  <a:srgbClr val="5A6862"/>
                </a:solidFill>
                <a:latin typeface="Segoe UI"/>
                <a:cs typeface="Segoe UI"/>
              </a:rPr>
              <a:t>al-Kamil, vol. 2, p. 217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nd"/>
          <p:cNvSpPr/>
          <p:nvPr/>
        </p:nvSpPr>
        <p:spPr>
          <a:xfrm>
            <a:off x="0" y="0"/>
            <a:ext cx="12191695" cy="1223263"/>
          </a:xfrm>
          <a:prstGeom prst="rect">
            <a:avLst/>
          </a:prstGeom>
          <a:solidFill>
            <a:srgbClr val="104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ule"/>
          <p:cNvSpPr/>
          <p:nvPr/>
        </p:nvSpPr>
        <p:spPr>
          <a:xfrm>
            <a:off x="0" y="1223263"/>
            <a:ext cx="12191695" cy="57150"/>
          </a:xfrm>
          <a:prstGeom prst="rect">
            <a:avLst/>
          </a:prstGeom>
          <a:solidFill>
            <a:srgbClr val="C49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66928" y="91440"/>
            <a:ext cx="11057839" cy="274320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400" b="1" i="0">
                <a:solidFill>
                  <a:srgbClr val="C49A45"/>
                </a:solidFill>
                <a:latin typeface="Segoe UI"/>
                <a:cs typeface="Segoe UI"/>
              </a:rPr>
              <a:t>11–12 AH, ʿAqrabāʾ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02336"/>
            <a:ext cx="11057839" cy="711199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4000" b="1" i="0">
                <a:solidFill>
                  <a:srgbClr val="FAF7F0"/>
                </a:solidFill>
                <a:latin typeface="Georgia"/>
                <a:cs typeface="Georgia"/>
              </a:rPr>
              <a:t>Ḥadīqat al-Mawt — over the wall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653540"/>
            <a:ext cx="11057839" cy="2788920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r" rtl="1">
              <a:lnSpc>
                <a:spcPct val="150000"/>
              </a:lnSpc>
            </a:pPr>
            <a:r>
              <a:rPr lang="ar-SA" sz="4400" b="0" i="0">
                <a:solidFill>
                  <a:srgbClr val="0A322E"/>
                </a:solidFill>
                <a:latin typeface="Traditional Arabic"/>
                <a:cs typeface="Traditional Arabic"/>
              </a:rPr>
              <a:t>يَا مَعْشَرَ الْمُسْلِمِينَ، أَلْقُونِي عَلَيْهِمْ فِي الْحَدِيقَةِ. فَقَالُوا: لَا نَفْعَلُ، فَقَالَ: وَاللَّهِ لَتَطْرَحُنَّنِي عَلَيْهِمْ بِهَا! … وَقَاتَلَ عَلَى الْبَابِ وَفَتَحَهُ لِلْمُسْلِمِينَ.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4570476"/>
            <a:ext cx="1554480" cy="38100"/>
          </a:xfrm>
          <a:prstGeom prst="rect">
            <a:avLst/>
          </a:prstGeom>
          <a:solidFill>
            <a:srgbClr val="C49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66928" y="4881372"/>
            <a:ext cx="11057839" cy="1136903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3000" b="0" i="1">
                <a:solidFill>
                  <a:srgbClr val="1C2321"/>
                </a:solidFill>
                <a:latin typeface="Georgia"/>
                <a:cs typeface="Georgia"/>
              </a:rPr>
              <a:t>"Company of Muslims — throw me over onto them into the garden. They said: we will not…"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144768"/>
            <a:ext cx="11057839" cy="457200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400" b="0" i="0">
                <a:solidFill>
                  <a:srgbClr val="5A6862"/>
                </a:solidFill>
                <a:latin typeface="Segoe UI"/>
                <a:cs typeface="Segoe UI"/>
              </a:rPr>
              <a:t>al-Kamil, vol. 2, p. 218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nd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04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ule"/>
          <p:cNvSpPr/>
          <p:nvPr/>
        </p:nvSpPr>
        <p:spPr>
          <a:xfrm>
            <a:off x="0" y="1078992"/>
            <a:ext cx="12191695" cy="57150"/>
          </a:xfrm>
          <a:prstGeom prst="rect">
            <a:avLst/>
          </a:prstGeom>
          <a:solidFill>
            <a:srgbClr val="C49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66928" y="182880"/>
            <a:ext cx="11057839" cy="711199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4000" b="1" i="0">
                <a:solidFill>
                  <a:srgbClr val="FAF7F0"/>
                </a:solidFill>
                <a:latin typeface="Georgia"/>
                <a:cs typeface="Georgia"/>
              </a:rPr>
              <a:t>The gate opens</a:t>
            </a:r>
          </a:p>
        </p:txBody>
      </p:sp>
      <p:sp>
        <p:nvSpPr>
          <p:cNvPr id="6" name="Rectangle 5"/>
          <p:cNvSpPr/>
          <p:nvPr/>
        </p:nvSpPr>
        <p:spPr>
          <a:xfrm>
            <a:off x="8618311" y="1554480"/>
            <a:ext cx="54864" cy="310896"/>
          </a:xfrm>
          <a:prstGeom prst="rect">
            <a:avLst/>
          </a:prstGeom>
          <a:solidFill>
            <a:srgbClr val="C49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819479" y="1499616"/>
            <a:ext cx="2805288" cy="457200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800" b="1" i="0">
                <a:solidFill>
                  <a:srgbClr val="0A322E"/>
                </a:solidFill>
                <a:latin typeface="Georgia"/>
                <a:cs typeface="Arabic Typesetting"/>
              </a:rPr>
              <a:t>al-Barāʾ 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19479" y="1920240"/>
            <a:ext cx="2805288" cy="1943100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400" b="0" i="0">
                <a:solidFill>
                  <a:srgbClr val="5A6862"/>
                </a:solidFill>
                <a:latin typeface="Segoe UI"/>
                <a:cs typeface="Segoe UI"/>
              </a:rPr>
              <a:t>over the wall, and the gate</a:t>
            </a:r>
          </a:p>
        </p:txBody>
      </p:sp>
      <p:sp>
        <p:nvSpPr>
          <p:cNvPr id="9" name="Rectangle 8"/>
          <p:cNvSpPr/>
          <p:nvPr/>
        </p:nvSpPr>
        <p:spPr>
          <a:xfrm>
            <a:off x="8618311" y="3918204"/>
            <a:ext cx="54864" cy="310896"/>
          </a:xfrm>
          <a:prstGeom prst="rect">
            <a:avLst/>
          </a:prstGeom>
          <a:solidFill>
            <a:srgbClr val="C49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819479" y="3863340"/>
            <a:ext cx="2805288" cy="457200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800" b="1" i="0">
                <a:solidFill>
                  <a:srgbClr val="0A322E"/>
                </a:solidFill>
                <a:latin typeface="Georgia"/>
                <a:cs typeface="Georgia"/>
              </a:rPr>
              <a:t>al-Yamāma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19479" y="4283964"/>
            <a:ext cx="2805288" cy="1943100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400" b="0" i="0">
                <a:solidFill>
                  <a:srgbClr val="5A6862"/>
                </a:solidFill>
                <a:latin typeface="Segoe UI"/>
                <a:cs typeface="Segoe UI"/>
              </a:rPr>
              <a:t>taken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16B40627-37D3-210F-6AD6-2CEE5856915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564957"/>
            <a:ext cx="8472007" cy="4765504"/>
          </a:xfrm>
          <a:prstGeom prst="rect">
            <a:avLst/>
          </a:prstGeom>
        </p:spPr>
      </p:pic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nd"/>
          <p:cNvSpPr/>
          <p:nvPr/>
        </p:nvSpPr>
        <p:spPr>
          <a:xfrm>
            <a:off x="0" y="0"/>
            <a:ext cx="12191695" cy="1223263"/>
          </a:xfrm>
          <a:prstGeom prst="rect">
            <a:avLst/>
          </a:prstGeom>
          <a:solidFill>
            <a:srgbClr val="104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ule"/>
          <p:cNvSpPr/>
          <p:nvPr/>
        </p:nvSpPr>
        <p:spPr>
          <a:xfrm>
            <a:off x="0" y="1223263"/>
            <a:ext cx="12191695" cy="57150"/>
          </a:xfrm>
          <a:prstGeom prst="rect">
            <a:avLst/>
          </a:prstGeom>
          <a:solidFill>
            <a:srgbClr val="C49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66928" y="91440"/>
            <a:ext cx="11057839" cy="274320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400" b="1" i="0">
                <a:solidFill>
                  <a:srgbClr val="C49A45"/>
                </a:solidFill>
                <a:latin typeface="Segoe UI"/>
                <a:cs typeface="Segoe UI"/>
              </a:rPr>
              <a:t>11–12 AH, ʿAqrabāʾ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02336"/>
            <a:ext cx="11057839" cy="711199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4000" b="1" i="0">
                <a:solidFill>
                  <a:srgbClr val="FAF7F0"/>
                </a:solidFill>
                <a:latin typeface="Georgia"/>
                <a:cs typeface="Georgia"/>
              </a:rPr>
              <a:t>The death of Musaylima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824990"/>
            <a:ext cx="11057839" cy="1950720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r" rtl="1">
              <a:lnSpc>
                <a:spcPct val="150000"/>
              </a:lnSpc>
            </a:pPr>
            <a:r>
              <a:rPr lang="ar-SA" sz="4400" b="0" i="0">
                <a:solidFill>
                  <a:srgbClr val="0A322E"/>
                </a:solidFill>
                <a:latin typeface="Traditional Arabic"/>
                <a:cs typeface="Traditional Arabic"/>
              </a:rPr>
              <a:t>وَعَنْ وَحْشِيٍّ، قَالَ: لَمْ أَرَ قَطُّ أَصْبَرَ عَلَى الْمَوْتِ مِنْ أَصْحَابِ مُسَيْلِمَةَ، ثُمَّ ذَكَرَ أَنَّهُ شَارَكَ فِي قَتْلِ مُسَيْلِمَةَ.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3903726"/>
            <a:ext cx="1554480" cy="38100"/>
          </a:xfrm>
          <a:prstGeom prst="rect">
            <a:avLst/>
          </a:prstGeom>
          <a:solidFill>
            <a:srgbClr val="C49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66928" y="4214622"/>
            <a:ext cx="11057839" cy="1632204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3000" b="0" i="1">
                <a:solidFill>
                  <a:srgbClr val="1C2321"/>
                </a:solidFill>
                <a:latin typeface="Georgia"/>
                <a:cs typeface="Georgia"/>
              </a:rPr>
              <a:t>"From Waḥshī: I never saw men more steadfast in the face of death than Musaylima's companions — then he mentioned that he had a share in killing Musaylima."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144768"/>
            <a:ext cx="11057839" cy="457200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400" b="0" i="0">
                <a:solidFill>
                  <a:srgbClr val="5A6862"/>
                </a:solidFill>
                <a:latin typeface="Segoe UI"/>
                <a:cs typeface="Segoe UI"/>
              </a:rPr>
              <a:t>Siyar A'lam al-Nubala, p. 48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nd"/>
          <p:cNvSpPr/>
          <p:nvPr/>
        </p:nvSpPr>
        <p:spPr>
          <a:xfrm>
            <a:off x="0" y="0"/>
            <a:ext cx="12191695" cy="1223263"/>
          </a:xfrm>
          <a:prstGeom prst="rect">
            <a:avLst/>
          </a:prstGeom>
          <a:solidFill>
            <a:srgbClr val="104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ule"/>
          <p:cNvSpPr/>
          <p:nvPr/>
        </p:nvSpPr>
        <p:spPr>
          <a:xfrm>
            <a:off x="0" y="1223263"/>
            <a:ext cx="12191695" cy="57150"/>
          </a:xfrm>
          <a:prstGeom prst="rect">
            <a:avLst/>
          </a:prstGeom>
          <a:solidFill>
            <a:srgbClr val="C49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66928" y="91440"/>
            <a:ext cx="11057839" cy="274320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400" b="1" i="0">
                <a:solidFill>
                  <a:srgbClr val="C49A45"/>
                </a:solidFill>
                <a:latin typeface="Segoe UI"/>
                <a:cs typeface="Segoe UI"/>
              </a:rPr>
              <a:t>12 AH, the forts of al-Yamāma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02336"/>
            <a:ext cx="11057839" cy="654282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lang="en-US" sz="4000" b="1" i="0" dirty="0" err="1">
                <a:solidFill>
                  <a:srgbClr val="FAF7F0"/>
                </a:solidFill>
                <a:latin typeface="Georgia"/>
                <a:cs typeface="Georgia"/>
              </a:rPr>
              <a:t>Mujja’a</a:t>
            </a:r>
            <a:r>
              <a:rPr lang="en-US" sz="4000" b="1" i="0" dirty="0">
                <a:solidFill>
                  <a:srgbClr val="FAF7F0"/>
                </a:solidFill>
                <a:latin typeface="Georgia"/>
                <a:cs typeface="Georgia"/>
              </a:rPr>
              <a:t> and the treaty</a:t>
            </a:r>
            <a:endParaRPr sz="4000" b="1" i="0" dirty="0">
              <a:solidFill>
                <a:srgbClr val="FAF7F0"/>
              </a:solidFill>
              <a:latin typeface="Georgia"/>
              <a:cs typeface="Georgia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66928" y="1824990"/>
            <a:ext cx="11057839" cy="1950720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r" rtl="1">
              <a:lnSpc>
                <a:spcPct val="150000"/>
              </a:lnSpc>
            </a:pPr>
            <a:r>
              <a:rPr lang="ar-SA" sz="4400" b="0" i="0">
                <a:solidFill>
                  <a:srgbClr val="0A322E"/>
                </a:solidFill>
                <a:latin typeface="Traditional Arabic"/>
                <a:cs typeface="Traditional Arabic"/>
              </a:rPr>
              <a:t>وَوَصَلَ كِتَابُ أَبِي بَكْرٍ إِلَى خَالِدٍ أَنْ يَقْتُلَ كُلَّ مُحْتَلِمٍ … فَوَفَى لَهُمْ وَلَمْ يَغْدِرْ.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3903726"/>
            <a:ext cx="1554480" cy="38100"/>
          </a:xfrm>
          <a:prstGeom prst="rect">
            <a:avLst/>
          </a:prstGeom>
          <a:solidFill>
            <a:srgbClr val="C49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66928" y="4214622"/>
            <a:ext cx="11057839" cy="1632204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3000" b="0" i="1">
                <a:solidFill>
                  <a:srgbClr val="1C2321"/>
                </a:solidFill>
                <a:latin typeface="Georgia"/>
                <a:cs typeface="Georgia"/>
              </a:rPr>
              <a:t>And Abū Bakr's letter reached Khālid, ordering him to kill every man who had reached puberty … so he kept faith with them and did not betray them.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144768"/>
            <a:ext cx="11057839" cy="457200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400" b="0" i="0">
                <a:solidFill>
                  <a:srgbClr val="5A6862"/>
                </a:solidFill>
                <a:latin typeface="Segoe UI"/>
                <a:cs typeface="Segoe UI"/>
              </a:rPr>
              <a:t>al-Kamil, vol. 2, p. 219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nd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04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ule"/>
          <p:cNvSpPr/>
          <p:nvPr/>
        </p:nvSpPr>
        <p:spPr>
          <a:xfrm>
            <a:off x="0" y="1078992"/>
            <a:ext cx="12191695" cy="57150"/>
          </a:xfrm>
          <a:prstGeom prst="rect">
            <a:avLst/>
          </a:prstGeom>
          <a:solidFill>
            <a:srgbClr val="C49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66928" y="182880"/>
            <a:ext cx="11057839" cy="711199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4000" b="1" i="0">
                <a:solidFill>
                  <a:srgbClr val="FAF7F0"/>
                </a:solidFill>
                <a:latin typeface="Georgia"/>
                <a:cs typeface="Georgia"/>
              </a:rPr>
              <a:t>Tonight on the Line</a:t>
            </a:r>
          </a:p>
        </p:txBody>
      </p:sp>
      <p:pic>
        <p:nvPicPr>
          <p:cNvPr id="5" name="Picture 4" descr="line_s04_stop_d.tri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62354" y="1389888"/>
            <a:ext cx="8466986" cy="4956048"/>
          </a:xfrm>
          <a:prstGeom prst="rect">
            <a:avLst/>
          </a:prstGeom>
        </p:spPr>
      </p:pic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nd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04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ule"/>
          <p:cNvSpPr/>
          <p:nvPr/>
        </p:nvSpPr>
        <p:spPr>
          <a:xfrm>
            <a:off x="0" y="1078992"/>
            <a:ext cx="12191695" cy="57150"/>
          </a:xfrm>
          <a:prstGeom prst="rect">
            <a:avLst/>
          </a:prstGeom>
          <a:solidFill>
            <a:srgbClr val="C49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66928" y="182880"/>
            <a:ext cx="11057839" cy="711199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4000" b="1" i="0">
                <a:solidFill>
                  <a:srgbClr val="FAF7F0"/>
                </a:solidFill>
                <a:latin typeface="Georgia"/>
                <a:cs typeface="Georgia"/>
              </a:rPr>
              <a:t>Where we stand</a:t>
            </a:r>
          </a:p>
        </p:txBody>
      </p:sp>
      <p:sp>
        <p:nvSpPr>
          <p:cNvPr id="6" name="Rectangle 5"/>
          <p:cNvSpPr/>
          <p:nvPr/>
        </p:nvSpPr>
        <p:spPr>
          <a:xfrm>
            <a:off x="8618311" y="1554480"/>
            <a:ext cx="54864" cy="310896"/>
          </a:xfrm>
          <a:prstGeom prst="rect">
            <a:avLst/>
          </a:prstGeom>
          <a:solidFill>
            <a:srgbClr val="C49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819479" y="1499616"/>
            <a:ext cx="2805288" cy="457200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800" b="1" i="0">
                <a:solidFill>
                  <a:srgbClr val="0A322E"/>
                </a:solidFill>
                <a:latin typeface="Georgia"/>
                <a:cs typeface="Georgia"/>
              </a:rPr>
              <a:t>al-Yamāma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19479" y="1920240"/>
            <a:ext cx="2805288" cy="1943100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400" b="0" i="0">
                <a:solidFill>
                  <a:srgbClr val="5A6862"/>
                </a:solidFill>
                <a:latin typeface="Segoe UI"/>
                <a:cs typeface="Segoe UI"/>
              </a:rPr>
              <a:t>taken</a:t>
            </a:r>
          </a:p>
        </p:txBody>
      </p:sp>
      <p:sp>
        <p:nvSpPr>
          <p:cNvPr id="9" name="Rectangle 8"/>
          <p:cNvSpPr/>
          <p:nvPr/>
        </p:nvSpPr>
        <p:spPr>
          <a:xfrm>
            <a:off x="8618311" y="3918204"/>
            <a:ext cx="54864" cy="310896"/>
          </a:xfrm>
          <a:prstGeom prst="rect">
            <a:avLst/>
          </a:prstGeom>
          <a:solidFill>
            <a:srgbClr val="C49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819479" y="3863340"/>
            <a:ext cx="2805288" cy="457200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800" b="1" i="0">
                <a:solidFill>
                  <a:srgbClr val="0A322E"/>
                </a:solidFill>
                <a:latin typeface="Georgia"/>
                <a:cs typeface="Georgia"/>
              </a:rPr>
              <a:t>Ḥaḍramawt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19479" y="4283964"/>
            <a:ext cx="2805288" cy="1943100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400" b="0" i="0">
                <a:solidFill>
                  <a:srgbClr val="5A6862"/>
                </a:solidFill>
                <a:latin typeface="Segoe UI"/>
                <a:cs typeface="Segoe UI"/>
              </a:rPr>
              <a:t>the last front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B0F6EC7F-BCCB-C911-9AE8-7A6421AF84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nd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04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ule"/>
          <p:cNvSpPr/>
          <p:nvPr/>
        </p:nvSpPr>
        <p:spPr>
          <a:xfrm>
            <a:off x="0" y="1078992"/>
            <a:ext cx="12191695" cy="57150"/>
          </a:xfrm>
          <a:prstGeom prst="rect">
            <a:avLst/>
          </a:prstGeom>
          <a:solidFill>
            <a:srgbClr val="C49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66928" y="182880"/>
            <a:ext cx="11057839" cy="711199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4000" b="1" i="0">
                <a:solidFill>
                  <a:srgbClr val="FAF7F0"/>
                </a:solidFill>
                <a:latin typeface="Georgia"/>
                <a:cs typeface="Georgia"/>
              </a:rPr>
              <a:t>Tonight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545336"/>
            <a:ext cx="64008" cy="420624"/>
          </a:xfrm>
          <a:prstGeom prst="rect">
            <a:avLst/>
          </a:prstGeom>
          <a:solidFill>
            <a:srgbClr val="C49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77824" y="1499616"/>
            <a:ext cx="10746943" cy="477438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lang="en-US" sz="2800" b="0" i="0" dirty="0">
                <a:solidFill>
                  <a:srgbClr val="1C2321"/>
                </a:solidFill>
                <a:latin typeface="Georgia"/>
                <a:cs typeface="Georgia"/>
              </a:rPr>
              <a:t>Al </a:t>
            </a:r>
            <a:r>
              <a:rPr lang="en-US" sz="2800" b="0" i="0" dirty="0" err="1">
                <a:solidFill>
                  <a:srgbClr val="1C2321"/>
                </a:solidFill>
                <a:latin typeface="Georgia"/>
                <a:cs typeface="Georgia"/>
              </a:rPr>
              <a:t>Butah</a:t>
            </a:r>
            <a:r>
              <a:rPr lang="en-US" sz="2800" b="0" i="0" dirty="0">
                <a:solidFill>
                  <a:srgbClr val="1C2321"/>
                </a:solidFill>
                <a:latin typeface="Georgia"/>
                <a:cs typeface="Georgia"/>
              </a:rPr>
              <a:t> and Khalid R.A</a:t>
            </a:r>
            <a:endParaRPr sz="2800" b="0" i="0" dirty="0">
              <a:solidFill>
                <a:srgbClr val="1C2321"/>
              </a:solidFill>
              <a:latin typeface="Georgia"/>
              <a:cs typeface="Georgia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566928" y="2727198"/>
            <a:ext cx="64008" cy="420624"/>
          </a:xfrm>
          <a:prstGeom prst="rect">
            <a:avLst/>
          </a:prstGeom>
          <a:solidFill>
            <a:srgbClr val="C49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77824" y="2681478"/>
            <a:ext cx="10746943" cy="477438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lang="en-US" sz="2800" b="0" i="0" dirty="0">
                <a:solidFill>
                  <a:srgbClr val="1C2321"/>
                </a:solidFill>
                <a:latin typeface="Georgia"/>
                <a:cs typeface="Georgia"/>
              </a:rPr>
              <a:t>Sajah and Banu Tamim</a:t>
            </a:r>
            <a:endParaRPr sz="2800" b="0" i="0" dirty="0">
              <a:solidFill>
                <a:srgbClr val="1C2321"/>
              </a:solidFill>
              <a:latin typeface="Georgia"/>
              <a:cs typeface="Georgia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566928" y="3909060"/>
            <a:ext cx="64008" cy="420624"/>
          </a:xfrm>
          <a:prstGeom prst="rect">
            <a:avLst/>
          </a:prstGeom>
          <a:solidFill>
            <a:srgbClr val="C49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77824" y="3863340"/>
            <a:ext cx="10746943" cy="477438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lang="en-US" sz="2800" dirty="0" err="1">
                <a:solidFill>
                  <a:srgbClr val="1C2321"/>
                </a:solidFill>
                <a:latin typeface="Georgia"/>
                <a:cs typeface="Georgia"/>
              </a:rPr>
              <a:t>Musaylima</a:t>
            </a:r>
            <a:r>
              <a:rPr lang="en-US" sz="2800" dirty="0">
                <a:solidFill>
                  <a:srgbClr val="1C2321"/>
                </a:solidFill>
                <a:latin typeface="Georgia"/>
                <a:cs typeface="Georgia"/>
              </a:rPr>
              <a:t> </a:t>
            </a:r>
            <a:r>
              <a:rPr lang="en-US" sz="2800" dirty="0" err="1">
                <a:solidFill>
                  <a:srgbClr val="1C2321"/>
                </a:solidFill>
                <a:latin typeface="Georgia"/>
                <a:cs typeface="Georgia"/>
              </a:rPr>
              <a:t>Kazzab</a:t>
            </a:r>
            <a:r>
              <a:rPr lang="en-US" sz="2800" dirty="0">
                <a:solidFill>
                  <a:srgbClr val="1C2321"/>
                </a:solidFill>
                <a:latin typeface="Georgia"/>
                <a:cs typeface="Georgia"/>
              </a:rPr>
              <a:t> and Yamama</a:t>
            </a:r>
            <a:endParaRPr sz="2800" b="0" i="0" dirty="0">
              <a:solidFill>
                <a:srgbClr val="1C2321"/>
              </a:solidFill>
              <a:latin typeface="Georgia"/>
              <a:cs typeface="Georgia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566928" y="5090922"/>
            <a:ext cx="64008" cy="420624"/>
          </a:xfrm>
          <a:prstGeom prst="rect">
            <a:avLst/>
          </a:prstGeom>
          <a:solidFill>
            <a:srgbClr val="C49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77824" y="5045202"/>
            <a:ext cx="10746943" cy="477438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lang="en-US" sz="2800" b="0" i="0" dirty="0">
                <a:solidFill>
                  <a:srgbClr val="1C2321"/>
                </a:solidFill>
                <a:latin typeface="Georgia"/>
                <a:cs typeface="Georgia"/>
              </a:rPr>
              <a:t>The agreement with </a:t>
            </a:r>
            <a:r>
              <a:rPr lang="en-US" sz="2800" b="0" i="0" dirty="0" err="1">
                <a:solidFill>
                  <a:srgbClr val="1C2321"/>
                </a:solidFill>
                <a:latin typeface="Georgia"/>
                <a:cs typeface="Georgia"/>
              </a:rPr>
              <a:t>mujja’a</a:t>
            </a:r>
            <a:endParaRPr sz="2800" b="0" i="0" dirty="0">
              <a:solidFill>
                <a:srgbClr val="1C2321"/>
              </a:solidFill>
              <a:latin typeface="Georgia"/>
              <a:cs typeface="Georgia"/>
            </a:endParaRP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nd"/>
          <p:cNvSpPr/>
          <p:nvPr/>
        </p:nvSpPr>
        <p:spPr>
          <a:xfrm>
            <a:off x="0" y="0"/>
            <a:ext cx="12191695" cy="1223263"/>
          </a:xfrm>
          <a:prstGeom prst="rect">
            <a:avLst/>
          </a:prstGeom>
          <a:solidFill>
            <a:srgbClr val="104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ule"/>
          <p:cNvSpPr/>
          <p:nvPr/>
        </p:nvSpPr>
        <p:spPr>
          <a:xfrm>
            <a:off x="0" y="1223263"/>
            <a:ext cx="12191695" cy="57150"/>
          </a:xfrm>
          <a:prstGeom prst="rect">
            <a:avLst/>
          </a:prstGeom>
          <a:solidFill>
            <a:srgbClr val="C49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66928" y="91440"/>
            <a:ext cx="11057839" cy="274320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400" b="1" i="0">
                <a:solidFill>
                  <a:srgbClr val="C49A45"/>
                </a:solidFill>
                <a:latin typeface="Segoe UI"/>
                <a:cs typeface="Segoe UI"/>
              </a:rPr>
              <a:t>12 AH, Rabīʿ 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02336"/>
            <a:ext cx="11057839" cy="711199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4000" b="1" i="0">
                <a:solidFill>
                  <a:srgbClr val="FAF7F0"/>
                </a:solidFill>
                <a:latin typeface="Georgia"/>
                <a:cs typeface="Arabic Typesetting"/>
              </a:rPr>
              <a:t>Zayd b. al-Khaṭṭāb ؓ and his brother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824990"/>
            <a:ext cx="11057839" cy="1950720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r" rtl="1">
              <a:lnSpc>
                <a:spcPct val="150000"/>
              </a:lnSpc>
            </a:pPr>
            <a:r>
              <a:rPr lang="ar-SA" sz="4400" b="0" i="0">
                <a:solidFill>
                  <a:srgbClr val="0A322E"/>
                </a:solidFill>
                <a:latin typeface="Traditional Arabic"/>
                <a:cs typeface="Traditional Arabic"/>
              </a:rPr>
              <a:t>وَكَانَ يَقُوْلُ: أَسْلَمَ قَبْلِي، وَاسْتُشْهِدَ قَبْلِي … وَكَانَ يَقُوْلُ: مَا هَبَّتِ الصَّبَا إِلاَّ وَأَنَا أَجِدُ رِيْحَ زَيْدٍ.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3903726"/>
            <a:ext cx="1554480" cy="38100"/>
          </a:xfrm>
          <a:prstGeom prst="rect">
            <a:avLst/>
          </a:prstGeom>
          <a:solidFill>
            <a:srgbClr val="C49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66928" y="4214622"/>
            <a:ext cx="11057839" cy="1632204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3000" b="0" i="1">
                <a:solidFill>
                  <a:srgbClr val="1C2321"/>
                </a:solidFill>
                <a:latin typeface="Georgia"/>
                <a:cs typeface="Georgia"/>
              </a:rPr>
              <a:t>"He used to say: He became Muslim before me and was martyred before me … And he used to say: The east wind never blows but I find in it the scent of Zayd."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144768"/>
            <a:ext cx="11057839" cy="457200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400" b="0" i="0">
                <a:solidFill>
                  <a:srgbClr val="5A6862"/>
                </a:solidFill>
                <a:latin typeface="Segoe UI"/>
                <a:cs typeface="Segoe UI"/>
              </a:rPr>
              <a:t>Siyar A'lam al-Nubala, vol. 1, p. 298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2651760"/>
            <a:ext cx="12191695" cy="1554480"/>
          </a:xfrm>
          <a:prstGeom prst="rect">
            <a:avLst/>
          </a:prstGeom>
          <a:solidFill>
            <a:srgbClr val="FAF7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2651760"/>
            <a:ext cx="114300" cy="1554480"/>
          </a:xfrm>
          <a:prstGeom prst="rect">
            <a:avLst/>
          </a:prstGeom>
          <a:solidFill>
            <a:srgbClr val="C49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68680" y="2788920"/>
            <a:ext cx="10728655" cy="731520"/>
          </a:xfrm>
          <a:prstGeom prst="rect">
            <a:avLst/>
          </a:prstGeom>
          <a:noFill/>
        </p:spPr>
        <p:txBody>
          <a:bodyPr wrap="square" lIns="36576" tIns="0" rIns="36576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4600" b="1" i="0">
                <a:solidFill>
                  <a:srgbClr val="0A322E"/>
                </a:solidFill>
                <a:latin typeface="Georgia"/>
                <a:cs typeface="Georgia"/>
              </a:rPr>
              <a:t>Part VI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3520440"/>
            <a:ext cx="10728655" cy="548640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800" b="0" i="0">
                <a:solidFill>
                  <a:srgbClr val="5A6862"/>
                </a:solidFill>
                <a:latin typeface="Segoe UI"/>
                <a:cs typeface="Segoe UI"/>
              </a:rPr>
              <a:t>The dead of al-Yamāma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nd"/>
          <p:cNvSpPr/>
          <p:nvPr/>
        </p:nvSpPr>
        <p:spPr>
          <a:xfrm>
            <a:off x="0" y="0"/>
            <a:ext cx="12191695" cy="1223263"/>
          </a:xfrm>
          <a:prstGeom prst="rect">
            <a:avLst/>
          </a:prstGeom>
          <a:solidFill>
            <a:srgbClr val="104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ule"/>
          <p:cNvSpPr/>
          <p:nvPr/>
        </p:nvSpPr>
        <p:spPr>
          <a:xfrm>
            <a:off x="0" y="1223263"/>
            <a:ext cx="12191695" cy="57150"/>
          </a:xfrm>
          <a:prstGeom prst="rect">
            <a:avLst/>
          </a:prstGeom>
          <a:solidFill>
            <a:srgbClr val="C49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66928" y="91440"/>
            <a:ext cx="11057839" cy="274320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400" b="1" i="0">
                <a:solidFill>
                  <a:srgbClr val="C49A45"/>
                </a:solidFill>
                <a:latin typeface="Segoe UI"/>
                <a:cs typeface="Segoe UI"/>
              </a:rPr>
              <a:t>12 AH, at al-Yamāma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02336"/>
            <a:ext cx="11057839" cy="711199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4000" b="1" i="0">
                <a:solidFill>
                  <a:srgbClr val="FAF7F0"/>
                </a:solidFill>
                <a:latin typeface="Georgia"/>
                <a:cs typeface="Georgia"/>
              </a:rPr>
              <a:t>The banner changed hands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882140"/>
            <a:ext cx="11057839" cy="2331720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r" rtl="1">
              <a:lnSpc>
                <a:spcPct val="150000"/>
              </a:lnSpc>
            </a:pPr>
            <a:r>
              <a:rPr lang="ar-SA" sz="5400" b="0" i="0">
                <a:solidFill>
                  <a:srgbClr val="0A322E"/>
                </a:solidFill>
                <a:latin typeface="Traditional Arabic"/>
                <a:cs typeface="Traditional Arabic"/>
              </a:rPr>
              <a:t>… ثُمَّ قَاتَلَ حَتَّى قُتِلَ، فَوَقَعَتْ الرَّايَةُ، فَأَخَذَهَا سَالِمٌ مَوْلَى أَبِي حُذَيْفَةَ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4341876"/>
            <a:ext cx="1554480" cy="38100"/>
          </a:xfrm>
          <a:prstGeom prst="rect">
            <a:avLst/>
          </a:prstGeom>
          <a:solidFill>
            <a:srgbClr val="C49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66928" y="4652772"/>
            <a:ext cx="11057839" cy="1136903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3000" b="0" i="1">
                <a:solidFill>
                  <a:srgbClr val="1C2321"/>
                </a:solidFill>
                <a:latin typeface="Georgia"/>
                <a:cs typeface="Georgia"/>
              </a:rPr>
              <a:t>…and then fought until he was killed. The banner fell — and Sālim, the freedman of Abū Ḥudhayfa, took it up.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144768"/>
            <a:ext cx="11057839" cy="457200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400" b="0" i="0">
                <a:solidFill>
                  <a:srgbClr val="5A6862"/>
                </a:solidFill>
                <a:latin typeface="Segoe UI"/>
                <a:cs typeface="Segoe UI"/>
              </a:rPr>
              <a:t>Siyar A'lam al-Nubala, vol. 1, p. 298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nd"/>
          <p:cNvSpPr/>
          <p:nvPr/>
        </p:nvSpPr>
        <p:spPr>
          <a:xfrm>
            <a:off x="0" y="0"/>
            <a:ext cx="12191695" cy="1223263"/>
          </a:xfrm>
          <a:prstGeom prst="rect">
            <a:avLst/>
          </a:prstGeom>
          <a:solidFill>
            <a:srgbClr val="104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ule"/>
          <p:cNvSpPr/>
          <p:nvPr/>
        </p:nvSpPr>
        <p:spPr>
          <a:xfrm>
            <a:off x="0" y="1223263"/>
            <a:ext cx="12191695" cy="57150"/>
          </a:xfrm>
          <a:prstGeom prst="rect">
            <a:avLst/>
          </a:prstGeom>
          <a:solidFill>
            <a:srgbClr val="C49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66928" y="91440"/>
            <a:ext cx="11057839" cy="274320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400" b="1" i="0">
                <a:solidFill>
                  <a:srgbClr val="C49A45"/>
                </a:solidFill>
                <a:latin typeface="Segoe UI"/>
                <a:cs typeface="Segoe UI"/>
              </a:rPr>
              <a:t>11–12 AH, ʿAqrabāʾ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02336"/>
            <a:ext cx="11057839" cy="711199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4000" b="1" i="0">
                <a:solidFill>
                  <a:srgbClr val="FAF7F0"/>
                </a:solidFill>
                <a:latin typeface="Georgia"/>
                <a:cs typeface="Georgia"/>
              </a:rPr>
              <a:t>The men who did not come back</a:t>
            </a:r>
          </a:p>
        </p:txBody>
      </p:sp>
      <p:sp>
        <p:nvSpPr>
          <p:cNvPr id="6" name="card0"/>
          <p:cNvSpPr/>
          <p:nvPr/>
        </p:nvSpPr>
        <p:spPr>
          <a:xfrm>
            <a:off x="566928" y="1389888"/>
            <a:ext cx="3527450" cy="4846320"/>
          </a:xfrm>
          <a:prstGeom prst="rect">
            <a:avLst/>
          </a:prstGeom>
          <a:solidFill>
            <a:srgbClr val="FAF7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66928" y="1389888"/>
            <a:ext cx="3527450" cy="88900"/>
          </a:xfrm>
          <a:prstGeom prst="rect">
            <a:avLst/>
          </a:prstGeom>
          <a:solidFill>
            <a:srgbClr val="104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49808" y="1700784"/>
            <a:ext cx="3161690" cy="1097280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200" b="1" i="0">
                <a:solidFill>
                  <a:srgbClr val="0A322E"/>
                </a:solidFill>
                <a:latin typeface="Georgia"/>
                <a:cs typeface="Georgia"/>
              </a:rPr>
              <a:t>At the line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2807208"/>
            <a:ext cx="3161690" cy="2011680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2400" b="0" i="0">
                <a:solidFill>
                  <a:srgbClr val="1C2321"/>
                </a:solidFill>
                <a:latin typeface="Segoe UI"/>
                <a:cs typeface="Arabic Typesetting"/>
              </a:rPr>
              <a:t>Sālim ؓ carried the Muhājirūn's banner; Zayd ؓ and Abū Ḥudhayfa ؓ held the wings</a:t>
            </a:r>
          </a:p>
        </p:txBody>
      </p:sp>
      <p:sp>
        <p:nvSpPr>
          <p:cNvPr id="10" name="card1"/>
          <p:cNvSpPr/>
          <p:nvPr/>
        </p:nvSpPr>
        <p:spPr>
          <a:xfrm>
            <a:off x="4332122" y="1389888"/>
            <a:ext cx="3527450" cy="4846320"/>
          </a:xfrm>
          <a:prstGeom prst="rect">
            <a:avLst/>
          </a:prstGeom>
          <a:solidFill>
            <a:srgbClr val="FAF7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332122" y="1389888"/>
            <a:ext cx="3527450" cy="88900"/>
          </a:xfrm>
          <a:prstGeom prst="rect">
            <a:avLst/>
          </a:prstGeom>
          <a:solidFill>
            <a:srgbClr val="104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15002" y="1700784"/>
            <a:ext cx="3161690" cy="1097280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200" b="1" i="0">
                <a:solidFill>
                  <a:srgbClr val="0A322E"/>
                </a:solidFill>
                <a:latin typeface="Georgia"/>
                <a:cs typeface="Georgia"/>
              </a:rPr>
              <a:t>All three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15002" y="2807208"/>
            <a:ext cx="3161690" cy="2011680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2400" b="0" i="0">
                <a:solidFill>
                  <a:srgbClr val="1C2321"/>
                </a:solidFill>
                <a:latin typeface="Segoe UI"/>
                <a:cs typeface="Segoe UI"/>
              </a:rPr>
              <a:t>Killed on that field, on the same day</a:t>
            </a:r>
          </a:p>
        </p:txBody>
      </p:sp>
      <p:sp>
        <p:nvSpPr>
          <p:cNvPr id="14" name="card2"/>
          <p:cNvSpPr/>
          <p:nvPr/>
        </p:nvSpPr>
        <p:spPr>
          <a:xfrm>
            <a:off x="8097316" y="1389888"/>
            <a:ext cx="3527450" cy="4846320"/>
          </a:xfrm>
          <a:prstGeom prst="rect">
            <a:avLst/>
          </a:prstGeom>
          <a:solidFill>
            <a:srgbClr val="FAF7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097316" y="1389888"/>
            <a:ext cx="3527450" cy="88900"/>
          </a:xfrm>
          <a:prstGeom prst="rect">
            <a:avLst/>
          </a:prstGeom>
          <a:solidFill>
            <a:srgbClr val="104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280196" y="1700784"/>
            <a:ext cx="3161690" cy="1097280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200" b="1" i="0">
                <a:solidFill>
                  <a:srgbClr val="0A322E"/>
                </a:solidFill>
                <a:latin typeface="Georgia"/>
                <a:cs typeface="Georgia"/>
              </a:rPr>
              <a:t>Still to tell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80196" y="2807208"/>
            <a:ext cx="3161690" cy="2011680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2400" b="0" i="0">
                <a:solidFill>
                  <a:srgbClr val="1C2321"/>
                </a:solidFill>
                <a:latin typeface="Segoe UI"/>
                <a:cs typeface="Segoe UI"/>
              </a:rPr>
              <a:t>What happened at that banner, and the order it led to at Medina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nd"/>
          <p:cNvSpPr/>
          <p:nvPr/>
        </p:nvSpPr>
        <p:spPr>
          <a:xfrm>
            <a:off x="0" y="0"/>
            <a:ext cx="12191695" cy="1223263"/>
          </a:xfrm>
          <a:prstGeom prst="rect">
            <a:avLst/>
          </a:prstGeom>
          <a:solidFill>
            <a:srgbClr val="104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ule"/>
          <p:cNvSpPr/>
          <p:nvPr/>
        </p:nvSpPr>
        <p:spPr>
          <a:xfrm>
            <a:off x="0" y="1223263"/>
            <a:ext cx="12191695" cy="57150"/>
          </a:xfrm>
          <a:prstGeom prst="rect">
            <a:avLst/>
          </a:prstGeom>
          <a:solidFill>
            <a:srgbClr val="C49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66928" y="91440"/>
            <a:ext cx="11057839" cy="274320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400" b="1" i="0">
                <a:solidFill>
                  <a:srgbClr val="C49A45"/>
                </a:solidFill>
                <a:latin typeface="Segoe UI"/>
                <a:cs typeface="Traditional Arabic"/>
              </a:rPr>
              <a:t>In the Prophet's ﷺ lifetime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02336"/>
            <a:ext cx="11057839" cy="711199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4000" b="1" i="0">
                <a:solidFill>
                  <a:srgbClr val="FAF7F0"/>
                </a:solidFill>
                <a:latin typeface="Georgia"/>
                <a:cs typeface="Georgia"/>
              </a:rPr>
              <a:t>Take the Qurʾān from four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824990"/>
            <a:ext cx="11057839" cy="1950720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r" rtl="1">
              <a:lnSpc>
                <a:spcPct val="150000"/>
              </a:lnSpc>
            </a:pPr>
            <a:r>
              <a:rPr lang="ar-SA" sz="4400" b="0" i="0">
                <a:solidFill>
                  <a:srgbClr val="0A322E"/>
                </a:solidFill>
                <a:latin typeface="Traditional Arabic"/>
                <a:cs typeface="Traditional Arabic"/>
              </a:rPr>
              <a:t>قال فيهم رسول الله ﷺ: "استقرئوا القرآنَ من أربعةٍ" فذكر منهم سالمًا مولى أبي حذيفة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3903726"/>
            <a:ext cx="1554480" cy="38100"/>
          </a:xfrm>
          <a:prstGeom prst="rect">
            <a:avLst/>
          </a:prstGeom>
          <a:solidFill>
            <a:srgbClr val="C49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66928" y="4214622"/>
            <a:ext cx="11057839" cy="1632204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3000" b="0" i="1">
                <a:solidFill>
                  <a:srgbClr val="1C2321"/>
                </a:solidFill>
                <a:latin typeface="Georgia"/>
                <a:cs typeface="Traditional Arabic"/>
              </a:rPr>
              <a:t>…of whom the Messenger of Allah ﷺ said: 'Take the Qurʾān from four' — and he mentioned Sālim, the freedman of Abū Ḥudhayfa.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144768"/>
            <a:ext cx="11057839" cy="457200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400" b="0" i="0">
                <a:solidFill>
                  <a:srgbClr val="5A6862"/>
                </a:solidFill>
                <a:latin typeface="Segoe UI"/>
                <a:cs typeface="Segoe UI"/>
              </a:rPr>
              <a:t>al-Bidaya wa'l-Nihaya, vol. 7, p. 50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nd"/>
          <p:cNvSpPr/>
          <p:nvPr/>
        </p:nvSpPr>
        <p:spPr>
          <a:xfrm>
            <a:off x="0" y="0"/>
            <a:ext cx="12191695" cy="1223263"/>
          </a:xfrm>
          <a:prstGeom prst="rect">
            <a:avLst/>
          </a:prstGeom>
          <a:solidFill>
            <a:srgbClr val="104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ule"/>
          <p:cNvSpPr/>
          <p:nvPr/>
        </p:nvSpPr>
        <p:spPr>
          <a:xfrm>
            <a:off x="0" y="1223263"/>
            <a:ext cx="12191695" cy="57150"/>
          </a:xfrm>
          <a:prstGeom prst="rect">
            <a:avLst/>
          </a:prstGeom>
          <a:solidFill>
            <a:srgbClr val="C49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66928" y="91440"/>
            <a:ext cx="11057839" cy="274320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400" b="1" i="0">
                <a:solidFill>
                  <a:srgbClr val="C49A45"/>
                </a:solidFill>
                <a:latin typeface="Segoe UI"/>
                <a:cs typeface="Segoe UI"/>
              </a:rPr>
              <a:t>12 AH, at al-Yamāma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02336"/>
            <a:ext cx="11057839" cy="711199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4000" b="1" i="0">
                <a:solidFill>
                  <a:srgbClr val="FAF7F0"/>
                </a:solidFill>
                <a:latin typeface="Georgia"/>
                <a:cs typeface="Georgia"/>
              </a:rPr>
              <a:t>Two men who dug a pit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882140"/>
            <a:ext cx="11057839" cy="2331720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r" rtl="1">
              <a:lnSpc>
                <a:spcPct val="150000"/>
              </a:lnSpc>
            </a:pPr>
            <a:r>
              <a:rPr lang="ar-SA" sz="5400" b="0" i="0">
                <a:solidFill>
                  <a:srgbClr val="0A322E"/>
                </a:solidFill>
                <a:latin typeface="Traditional Arabic"/>
                <a:cs typeface="Traditional Arabic"/>
              </a:rPr>
              <a:t>ما هكذا كنَّا نقاتلُ مع رسول الله ﷺ … فقاتلا حتى قُتلا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4341876"/>
            <a:ext cx="1554480" cy="38100"/>
          </a:xfrm>
          <a:prstGeom prst="rect">
            <a:avLst/>
          </a:prstGeom>
          <a:solidFill>
            <a:srgbClr val="C49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66928" y="4652772"/>
            <a:ext cx="11057839" cy="1136903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3000" b="0" i="1">
                <a:solidFill>
                  <a:srgbClr val="1C2321"/>
                </a:solidFill>
                <a:latin typeface="Georgia"/>
                <a:cs typeface="Traditional Arabic"/>
              </a:rPr>
              <a:t>This is not how we used to fight alongside the Messenger of Allah ﷺ … and fought until they were killed.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144768"/>
            <a:ext cx="11057839" cy="457200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400" b="0" i="0">
                <a:solidFill>
                  <a:srgbClr val="5A6862"/>
                </a:solidFill>
                <a:latin typeface="Segoe UI"/>
                <a:cs typeface="Segoe UI"/>
              </a:rPr>
              <a:t>al-Bidaya wa'l-Nihaya, vol. 7, p. 48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nd"/>
          <p:cNvSpPr/>
          <p:nvPr/>
        </p:nvSpPr>
        <p:spPr>
          <a:xfrm>
            <a:off x="0" y="0"/>
            <a:ext cx="12191695" cy="1223263"/>
          </a:xfrm>
          <a:prstGeom prst="rect">
            <a:avLst/>
          </a:prstGeom>
          <a:solidFill>
            <a:srgbClr val="104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ule"/>
          <p:cNvSpPr/>
          <p:nvPr/>
        </p:nvSpPr>
        <p:spPr>
          <a:xfrm>
            <a:off x="0" y="1223263"/>
            <a:ext cx="12191695" cy="57150"/>
          </a:xfrm>
          <a:prstGeom prst="rect">
            <a:avLst/>
          </a:prstGeom>
          <a:solidFill>
            <a:srgbClr val="C49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66928" y="91440"/>
            <a:ext cx="11057839" cy="274320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400" b="1" i="0">
                <a:solidFill>
                  <a:srgbClr val="C49A45"/>
                </a:solidFill>
                <a:latin typeface="Segoe UI"/>
                <a:cs typeface="Segoe UI"/>
              </a:rPr>
              <a:t>12 AH, at al-Yamāma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02336"/>
            <a:ext cx="11057839" cy="711199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4000" b="1" i="0">
                <a:solidFill>
                  <a:srgbClr val="FAF7F0"/>
                </a:solidFill>
                <a:latin typeface="Georgia"/>
                <a:cs typeface="Georgia"/>
              </a:rPr>
              <a:t>The hand, and the verse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634490"/>
            <a:ext cx="11057839" cy="2331720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r" rtl="1">
              <a:lnSpc>
                <a:spcPct val="150000"/>
              </a:lnSpc>
            </a:pPr>
            <a:r>
              <a:rPr lang="ar-SA" sz="5400" b="0" i="0">
                <a:solidFill>
                  <a:srgbClr val="0A322E"/>
                </a:solidFill>
                <a:latin typeface="Traditional Arabic"/>
                <a:cs typeface="Traditional Arabic"/>
              </a:rPr>
              <a:t>… فاحتضنها وهو يقول: ﴿وَمَا مُحَمَّدٌ إِلَّا رَسُولٌ قَدْ خَلَتْ مِنْ قَبْلِهِ الرُّسُلُ﴾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4094226"/>
            <a:ext cx="1554480" cy="38100"/>
          </a:xfrm>
          <a:prstGeom prst="rect">
            <a:avLst/>
          </a:prstGeom>
          <a:solidFill>
            <a:srgbClr val="C49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66928" y="4405122"/>
            <a:ext cx="11057839" cy="1632204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3000" b="0" i="1">
                <a:solidFill>
                  <a:srgbClr val="1C2321"/>
                </a:solidFill>
                <a:latin typeface="Georgia"/>
                <a:cs typeface="Traditional Arabic"/>
              </a:rPr>
              <a:t>…so he clasped it to his chest, saying: ﴾Muḥammad is no more than a Messenger; messengers have passed away before him﴿.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144768"/>
            <a:ext cx="11057839" cy="457200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400" b="0" i="0">
                <a:solidFill>
                  <a:srgbClr val="5A6862"/>
                </a:solidFill>
                <a:latin typeface="Segoe UI"/>
                <a:cs typeface="Segoe UI"/>
              </a:rPr>
              <a:t>al-Bidaya wa'l-Nihaya, vol. 7, p. 50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nd"/>
          <p:cNvSpPr/>
          <p:nvPr/>
        </p:nvSpPr>
        <p:spPr>
          <a:xfrm>
            <a:off x="0" y="0"/>
            <a:ext cx="12191695" cy="1223263"/>
          </a:xfrm>
          <a:prstGeom prst="rect">
            <a:avLst/>
          </a:prstGeom>
          <a:solidFill>
            <a:srgbClr val="104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ule"/>
          <p:cNvSpPr/>
          <p:nvPr/>
        </p:nvSpPr>
        <p:spPr>
          <a:xfrm>
            <a:off x="0" y="1223263"/>
            <a:ext cx="12191695" cy="57150"/>
          </a:xfrm>
          <a:prstGeom prst="rect">
            <a:avLst/>
          </a:prstGeom>
          <a:solidFill>
            <a:srgbClr val="C49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66928" y="91440"/>
            <a:ext cx="11057839" cy="274320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400" b="1" i="0">
                <a:solidFill>
                  <a:srgbClr val="C49A45"/>
                </a:solidFill>
                <a:latin typeface="Segoe UI"/>
                <a:cs typeface="Segoe UI"/>
              </a:rPr>
              <a:t>12 AH, at al-Yamāma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02336"/>
            <a:ext cx="11057839" cy="711199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4000" b="1" i="0">
                <a:solidFill>
                  <a:srgbClr val="FAF7F0"/>
                </a:solidFill>
                <a:latin typeface="Georgia"/>
                <a:cs typeface="Georgia"/>
              </a:rPr>
              <a:t>"Lay me down between them"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634490"/>
            <a:ext cx="11057839" cy="2331720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r" rtl="1">
              <a:lnSpc>
                <a:spcPct val="150000"/>
              </a:lnSpc>
            </a:pPr>
            <a:r>
              <a:rPr lang="ar-SA" sz="5400" b="0" i="0">
                <a:solidFill>
                  <a:srgbClr val="0A322E"/>
                </a:solidFill>
                <a:latin typeface="Traditional Arabic"/>
                <a:cs typeface="Traditional Arabic"/>
              </a:rPr>
              <a:t>ما فعل أبو حُذَيْفة؟ قالوا: قُتل … قال: فأضجعوني بينهما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4094226"/>
            <a:ext cx="1554480" cy="38100"/>
          </a:xfrm>
          <a:prstGeom prst="rect">
            <a:avLst/>
          </a:prstGeom>
          <a:solidFill>
            <a:srgbClr val="C49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66928" y="4405122"/>
            <a:ext cx="11057839" cy="1632204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3000" b="0" i="1">
                <a:solidFill>
                  <a:srgbClr val="1C2321"/>
                </a:solidFill>
                <a:latin typeface="Georgia"/>
                <a:cs typeface="Georgia"/>
              </a:rPr>
              <a:t>What has become of Abū Ḥudhayfa? They said: He has been killed … He said: Then lay me down between the two of them.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144768"/>
            <a:ext cx="11057839" cy="457200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400" b="0" i="0">
                <a:solidFill>
                  <a:srgbClr val="5A6862"/>
                </a:solidFill>
                <a:latin typeface="Segoe UI"/>
                <a:cs typeface="Segoe UI"/>
              </a:rPr>
              <a:t>al-Bidaya wa'l-Nihaya, vol. 7, p. 50</a:t>
            </a: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nd"/>
          <p:cNvSpPr/>
          <p:nvPr/>
        </p:nvSpPr>
        <p:spPr>
          <a:xfrm>
            <a:off x="0" y="0"/>
            <a:ext cx="12191695" cy="1223263"/>
          </a:xfrm>
          <a:prstGeom prst="rect">
            <a:avLst/>
          </a:prstGeom>
          <a:solidFill>
            <a:srgbClr val="104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ule"/>
          <p:cNvSpPr/>
          <p:nvPr/>
        </p:nvSpPr>
        <p:spPr>
          <a:xfrm>
            <a:off x="0" y="1223263"/>
            <a:ext cx="12191695" cy="57150"/>
          </a:xfrm>
          <a:prstGeom prst="rect">
            <a:avLst/>
          </a:prstGeom>
          <a:solidFill>
            <a:srgbClr val="C49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66928" y="91440"/>
            <a:ext cx="11057839" cy="274320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400" b="1" i="0">
                <a:solidFill>
                  <a:srgbClr val="C49A45"/>
                </a:solidFill>
                <a:latin typeface="Segoe UI"/>
                <a:cs typeface="Segoe UI"/>
              </a:rPr>
              <a:t>12 AH, after al-Yamāma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02336"/>
            <a:ext cx="11057839" cy="711199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4000" b="1" i="0">
                <a:solidFill>
                  <a:srgbClr val="FAF7F0"/>
                </a:solidFill>
                <a:latin typeface="Georgia"/>
                <a:cs typeface="Georgia"/>
              </a:rPr>
              <a:t>It is said they were found together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824990"/>
            <a:ext cx="11057839" cy="1950720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r" rtl="1">
              <a:lnSpc>
                <a:spcPct val="150000"/>
              </a:lnSpc>
            </a:pPr>
            <a:r>
              <a:rPr lang="ar-SA" sz="4400" b="0" i="0">
                <a:solidFill>
                  <a:srgbClr val="0A322E"/>
                </a:solidFill>
                <a:latin typeface="Traditional Arabic"/>
                <a:cs typeface="Traditional Arabic"/>
              </a:rPr>
              <a:t>وَقِيْلَ: إِنَّ سَالِماً وُجِدَ هُوَ وَمَوْلاَهُ أَبُو حُذَيْفَةَ، رَأْسُ أَحَدِهِمَا عِنْدَ رِجْلَي الآخَرِ صَرِيْعَيْنِ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3903726"/>
            <a:ext cx="1554480" cy="38100"/>
          </a:xfrm>
          <a:prstGeom prst="rect">
            <a:avLst/>
          </a:prstGeom>
          <a:solidFill>
            <a:srgbClr val="C49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66928" y="4214622"/>
            <a:ext cx="11057839" cy="1632204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3000" b="0" i="1">
                <a:solidFill>
                  <a:srgbClr val="1C2321"/>
                </a:solidFill>
                <a:latin typeface="Georgia"/>
                <a:cs typeface="Georgia"/>
              </a:rPr>
              <a:t>And it is said: Sālim was found, he and his patron Abū Ḥudhayfa, the head of one of them at the feet of the other.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144768"/>
            <a:ext cx="11057839" cy="457200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400" b="0" i="0">
                <a:solidFill>
                  <a:srgbClr val="5A6862"/>
                </a:solidFill>
                <a:latin typeface="Segoe UI"/>
                <a:cs typeface="Segoe UI"/>
              </a:rPr>
              <a:t>Siyar A'lam al-Nubala, vol. 1, p. 169</a:t>
            </a: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nd"/>
          <p:cNvSpPr/>
          <p:nvPr/>
        </p:nvSpPr>
        <p:spPr>
          <a:xfrm>
            <a:off x="0" y="0"/>
            <a:ext cx="12191695" cy="1223263"/>
          </a:xfrm>
          <a:prstGeom prst="rect">
            <a:avLst/>
          </a:prstGeom>
          <a:solidFill>
            <a:srgbClr val="104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ule"/>
          <p:cNvSpPr/>
          <p:nvPr/>
        </p:nvSpPr>
        <p:spPr>
          <a:xfrm>
            <a:off x="0" y="1223263"/>
            <a:ext cx="12191695" cy="57150"/>
          </a:xfrm>
          <a:prstGeom prst="rect">
            <a:avLst/>
          </a:prstGeom>
          <a:solidFill>
            <a:srgbClr val="C49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66928" y="91440"/>
            <a:ext cx="11057839" cy="274320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400" b="1" i="0">
                <a:solidFill>
                  <a:srgbClr val="C49A45"/>
                </a:solidFill>
                <a:latin typeface="Segoe UI"/>
                <a:cs typeface="Segoe UI"/>
              </a:rPr>
              <a:t>23 AH, Medina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02336"/>
            <a:ext cx="11057839" cy="711199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4000" b="1" i="0">
                <a:solidFill>
                  <a:srgbClr val="FAF7F0"/>
                </a:solidFill>
                <a:latin typeface="Georgia"/>
                <a:cs typeface="Georgia"/>
              </a:rPr>
              <a:t>"Had Sālim been alive"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882140"/>
            <a:ext cx="11057839" cy="2331720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r" rtl="1">
              <a:lnSpc>
                <a:spcPct val="150000"/>
              </a:lnSpc>
            </a:pPr>
            <a:r>
              <a:rPr lang="ar-SA" sz="5400" b="0" i="0">
                <a:solidFill>
                  <a:srgbClr val="0A322E"/>
                </a:solidFill>
                <a:latin typeface="Traditional Arabic"/>
                <a:cs typeface="Traditional Arabic"/>
              </a:rPr>
              <a:t>قال لما احتُضِر: لو كانَ سالمٌ حيًّا لما جعلتها شُورى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4341876"/>
            <a:ext cx="1554480" cy="38100"/>
          </a:xfrm>
          <a:prstGeom prst="rect">
            <a:avLst/>
          </a:prstGeom>
          <a:solidFill>
            <a:srgbClr val="C49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66928" y="4652772"/>
            <a:ext cx="11057839" cy="1136903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3000" b="0" i="1">
                <a:solidFill>
                  <a:srgbClr val="1C2321"/>
                </a:solidFill>
                <a:latin typeface="Georgia"/>
                <a:cs typeface="Georgia"/>
              </a:rPr>
              <a:t>…when death was upon him: Had Sālim been alive I would not have made it a shūrā.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144768"/>
            <a:ext cx="11057839" cy="457200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400" b="0" i="0">
                <a:solidFill>
                  <a:srgbClr val="5A6862"/>
                </a:solidFill>
                <a:latin typeface="Segoe UI"/>
                <a:cs typeface="Segoe UI"/>
              </a:rPr>
              <a:t>al-Bidaya wa'l-Nihaya, vol. 7, p. 50</a:t>
            </a: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nd"/>
          <p:cNvSpPr/>
          <p:nvPr/>
        </p:nvSpPr>
        <p:spPr>
          <a:xfrm>
            <a:off x="0" y="0"/>
            <a:ext cx="12191695" cy="1223263"/>
          </a:xfrm>
          <a:prstGeom prst="rect">
            <a:avLst/>
          </a:prstGeom>
          <a:solidFill>
            <a:srgbClr val="104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ule"/>
          <p:cNvSpPr/>
          <p:nvPr/>
        </p:nvSpPr>
        <p:spPr>
          <a:xfrm>
            <a:off x="0" y="1223263"/>
            <a:ext cx="12191695" cy="57150"/>
          </a:xfrm>
          <a:prstGeom prst="rect">
            <a:avLst/>
          </a:prstGeom>
          <a:solidFill>
            <a:srgbClr val="C49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66928" y="91440"/>
            <a:ext cx="11057839" cy="274320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400" b="1" i="0">
                <a:solidFill>
                  <a:srgbClr val="C49A45"/>
                </a:solidFill>
                <a:latin typeface="Segoe UI"/>
                <a:cs typeface="Segoe UI"/>
              </a:rPr>
              <a:t>After 12 AH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02336"/>
            <a:ext cx="11057839" cy="711199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4000" b="1" i="0">
                <a:solidFill>
                  <a:srgbClr val="FAF7F0"/>
                </a:solidFill>
                <a:latin typeface="Georgia"/>
                <a:cs typeface="Georgia"/>
              </a:rPr>
              <a:t>The inheritance that was sent back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824990"/>
            <a:ext cx="11057839" cy="1950720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r" rtl="1">
              <a:lnSpc>
                <a:spcPct val="150000"/>
              </a:lnSpc>
            </a:pPr>
            <a:r>
              <a:rPr lang="ar-SA" sz="4400" b="0" i="0">
                <a:solidFill>
                  <a:srgbClr val="0A322E"/>
                </a:solidFill>
                <a:latin typeface="Traditional Arabic"/>
                <a:cs typeface="Traditional Arabic"/>
              </a:rPr>
              <a:t>وقد بعثَ عمرُ بميراثه إلى مولاته التي أعْتَقَتْه … فردَّتْه وقالتْ: إنّما أعْتَقَتْهُ سائبةٌ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3903726"/>
            <a:ext cx="1554480" cy="38100"/>
          </a:xfrm>
          <a:prstGeom prst="rect">
            <a:avLst/>
          </a:prstGeom>
          <a:solidFill>
            <a:srgbClr val="C49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66928" y="4214622"/>
            <a:ext cx="11057839" cy="1632204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3000" b="0" i="1">
                <a:solidFill>
                  <a:srgbClr val="1C2321"/>
                </a:solidFill>
                <a:latin typeface="Georgia"/>
                <a:cs typeface="Georgia"/>
              </a:rPr>
              <a:t>ʿUmar sent his inheritance to the woman who had freed him … and she sent it back and said: I freed him only as sāʾiba.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144768"/>
            <a:ext cx="11057839" cy="457200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400" b="0" i="0">
                <a:solidFill>
                  <a:srgbClr val="5A6862"/>
                </a:solidFill>
                <a:latin typeface="Segoe UI"/>
                <a:cs typeface="Segoe UI"/>
              </a:rPr>
              <a:t>al-Bidaya wa'l-Nihaya, vol. 7, p. 50</a:t>
            </a: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2651760"/>
            <a:ext cx="12191695" cy="1554480"/>
          </a:xfrm>
          <a:prstGeom prst="rect">
            <a:avLst/>
          </a:prstGeom>
          <a:solidFill>
            <a:srgbClr val="FAF7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2651760"/>
            <a:ext cx="114300" cy="1554480"/>
          </a:xfrm>
          <a:prstGeom prst="rect">
            <a:avLst/>
          </a:prstGeom>
          <a:solidFill>
            <a:srgbClr val="C49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68680" y="2788920"/>
            <a:ext cx="10728655" cy="731520"/>
          </a:xfrm>
          <a:prstGeom prst="rect">
            <a:avLst/>
          </a:prstGeom>
          <a:noFill/>
        </p:spPr>
        <p:txBody>
          <a:bodyPr wrap="square" lIns="36576" tIns="0" rIns="36576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4600" b="1" i="0">
                <a:solidFill>
                  <a:srgbClr val="0A322E"/>
                </a:solidFill>
                <a:latin typeface="Georgia"/>
                <a:cs typeface="Georgia"/>
              </a:rPr>
              <a:t>Part VII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3520440"/>
            <a:ext cx="10728655" cy="548640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800" b="0" i="0">
                <a:solidFill>
                  <a:srgbClr val="5A6862"/>
                </a:solidFill>
                <a:latin typeface="Segoe UI"/>
                <a:cs typeface="Segoe UI"/>
              </a:rPr>
              <a:t>Who else was on that field</a:t>
            </a: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nd"/>
          <p:cNvSpPr/>
          <p:nvPr/>
        </p:nvSpPr>
        <p:spPr>
          <a:xfrm>
            <a:off x="0" y="0"/>
            <a:ext cx="12191695" cy="1223263"/>
          </a:xfrm>
          <a:prstGeom prst="rect">
            <a:avLst/>
          </a:prstGeom>
          <a:solidFill>
            <a:srgbClr val="104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ule"/>
          <p:cNvSpPr/>
          <p:nvPr/>
        </p:nvSpPr>
        <p:spPr>
          <a:xfrm>
            <a:off x="0" y="1223263"/>
            <a:ext cx="12191695" cy="57150"/>
          </a:xfrm>
          <a:prstGeom prst="rect">
            <a:avLst/>
          </a:prstGeom>
          <a:solidFill>
            <a:srgbClr val="C49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66928" y="91440"/>
            <a:ext cx="11057839" cy="274320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400" b="1" i="0">
                <a:solidFill>
                  <a:srgbClr val="C49A45"/>
                </a:solidFill>
                <a:latin typeface="Segoe UI"/>
                <a:cs typeface="Segoe UI"/>
              </a:rPr>
              <a:t>12 AH, ʿAqrabāʾ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02336"/>
            <a:ext cx="11057839" cy="711199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4000" b="1" i="0">
                <a:solidFill>
                  <a:srgbClr val="FAF7F0"/>
                </a:solidFill>
                <a:latin typeface="Georgia"/>
                <a:cs typeface="Georgia"/>
              </a:rPr>
              <a:t>The same field, the men beside them</a:t>
            </a:r>
          </a:p>
        </p:txBody>
      </p:sp>
      <p:sp>
        <p:nvSpPr>
          <p:cNvPr id="6" name="card0"/>
          <p:cNvSpPr/>
          <p:nvPr/>
        </p:nvSpPr>
        <p:spPr>
          <a:xfrm>
            <a:off x="566928" y="1389888"/>
            <a:ext cx="3527450" cy="4846320"/>
          </a:xfrm>
          <a:prstGeom prst="rect">
            <a:avLst/>
          </a:prstGeom>
          <a:solidFill>
            <a:srgbClr val="FAF7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66928" y="1389888"/>
            <a:ext cx="3527450" cy="88900"/>
          </a:xfrm>
          <a:prstGeom prst="rect">
            <a:avLst/>
          </a:prstGeom>
          <a:solidFill>
            <a:srgbClr val="104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49808" y="1700784"/>
            <a:ext cx="3161690" cy="1097280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200" b="1" i="0">
                <a:solidFill>
                  <a:srgbClr val="0A322E"/>
                </a:solidFill>
                <a:latin typeface="Georgia"/>
                <a:cs typeface="Georgia"/>
              </a:rPr>
              <a:t>So far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2807208"/>
            <a:ext cx="3161690" cy="2011680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2400" b="0" i="0">
                <a:solidFill>
                  <a:srgbClr val="1C2321"/>
                </a:solidFill>
                <a:latin typeface="Segoe UI"/>
                <a:cs typeface="Arabic Typesetting"/>
              </a:rPr>
              <a:t>The banner: Zayd ؓ, then Sālim ؓ, then the pit, then the two found together</a:t>
            </a:r>
          </a:p>
        </p:txBody>
      </p:sp>
      <p:sp>
        <p:nvSpPr>
          <p:cNvPr id="10" name="card1"/>
          <p:cNvSpPr/>
          <p:nvPr/>
        </p:nvSpPr>
        <p:spPr>
          <a:xfrm>
            <a:off x="4332122" y="1389888"/>
            <a:ext cx="3527450" cy="4846320"/>
          </a:xfrm>
          <a:prstGeom prst="rect">
            <a:avLst/>
          </a:prstGeom>
          <a:solidFill>
            <a:srgbClr val="FAF7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332122" y="1389888"/>
            <a:ext cx="3527450" cy="88900"/>
          </a:xfrm>
          <a:prstGeom prst="rect">
            <a:avLst/>
          </a:prstGeom>
          <a:solidFill>
            <a:srgbClr val="104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15002" y="1700784"/>
            <a:ext cx="3161690" cy="1097280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200" b="1" i="0">
                <a:solidFill>
                  <a:srgbClr val="0A322E"/>
                </a:solidFill>
                <a:latin typeface="Georgia"/>
                <a:cs typeface="Georgia"/>
              </a:rPr>
              <a:t>Now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15002" y="2807208"/>
            <a:ext cx="3161690" cy="2011680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2400" b="0" i="0">
                <a:solidFill>
                  <a:srgbClr val="1C2321"/>
                </a:solidFill>
                <a:latin typeface="Segoe UI"/>
                <a:cs typeface="Segoe UI"/>
              </a:rPr>
              <a:t>The rest of that line — the pairs, the chiefs, the households</a:t>
            </a:r>
          </a:p>
        </p:txBody>
      </p:sp>
      <p:sp>
        <p:nvSpPr>
          <p:cNvPr id="14" name="card2"/>
          <p:cNvSpPr/>
          <p:nvPr/>
        </p:nvSpPr>
        <p:spPr>
          <a:xfrm>
            <a:off x="8097316" y="1389888"/>
            <a:ext cx="3527450" cy="4846320"/>
          </a:xfrm>
          <a:prstGeom prst="rect">
            <a:avLst/>
          </a:prstGeom>
          <a:solidFill>
            <a:srgbClr val="FAF7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097316" y="1389888"/>
            <a:ext cx="3527450" cy="88900"/>
          </a:xfrm>
          <a:prstGeom prst="rect">
            <a:avLst/>
          </a:prstGeom>
          <a:solidFill>
            <a:srgbClr val="104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280196" y="1700784"/>
            <a:ext cx="3161690" cy="1097280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200" b="1" i="0">
                <a:solidFill>
                  <a:srgbClr val="0A322E"/>
                </a:solidFill>
                <a:latin typeface="Georgia"/>
                <a:cs typeface="Georgia"/>
              </a:rPr>
              <a:t>Why it is told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80196" y="2807208"/>
            <a:ext cx="3161690" cy="2011680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2400" b="0" i="0">
                <a:solidFill>
                  <a:srgbClr val="1C2321"/>
                </a:solidFill>
                <a:latin typeface="Segoe UI"/>
                <a:cs typeface="Segoe UI"/>
              </a:rPr>
              <a:t>The books name them one by one, and so do we</a:t>
            </a: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nd"/>
          <p:cNvSpPr/>
          <p:nvPr/>
        </p:nvSpPr>
        <p:spPr>
          <a:xfrm>
            <a:off x="0" y="0"/>
            <a:ext cx="12191695" cy="1223263"/>
          </a:xfrm>
          <a:prstGeom prst="rect">
            <a:avLst/>
          </a:prstGeom>
          <a:solidFill>
            <a:srgbClr val="104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ule"/>
          <p:cNvSpPr/>
          <p:nvPr/>
        </p:nvSpPr>
        <p:spPr>
          <a:xfrm>
            <a:off x="0" y="1223263"/>
            <a:ext cx="12191695" cy="57150"/>
          </a:xfrm>
          <a:prstGeom prst="rect">
            <a:avLst/>
          </a:prstGeom>
          <a:solidFill>
            <a:srgbClr val="C49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66928" y="91440"/>
            <a:ext cx="11057839" cy="274320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400" b="1" i="0">
                <a:solidFill>
                  <a:srgbClr val="C49A45"/>
                </a:solidFill>
                <a:latin typeface="Segoe UI"/>
                <a:cs typeface="Segoe UI"/>
              </a:rPr>
              <a:t>Medina, and 12 AH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02336"/>
            <a:ext cx="11057839" cy="711199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4000" b="1" i="0">
                <a:solidFill>
                  <a:srgbClr val="FAF7F0"/>
                </a:solidFill>
                <a:latin typeface="Georgia"/>
                <a:cs typeface="Georgia"/>
              </a:rPr>
              <a:t>Two brothers by appointment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824990"/>
            <a:ext cx="11057839" cy="1950720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r" rtl="1">
              <a:lnSpc>
                <a:spcPct val="150000"/>
              </a:lnSpc>
            </a:pPr>
            <a:r>
              <a:rPr lang="ar-SA" sz="4400" b="0" i="0">
                <a:solidFill>
                  <a:srgbClr val="0A322E"/>
                </a:solidFill>
                <a:latin typeface="Traditional Arabic"/>
                <a:cs typeface="Traditional Arabic"/>
              </a:rPr>
              <a:t>وقد آخى رسول الله ﷺ بينه وبين معن بن عديّ الأنصاري وقد قُتلا جميعًا باليمامة.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3903726"/>
            <a:ext cx="1554480" cy="38100"/>
          </a:xfrm>
          <a:prstGeom prst="rect">
            <a:avLst/>
          </a:prstGeom>
          <a:solidFill>
            <a:srgbClr val="C49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66928" y="4214622"/>
            <a:ext cx="11057839" cy="1632204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3000" b="0" i="1">
                <a:solidFill>
                  <a:srgbClr val="1C2321"/>
                </a:solidFill>
                <a:latin typeface="Georgia"/>
                <a:cs typeface="Traditional Arabic"/>
              </a:rPr>
              <a:t>"The Messenger of Allah ﷺ made him and Maʿn b. ʿAdī al-Anṣārī brothers, and the two of them were killed together at al-Yamāma."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144768"/>
            <a:ext cx="11057839" cy="457200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400" b="0" i="0">
                <a:solidFill>
                  <a:srgbClr val="5A6862"/>
                </a:solidFill>
                <a:latin typeface="Segoe UI"/>
                <a:cs typeface="Segoe UI"/>
              </a:rPr>
              <a:t>al-Bidaya wa'l-Nihaya, vol. 7, p. 49</a:t>
            </a: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nd"/>
          <p:cNvSpPr/>
          <p:nvPr/>
        </p:nvSpPr>
        <p:spPr>
          <a:xfrm>
            <a:off x="0" y="0"/>
            <a:ext cx="12191695" cy="1223263"/>
          </a:xfrm>
          <a:prstGeom prst="rect">
            <a:avLst/>
          </a:prstGeom>
          <a:solidFill>
            <a:srgbClr val="104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ule"/>
          <p:cNvSpPr/>
          <p:nvPr/>
        </p:nvSpPr>
        <p:spPr>
          <a:xfrm>
            <a:off x="0" y="1223263"/>
            <a:ext cx="12191695" cy="57150"/>
          </a:xfrm>
          <a:prstGeom prst="rect">
            <a:avLst/>
          </a:prstGeom>
          <a:solidFill>
            <a:srgbClr val="C49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66928" y="91440"/>
            <a:ext cx="11057839" cy="274320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400" b="1" i="0">
                <a:solidFill>
                  <a:srgbClr val="C49A45"/>
                </a:solidFill>
                <a:latin typeface="Segoe UI"/>
                <a:cs typeface="Segoe UI"/>
              </a:rPr>
              <a:t>11 AH Medina → 12 AH…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02336"/>
            <a:ext cx="11057839" cy="711199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4000" b="1" i="0">
                <a:solidFill>
                  <a:srgbClr val="FAF7F0"/>
                </a:solidFill>
                <a:latin typeface="Georgia"/>
                <a:cs typeface="Georgia"/>
              </a:rPr>
              <a:t>«So that I may confirm him dead»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882140"/>
            <a:ext cx="11057839" cy="2331720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r" rtl="1">
              <a:lnSpc>
                <a:spcPct val="150000"/>
              </a:lnSpc>
            </a:pPr>
            <a:r>
              <a:rPr lang="ar-SA" sz="5400" b="0" i="0">
                <a:solidFill>
                  <a:srgbClr val="0A322E"/>
                </a:solidFill>
                <a:latin typeface="Traditional Arabic"/>
                <a:cs typeface="Traditional Arabic"/>
              </a:rPr>
              <a:t>مَا أُحِبُّ أَنِّي مُتُّ قَبْلَهُ حَتَّى أُصَدِّقَهُ مَيْتاً، كَمَا صَدَّقْتُهُ حَيّاً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4341876"/>
            <a:ext cx="1554480" cy="38100"/>
          </a:xfrm>
          <a:prstGeom prst="rect">
            <a:avLst/>
          </a:prstGeom>
          <a:solidFill>
            <a:srgbClr val="C49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66928" y="4652772"/>
            <a:ext cx="11057839" cy="1136903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3000" b="0" i="1">
                <a:solidFill>
                  <a:srgbClr val="1C2321"/>
                </a:solidFill>
                <a:latin typeface="Georgia"/>
                <a:cs typeface="Georgia"/>
              </a:rPr>
              <a:t>…do not wish that I had died before him — so that I may confirm him dead as I confirmed him alive.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144768"/>
            <a:ext cx="11057839" cy="457200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400" b="0" i="0">
                <a:solidFill>
                  <a:srgbClr val="5A6862"/>
                </a:solidFill>
                <a:latin typeface="Segoe UI"/>
                <a:cs typeface="Segoe UI"/>
              </a:rPr>
              <a:t>Siyar A'lam al-Nubala, vol. 1, p. 321</a:t>
            </a: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nd"/>
          <p:cNvSpPr/>
          <p:nvPr/>
        </p:nvSpPr>
        <p:spPr>
          <a:xfrm>
            <a:off x="0" y="0"/>
            <a:ext cx="12191695" cy="1223263"/>
          </a:xfrm>
          <a:prstGeom prst="rect">
            <a:avLst/>
          </a:prstGeom>
          <a:solidFill>
            <a:srgbClr val="104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ule"/>
          <p:cNvSpPr/>
          <p:nvPr/>
        </p:nvSpPr>
        <p:spPr>
          <a:xfrm>
            <a:off x="0" y="1223263"/>
            <a:ext cx="12191695" cy="57150"/>
          </a:xfrm>
          <a:prstGeom prst="rect">
            <a:avLst/>
          </a:prstGeom>
          <a:solidFill>
            <a:srgbClr val="C49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66928" y="91440"/>
            <a:ext cx="11057839" cy="274320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400" b="1" i="0">
                <a:solidFill>
                  <a:srgbClr val="C49A45"/>
                </a:solidFill>
                <a:latin typeface="Segoe UI"/>
                <a:cs typeface="Segoe UI"/>
              </a:rPr>
              <a:t>12 AH, and after it at…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02336"/>
            <a:ext cx="11057839" cy="711199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4000" b="1" i="0">
                <a:solidFill>
                  <a:srgbClr val="FAF7F0"/>
                </a:solidFill>
                <a:latin typeface="Georgia"/>
                <a:cs typeface="Arabic Typesetting"/>
              </a:rPr>
              <a:t>The man who killed Zayd ؓ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2072640"/>
            <a:ext cx="11057839" cy="1950720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r" rtl="1">
              <a:lnSpc>
                <a:spcPct val="150000"/>
              </a:lnSpc>
            </a:pPr>
            <a:r>
              <a:rPr lang="ar-SA" sz="4400" b="0" i="0">
                <a:solidFill>
                  <a:srgbClr val="0A322E"/>
                </a:solidFill>
                <a:latin typeface="Traditional Arabic"/>
                <a:cs typeface="Traditional Arabic"/>
              </a:rPr>
              <a:t>وقال لعمر: يا أميرَ المؤمنين إن الله أكرم زيدًا بيدي ولم يُهنِّي على يده.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4151376"/>
            <a:ext cx="1554480" cy="38100"/>
          </a:xfrm>
          <a:prstGeom prst="rect">
            <a:avLst/>
          </a:prstGeom>
          <a:solidFill>
            <a:srgbClr val="C49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66928" y="4462272"/>
            <a:ext cx="11057839" cy="1136903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3000" b="0" i="1">
                <a:solidFill>
                  <a:srgbClr val="1C2321"/>
                </a:solidFill>
                <a:latin typeface="Georgia"/>
                <a:cs typeface="Georgia"/>
              </a:rPr>
              <a:t>…said to ʿUmar: Commander of the Faithful — Allah honoured Zayd at my hand, and did not disgrace me at his.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144768"/>
            <a:ext cx="11057839" cy="457200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400" b="0" i="0">
                <a:solidFill>
                  <a:srgbClr val="5A6862"/>
                </a:solidFill>
                <a:latin typeface="Segoe UI"/>
                <a:cs typeface="Segoe UI"/>
              </a:rPr>
              <a:t>al-Bidaya wa'l-Nihaya, vol. 7, p. 49</a:t>
            </a: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nd"/>
          <p:cNvSpPr/>
          <p:nvPr/>
        </p:nvSpPr>
        <p:spPr>
          <a:xfrm>
            <a:off x="0" y="0"/>
            <a:ext cx="12191695" cy="1223263"/>
          </a:xfrm>
          <a:prstGeom prst="rect">
            <a:avLst/>
          </a:prstGeom>
          <a:solidFill>
            <a:srgbClr val="104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ule"/>
          <p:cNvSpPr/>
          <p:nvPr/>
        </p:nvSpPr>
        <p:spPr>
          <a:xfrm>
            <a:off x="0" y="1223263"/>
            <a:ext cx="12191695" cy="57150"/>
          </a:xfrm>
          <a:prstGeom prst="rect">
            <a:avLst/>
          </a:prstGeom>
          <a:solidFill>
            <a:srgbClr val="C49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66928" y="91440"/>
            <a:ext cx="11057839" cy="274320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400" b="1" i="0">
                <a:solidFill>
                  <a:srgbClr val="C49A45"/>
                </a:solidFill>
                <a:latin typeface="Segoe UI"/>
                <a:cs typeface="Segoe UI"/>
              </a:rPr>
              <a:t>12 AH, at al-Yamāma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02336"/>
            <a:ext cx="11057839" cy="711199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4000" b="1" i="0">
                <a:solidFill>
                  <a:srgbClr val="FAF7F0"/>
                </a:solidFill>
                <a:latin typeface="Georgia"/>
                <a:cs typeface="Georgia"/>
              </a:rPr>
              <a:t>The arrow he pulled out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634490"/>
            <a:ext cx="11057839" cy="2331720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r" rtl="1">
              <a:lnSpc>
                <a:spcPct val="150000"/>
              </a:lnSpc>
            </a:pPr>
            <a:r>
              <a:rPr lang="ar-SA" sz="5400" b="0" i="0">
                <a:solidFill>
                  <a:srgbClr val="0A322E"/>
                </a:solidFill>
                <a:latin typeface="Traditional Arabic"/>
                <a:cs typeface="Traditional Arabic"/>
              </a:rPr>
              <a:t>فنزعه، وتحزم وأخذ السيف وقاتل حتى قتل، فوجد به جراحات كثيرة.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4094226"/>
            <a:ext cx="1554480" cy="38100"/>
          </a:xfrm>
          <a:prstGeom prst="rect">
            <a:avLst/>
          </a:prstGeom>
          <a:solidFill>
            <a:srgbClr val="C49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66928" y="4405122"/>
            <a:ext cx="11057839" cy="1632204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3000" b="0" i="1">
                <a:solidFill>
                  <a:srgbClr val="1C2321"/>
                </a:solidFill>
                <a:latin typeface="Georgia"/>
                <a:cs typeface="Georgia"/>
              </a:rPr>
              <a:t>…he pulled it out, bound himself up, took his sword and fought until he was killed — and many wounds were found on him.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144768"/>
            <a:ext cx="11057839" cy="457200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400" b="0" i="0">
                <a:solidFill>
                  <a:srgbClr val="5A6862"/>
                </a:solidFill>
                <a:latin typeface="Segoe UI"/>
                <a:cs typeface="Segoe UI"/>
              </a:rPr>
              <a:t>Siyar A'lam al-Nubala, p. 60</a:t>
            </a: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nd"/>
          <p:cNvSpPr/>
          <p:nvPr/>
        </p:nvSpPr>
        <p:spPr>
          <a:xfrm>
            <a:off x="0" y="0"/>
            <a:ext cx="12191695" cy="1223263"/>
          </a:xfrm>
          <a:prstGeom prst="rect">
            <a:avLst/>
          </a:prstGeom>
          <a:solidFill>
            <a:srgbClr val="104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ule"/>
          <p:cNvSpPr/>
          <p:nvPr/>
        </p:nvSpPr>
        <p:spPr>
          <a:xfrm>
            <a:off x="0" y="1223263"/>
            <a:ext cx="12191695" cy="57150"/>
          </a:xfrm>
          <a:prstGeom prst="rect">
            <a:avLst/>
          </a:prstGeom>
          <a:solidFill>
            <a:srgbClr val="C49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66928" y="91440"/>
            <a:ext cx="11057839" cy="274320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400" b="1" i="0">
                <a:solidFill>
                  <a:srgbClr val="C49A45"/>
                </a:solidFill>
                <a:latin typeface="Segoe UI"/>
                <a:cs typeface="Segoe UI"/>
              </a:rPr>
              <a:t>12 AH, at al-Yamāma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02336"/>
            <a:ext cx="11057839" cy="711199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4000" b="1" i="0">
                <a:solidFill>
                  <a:srgbClr val="FAF7F0"/>
                </a:solidFill>
                <a:latin typeface="Georgia"/>
                <a:cs typeface="Georgia"/>
              </a:rPr>
              <a:t>The son of the head of the hypocrites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882140"/>
            <a:ext cx="11057839" cy="2331720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r" rtl="1">
              <a:lnSpc>
                <a:spcPct val="150000"/>
              </a:lnSpc>
            </a:pPr>
            <a:r>
              <a:rPr lang="ar-SA" sz="5400" b="0" i="0">
                <a:solidFill>
                  <a:srgbClr val="0A322E"/>
                </a:solidFill>
                <a:latin typeface="Traditional Arabic"/>
                <a:cs typeface="Traditional Arabic"/>
              </a:rPr>
              <a:t>وكان أبوه رأسَ المنافقين، وكان أشدَّ الناس على أبيه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4341876"/>
            <a:ext cx="1554480" cy="38100"/>
          </a:xfrm>
          <a:prstGeom prst="rect">
            <a:avLst/>
          </a:prstGeom>
          <a:solidFill>
            <a:srgbClr val="C49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66928" y="4652772"/>
            <a:ext cx="11057839" cy="1136903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3000" b="0" i="1">
                <a:solidFill>
                  <a:srgbClr val="1C2321"/>
                </a:solidFill>
                <a:latin typeface="Georgia"/>
                <a:cs typeface="Georgia"/>
              </a:rPr>
              <a:t>His father was the head of the hypocrites, and he was the hardest of all people on his father.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144768"/>
            <a:ext cx="11057839" cy="457200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400" b="0" i="0">
                <a:solidFill>
                  <a:srgbClr val="5A6862"/>
                </a:solidFill>
                <a:latin typeface="Segoe UI"/>
                <a:cs typeface="Segoe UI"/>
              </a:rPr>
              <a:t>al-Bidaya wa'l-Nihaya, vol. 7, p. 53</a:t>
            </a: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nd"/>
          <p:cNvSpPr/>
          <p:nvPr/>
        </p:nvSpPr>
        <p:spPr>
          <a:xfrm>
            <a:off x="0" y="0"/>
            <a:ext cx="12191695" cy="1223263"/>
          </a:xfrm>
          <a:prstGeom prst="rect">
            <a:avLst/>
          </a:prstGeom>
          <a:solidFill>
            <a:srgbClr val="104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ule"/>
          <p:cNvSpPr/>
          <p:nvPr/>
        </p:nvSpPr>
        <p:spPr>
          <a:xfrm>
            <a:off x="0" y="1223263"/>
            <a:ext cx="12191695" cy="57150"/>
          </a:xfrm>
          <a:prstGeom prst="rect">
            <a:avLst/>
          </a:prstGeom>
          <a:solidFill>
            <a:srgbClr val="C49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66928" y="91440"/>
            <a:ext cx="11057839" cy="274320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400" b="1" i="0">
                <a:solidFill>
                  <a:srgbClr val="C49A45"/>
                </a:solidFill>
                <a:latin typeface="Segoe UI"/>
                <a:cs typeface="Segoe UI"/>
              </a:rPr>
              <a:t>12 AH, at al-Yamāma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02336"/>
            <a:ext cx="11057839" cy="711199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4000" b="1" i="0">
                <a:solidFill>
                  <a:srgbClr val="FAF7F0"/>
                </a:solidFill>
                <a:latin typeface="Georgia"/>
                <a:cs typeface="Georgia"/>
              </a:rPr>
              <a:t>Three generations, one morning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824990"/>
            <a:ext cx="11057839" cy="1950720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r" rtl="1">
              <a:lnSpc>
                <a:spcPct val="150000"/>
              </a:lnSpc>
            </a:pPr>
            <a:r>
              <a:rPr lang="ar-SA" sz="4400" b="0" i="0">
                <a:solidFill>
                  <a:srgbClr val="0A322E"/>
                </a:solidFill>
                <a:latin typeface="Traditional Arabic"/>
                <a:cs typeface="Traditional Arabic"/>
              </a:rPr>
              <a:t>لا أغيّرُ اسمًا سمانيه أبواي، فلم تزل الحزونة فينا … استُشهد يومَ اليمامة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3903726"/>
            <a:ext cx="1554480" cy="38100"/>
          </a:xfrm>
          <a:prstGeom prst="rect">
            <a:avLst/>
          </a:prstGeom>
          <a:solidFill>
            <a:srgbClr val="C49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66928" y="4214622"/>
            <a:ext cx="11057839" cy="1632204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3000" b="0" i="1">
                <a:solidFill>
                  <a:srgbClr val="1C2321"/>
                </a:solidFill>
                <a:latin typeface="Georgia"/>
                <a:cs typeface="Georgia"/>
              </a:rPr>
              <a:t>I will not change a name my parents gave me. So the roughness never left us … He was martyred on the day of al-Yamāma.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144768"/>
            <a:ext cx="11057839" cy="457200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400" b="0" i="0">
                <a:solidFill>
                  <a:srgbClr val="5A6862"/>
                </a:solidFill>
                <a:latin typeface="Segoe UI"/>
                <a:cs typeface="Segoe UI"/>
              </a:rPr>
              <a:t>al-Bidaya wa'l-Nihaya, vol. 7, p. 49 — the naming report: Sahih al-Bukhari 6190</a:t>
            </a: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nd"/>
          <p:cNvSpPr/>
          <p:nvPr/>
        </p:nvSpPr>
        <p:spPr>
          <a:xfrm>
            <a:off x="0" y="0"/>
            <a:ext cx="12191695" cy="1223263"/>
          </a:xfrm>
          <a:prstGeom prst="rect">
            <a:avLst/>
          </a:prstGeom>
          <a:solidFill>
            <a:srgbClr val="104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ule"/>
          <p:cNvSpPr/>
          <p:nvPr/>
        </p:nvSpPr>
        <p:spPr>
          <a:xfrm>
            <a:off x="0" y="1223263"/>
            <a:ext cx="12191695" cy="57150"/>
          </a:xfrm>
          <a:prstGeom prst="rect">
            <a:avLst/>
          </a:prstGeom>
          <a:solidFill>
            <a:srgbClr val="C49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66928" y="91440"/>
            <a:ext cx="11057839" cy="274320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400" b="1" i="0">
                <a:solidFill>
                  <a:srgbClr val="C49A45"/>
                </a:solidFill>
                <a:latin typeface="Segoe UI"/>
                <a:cs typeface="Segoe UI"/>
              </a:rPr>
              <a:t>11–12 AH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02336"/>
            <a:ext cx="11057839" cy="711199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4000" b="1" i="0">
                <a:solidFill>
                  <a:srgbClr val="FAF7F0"/>
                </a:solidFill>
                <a:latin typeface="Georgia"/>
                <a:cs typeface="Georgia"/>
              </a:rPr>
              <a:t>The mother at al-Yamāma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2396490"/>
            <a:ext cx="11057839" cy="1303020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r" rtl="1">
              <a:lnSpc>
                <a:spcPct val="150000"/>
              </a:lnSpc>
            </a:pPr>
            <a:r>
              <a:rPr lang="ar-SA" sz="5400" b="0" i="0">
                <a:solidFill>
                  <a:srgbClr val="0A322E"/>
                </a:solidFill>
                <a:latin typeface="Traditional Arabic"/>
                <a:cs typeface="Traditional Arabic"/>
              </a:rPr>
              <a:t>أتشهدُ أني رسولُ اللَّه؟ فيقول: لا أسمع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3827526"/>
            <a:ext cx="1554480" cy="38100"/>
          </a:xfrm>
          <a:prstGeom prst="rect">
            <a:avLst/>
          </a:prstGeom>
          <a:solidFill>
            <a:srgbClr val="C49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66928" y="4138422"/>
            <a:ext cx="11057839" cy="1136903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3000" b="0" i="1">
                <a:solidFill>
                  <a:srgbClr val="1C2321"/>
                </a:solidFill>
                <a:latin typeface="Georgia"/>
                <a:cs typeface="Georgia"/>
              </a:rPr>
              <a:t>Do you testify that I am the Messenger of Allah? And he would say: I do not hear.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144768"/>
            <a:ext cx="11057839" cy="457200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400" b="0" i="0">
                <a:solidFill>
                  <a:srgbClr val="5A6862"/>
                </a:solidFill>
                <a:latin typeface="Segoe UI"/>
                <a:cs typeface="Segoe UI"/>
              </a:rPr>
              <a:t>al-Bidaya wa'l-Nihaya, vol. 3, p. 428</a:t>
            </a: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nd"/>
          <p:cNvSpPr/>
          <p:nvPr/>
        </p:nvSpPr>
        <p:spPr>
          <a:xfrm>
            <a:off x="0" y="0"/>
            <a:ext cx="12191695" cy="1223263"/>
          </a:xfrm>
          <a:prstGeom prst="rect">
            <a:avLst/>
          </a:prstGeom>
          <a:solidFill>
            <a:srgbClr val="104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ule"/>
          <p:cNvSpPr/>
          <p:nvPr/>
        </p:nvSpPr>
        <p:spPr>
          <a:xfrm>
            <a:off x="0" y="1223263"/>
            <a:ext cx="12191695" cy="57150"/>
          </a:xfrm>
          <a:prstGeom prst="rect">
            <a:avLst/>
          </a:prstGeom>
          <a:solidFill>
            <a:srgbClr val="C49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66928" y="91440"/>
            <a:ext cx="11057839" cy="274320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400" b="1" i="0">
                <a:solidFill>
                  <a:srgbClr val="C49A45"/>
                </a:solidFill>
                <a:latin typeface="Segoe UI"/>
                <a:cs typeface="Segoe UI"/>
              </a:rPr>
              <a:t>12 AH, at al-Yamāma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02336"/>
            <a:ext cx="11057839" cy="711199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4000" b="1" i="0">
                <a:solidFill>
                  <a:srgbClr val="FAF7F0"/>
                </a:solidFill>
                <a:latin typeface="Georgia"/>
                <a:cs typeface="Georgia"/>
              </a:rPr>
              <a:t>Her other son, and one of the four names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824990"/>
            <a:ext cx="11057839" cy="1950720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r" rtl="1">
              <a:lnSpc>
                <a:spcPct val="150000"/>
              </a:lnSpc>
            </a:pPr>
            <a:r>
              <a:rPr lang="ar-SA" sz="4400" b="0" i="0">
                <a:solidFill>
                  <a:srgbClr val="0A322E"/>
                </a:solidFill>
                <a:latin typeface="Traditional Arabic"/>
                <a:cs typeface="Traditional Arabic"/>
              </a:rPr>
              <a:t>وَابْنُهَا الآخَرُ عَبْدُ اللهِ بنُ زَيْدٍ المَازِنِيُّ … وَهُوَ الَّذِي قَتَلَ مُسَيْلِمَةَ الكَذَّابَ بِسَيْفِهِ.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3903726"/>
            <a:ext cx="1554480" cy="38100"/>
          </a:xfrm>
          <a:prstGeom prst="rect">
            <a:avLst/>
          </a:prstGeom>
          <a:solidFill>
            <a:srgbClr val="C49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66928" y="4214622"/>
            <a:ext cx="11057839" cy="1632204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3000" b="0" i="1">
                <a:solidFill>
                  <a:srgbClr val="1C2321"/>
                </a:solidFill>
                <a:latin typeface="Georgia"/>
                <a:cs typeface="Georgia"/>
              </a:rPr>
              <a:t>Her other son, ʿAbd Allāh b. Zayd al-Māzinī … and he is the one who killed Musaylima the liar with his sword.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144768"/>
            <a:ext cx="11057839" cy="457200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400" b="0" i="0">
                <a:solidFill>
                  <a:srgbClr val="5A6862"/>
                </a:solidFill>
                <a:latin typeface="Segoe UI"/>
                <a:cs typeface="Segoe UI"/>
              </a:rPr>
              <a:t>Siyar A'lam al-Nubala, vol. 2, p. 282</a:t>
            </a: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nd"/>
          <p:cNvSpPr/>
          <p:nvPr/>
        </p:nvSpPr>
        <p:spPr>
          <a:xfrm>
            <a:off x="0" y="0"/>
            <a:ext cx="12191695" cy="1843024"/>
          </a:xfrm>
          <a:prstGeom prst="rect">
            <a:avLst/>
          </a:prstGeom>
          <a:solidFill>
            <a:srgbClr val="104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ule"/>
          <p:cNvSpPr/>
          <p:nvPr/>
        </p:nvSpPr>
        <p:spPr>
          <a:xfrm>
            <a:off x="0" y="1843024"/>
            <a:ext cx="12191695" cy="57150"/>
          </a:xfrm>
          <a:prstGeom prst="rect">
            <a:avLst/>
          </a:prstGeom>
          <a:solidFill>
            <a:srgbClr val="C49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66928" y="91440"/>
            <a:ext cx="11057839" cy="274320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400" b="1" i="0">
                <a:solidFill>
                  <a:srgbClr val="C49A45"/>
                </a:solidFill>
                <a:latin typeface="Segoe UI"/>
                <a:cs typeface="Segoe UI"/>
              </a:rPr>
              <a:t>12 AH, and al-Yarmūk after 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02336"/>
            <a:ext cx="11057839" cy="1330960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4000" b="1" i="0">
                <a:solidFill>
                  <a:srgbClr val="FAF7F0"/>
                </a:solidFill>
                <a:latin typeface="Georgia"/>
                <a:cs typeface="Georgia"/>
              </a:rPr>
              <a:t>The father at al-Yamāma, the son at al-Yarmūk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2072640"/>
            <a:ext cx="11057839" cy="1950720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r" rtl="1">
              <a:lnSpc>
                <a:spcPct val="150000"/>
              </a:lnSpc>
            </a:pPr>
            <a:r>
              <a:rPr lang="ar-SA" sz="4400" b="0" i="0">
                <a:solidFill>
                  <a:srgbClr val="0A322E"/>
                </a:solidFill>
                <a:latin typeface="Traditional Arabic"/>
                <a:cs typeface="Traditional Arabic"/>
              </a:rPr>
              <a:t>بأنه سيقتل ويدفن، وأن ابنه يحرص على الشهادةِ فلا ينالُها عامَه ذلك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4151376"/>
            <a:ext cx="1554480" cy="38100"/>
          </a:xfrm>
          <a:prstGeom prst="rect">
            <a:avLst/>
          </a:prstGeom>
          <a:solidFill>
            <a:srgbClr val="C49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66928" y="4462272"/>
            <a:ext cx="11057839" cy="1136903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3000" b="0" i="1">
                <a:solidFill>
                  <a:srgbClr val="1C2321"/>
                </a:solidFill>
                <a:latin typeface="Georgia"/>
                <a:cs typeface="Georgia"/>
              </a:rPr>
              <a:t>…that he would be killed and buried, and that his son would press for martyrdom and not attain it that year.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144768"/>
            <a:ext cx="11057839" cy="457200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400" b="0" i="0">
                <a:solidFill>
                  <a:srgbClr val="5A6862"/>
                </a:solidFill>
                <a:latin typeface="Segoe UI"/>
                <a:cs typeface="Segoe UI"/>
              </a:rPr>
              <a:t>al-Bidaya wa'l-Nihaya, vol. 7, p. 52</a:t>
            </a: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2651760"/>
            <a:ext cx="12191695" cy="1554480"/>
          </a:xfrm>
          <a:prstGeom prst="rect">
            <a:avLst/>
          </a:prstGeom>
          <a:solidFill>
            <a:srgbClr val="FAF7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2651760"/>
            <a:ext cx="114300" cy="1554480"/>
          </a:xfrm>
          <a:prstGeom prst="rect">
            <a:avLst/>
          </a:prstGeom>
          <a:solidFill>
            <a:srgbClr val="C49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68680" y="2788920"/>
            <a:ext cx="10728655" cy="731520"/>
          </a:xfrm>
          <a:prstGeom prst="rect">
            <a:avLst/>
          </a:prstGeom>
          <a:noFill/>
        </p:spPr>
        <p:txBody>
          <a:bodyPr wrap="square" lIns="36576" tIns="0" rIns="36576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4600" b="1" i="0">
                <a:solidFill>
                  <a:srgbClr val="0A322E"/>
                </a:solidFill>
                <a:latin typeface="Georgia"/>
                <a:cs typeface="Georgia"/>
              </a:rPr>
              <a:t>Part VIII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3520440"/>
            <a:ext cx="10728655" cy="548640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800" b="0" i="0">
                <a:solidFill>
                  <a:srgbClr val="5A6862"/>
                </a:solidFill>
                <a:latin typeface="Segoe UI"/>
                <a:cs typeface="Segoe UI"/>
              </a:rPr>
              <a:t>What was left</a:t>
            </a:r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nd"/>
          <p:cNvSpPr/>
          <p:nvPr/>
        </p:nvSpPr>
        <p:spPr>
          <a:xfrm>
            <a:off x="0" y="0"/>
            <a:ext cx="12191695" cy="1223263"/>
          </a:xfrm>
          <a:prstGeom prst="rect">
            <a:avLst/>
          </a:prstGeom>
          <a:solidFill>
            <a:srgbClr val="104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ule"/>
          <p:cNvSpPr/>
          <p:nvPr/>
        </p:nvSpPr>
        <p:spPr>
          <a:xfrm>
            <a:off x="0" y="1223263"/>
            <a:ext cx="12191695" cy="57150"/>
          </a:xfrm>
          <a:prstGeom prst="rect">
            <a:avLst/>
          </a:prstGeom>
          <a:solidFill>
            <a:srgbClr val="C49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66928" y="91440"/>
            <a:ext cx="11057839" cy="274320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400" b="1" i="0">
                <a:solidFill>
                  <a:srgbClr val="C49A45"/>
                </a:solidFill>
                <a:latin typeface="Segoe UI"/>
                <a:cs typeface="Segoe UI"/>
              </a:rPr>
              <a:t>After the battle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02336"/>
            <a:ext cx="11057839" cy="711199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4000" b="1" i="0">
                <a:solidFill>
                  <a:srgbClr val="FAF7F0"/>
                </a:solidFill>
                <a:latin typeface="Georgia"/>
                <a:cs typeface="Georgia"/>
              </a:rPr>
              <a:t>And one man who lived</a:t>
            </a:r>
          </a:p>
        </p:txBody>
      </p:sp>
      <p:sp>
        <p:nvSpPr>
          <p:cNvPr id="6" name="card0"/>
          <p:cNvSpPr/>
          <p:nvPr/>
        </p:nvSpPr>
        <p:spPr>
          <a:xfrm>
            <a:off x="566928" y="1389888"/>
            <a:ext cx="3527450" cy="4846320"/>
          </a:xfrm>
          <a:prstGeom prst="rect">
            <a:avLst/>
          </a:prstGeom>
          <a:solidFill>
            <a:srgbClr val="FAF7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66928" y="1389888"/>
            <a:ext cx="3527450" cy="88900"/>
          </a:xfrm>
          <a:prstGeom prst="rect">
            <a:avLst/>
          </a:prstGeom>
          <a:solidFill>
            <a:srgbClr val="104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49808" y="1700784"/>
            <a:ext cx="3161690" cy="1097280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200" b="1" i="0">
                <a:solidFill>
                  <a:srgbClr val="0A322E"/>
                </a:solidFill>
                <a:latin typeface="Georgia"/>
                <a:cs typeface="Georgia"/>
              </a:rPr>
              <a:t>The garden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2807208"/>
            <a:ext cx="3161690" cy="2011680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2400" b="0" i="0">
                <a:solidFill>
                  <a:srgbClr val="1C2321"/>
                </a:solidFill>
                <a:latin typeface="Segoe UI"/>
                <a:cs typeface="Arabic Typesetting"/>
              </a:rPr>
              <a:t>The man who asked to be thrown over the wall was al-Barāʾ b. Mālik ؓ</a:t>
            </a:r>
          </a:p>
        </p:txBody>
      </p:sp>
      <p:sp>
        <p:nvSpPr>
          <p:cNvPr id="10" name="card1"/>
          <p:cNvSpPr/>
          <p:nvPr/>
        </p:nvSpPr>
        <p:spPr>
          <a:xfrm>
            <a:off x="4332122" y="1389888"/>
            <a:ext cx="3527450" cy="4846320"/>
          </a:xfrm>
          <a:prstGeom prst="rect">
            <a:avLst/>
          </a:prstGeom>
          <a:solidFill>
            <a:srgbClr val="FAF7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332122" y="1389888"/>
            <a:ext cx="3527450" cy="88900"/>
          </a:xfrm>
          <a:prstGeom prst="rect">
            <a:avLst/>
          </a:prstGeom>
          <a:solidFill>
            <a:srgbClr val="104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15002" y="1700784"/>
            <a:ext cx="3161690" cy="1097280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200" b="1" i="0">
                <a:solidFill>
                  <a:srgbClr val="0A322E"/>
                </a:solidFill>
                <a:latin typeface="Georgia"/>
                <a:cs typeface="Georgia"/>
              </a:rPr>
              <a:t>He lived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15002" y="2807208"/>
            <a:ext cx="3161690" cy="2011680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2400" b="0" i="0">
                <a:solidFill>
                  <a:srgbClr val="1C2321"/>
                </a:solidFill>
                <a:latin typeface="Segoe UI"/>
                <a:cs typeface="Arabic Typesetting"/>
              </a:rPr>
              <a:t>Eighty-odd wounds, and Khālid ؓ stayed a month treating them</a:t>
            </a:r>
          </a:p>
        </p:txBody>
      </p:sp>
      <p:sp>
        <p:nvSpPr>
          <p:cNvPr id="14" name="card2"/>
          <p:cNvSpPr/>
          <p:nvPr/>
        </p:nvSpPr>
        <p:spPr>
          <a:xfrm>
            <a:off x="8097316" y="1389888"/>
            <a:ext cx="3527450" cy="4846320"/>
          </a:xfrm>
          <a:prstGeom prst="rect">
            <a:avLst/>
          </a:prstGeom>
          <a:solidFill>
            <a:srgbClr val="FAF7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097316" y="1389888"/>
            <a:ext cx="3527450" cy="88900"/>
          </a:xfrm>
          <a:prstGeom prst="rect">
            <a:avLst/>
          </a:prstGeom>
          <a:solidFill>
            <a:srgbClr val="104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280196" y="1700784"/>
            <a:ext cx="3161690" cy="1097280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200" b="1" i="0">
                <a:solidFill>
                  <a:srgbClr val="0A322E"/>
                </a:solidFill>
                <a:latin typeface="Georgia"/>
                <a:cs typeface="Georgia"/>
              </a:rPr>
              <a:t>What is left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80196" y="2807208"/>
            <a:ext cx="3161690" cy="2011680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2400" b="0" i="0">
                <a:solidFill>
                  <a:srgbClr val="1C2321"/>
                </a:solidFill>
                <a:latin typeface="Segoe UI"/>
                <a:cs typeface="Segoe UI"/>
              </a:rPr>
              <a:t>What was said about him afterwards — and then the count</a:t>
            </a: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nd"/>
          <p:cNvSpPr/>
          <p:nvPr/>
        </p:nvSpPr>
        <p:spPr>
          <a:xfrm>
            <a:off x="0" y="0"/>
            <a:ext cx="12191695" cy="1223263"/>
          </a:xfrm>
          <a:prstGeom prst="rect">
            <a:avLst/>
          </a:prstGeom>
          <a:solidFill>
            <a:srgbClr val="104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ule"/>
          <p:cNvSpPr/>
          <p:nvPr/>
        </p:nvSpPr>
        <p:spPr>
          <a:xfrm>
            <a:off x="0" y="1223263"/>
            <a:ext cx="12191695" cy="57150"/>
          </a:xfrm>
          <a:prstGeom prst="rect">
            <a:avLst/>
          </a:prstGeom>
          <a:solidFill>
            <a:srgbClr val="C49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66928" y="91440"/>
            <a:ext cx="11057839" cy="274320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400" b="1" i="0">
                <a:solidFill>
                  <a:srgbClr val="C49A45"/>
                </a:solidFill>
                <a:latin typeface="Segoe UI"/>
                <a:cs typeface="Arabic Typesetting"/>
              </a:rPr>
              <a:t>ʿUmar's ؓ caliphate, 13–23 AH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02336"/>
            <a:ext cx="11057839" cy="711199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4000" b="1" i="0">
                <a:solidFill>
                  <a:srgbClr val="FAF7F0"/>
                </a:solidFill>
                <a:latin typeface="Georgia"/>
                <a:cs typeface="Georgia"/>
              </a:rPr>
              <a:t>«Do not put al-Barāʾ over an army»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634490"/>
            <a:ext cx="11057839" cy="2331720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r" rtl="1">
              <a:lnSpc>
                <a:spcPct val="150000"/>
              </a:lnSpc>
            </a:pPr>
            <a:r>
              <a:rPr lang="ar-SA" sz="5400" b="0" i="0">
                <a:solidFill>
                  <a:srgbClr val="0A322E"/>
                </a:solidFill>
                <a:latin typeface="Traditional Arabic"/>
                <a:cs typeface="Traditional Arabic"/>
              </a:rPr>
              <a:t>لاَ تَسْتَعْمِلُوا البَرَاءَ عَلَى جَيْشٍ، فَإِنَّهُ مَهْلَكَةٌ مِنَ المَهَالِكِ يَقْدَمُ بِهِم.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4094226"/>
            <a:ext cx="1554480" cy="38100"/>
          </a:xfrm>
          <a:prstGeom prst="rect">
            <a:avLst/>
          </a:prstGeom>
          <a:solidFill>
            <a:srgbClr val="C49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66928" y="4405122"/>
            <a:ext cx="11057839" cy="1632204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3000" b="0" i="1">
                <a:solidFill>
                  <a:srgbClr val="1C2321"/>
                </a:solidFill>
                <a:latin typeface="Georgia"/>
                <a:cs typeface="Georgia"/>
              </a:rPr>
              <a:t>"Do not put al-Barāʾ in command of an army, for he is a destruction among destructions — he presses forward with them."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144768"/>
            <a:ext cx="11057839" cy="457200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400" b="0" i="0">
                <a:solidFill>
                  <a:srgbClr val="5A6862"/>
                </a:solidFill>
                <a:latin typeface="Segoe UI"/>
                <a:cs typeface="Segoe UI"/>
              </a:rPr>
              <a:t>Siyar A'lam al-Nubala, vol. 1, p. 196</a:t>
            </a:r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nd"/>
          <p:cNvSpPr/>
          <p:nvPr/>
        </p:nvSpPr>
        <p:spPr>
          <a:xfrm>
            <a:off x="0" y="0"/>
            <a:ext cx="12191695" cy="1223263"/>
          </a:xfrm>
          <a:prstGeom prst="rect">
            <a:avLst/>
          </a:prstGeom>
          <a:solidFill>
            <a:srgbClr val="104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ule"/>
          <p:cNvSpPr/>
          <p:nvPr/>
        </p:nvSpPr>
        <p:spPr>
          <a:xfrm>
            <a:off x="0" y="1223263"/>
            <a:ext cx="12191695" cy="57150"/>
          </a:xfrm>
          <a:prstGeom prst="rect">
            <a:avLst/>
          </a:prstGeom>
          <a:solidFill>
            <a:srgbClr val="C49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66928" y="91440"/>
            <a:ext cx="11057839" cy="274320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400" b="1" i="0">
                <a:solidFill>
                  <a:srgbClr val="C49A45"/>
                </a:solidFill>
                <a:latin typeface="Segoe UI"/>
                <a:cs typeface="Segoe UI"/>
              </a:rPr>
              <a:t>Undated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02336"/>
            <a:ext cx="11057839" cy="711199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4000" b="1" i="0">
                <a:solidFill>
                  <a:srgbClr val="FAF7F0"/>
                </a:solidFill>
                <a:latin typeface="Georgia"/>
                <a:cs typeface="Georgia"/>
              </a:rPr>
              <a:t>«Do you see me dying in my bed?»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882140"/>
            <a:ext cx="11057839" cy="2331720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r" rtl="1">
              <a:lnSpc>
                <a:spcPct val="150000"/>
              </a:lnSpc>
            </a:pPr>
            <a:r>
              <a:rPr lang="ar-SA" sz="5400" b="0" i="0">
                <a:solidFill>
                  <a:srgbClr val="0A322E"/>
                </a:solidFill>
                <a:latin typeface="Traditional Arabic"/>
                <a:cs typeface="Traditional Arabic"/>
              </a:rPr>
              <a:t>أَترَانِي أَمُوْتُ عَلَى فِرَاشِي؟ وَاللهِ لَقَدْ قَتَلْتُ بِضْعاً وَتِسْعِيْنَ.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4341876"/>
            <a:ext cx="1554480" cy="38100"/>
          </a:xfrm>
          <a:prstGeom prst="rect">
            <a:avLst/>
          </a:prstGeom>
          <a:solidFill>
            <a:srgbClr val="C49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66928" y="4652772"/>
            <a:ext cx="11057839" cy="1136903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3000" b="0" i="1">
                <a:solidFill>
                  <a:srgbClr val="1C2321"/>
                </a:solidFill>
                <a:latin typeface="Georgia"/>
                <a:cs typeface="Georgia"/>
              </a:rPr>
              <a:t>"Do you see me dying in my bed? By Allah, I have killed ninety-odd."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144768"/>
            <a:ext cx="11057839" cy="457200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400" b="0" i="0">
                <a:solidFill>
                  <a:srgbClr val="5A6862"/>
                </a:solidFill>
                <a:latin typeface="Segoe UI"/>
                <a:cs typeface="Segoe UI"/>
              </a:rPr>
              <a:t>Siyar A'lam al-Nubala, vol. 1, p. 198</a:t>
            </a:r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nd"/>
          <p:cNvSpPr/>
          <p:nvPr/>
        </p:nvSpPr>
        <p:spPr>
          <a:xfrm>
            <a:off x="0" y="0"/>
            <a:ext cx="12191695" cy="1223263"/>
          </a:xfrm>
          <a:prstGeom prst="rect">
            <a:avLst/>
          </a:prstGeom>
          <a:solidFill>
            <a:srgbClr val="104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ule"/>
          <p:cNvSpPr/>
          <p:nvPr/>
        </p:nvSpPr>
        <p:spPr>
          <a:xfrm>
            <a:off x="0" y="1223263"/>
            <a:ext cx="12191695" cy="57150"/>
          </a:xfrm>
          <a:prstGeom prst="rect">
            <a:avLst/>
          </a:prstGeom>
          <a:solidFill>
            <a:srgbClr val="C49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66928" y="91440"/>
            <a:ext cx="11057839" cy="274320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400" b="1" i="0">
                <a:solidFill>
                  <a:srgbClr val="C49A45"/>
                </a:solidFill>
                <a:latin typeface="Segoe UI"/>
                <a:cs typeface="Segoe UI"/>
              </a:rPr>
              <a:t>12 AH, after the battle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02336"/>
            <a:ext cx="11057839" cy="711199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4000" b="1" i="0">
                <a:solidFill>
                  <a:srgbClr val="FAF7F0"/>
                </a:solidFill>
                <a:latin typeface="Georgia"/>
                <a:cs typeface="Georgia"/>
              </a:rPr>
              <a:t>The number nobody can give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824990"/>
            <a:ext cx="11057839" cy="1950720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r" rtl="1">
              <a:lnSpc>
                <a:spcPct val="150000"/>
              </a:lnSpc>
            </a:pPr>
            <a:r>
              <a:rPr lang="ar-SA" sz="4400" b="0" i="0">
                <a:solidFill>
                  <a:srgbClr val="0A322E"/>
                </a:solidFill>
                <a:latin typeface="Traditional Arabic"/>
                <a:cs typeface="Traditional Arabic"/>
              </a:rPr>
              <a:t>وذلك بعد ما استَحَرّ القتلُ في القُرّاء يوم اليمامة كما ثبت به الحديث في صحيح البخاري.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3903726"/>
            <a:ext cx="1554480" cy="38100"/>
          </a:xfrm>
          <a:prstGeom prst="rect">
            <a:avLst/>
          </a:prstGeom>
          <a:solidFill>
            <a:srgbClr val="C49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66928" y="4214622"/>
            <a:ext cx="11057839" cy="1632204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3000" b="0" i="1">
                <a:solidFill>
                  <a:srgbClr val="1C2321"/>
                </a:solidFill>
                <a:latin typeface="Georgia"/>
                <a:cs typeface="Georgia"/>
              </a:rPr>
              <a:t>"…and that was after the killing had run hot among the reciters on the day of al-Yamāma, as the ḥadīth in Ṣaḥīḥ al-Bukhārī establishes."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144768"/>
            <a:ext cx="11057839" cy="457200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400" b="0" i="0">
                <a:solidFill>
                  <a:srgbClr val="5A6862"/>
                </a:solidFill>
                <a:latin typeface="Segoe UI"/>
                <a:cs typeface="Segoe UI"/>
              </a:rPr>
              <a:t>al-Bidaya wa'l-Nihaya, vol. 7, p. 79 — Sahih al-Bukhari 4986</a:t>
            </a:r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nd"/>
          <p:cNvSpPr/>
          <p:nvPr/>
        </p:nvSpPr>
        <p:spPr>
          <a:xfrm>
            <a:off x="0" y="0"/>
            <a:ext cx="12191695" cy="1223263"/>
          </a:xfrm>
          <a:prstGeom prst="rect">
            <a:avLst/>
          </a:prstGeom>
          <a:solidFill>
            <a:srgbClr val="104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ule"/>
          <p:cNvSpPr/>
          <p:nvPr/>
        </p:nvSpPr>
        <p:spPr>
          <a:xfrm>
            <a:off x="0" y="1223263"/>
            <a:ext cx="12191695" cy="57150"/>
          </a:xfrm>
          <a:prstGeom prst="rect">
            <a:avLst/>
          </a:prstGeom>
          <a:solidFill>
            <a:srgbClr val="C49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66928" y="91440"/>
            <a:ext cx="11057839" cy="274320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400" b="1" i="0">
                <a:solidFill>
                  <a:srgbClr val="C49A45"/>
                </a:solidFill>
                <a:latin typeface="Segoe UI"/>
                <a:cs typeface="Segoe UI"/>
              </a:rPr>
              <a:t>12 AH, Medina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02336"/>
            <a:ext cx="11057839" cy="711199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4000" b="1" i="0">
                <a:solidFill>
                  <a:srgbClr val="FAF7F0"/>
                </a:solidFill>
                <a:latin typeface="Georgia"/>
                <a:cs typeface="Traditional Arabic"/>
              </a:rPr>
              <a:t>«A thing the Prophet ﷺ did not do»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824990"/>
            <a:ext cx="11057839" cy="1950720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r" rtl="1">
              <a:lnSpc>
                <a:spcPct val="150000"/>
              </a:lnSpc>
            </a:pPr>
            <a:r>
              <a:rPr lang="ar-SA" sz="4400" b="0" i="0">
                <a:solidFill>
                  <a:srgbClr val="0A322E"/>
                </a:solidFill>
                <a:latin typeface="Traditional Arabic"/>
                <a:cs typeface="Traditional Arabic"/>
              </a:rPr>
              <a:t>فَتَتَبَّعِ القُرْآنَ، فَاجْمَعْهُ. فَقُلْتُ: كَيْفَ تَفْعَلُوْنَ شَيْئاً لَمْ يَفْعَلْهُ رَسُوْلُ اللهِ … قَالَ: هُوَ -وَاللهِ- خَيْرٌ.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3903726"/>
            <a:ext cx="1554480" cy="38100"/>
          </a:xfrm>
          <a:prstGeom prst="rect">
            <a:avLst/>
          </a:prstGeom>
          <a:solidFill>
            <a:srgbClr val="C49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66928" y="4214622"/>
            <a:ext cx="11057839" cy="1632204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3000" b="0" i="1">
                <a:solidFill>
                  <a:srgbClr val="1C2321"/>
                </a:solidFill>
                <a:latin typeface="Georgia"/>
                <a:cs typeface="Traditional Arabic"/>
              </a:rPr>
              <a:t>…so follow the Qurʾān up and gather it. I said: How do you do a thing the Messenger of Allah ﷺ did not do? … He said: By Allah, it is good.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144768"/>
            <a:ext cx="11057839" cy="457200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400" b="0" i="0">
                <a:solidFill>
                  <a:srgbClr val="5A6862"/>
                </a:solidFill>
                <a:latin typeface="Segoe UI"/>
                <a:cs typeface="Segoe UI"/>
              </a:rPr>
              <a:t>Siyar A'lam al-Nubala, vol. 2, p. 431</a:t>
            </a:r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nd"/>
          <p:cNvSpPr/>
          <p:nvPr/>
        </p:nvSpPr>
        <p:spPr>
          <a:xfrm>
            <a:off x="0" y="0"/>
            <a:ext cx="12191695" cy="1223263"/>
          </a:xfrm>
          <a:prstGeom prst="rect">
            <a:avLst/>
          </a:prstGeom>
          <a:solidFill>
            <a:srgbClr val="104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ule"/>
          <p:cNvSpPr/>
          <p:nvPr/>
        </p:nvSpPr>
        <p:spPr>
          <a:xfrm>
            <a:off x="0" y="1223263"/>
            <a:ext cx="12191695" cy="57150"/>
          </a:xfrm>
          <a:prstGeom prst="rect">
            <a:avLst/>
          </a:prstGeom>
          <a:solidFill>
            <a:srgbClr val="C49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66928" y="91440"/>
            <a:ext cx="11057839" cy="274320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400" b="1" i="0">
                <a:solidFill>
                  <a:srgbClr val="C49A45"/>
                </a:solidFill>
                <a:latin typeface="Segoe UI"/>
                <a:cs typeface="Segoe UI"/>
              </a:rPr>
              <a:t>12 AH, Medina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02336"/>
            <a:ext cx="11057839" cy="711199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4000" b="1" i="0">
                <a:solidFill>
                  <a:srgbClr val="FAF7F0"/>
                </a:solidFill>
                <a:latin typeface="Georgia"/>
                <a:cs typeface="Georgia"/>
              </a:rPr>
              <a:t>The Qurʾān was collected because of this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824990"/>
            <a:ext cx="11057839" cy="1950720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r" rtl="1">
              <a:lnSpc>
                <a:spcPct val="150000"/>
              </a:lnSpc>
            </a:pPr>
            <a:r>
              <a:rPr lang="ar-SA" sz="4400" b="0" i="0">
                <a:solidFill>
                  <a:srgbClr val="0A322E"/>
                </a:solidFill>
                <a:latin typeface="Traditional Arabic"/>
                <a:cs typeface="Traditional Arabic"/>
              </a:rPr>
              <a:t>أمرَ الصديق زيدَ بن ثابتٍ أن يجمعَ القرآن من اللِّخاف والعُسُب وصدور الرجال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3903726"/>
            <a:ext cx="1554480" cy="38100"/>
          </a:xfrm>
          <a:prstGeom prst="rect">
            <a:avLst/>
          </a:prstGeom>
          <a:solidFill>
            <a:srgbClr val="C49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66928" y="4214622"/>
            <a:ext cx="11057839" cy="1632204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3000" b="0" i="1">
                <a:solidFill>
                  <a:srgbClr val="1C2321"/>
                </a:solidFill>
                <a:latin typeface="Georgia"/>
                <a:cs typeface="Georgia"/>
              </a:rPr>
              <a:t>…al-Ṣiddīq ordered Zayd b. Thābit to gather the Qurʾān from the flat stones and the palm-stalks and the breasts of men.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144768"/>
            <a:ext cx="11057839" cy="457200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400" b="0" i="0">
                <a:solidFill>
                  <a:srgbClr val="5A6862"/>
                </a:solidFill>
                <a:latin typeface="Segoe UI"/>
                <a:cs typeface="Segoe UI"/>
              </a:rPr>
              <a:t>al-Bidaya wa'l-Nihaya, vol. 7, p. 79 — Sahih al-Bukhari 4986</a:t>
            </a:r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nd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04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ule"/>
          <p:cNvSpPr/>
          <p:nvPr/>
        </p:nvSpPr>
        <p:spPr>
          <a:xfrm>
            <a:off x="0" y="1078992"/>
            <a:ext cx="12191695" cy="57150"/>
          </a:xfrm>
          <a:prstGeom prst="rect">
            <a:avLst/>
          </a:prstGeom>
          <a:solidFill>
            <a:srgbClr val="C49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66928" y="182880"/>
            <a:ext cx="11057839" cy="711199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4000" b="1" i="0">
                <a:solidFill>
                  <a:srgbClr val="FAF7F0"/>
                </a:solidFill>
                <a:latin typeface="Georgia"/>
                <a:cs typeface="Georgia"/>
              </a:rPr>
              <a:t>Tonight on the Line</a:t>
            </a:r>
          </a:p>
        </p:txBody>
      </p:sp>
      <p:pic>
        <p:nvPicPr>
          <p:cNvPr id="5" name="Picture 4" descr="line_s04_stop_e.tri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62354" y="1389888"/>
            <a:ext cx="8466986" cy="4956048"/>
          </a:xfrm>
          <a:prstGeom prst="rect">
            <a:avLst/>
          </a:prstGeom>
        </p:spPr>
      </p:pic>
    </p:spTree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nd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04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ule"/>
          <p:cNvSpPr/>
          <p:nvPr/>
        </p:nvSpPr>
        <p:spPr>
          <a:xfrm>
            <a:off x="0" y="1078992"/>
            <a:ext cx="12191695" cy="57150"/>
          </a:xfrm>
          <a:prstGeom prst="rect">
            <a:avLst/>
          </a:prstGeom>
          <a:solidFill>
            <a:srgbClr val="C49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66928" y="182880"/>
            <a:ext cx="11057839" cy="711199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4000" b="1" i="0">
                <a:solidFill>
                  <a:srgbClr val="FAF7F0"/>
                </a:solidFill>
                <a:latin typeface="Georgia"/>
                <a:cs typeface="Georgia"/>
              </a:rPr>
              <a:t>Where we stand</a:t>
            </a:r>
          </a:p>
        </p:txBody>
      </p:sp>
      <p:pic>
        <p:nvPicPr>
          <p:cNvPr id="5" name="Picture 4" descr="s04-close-stop-d-step-01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1690900"/>
            <a:ext cx="7740487" cy="4354023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8618311" y="1554480"/>
            <a:ext cx="54864" cy="310896"/>
          </a:xfrm>
          <a:prstGeom prst="rect">
            <a:avLst/>
          </a:prstGeom>
          <a:solidFill>
            <a:srgbClr val="C49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819479" y="1499616"/>
            <a:ext cx="2805288" cy="457200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800" b="1" i="0">
                <a:solidFill>
                  <a:srgbClr val="0A322E"/>
                </a:solidFill>
                <a:latin typeface="Georgia"/>
                <a:cs typeface="Georgia"/>
              </a:rPr>
              <a:t>al-Yamāma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19479" y="1920240"/>
            <a:ext cx="2805288" cy="1943100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400" b="0" i="0">
                <a:solidFill>
                  <a:srgbClr val="5A6862"/>
                </a:solidFill>
                <a:latin typeface="Segoe UI"/>
                <a:cs typeface="Segoe UI"/>
              </a:rPr>
              <a:t>taken at last</a:t>
            </a:r>
          </a:p>
        </p:txBody>
      </p:sp>
      <p:sp>
        <p:nvSpPr>
          <p:cNvPr id="9" name="Rectangle 8"/>
          <p:cNvSpPr/>
          <p:nvPr/>
        </p:nvSpPr>
        <p:spPr>
          <a:xfrm>
            <a:off x="8618311" y="3918204"/>
            <a:ext cx="54864" cy="310896"/>
          </a:xfrm>
          <a:prstGeom prst="rect">
            <a:avLst/>
          </a:prstGeom>
          <a:solidFill>
            <a:srgbClr val="C49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819479" y="3863340"/>
            <a:ext cx="2805288" cy="457200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800" b="1" i="0">
                <a:solidFill>
                  <a:srgbClr val="0A322E"/>
                </a:solidFill>
                <a:latin typeface="Georgia"/>
                <a:cs typeface="Georgia"/>
              </a:rPr>
              <a:t>Ḥaḍramawt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19479" y="4283964"/>
            <a:ext cx="2805288" cy="1943100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400" b="0" i="0">
                <a:solidFill>
                  <a:srgbClr val="5A6862"/>
                </a:solidFill>
                <a:latin typeface="Segoe UI"/>
                <a:cs typeface="Segoe UI"/>
              </a:rPr>
              <a:t>the last front</a:t>
            </a:r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nd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04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ule"/>
          <p:cNvSpPr/>
          <p:nvPr/>
        </p:nvSpPr>
        <p:spPr>
          <a:xfrm>
            <a:off x="0" y="1078992"/>
            <a:ext cx="12191695" cy="57150"/>
          </a:xfrm>
          <a:prstGeom prst="rect">
            <a:avLst/>
          </a:prstGeom>
          <a:solidFill>
            <a:srgbClr val="C49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66928" y="182880"/>
            <a:ext cx="11057839" cy="711199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4000" b="1" i="0">
                <a:solidFill>
                  <a:srgbClr val="FAF7F0"/>
                </a:solidFill>
                <a:latin typeface="Georgia"/>
                <a:cs typeface="Georgia"/>
              </a:rPr>
              <a:t>Tonight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545336"/>
            <a:ext cx="64008" cy="420624"/>
          </a:xfrm>
          <a:prstGeom prst="rect">
            <a:avLst/>
          </a:prstGeom>
          <a:solidFill>
            <a:srgbClr val="C49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77824" y="1499616"/>
            <a:ext cx="10746943" cy="1181862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2800" b="0" i="0">
                <a:solidFill>
                  <a:srgbClr val="1C2321"/>
                </a:solidFill>
                <a:latin typeface="Georgia"/>
                <a:cs typeface="Georgia"/>
              </a:rPr>
              <a:t>When the line broke, what re-formed it was what the men had memorised.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2727198"/>
            <a:ext cx="64008" cy="420624"/>
          </a:xfrm>
          <a:prstGeom prst="rect">
            <a:avLst/>
          </a:prstGeom>
          <a:solidFill>
            <a:srgbClr val="C49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77824" y="2681478"/>
            <a:ext cx="10746943" cy="1181862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2800" b="0" i="0">
                <a:solidFill>
                  <a:srgbClr val="1C2321"/>
                </a:solidFill>
                <a:latin typeface="Georgia"/>
                <a:cs typeface="Georgia"/>
              </a:rPr>
              <a:t>One man asked to be thrown where nobody could follow him, and the whole army came in behind him through the gate he opened.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3909060"/>
            <a:ext cx="64008" cy="420624"/>
          </a:xfrm>
          <a:prstGeom prst="rect">
            <a:avLst/>
          </a:prstGeom>
          <a:solidFill>
            <a:srgbClr val="C49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77824" y="3863340"/>
            <a:ext cx="10746943" cy="1181862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2800" b="0" i="0">
                <a:solidFill>
                  <a:srgbClr val="1C2321"/>
                </a:solidFill>
                <a:latin typeface="Georgia"/>
                <a:cs typeface="Georgia"/>
              </a:rPr>
              <a:t>The verse that steadied Medina in the year eleven is the verse a man recited on the ground in the year twelve.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66928" y="5090922"/>
            <a:ext cx="64008" cy="420624"/>
          </a:xfrm>
          <a:prstGeom prst="rect">
            <a:avLst/>
          </a:prstGeom>
          <a:solidFill>
            <a:srgbClr val="C49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77824" y="5045202"/>
            <a:ext cx="10746943" cy="1181862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2800" b="0" i="0">
                <a:solidFill>
                  <a:srgbClr val="1C2321"/>
                </a:solidFill>
                <a:latin typeface="Georgia"/>
                <a:cs typeface="Georgia"/>
              </a:rPr>
              <a:t>The mushaf the room reads from was gathered because of the men who were killed in the garden.</a:t>
            </a:r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32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66928" y="2148840"/>
            <a:ext cx="1737360" cy="76200"/>
          </a:xfrm>
          <a:prstGeom prst="rect">
            <a:avLst/>
          </a:prstGeom>
          <a:solidFill>
            <a:srgbClr val="C49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66928" y="1600200"/>
            <a:ext cx="11057839" cy="457200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400" b="1" i="0">
                <a:solidFill>
                  <a:srgbClr val="C49A45"/>
                </a:solidFill>
                <a:latin typeface="Segoe UI"/>
                <a:cs typeface="Segoe UI"/>
              </a:rPr>
              <a:t>Next week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2606040"/>
            <a:ext cx="11057839" cy="2377440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4600" b="0" i="0">
                <a:solidFill>
                  <a:srgbClr val="FFFFFF"/>
                </a:solidFill>
                <a:latin typeface="Georgia"/>
                <a:cs typeface="Georgia"/>
              </a:rPr>
              <a:t>One province on your map is still grey. The last front of the war is Ḥaḍramawt — and it begins with a quarrel over one she-camel.</a:t>
            </a:r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2651760"/>
            <a:ext cx="12191695" cy="1554480"/>
          </a:xfrm>
          <a:prstGeom prst="rect">
            <a:avLst/>
          </a:prstGeom>
          <a:solidFill>
            <a:srgbClr val="FAF7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2651760"/>
            <a:ext cx="114300" cy="1554480"/>
          </a:xfrm>
          <a:prstGeom prst="rect">
            <a:avLst/>
          </a:prstGeom>
          <a:solidFill>
            <a:srgbClr val="C49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68680" y="2788920"/>
            <a:ext cx="10728655" cy="731520"/>
          </a:xfrm>
          <a:prstGeom prst="rect">
            <a:avLst/>
          </a:prstGeom>
          <a:noFill/>
        </p:spPr>
        <p:txBody>
          <a:bodyPr wrap="square" lIns="36576" tIns="0" rIns="36576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4600" b="1" i="0">
                <a:solidFill>
                  <a:srgbClr val="0A322E"/>
                </a:solidFill>
                <a:latin typeface="Georgia"/>
                <a:cs typeface="Georgia"/>
              </a:rPr>
              <a:t>Part IX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3520440"/>
            <a:ext cx="10728655" cy="548640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800" b="0" i="0">
                <a:solidFill>
                  <a:srgbClr val="5A6862"/>
                </a:solidFill>
                <a:latin typeface="Segoe UI"/>
                <a:cs typeface="Arabic Typesetting"/>
              </a:rPr>
              <a:t>The house of Umm Sulaym ؓ</a:t>
            </a:r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nd"/>
          <p:cNvSpPr/>
          <p:nvPr/>
        </p:nvSpPr>
        <p:spPr>
          <a:xfrm>
            <a:off x="0" y="0"/>
            <a:ext cx="12191695" cy="1223263"/>
          </a:xfrm>
          <a:prstGeom prst="rect">
            <a:avLst/>
          </a:prstGeom>
          <a:solidFill>
            <a:srgbClr val="104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ule"/>
          <p:cNvSpPr/>
          <p:nvPr/>
        </p:nvSpPr>
        <p:spPr>
          <a:xfrm>
            <a:off x="0" y="1223263"/>
            <a:ext cx="12191695" cy="57150"/>
          </a:xfrm>
          <a:prstGeom prst="rect">
            <a:avLst/>
          </a:prstGeom>
          <a:solidFill>
            <a:srgbClr val="C49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66928" y="91440"/>
            <a:ext cx="11057839" cy="274320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400" b="1" i="0">
                <a:solidFill>
                  <a:srgbClr val="C49A45"/>
                </a:solidFill>
                <a:latin typeface="Segoe UI"/>
                <a:cs typeface="Segoe UI"/>
              </a:rPr>
              <a:t>Before the Hijra, at Medina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02336"/>
            <a:ext cx="11057839" cy="711199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4000" b="1" i="0">
                <a:solidFill>
                  <a:srgbClr val="FAF7F0"/>
                </a:solidFill>
                <a:latin typeface="Georgia"/>
                <a:cs typeface="Georgia"/>
              </a:rPr>
              <a:t>Where these men came from</a:t>
            </a:r>
          </a:p>
        </p:txBody>
      </p:sp>
      <p:sp>
        <p:nvSpPr>
          <p:cNvPr id="6" name="card0"/>
          <p:cNvSpPr/>
          <p:nvPr/>
        </p:nvSpPr>
        <p:spPr>
          <a:xfrm>
            <a:off x="566928" y="1389888"/>
            <a:ext cx="3527450" cy="4663440"/>
          </a:xfrm>
          <a:prstGeom prst="rect">
            <a:avLst/>
          </a:prstGeom>
          <a:solidFill>
            <a:srgbClr val="FAF7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66928" y="1389888"/>
            <a:ext cx="3527450" cy="88900"/>
          </a:xfrm>
          <a:prstGeom prst="rect">
            <a:avLst/>
          </a:prstGeom>
          <a:solidFill>
            <a:srgbClr val="104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49808" y="1700784"/>
            <a:ext cx="3161690" cy="1097280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200" b="1" i="0">
                <a:solidFill>
                  <a:srgbClr val="0A322E"/>
                </a:solidFill>
                <a:latin typeface="Georgia"/>
                <a:cs typeface="Georgia"/>
              </a:rPr>
              <a:t>We have closed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2807208"/>
            <a:ext cx="3161690" cy="2011680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2400" b="0" i="0">
                <a:solidFill>
                  <a:srgbClr val="1C2321"/>
                </a:solidFill>
                <a:latin typeface="Segoe UI"/>
                <a:cs typeface="Segoe UI"/>
              </a:rPr>
              <a:t>The evening's story ended at Medina, with the order to gather the Qurʾān</a:t>
            </a:r>
          </a:p>
        </p:txBody>
      </p:sp>
      <p:sp>
        <p:nvSpPr>
          <p:cNvPr id="10" name="card1"/>
          <p:cNvSpPr/>
          <p:nvPr/>
        </p:nvSpPr>
        <p:spPr>
          <a:xfrm>
            <a:off x="4332122" y="1389888"/>
            <a:ext cx="3527450" cy="4663440"/>
          </a:xfrm>
          <a:prstGeom prst="rect">
            <a:avLst/>
          </a:prstGeom>
          <a:solidFill>
            <a:srgbClr val="FAF7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332122" y="1389888"/>
            <a:ext cx="3527450" cy="88900"/>
          </a:xfrm>
          <a:prstGeom prst="rect">
            <a:avLst/>
          </a:prstGeom>
          <a:solidFill>
            <a:srgbClr val="104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15002" y="1700784"/>
            <a:ext cx="3161690" cy="1097280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200" b="1" i="0">
                <a:solidFill>
                  <a:srgbClr val="0A322E"/>
                </a:solidFill>
                <a:latin typeface="Georgia"/>
                <a:cs typeface="Georgia"/>
              </a:rPr>
              <a:t>What follows is older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15002" y="2807208"/>
            <a:ext cx="3161690" cy="2011680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2400" b="0" i="0">
                <a:solidFill>
                  <a:srgbClr val="1C2321"/>
                </a:solidFill>
                <a:latin typeface="Segoe UI"/>
                <a:cs typeface="Segoe UI"/>
              </a:rPr>
              <a:t>Mecca, Uḥud, Biʾr Maʿūna, Ḥunayn — years before tonight</a:t>
            </a:r>
          </a:p>
        </p:txBody>
      </p:sp>
      <p:sp>
        <p:nvSpPr>
          <p:cNvPr id="14" name="card2"/>
          <p:cNvSpPr/>
          <p:nvPr/>
        </p:nvSpPr>
        <p:spPr>
          <a:xfrm>
            <a:off x="8097316" y="1389888"/>
            <a:ext cx="3527450" cy="4663440"/>
          </a:xfrm>
          <a:prstGeom prst="rect">
            <a:avLst/>
          </a:prstGeom>
          <a:solidFill>
            <a:srgbClr val="FAF7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097316" y="1389888"/>
            <a:ext cx="3527450" cy="88900"/>
          </a:xfrm>
          <a:prstGeom prst="rect">
            <a:avLst/>
          </a:prstGeom>
          <a:solidFill>
            <a:srgbClr val="104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280196" y="1700784"/>
            <a:ext cx="3161690" cy="1097280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200" b="1" i="0">
                <a:solidFill>
                  <a:srgbClr val="0A322E"/>
                </a:solidFill>
                <a:latin typeface="Georgia"/>
                <a:cs typeface="Georgia"/>
              </a:rPr>
              <a:t>Why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80196" y="2807208"/>
            <a:ext cx="3161690" cy="2011680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2400" b="0" i="0">
                <a:solidFill>
                  <a:srgbClr val="1C2321"/>
                </a:solidFill>
                <a:latin typeface="Segoe UI"/>
                <a:cs typeface="Segoe UI"/>
              </a:rPr>
              <a:t>The men who held the line at ʿAqrabāʾ came out of these houses</a:t>
            </a:r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nd"/>
          <p:cNvSpPr/>
          <p:nvPr/>
        </p:nvSpPr>
        <p:spPr>
          <a:xfrm>
            <a:off x="0" y="0"/>
            <a:ext cx="12191695" cy="1223263"/>
          </a:xfrm>
          <a:prstGeom prst="rect">
            <a:avLst/>
          </a:prstGeom>
          <a:solidFill>
            <a:srgbClr val="104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ule"/>
          <p:cNvSpPr/>
          <p:nvPr/>
        </p:nvSpPr>
        <p:spPr>
          <a:xfrm>
            <a:off x="0" y="1223263"/>
            <a:ext cx="12191695" cy="57150"/>
          </a:xfrm>
          <a:prstGeom prst="rect">
            <a:avLst/>
          </a:prstGeom>
          <a:solidFill>
            <a:srgbClr val="C49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66928" y="91440"/>
            <a:ext cx="11057839" cy="274320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400" b="1" i="0">
                <a:solidFill>
                  <a:srgbClr val="C49A45"/>
                </a:solidFill>
                <a:latin typeface="Segoe UI"/>
                <a:cs typeface="Segoe UI"/>
              </a:rPr>
              <a:t>Before the Hijra, at Medina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02336"/>
            <a:ext cx="11057839" cy="711199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4000" b="1" i="0">
                <a:solidFill>
                  <a:srgbClr val="FAF7F0"/>
                </a:solidFill>
                <a:latin typeface="Georgia"/>
                <a:cs typeface="Georgia"/>
              </a:rPr>
              <a:t>The dower that was Islam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882140"/>
            <a:ext cx="11057839" cy="2331720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r" rtl="1">
              <a:lnSpc>
                <a:spcPct val="150000"/>
              </a:lnSpc>
            </a:pPr>
            <a:r>
              <a:rPr lang="ar-SA" sz="5400" b="0" i="0">
                <a:solidFill>
                  <a:srgbClr val="0A322E"/>
                </a:solidFill>
                <a:latin typeface="Traditional Arabic"/>
                <a:cs typeface="Traditional Arabic"/>
              </a:rPr>
              <a:t>وَلَكِنَّكَ كَافِرٌ، فَإِنْ تُسْلِمْ فَذَلِكَ مَهْرِي، لاَ أَسْأَلُكَ غَيْرَهُ.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4341876"/>
            <a:ext cx="1554480" cy="38100"/>
          </a:xfrm>
          <a:prstGeom prst="rect">
            <a:avLst/>
          </a:prstGeom>
          <a:solidFill>
            <a:srgbClr val="C49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66928" y="4652772"/>
            <a:ext cx="11057839" cy="1136903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3000" b="0" i="1">
                <a:solidFill>
                  <a:srgbClr val="1C2321"/>
                </a:solidFill>
                <a:latin typeface="Georgia"/>
                <a:cs typeface="Georgia"/>
              </a:rPr>
              <a:t>…but you are a disbeliever. If you accept Islam, that is my dower — I ask you for nothing else.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144768"/>
            <a:ext cx="11057839" cy="457200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400" b="0" i="0">
                <a:solidFill>
                  <a:srgbClr val="5A6862"/>
                </a:solidFill>
                <a:latin typeface="Segoe UI"/>
                <a:cs typeface="Segoe UI"/>
              </a:rPr>
              <a:t>Siyar A'lam al-Nubala, vol. 2, p. 29</a:t>
            </a:r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nd"/>
          <p:cNvSpPr/>
          <p:nvPr/>
        </p:nvSpPr>
        <p:spPr>
          <a:xfrm>
            <a:off x="0" y="0"/>
            <a:ext cx="12191695" cy="1223263"/>
          </a:xfrm>
          <a:prstGeom prst="rect">
            <a:avLst/>
          </a:prstGeom>
          <a:solidFill>
            <a:srgbClr val="104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ule"/>
          <p:cNvSpPr/>
          <p:nvPr/>
        </p:nvSpPr>
        <p:spPr>
          <a:xfrm>
            <a:off x="0" y="1223263"/>
            <a:ext cx="12191695" cy="57150"/>
          </a:xfrm>
          <a:prstGeom prst="rect">
            <a:avLst/>
          </a:prstGeom>
          <a:solidFill>
            <a:srgbClr val="C49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66928" y="91440"/>
            <a:ext cx="11057839" cy="274320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400" b="1" i="0">
                <a:solidFill>
                  <a:srgbClr val="C49A45"/>
                </a:solidFill>
                <a:latin typeface="Segoe UI"/>
                <a:cs typeface="Segoe UI"/>
              </a:rPr>
              <a:t>1 AH, soon after the Hijra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02336"/>
            <a:ext cx="11057839" cy="711199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4000" b="1" i="0">
                <a:solidFill>
                  <a:srgbClr val="FAF7F0"/>
                </a:solidFill>
                <a:latin typeface="Georgia"/>
                <a:cs typeface="Georgia"/>
              </a:rPr>
              <a:t>The gift she had left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634490"/>
            <a:ext cx="11057839" cy="2331720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r" rtl="1">
              <a:lnSpc>
                <a:spcPct val="150000"/>
              </a:lnSpc>
            </a:pPr>
            <a:r>
              <a:rPr lang="ar-SA" sz="5400" b="0" i="0">
                <a:solidFill>
                  <a:srgbClr val="0A322E"/>
                </a:solidFill>
                <a:latin typeface="Traditional Arabic"/>
                <a:cs typeface="Traditional Arabic"/>
              </a:rPr>
              <a:t>يَا رَسُوْلَ اللهِ! هَذَا أُنَيْسٌ ابْنِي، أَتَيْتُكَ بِهِ يَخْدُمُكَ، فَادْعُ اللهَ لَهُ.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4094226"/>
            <a:ext cx="1554480" cy="38100"/>
          </a:xfrm>
          <a:prstGeom prst="rect">
            <a:avLst/>
          </a:prstGeom>
          <a:solidFill>
            <a:srgbClr val="C49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66928" y="4405122"/>
            <a:ext cx="11057839" cy="1632204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3000" b="0" i="1">
                <a:solidFill>
                  <a:srgbClr val="1C2321"/>
                </a:solidFill>
                <a:latin typeface="Georgia"/>
                <a:cs typeface="Georgia"/>
              </a:rPr>
              <a:t>"Messenger of Allah, this is Unays, my son. I have brought him to you to serve you — so pray to Allah for him."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144768"/>
            <a:ext cx="11057839" cy="457200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400" b="0" i="0">
                <a:solidFill>
                  <a:srgbClr val="5A6862"/>
                </a:solidFill>
                <a:latin typeface="Segoe UI"/>
                <a:cs typeface="Segoe UI"/>
              </a:rPr>
              <a:t>Siyar A'lam al-Nubala, vol. 3, p. 398</a:t>
            </a:r>
          </a:p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nd"/>
          <p:cNvSpPr/>
          <p:nvPr/>
        </p:nvSpPr>
        <p:spPr>
          <a:xfrm>
            <a:off x="0" y="0"/>
            <a:ext cx="12191695" cy="1223263"/>
          </a:xfrm>
          <a:prstGeom prst="rect">
            <a:avLst/>
          </a:prstGeom>
          <a:solidFill>
            <a:srgbClr val="104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ule"/>
          <p:cNvSpPr/>
          <p:nvPr/>
        </p:nvSpPr>
        <p:spPr>
          <a:xfrm>
            <a:off x="0" y="1223263"/>
            <a:ext cx="12191695" cy="57150"/>
          </a:xfrm>
          <a:prstGeom prst="rect">
            <a:avLst/>
          </a:prstGeom>
          <a:solidFill>
            <a:srgbClr val="C49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66928" y="91440"/>
            <a:ext cx="11057839" cy="274320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400" b="1" i="0">
                <a:solidFill>
                  <a:srgbClr val="C49A45"/>
                </a:solidFill>
                <a:latin typeface="Segoe UI"/>
                <a:cs typeface="Segoe UI"/>
              </a:rPr>
              <a:t>1–11 AH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02336"/>
            <a:ext cx="11057839" cy="711199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4000" b="1" i="0">
                <a:solidFill>
                  <a:srgbClr val="FAF7F0"/>
                </a:solidFill>
                <a:latin typeface="Georgia"/>
                <a:cs typeface="Georgia"/>
              </a:rPr>
              <a:t>Ten years, and not one rebuke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882140"/>
            <a:ext cx="11057839" cy="2331720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r" rtl="1">
              <a:lnSpc>
                <a:spcPct val="150000"/>
              </a:lnSpc>
            </a:pPr>
            <a:r>
              <a:rPr lang="ar-SA" sz="5400" b="0" i="0">
                <a:solidFill>
                  <a:srgbClr val="0A322E"/>
                </a:solidFill>
                <a:latin typeface="Traditional Arabic"/>
                <a:cs typeface="Traditional Arabic"/>
              </a:rPr>
              <a:t>خدمته صلى الله عليه وسلم عشر سنين، فوالله ما قال لي: أف قط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4341876"/>
            <a:ext cx="1554480" cy="38100"/>
          </a:xfrm>
          <a:prstGeom prst="rect">
            <a:avLst/>
          </a:prstGeom>
          <a:solidFill>
            <a:srgbClr val="C49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66928" y="4652772"/>
            <a:ext cx="11057839" cy="1136903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3000" b="0" i="1">
                <a:solidFill>
                  <a:srgbClr val="1C2321"/>
                </a:solidFill>
                <a:latin typeface="Georgia"/>
                <a:cs typeface="Traditional Arabic"/>
              </a:rPr>
              <a:t>I served him ﷺ ten years, and by Allah he never said 'uff' to me once.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144768"/>
            <a:ext cx="11057839" cy="457200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400" b="0" i="0">
                <a:solidFill>
                  <a:srgbClr val="5A6862"/>
                </a:solidFill>
                <a:latin typeface="Segoe UI"/>
                <a:cs typeface="Segoe UI"/>
              </a:rPr>
              <a:t>Siyar A'lam al-Nubala 2, p. 386</a:t>
            </a:r>
          </a:p>
        </p:txBody>
      </p:sp>
    </p:spTree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nd"/>
          <p:cNvSpPr/>
          <p:nvPr/>
        </p:nvSpPr>
        <p:spPr>
          <a:xfrm>
            <a:off x="0" y="0"/>
            <a:ext cx="12191695" cy="1223263"/>
          </a:xfrm>
          <a:prstGeom prst="rect">
            <a:avLst/>
          </a:prstGeom>
          <a:solidFill>
            <a:srgbClr val="104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ule"/>
          <p:cNvSpPr/>
          <p:nvPr/>
        </p:nvSpPr>
        <p:spPr>
          <a:xfrm>
            <a:off x="0" y="1223263"/>
            <a:ext cx="12191695" cy="57150"/>
          </a:xfrm>
          <a:prstGeom prst="rect">
            <a:avLst/>
          </a:prstGeom>
          <a:solidFill>
            <a:srgbClr val="C49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66928" y="91440"/>
            <a:ext cx="11057839" cy="274320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400" b="1" i="0">
                <a:solidFill>
                  <a:srgbClr val="C49A45"/>
                </a:solidFill>
                <a:latin typeface="Segoe UI"/>
                <a:cs typeface="Segoe UI"/>
              </a:rPr>
              <a:t>Uḥud, 3 AH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02336"/>
            <a:ext cx="11057839" cy="711199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4000" b="1" i="0">
                <a:solidFill>
                  <a:srgbClr val="FAF7F0"/>
                </a:solidFill>
                <a:latin typeface="Georgia"/>
                <a:cs typeface="Georgia"/>
              </a:rPr>
              <a:t>«I find the scent of Paradise»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882140"/>
            <a:ext cx="11057839" cy="2331720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r" rtl="1">
              <a:lnSpc>
                <a:spcPct val="150000"/>
              </a:lnSpc>
            </a:pPr>
            <a:r>
              <a:rPr lang="ar-SA" sz="5400" b="0" i="0">
                <a:solidFill>
                  <a:srgbClr val="0A322E"/>
                </a:solidFill>
                <a:latin typeface="Traditional Arabic"/>
                <a:cs typeface="Traditional Arabic"/>
              </a:rPr>
              <a:t>يا أبا عمرو أين؟ واهًا لريح الجنة، أجده دون أحدٍ.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4341876"/>
            <a:ext cx="1554480" cy="38100"/>
          </a:xfrm>
          <a:prstGeom prst="rect">
            <a:avLst/>
          </a:prstGeom>
          <a:solidFill>
            <a:srgbClr val="C49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66928" y="4652772"/>
            <a:ext cx="11057839" cy="1136903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3000" b="0" i="1">
                <a:solidFill>
                  <a:srgbClr val="1C2321"/>
                </a:solidFill>
                <a:latin typeface="Georgia"/>
                <a:cs typeface="Georgia"/>
              </a:rPr>
              <a:t>"Abū ʿAmr, where to? Ah, the scent of Paradise — I find it this side of Uḥud."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144768"/>
            <a:ext cx="11057839" cy="457200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400" b="0" i="0">
                <a:solidFill>
                  <a:srgbClr val="5A6862"/>
                </a:solidFill>
                <a:latin typeface="Segoe UI"/>
                <a:cs typeface="Segoe UI"/>
              </a:rPr>
              <a:t>al-Bidaya wa'l-Nihaya, vol. 4, p. 203</a:t>
            </a:r>
          </a:p>
        </p:txBody>
      </p:sp>
    </p:spTree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nd"/>
          <p:cNvSpPr/>
          <p:nvPr/>
        </p:nvSpPr>
        <p:spPr>
          <a:xfrm>
            <a:off x="0" y="0"/>
            <a:ext cx="12191695" cy="1223263"/>
          </a:xfrm>
          <a:prstGeom prst="rect">
            <a:avLst/>
          </a:prstGeom>
          <a:solidFill>
            <a:srgbClr val="104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ule"/>
          <p:cNvSpPr/>
          <p:nvPr/>
        </p:nvSpPr>
        <p:spPr>
          <a:xfrm>
            <a:off x="0" y="1223263"/>
            <a:ext cx="12191695" cy="57150"/>
          </a:xfrm>
          <a:prstGeom prst="rect">
            <a:avLst/>
          </a:prstGeom>
          <a:solidFill>
            <a:srgbClr val="C49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66928" y="91440"/>
            <a:ext cx="11057839" cy="274320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400" b="1" i="0">
                <a:solidFill>
                  <a:srgbClr val="C49A45"/>
                </a:solidFill>
                <a:latin typeface="Segoe UI"/>
                <a:cs typeface="Segoe UI"/>
              </a:rPr>
              <a:t>Uḥud, 3 AH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02336"/>
            <a:ext cx="11057839" cy="711199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4000" b="1" i="0">
                <a:solidFill>
                  <a:srgbClr val="FAF7F0"/>
                </a:solidFill>
                <a:latin typeface="Georgia"/>
                <a:cs typeface="Georgia"/>
              </a:rPr>
              <a:t>Known by his fingertips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882140"/>
            <a:ext cx="11057839" cy="2331720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r" rtl="1">
              <a:lnSpc>
                <a:spcPct val="150000"/>
              </a:lnSpc>
            </a:pPr>
            <a:r>
              <a:rPr lang="ar-SA" sz="5400" b="0" i="0">
                <a:solidFill>
                  <a:srgbClr val="0A322E"/>
                </a:solidFill>
                <a:latin typeface="Traditional Arabic"/>
                <a:cs typeface="Traditional Arabic"/>
              </a:rPr>
              <a:t>﴿مِنَ الْمُؤْمِنِينَ رِجَالٌ صَدَقُوا مَا عَاهَدُوا اللَّهَ عَلَيْهِ﴾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4341876"/>
            <a:ext cx="1554480" cy="38100"/>
          </a:xfrm>
          <a:prstGeom prst="rect">
            <a:avLst/>
          </a:prstGeom>
          <a:solidFill>
            <a:srgbClr val="C49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66928" y="4652772"/>
            <a:ext cx="11057839" cy="1136903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3000" b="0" i="1">
                <a:solidFill>
                  <a:srgbClr val="1C2321"/>
                </a:solidFill>
                <a:latin typeface="Georgia"/>
                <a:cs typeface="Georgia"/>
              </a:rPr>
              <a:t>Among the believers are men true to what they pledged to Allah.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144768"/>
            <a:ext cx="11057839" cy="457200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400" b="0" i="0">
                <a:solidFill>
                  <a:srgbClr val="5A6862"/>
                </a:solidFill>
                <a:latin typeface="Segoe UI"/>
                <a:cs typeface="Segoe UI"/>
              </a:rPr>
              <a:t>verse as quoted at al-Bidaya wa'l-Nihaya the reference, vol. 4, p. 203</a:t>
            </a:r>
          </a:p>
        </p:txBody>
      </p:sp>
    </p:spTree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nd"/>
          <p:cNvSpPr/>
          <p:nvPr/>
        </p:nvSpPr>
        <p:spPr>
          <a:xfrm>
            <a:off x="0" y="0"/>
            <a:ext cx="12191695" cy="1223263"/>
          </a:xfrm>
          <a:prstGeom prst="rect">
            <a:avLst/>
          </a:prstGeom>
          <a:solidFill>
            <a:srgbClr val="104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ule"/>
          <p:cNvSpPr/>
          <p:nvPr/>
        </p:nvSpPr>
        <p:spPr>
          <a:xfrm>
            <a:off x="0" y="1223263"/>
            <a:ext cx="12191695" cy="57150"/>
          </a:xfrm>
          <a:prstGeom prst="rect">
            <a:avLst/>
          </a:prstGeom>
          <a:solidFill>
            <a:srgbClr val="C49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66928" y="91440"/>
            <a:ext cx="11057839" cy="274320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400" b="1" i="0">
                <a:solidFill>
                  <a:srgbClr val="C49A45"/>
                </a:solidFill>
                <a:latin typeface="Segoe UI"/>
                <a:cs typeface="Segoe UI"/>
              </a:rPr>
              <a:t>Uḥud, 3 AH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02336"/>
            <a:ext cx="11057839" cy="711199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4000" b="1" i="0">
                <a:solidFill>
                  <a:srgbClr val="FAF7F0"/>
                </a:solidFill>
                <a:latin typeface="Georgia"/>
                <a:cs typeface="Georgia"/>
              </a:rPr>
              <a:t>«What will you do with life after him?»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2072640"/>
            <a:ext cx="11057839" cy="1950720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r" rtl="1">
              <a:lnSpc>
                <a:spcPct val="150000"/>
              </a:lnSpc>
            </a:pPr>
            <a:r>
              <a:rPr lang="ar-SA" sz="4400" b="0" i="0">
                <a:solidFill>
                  <a:srgbClr val="0A322E"/>
                </a:solidFill>
                <a:latin typeface="Traditional Arabic"/>
                <a:cs typeface="Traditional Arabic"/>
              </a:rPr>
              <a:t>فما تصنعون بالحياة بعده؟! قوموا فموتوا على ما مات عليه رسول اللَّه ﷺ.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4151376"/>
            <a:ext cx="1554480" cy="38100"/>
          </a:xfrm>
          <a:prstGeom prst="rect">
            <a:avLst/>
          </a:prstGeom>
          <a:solidFill>
            <a:srgbClr val="C49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66928" y="4462272"/>
            <a:ext cx="11057839" cy="1136903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3000" b="0" i="1">
                <a:solidFill>
                  <a:srgbClr val="1C2321"/>
                </a:solidFill>
                <a:latin typeface="Georgia"/>
                <a:cs typeface="Traditional Arabic"/>
              </a:rPr>
              <a:t>"And what will you do with life after him? Rise, and die upon what the Messenger of Allah ﷺ died upon."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144768"/>
            <a:ext cx="11057839" cy="457200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400" b="0" i="0">
                <a:solidFill>
                  <a:srgbClr val="5A6862"/>
                </a:solidFill>
                <a:latin typeface="Segoe UI"/>
                <a:cs typeface="Segoe UI"/>
              </a:rPr>
              <a:t>al-Bidaya wa'l-Nihaya, vol. 4, p. 207</a:t>
            </a:r>
          </a:p>
        </p:txBody>
      </p:sp>
    </p:spTree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nd"/>
          <p:cNvSpPr/>
          <p:nvPr/>
        </p:nvSpPr>
        <p:spPr>
          <a:xfrm>
            <a:off x="0" y="0"/>
            <a:ext cx="12191695" cy="1223263"/>
          </a:xfrm>
          <a:prstGeom prst="rect">
            <a:avLst/>
          </a:prstGeom>
          <a:solidFill>
            <a:srgbClr val="104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ule"/>
          <p:cNvSpPr/>
          <p:nvPr/>
        </p:nvSpPr>
        <p:spPr>
          <a:xfrm>
            <a:off x="0" y="1223263"/>
            <a:ext cx="12191695" cy="57150"/>
          </a:xfrm>
          <a:prstGeom prst="rect">
            <a:avLst/>
          </a:prstGeom>
          <a:solidFill>
            <a:srgbClr val="C49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66928" y="91440"/>
            <a:ext cx="11057839" cy="274320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400" b="1" i="0">
                <a:solidFill>
                  <a:srgbClr val="C49A45"/>
                </a:solidFill>
                <a:latin typeface="Segoe UI"/>
                <a:cs typeface="Segoe UI"/>
              </a:rPr>
              <a:t>Uḥud, 3 AH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02336"/>
            <a:ext cx="11057839" cy="711199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4000" b="1" i="0">
                <a:solidFill>
                  <a:srgbClr val="FAF7F0"/>
                </a:solidFill>
                <a:latin typeface="Georgia"/>
                <a:cs typeface="Georgia"/>
              </a:rPr>
              <a:t>The water-carriers at Uḥud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2396490"/>
            <a:ext cx="11057839" cy="1303020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r" rtl="1">
              <a:lnSpc>
                <a:spcPct val="150000"/>
              </a:lnSpc>
            </a:pPr>
            <a:r>
              <a:rPr lang="ar-SA" sz="5400" b="0" i="0">
                <a:solidFill>
                  <a:srgbClr val="0A322E"/>
                </a:solidFill>
                <a:latin typeface="Traditional Arabic"/>
                <a:cs typeface="Traditional Arabic"/>
              </a:rPr>
              <a:t>لاَ تُشْرِفْ، لاَ يُصِيْبُكَ سَهْمٌ، نَحْرِي دُوْنَ نَحْرِكَ.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3827526"/>
            <a:ext cx="1554480" cy="38100"/>
          </a:xfrm>
          <a:prstGeom prst="rect">
            <a:avLst/>
          </a:prstGeom>
          <a:solidFill>
            <a:srgbClr val="C49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66928" y="4138422"/>
            <a:ext cx="11057839" cy="1136903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3000" b="0" i="1">
                <a:solidFill>
                  <a:srgbClr val="1C2321"/>
                </a:solidFill>
                <a:latin typeface="Georgia"/>
                <a:cs typeface="Georgia"/>
              </a:rPr>
              <a:t>…do not look out, lest an arrow strike you. My throat before your throat.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144768"/>
            <a:ext cx="11057839" cy="457200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400" b="0" i="0">
                <a:solidFill>
                  <a:srgbClr val="5A6862"/>
                </a:solidFill>
                <a:latin typeface="Segoe UI"/>
                <a:cs typeface="Segoe UI"/>
              </a:rPr>
              <a:t>Siyar A'lam al-Nubala, vol. 2, p. 31</a:t>
            </a:r>
          </a:p>
        </p:txBody>
      </p:sp>
    </p:spTree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nd"/>
          <p:cNvSpPr/>
          <p:nvPr/>
        </p:nvSpPr>
        <p:spPr>
          <a:xfrm>
            <a:off x="0" y="0"/>
            <a:ext cx="12191695" cy="1223263"/>
          </a:xfrm>
          <a:prstGeom prst="rect">
            <a:avLst/>
          </a:prstGeom>
          <a:solidFill>
            <a:srgbClr val="104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ule"/>
          <p:cNvSpPr/>
          <p:nvPr/>
        </p:nvSpPr>
        <p:spPr>
          <a:xfrm>
            <a:off x="0" y="1223263"/>
            <a:ext cx="12191695" cy="57150"/>
          </a:xfrm>
          <a:prstGeom prst="rect">
            <a:avLst/>
          </a:prstGeom>
          <a:solidFill>
            <a:srgbClr val="C49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66928" y="91440"/>
            <a:ext cx="11057839" cy="274320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400" b="1" i="0">
                <a:solidFill>
                  <a:srgbClr val="C49A45"/>
                </a:solidFill>
                <a:latin typeface="Segoe UI"/>
                <a:cs typeface="Segoe UI"/>
              </a:rPr>
              <a:t>Biʾr Maʿūna, 4 AH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02336"/>
            <a:ext cx="11057839" cy="711199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4000" b="1" i="0">
                <a:solidFill>
                  <a:srgbClr val="FAF7F0"/>
                </a:solidFill>
                <a:latin typeface="Georgia"/>
                <a:cs typeface="Georgia"/>
              </a:rPr>
              <a:t>«I have won»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2644140"/>
            <a:ext cx="11057839" cy="1303020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r" rtl="1">
              <a:lnSpc>
                <a:spcPct val="150000"/>
              </a:lnSpc>
            </a:pPr>
            <a:r>
              <a:rPr lang="ar-SA" sz="5400" b="0" i="0">
                <a:solidFill>
                  <a:srgbClr val="0A322E"/>
                </a:solidFill>
                <a:latin typeface="Traditional Arabic"/>
                <a:cs typeface="Traditional Arabic"/>
              </a:rPr>
              <a:t>اللَّهُ أَكْبَرُ، فُزْتُ وَرَبِّ الكَعْبَةِ.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4075176"/>
            <a:ext cx="1554480" cy="38100"/>
          </a:xfrm>
          <a:prstGeom prst="rect">
            <a:avLst/>
          </a:prstGeom>
          <a:solidFill>
            <a:srgbClr val="C49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66928" y="4386072"/>
            <a:ext cx="11057839" cy="641604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3000" b="0" i="1">
                <a:solidFill>
                  <a:srgbClr val="1C2321"/>
                </a:solidFill>
                <a:latin typeface="Georgia"/>
                <a:cs typeface="Georgia"/>
              </a:rPr>
              <a:t>"Allāhu akbar — I have won, by the Lord of the Kaʿba."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144768"/>
            <a:ext cx="11057839" cy="457200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400" b="0" i="0">
                <a:solidFill>
                  <a:srgbClr val="5A6862"/>
                </a:solidFill>
                <a:latin typeface="Segoe UI"/>
                <a:cs typeface="Segoe UI"/>
              </a:rPr>
              <a:t>al-Bidaya wa'l-Nihaya, vol. 4, p. 255</a:t>
            </a:r>
          </a:p>
        </p:txBody>
      </p:sp>
    </p:spTree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nd"/>
          <p:cNvSpPr/>
          <p:nvPr/>
        </p:nvSpPr>
        <p:spPr>
          <a:xfrm>
            <a:off x="0" y="0"/>
            <a:ext cx="12191695" cy="1223263"/>
          </a:xfrm>
          <a:prstGeom prst="rect">
            <a:avLst/>
          </a:prstGeom>
          <a:solidFill>
            <a:srgbClr val="104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ule"/>
          <p:cNvSpPr/>
          <p:nvPr/>
        </p:nvSpPr>
        <p:spPr>
          <a:xfrm>
            <a:off x="0" y="1223263"/>
            <a:ext cx="12191695" cy="57150"/>
          </a:xfrm>
          <a:prstGeom prst="rect">
            <a:avLst/>
          </a:prstGeom>
          <a:solidFill>
            <a:srgbClr val="C49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66928" y="91440"/>
            <a:ext cx="11057839" cy="274320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400" b="1" i="0">
                <a:solidFill>
                  <a:srgbClr val="C49A45"/>
                </a:solidFill>
                <a:latin typeface="Segoe UI"/>
                <a:cs typeface="Segoe UI"/>
              </a:rPr>
              <a:t>After Biʾr Maʿūna, 4 AH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02336"/>
            <a:ext cx="11057839" cy="711199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4000" b="1" i="0">
                <a:solidFill>
                  <a:srgbClr val="FAF7F0"/>
                </a:solidFill>
                <a:latin typeface="Georgia"/>
                <a:cs typeface="Georgia"/>
              </a:rPr>
              <a:t>Why he came to that house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2396490"/>
            <a:ext cx="11057839" cy="1303020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r" rtl="1">
              <a:lnSpc>
                <a:spcPct val="150000"/>
              </a:lnSpc>
            </a:pPr>
            <a:r>
              <a:rPr lang="ar-SA" sz="5400" b="0" i="0">
                <a:solidFill>
                  <a:srgbClr val="0A322E"/>
                </a:solidFill>
                <a:latin typeface="Traditional Arabic"/>
                <a:cs typeface="Traditional Arabic"/>
              </a:rPr>
              <a:t>إِنِّي أَرْحَمُهَا، قُتِلَ … أَخُوْهَا مَعِي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3827526"/>
            <a:ext cx="1554480" cy="38100"/>
          </a:xfrm>
          <a:prstGeom prst="rect">
            <a:avLst/>
          </a:prstGeom>
          <a:solidFill>
            <a:srgbClr val="C49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66928" y="4138422"/>
            <a:ext cx="11057839" cy="1136903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3000" b="0" i="1">
                <a:solidFill>
                  <a:srgbClr val="1C2321"/>
                </a:solidFill>
                <a:latin typeface="Georgia"/>
                <a:cs typeface="Georgia"/>
              </a:rPr>
              <a:t>I have compassion for her — her brother was killed with me.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144768"/>
            <a:ext cx="11057839" cy="457200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400" b="0" i="0">
                <a:solidFill>
                  <a:srgbClr val="5A6862"/>
                </a:solidFill>
                <a:latin typeface="Segoe UI"/>
                <a:cs typeface="Segoe UI"/>
              </a:rPr>
              <a:t>Siyar A'lam al-Nubala, vol. 2, pp. 306–307</a:t>
            </a:r>
          </a:p>
        </p:txBody>
      </p:sp>
    </p:spTree>
  </p:cSld>
  <p:clrMapOvr>
    <a:masterClrMapping/>
  </p:clrMapOvr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nd"/>
          <p:cNvSpPr/>
          <p:nvPr/>
        </p:nvSpPr>
        <p:spPr>
          <a:xfrm>
            <a:off x="0" y="0"/>
            <a:ext cx="12191695" cy="1223263"/>
          </a:xfrm>
          <a:prstGeom prst="rect">
            <a:avLst/>
          </a:prstGeom>
          <a:solidFill>
            <a:srgbClr val="104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ule"/>
          <p:cNvSpPr/>
          <p:nvPr/>
        </p:nvSpPr>
        <p:spPr>
          <a:xfrm>
            <a:off x="0" y="1223263"/>
            <a:ext cx="12191695" cy="57150"/>
          </a:xfrm>
          <a:prstGeom prst="rect">
            <a:avLst/>
          </a:prstGeom>
          <a:solidFill>
            <a:srgbClr val="C49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66928" y="91440"/>
            <a:ext cx="11057839" cy="274320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400" b="1" i="0">
                <a:solidFill>
                  <a:srgbClr val="C49A45"/>
                </a:solidFill>
                <a:latin typeface="Segoe UI"/>
                <a:cs typeface="Segoe UI"/>
              </a:rPr>
              <a:t>At Medina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02336"/>
            <a:ext cx="11057839" cy="711199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4000" b="1" i="0">
                <a:solidFill>
                  <a:srgbClr val="FAF7F0"/>
                </a:solidFill>
                <a:latin typeface="Georgia"/>
                <a:cs typeface="Georgia"/>
              </a:rPr>
              <a:t>«It was a loan»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2396490"/>
            <a:ext cx="11057839" cy="1303020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r" rtl="1">
              <a:lnSpc>
                <a:spcPct val="150000"/>
              </a:lnSpc>
            </a:pPr>
            <a:r>
              <a:rPr lang="ar-SA" sz="5400" b="0" i="0">
                <a:solidFill>
                  <a:srgbClr val="0A322E"/>
                </a:solidFill>
                <a:latin typeface="Traditional Arabic"/>
                <a:cs typeface="Traditional Arabic"/>
              </a:rPr>
              <a:t>فَإِنَّ ابْنَكَ كَانَ عَارِيَّةً مِنَ اللهِ، فَقَبَضَهُ.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3827526"/>
            <a:ext cx="1554480" cy="38100"/>
          </a:xfrm>
          <a:prstGeom prst="rect">
            <a:avLst/>
          </a:prstGeom>
          <a:solidFill>
            <a:srgbClr val="C49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66928" y="4138422"/>
            <a:ext cx="11057839" cy="1136903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3000" b="0" i="1">
                <a:solidFill>
                  <a:srgbClr val="1C2321"/>
                </a:solidFill>
                <a:latin typeface="Georgia"/>
                <a:cs typeface="Georgia"/>
              </a:rPr>
              <a:t>"Your son was a loan from Allah, and He has taken him back."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144768"/>
            <a:ext cx="11057839" cy="457200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400" b="0" i="0">
                <a:solidFill>
                  <a:srgbClr val="5A6862"/>
                </a:solidFill>
                <a:latin typeface="Segoe UI"/>
                <a:cs typeface="Segoe UI"/>
              </a:rPr>
              <a:t>Siyar A'lam al-Nubala, vol. 2, p. 310</a:t>
            </a:r>
          </a:p>
        </p:txBody>
      </p:sp>
    </p:spTree>
  </p:cSld>
  <p:clrMapOvr>
    <a:masterClrMapping/>
  </p:clrMapOvr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nd"/>
          <p:cNvSpPr/>
          <p:nvPr/>
        </p:nvSpPr>
        <p:spPr>
          <a:xfrm>
            <a:off x="0" y="0"/>
            <a:ext cx="12191695" cy="1223263"/>
          </a:xfrm>
          <a:prstGeom prst="rect">
            <a:avLst/>
          </a:prstGeom>
          <a:solidFill>
            <a:srgbClr val="104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ule"/>
          <p:cNvSpPr/>
          <p:nvPr/>
        </p:nvSpPr>
        <p:spPr>
          <a:xfrm>
            <a:off x="0" y="1223263"/>
            <a:ext cx="12191695" cy="57150"/>
          </a:xfrm>
          <a:prstGeom prst="rect">
            <a:avLst/>
          </a:prstGeom>
          <a:solidFill>
            <a:srgbClr val="C49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66928" y="91440"/>
            <a:ext cx="11057839" cy="274320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400" b="1" i="0">
                <a:solidFill>
                  <a:srgbClr val="C49A45"/>
                </a:solidFill>
                <a:latin typeface="Segoe UI"/>
                <a:cs typeface="Segoe UI"/>
              </a:rPr>
              <a:t>At Medina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02336"/>
            <a:ext cx="11057839" cy="711199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4000" b="1" i="0">
                <a:solidFill>
                  <a:srgbClr val="FAF7F0"/>
                </a:solidFill>
                <a:latin typeface="Georgia"/>
                <a:cs typeface="Georgia"/>
              </a:rPr>
              <a:t>Bayruḥāʾ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824990"/>
            <a:ext cx="11057839" cy="1950720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r" rtl="1">
              <a:lnSpc>
                <a:spcPct val="150000"/>
              </a:lnSpc>
            </a:pPr>
            <a:r>
              <a:rPr lang="ar-SA" sz="4400" b="0" i="0">
                <a:solidFill>
                  <a:srgbClr val="0A322E"/>
                </a:solidFill>
                <a:latin typeface="Traditional Arabic"/>
                <a:cs typeface="Traditional Arabic"/>
              </a:rPr>
              <a:t>إِنَّ أَحَبَّ أَمْوَالِي إِلَيَّ بَيْرُحَاءُ، وَإِنَّهَا صَدَقَةٌ للهِ … فَقَالَ: (بَخٍ! ذَلِكَ مَالٌ رَابِحٌ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3903726"/>
            <a:ext cx="1554480" cy="38100"/>
          </a:xfrm>
          <a:prstGeom prst="rect">
            <a:avLst/>
          </a:prstGeom>
          <a:solidFill>
            <a:srgbClr val="C49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66928" y="4214622"/>
            <a:ext cx="11057839" cy="1632204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3000" b="0" i="1">
                <a:solidFill>
                  <a:srgbClr val="1C2321"/>
                </a:solidFill>
                <a:latin typeface="Georgia"/>
                <a:cs typeface="Georgia"/>
              </a:rPr>
              <a:t>The dearest of my property to me is Bayruḥāʾ, and it is a ṣadaqa for Allah … He said: 'Bakhkh! That is profitable property.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144768"/>
            <a:ext cx="11057839" cy="457200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400" b="0" i="0">
                <a:solidFill>
                  <a:srgbClr val="5A6862"/>
                </a:solidFill>
                <a:latin typeface="Segoe UI"/>
                <a:cs typeface="Segoe UI"/>
              </a:rPr>
              <a:t>Siyar A'lam al-Nubala, vol. 2, p. 33</a:t>
            </a:r>
          </a:p>
        </p:txBody>
      </p:sp>
    </p:spTree>
  </p:cSld>
  <p:clrMapOvr>
    <a:masterClrMapping/>
  </p:clrMapOvr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nd"/>
          <p:cNvSpPr/>
          <p:nvPr/>
        </p:nvSpPr>
        <p:spPr>
          <a:xfrm>
            <a:off x="0" y="0"/>
            <a:ext cx="12191695" cy="1223263"/>
          </a:xfrm>
          <a:prstGeom prst="rect">
            <a:avLst/>
          </a:prstGeom>
          <a:solidFill>
            <a:srgbClr val="104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ule"/>
          <p:cNvSpPr/>
          <p:nvPr/>
        </p:nvSpPr>
        <p:spPr>
          <a:xfrm>
            <a:off x="0" y="1223263"/>
            <a:ext cx="12191695" cy="57150"/>
          </a:xfrm>
          <a:prstGeom prst="rect">
            <a:avLst/>
          </a:prstGeom>
          <a:solidFill>
            <a:srgbClr val="C49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66928" y="91440"/>
            <a:ext cx="11057839" cy="274320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400" b="1" i="0">
                <a:solidFill>
                  <a:srgbClr val="C49A45"/>
                </a:solidFill>
                <a:latin typeface="Segoe UI"/>
                <a:cs typeface="Segoe UI"/>
              </a:rPr>
              <a:t>Ḥunayn, 8 AH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02336"/>
            <a:ext cx="11057839" cy="711199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4000" b="1" i="0">
                <a:solidFill>
                  <a:srgbClr val="FAF7F0"/>
                </a:solidFill>
                <a:latin typeface="Georgia"/>
                <a:cs typeface="Georgia"/>
              </a:rPr>
              <a:t>The dagger at Ḥunayn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882140"/>
            <a:ext cx="11057839" cy="2331720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r" rtl="1">
              <a:lnSpc>
                <a:spcPct val="150000"/>
              </a:lnSpc>
            </a:pPr>
            <a:r>
              <a:rPr lang="ar-SA" sz="5400" b="0" i="0">
                <a:solidFill>
                  <a:srgbClr val="0A322E"/>
                </a:solidFill>
                <a:latin typeface="Traditional Arabic"/>
                <a:cs typeface="Traditional Arabic"/>
              </a:rPr>
              <a:t>يَا رَسُوْلَ اللهِ! إِنْ دَنَا مِنِّي مُشْرِكٌ بَقَرْتُ بِهِ بَطْنَهُ.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4341876"/>
            <a:ext cx="1554480" cy="38100"/>
          </a:xfrm>
          <a:prstGeom prst="rect">
            <a:avLst/>
          </a:prstGeom>
          <a:solidFill>
            <a:srgbClr val="C49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66928" y="4652772"/>
            <a:ext cx="11057839" cy="1136903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3000" b="0" i="1">
                <a:solidFill>
                  <a:srgbClr val="1C2321"/>
                </a:solidFill>
                <a:latin typeface="Georgia"/>
                <a:cs typeface="Georgia"/>
              </a:rPr>
              <a:t>"Messenger of Allah, if a mushrik comes near me I will open his belly with it."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144768"/>
            <a:ext cx="11057839" cy="457200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400" b="0" i="0">
                <a:solidFill>
                  <a:srgbClr val="5A6862"/>
                </a:solidFill>
                <a:latin typeface="Segoe UI"/>
                <a:cs typeface="Segoe UI"/>
              </a:rPr>
              <a:t>Siyar A'lam al-Nubala, vol. 2, p. 304</a:t>
            </a:r>
          </a:p>
        </p:txBody>
      </p:sp>
    </p:spTree>
  </p:cSld>
  <p:clrMapOvr>
    <a:masterClrMapping/>
  </p:clrMapOvr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nd"/>
          <p:cNvSpPr/>
          <p:nvPr/>
        </p:nvSpPr>
        <p:spPr>
          <a:xfrm>
            <a:off x="0" y="0"/>
            <a:ext cx="12191695" cy="1223263"/>
          </a:xfrm>
          <a:prstGeom prst="rect">
            <a:avLst/>
          </a:prstGeom>
          <a:solidFill>
            <a:srgbClr val="104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ule"/>
          <p:cNvSpPr/>
          <p:nvPr/>
        </p:nvSpPr>
        <p:spPr>
          <a:xfrm>
            <a:off x="0" y="1223263"/>
            <a:ext cx="12191695" cy="57150"/>
          </a:xfrm>
          <a:prstGeom prst="rect">
            <a:avLst/>
          </a:prstGeom>
          <a:solidFill>
            <a:srgbClr val="C49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66928" y="91440"/>
            <a:ext cx="11057839" cy="274320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400" b="1" i="0">
                <a:solidFill>
                  <a:srgbClr val="C49A45"/>
                </a:solidFill>
                <a:latin typeface="Segoe UI"/>
                <a:cs typeface="Traditional Arabic"/>
              </a:rPr>
              <a:t>In the Prophet's ﷺ lifetime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02336"/>
            <a:ext cx="11057839" cy="711199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4000" b="1" i="0">
                <a:solidFill>
                  <a:srgbClr val="FAF7F0"/>
                </a:solidFill>
                <a:latin typeface="Georgia"/>
                <a:cs typeface="Georgia"/>
              </a:rPr>
              <a:t>Umm Ḥarām and the sea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882140"/>
            <a:ext cx="11057839" cy="2331720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r" rtl="1">
              <a:lnSpc>
                <a:spcPct val="150000"/>
              </a:lnSpc>
            </a:pPr>
            <a:r>
              <a:rPr lang="ar-SA" sz="5400" b="0" i="0">
                <a:solidFill>
                  <a:srgbClr val="0A322E"/>
                </a:solidFill>
                <a:latin typeface="Traditional Arabic"/>
                <a:cs typeface="Traditional Arabic"/>
              </a:rPr>
              <a:t>عُرِضَ عَلَيَّ نَاسٌ مِنْ أُمَّتِي يَرْكَبُوْنَ ظَهْرَ هَذَا البَحْرِ كَالمُلُوْكِ … عَلَى الأَسِرَّةِ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4341876"/>
            <a:ext cx="1554480" cy="38100"/>
          </a:xfrm>
          <a:prstGeom prst="rect">
            <a:avLst/>
          </a:prstGeom>
          <a:solidFill>
            <a:srgbClr val="C49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66928" y="4652772"/>
            <a:ext cx="11057839" cy="1136903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3000" b="0" i="1">
                <a:solidFill>
                  <a:srgbClr val="1C2321"/>
                </a:solidFill>
                <a:latin typeface="Georgia"/>
                <a:cs typeface="Georgia"/>
              </a:rPr>
              <a:t>People of my umma were shown to me riding the back of this sea like kings … upon thrones.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144768"/>
            <a:ext cx="11057839" cy="457200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400" b="0" i="0">
                <a:solidFill>
                  <a:srgbClr val="5A6862"/>
                </a:solidFill>
                <a:latin typeface="Segoe UI"/>
                <a:cs typeface="Segoe UI"/>
              </a:rPr>
              <a:t>Siyar A'lam al-Nubala, vol. 2, pp. 316–317</a:t>
            </a:r>
          </a:p>
        </p:txBody>
      </p:sp>
    </p:spTree>
  </p:cSld>
  <p:clrMapOvr>
    <a:masterClrMapping/>
  </p:clrMapOvr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nd"/>
          <p:cNvSpPr/>
          <p:nvPr/>
        </p:nvSpPr>
        <p:spPr>
          <a:xfrm>
            <a:off x="0" y="0"/>
            <a:ext cx="12191695" cy="1223263"/>
          </a:xfrm>
          <a:prstGeom prst="rect">
            <a:avLst/>
          </a:prstGeom>
          <a:solidFill>
            <a:srgbClr val="104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ule"/>
          <p:cNvSpPr/>
          <p:nvPr/>
        </p:nvSpPr>
        <p:spPr>
          <a:xfrm>
            <a:off x="0" y="1223263"/>
            <a:ext cx="12191695" cy="57150"/>
          </a:xfrm>
          <a:prstGeom prst="rect">
            <a:avLst/>
          </a:prstGeom>
          <a:solidFill>
            <a:srgbClr val="C49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66928" y="91440"/>
            <a:ext cx="11057839" cy="274320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400" b="1" i="0">
                <a:solidFill>
                  <a:srgbClr val="C49A45"/>
                </a:solidFill>
                <a:latin typeface="Segoe UI"/>
                <a:cs typeface="Segoe UI"/>
              </a:rPr>
              <a:t>Tustar, 17–20 AH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02336"/>
            <a:ext cx="11057839" cy="711199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4000" b="1" i="0">
                <a:solidFill>
                  <a:srgbClr val="FAF7F0"/>
                </a:solidFill>
                <a:latin typeface="Georgia"/>
                <a:cs typeface="Georgia"/>
              </a:rPr>
              <a:t>The oath at Tustar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2644140"/>
            <a:ext cx="11057839" cy="1303020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r" rtl="1">
              <a:lnSpc>
                <a:spcPct val="150000"/>
              </a:lnSpc>
            </a:pPr>
            <a:r>
              <a:rPr lang="ar-SA" sz="5400" b="0" i="0">
                <a:solidFill>
                  <a:srgbClr val="0A322E"/>
                </a:solidFill>
                <a:latin typeface="Traditional Arabic"/>
                <a:cs typeface="Traditional Arabic"/>
              </a:rPr>
              <a:t>اللَّهُمَّ اهْزِمْهُمْ لَنَا وَاسْتَشْهِدْنِي.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4075176"/>
            <a:ext cx="1554480" cy="38100"/>
          </a:xfrm>
          <a:prstGeom prst="rect">
            <a:avLst/>
          </a:prstGeom>
          <a:solidFill>
            <a:srgbClr val="C49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66928" y="4386072"/>
            <a:ext cx="11057839" cy="641604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3000" b="0" i="1">
                <a:solidFill>
                  <a:srgbClr val="1C2321"/>
                </a:solidFill>
                <a:latin typeface="Georgia"/>
                <a:cs typeface="Georgia"/>
              </a:rPr>
              <a:t>…O Allah, defeat them for us, and take me as a martyr.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144768"/>
            <a:ext cx="11057839" cy="457200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400" b="0" i="0">
                <a:solidFill>
                  <a:srgbClr val="5A6862"/>
                </a:solidFill>
                <a:latin typeface="Segoe UI"/>
                <a:cs typeface="Segoe UI"/>
              </a:rPr>
              <a:t>al-Kamil, vol. 2, p. 368</a:t>
            </a:r>
          </a:p>
        </p:txBody>
      </p:sp>
    </p:spTree>
  </p:cSld>
  <p:clrMapOvr>
    <a:masterClrMapping/>
  </p:clrMapOvr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nd"/>
          <p:cNvSpPr/>
          <p:nvPr/>
        </p:nvSpPr>
        <p:spPr>
          <a:xfrm>
            <a:off x="0" y="0"/>
            <a:ext cx="12191695" cy="1223263"/>
          </a:xfrm>
          <a:prstGeom prst="rect">
            <a:avLst/>
          </a:prstGeom>
          <a:solidFill>
            <a:srgbClr val="104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ule"/>
          <p:cNvSpPr/>
          <p:nvPr/>
        </p:nvSpPr>
        <p:spPr>
          <a:xfrm>
            <a:off x="0" y="1223263"/>
            <a:ext cx="12191695" cy="57150"/>
          </a:xfrm>
          <a:prstGeom prst="rect">
            <a:avLst/>
          </a:prstGeom>
          <a:solidFill>
            <a:srgbClr val="C49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66928" y="91440"/>
            <a:ext cx="11057839" cy="274320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400" b="1" i="0">
                <a:solidFill>
                  <a:srgbClr val="C49A45"/>
                </a:solidFill>
                <a:latin typeface="Segoe UI"/>
                <a:cs typeface="Segoe UI"/>
              </a:rPr>
              <a:t>Tustar, the same morning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02336"/>
            <a:ext cx="11057839" cy="711199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4000" b="1" i="0">
                <a:solidFill>
                  <a:srgbClr val="FAF7F0"/>
                </a:solidFill>
                <a:latin typeface="Georgia"/>
                <a:cs typeface="Georgia"/>
              </a:rPr>
              <a:t>The dawn prayer at Tustar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2072640"/>
            <a:ext cx="11057839" cy="1950720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r" rtl="1">
              <a:lnSpc>
                <a:spcPct val="150000"/>
              </a:lnSpc>
            </a:pPr>
            <a:r>
              <a:rPr lang="ar-SA" sz="4400" b="0" i="0">
                <a:solidFill>
                  <a:srgbClr val="0A322E"/>
                </a:solidFill>
                <a:latin typeface="Traditional Arabic"/>
                <a:cs typeface="Traditional Arabic"/>
              </a:rPr>
              <a:t>فما صلوا الصبح إلا بعد طلوع الشمس فما أحب أن لي بتلك الصلاة حمرَ النعم.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4151376"/>
            <a:ext cx="1554480" cy="38100"/>
          </a:xfrm>
          <a:prstGeom prst="rect">
            <a:avLst/>
          </a:prstGeom>
          <a:solidFill>
            <a:srgbClr val="C49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66928" y="4462272"/>
            <a:ext cx="11057839" cy="1136903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3000" b="0" i="1">
                <a:solidFill>
                  <a:srgbClr val="1C2321"/>
                </a:solidFill>
                <a:latin typeface="Georgia"/>
                <a:cs typeface="Georgia"/>
              </a:rPr>
              <a:t>did not pray Ṣubḥ until after sunrise — and I would not wish red camels in exchange for that prayer.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144768"/>
            <a:ext cx="11057839" cy="457200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400" b="0" i="0">
                <a:solidFill>
                  <a:srgbClr val="5A6862"/>
                </a:solidFill>
                <a:latin typeface="Segoe UI"/>
                <a:cs typeface="Segoe UI"/>
              </a:rPr>
              <a:t>al-Bidaya wa'l-Nihaya, vol. 7, p. 198</a:t>
            </a:r>
          </a:p>
        </p:txBody>
      </p:sp>
    </p:spTree>
  </p:cSld>
  <p:clrMapOvr>
    <a:masterClrMapping/>
  </p:clrMapOvr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nd"/>
          <p:cNvSpPr/>
          <p:nvPr/>
        </p:nvSpPr>
        <p:spPr>
          <a:xfrm>
            <a:off x="0" y="0"/>
            <a:ext cx="12191695" cy="1223263"/>
          </a:xfrm>
          <a:prstGeom prst="rect">
            <a:avLst/>
          </a:prstGeom>
          <a:solidFill>
            <a:srgbClr val="104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ule"/>
          <p:cNvSpPr/>
          <p:nvPr/>
        </p:nvSpPr>
        <p:spPr>
          <a:xfrm>
            <a:off x="0" y="1223263"/>
            <a:ext cx="12191695" cy="57150"/>
          </a:xfrm>
          <a:prstGeom prst="rect">
            <a:avLst/>
          </a:prstGeom>
          <a:solidFill>
            <a:srgbClr val="C49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66928" y="91440"/>
            <a:ext cx="11057839" cy="274320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400" b="1" i="0">
                <a:solidFill>
                  <a:srgbClr val="C49A45"/>
                </a:solidFill>
                <a:latin typeface="Segoe UI"/>
                <a:cs typeface="Arabic Typesetting"/>
              </a:rPr>
              <a:t>The caliphate of ʿUthmān ؓ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02336"/>
            <a:ext cx="11057839" cy="711199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4000" b="1" i="0">
                <a:solidFill>
                  <a:srgbClr val="FAF7F0"/>
                </a:solidFill>
                <a:latin typeface="Georgia"/>
                <a:cs typeface="Georgia"/>
              </a:rPr>
              <a:t>«Equip me»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882140"/>
            <a:ext cx="11057839" cy="2331720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r" rtl="1">
              <a:lnSpc>
                <a:spcPct val="150000"/>
              </a:lnSpc>
            </a:pPr>
            <a:r>
              <a:rPr lang="ar-SA" sz="5400" b="0" i="0">
                <a:solidFill>
                  <a:srgbClr val="0A322E"/>
                </a:solidFill>
                <a:latin typeface="Traditional Arabic"/>
                <a:cs typeface="Traditional Arabic"/>
              </a:rPr>
              <a:t>اسْتَنْفَرَنَا اللهُ وَأَمَرَنَا، شُيُوْخَنَا وَشَبَابَنَا، جَهِّزُوْنِي.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4341876"/>
            <a:ext cx="1554480" cy="38100"/>
          </a:xfrm>
          <a:prstGeom prst="rect">
            <a:avLst/>
          </a:prstGeom>
          <a:solidFill>
            <a:srgbClr val="C49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66928" y="4652772"/>
            <a:ext cx="11057839" cy="1136903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3000" b="0" i="1">
                <a:solidFill>
                  <a:srgbClr val="1C2321"/>
                </a:solidFill>
                <a:latin typeface="Georgia"/>
                <a:cs typeface="Georgia"/>
              </a:rPr>
              <a:t>"Allah has called us out and commanded us — our old and our young. Equip me."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144768"/>
            <a:ext cx="11057839" cy="457200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400" b="0" i="0">
                <a:solidFill>
                  <a:srgbClr val="5A6862"/>
                </a:solidFill>
                <a:latin typeface="Segoe UI"/>
                <a:cs typeface="Segoe UI"/>
              </a:rPr>
              <a:t>Siyar A'lam al-Nubala, vol. 2, p. 34</a:t>
            </a:r>
          </a:p>
        </p:txBody>
      </p:sp>
    </p:spTree>
  </p:cSld>
  <p:clrMapOvr>
    <a:masterClrMapping/>
  </p:clrMapOvr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2651760"/>
            <a:ext cx="12191695" cy="1554480"/>
          </a:xfrm>
          <a:prstGeom prst="rect">
            <a:avLst/>
          </a:prstGeom>
          <a:solidFill>
            <a:srgbClr val="FAF7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2651760"/>
            <a:ext cx="114300" cy="1554480"/>
          </a:xfrm>
          <a:prstGeom prst="rect">
            <a:avLst/>
          </a:prstGeom>
          <a:solidFill>
            <a:srgbClr val="C49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68680" y="2788920"/>
            <a:ext cx="10728655" cy="731520"/>
          </a:xfrm>
          <a:prstGeom prst="rect">
            <a:avLst/>
          </a:prstGeom>
          <a:noFill/>
        </p:spPr>
        <p:txBody>
          <a:bodyPr wrap="square" lIns="36576" tIns="0" rIns="36576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4600" b="1" i="0">
                <a:solidFill>
                  <a:srgbClr val="0A322E"/>
                </a:solidFill>
                <a:latin typeface="Georgia"/>
                <a:cs typeface="Georgia"/>
              </a:rPr>
              <a:t>Part 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3520440"/>
            <a:ext cx="10728655" cy="548640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800" b="0" i="0">
                <a:solidFill>
                  <a:srgbClr val="5A6862"/>
                </a:solidFill>
                <a:latin typeface="Segoe UI"/>
                <a:cs typeface="Arabic Typesetting"/>
              </a:rPr>
              <a:t>Abū Ḥudhayfa ؓ and Sālim ؓ, before the field</a:t>
            </a:r>
          </a:p>
        </p:txBody>
      </p:sp>
    </p:spTree>
  </p:cSld>
  <p:clrMapOvr>
    <a:masterClrMapping/>
  </p:clrMapOvr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nd"/>
          <p:cNvSpPr/>
          <p:nvPr/>
        </p:nvSpPr>
        <p:spPr>
          <a:xfrm>
            <a:off x="0" y="0"/>
            <a:ext cx="12191695" cy="1223263"/>
          </a:xfrm>
          <a:prstGeom prst="rect">
            <a:avLst/>
          </a:prstGeom>
          <a:solidFill>
            <a:srgbClr val="104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ule"/>
          <p:cNvSpPr/>
          <p:nvPr/>
        </p:nvSpPr>
        <p:spPr>
          <a:xfrm>
            <a:off x="0" y="1223263"/>
            <a:ext cx="12191695" cy="57150"/>
          </a:xfrm>
          <a:prstGeom prst="rect">
            <a:avLst/>
          </a:prstGeom>
          <a:solidFill>
            <a:srgbClr val="C49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66928" y="91440"/>
            <a:ext cx="11057839" cy="274320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400" b="1" i="0">
                <a:solidFill>
                  <a:srgbClr val="C49A45"/>
                </a:solidFill>
                <a:latin typeface="Segoe UI"/>
                <a:cs typeface="Segoe UI"/>
              </a:rPr>
              <a:t>Mecca, before the house of al-Arqam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02336"/>
            <a:ext cx="11057839" cy="711199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4000" b="1" i="0">
                <a:solidFill>
                  <a:srgbClr val="FAF7F0"/>
                </a:solidFill>
                <a:latin typeface="Georgia"/>
                <a:cs typeface="Georgia"/>
              </a:rPr>
              <a:t>The second house</a:t>
            </a:r>
          </a:p>
        </p:txBody>
      </p:sp>
      <p:sp>
        <p:nvSpPr>
          <p:cNvPr id="6" name="card0"/>
          <p:cNvSpPr/>
          <p:nvPr/>
        </p:nvSpPr>
        <p:spPr>
          <a:xfrm>
            <a:off x="566928" y="1389888"/>
            <a:ext cx="3527450" cy="4480560"/>
          </a:xfrm>
          <a:prstGeom prst="rect">
            <a:avLst/>
          </a:prstGeom>
          <a:solidFill>
            <a:srgbClr val="FAF7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66928" y="1389888"/>
            <a:ext cx="3527450" cy="88900"/>
          </a:xfrm>
          <a:prstGeom prst="rect">
            <a:avLst/>
          </a:prstGeom>
          <a:solidFill>
            <a:srgbClr val="104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49808" y="1700784"/>
            <a:ext cx="3161690" cy="1097280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200" b="1" i="0">
                <a:solidFill>
                  <a:srgbClr val="0A322E"/>
                </a:solidFill>
                <a:latin typeface="Georgia"/>
                <a:cs typeface="Georgia"/>
              </a:rPr>
              <a:t>That was one house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2807208"/>
            <a:ext cx="3161690" cy="2011680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2400" b="0" i="0">
                <a:solidFill>
                  <a:srgbClr val="1C2321"/>
                </a:solidFill>
                <a:latin typeface="Segoe UI"/>
                <a:cs typeface="Arabic Typesetting"/>
              </a:rPr>
              <a:t>Umm Sulaym's ؓ — Anas ؓ, al-Barāʾ ؓ, and Abū Ṭalḥa ؓ</a:t>
            </a:r>
          </a:p>
        </p:txBody>
      </p:sp>
      <p:sp>
        <p:nvSpPr>
          <p:cNvPr id="10" name="card1"/>
          <p:cNvSpPr/>
          <p:nvPr/>
        </p:nvSpPr>
        <p:spPr>
          <a:xfrm>
            <a:off x="4332122" y="1389888"/>
            <a:ext cx="3527450" cy="4480560"/>
          </a:xfrm>
          <a:prstGeom prst="rect">
            <a:avLst/>
          </a:prstGeom>
          <a:solidFill>
            <a:srgbClr val="FAF7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332122" y="1389888"/>
            <a:ext cx="3527450" cy="88900"/>
          </a:xfrm>
          <a:prstGeom prst="rect">
            <a:avLst/>
          </a:prstGeom>
          <a:solidFill>
            <a:srgbClr val="104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15002" y="1700784"/>
            <a:ext cx="3161690" cy="1097280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200" b="1" i="0">
                <a:solidFill>
                  <a:srgbClr val="0A322E"/>
                </a:solidFill>
                <a:latin typeface="Georgia"/>
                <a:cs typeface="Georgia"/>
              </a:rPr>
              <a:t>This is another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15002" y="2807208"/>
            <a:ext cx="3161690" cy="2011680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2400" b="0" i="0">
                <a:solidFill>
                  <a:srgbClr val="1C2321"/>
                </a:solidFill>
                <a:latin typeface="Segoe UI"/>
                <a:cs typeface="Segoe UI"/>
              </a:rPr>
              <a:t>A chief's son of Quraysh, and a freed slave of Persia</a:t>
            </a:r>
          </a:p>
        </p:txBody>
      </p:sp>
      <p:sp>
        <p:nvSpPr>
          <p:cNvPr id="14" name="card2"/>
          <p:cNvSpPr/>
          <p:nvPr/>
        </p:nvSpPr>
        <p:spPr>
          <a:xfrm>
            <a:off x="8097316" y="1389888"/>
            <a:ext cx="3527450" cy="4480560"/>
          </a:xfrm>
          <a:prstGeom prst="rect">
            <a:avLst/>
          </a:prstGeom>
          <a:solidFill>
            <a:srgbClr val="FAF7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097316" y="1389888"/>
            <a:ext cx="3527450" cy="88900"/>
          </a:xfrm>
          <a:prstGeom prst="rect">
            <a:avLst/>
          </a:prstGeom>
          <a:solidFill>
            <a:srgbClr val="104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280196" y="1700784"/>
            <a:ext cx="3161690" cy="1097280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200" b="1" i="0">
                <a:solidFill>
                  <a:srgbClr val="0A322E"/>
                </a:solidFill>
                <a:latin typeface="Georgia"/>
                <a:cs typeface="Georgia"/>
              </a:rPr>
              <a:t>Where they end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80196" y="2807208"/>
            <a:ext cx="3161690" cy="2011680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2400" b="0" i="0">
                <a:solidFill>
                  <a:srgbClr val="1C2321"/>
                </a:solidFill>
                <a:latin typeface="Segoe UI"/>
                <a:cs typeface="Segoe UI"/>
              </a:rPr>
              <a:t>Both of them on the field you have already seen</a:t>
            </a:r>
          </a:p>
        </p:txBody>
      </p:sp>
    </p:spTree>
  </p:cSld>
  <p:clrMapOvr>
    <a:masterClrMapping/>
  </p:clrMapOvr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nd"/>
          <p:cNvSpPr/>
          <p:nvPr/>
        </p:nvSpPr>
        <p:spPr>
          <a:xfrm>
            <a:off x="0" y="0"/>
            <a:ext cx="12191695" cy="1223263"/>
          </a:xfrm>
          <a:prstGeom prst="rect">
            <a:avLst/>
          </a:prstGeom>
          <a:solidFill>
            <a:srgbClr val="104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ule"/>
          <p:cNvSpPr/>
          <p:nvPr/>
        </p:nvSpPr>
        <p:spPr>
          <a:xfrm>
            <a:off x="0" y="1223263"/>
            <a:ext cx="12191695" cy="57150"/>
          </a:xfrm>
          <a:prstGeom prst="rect">
            <a:avLst/>
          </a:prstGeom>
          <a:solidFill>
            <a:srgbClr val="C49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66928" y="91440"/>
            <a:ext cx="11057839" cy="274320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400" b="1" i="0">
                <a:solidFill>
                  <a:srgbClr val="C49A45"/>
                </a:solidFill>
                <a:latin typeface="Segoe UI"/>
                <a:cs typeface="Segoe UI"/>
              </a:rPr>
              <a:t>Mecca, before the house of al-Arqam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02336"/>
            <a:ext cx="11057839" cy="711199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4000" b="1" i="0">
                <a:solidFill>
                  <a:srgbClr val="FAF7F0"/>
                </a:solidFill>
                <a:latin typeface="Georgia"/>
                <a:cs typeface="Georgia"/>
              </a:rPr>
              <a:t>The son of the elder of the Jāhiliyya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824990"/>
            <a:ext cx="11057839" cy="1950720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r" rtl="1">
              <a:lnSpc>
                <a:spcPct val="150000"/>
              </a:lnSpc>
            </a:pPr>
            <a:r>
              <a:rPr lang="ar-SA" sz="4400" b="0" i="0">
                <a:solidFill>
                  <a:srgbClr val="0A322E"/>
                </a:solidFill>
                <a:latin typeface="Traditional Arabic"/>
                <a:cs typeface="Traditional Arabic"/>
              </a:rPr>
              <a:t>السَّيِّدُ الكَبِيْرُ، الشَّهِيْدُ، أَبُو حُذَيْفَةَ ابْنُ شَيْخِ الجَاهِلِيَّةِ: عُتْبَةَ بنِ رَبِيْعَةَ … البَدْرِيُّ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3903726"/>
            <a:ext cx="1554480" cy="38100"/>
          </a:xfrm>
          <a:prstGeom prst="rect">
            <a:avLst/>
          </a:prstGeom>
          <a:solidFill>
            <a:srgbClr val="C49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66928" y="4214622"/>
            <a:ext cx="11057839" cy="1632204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3000" b="0" i="1">
                <a:solidFill>
                  <a:srgbClr val="1C2321"/>
                </a:solidFill>
                <a:latin typeface="Georgia"/>
                <a:cs typeface="Georgia"/>
              </a:rPr>
              <a:t>The great chief, the martyr, Abū Ḥudhayfa — son of the elder of the Jāhiliyya, ʿUtba b. Rabīʿa — … the man of Badr.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144768"/>
            <a:ext cx="11057839" cy="457200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400" b="0" i="0">
                <a:solidFill>
                  <a:srgbClr val="5A6862"/>
                </a:solidFill>
                <a:latin typeface="Segoe UI"/>
                <a:cs typeface="Segoe UI"/>
              </a:rPr>
              <a:t>Siyar A'lam al-Nubala, vol. 1, p. 164</a:t>
            </a:r>
          </a:p>
        </p:txBody>
      </p:sp>
    </p:spTree>
  </p:cSld>
  <p:clrMapOvr>
    <a:masterClrMapping/>
  </p:clrMapOvr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nd"/>
          <p:cNvSpPr/>
          <p:nvPr/>
        </p:nvSpPr>
        <p:spPr>
          <a:xfrm>
            <a:off x="0" y="0"/>
            <a:ext cx="12191695" cy="1223263"/>
          </a:xfrm>
          <a:prstGeom prst="rect">
            <a:avLst/>
          </a:prstGeom>
          <a:solidFill>
            <a:srgbClr val="104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ule"/>
          <p:cNvSpPr/>
          <p:nvPr/>
        </p:nvSpPr>
        <p:spPr>
          <a:xfrm>
            <a:off x="0" y="1223263"/>
            <a:ext cx="12191695" cy="57150"/>
          </a:xfrm>
          <a:prstGeom prst="rect">
            <a:avLst/>
          </a:prstGeom>
          <a:solidFill>
            <a:srgbClr val="C49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66928" y="91440"/>
            <a:ext cx="11057839" cy="274320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400" b="1" i="0">
                <a:solidFill>
                  <a:srgbClr val="C49A45"/>
                </a:solidFill>
                <a:latin typeface="Segoe UI"/>
                <a:cs typeface="Segoe UI"/>
              </a:rPr>
              <a:t>Mecca, before the Hijra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02336"/>
            <a:ext cx="11057839" cy="711199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4000" b="1" i="0">
                <a:solidFill>
                  <a:srgbClr val="FAF7F0"/>
                </a:solidFill>
                <a:latin typeface="Georgia"/>
                <a:cs typeface="Georgia"/>
              </a:rPr>
              <a:t>The ship they hired for half a dinar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2072640"/>
            <a:ext cx="11057839" cy="1950720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r" rtl="1">
              <a:lnSpc>
                <a:spcPct val="150000"/>
              </a:lnSpc>
            </a:pPr>
            <a:r>
              <a:rPr lang="ar-SA" sz="4400" b="0" i="0">
                <a:solidFill>
                  <a:srgbClr val="0A322E"/>
                </a:solidFill>
                <a:latin typeface="Traditional Arabic"/>
                <a:cs typeface="Traditional Arabic"/>
              </a:rPr>
              <a:t>فاستأجروا سفينةً بنصف دينار إلى الحبشة … وأبو حُذيفة بن عتبة، وامرأته سهلة بنت سُهيل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4151376"/>
            <a:ext cx="1554480" cy="38100"/>
          </a:xfrm>
          <a:prstGeom prst="rect">
            <a:avLst/>
          </a:prstGeom>
          <a:solidFill>
            <a:srgbClr val="C49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66928" y="4462272"/>
            <a:ext cx="11057839" cy="1136903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3000" b="0" i="1">
                <a:solidFill>
                  <a:srgbClr val="1C2321"/>
                </a:solidFill>
                <a:latin typeface="Georgia"/>
                <a:cs typeface="Georgia"/>
              </a:rPr>
              <a:t>So they hired a ship for half a dinar to Abyssinia … and Abū Ḥudhayfa b. ʿUtba and his wife Sahla bt. Suhayl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144768"/>
            <a:ext cx="11057839" cy="457200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400" b="0" i="0">
                <a:solidFill>
                  <a:srgbClr val="5A6862"/>
                </a:solidFill>
                <a:latin typeface="Segoe UI"/>
                <a:cs typeface="Segoe UI"/>
              </a:rPr>
              <a:t>al-Bidaya wa'l-Nihaya, vol. 3, p. 281</a:t>
            </a:r>
          </a:p>
        </p:txBody>
      </p:sp>
    </p:spTree>
  </p:cSld>
  <p:clrMapOvr>
    <a:masterClrMapping/>
  </p:clrMapOvr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nd"/>
          <p:cNvSpPr/>
          <p:nvPr/>
        </p:nvSpPr>
        <p:spPr>
          <a:xfrm>
            <a:off x="0" y="0"/>
            <a:ext cx="12191695" cy="1843024"/>
          </a:xfrm>
          <a:prstGeom prst="rect">
            <a:avLst/>
          </a:prstGeom>
          <a:solidFill>
            <a:srgbClr val="104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ule"/>
          <p:cNvSpPr/>
          <p:nvPr/>
        </p:nvSpPr>
        <p:spPr>
          <a:xfrm>
            <a:off x="0" y="1843024"/>
            <a:ext cx="12191695" cy="57150"/>
          </a:xfrm>
          <a:prstGeom prst="rect">
            <a:avLst/>
          </a:prstGeom>
          <a:solidFill>
            <a:srgbClr val="C49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66928" y="91440"/>
            <a:ext cx="11057839" cy="274320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400" b="1" i="0">
                <a:solidFill>
                  <a:srgbClr val="C49A45"/>
                </a:solidFill>
                <a:latin typeface="Segoe UI"/>
                <a:cs typeface="Segoe UI"/>
              </a:rPr>
              <a:t>Before the Hijra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02336"/>
            <a:ext cx="11057839" cy="1330960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4000" b="1" i="0">
                <a:solidFill>
                  <a:srgbClr val="FAF7F0"/>
                </a:solidFill>
                <a:latin typeface="Georgia"/>
                <a:cs typeface="Georgia"/>
              </a:rPr>
              <a:t>From Iṣṭakhr to the banner of the Muhājirūn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824990"/>
            <a:ext cx="11057839" cy="1950720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r" rtl="1">
              <a:lnSpc>
                <a:spcPct val="150000"/>
              </a:lnSpc>
            </a:pPr>
            <a:r>
              <a:rPr lang="ar-SA" sz="4400" b="0" i="0">
                <a:solidFill>
                  <a:srgbClr val="0A322E"/>
                </a:solidFill>
                <a:latin typeface="Traditional Arabic"/>
                <a:cs typeface="Traditional Arabic"/>
              </a:rPr>
              <a:t>مِنَ السَّابِقِيْنَ الأَوَّلِيْنَ، البَدْرِيِّيْنَ، المُقَرَّبِيْنَ، العَالِمِيْنَ … أَصْلُهُ مِنْ إِصْطَخْرَ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3903726"/>
            <a:ext cx="1554480" cy="38100"/>
          </a:xfrm>
          <a:prstGeom prst="rect">
            <a:avLst/>
          </a:prstGeom>
          <a:solidFill>
            <a:srgbClr val="C49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66928" y="4214622"/>
            <a:ext cx="11057839" cy="1632204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3000" b="0" i="1">
                <a:solidFill>
                  <a:srgbClr val="1C2321"/>
                </a:solidFill>
                <a:latin typeface="Georgia"/>
                <a:cs typeface="Georgia"/>
              </a:rPr>
              <a:t>"Of the first forerunners, of the men of Badr, of those brought near, of the learned … his origin is from Iṣṭakhr."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144768"/>
            <a:ext cx="11057839" cy="457200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400" b="0" i="0">
                <a:solidFill>
                  <a:srgbClr val="5A6862"/>
                </a:solidFill>
                <a:latin typeface="Segoe UI"/>
                <a:cs typeface="Segoe UI"/>
              </a:rPr>
              <a:t>Siyar A'lam al-Nubala, vol. 1, p. 167</a:t>
            </a:r>
          </a:p>
        </p:txBody>
      </p:sp>
    </p:spTree>
  </p:cSld>
  <p:clrMapOvr>
    <a:masterClrMapping/>
  </p:clrMapOvr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nd"/>
          <p:cNvSpPr/>
          <p:nvPr/>
        </p:nvSpPr>
        <p:spPr>
          <a:xfrm>
            <a:off x="0" y="0"/>
            <a:ext cx="12191695" cy="1223263"/>
          </a:xfrm>
          <a:prstGeom prst="rect">
            <a:avLst/>
          </a:prstGeom>
          <a:solidFill>
            <a:srgbClr val="104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ule"/>
          <p:cNvSpPr/>
          <p:nvPr/>
        </p:nvSpPr>
        <p:spPr>
          <a:xfrm>
            <a:off x="0" y="1223263"/>
            <a:ext cx="12191695" cy="57150"/>
          </a:xfrm>
          <a:prstGeom prst="rect">
            <a:avLst/>
          </a:prstGeom>
          <a:solidFill>
            <a:srgbClr val="C49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66928" y="91440"/>
            <a:ext cx="11057839" cy="274320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400" b="1" i="0">
                <a:solidFill>
                  <a:srgbClr val="C49A45"/>
                </a:solidFill>
                <a:latin typeface="Segoe UI"/>
                <a:cs typeface="Traditional Arabic"/>
              </a:rPr>
              <a:t>Before the Prophet ﷺ reached Medina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02336"/>
            <a:ext cx="11057839" cy="711199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4000" b="1" i="0">
                <a:solidFill>
                  <a:srgbClr val="FAF7F0"/>
                </a:solidFill>
                <a:latin typeface="Georgia"/>
                <a:cs typeface="Georgia"/>
              </a:rPr>
              <a:t>The imām at Qubāʾ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634490"/>
            <a:ext cx="11057839" cy="2331720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r" rtl="1">
              <a:lnSpc>
                <a:spcPct val="150000"/>
              </a:lnSpc>
            </a:pPr>
            <a:r>
              <a:rPr lang="ar-SA" sz="5400" b="0" i="0">
                <a:solidFill>
                  <a:srgbClr val="0A322E"/>
                </a:solidFill>
                <a:latin typeface="Traditional Arabic"/>
                <a:cs typeface="Traditional Arabic"/>
              </a:rPr>
              <a:t>فَأَمَّهُم سَالِمٌ مَوْلَى أَبِي حُذَيْفَةَ، لأَنَّهُ كَانَ … أَكْثَرَهُم قُرْآناً، فِيْهِم عُمَرُ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4094226"/>
            <a:ext cx="1554480" cy="38100"/>
          </a:xfrm>
          <a:prstGeom prst="rect">
            <a:avLst/>
          </a:prstGeom>
          <a:solidFill>
            <a:srgbClr val="C49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66928" y="4405122"/>
            <a:ext cx="11057839" cy="1632204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3000" b="0" i="1">
                <a:solidFill>
                  <a:srgbClr val="1C2321"/>
                </a:solidFill>
                <a:latin typeface="Georgia"/>
                <a:cs typeface="Georgia"/>
              </a:rPr>
              <a:t>Sālim, the freedman of Abū Ḥudhayfa, led them in prayer, because he had the most Qurʾān of them — among them ʿUmar.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144768"/>
            <a:ext cx="11057839" cy="457200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400" b="0" i="0">
                <a:solidFill>
                  <a:srgbClr val="5A6862"/>
                </a:solidFill>
                <a:latin typeface="Segoe UI"/>
                <a:cs typeface="Segoe UI"/>
              </a:rPr>
              <a:t>Siyar A'lam al-Nubala, vol. 1, pp. 168–169</a:t>
            </a:r>
          </a:p>
        </p:txBody>
      </p:sp>
    </p:spTree>
  </p:cSld>
  <p:clrMapOvr>
    <a:masterClrMapping/>
  </p:clrMapOvr>
</p:sld>
</file>

<file path=ppt/slides/slide1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nd"/>
          <p:cNvSpPr/>
          <p:nvPr/>
        </p:nvSpPr>
        <p:spPr>
          <a:xfrm>
            <a:off x="0" y="0"/>
            <a:ext cx="12191695" cy="1223263"/>
          </a:xfrm>
          <a:prstGeom prst="rect">
            <a:avLst/>
          </a:prstGeom>
          <a:solidFill>
            <a:srgbClr val="104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ule"/>
          <p:cNvSpPr/>
          <p:nvPr/>
        </p:nvSpPr>
        <p:spPr>
          <a:xfrm>
            <a:off x="0" y="1223263"/>
            <a:ext cx="12191695" cy="57150"/>
          </a:xfrm>
          <a:prstGeom prst="rect">
            <a:avLst/>
          </a:prstGeom>
          <a:solidFill>
            <a:srgbClr val="C49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66928" y="91440"/>
            <a:ext cx="11057839" cy="274320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400" b="1" i="0">
                <a:solidFill>
                  <a:srgbClr val="C49A45"/>
                </a:solidFill>
                <a:latin typeface="Segoe UI"/>
                <a:cs typeface="Segoe UI"/>
              </a:rPr>
              <a:t>Badr, 2 AH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02336"/>
            <a:ext cx="11057839" cy="711199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4000" b="1" i="0">
                <a:solidFill>
                  <a:srgbClr val="FAF7F0"/>
                </a:solidFill>
                <a:latin typeface="Georgia"/>
                <a:cs typeface="Georgia"/>
              </a:rPr>
              <a:t>Badr — the father and the brother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824990"/>
            <a:ext cx="11057839" cy="1950720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r" rtl="1">
              <a:lnSpc>
                <a:spcPct val="150000"/>
              </a:lnSpc>
            </a:pPr>
            <a:r>
              <a:rPr lang="ar-SA" sz="4400" b="0" i="0">
                <a:solidFill>
                  <a:srgbClr val="0A322E"/>
                </a:solidFill>
                <a:latin typeface="Traditional Arabic"/>
                <a:cs typeface="Traditional Arabic"/>
              </a:rPr>
              <a:t>فبارز عبيدة، وكان أسنّ القوم، عتبة، وبارز حمزة شيبة، وبارز عليٌّ الوليد بن عتبة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3903726"/>
            <a:ext cx="1554480" cy="38100"/>
          </a:xfrm>
          <a:prstGeom prst="rect">
            <a:avLst/>
          </a:prstGeom>
          <a:solidFill>
            <a:srgbClr val="C49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66928" y="4214622"/>
            <a:ext cx="11057839" cy="1632204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3000" b="0" i="1">
                <a:solidFill>
                  <a:srgbClr val="1C2321"/>
                </a:solidFill>
                <a:latin typeface="Georgia"/>
                <a:cs typeface="Georgia"/>
              </a:rPr>
              <a:t>"ʿUbayda — and he was the oldest of them — faced ʿUtba; Ḥamza faced Shayba; and ʿAlī faced al-Walīd b. ʿUtba."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144768"/>
            <a:ext cx="11057839" cy="457200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400" b="0" i="0">
                <a:solidFill>
                  <a:srgbClr val="5A6862"/>
                </a:solidFill>
                <a:latin typeface="Segoe UI"/>
                <a:cs typeface="Segoe UI"/>
              </a:rPr>
              <a:t>al-Bidaya wa'l-Nihaya, vol. 4, p. 60</a:t>
            </a:r>
          </a:p>
        </p:txBody>
      </p:sp>
    </p:spTree>
  </p:cSld>
  <p:clrMapOvr>
    <a:masterClrMapping/>
  </p:clrMapOvr>
</p:sld>
</file>

<file path=ppt/slides/slide1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nd"/>
          <p:cNvSpPr/>
          <p:nvPr/>
        </p:nvSpPr>
        <p:spPr>
          <a:xfrm>
            <a:off x="0" y="0"/>
            <a:ext cx="12191695" cy="1223263"/>
          </a:xfrm>
          <a:prstGeom prst="rect">
            <a:avLst/>
          </a:prstGeom>
          <a:solidFill>
            <a:srgbClr val="104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ule"/>
          <p:cNvSpPr/>
          <p:nvPr/>
        </p:nvSpPr>
        <p:spPr>
          <a:xfrm>
            <a:off x="0" y="1223263"/>
            <a:ext cx="12191695" cy="57150"/>
          </a:xfrm>
          <a:prstGeom prst="rect">
            <a:avLst/>
          </a:prstGeom>
          <a:solidFill>
            <a:srgbClr val="C49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66928" y="91440"/>
            <a:ext cx="11057839" cy="274320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400" b="1" i="0">
                <a:solidFill>
                  <a:srgbClr val="C49A45"/>
                </a:solidFill>
                <a:latin typeface="Segoe UI"/>
                <a:cs typeface="Segoe UI"/>
              </a:rPr>
              <a:t>Badr, 2 AH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02336"/>
            <a:ext cx="11057839" cy="711199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4000" b="1" i="0">
                <a:solidFill>
                  <a:srgbClr val="FAF7F0"/>
                </a:solidFill>
                <a:latin typeface="Georgia"/>
                <a:cs typeface="Traditional Arabic"/>
              </a:rPr>
              <a:t>The face the Prophet ﷺ noticed at the well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634490"/>
            <a:ext cx="11057839" cy="2331720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r" rtl="1">
              <a:lnSpc>
                <a:spcPct val="150000"/>
              </a:lnSpc>
            </a:pPr>
            <a:r>
              <a:rPr lang="ar-SA" sz="5400" b="0" i="0">
                <a:solidFill>
                  <a:srgbClr val="0A322E"/>
                </a:solidFill>
                <a:latin typeface="Traditional Arabic"/>
                <a:cs typeface="Traditional Arabic"/>
              </a:rPr>
              <a:t>لعلك قد دخلك من شأن أبيك شيء … ما شككت في أبي ولا في مصرعه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4094226"/>
            <a:ext cx="1554480" cy="38100"/>
          </a:xfrm>
          <a:prstGeom prst="rect">
            <a:avLst/>
          </a:prstGeom>
          <a:solidFill>
            <a:srgbClr val="C49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66928" y="4405122"/>
            <a:ext cx="11057839" cy="1632204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3000" b="0" i="1">
                <a:solidFill>
                  <a:srgbClr val="1C2321"/>
                </a:solidFill>
                <a:latin typeface="Georgia"/>
                <a:cs typeface="Georgia"/>
              </a:rPr>
              <a:t>Perhaps something has entered you about the matter of your father? … I have not doubted my father nor where he fell.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144768"/>
            <a:ext cx="11057839" cy="457200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400" b="0" i="0">
                <a:solidFill>
                  <a:srgbClr val="5A6862"/>
                </a:solidFill>
                <a:latin typeface="Segoe UI"/>
                <a:cs typeface="Segoe UI"/>
              </a:rPr>
              <a:t>Siyar A'lam al-Nubala, p. 312</a:t>
            </a:r>
          </a:p>
        </p:txBody>
      </p:sp>
    </p:spTree>
  </p:cSld>
  <p:clrMapOvr>
    <a:masterClrMapping/>
  </p:clrMapOvr>
</p:sld>
</file>

<file path=ppt/slides/slide1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nd"/>
          <p:cNvSpPr/>
          <p:nvPr/>
        </p:nvSpPr>
        <p:spPr>
          <a:xfrm>
            <a:off x="0" y="0"/>
            <a:ext cx="12191695" cy="1223263"/>
          </a:xfrm>
          <a:prstGeom prst="rect">
            <a:avLst/>
          </a:prstGeom>
          <a:solidFill>
            <a:srgbClr val="104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ule"/>
          <p:cNvSpPr/>
          <p:nvPr/>
        </p:nvSpPr>
        <p:spPr>
          <a:xfrm>
            <a:off x="0" y="1223263"/>
            <a:ext cx="12191695" cy="57150"/>
          </a:xfrm>
          <a:prstGeom prst="rect">
            <a:avLst/>
          </a:prstGeom>
          <a:solidFill>
            <a:srgbClr val="C49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66928" y="91440"/>
            <a:ext cx="11057839" cy="274320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400" b="1" i="0">
                <a:solidFill>
                  <a:srgbClr val="C49A45"/>
                </a:solidFill>
                <a:latin typeface="Segoe UI"/>
                <a:cs typeface="Segoe UI"/>
              </a:rPr>
              <a:t>Badr, 2 AH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02336"/>
            <a:ext cx="11057839" cy="711199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4000" b="1" i="0">
                <a:solidFill>
                  <a:srgbClr val="FAF7F0"/>
                </a:solidFill>
                <a:latin typeface="Georgia"/>
                <a:cs typeface="Georgia"/>
              </a:rPr>
              <a:t>The sentence he feared for ten years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824990"/>
            <a:ext cx="11057839" cy="1950720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r" rtl="1">
              <a:lnSpc>
                <a:spcPct val="150000"/>
              </a:lnSpc>
            </a:pPr>
            <a:r>
              <a:rPr lang="ar-SA" sz="4400" b="0" i="0">
                <a:solidFill>
                  <a:srgbClr val="0A322E"/>
                </a:solidFill>
                <a:latin typeface="Traditional Arabic"/>
                <a:cs typeface="Traditional Arabic"/>
              </a:rPr>
              <a:t>ولا أزالُ منها خائفًا إلّا أن تُكفّرها عنّي الشهادةُ، فقُتل يوم اليمامة شهيدًا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3903726"/>
            <a:ext cx="1554480" cy="38100"/>
          </a:xfrm>
          <a:prstGeom prst="rect">
            <a:avLst/>
          </a:prstGeom>
          <a:solidFill>
            <a:srgbClr val="C49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66928" y="4214622"/>
            <a:ext cx="11057839" cy="1632204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3000" b="0" i="1">
                <a:solidFill>
                  <a:srgbClr val="1C2321"/>
                </a:solidFill>
                <a:latin typeface="Georgia"/>
                <a:cs typeface="Georgia"/>
              </a:rPr>
              <a:t>…I shall not stop fearing it unless martyrdom wipes it away from me. And he was killed a martyr on the day of al-Yamāma.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144768"/>
            <a:ext cx="11057839" cy="457200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400" b="0" i="0">
                <a:solidFill>
                  <a:srgbClr val="5A6862"/>
                </a:solidFill>
                <a:latin typeface="Segoe UI"/>
                <a:cs typeface="Segoe UI"/>
              </a:rPr>
              <a:t>al-Bidaya wa'l-Nihaya, vol. 4, p. 77</a:t>
            </a:r>
          </a:p>
        </p:txBody>
      </p:sp>
    </p:spTree>
  </p:cSld>
  <p:clrMapOvr>
    <a:masterClrMapping/>
  </p:clrMapOvr>
</p:sld>
</file>

<file path=ppt/slides/slide1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nd"/>
          <p:cNvSpPr/>
          <p:nvPr/>
        </p:nvSpPr>
        <p:spPr>
          <a:xfrm>
            <a:off x="0" y="0"/>
            <a:ext cx="12191695" cy="1223263"/>
          </a:xfrm>
          <a:prstGeom prst="rect">
            <a:avLst/>
          </a:prstGeom>
          <a:solidFill>
            <a:srgbClr val="104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ule"/>
          <p:cNvSpPr/>
          <p:nvPr/>
        </p:nvSpPr>
        <p:spPr>
          <a:xfrm>
            <a:off x="0" y="1223263"/>
            <a:ext cx="12191695" cy="57150"/>
          </a:xfrm>
          <a:prstGeom prst="rect">
            <a:avLst/>
          </a:prstGeom>
          <a:solidFill>
            <a:srgbClr val="C49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66928" y="91440"/>
            <a:ext cx="11057839" cy="274320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400" b="1" i="0">
                <a:solidFill>
                  <a:srgbClr val="C49A45"/>
                </a:solidFill>
                <a:latin typeface="Segoe UI"/>
                <a:cs typeface="Segoe UI"/>
              </a:rPr>
              <a:t>At Medina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02336"/>
            <a:ext cx="11057839" cy="711199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4000" b="1" i="0">
                <a:solidFill>
                  <a:srgbClr val="FAF7F0"/>
                </a:solidFill>
                <a:latin typeface="Georgia"/>
                <a:cs typeface="Georgia"/>
              </a:rPr>
              <a:t>The adoption undone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824990"/>
            <a:ext cx="11057839" cy="1950720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r" rtl="1">
              <a:lnSpc>
                <a:spcPct val="150000"/>
              </a:lnSpc>
            </a:pPr>
            <a:r>
              <a:rPr lang="ar-SA" sz="4400" b="0" i="0">
                <a:solidFill>
                  <a:srgbClr val="0A322E"/>
                </a:solidFill>
                <a:latin typeface="Traditional Arabic"/>
                <a:cs typeface="Traditional Arabic"/>
              </a:rPr>
              <a:t>وقد تَبنّاهُ أبو حُذَيْفة وزوَّجَهُ بابنةِ أخيه … فلما أنزل الله ﴿ادْعُوهُمْ لِآبَائِهِمْ﴾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3903726"/>
            <a:ext cx="1554480" cy="38100"/>
          </a:xfrm>
          <a:prstGeom prst="rect">
            <a:avLst/>
          </a:prstGeom>
          <a:solidFill>
            <a:srgbClr val="C49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66928" y="4214622"/>
            <a:ext cx="11057839" cy="1632204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3000" b="0" i="1">
                <a:solidFill>
                  <a:srgbClr val="1C2321"/>
                </a:solidFill>
                <a:latin typeface="Georgia"/>
                <a:cs typeface="Traditional Arabic"/>
              </a:rPr>
              <a:t>Abū Ḥudhayfa had adopted him and married him to his brother's daughter … Then Allah sent down: ﴾Call them by their fathers﴿.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144768"/>
            <a:ext cx="11057839" cy="457200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400" b="0" i="0">
                <a:solidFill>
                  <a:srgbClr val="5A6862"/>
                </a:solidFill>
                <a:latin typeface="Segoe UI"/>
                <a:cs typeface="Segoe UI"/>
              </a:rPr>
              <a:t>al-Bidaya wa'l-Nihaya, vol. 7, p. 50</a:t>
            </a:r>
          </a:p>
        </p:txBody>
      </p:sp>
    </p:spTree>
  </p:cSld>
  <p:clrMapOvr>
    <a:masterClrMapping/>
  </p:clrMapOvr>
</p:sld>
</file>

<file path=ppt/slides/slide1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nd"/>
          <p:cNvSpPr/>
          <p:nvPr/>
        </p:nvSpPr>
        <p:spPr>
          <a:xfrm>
            <a:off x="0" y="0"/>
            <a:ext cx="12191695" cy="1223263"/>
          </a:xfrm>
          <a:prstGeom prst="rect">
            <a:avLst/>
          </a:prstGeom>
          <a:solidFill>
            <a:srgbClr val="104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ule"/>
          <p:cNvSpPr/>
          <p:nvPr/>
        </p:nvSpPr>
        <p:spPr>
          <a:xfrm>
            <a:off x="0" y="1223263"/>
            <a:ext cx="12191695" cy="57150"/>
          </a:xfrm>
          <a:prstGeom prst="rect">
            <a:avLst/>
          </a:prstGeom>
          <a:solidFill>
            <a:srgbClr val="C49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66928" y="91440"/>
            <a:ext cx="11057839" cy="274320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400" b="1" i="0">
                <a:solidFill>
                  <a:srgbClr val="C49A45"/>
                </a:solidFill>
                <a:latin typeface="Segoe UI"/>
                <a:cs typeface="Segoe UI"/>
              </a:rPr>
              <a:t>At Medina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02336"/>
            <a:ext cx="11057839" cy="711199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4000" b="1" i="0">
                <a:solidFill>
                  <a:srgbClr val="FAF7F0"/>
                </a:solidFill>
                <a:latin typeface="Georgia"/>
                <a:cs typeface="Georgia"/>
              </a:rPr>
              <a:t>He took his cloak and went out to listen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824990"/>
            <a:ext cx="11057839" cy="1950720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r" rtl="1">
              <a:lnSpc>
                <a:spcPct val="150000"/>
              </a:lnSpc>
            </a:pPr>
            <a:r>
              <a:rPr lang="ar-SA" sz="4400" b="0" i="0">
                <a:solidFill>
                  <a:srgbClr val="0A322E"/>
                </a:solidFill>
                <a:latin typeface="Traditional Arabic"/>
                <a:cs typeface="Traditional Arabic"/>
              </a:rPr>
              <a:t>فَإِذَا هُوَ سَالِمٌ مَوْلَى أَبِي حُذَيْفَةَ … (الحَمْدُ لِلِّهِ الَّذِي جَعَلَ فِي أُمَّتِي مِثْلَكَ)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3903726"/>
            <a:ext cx="1554480" cy="38100"/>
          </a:xfrm>
          <a:prstGeom prst="rect">
            <a:avLst/>
          </a:prstGeom>
          <a:solidFill>
            <a:srgbClr val="C49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66928" y="4214622"/>
            <a:ext cx="11057839" cy="1632204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3000" b="0" i="1">
                <a:solidFill>
                  <a:srgbClr val="1C2321"/>
                </a:solidFill>
                <a:latin typeface="Georgia"/>
                <a:cs typeface="Georgia"/>
              </a:rPr>
              <a:t>…and it was Sālim, the freedman of Abū Ḥudhayfa … 'Praise be to Allah, who has put the like of you in my ummah.'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144768"/>
            <a:ext cx="11057839" cy="457200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400" b="0" i="0">
                <a:solidFill>
                  <a:srgbClr val="5A6862"/>
                </a:solidFill>
                <a:latin typeface="Segoe UI"/>
                <a:cs typeface="Segoe UI"/>
              </a:rPr>
              <a:t>Siyar A'lam al-Nubala, vol. 1, p. 168</a:t>
            </a:r>
          </a:p>
        </p:txBody>
      </p:sp>
    </p:spTree>
  </p:cSld>
  <p:clrMapOvr>
    <a:masterClrMapping/>
  </p:clrMapOvr>
</p:sld>
</file>

<file path=ppt/slides/slide1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2651760"/>
            <a:ext cx="12191695" cy="1554480"/>
          </a:xfrm>
          <a:prstGeom prst="rect">
            <a:avLst/>
          </a:prstGeom>
          <a:solidFill>
            <a:srgbClr val="FAF7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2651760"/>
            <a:ext cx="114300" cy="1554480"/>
          </a:xfrm>
          <a:prstGeom prst="rect">
            <a:avLst/>
          </a:prstGeom>
          <a:solidFill>
            <a:srgbClr val="C49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68680" y="2788920"/>
            <a:ext cx="10728655" cy="731520"/>
          </a:xfrm>
          <a:prstGeom prst="rect">
            <a:avLst/>
          </a:prstGeom>
          <a:noFill/>
        </p:spPr>
        <p:txBody>
          <a:bodyPr wrap="square" lIns="36576" tIns="0" rIns="36576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4600" b="1" i="0">
                <a:solidFill>
                  <a:srgbClr val="0A322E"/>
                </a:solidFill>
                <a:latin typeface="Georgia"/>
                <a:cs typeface="Georgia"/>
              </a:rPr>
              <a:t>Part XI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3520440"/>
            <a:ext cx="10728655" cy="548640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800" b="0" i="0">
                <a:solidFill>
                  <a:srgbClr val="5A6862"/>
                </a:solidFill>
                <a:latin typeface="Segoe UI"/>
                <a:cs typeface="Arabic Typesetting"/>
              </a:rPr>
              <a:t>Thābit b. Qays ؓ, before al-Yamāma</a:t>
            </a:r>
          </a:p>
        </p:txBody>
      </p:sp>
    </p:spTree>
  </p:cSld>
  <p:clrMapOvr>
    <a:masterClrMapping/>
  </p:clrMapOvr>
</p:sld>
</file>

<file path=ppt/slides/slide1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nd"/>
          <p:cNvSpPr/>
          <p:nvPr/>
        </p:nvSpPr>
        <p:spPr>
          <a:xfrm>
            <a:off x="0" y="0"/>
            <a:ext cx="12191695" cy="1223263"/>
          </a:xfrm>
          <a:prstGeom prst="rect">
            <a:avLst/>
          </a:prstGeom>
          <a:solidFill>
            <a:srgbClr val="104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ule"/>
          <p:cNvSpPr/>
          <p:nvPr/>
        </p:nvSpPr>
        <p:spPr>
          <a:xfrm>
            <a:off x="0" y="1223263"/>
            <a:ext cx="12191695" cy="57150"/>
          </a:xfrm>
          <a:prstGeom prst="rect">
            <a:avLst/>
          </a:prstGeom>
          <a:solidFill>
            <a:srgbClr val="C49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66928" y="91440"/>
            <a:ext cx="11057839" cy="274320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400" b="1" i="0">
                <a:solidFill>
                  <a:srgbClr val="C49A45"/>
                </a:solidFill>
                <a:latin typeface="Segoe UI"/>
                <a:cs typeface="Segoe UI"/>
              </a:rPr>
              <a:t>Medina, after al-Ḥujurāt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02336"/>
            <a:ext cx="11057839" cy="711199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4000" b="1" i="0">
                <a:solidFill>
                  <a:srgbClr val="FAF7F0"/>
                </a:solidFill>
                <a:latin typeface="Georgia"/>
                <a:cs typeface="Georgia"/>
              </a:rPr>
              <a:t>«Are you not content to live praised?»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2072640"/>
            <a:ext cx="11057839" cy="1950720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r" rtl="1">
              <a:lnSpc>
                <a:spcPct val="150000"/>
              </a:lnSpc>
            </a:pPr>
            <a:r>
              <a:rPr lang="ar-SA" sz="4400" b="0" i="0">
                <a:solidFill>
                  <a:srgbClr val="0A322E"/>
                </a:solidFill>
                <a:latin typeface="Traditional Arabic"/>
                <a:cs typeface="Traditional Arabic"/>
              </a:rPr>
              <a:t>فَقَالَ: (يَا ثَابِتُ! أَمَا تَرْضَى أَنْ تَعِيْشَ حَمِيْداً، وَتُقْتَلَ شَهِيْداً، وَتَدْخُلَ الجَنَّةَ)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4151376"/>
            <a:ext cx="1554480" cy="38100"/>
          </a:xfrm>
          <a:prstGeom prst="rect">
            <a:avLst/>
          </a:prstGeom>
          <a:solidFill>
            <a:srgbClr val="C49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66928" y="4462272"/>
            <a:ext cx="11057839" cy="1136903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3000" b="0" i="1">
                <a:solidFill>
                  <a:srgbClr val="1C2321"/>
                </a:solidFill>
                <a:latin typeface="Georgia"/>
                <a:cs typeface="Georgia"/>
              </a:rPr>
              <a:t>"He said: Thābit — are you not content to live praised, to be killed a martyr, and to enter the Garden?"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144768"/>
            <a:ext cx="11057839" cy="457200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400" b="0" i="0">
                <a:solidFill>
                  <a:srgbClr val="5A6862"/>
                </a:solidFill>
                <a:latin typeface="Segoe UI"/>
                <a:cs typeface="Segoe UI"/>
              </a:rPr>
              <a:t>Siyar A'lam al-Nubala, vol. 1, p. 310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136</TotalTime>
  <Words>48128</Words>
  <Application>Microsoft Office PowerPoint</Application>
  <PresentationFormat>Widescreen</PresentationFormat>
  <Paragraphs>3148</Paragraphs>
  <Slides>142</Slides>
  <Notes>127</Notes>
  <HiddenSlides>12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142</vt:i4>
      </vt:variant>
    </vt:vector>
  </HeadingPairs>
  <TitlesOfParts>
    <vt:vector size="149" baseType="lpstr">
      <vt:lpstr>Aptos</vt:lpstr>
      <vt:lpstr>Arial</vt:lpstr>
      <vt:lpstr>Calibri</vt:lpstr>
      <vt:lpstr>Georgia</vt:lpstr>
      <vt:lpstr>Segoe UI</vt:lpstr>
      <vt:lpstr>Traditional Arabic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Daniyal Yasin</cp:lastModifiedBy>
  <cp:revision>45</cp:revision>
  <dcterms:created xsi:type="dcterms:W3CDTF">2013-01-27T09:14:16Z</dcterms:created>
  <dcterms:modified xsi:type="dcterms:W3CDTF">2026-09-24T05:45:49Z</dcterms:modified>
  <cp:category/>
</cp:coreProperties>
</file>