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4"/>
  </p:notesMasterIdLst>
  <p:sldIdLst>
    <p:sldId id="256" r:id="rId2"/>
    <p:sldId id="257" r:id="rId3"/>
    <p:sldId id="258" r:id="rId4"/>
    <p:sldId id="259" r:id="rId5"/>
    <p:sldId id="260" r:id="rId6"/>
    <p:sldId id="261" r:id="rId7"/>
    <p:sldId id="262" r:id="rId8"/>
    <p:sldId id="395" r:id="rId9"/>
    <p:sldId id="263" r:id="rId10"/>
    <p:sldId id="264" r:id="rId11"/>
    <p:sldId id="396" r:id="rId12"/>
    <p:sldId id="265" r:id="rId13"/>
    <p:sldId id="266" r:id="rId14"/>
    <p:sldId id="267" r:id="rId15"/>
    <p:sldId id="268" r:id="rId16"/>
    <p:sldId id="269" r:id="rId17"/>
    <p:sldId id="659" r:id="rId18"/>
    <p:sldId id="270" r:id="rId19"/>
    <p:sldId id="271" r:id="rId20"/>
    <p:sldId id="272" r:id="rId21"/>
    <p:sldId id="273" r:id="rId22"/>
    <p:sldId id="274" r:id="rId23"/>
    <p:sldId id="275" r:id="rId24"/>
    <p:sldId id="276" r:id="rId25"/>
    <p:sldId id="277" r:id="rId26"/>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1" r:id="rId60"/>
    <p:sldId id="313" r:id="rId62"/>
    <p:sldId id="314" r:id="rId63"/>
    <p:sldId id="315" r:id="rId64"/>
    <p:sldId id="316" r:id="rId65"/>
    <p:sldId id="317" r:id="rId66"/>
    <p:sldId id="318" r:id="rId67"/>
    <p:sldId id="319" r:id="rId68"/>
    <p:sldId id="320" r:id="rId69"/>
    <p:sldId id="321" r:id="rId70"/>
    <p:sldId id="323" r:id="rId72"/>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 id="337" r:id="rId86"/>
    <p:sldId id="338" r:id="rId87"/>
    <p:sldId id="339" r:id="rId88"/>
    <p:sldId id="340" r:id="rId89"/>
    <p:sldId id="341" r:id="rId90"/>
    <p:sldId id="342" r:id="rId91"/>
    <p:sldId id="343" r:id="rId92"/>
    <p:sldId id="344" r:id="rId93"/>
    <p:sldId id="345" r:id="rId94"/>
    <p:sldId id="346" r:id="rId95"/>
    <p:sldId id="347" r:id="rId96"/>
    <p:sldId id="348" r:id="rId97"/>
    <p:sldId id="349" r:id="rId98"/>
    <p:sldId id="350" r:id="rId99"/>
    <p:sldId id="351" r:id="rId100"/>
    <p:sldId id="352" r:id="rId101"/>
    <p:sldId id="353" r:id="rId102"/>
    <p:sldId id="354" r:id="rId103"/>
    <p:sldId id="355" r:id="rId104"/>
    <p:sldId id="356" r:id="rId105"/>
    <p:sldId id="357" r:id="rId106"/>
    <p:sldId id="358" r:id="rId107"/>
    <p:sldId id="359" r:id="rId108"/>
    <p:sldId id="360" r:id="rId109"/>
    <p:sldId id="361" r:id="rId110"/>
    <p:sldId id="362" r:id="rId111"/>
    <p:sldId id="363" r:id="rId112"/>
    <p:sldId id="364" r:id="rId113"/>
    <p:sldId id="365" r:id="rId114"/>
    <p:sldId id="366" r:id="rId115"/>
    <p:sldId id="367" r:id="rId116"/>
    <p:sldId id="368" r:id="rId117"/>
    <p:sldId id="369" r:id="rId118"/>
    <p:sldId id="370" r:id="rId119"/>
    <p:sldId id="371" r:id="rId120"/>
    <p:sldId id="372" r:id="rId121"/>
    <p:sldId id="373" r:id="rId122"/>
    <p:sldId id="374" r:id="rId123"/>
    <p:sldId id="375" r:id="rId124"/>
    <p:sldId id="376" r:id="rId125"/>
    <p:sldId id="377" r:id="rId126"/>
    <p:sldId id="378" r:id="rId127"/>
    <p:sldId id="379" r:id="rId128"/>
    <p:sldId id="380" r:id="rId129"/>
    <p:sldId id="381" r:id="rId130"/>
    <p:sldId id="382" r:id="rId131"/>
    <p:sldId id="383" r:id="rId132"/>
    <p:sldId id="384" r:id="rId133"/>
    <p:sldId id="385" r:id="rId134"/>
    <p:sldId id="386" r:id="rId13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3805" autoAdjust="0"/>
  </p:normalViewPr>
  <p:slideViewPr>
    <p:cSldViewPr snapToGrid="0" snapToObjects="1">
      <p:cViewPr varScale="1">
        <p:scale>
          <a:sx n="44" d="100"/>
          <a:sy n="44" d="100"/>
        </p:scale>
        <p:origin x="2165" y="53"/>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60" Type="http://schemas.openxmlformats.org/officeDocument/2006/relationships/slide" Target="slides/slide59.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44" Type="http://schemas.openxmlformats.org/officeDocument/2006/relationships/notesMaster" Target="notesMasters/notesMaster1.xml"/><Relationship Id="rId145" Type="http://schemas.openxmlformats.org/officeDocument/2006/relationships/presProps" Target="presProps.xml"/><Relationship Id="rId146" Type="http://schemas.openxmlformats.org/officeDocument/2006/relationships/viewProps" Target="viewProps.xml"/><Relationship Id="rId147" Type="http://schemas.openxmlformats.org/officeDocument/2006/relationships/theme" Target="theme/theme1.xml"/><Relationship Id="rId14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PK"/>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94D21B1-4618-4D6F-902E-E05F6360DB0A}" type="datetimeFigureOut">
              <a:rPr lang="en-PK" smtClean="0"/>
              <a:t>24/09/2026</a:t>
            </a:fld>
            <a:endParaRPr lang="en-PK"/>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PK"/>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K"/>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PK"/>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4D5EBF0-8708-465A-AED1-969474A17233}" type="slidenum">
              <a:rPr lang="en-PK" smtClean="0"/>
              <a:t>‹#›</a:t>
            </a:fld>
            <a:endParaRPr lang="en-PK"/>
          </a:p>
        </p:txBody>
      </p:sp>
    </p:spTree>
    <p:extLst>
      <p:ext uri="{BB962C8B-B14F-4D97-AF65-F5344CB8AC3E}">
        <p14:creationId xmlns:p14="http://schemas.microsoft.com/office/powerpoint/2010/main" val="34401656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BOOKEND IN — evening 3's STOP B Line: the same image its closing slide showed (DECISIONS.md #23).</a:t>
            </a:r>
          </a:p>
          <a:p>
            <a:r>
              <a:rPr dirty="0"/>
              <a:t>Say: while all of that was happening in the south, the northern war had never stopped. Tonight we go back to </a:t>
            </a:r>
            <a:r>
              <a:rPr dirty="0" err="1"/>
              <a:t>Khālid</a:t>
            </a:r>
            <a:r>
              <a:rPr dirty="0"/>
              <a:t> ؓ, who we last saw at </a:t>
            </a:r>
            <a:r>
              <a:rPr dirty="0" err="1"/>
              <a:t>Buzākha</a:t>
            </a:r>
            <a:r>
              <a:rPr dirty="0"/>
              <a:t>. The one province still grey on your map, </a:t>
            </a:r>
            <a:r>
              <a:rPr dirty="0" err="1"/>
              <a:t>Ḥaḍramawt</a:t>
            </a:r>
            <a:r>
              <a:rPr dirty="0"/>
              <a:t>, stays grey tonight — we come back to it when the northern war has caught up.</a:t>
            </a:r>
          </a:p>
          <a:p>
            <a:r>
              <a:rPr dirty="0"/>
              <a:t>The map does a loop tonight, and that loop is the truth of the campaign: eleven armies were moving at once, not one after another.</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MAP: tools/mapstudio/scenes/s03-close-stop-b.json at step 1,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BRIDGE — say:</a:t>
            </a:r>
          </a:p>
          <a:p>
            <a:r>
              <a:rPr dirty="0"/>
              <a:t>While the south was being settled, the war in the north had never stopped. Two claimants were still standing: </a:t>
            </a:r>
            <a:r>
              <a:rPr dirty="0" err="1"/>
              <a:t>Musaylima</a:t>
            </a:r>
            <a:r>
              <a:rPr dirty="0"/>
              <a:t> of </a:t>
            </a:r>
            <a:r>
              <a:rPr dirty="0" err="1"/>
              <a:t>Banū</a:t>
            </a:r>
            <a:r>
              <a:rPr dirty="0"/>
              <a:t> </a:t>
            </a:r>
            <a:r>
              <a:rPr dirty="0" err="1"/>
              <a:t>Ḥanīfa</a:t>
            </a:r>
            <a:r>
              <a:rPr dirty="0"/>
              <a:t> at al-</a:t>
            </a:r>
            <a:r>
              <a:rPr dirty="0" err="1"/>
              <a:t>Yamāma</a:t>
            </a:r>
            <a:r>
              <a:rPr dirty="0"/>
              <a:t>, and </a:t>
            </a:r>
            <a:r>
              <a:rPr dirty="0" err="1"/>
              <a:t>Sajāḥ</a:t>
            </a:r>
            <a:r>
              <a:rPr dirty="0"/>
              <a:t>, coming down from al-</a:t>
            </a:r>
            <a:r>
              <a:rPr dirty="0" err="1"/>
              <a:t>Jazīra</a:t>
            </a:r>
            <a:r>
              <a:rPr dirty="0"/>
              <a:t>. We meet them first, before the armies reach them.</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SAY —</a:t>
            </a:r>
          </a:p>
          <a:p>
            <a:r>
              <a:rPr dirty="0"/>
              <a:t>1. A letter comes from al-</a:t>
            </a:r>
            <a:r>
              <a:rPr dirty="0" err="1"/>
              <a:t>Yamāma</a:t>
            </a:r>
            <a:r>
              <a:rPr dirty="0"/>
              <a:t> — He writes as if to an equal: from </a:t>
            </a:r>
            <a:r>
              <a:rPr dirty="0" err="1"/>
              <a:t>Musaylima</a:t>
            </a:r>
            <a:r>
              <a:rPr dirty="0"/>
              <a:t>, 'messenger of Allah', to </a:t>
            </a:r>
            <a:r>
              <a:rPr dirty="0" err="1"/>
              <a:t>Muḥammad</a:t>
            </a:r>
            <a:r>
              <a:rPr dirty="0"/>
              <a:t> ﷺ.</a:t>
            </a:r>
            <a:endParaRPr lang="en-US" dirty="0"/>
          </a:p>
          <a:p>
            <a:endParaRPr lang="en-US" dirty="0"/>
          </a:p>
          <a:p>
            <a:r>
              <a:rPr lang="en-US" dirty="0"/>
              <a:t>QUOTE — </a:t>
            </a:r>
            <a:r>
              <a:rPr lang="ur-PK" dirty="0"/>
              <a:t>من مُسَيْلَمة رسولِ اللهِ إلى محمدٍ رسولِ الله، سلامٌ عَلَيْكَ، أما بعدُ، فإني قد أُشْرِكْتُ في الأمْرِ معكَ، فإنّ لنا نِصْفَ الأمْرِ، ولقُرَيشٍ نصف الأمْرِ، ولكن قُريشًا قومٌ يَعْتدون</a:t>
            </a:r>
            <a:endParaRPr lang="en-US" dirty="0"/>
          </a:p>
          <a:p>
            <a:endParaRPr dirty="0"/>
          </a:p>
          <a:p>
            <a:r>
              <a:rPr dirty="0"/>
              <a:t>2. What it actually proposes — Not a revelation: a partition. Half the matter ours, half Quraysh's.</a:t>
            </a:r>
            <a:endParaRPr lang="en-US" dirty="0"/>
          </a:p>
          <a:p>
            <a:endParaRPr dirty="0"/>
          </a:p>
          <a:p>
            <a:r>
              <a:rPr dirty="0"/>
              <a:t>3. "But Quraysh are a people who transgress" — The complaint is about a tribe, not about a religion.</a:t>
            </a:r>
          </a:p>
          <a:p>
            <a:r>
              <a:rPr dirty="0"/>
              <a:t>   ^ read the Arabic on the face here</a:t>
            </a:r>
            <a:endParaRPr lang="en-US" dirty="0"/>
          </a:p>
          <a:p>
            <a:endParaRPr dirty="0"/>
          </a:p>
          <a:p>
            <a:r>
              <a:rPr dirty="0"/>
              <a:t>4. The reply refuses the premise — Not the arithmetic: the earth belongs to Allah.</a:t>
            </a:r>
            <a:endParaRPr lang="en-US" dirty="0"/>
          </a:p>
          <a:p>
            <a:endParaRPr dirty="0"/>
          </a:p>
          <a:p>
            <a:r>
              <a:rPr dirty="0"/>
              <a:t>5. "He gives it in inheritance to whom He wills" — And the outcome is for those who fear Him.</a:t>
            </a:r>
            <a:endParaRPr lang="en-US" dirty="0"/>
          </a:p>
          <a:p>
            <a:endParaRPr dirty="0"/>
          </a:p>
          <a:p>
            <a:r>
              <a:rPr dirty="0"/>
              <a:t>6. The date — The book puts the exchange at the end of the year 10.</a:t>
            </a:r>
          </a:p>
          <a:p>
            <a:endParaRPr dirty="0"/>
          </a:p>
          <a:p>
            <a:r>
              <a:rPr dirty="0"/>
              <a:t>QUOTE — </a:t>
            </a:r>
            <a:r>
              <a:rPr dirty="0" err="1"/>
              <a:t>من</a:t>
            </a:r>
            <a:r>
              <a:rPr dirty="0"/>
              <a:t> </a:t>
            </a:r>
            <a:r>
              <a:rPr dirty="0" err="1"/>
              <a:t>مُسَيْلَمة</a:t>
            </a:r>
            <a:r>
              <a:rPr dirty="0"/>
              <a:t> </a:t>
            </a:r>
            <a:r>
              <a:rPr dirty="0" err="1"/>
              <a:t>رسولِ</a:t>
            </a:r>
            <a:r>
              <a:rPr dirty="0"/>
              <a:t> </a:t>
            </a:r>
            <a:r>
              <a:rPr dirty="0" err="1"/>
              <a:t>اللهِ</a:t>
            </a:r>
            <a:r>
              <a:rPr dirty="0"/>
              <a:t> </a:t>
            </a:r>
            <a:r>
              <a:rPr dirty="0" err="1"/>
              <a:t>إلى</a:t>
            </a:r>
            <a:r>
              <a:rPr dirty="0"/>
              <a:t> </a:t>
            </a:r>
            <a:r>
              <a:rPr dirty="0" err="1"/>
              <a:t>محمدٍ</a:t>
            </a:r>
            <a:r>
              <a:rPr dirty="0"/>
              <a:t> </a:t>
            </a:r>
            <a:r>
              <a:rPr dirty="0" err="1"/>
              <a:t>رسولِ</a:t>
            </a:r>
            <a:r>
              <a:rPr dirty="0"/>
              <a:t> </a:t>
            </a:r>
            <a:r>
              <a:rPr dirty="0" err="1"/>
              <a:t>الله</a:t>
            </a:r>
            <a:r>
              <a:rPr dirty="0"/>
              <a:t>، </a:t>
            </a:r>
            <a:r>
              <a:rPr dirty="0" err="1"/>
              <a:t>سلامٌ</a:t>
            </a:r>
            <a:r>
              <a:rPr dirty="0"/>
              <a:t> </a:t>
            </a:r>
            <a:r>
              <a:rPr dirty="0" err="1"/>
              <a:t>عَلَيْكَ</a:t>
            </a:r>
            <a:r>
              <a:rPr dirty="0"/>
              <a:t>، </a:t>
            </a:r>
            <a:r>
              <a:rPr dirty="0" err="1"/>
              <a:t>أما</a:t>
            </a:r>
            <a:r>
              <a:rPr dirty="0"/>
              <a:t> </a:t>
            </a:r>
            <a:r>
              <a:rPr dirty="0" err="1"/>
              <a:t>بعدُ</a:t>
            </a:r>
            <a:r>
              <a:rPr dirty="0"/>
              <a:t>، </a:t>
            </a:r>
            <a:r>
              <a:rPr dirty="0" err="1"/>
              <a:t>فإني</a:t>
            </a:r>
            <a:r>
              <a:rPr dirty="0"/>
              <a:t> </a:t>
            </a:r>
            <a:r>
              <a:rPr dirty="0" err="1"/>
              <a:t>قد</a:t>
            </a:r>
            <a:r>
              <a:rPr dirty="0"/>
              <a:t> </a:t>
            </a:r>
            <a:r>
              <a:rPr dirty="0" err="1"/>
              <a:t>أُشْرِكْتُ</a:t>
            </a:r>
            <a:r>
              <a:rPr dirty="0"/>
              <a:t> </a:t>
            </a:r>
            <a:r>
              <a:rPr dirty="0" err="1"/>
              <a:t>في</a:t>
            </a:r>
            <a:r>
              <a:rPr dirty="0"/>
              <a:t> </a:t>
            </a:r>
            <a:r>
              <a:rPr dirty="0" err="1"/>
              <a:t>الأمْرِ</a:t>
            </a:r>
            <a:r>
              <a:rPr dirty="0"/>
              <a:t> </a:t>
            </a:r>
            <a:r>
              <a:rPr dirty="0" err="1"/>
              <a:t>معكَ</a:t>
            </a:r>
            <a:r>
              <a:rPr dirty="0"/>
              <a:t>، </a:t>
            </a:r>
            <a:r>
              <a:rPr dirty="0" err="1"/>
              <a:t>فإنّ</a:t>
            </a:r>
            <a:r>
              <a:rPr dirty="0"/>
              <a:t> </a:t>
            </a:r>
            <a:r>
              <a:rPr dirty="0" err="1"/>
              <a:t>لنا</a:t>
            </a:r>
            <a:r>
              <a:rPr dirty="0"/>
              <a:t> </a:t>
            </a:r>
            <a:r>
              <a:rPr dirty="0" err="1"/>
              <a:t>نِصْفَ</a:t>
            </a:r>
            <a:r>
              <a:rPr dirty="0"/>
              <a:t> </a:t>
            </a:r>
            <a:r>
              <a:rPr dirty="0" err="1"/>
              <a:t>الأمْرِ</a:t>
            </a:r>
            <a:r>
              <a:rPr dirty="0"/>
              <a:t>، </a:t>
            </a:r>
            <a:r>
              <a:rPr dirty="0" err="1"/>
              <a:t>ولقُرَيشٍ</a:t>
            </a:r>
            <a:r>
              <a:rPr dirty="0"/>
              <a:t> </a:t>
            </a:r>
            <a:r>
              <a:rPr dirty="0" err="1"/>
              <a:t>نصف</a:t>
            </a:r>
            <a:r>
              <a:rPr dirty="0"/>
              <a:t> </a:t>
            </a:r>
            <a:r>
              <a:rPr dirty="0" err="1"/>
              <a:t>الأمْرِ</a:t>
            </a:r>
            <a:r>
              <a:rPr dirty="0"/>
              <a:t>، </a:t>
            </a:r>
            <a:r>
              <a:rPr dirty="0" err="1"/>
              <a:t>ولكن</a:t>
            </a:r>
            <a:r>
              <a:rPr dirty="0"/>
              <a:t> </a:t>
            </a:r>
            <a:r>
              <a:rPr dirty="0" err="1"/>
              <a:t>قُريشًا</a:t>
            </a:r>
            <a:r>
              <a:rPr dirty="0"/>
              <a:t> </a:t>
            </a:r>
            <a:r>
              <a:rPr dirty="0" err="1"/>
              <a:t>قومٌ</a:t>
            </a:r>
            <a:r>
              <a:rPr dirty="0"/>
              <a:t> </a:t>
            </a:r>
            <a:r>
              <a:rPr dirty="0" err="1"/>
              <a:t>يَعْتدون</a:t>
            </a:r>
            <a:r>
              <a:rPr dirty="0"/>
              <a:t>.</a:t>
            </a:r>
          </a:p>
          <a:p>
            <a:r>
              <a:rPr dirty="0"/>
              <a:t>"From </a:t>
            </a:r>
            <a:r>
              <a:rPr dirty="0" err="1"/>
              <a:t>Musaylima</a:t>
            </a:r>
            <a:r>
              <a:rPr dirty="0"/>
              <a:t> the Messenger of Allah, to </a:t>
            </a:r>
            <a:r>
              <a:rPr dirty="0" err="1"/>
              <a:t>Muḥammad</a:t>
            </a:r>
            <a:r>
              <a:rPr dirty="0"/>
              <a:t> the Messenger of Allah. Peace be upon you. To proceed: I have been given a share in the matter with you. Half the matter is ours and half the matter is Quraysh's — but Quraysh are a people who transgress."</a:t>
            </a:r>
          </a:p>
          <a:p>
            <a:r>
              <a:rPr dirty="0"/>
              <a:t>— </a:t>
            </a:r>
            <a:r>
              <a:rPr dirty="0" err="1"/>
              <a:t>البدایہ</a:t>
            </a:r>
            <a:r>
              <a:rPr dirty="0"/>
              <a:t> </a:t>
            </a:r>
            <a:r>
              <a:rPr dirty="0" err="1"/>
              <a:t>والنہایہ</a:t>
            </a:r>
            <a:r>
              <a:rPr dirty="0"/>
              <a:t> ج۵ ص۲۴</a:t>
            </a:r>
          </a:p>
          <a:p>
            <a:endParaRPr dirty="0"/>
          </a:p>
          <a:p>
            <a:r>
              <a:rPr dirty="0" err="1"/>
              <a:t>عبرت</a:t>
            </a:r>
            <a:r>
              <a:rPr dirty="0"/>
              <a:t> — One document divides the country between two tribes, and the other answers that the country belongs to neither of them.</a:t>
            </a:r>
          </a:p>
          <a:p>
            <a:endParaRPr dirty="0"/>
          </a:p>
          <a:p>
            <a:r>
              <a:rPr dirty="0"/>
              <a:t>HANDS UP — Before telling it: *"A man writes to the Prophet ﷺ proposing terms. What do you think he asks for?"*</a:t>
            </a:r>
          </a:p>
          <a:p>
            <a:endParaRPr dirty="0"/>
          </a:p>
          <a:p>
            <a:r>
              <a:rPr dirty="0"/>
              <a:t>MAP — One line from **</a:t>
            </a:r>
            <a:r>
              <a:rPr dirty="0" err="1"/>
              <a:t>اليمامة</a:t>
            </a:r>
            <a:r>
              <a:rPr dirty="0"/>
              <a:t>** to **</a:t>
            </a:r>
            <a:r>
              <a:rPr dirty="0" err="1"/>
              <a:t>المدینہ</a:t>
            </a:r>
            <a:r>
              <a:rPr dirty="0"/>
              <a:t>** and one back. Two documents side by side on the screen, nothing else.</a:t>
            </a:r>
          </a:p>
          <a:p>
            <a:endParaRPr dirty="0"/>
          </a:p>
          <a:p>
            <a:r>
              <a:rPr dirty="0"/>
              <a:t>⚠ The editor footnotes a **variant wording** of the letter — «</a:t>
            </a:r>
            <a:r>
              <a:rPr dirty="0" err="1"/>
              <a:t>نصف</a:t>
            </a:r>
            <a:r>
              <a:rPr dirty="0"/>
              <a:t> **</a:t>
            </a:r>
            <a:r>
              <a:rPr dirty="0" err="1"/>
              <a:t>الأرض</a:t>
            </a:r>
            <a:r>
              <a:rPr dirty="0"/>
              <a:t>** </a:t>
            </a:r>
            <a:r>
              <a:rPr dirty="0" err="1"/>
              <a:t>ولقريش</a:t>
            </a:r>
            <a:r>
              <a:rPr dirty="0"/>
              <a:t> </a:t>
            </a:r>
            <a:r>
              <a:rPr dirty="0" err="1"/>
              <a:t>نصف</a:t>
            </a:r>
            <a:r>
              <a:rPr dirty="0"/>
              <a:t> **</a:t>
            </a:r>
            <a:r>
              <a:rPr dirty="0" err="1"/>
              <a:t>الأرض</a:t>
            </a:r>
            <a:r>
              <a:rPr dirty="0"/>
              <a:t>**»</a:t>
            </a:r>
          </a:p>
          <a:p>
            <a:r>
              <a:rPr dirty="0"/>
              <a:t>(</a:t>
            </a:r>
            <a:r>
              <a:rPr dirty="0" err="1"/>
              <a:t>مجموعة</a:t>
            </a:r>
            <a:r>
              <a:rPr dirty="0"/>
              <a:t> </a:t>
            </a:r>
            <a:r>
              <a:rPr dirty="0" err="1"/>
              <a:t>الوثائق</a:t>
            </a:r>
            <a:r>
              <a:rPr dirty="0"/>
              <a:t> </a:t>
            </a:r>
            <a:r>
              <a:rPr dirty="0" err="1"/>
              <a:t>السياسية</a:t>
            </a:r>
            <a:r>
              <a:rPr dirty="0"/>
              <a:t> ٢٠٥). **Note both; never merge them into one.**</a:t>
            </a:r>
          </a:p>
          <a:p>
            <a:endParaRPr dirty="0"/>
          </a:p>
          <a:p>
            <a:r>
              <a:rPr dirty="0"/>
              <a:t>BACKGROUND (read at home, not aloud) —</a:t>
            </a:r>
          </a:p>
          <a:p>
            <a:r>
              <a:rPr dirty="0" err="1"/>
              <a:t>Musaylima</a:t>
            </a:r>
            <a:r>
              <a:rPr dirty="0"/>
              <a:t> wrote to the Prophet ﷺ. The letter does not argue about revelation at all. It proposes a partition: I have been given a share in the matter with you, half the matter is ours and half is Quraysh's — but Quraysh are a people who transgress. The reply is on the same page, and it refuses the premise rather than the arithmetic. The earth belongs to Allah; He gives it in inheritance to whom He wills of His servants; and the outcome is for those who fear Him. The book dates the exchange to the end of the year 10.</a:t>
            </a:r>
          </a:p>
          <a:p>
            <a:endParaRPr dirty="0"/>
          </a:p>
          <a:p>
            <a:r>
              <a:rPr dirty="0"/>
              <a:t>WHEN, as the card gives it: </a:t>
            </a:r>
            <a:r>
              <a:rPr dirty="0" err="1"/>
              <a:t>آخر</a:t>
            </a:r>
            <a:r>
              <a:rPr dirty="0"/>
              <a:t> </a:t>
            </a:r>
            <a:r>
              <a:rPr dirty="0" err="1"/>
              <a:t>سنة</a:t>
            </a:r>
            <a:r>
              <a:rPr dirty="0"/>
              <a:t> </a:t>
            </a:r>
            <a:r>
              <a:rPr dirty="0" err="1"/>
              <a:t>عشر</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RUNSHEET: ⁨</a:t>
            </a:r>
            <a:r>
              <a:rPr dirty="0" err="1"/>
              <a:t>صحيح</a:t>
            </a:r>
            <a:r>
              <a:rPr dirty="0"/>
              <a:t> </a:t>
            </a:r>
            <a:r>
              <a:rPr dirty="0" err="1"/>
              <a:t>البخاري</a:t>
            </a:r>
            <a:r>
              <a:rPr dirty="0"/>
              <a:t> 4373⁩. </a:t>
            </a:r>
            <a:r>
              <a:rPr dirty="0" err="1"/>
              <a:t>Thābit</a:t>
            </a:r>
            <a:r>
              <a:rPr dirty="0"/>
              <a:t> b. Qays ؓ is standing beside the Prophet ﷺ here — name him, and say nothing more. He comes back at #26</a:t>
            </a:r>
          </a:p>
          <a:p>
            <a:endParaRPr dirty="0"/>
          </a:p>
          <a:p>
            <a:r>
              <a:rPr dirty="0"/>
              <a:t>SAY —</a:t>
            </a:r>
          </a:p>
          <a:p>
            <a:r>
              <a:rPr dirty="0"/>
              <a:t>1. He came to Medina himself — While the Prophet ﷺ was alive, with a large number of his own people.</a:t>
            </a:r>
            <a:endParaRPr lang="en-US" dirty="0"/>
          </a:p>
          <a:p>
            <a:endParaRPr dirty="0"/>
          </a:p>
          <a:p>
            <a:r>
              <a:rPr dirty="0"/>
              <a:t>2. What he kept saying — Make the succession mine, and I will follow you.</a:t>
            </a:r>
          </a:p>
          <a:p>
            <a:endParaRPr lang="en-US" dirty="0"/>
          </a:p>
          <a:p>
            <a:r>
              <a:rPr dirty="0"/>
              <a:t>3. The Prophet ﷺ came out to him — With </a:t>
            </a:r>
            <a:r>
              <a:rPr dirty="0" err="1"/>
              <a:t>Thābit</a:t>
            </a:r>
            <a:r>
              <a:rPr dirty="0"/>
              <a:t> b. Qays b. </a:t>
            </a:r>
            <a:r>
              <a:rPr dirty="0" err="1"/>
              <a:t>Shammās</a:t>
            </a:r>
            <a:r>
              <a:rPr dirty="0"/>
              <a:t> ؓ beside him.</a:t>
            </a:r>
          </a:p>
          <a:p>
            <a:endParaRPr lang="en-US" dirty="0"/>
          </a:p>
          <a:p>
            <a:r>
              <a:rPr dirty="0"/>
              <a:t>4. There was a piece of palm-branch in his hand — And what he said to him was about that piece.</a:t>
            </a:r>
          </a:p>
          <a:p>
            <a:endParaRPr lang="en-US" dirty="0"/>
          </a:p>
          <a:p>
            <a:r>
              <a:rPr dirty="0"/>
              <a:t>5. "If you asked me for this, I would not give it to you" — The claim was refused while it was still a request.</a:t>
            </a:r>
          </a:p>
          <a:p>
            <a:r>
              <a:rPr dirty="0"/>
              <a:t>   ^ read the Arabic on the face here</a:t>
            </a:r>
          </a:p>
          <a:p>
            <a:endParaRPr lang="en-US" dirty="0"/>
          </a:p>
          <a:p>
            <a:r>
              <a:rPr dirty="0"/>
              <a:t>6. Remember the man standing beside him — </a:t>
            </a:r>
            <a:r>
              <a:rPr dirty="0" err="1"/>
              <a:t>Thābit</a:t>
            </a:r>
            <a:r>
              <a:rPr dirty="0"/>
              <a:t> b. Qays ؓ. The room will meet him again.</a:t>
            </a:r>
          </a:p>
          <a:p>
            <a:endParaRPr dirty="0"/>
          </a:p>
          <a:p>
            <a:r>
              <a:rPr dirty="0"/>
              <a:t>QUOTE — </a:t>
            </a:r>
            <a:r>
              <a:rPr dirty="0" err="1"/>
              <a:t>لو</a:t>
            </a:r>
            <a:r>
              <a:rPr dirty="0"/>
              <a:t> </a:t>
            </a:r>
            <a:r>
              <a:rPr dirty="0" err="1"/>
              <a:t>سألتني</a:t>
            </a:r>
            <a:r>
              <a:rPr dirty="0"/>
              <a:t> </a:t>
            </a:r>
            <a:r>
              <a:rPr dirty="0" err="1"/>
              <a:t>هذه</a:t>
            </a:r>
            <a:r>
              <a:rPr dirty="0"/>
              <a:t> </a:t>
            </a:r>
            <a:r>
              <a:rPr dirty="0" err="1"/>
              <a:t>القطعة</a:t>
            </a:r>
            <a:r>
              <a:rPr dirty="0"/>
              <a:t> </a:t>
            </a:r>
            <a:r>
              <a:rPr dirty="0" err="1"/>
              <a:t>ما</a:t>
            </a:r>
            <a:r>
              <a:rPr dirty="0"/>
              <a:t> </a:t>
            </a:r>
            <a:r>
              <a:rPr dirty="0" err="1"/>
              <a:t>أعطيتكها</a:t>
            </a:r>
            <a:r>
              <a:rPr dirty="0"/>
              <a:t>، </a:t>
            </a:r>
            <a:r>
              <a:rPr dirty="0" err="1"/>
              <a:t>ولن</a:t>
            </a:r>
            <a:r>
              <a:rPr dirty="0"/>
              <a:t> </a:t>
            </a:r>
            <a:r>
              <a:rPr dirty="0" err="1"/>
              <a:t>تعدوَ</a:t>
            </a:r>
            <a:r>
              <a:rPr dirty="0"/>
              <a:t> </a:t>
            </a:r>
            <a:r>
              <a:rPr dirty="0" err="1"/>
              <a:t>أمرَ</a:t>
            </a:r>
            <a:r>
              <a:rPr dirty="0"/>
              <a:t> </a:t>
            </a:r>
            <a:r>
              <a:rPr dirty="0" err="1"/>
              <a:t>اللهِ</a:t>
            </a:r>
            <a:r>
              <a:rPr dirty="0"/>
              <a:t> </a:t>
            </a:r>
            <a:r>
              <a:rPr dirty="0" err="1"/>
              <a:t>فيك</a:t>
            </a:r>
            <a:r>
              <a:rPr dirty="0"/>
              <a:t>، </a:t>
            </a:r>
            <a:r>
              <a:rPr dirty="0" err="1"/>
              <a:t>ولئن</a:t>
            </a:r>
            <a:r>
              <a:rPr dirty="0"/>
              <a:t> </a:t>
            </a:r>
            <a:r>
              <a:rPr dirty="0" err="1"/>
              <a:t>أدبرتَ</a:t>
            </a:r>
            <a:r>
              <a:rPr dirty="0"/>
              <a:t> </a:t>
            </a:r>
            <a:r>
              <a:rPr dirty="0" err="1"/>
              <a:t>ليعقرنَّك</a:t>
            </a:r>
            <a:r>
              <a:rPr dirty="0"/>
              <a:t> </a:t>
            </a:r>
            <a:r>
              <a:rPr dirty="0" err="1"/>
              <a:t>اللهُ</a:t>
            </a:r>
            <a:endParaRPr dirty="0"/>
          </a:p>
          <a:p>
            <a:r>
              <a:rPr dirty="0"/>
              <a:t>"If you asked me for this piece, I would not give it to you. You will not pass beyond Allah's decree concerning you. And if you turn away, Allah will surely destroy you."</a:t>
            </a:r>
          </a:p>
          <a:p>
            <a:r>
              <a:rPr dirty="0"/>
              <a:t>— </a:t>
            </a:r>
            <a:r>
              <a:rPr dirty="0" err="1"/>
              <a:t>البدایہ</a:t>
            </a:r>
            <a:r>
              <a:rPr dirty="0"/>
              <a:t> </a:t>
            </a:r>
            <a:r>
              <a:rPr dirty="0" err="1"/>
              <a:t>والنہایہ</a:t>
            </a:r>
            <a:r>
              <a:rPr dirty="0"/>
              <a:t> ج۵ ص۲۱ — **</a:t>
            </a:r>
            <a:r>
              <a:rPr dirty="0" err="1"/>
              <a:t>صحيح</a:t>
            </a:r>
            <a:r>
              <a:rPr dirty="0"/>
              <a:t> </a:t>
            </a:r>
            <a:r>
              <a:rPr dirty="0" err="1"/>
              <a:t>البخاري</a:t>
            </a:r>
            <a:r>
              <a:rPr dirty="0"/>
              <a:t> ٤٣٧٣**, via </a:t>
            </a:r>
            <a:r>
              <a:rPr dirty="0" err="1"/>
              <a:t>ابن</a:t>
            </a:r>
            <a:r>
              <a:rPr dirty="0"/>
              <a:t> </a:t>
            </a:r>
            <a:r>
              <a:rPr dirty="0" err="1"/>
              <a:t>عباس</a:t>
            </a:r>
            <a:r>
              <a:rPr dirty="0"/>
              <a:t> ؓ</a:t>
            </a:r>
          </a:p>
          <a:p>
            <a:endParaRPr dirty="0"/>
          </a:p>
          <a:p>
            <a:r>
              <a:rPr dirty="0" err="1"/>
              <a:t>عبرت</a:t>
            </a:r>
            <a:r>
              <a:rPr dirty="0"/>
              <a:t> — The claim was refused while it was still only a request, years before it had to be fought.</a:t>
            </a:r>
          </a:p>
          <a:p>
            <a:endParaRPr dirty="0"/>
          </a:p>
          <a:p>
            <a:r>
              <a:rPr dirty="0"/>
              <a:t>BACKGROUND (read at home, not aloud) —</a:t>
            </a:r>
          </a:p>
          <a:p>
            <a:r>
              <a:rPr dirty="0" err="1"/>
              <a:t>Musaylima</a:t>
            </a:r>
            <a:r>
              <a:rPr dirty="0"/>
              <a:t> came to Medina while the Prophet ﷺ was alive, with a large number of his own people, and kept saying that if </a:t>
            </a:r>
            <a:r>
              <a:rPr dirty="0" err="1"/>
              <a:t>Muḥammad</a:t>
            </a:r>
            <a:r>
              <a:rPr dirty="0"/>
              <a:t> ﷺ would make the succession his, he would follow him. The Prophet ﷺ came out to him with </a:t>
            </a:r>
            <a:r>
              <a:rPr dirty="0" err="1"/>
              <a:t>Thābit</a:t>
            </a:r>
            <a:r>
              <a:rPr dirty="0"/>
              <a:t> b. Qays b. </a:t>
            </a:r>
            <a:r>
              <a:rPr dirty="0" err="1"/>
              <a:t>Shammās</a:t>
            </a:r>
            <a:r>
              <a:rPr dirty="0"/>
              <a:t> ؓ, and there was a piece of a palm-branch in his hand. And what he said to him was about that piece.</a:t>
            </a:r>
          </a:p>
          <a:p>
            <a:endParaRPr dirty="0"/>
          </a:p>
          <a:p>
            <a:r>
              <a:rPr dirty="0"/>
              <a:t>**Cross-reference:** the Companion standing beside the Prophet ﷺ in this scene, **</a:t>
            </a:r>
            <a:r>
              <a:rPr dirty="0" err="1"/>
              <a:t>ثابت</a:t>
            </a:r>
            <a:r>
              <a:rPr dirty="0"/>
              <a:t> </a:t>
            </a:r>
            <a:r>
              <a:rPr dirty="0" err="1"/>
              <a:t>بن</a:t>
            </a:r>
            <a:r>
              <a:rPr dirty="0"/>
              <a:t> </a:t>
            </a:r>
            <a:r>
              <a:rPr dirty="0" err="1"/>
              <a:t>قيس</a:t>
            </a:r>
            <a:r>
              <a:rPr dirty="0"/>
              <a:t> </a:t>
            </a:r>
            <a:r>
              <a:rPr dirty="0" err="1"/>
              <a:t>بن</a:t>
            </a:r>
            <a:endParaRPr dirty="0"/>
          </a:p>
          <a:p>
            <a:r>
              <a:rPr dirty="0" err="1"/>
              <a:t>شماس</a:t>
            </a:r>
            <a:r>
              <a:rPr dirty="0"/>
              <a:t> ؓ**, is the man killed carrying the banner of the </a:t>
            </a:r>
            <a:r>
              <a:rPr dirty="0" err="1"/>
              <a:t>Anṣār</a:t>
            </a:r>
            <a:r>
              <a:rPr dirty="0"/>
              <a:t> at </a:t>
            </a:r>
            <a:r>
              <a:rPr dirty="0" err="1"/>
              <a:t>اليمامة</a:t>
            </a:r>
            <a:r>
              <a:rPr dirty="0"/>
              <a:t> against this same claimant</a:t>
            </a:r>
          </a:p>
          <a:p>
            <a:r>
              <a:rPr dirty="0"/>
              <a:t>(ج۷ ص۳۳–۳۴) — carded in `ridda-campaign-the-conduct-of-the-wars.md`. If both cards are used, put</a:t>
            </a:r>
          </a:p>
          <a:p>
            <a:r>
              <a:rPr dirty="0"/>
              <a:t>this one first and let the room make the connection.</a:t>
            </a:r>
          </a:p>
          <a:p>
            <a:endParaRPr dirty="0"/>
          </a:p>
          <a:p>
            <a:r>
              <a:rPr dirty="0"/>
              <a:t>WHEN, as the card gives it: in the Prophet's ﷺ lifetime — </a:t>
            </a:r>
            <a:r>
              <a:rPr dirty="0" err="1"/>
              <a:t>صحيح</a:t>
            </a:r>
            <a:r>
              <a:rPr dirty="0"/>
              <a:t> </a:t>
            </a:r>
            <a:r>
              <a:rPr dirty="0" err="1"/>
              <a:t>البخاري</a:t>
            </a:r>
            <a:r>
              <a:rPr dirty="0"/>
              <a:t> 4373</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RUNSHEET: </a:t>
            </a:r>
            <a:r>
              <a:rPr dirty="0" err="1"/>
              <a:t>Rabīʿa</a:t>
            </a:r>
            <a:r>
              <a:rPr dirty="0"/>
              <a:t> and </a:t>
            </a:r>
            <a:r>
              <a:rPr dirty="0" err="1"/>
              <a:t>Muḍar</a:t>
            </a:r>
            <a:r>
              <a:rPr dirty="0"/>
              <a:t>. The most efficient sentence in the strand</a:t>
            </a:r>
          </a:p>
          <a:p>
            <a:endParaRPr dirty="0"/>
          </a:p>
          <a:p>
            <a:r>
              <a:rPr dirty="0"/>
              <a:t>SAY —</a:t>
            </a:r>
            <a:endParaRPr lang="en-US" dirty="0"/>
          </a:p>
          <a:p>
            <a:endParaRPr dirty="0"/>
          </a:p>
          <a:p>
            <a:r>
              <a:rPr dirty="0"/>
              <a:t>1. A </a:t>
            </a:r>
            <a:r>
              <a:rPr dirty="0" err="1"/>
              <a:t>bedouin</a:t>
            </a:r>
            <a:r>
              <a:rPr dirty="0"/>
              <a:t> speaks to </a:t>
            </a:r>
            <a:r>
              <a:rPr dirty="0" err="1"/>
              <a:t>Musaylima's</a:t>
            </a:r>
            <a:r>
              <a:rPr dirty="0"/>
              <a:t> face — And tells him what he actually thinks of the claim.</a:t>
            </a:r>
          </a:p>
          <a:p>
            <a:endParaRPr lang="en-US" dirty="0"/>
          </a:p>
          <a:p>
            <a:r>
              <a:rPr dirty="0"/>
              <a:t>2. "I bear witness that you are a liar" — And that </a:t>
            </a:r>
            <a:r>
              <a:rPr dirty="0" err="1"/>
              <a:t>Muḥammad</a:t>
            </a:r>
            <a:r>
              <a:rPr dirty="0"/>
              <a:t> ﷺ is truthful.</a:t>
            </a:r>
          </a:p>
          <a:p>
            <a:endParaRPr lang="en-US" dirty="0"/>
          </a:p>
          <a:p>
            <a:r>
              <a:rPr dirty="0"/>
              <a:t>3. And then the rest of it — But a liar of </a:t>
            </a:r>
            <a:r>
              <a:rPr dirty="0" err="1"/>
              <a:t>Rabīʿa</a:t>
            </a:r>
            <a:r>
              <a:rPr dirty="0"/>
              <a:t> is dearer to us than a truthful man of </a:t>
            </a:r>
            <a:r>
              <a:rPr dirty="0" err="1"/>
              <a:t>Muḍar</a:t>
            </a:r>
            <a:r>
              <a:rPr dirty="0"/>
              <a:t>.</a:t>
            </a:r>
          </a:p>
          <a:p>
            <a:r>
              <a:rPr dirty="0"/>
              <a:t>   ^ read the Arabic on the face here</a:t>
            </a:r>
          </a:p>
          <a:p>
            <a:endParaRPr lang="en-US" dirty="0"/>
          </a:p>
          <a:p>
            <a:r>
              <a:rPr dirty="0"/>
              <a:t>4. Both trunks are northern Arabs — </a:t>
            </a:r>
            <a:r>
              <a:rPr dirty="0" err="1"/>
              <a:t>Banū</a:t>
            </a:r>
            <a:r>
              <a:rPr dirty="0"/>
              <a:t> </a:t>
            </a:r>
            <a:r>
              <a:rPr dirty="0" err="1"/>
              <a:t>Ḥanīfa</a:t>
            </a:r>
            <a:r>
              <a:rPr dirty="0"/>
              <a:t> of </a:t>
            </a:r>
            <a:r>
              <a:rPr dirty="0" err="1"/>
              <a:t>Rabīʿa</a:t>
            </a:r>
            <a:r>
              <a:rPr dirty="0"/>
              <a:t>, Quraysh of </a:t>
            </a:r>
            <a:r>
              <a:rPr dirty="0" err="1"/>
              <a:t>Muḍar</a:t>
            </a:r>
            <a:r>
              <a:rPr dirty="0"/>
              <a:t>, and both of </a:t>
            </a:r>
            <a:r>
              <a:rPr dirty="0" err="1"/>
              <a:t>ʿAdnān</a:t>
            </a:r>
            <a:r>
              <a:rPr dirty="0"/>
              <a:t>.</a:t>
            </a:r>
          </a:p>
          <a:p>
            <a:endParaRPr lang="en-US" dirty="0"/>
          </a:p>
          <a:p>
            <a:r>
              <a:rPr dirty="0"/>
              <a:t>5. He followed him anyway — Knowing, by his own words, that he was following a liar.</a:t>
            </a:r>
          </a:p>
          <a:p>
            <a:endParaRPr dirty="0"/>
          </a:p>
          <a:p>
            <a:r>
              <a:rPr dirty="0"/>
              <a:t>QUOTE — </a:t>
            </a:r>
            <a:r>
              <a:rPr dirty="0" err="1"/>
              <a:t>فقال</a:t>
            </a:r>
            <a:r>
              <a:rPr dirty="0"/>
              <a:t> </a:t>
            </a:r>
            <a:r>
              <a:rPr dirty="0" err="1"/>
              <a:t>أشهد</a:t>
            </a:r>
            <a:r>
              <a:rPr dirty="0"/>
              <a:t> </a:t>
            </a:r>
            <a:r>
              <a:rPr dirty="0" err="1"/>
              <a:t>أنَّك</a:t>
            </a:r>
            <a:r>
              <a:rPr dirty="0"/>
              <a:t> </a:t>
            </a:r>
            <a:r>
              <a:rPr dirty="0" err="1"/>
              <a:t>كذّابٌ</a:t>
            </a:r>
            <a:r>
              <a:rPr dirty="0"/>
              <a:t> </a:t>
            </a:r>
            <a:r>
              <a:rPr dirty="0" err="1"/>
              <a:t>وأن</a:t>
            </a:r>
            <a:r>
              <a:rPr dirty="0"/>
              <a:t> </a:t>
            </a:r>
            <a:r>
              <a:rPr dirty="0" err="1"/>
              <a:t>محمدًا</a:t>
            </a:r>
            <a:r>
              <a:rPr dirty="0"/>
              <a:t> </a:t>
            </a:r>
            <a:r>
              <a:rPr dirty="0" err="1"/>
              <a:t>صادقٌ</a:t>
            </a:r>
            <a:r>
              <a:rPr dirty="0"/>
              <a:t>، </a:t>
            </a:r>
            <a:r>
              <a:rPr dirty="0" err="1"/>
              <a:t>ولكن</a:t>
            </a:r>
            <a:r>
              <a:rPr dirty="0"/>
              <a:t> </a:t>
            </a:r>
            <a:r>
              <a:rPr dirty="0" err="1"/>
              <a:t>كذّابَ</a:t>
            </a:r>
            <a:r>
              <a:rPr dirty="0"/>
              <a:t> </a:t>
            </a:r>
            <a:r>
              <a:rPr dirty="0" err="1"/>
              <a:t>رَبيعة</a:t>
            </a:r>
            <a:r>
              <a:rPr dirty="0"/>
              <a:t> </a:t>
            </a:r>
            <a:r>
              <a:rPr dirty="0" err="1"/>
              <a:t>أحبُّ</a:t>
            </a:r>
            <a:r>
              <a:rPr dirty="0"/>
              <a:t> </a:t>
            </a:r>
            <a:r>
              <a:rPr dirty="0" err="1"/>
              <a:t>إلينا</a:t>
            </a:r>
            <a:r>
              <a:rPr dirty="0"/>
              <a:t> </a:t>
            </a:r>
            <a:r>
              <a:rPr dirty="0" err="1"/>
              <a:t>من</a:t>
            </a:r>
            <a:r>
              <a:rPr dirty="0"/>
              <a:t> </a:t>
            </a:r>
            <a:r>
              <a:rPr dirty="0" err="1"/>
              <a:t>صادقِ</a:t>
            </a:r>
            <a:r>
              <a:rPr dirty="0"/>
              <a:t> </a:t>
            </a:r>
            <a:r>
              <a:rPr dirty="0" err="1"/>
              <a:t>مُضَر</a:t>
            </a:r>
            <a:endParaRPr dirty="0"/>
          </a:p>
          <a:p>
            <a:r>
              <a:rPr dirty="0"/>
              <a:t>"He said: I bear witness that you are a liar and that </a:t>
            </a:r>
            <a:r>
              <a:rPr dirty="0" err="1"/>
              <a:t>Muḥammad</a:t>
            </a:r>
            <a:r>
              <a:rPr dirty="0"/>
              <a:t> is truthful — but a liar of </a:t>
            </a:r>
            <a:r>
              <a:rPr dirty="0" err="1"/>
              <a:t>Rabīʿa</a:t>
            </a:r>
            <a:r>
              <a:rPr dirty="0"/>
              <a:t> is dearer to us than a truthful man of </a:t>
            </a:r>
            <a:r>
              <a:rPr dirty="0" err="1"/>
              <a:t>Muḍar</a:t>
            </a:r>
            <a:r>
              <a:rPr dirty="0"/>
              <a:t>."</a:t>
            </a:r>
          </a:p>
          <a:p>
            <a:r>
              <a:rPr dirty="0"/>
              <a:t>— </a:t>
            </a:r>
            <a:r>
              <a:rPr dirty="0" err="1"/>
              <a:t>البدایہ</a:t>
            </a:r>
            <a:r>
              <a:rPr dirty="0"/>
              <a:t> </a:t>
            </a:r>
            <a:r>
              <a:rPr dirty="0" err="1"/>
              <a:t>والنہایہ</a:t>
            </a:r>
            <a:r>
              <a:rPr dirty="0"/>
              <a:t> ج۷ ص۳۷</a:t>
            </a:r>
          </a:p>
          <a:p>
            <a:endParaRPr dirty="0"/>
          </a:p>
          <a:p>
            <a:r>
              <a:rPr dirty="0" err="1"/>
              <a:t>عبرت</a:t>
            </a:r>
            <a:r>
              <a:rPr dirty="0"/>
              <a:t> — A man can know which of two claims is true and still act on which of two families is his.</a:t>
            </a:r>
          </a:p>
          <a:p>
            <a:endParaRPr dirty="0"/>
          </a:p>
          <a:p>
            <a:r>
              <a:rPr dirty="0"/>
              <a:t>MAP — not a map — two trunk names on the screen, **</a:t>
            </a:r>
            <a:r>
              <a:rPr dirty="0" err="1"/>
              <a:t>رَبيعة</a:t>
            </a:r>
            <a:r>
              <a:rPr dirty="0"/>
              <a:t>** and **</a:t>
            </a:r>
            <a:r>
              <a:rPr dirty="0" err="1"/>
              <a:t>مُضَر</a:t>
            </a:r>
            <a:r>
              <a:rPr dirty="0"/>
              <a:t>**, with the fork shown one level below **</a:t>
            </a:r>
            <a:r>
              <a:rPr dirty="0" err="1"/>
              <a:t>عدنان</a:t>
            </a:r>
            <a:r>
              <a:rPr dirty="0"/>
              <a:t>**, so the room can see that both sides of this sentence are northern Arabs.</a:t>
            </a:r>
          </a:p>
          <a:p>
            <a:endParaRPr dirty="0"/>
          </a:p>
          <a:p>
            <a:r>
              <a:rPr dirty="0"/>
              <a:t>BACKGROUND (read at home, not aloud) —</a:t>
            </a:r>
          </a:p>
          <a:p>
            <a:r>
              <a:rPr dirty="0"/>
              <a:t>A </a:t>
            </a:r>
            <a:r>
              <a:rPr dirty="0" err="1"/>
              <a:t>bedouin</a:t>
            </a:r>
            <a:r>
              <a:rPr dirty="0"/>
              <a:t> said to </a:t>
            </a:r>
            <a:r>
              <a:rPr dirty="0" err="1"/>
              <a:t>Musaylima's</a:t>
            </a:r>
            <a:r>
              <a:rPr dirty="0"/>
              <a:t> face that he bore witness </a:t>
            </a:r>
            <a:r>
              <a:rPr dirty="0" err="1"/>
              <a:t>Musaylima</a:t>
            </a:r>
            <a:r>
              <a:rPr dirty="0"/>
              <a:t> was a liar and that </a:t>
            </a:r>
            <a:r>
              <a:rPr dirty="0" err="1"/>
              <a:t>Muḥammad</a:t>
            </a:r>
            <a:r>
              <a:rPr dirty="0"/>
              <a:t> ﷺ was truthful. And then he said the rest of it. But a liar of </a:t>
            </a:r>
            <a:r>
              <a:rPr dirty="0" err="1"/>
              <a:t>Rabīʿa</a:t>
            </a:r>
            <a:r>
              <a:rPr dirty="0"/>
              <a:t>, he said, is dearer to us than a truthful man of </a:t>
            </a:r>
            <a:r>
              <a:rPr dirty="0" err="1"/>
              <a:t>Muḍar</a:t>
            </a:r>
            <a:r>
              <a:rPr dirty="0"/>
              <a:t>. He followed him, and he was killed with him at </a:t>
            </a:r>
            <a:r>
              <a:rPr dirty="0" err="1"/>
              <a:t>ʿAqrabāʾ</a:t>
            </a:r>
            <a:r>
              <a:rPr dirty="0"/>
              <a:t>. </a:t>
            </a:r>
            <a:r>
              <a:rPr dirty="0" err="1"/>
              <a:t>Banū</a:t>
            </a:r>
            <a:r>
              <a:rPr dirty="0"/>
              <a:t> </a:t>
            </a:r>
            <a:r>
              <a:rPr dirty="0" err="1"/>
              <a:t>Ḥanīfa</a:t>
            </a:r>
            <a:r>
              <a:rPr dirty="0"/>
              <a:t> are of </a:t>
            </a:r>
            <a:r>
              <a:rPr dirty="0" err="1"/>
              <a:t>Rabīʿa</a:t>
            </a:r>
            <a:r>
              <a:rPr dirty="0"/>
              <a:t> and Quraysh are of </a:t>
            </a:r>
            <a:r>
              <a:rPr dirty="0" err="1"/>
              <a:t>Muḍar</a:t>
            </a:r>
            <a:r>
              <a:rPr dirty="0"/>
              <a:t>, and both trunks are </a:t>
            </a:r>
            <a:r>
              <a:rPr dirty="0" err="1"/>
              <a:t>ʿAdnānī</a:t>
            </a:r>
            <a:r>
              <a:rPr dirty="0"/>
              <a:t>. So the fault line is not only north against south. It forks again, one level down.</a:t>
            </a:r>
          </a:p>
          <a:p>
            <a:endParaRPr dirty="0"/>
          </a:p>
          <a:p>
            <a:r>
              <a:rPr dirty="0"/>
              <a:t>**Note:** the clause that follows on the page carries Ibn </a:t>
            </a:r>
            <a:r>
              <a:rPr dirty="0" err="1"/>
              <a:t>Kathīr's</a:t>
            </a:r>
            <a:r>
              <a:rPr dirty="0"/>
              <a:t> own imprecation against the man;</a:t>
            </a:r>
          </a:p>
          <a:p>
            <a:r>
              <a:rPr dirty="0"/>
              <a:t>the quotation stands complete without it. This is the most efficient sentence in the whole strand —</a:t>
            </a:r>
          </a:p>
          <a:p>
            <a:r>
              <a:rPr dirty="0"/>
              <a:t>the tribal principle stated by a man who admits the religious claim is false.</a:t>
            </a:r>
          </a:p>
          <a:p>
            <a:endParaRPr dirty="0"/>
          </a:p>
          <a:p>
            <a:r>
              <a:rPr dirty="0"/>
              <a:t>WHEN, as the card gives it: 11 AH–12 AH, </a:t>
            </a:r>
            <a:r>
              <a:rPr dirty="0" err="1"/>
              <a:t>اليمامة</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MAP: tools/mapstudio/scenes/s04-01-sajah.json at step 3,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RUNSHEET: ⚠ she is </a:t>
            </a:r>
            <a:r>
              <a:rPr dirty="0" err="1"/>
              <a:t>Taghlibī</a:t>
            </a:r>
            <a:r>
              <a:rPr dirty="0"/>
              <a:t>, not </a:t>
            </a:r>
            <a:r>
              <a:rPr dirty="0" err="1"/>
              <a:t>Tamīmī</a:t>
            </a:r>
            <a:r>
              <a:rPr dirty="0"/>
              <a:t>. She deals with </a:t>
            </a:r>
            <a:r>
              <a:rPr dirty="0" err="1"/>
              <a:t>Mālik</a:t>
            </a:r>
            <a:r>
              <a:rPr dirty="0"/>
              <a:t> b. </a:t>
            </a:r>
            <a:r>
              <a:rPr dirty="0" err="1"/>
              <a:t>Nuwayra</a:t>
            </a:r>
            <a:r>
              <a:rPr dirty="0"/>
              <a:t> ؓ here — that is what #8 picks up</a:t>
            </a:r>
          </a:p>
          <a:p>
            <a:endParaRPr dirty="0"/>
          </a:p>
          <a:p>
            <a:r>
              <a:rPr dirty="0"/>
              <a:t>SAY —</a:t>
            </a:r>
          </a:p>
          <a:p>
            <a:r>
              <a:rPr dirty="0"/>
              <a:t>1. She comes down from al-</a:t>
            </a:r>
            <a:r>
              <a:rPr dirty="0" err="1"/>
              <a:t>Jazīra</a:t>
            </a:r>
            <a:r>
              <a:rPr dirty="0"/>
              <a:t> — With troops of her own people and whoever had joined them.</a:t>
            </a:r>
            <a:r>
              <a:rPr lang="en-US" dirty="0"/>
              <a:t> Taghlib Christian </a:t>
            </a:r>
            <a:r>
              <a:rPr lang="en-US" dirty="0" err="1"/>
              <a:t>arabs</a:t>
            </a:r>
            <a:r>
              <a:rPr lang="en-US" dirty="0"/>
              <a:t>.</a:t>
            </a:r>
          </a:p>
          <a:p>
            <a:endParaRPr dirty="0"/>
          </a:p>
          <a:p>
            <a:r>
              <a:rPr dirty="0"/>
              <a:t>2. She had claimed prophethood — And, the book says, they had resolved on making war on </a:t>
            </a:r>
            <a:r>
              <a:rPr dirty="0" err="1"/>
              <a:t>Abū</a:t>
            </a:r>
            <a:r>
              <a:rPr dirty="0"/>
              <a:t> Bakr ؓ.</a:t>
            </a:r>
            <a:endParaRPr lang="en-US" dirty="0"/>
          </a:p>
          <a:p>
            <a:endParaRPr dirty="0"/>
          </a:p>
          <a:p>
            <a:r>
              <a:rPr dirty="0"/>
              <a:t>3. Who she actually was — Of Taghlib, and of the Christians of the Arabs.</a:t>
            </a:r>
          </a:p>
          <a:p>
            <a:r>
              <a:rPr dirty="0"/>
              <a:t>   ^ read the Arabic on the face here</a:t>
            </a:r>
            <a:endParaRPr lang="en-US" dirty="0"/>
          </a:p>
          <a:p>
            <a:endParaRPr dirty="0"/>
          </a:p>
          <a:p>
            <a:r>
              <a:rPr dirty="0"/>
              <a:t>4. Not of </a:t>
            </a:r>
            <a:r>
              <a:rPr dirty="0" err="1"/>
              <a:t>Tamīm</a:t>
            </a:r>
            <a:r>
              <a:rPr dirty="0"/>
              <a:t> — </a:t>
            </a:r>
            <a:r>
              <a:rPr dirty="0" err="1"/>
              <a:t>Tamīm</a:t>
            </a:r>
            <a:r>
              <a:rPr dirty="0"/>
              <a:t> is only the tribe she gathered on the way.</a:t>
            </a:r>
            <a:endParaRPr lang="en-US" dirty="0"/>
          </a:p>
          <a:p>
            <a:endParaRPr dirty="0"/>
          </a:p>
          <a:p>
            <a:r>
              <a:rPr dirty="0"/>
              <a:t>5. Most of </a:t>
            </a:r>
            <a:r>
              <a:rPr dirty="0" err="1"/>
              <a:t>Tamīm</a:t>
            </a:r>
            <a:r>
              <a:rPr dirty="0"/>
              <a:t> answered her — Including </a:t>
            </a:r>
            <a:r>
              <a:rPr dirty="0" err="1"/>
              <a:t>Mālik</a:t>
            </a:r>
            <a:r>
              <a:rPr dirty="0"/>
              <a:t> b. </a:t>
            </a:r>
            <a:r>
              <a:rPr dirty="0" err="1"/>
              <a:t>Nuwayra</a:t>
            </a:r>
            <a:r>
              <a:rPr dirty="0"/>
              <a:t> ؓ, </a:t>
            </a:r>
            <a:r>
              <a:rPr dirty="0" err="1"/>
              <a:t>ʿUṭārid</a:t>
            </a:r>
            <a:r>
              <a:rPr dirty="0"/>
              <a:t> b. </a:t>
            </a:r>
            <a:r>
              <a:rPr dirty="0" err="1"/>
              <a:t>Ḥājib</a:t>
            </a:r>
            <a:r>
              <a:rPr dirty="0"/>
              <a:t> and a number of chiefs.</a:t>
            </a:r>
          </a:p>
          <a:p>
            <a:endParaRPr lang="en-US" dirty="0"/>
          </a:p>
          <a:p>
            <a:r>
              <a:rPr dirty="0"/>
              <a:t>6. Others held back — The tribe split, as tribes did all through this war.</a:t>
            </a:r>
          </a:p>
          <a:p>
            <a:endParaRPr dirty="0"/>
          </a:p>
          <a:p>
            <a:r>
              <a:rPr dirty="0"/>
              <a:t>QUOTE — </a:t>
            </a:r>
            <a:r>
              <a:rPr dirty="0" err="1"/>
              <a:t>إذ</a:t>
            </a:r>
            <a:r>
              <a:rPr dirty="0"/>
              <a:t> </a:t>
            </a:r>
            <a:r>
              <a:rPr dirty="0" err="1"/>
              <a:t>أقبلت</a:t>
            </a:r>
            <a:r>
              <a:rPr dirty="0"/>
              <a:t> </a:t>
            </a:r>
            <a:r>
              <a:rPr dirty="0" err="1"/>
              <a:t>سجاح</a:t>
            </a:r>
            <a:r>
              <a:rPr dirty="0"/>
              <a:t> </a:t>
            </a:r>
            <a:r>
              <a:rPr dirty="0" err="1"/>
              <a:t>بنتُ</a:t>
            </a:r>
            <a:r>
              <a:rPr dirty="0"/>
              <a:t> </a:t>
            </a:r>
            <a:r>
              <a:rPr dirty="0" err="1"/>
              <a:t>الحارث</a:t>
            </a:r>
            <a:r>
              <a:rPr dirty="0"/>
              <a:t> </a:t>
            </a:r>
            <a:r>
              <a:rPr dirty="0" err="1"/>
              <a:t>بن</a:t>
            </a:r>
            <a:r>
              <a:rPr dirty="0"/>
              <a:t> </a:t>
            </a:r>
            <a:r>
              <a:rPr dirty="0" err="1"/>
              <a:t>سويد</a:t>
            </a:r>
            <a:r>
              <a:rPr dirty="0"/>
              <a:t> </a:t>
            </a:r>
            <a:r>
              <a:rPr dirty="0" err="1"/>
              <a:t>بن</a:t>
            </a:r>
            <a:r>
              <a:rPr dirty="0"/>
              <a:t> </a:t>
            </a:r>
            <a:r>
              <a:rPr dirty="0" err="1"/>
              <a:t>عقفان</a:t>
            </a:r>
            <a:r>
              <a:rPr dirty="0"/>
              <a:t> </a:t>
            </a:r>
            <a:r>
              <a:rPr dirty="0" err="1"/>
              <a:t>التغلبية</a:t>
            </a:r>
            <a:r>
              <a:rPr dirty="0"/>
              <a:t> </a:t>
            </a:r>
            <a:r>
              <a:rPr dirty="0" err="1"/>
              <a:t>من</a:t>
            </a:r>
            <a:r>
              <a:rPr dirty="0"/>
              <a:t> </a:t>
            </a:r>
            <a:r>
              <a:rPr dirty="0" err="1"/>
              <a:t>الجزيرة</a:t>
            </a:r>
            <a:r>
              <a:rPr dirty="0"/>
              <a:t>، </a:t>
            </a:r>
            <a:r>
              <a:rPr dirty="0" err="1"/>
              <a:t>وهي</a:t>
            </a:r>
            <a:r>
              <a:rPr dirty="0"/>
              <a:t> </a:t>
            </a:r>
            <a:r>
              <a:rPr dirty="0" err="1"/>
              <a:t>من</a:t>
            </a:r>
            <a:r>
              <a:rPr dirty="0"/>
              <a:t> </a:t>
            </a:r>
            <a:r>
              <a:rPr dirty="0" err="1"/>
              <a:t>نصارى</a:t>
            </a:r>
            <a:r>
              <a:rPr dirty="0"/>
              <a:t> </a:t>
            </a:r>
            <a:r>
              <a:rPr dirty="0" err="1"/>
              <a:t>العرب</a:t>
            </a:r>
            <a:r>
              <a:rPr dirty="0"/>
              <a:t>، </a:t>
            </a:r>
            <a:r>
              <a:rPr dirty="0" err="1"/>
              <a:t>وقد</a:t>
            </a:r>
            <a:r>
              <a:rPr dirty="0"/>
              <a:t> </a:t>
            </a:r>
            <a:r>
              <a:rPr dirty="0" err="1"/>
              <a:t>ادَّعتِ</a:t>
            </a:r>
            <a:r>
              <a:rPr dirty="0"/>
              <a:t> </a:t>
            </a:r>
            <a:r>
              <a:rPr dirty="0" err="1"/>
              <a:t>النبوَّة</a:t>
            </a:r>
            <a:endParaRPr dirty="0"/>
          </a:p>
          <a:p>
            <a:r>
              <a:rPr dirty="0"/>
              <a:t>"…when </a:t>
            </a:r>
            <a:r>
              <a:rPr dirty="0" err="1"/>
              <a:t>Sajāḥ</a:t>
            </a:r>
            <a:r>
              <a:rPr dirty="0"/>
              <a:t> </a:t>
            </a:r>
            <a:r>
              <a:rPr dirty="0" err="1"/>
              <a:t>bint</a:t>
            </a:r>
            <a:r>
              <a:rPr dirty="0"/>
              <a:t> al-</a:t>
            </a:r>
            <a:r>
              <a:rPr dirty="0" err="1"/>
              <a:t>Ḥārith</a:t>
            </a:r>
            <a:r>
              <a:rPr dirty="0"/>
              <a:t> b. Suwayd b. </a:t>
            </a:r>
            <a:r>
              <a:rPr dirty="0" err="1"/>
              <a:t>ʿAqfān</a:t>
            </a:r>
            <a:r>
              <a:rPr dirty="0"/>
              <a:t> al-</a:t>
            </a:r>
            <a:r>
              <a:rPr dirty="0" err="1"/>
              <a:t>Taghlibiyya</a:t>
            </a:r>
            <a:r>
              <a:rPr dirty="0"/>
              <a:t> came forward from al-</a:t>
            </a:r>
            <a:r>
              <a:rPr dirty="0" err="1"/>
              <a:t>Jazīra</a:t>
            </a:r>
            <a:r>
              <a:rPr dirty="0"/>
              <a:t> — and she was of the Christians of the Arabs — having claimed prophethood."</a:t>
            </a:r>
          </a:p>
          <a:p>
            <a:r>
              <a:rPr dirty="0"/>
              <a:t>— </a:t>
            </a:r>
            <a:r>
              <a:rPr dirty="0" err="1"/>
              <a:t>البدایہ</a:t>
            </a:r>
            <a:r>
              <a:rPr dirty="0"/>
              <a:t> </a:t>
            </a:r>
            <a:r>
              <a:rPr dirty="0" err="1"/>
              <a:t>والنہایہ</a:t>
            </a:r>
            <a:r>
              <a:rPr dirty="0"/>
              <a:t> ج۷ ص۲۸</a:t>
            </a:r>
          </a:p>
          <a:p>
            <a:endParaRPr dirty="0"/>
          </a:p>
          <a:p>
            <a:r>
              <a:rPr dirty="0" err="1"/>
              <a:t>عبرت</a:t>
            </a:r>
            <a:r>
              <a:rPr dirty="0"/>
              <a:t> — The tribe that supplied her following was not the tribe she came from, and the book is careful to say so.</a:t>
            </a:r>
          </a:p>
          <a:p>
            <a:endParaRPr dirty="0"/>
          </a:p>
          <a:p>
            <a:r>
              <a:rPr dirty="0"/>
              <a:t>MAP — An arrow from **</a:t>
            </a:r>
            <a:r>
              <a:rPr dirty="0" err="1"/>
              <a:t>الجزيرة</a:t>
            </a:r>
            <a:r>
              <a:rPr dirty="0"/>
              <a:t>** in the far north, down into </a:t>
            </a:r>
            <a:r>
              <a:rPr dirty="0" err="1"/>
              <a:t>نجد</a:t>
            </a:r>
            <a:r>
              <a:rPr dirty="0"/>
              <a:t>, on to **</a:t>
            </a:r>
            <a:r>
              <a:rPr dirty="0" err="1"/>
              <a:t>اليمامة</a:t>
            </a:r>
            <a:r>
              <a:rPr dirty="0"/>
              <a:t>**, and then back north again. **It never reaches Medina.**</a:t>
            </a:r>
          </a:p>
          <a:p>
            <a:endParaRPr dirty="0"/>
          </a:p>
          <a:p>
            <a:r>
              <a:rPr dirty="0"/>
              <a:t>**Also on the page** — a verse said about it by </a:t>
            </a:r>
            <a:r>
              <a:rPr dirty="0" err="1"/>
              <a:t>ʿUṭārid</a:t>
            </a:r>
            <a:r>
              <a:rPr dirty="0"/>
              <a:t> b. </a:t>
            </a:r>
            <a:r>
              <a:rPr dirty="0" err="1"/>
              <a:t>Ḥājib</a:t>
            </a:r>
            <a:r>
              <a:rPr dirty="0"/>
              <a:t>, one of the men who had answered</a:t>
            </a:r>
          </a:p>
          <a:p>
            <a:r>
              <a:rPr dirty="0"/>
              <a:t>her: «**</a:t>
            </a:r>
            <a:r>
              <a:rPr dirty="0" err="1"/>
              <a:t>أمستْ</a:t>
            </a:r>
            <a:r>
              <a:rPr dirty="0"/>
              <a:t> </a:t>
            </a:r>
            <a:r>
              <a:rPr dirty="0" err="1"/>
              <a:t>نَبيَّتُنا</a:t>
            </a:r>
            <a:r>
              <a:rPr dirty="0"/>
              <a:t> </a:t>
            </a:r>
            <a:r>
              <a:rPr dirty="0" err="1"/>
              <a:t>أُنثَى</a:t>
            </a:r>
            <a:r>
              <a:rPr dirty="0"/>
              <a:t> </a:t>
            </a:r>
            <a:r>
              <a:rPr dirty="0" err="1"/>
              <a:t>نُطيفُ</a:t>
            </a:r>
            <a:r>
              <a:rPr dirty="0"/>
              <a:t> </a:t>
            </a:r>
            <a:r>
              <a:rPr dirty="0" err="1"/>
              <a:t>بها</a:t>
            </a:r>
            <a:r>
              <a:rPr dirty="0"/>
              <a:t> … </a:t>
            </a:r>
            <a:r>
              <a:rPr dirty="0" err="1"/>
              <a:t>وأصبحَتْ</a:t>
            </a:r>
            <a:r>
              <a:rPr dirty="0"/>
              <a:t> </a:t>
            </a:r>
            <a:r>
              <a:rPr dirty="0" err="1"/>
              <a:t>أنبياءُ</a:t>
            </a:r>
            <a:r>
              <a:rPr dirty="0"/>
              <a:t> </a:t>
            </a:r>
            <a:r>
              <a:rPr dirty="0" err="1"/>
              <a:t>النَّاس</a:t>
            </a:r>
            <a:r>
              <a:rPr dirty="0"/>
              <a:t> </a:t>
            </a:r>
            <a:r>
              <a:rPr dirty="0" err="1"/>
              <a:t>ذُكرانا</a:t>
            </a:r>
            <a:r>
              <a:rPr dirty="0"/>
              <a:t>**» — *"our prophetess has</a:t>
            </a:r>
          </a:p>
          <a:p>
            <a:r>
              <a:rPr dirty="0"/>
              <a:t>become a woman we circle around, while the prophets of other people are men."*</a:t>
            </a:r>
          </a:p>
          <a:p>
            <a:r>
              <a:rPr dirty="0"/>
              <a:t>⚠ **Correction recorded, because two existing artifacts have it wrong:** she is **</a:t>
            </a:r>
            <a:r>
              <a:rPr dirty="0" err="1"/>
              <a:t>Taghlibī</a:t>
            </a:r>
            <a:r>
              <a:rPr dirty="0"/>
              <a:t>**, not</a:t>
            </a:r>
          </a:p>
          <a:p>
            <a:r>
              <a:rPr dirty="0" err="1"/>
              <a:t>Tamīmī</a:t>
            </a:r>
            <a:r>
              <a:rPr dirty="0"/>
              <a:t>. It is **</a:t>
            </a:r>
            <a:r>
              <a:rPr dirty="0" err="1"/>
              <a:t>مالك</a:t>
            </a:r>
            <a:r>
              <a:rPr dirty="0"/>
              <a:t> </a:t>
            </a:r>
            <a:r>
              <a:rPr dirty="0" err="1"/>
              <a:t>بن</a:t>
            </a:r>
            <a:r>
              <a:rPr dirty="0"/>
              <a:t> </a:t>
            </a:r>
            <a:r>
              <a:rPr dirty="0" err="1"/>
              <a:t>نويرة</a:t>
            </a:r>
            <a:r>
              <a:rPr dirty="0"/>
              <a:t> ؓ** who is </a:t>
            </a:r>
            <a:r>
              <a:rPr dirty="0" err="1"/>
              <a:t>التميمي</a:t>
            </a:r>
            <a:r>
              <a:rPr dirty="0"/>
              <a:t> </a:t>
            </a:r>
            <a:r>
              <a:rPr dirty="0" err="1"/>
              <a:t>اليربوعي</a:t>
            </a:r>
            <a:r>
              <a:rPr dirty="0"/>
              <a:t> (§6.2 item 3).</a:t>
            </a:r>
          </a:p>
          <a:p>
            <a:r>
              <a:rPr dirty="0"/>
              <a:t>⚠ **</a:t>
            </a:r>
            <a:r>
              <a:rPr dirty="0" err="1"/>
              <a:t>مالك</a:t>
            </a:r>
            <a:r>
              <a:rPr dirty="0"/>
              <a:t> </a:t>
            </a:r>
            <a:r>
              <a:rPr dirty="0" err="1"/>
              <a:t>بن</a:t>
            </a:r>
            <a:r>
              <a:rPr dirty="0"/>
              <a:t> </a:t>
            </a:r>
            <a:r>
              <a:rPr dirty="0" err="1"/>
              <a:t>نويرة</a:t>
            </a:r>
            <a:r>
              <a:rPr dirty="0"/>
              <a:t> ؓ is named here only as one of the men who answered her call, which is what the</a:t>
            </a:r>
          </a:p>
          <a:p>
            <a:r>
              <a:rPr dirty="0"/>
              <a:t>page says.** What happened to him afterwards at **</a:t>
            </a:r>
            <a:r>
              <a:rPr dirty="0" err="1"/>
              <a:t>البُطاح</a:t>
            </a:r>
            <a:r>
              <a:rPr dirty="0"/>
              <a:t>** is </a:t>
            </a:r>
            <a:r>
              <a:rPr dirty="0" err="1"/>
              <a:t>مشاجرات</a:t>
            </a:r>
            <a:r>
              <a:rPr dirty="0"/>
              <a:t>-adjacent, is carded separately</a:t>
            </a:r>
          </a:p>
          <a:p>
            <a:r>
              <a:rPr dirty="0"/>
              <a:t>in `ridda-campaign-the-conduct-of-the-wars.md` under **⚠ SPEAKER'S DISCRETION**, and must not be</a:t>
            </a:r>
          </a:p>
          <a:p>
            <a:r>
              <a:rPr dirty="0"/>
              <a:t>opened from this card.</a:t>
            </a:r>
          </a:p>
          <a:p>
            <a:endParaRPr dirty="0"/>
          </a:p>
          <a:p>
            <a:r>
              <a:rPr dirty="0"/>
              <a:t>BACKGROUND (read at home, not aloud) —</a:t>
            </a:r>
          </a:p>
          <a:p>
            <a:r>
              <a:rPr dirty="0" err="1"/>
              <a:t>Sajāḥ</a:t>
            </a:r>
            <a:r>
              <a:rPr dirty="0"/>
              <a:t> </a:t>
            </a:r>
            <a:r>
              <a:rPr dirty="0" err="1"/>
              <a:t>bint</a:t>
            </a:r>
            <a:r>
              <a:rPr dirty="0"/>
              <a:t> al-</a:t>
            </a:r>
            <a:r>
              <a:rPr dirty="0" err="1"/>
              <a:t>Ḥārith</a:t>
            </a:r>
            <a:r>
              <a:rPr dirty="0"/>
              <a:t> came down from al-</a:t>
            </a:r>
            <a:r>
              <a:rPr dirty="0" err="1"/>
              <a:t>Jazīra</a:t>
            </a:r>
            <a:r>
              <a:rPr dirty="0"/>
              <a:t> with troops of her own people and whoever had joined them, having claimed prophethood — and, the book says, they had resolved on making war on </a:t>
            </a:r>
            <a:r>
              <a:rPr dirty="0" err="1"/>
              <a:t>Abū</a:t>
            </a:r>
            <a:r>
              <a:rPr dirty="0"/>
              <a:t> Bakr ؓ. She was of Taghlib, and she was of the Christians of the Arabs. She was not of </a:t>
            </a:r>
            <a:r>
              <a:rPr dirty="0" err="1"/>
              <a:t>Tamīm</a:t>
            </a:r>
            <a:r>
              <a:rPr dirty="0"/>
              <a:t>, which is only the tribe she gathered on the way. When she passed through the country of </a:t>
            </a:r>
            <a:r>
              <a:rPr dirty="0" err="1"/>
              <a:t>Banū</a:t>
            </a:r>
            <a:r>
              <a:rPr dirty="0"/>
              <a:t> </a:t>
            </a:r>
            <a:r>
              <a:rPr dirty="0" err="1"/>
              <a:t>Tamīm</a:t>
            </a:r>
            <a:r>
              <a:rPr dirty="0"/>
              <a:t> she called them to her cause and most of them answered — </a:t>
            </a:r>
            <a:r>
              <a:rPr dirty="0" err="1"/>
              <a:t>Mālik</a:t>
            </a:r>
            <a:r>
              <a:rPr dirty="0"/>
              <a:t> b. </a:t>
            </a:r>
            <a:r>
              <a:rPr dirty="0" err="1"/>
              <a:t>Nuwayra</a:t>
            </a:r>
            <a:r>
              <a:rPr dirty="0"/>
              <a:t> ؓ among them, and </a:t>
            </a:r>
            <a:r>
              <a:rPr dirty="0" err="1"/>
              <a:t>ʿUṭārid</a:t>
            </a:r>
            <a:r>
              <a:rPr dirty="0"/>
              <a:t> b. </a:t>
            </a:r>
            <a:r>
              <a:rPr dirty="0" err="1"/>
              <a:t>Ḥājib</a:t>
            </a:r>
            <a:r>
              <a:rPr dirty="0"/>
              <a:t>, and a number of the chiefs of </a:t>
            </a:r>
            <a:r>
              <a:rPr dirty="0" err="1"/>
              <a:t>Tamīm</a:t>
            </a:r>
            <a:r>
              <a:rPr dirty="0"/>
              <a:t>. Others of them held back.</a:t>
            </a:r>
          </a:p>
          <a:p>
            <a:endParaRPr dirty="0"/>
          </a:p>
          <a:p>
            <a:r>
              <a:rPr dirty="0"/>
              <a:t>WHEN, as the card gives it: 11 AH</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RUNSHEET: ⚠ the narrative at ⁨ج7 ص29⁩–30 is obscene and must not be read, paraphrased or alluded to. Say "the price he paid", not "dowry". End on her Islam in </a:t>
            </a:r>
            <a:r>
              <a:rPr dirty="0" err="1"/>
              <a:t>ʿUmar's</a:t>
            </a:r>
            <a:r>
              <a:rPr dirty="0"/>
              <a:t> ؓ days. Prepared answer: QABANK.md §6.10</a:t>
            </a:r>
          </a:p>
          <a:p>
            <a:endParaRPr dirty="0"/>
          </a:p>
          <a:p>
            <a:r>
              <a:rPr dirty="0"/>
              <a:t>SAY —</a:t>
            </a:r>
          </a:p>
          <a:p>
            <a:r>
              <a:rPr dirty="0"/>
              <a:t>1. The two claimants meet at al-</a:t>
            </a:r>
            <a:r>
              <a:rPr dirty="0" err="1"/>
              <a:t>Yamāma</a:t>
            </a:r>
            <a:r>
              <a:rPr dirty="0"/>
              <a:t> — The northern claim and the </a:t>
            </a:r>
            <a:r>
              <a:rPr dirty="0" err="1"/>
              <a:t>Yamāma</a:t>
            </a:r>
            <a:r>
              <a:rPr dirty="0"/>
              <a:t> claim, in one place.</a:t>
            </a:r>
            <a:endParaRPr lang="en-US" dirty="0"/>
          </a:p>
          <a:p>
            <a:endParaRPr dirty="0"/>
          </a:p>
          <a:p>
            <a:r>
              <a:rPr dirty="0"/>
              <a:t>2. He bought her off — She took half the </a:t>
            </a:r>
            <a:r>
              <a:rPr dirty="0" err="1"/>
              <a:t>kharāj</a:t>
            </a:r>
            <a:r>
              <a:rPr dirty="0"/>
              <a:t> of his land.</a:t>
            </a:r>
            <a:r>
              <a:rPr lang="en-US" dirty="0"/>
              <a:t> And married him.</a:t>
            </a:r>
            <a:endParaRPr dirty="0"/>
          </a:p>
          <a:p>
            <a:r>
              <a:rPr dirty="0"/>
              <a:t>   ^ read the Arabic on the face here</a:t>
            </a:r>
            <a:endParaRPr lang="en-US" dirty="0"/>
          </a:p>
          <a:p>
            <a:endParaRPr dirty="0"/>
          </a:p>
          <a:p>
            <a:r>
              <a:rPr dirty="0"/>
              <a:t>3. The price he paid — The remission of two of the five prayers: the dawn and the night prayer.</a:t>
            </a:r>
            <a:endParaRPr lang="en-US" dirty="0"/>
          </a:p>
          <a:p>
            <a:endParaRPr dirty="0"/>
          </a:p>
          <a:p>
            <a:r>
              <a:rPr dirty="0"/>
              <a:t>4. What that tells you — That is what one claim to prophethood was worth to the other.</a:t>
            </a:r>
            <a:endParaRPr lang="en-US" dirty="0"/>
          </a:p>
          <a:p>
            <a:endParaRPr dirty="0"/>
          </a:p>
          <a:p>
            <a:r>
              <a:rPr dirty="0"/>
              <a:t>5. She went home — Back north to al-</a:t>
            </a:r>
            <a:r>
              <a:rPr dirty="0" err="1"/>
              <a:t>Jazīra</a:t>
            </a:r>
            <a:r>
              <a:rPr dirty="0"/>
              <a:t>, and stayed among </a:t>
            </a:r>
            <a:r>
              <a:rPr dirty="0" err="1"/>
              <a:t>Banū</a:t>
            </a:r>
            <a:r>
              <a:rPr dirty="0"/>
              <a:t> Taghlib for many years.</a:t>
            </a:r>
            <a:endParaRPr lang="en-US" dirty="0"/>
          </a:p>
          <a:p>
            <a:endParaRPr dirty="0"/>
          </a:p>
          <a:p>
            <a:r>
              <a:rPr dirty="0"/>
              <a:t>6. And afterwards — She became Muslim in </a:t>
            </a:r>
            <a:r>
              <a:rPr dirty="0" err="1"/>
              <a:t>ʿUmar's</a:t>
            </a:r>
            <a:r>
              <a:rPr dirty="0"/>
              <a:t> ؓ days, and her Islam was good. End the card here.</a:t>
            </a:r>
          </a:p>
          <a:p>
            <a:endParaRPr dirty="0"/>
          </a:p>
          <a:p>
            <a:r>
              <a:rPr dirty="0"/>
              <a:t>QUOTE — </a:t>
            </a:r>
            <a:r>
              <a:rPr dirty="0" err="1"/>
              <a:t>ثم</a:t>
            </a:r>
            <a:r>
              <a:rPr dirty="0"/>
              <a:t> </a:t>
            </a:r>
            <a:r>
              <a:rPr dirty="0" err="1"/>
              <a:t>انثنت</a:t>
            </a:r>
            <a:r>
              <a:rPr dirty="0"/>
              <a:t> </a:t>
            </a:r>
            <a:r>
              <a:rPr dirty="0" err="1"/>
              <a:t>سَجَاح</a:t>
            </a:r>
            <a:r>
              <a:rPr dirty="0"/>
              <a:t> </a:t>
            </a:r>
            <a:r>
              <a:rPr dirty="0" err="1"/>
              <a:t>راجعةً</a:t>
            </a:r>
            <a:r>
              <a:rPr dirty="0"/>
              <a:t> </a:t>
            </a:r>
            <a:r>
              <a:rPr dirty="0" err="1"/>
              <a:t>إلى</a:t>
            </a:r>
            <a:r>
              <a:rPr dirty="0"/>
              <a:t> </a:t>
            </a:r>
            <a:r>
              <a:rPr dirty="0" err="1"/>
              <a:t>بلادها</a:t>
            </a:r>
            <a:r>
              <a:rPr dirty="0"/>
              <a:t> … </a:t>
            </a:r>
            <a:r>
              <a:rPr dirty="0" err="1"/>
              <a:t>فكرَّتْ</a:t>
            </a:r>
            <a:r>
              <a:rPr dirty="0"/>
              <a:t> </a:t>
            </a:r>
            <a:r>
              <a:rPr dirty="0" err="1"/>
              <a:t>راجعةً</a:t>
            </a:r>
            <a:r>
              <a:rPr dirty="0"/>
              <a:t> </a:t>
            </a:r>
            <a:r>
              <a:rPr dirty="0" err="1"/>
              <a:t>إلى</a:t>
            </a:r>
            <a:r>
              <a:rPr dirty="0"/>
              <a:t> </a:t>
            </a:r>
            <a:r>
              <a:rPr dirty="0" err="1"/>
              <a:t>الجزيرة</a:t>
            </a:r>
            <a:r>
              <a:rPr dirty="0"/>
              <a:t> </a:t>
            </a:r>
            <a:r>
              <a:rPr dirty="0" err="1"/>
              <a:t>بعدما</a:t>
            </a:r>
            <a:r>
              <a:rPr dirty="0"/>
              <a:t> </a:t>
            </a:r>
            <a:r>
              <a:rPr dirty="0" err="1"/>
              <a:t>قبضَتْ</a:t>
            </a:r>
            <a:r>
              <a:rPr dirty="0"/>
              <a:t> </a:t>
            </a:r>
            <a:r>
              <a:rPr dirty="0" err="1"/>
              <a:t>من</a:t>
            </a:r>
            <a:r>
              <a:rPr dirty="0"/>
              <a:t> </a:t>
            </a:r>
            <a:r>
              <a:rPr dirty="0" err="1"/>
              <a:t>مسيلمة</a:t>
            </a:r>
            <a:r>
              <a:rPr dirty="0"/>
              <a:t> </a:t>
            </a:r>
            <a:r>
              <a:rPr dirty="0" err="1"/>
              <a:t>نصفَ</a:t>
            </a:r>
            <a:r>
              <a:rPr dirty="0"/>
              <a:t> </a:t>
            </a:r>
            <a:r>
              <a:rPr dirty="0" err="1"/>
              <a:t>خراجِ</a:t>
            </a:r>
            <a:r>
              <a:rPr dirty="0"/>
              <a:t> </a:t>
            </a:r>
            <a:r>
              <a:rPr dirty="0" err="1"/>
              <a:t>أرضِهِ</a:t>
            </a:r>
            <a:r>
              <a:rPr dirty="0"/>
              <a:t>، </a:t>
            </a:r>
            <a:r>
              <a:rPr dirty="0" err="1"/>
              <a:t>فأقامت</a:t>
            </a:r>
            <a:r>
              <a:rPr dirty="0"/>
              <a:t> </a:t>
            </a:r>
            <a:r>
              <a:rPr dirty="0" err="1"/>
              <a:t>في</a:t>
            </a:r>
            <a:r>
              <a:rPr dirty="0"/>
              <a:t> </a:t>
            </a:r>
            <a:r>
              <a:rPr dirty="0" err="1"/>
              <a:t>قومها</a:t>
            </a:r>
            <a:r>
              <a:rPr dirty="0"/>
              <a:t> </a:t>
            </a:r>
            <a:r>
              <a:rPr dirty="0" err="1"/>
              <a:t>بني</a:t>
            </a:r>
            <a:r>
              <a:rPr dirty="0"/>
              <a:t> </a:t>
            </a:r>
            <a:r>
              <a:rPr dirty="0" err="1"/>
              <a:t>تَغْلِب</a:t>
            </a:r>
            <a:r>
              <a:rPr dirty="0"/>
              <a:t>، </a:t>
            </a:r>
            <a:r>
              <a:rPr dirty="0" err="1"/>
              <a:t>إلى</a:t>
            </a:r>
            <a:r>
              <a:rPr dirty="0"/>
              <a:t> </a:t>
            </a:r>
            <a:r>
              <a:rPr dirty="0" err="1"/>
              <a:t>زمان</a:t>
            </a:r>
            <a:r>
              <a:rPr dirty="0"/>
              <a:t> </a:t>
            </a:r>
            <a:r>
              <a:rPr dirty="0" err="1"/>
              <a:t>معاوية</a:t>
            </a:r>
            <a:endParaRPr dirty="0"/>
          </a:p>
          <a:p>
            <a:r>
              <a:rPr dirty="0"/>
              <a:t>"Then </a:t>
            </a:r>
            <a:r>
              <a:rPr dirty="0" err="1"/>
              <a:t>Sajāḥ</a:t>
            </a:r>
            <a:r>
              <a:rPr dirty="0"/>
              <a:t> turned back to her own country … she went back to al-</a:t>
            </a:r>
            <a:r>
              <a:rPr dirty="0" err="1"/>
              <a:t>Jazīra</a:t>
            </a:r>
            <a:r>
              <a:rPr dirty="0"/>
              <a:t> after she had taken from </a:t>
            </a:r>
            <a:r>
              <a:rPr dirty="0" err="1"/>
              <a:t>Musaylima</a:t>
            </a:r>
            <a:r>
              <a:rPr dirty="0"/>
              <a:t> half the </a:t>
            </a:r>
            <a:r>
              <a:rPr dirty="0" err="1"/>
              <a:t>kharāj</a:t>
            </a:r>
            <a:r>
              <a:rPr dirty="0"/>
              <a:t> of his land, and she stayed among her people, </a:t>
            </a:r>
            <a:r>
              <a:rPr dirty="0" err="1"/>
              <a:t>Banū</a:t>
            </a:r>
            <a:r>
              <a:rPr dirty="0"/>
              <a:t> Taghlib, until the time of </a:t>
            </a:r>
            <a:r>
              <a:rPr dirty="0" err="1"/>
              <a:t>Muʿāwiya</a:t>
            </a:r>
            <a:r>
              <a:rPr dirty="0"/>
              <a:t>."</a:t>
            </a:r>
          </a:p>
          <a:p>
            <a:r>
              <a:rPr dirty="0"/>
              <a:t>— </a:t>
            </a:r>
            <a:r>
              <a:rPr dirty="0" err="1"/>
              <a:t>البدایہ</a:t>
            </a:r>
            <a:r>
              <a:rPr dirty="0"/>
              <a:t> </a:t>
            </a:r>
            <a:r>
              <a:rPr dirty="0" err="1"/>
              <a:t>والنہایہ</a:t>
            </a:r>
            <a:r>
              <a:rPr dirty="0"/>
              <a:t> ج۷ ص۳۰</a:t>
            </a:r>
          </a:p>
          <a:p>
            <a:endParaRPr dirty="0"/>
          </a:p>
          <a:p>
            <a:r>
              <a:rPr dirty="0" err="1"/>
              <a:t>عبرت</a:t>
            </a:r>
            <a:r>
              <a:rPr dirty="0"/>
              <a:t> — A claim that could be settled for half a land-tax was priced by the man who bought it.</a:t>
            </a:r>
          </a:p>
          <a:p>
            <a:endParaRPr dirty="0"/>
          </a:p>
          <a:p>
            <a:r>
              <a:rPr dirty="0"/>
              <a:t>MAP — her arrow reaches **</a:t>
            </a:r>
            <a:r>
              <a:rPr dirty="0" err="1"/>
              <a:t>اليمامة</a:t>
            </a:r>
            <a:r>
              <a:rPr dirty="0"/>
              <a:t>**, turns, and goes back north to **</a:t>
            </a:r>
            <a:r>
              <a:rPr dirty="0" err="1"/>
              <a:t>الجزيرة</a:t>
            </a:r>
            <a:r>
              <a:rPr dirty="0"/>
              <a:t>**.</a:t>
            </a:r>
          </a:p>
          <a:p>
            <a:endParaRPr dirty="0"/>
          </a:p>
          <a:p>
            <a:r>
              <a:rPr dirty="0"/>
              <a:t>**And afterwards — </a:t>
            </a:r>
            <a:r>
              <a:rPr dirty="0" err="1"/>
              <a:t>البدایہ</a:t>
            </a:r>
            <a:r>
              <a:rPr dirty="0"/>
              <a:t> ج۵ ص۲۴** (https://shamela.ws/book/30097/2208), Ibn </a:t>
            </a:r>
            <a:r>
              <a:rPr dirty="0" err="1"/>
              <a:t>Kathīr</a:t>
            </a:r>
            <a:r>
              <a:rPr dirty="0"/>
              <a:t> quoting</a:t>
            </a:r>
          </a:p>
          <a:p>
            <a:r>
              <a:rPr dirty="0" err="1"/>
              <a:t>السهيلي</a:t>
            </a:r>
            <a:r>
              <a:rPr dirty="0"/>
              <a:t>: «**</a:t>
            </a:r>
            <a:r>
              <a:rPr dirty="0" err="1"/>
              <a:t>وقد</a:t>
            </a:r>
            <a:r>
              <a:rPr dirty="0"/>
              <a:t> </a:t>
            </a:r>
            <a:r>
              <a:rPr dirty="0" err="1"/>
              <a:t>أسْلَمَتْ</a:t>
            </a:r>
            <a:r>
              <a:rPr dirty="0"/>
              <a:t> </a:t>
            </a:r>
            <a:r>
              <a:rPr dirty="0" err="1"/>
              <a:t>هي</a:t>
            </a:r>
            <a:r>
              <a:rPr dirty="0"/>
              <a:t> </a:t>
            </a:r>
            <a:r>
              <a:rPr dirty="0" err="1"/>
              <a:t>أيضًا</a:t>
            </a:r>
            <a:r>
              <a:rPr dirty="0"/>
              <a:t> </a:t>
            </a:r>
            <a:r>
              <a:rPr dirty="0" err="1"/>
              <a:t>أيام</a:t>
            </a:r>
            <a:r>
              <a:rPr dirty="0"/>
              <a:t> </a:t>
            </a:r>
            <a:r>
              <a:rPr dirty="0" err="1"/>
              <a:t>عُمَرَ</a:t>
            </a:r>
            <a:r>
              <a:rPr dirty="0"/>
              <a:t> </a:t>
            </a:r>
            <a:r>
              <a:rPr dirty="0" err="1"/>
              <a:t>بن</a:t>
            </a:r>
            <a:r>
              <a:rPr dirty="0"/>
              <a:t> </a:t>
            </a:r>
            <a:r>
              <a:rPr dirty="0" err="1"/>
              <a:t>الخطاب</a:t>
            </a:r>
            <a:r>
              <a:rPr dirty="0"/>
              <a:t>، </a:t>
            </a:r>
            <a:r>
              <a:rPr dirty="0" err="1"/>
              <a:t>فحسن</a:t>
            </a:r>
            <a:r>
              <a:rPr dirty="0"/>
              <a:t> </a:t>
            </a:r>
            <a:r>
              <a:rPr dirty="0" err="1"/>
              <a:t>إسلامُها</a:t>
            </a:r>
            <a:r>
              <a:rPr dirty="0"/>
              <a:t>**» — *"and she too became</a:t>
            </a:r>
          </a:p>
          <a:p>
            <a:r>
              <a:rPr dirty="0"/>
              <a:t>Muslim in the days of </a:t>
            </a:r>
            <a:r>
              <a:rPr dirty="0" err="1"/>
              <a:t>ʿUmar</a:t>
            </a:r>
            <a:r>
              <a:rPr dirty="0"/>
              <a:t> b. al-</a:t>
            </a:r>
            <a:r>
              <a:rPr dirty="0" err="1"/>
              <a:t>Khaṭṭāb</a:t>
            </a:r>
            <a:r>
              <a:rPr dirty="0"/>
              <a:t>, and her Islam was good."* **End the card here**, not on</a:t>
            </a:r>
          </a:p>
          <a:p>
            <a:r>
              <a:rPr dirty="0"/>
              <a:t>the withdrawal — the note flags this as the resolution the room should be given.</a:t>
            </a:r>
          </a:p>
          <a:p>
            <a:r>
              <a:rPr dirty="0"/>
              <a:t>⚠ **The narrative of that meeting at ج۷ ص۲۹–۳۰ contains explicitly obscene material. It must not be</a:t>
            </a:r>
          </a:p>
          <a:p>
            <a:r>
              <a:rPr dirty="0"/>
              <a:t>read, paraphrased, or alluded to in the hall.** The usable fact is exactly the one clean sentence</a:t>
            </a:r>
          </a:p>
          <a:p>
            <a:r>
              <a:rPr dirty="0"/>
              <a:t>above: he bought her off, and the dowry he paid was two of the five prayers.</a:t>
            </a:r>
          </a:p>
          <a:p>
            <a:endParaRPr dirty="0"/>
          </a:p>
          <a:p>
            <a:r>
              <a:rPr dirty="0"/>
              <a:t>BACKGROUND (read at home, not aloud) —</a:t>
            </a:r>
          </a:p>
          <a:p>
            <a:r>
              <a:rPr dirty="0"/>
              <a:t>The two claimants met at al-</a:t>
            </a:r>
            <a:r>
              <a:rPr dirty="0" err="1"/>
              <a:t>Yamāma</a:t>
            </a:r>
            <a:r>
              <a:rPr dirty="0"/>
              <a:t>, and he bought her off. She took half the </a:t>
            </a:r>
            <a:r>
              <a:rPr dirty="0" err="1"/>
              <a:t>kharāj</a:t>
            </a:r>
            <a:r>
              <a:rPr dirty="0"/>
              <a:t> of his land and turned back to her own country, and she stayed among her people, </a:t>
            </a:r>
            <a:r>
              <a:rPr dirty="0" err="1"/>
              <a:t>Banū</a:t>
            </a:r>
            <a:r>
              <a:rPr dirty="0"/>
              <a:t> Taghlib, until the time of </a:t>
            </a:r>
            <a:r>
              <a:rPr dirty="0" err="1"/>
              <a:t>Muʿāwiya</a:t>
            </a:r>
            <a:r>
              <a:rPr dirty="0"/>
              <a:t> ؓ. The dowry he paid her was the remission of two of the five prayers — the dawn prayer and the night prayer. That is what one claim to prophethood was worth to the other. And al-</a:t>
            </a:r>
            <a:r>
              <a:rPr dirty="0" err="1"/>
              <a:t>Suhaylī</a:t>
            </a:r>
            <a:r>
              <a:rPr dirty="0"/>
              <a:t>, whom Ibn </a:t>
            </a:r>
            <a:r>
              <a:rPr dirty="0" err="1"/>
              <a:t>Kathīr</a:t>
            </a:r>
            <a:r>
              <a:rPr dirty="0"/>
              <a:t> quotes, records that she became Muslim in the days of </a:t>
            </a:r>
            <a:r>
              <a:rPr dirty="0" err="1"/>
              <a:t>ʿUmar</a:t>
            </a:r>
            <a:r>
              <a:rPr dirty="0"/>
              <a:t> b. al-</a:t>
            </a:r>
            <a:r>
              <a:rPr dirty="0" err="1"/>
              <a:t>Khaṭṭāb</a:t>
            </a:r>
            <a:r>
              <a:rPr dirty="0"/>
              <a:t> ؓ, and that her Islam was good.</a:t>
            </a:r>
          </a:p>
          <a:p>
            <a:endParaRPr dirty="0"/>
          </a:p>
          <a:p>
            <a:r>
              <a:rPr dirty="0"/>
              <a:t>WHEN, as the card gives it: 11 AH, at </a:t>
            </a:r>
            <a:r>
              <a:rPr dirty="0" err="1"/>
              <a:t>اليمامة</a:t>
            </a:r>
            <a:r>
              <a:rPr dirty="0"/>
              <a:t>, and afterwards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HANDS UP FIRST — ask it before you click to this map, because the map shows the answer:</a:t>
            </a:r>
          </a:p>
          <a:p>
            <a:r>
              <a:t>Before beat 1: *"Forty thousand men followed him. Do you think anybody in that country refused?"*</a:t>
            </a:r>
          </a:p>
          <a:p>
            <a:endParaRPr/>
          </a:p>
          <a:p>
            <a:r>
              <a:t>MAP: tools/mapstudio/scenes/s04-02-al-yamama-before.json at step 2,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RUNSHEET: </a:t>
            </a:r>
            <a:r>
              <a:rPr dirty="0" err="1"/>
              <a:t>Thumāma</a:t>
            </a:r>
            <a:r>
              <a:rPr dirty="0"/>
              <a:t> ؓ, of </a:t>
            </a:r>
            <a:r>
              <a:rPr dirty="0" err="1"/>
              <a:t>Banū</a:t>
            </a:r>
            <a:r>
              <a:rPr dirty="0"/>
              <a:t> </a:t>
            </a:r>
            <a:r>
              <a:rPr dirty="0" err="1"/>
              <a:t>Ḥanīfa</a:t>
            </a:r>
            <a:r>
              <a:rPr dirty="0"/>
              <a:t> itself. Answers the question the room is about to ask · [HANDS] spare</a:t>
            </a:r>
          </a:p>
          <a:p>
            <a:endParaRPr dirty="0"/>
          </a:p>
          <a:p>
            <a:r>
              <a:rPr dirty="0"/>
              <a:t>SAY —</a:t>
            </a:r>
          </a:p>
          <a:p>
            <a:r>
              <a:rPr dirty="0"/>
              <a:t>1. </a:t>
            </a:r>
            <a:r>
              <a:rPr dirty="0" err="1"/>
              <a:t>Musaylima</a:t>
            </a:r>
            <a:r>
              <a:rPr dirty="0"/>
              <a:t> was not facing one army — He had a war inside his own country before </a:t>
            </a:r>
            <a:r>
              <a:rPr dirty="0" err="1"/>
              <a:t>Khālid</a:t>
            </a:r>
            <a:r>
              <a:rPr dirty="0"/>
              <a:t> ؓ set out.</a:t>
            </a:r>
            <a:endParaRPr lang="en-US" dirty="0"/>
          </a:p>
          <a:p>
            <a:endParaRPr dirty="0"/>
          </a:p>
          <a:p>
            <a:r>
              <a:rPr dirty="0"/>
              <a:t>2. </a:t>
            </a:r>
            <a:r>
              <a:rPr dirty="0" err="1"/>
              <a:t>Thumāma</a:t>
            </a:r>
            <a:r>
              <a:rPr dirty="0"/>
              <a:t> b. </a:t>
            </a:r>
            <a:r>
              <a:rPr dirty="0" err="1"/>
              <a:t>Uthāl</a:t>
            </a:r>
            <a:r>
              <a:rPr dirty="0"/>
              <a:t> ؓ — Of </a:t>
            </a:r>
            <a:r>
              <a:rPr dirty="0" err="1"/>
              <a:t>Banū</a:t>
            </a:r>
            <a:r>
              <a:rPr dirty="0"/>
              <a:t> </a:t>
            </a:r>
            <a:r>
              <a:rPr dirty="0" err="1"/>
              <a:t>Ḥanīfa</a:t>
            </a:r>
            <a:r>
              <a:rPr dirty="0"/>
              <a:t> itself, </a:t>
            </a:r>
            <a:r>
              <a:rPr dirty="0" err="1"/>
              <a:t>Musaylima's</a:t>
            </a:r>
            <a:r>
              <a:rPr dirty="0"/>
              <a:t> own tribe, and fighting him.</a:t>
            </a:r>
            <a:endParaRPr lang="en-US" dirty="0"/>
          </a:p>
          <a:p>
            <a:endParaRPr dirty="0"/>
          </a:p>
          <a:p>
            <a:r>
              <a:rPr dirty="0"/>
              <a:t>3. Reinforcements from </a:t>
            </a:r>
            <a:r>
              <a:rPr dirty="0" err="1"/>
              <a:t>Tamīm</a:t>
            </a:r>
            <a:r>
              <a:rPr dirty="0"/>
              <a:t> — They reached </a:t>
            </a:r>
            <a:r>
              <a:rPr dirty="0" err="1"/>
              <a:t>Thumāma</a:t>
            </a:r>
            <a:r>
              <a:rPr dirty="0"/>
              <a:t> ؓ until </a:t>
            </a:r>
            <a:r>
              <a:rPr dirty="0" err="1"/>
              <a:t>ʿIkrima</a:t>
            </a:r>
            <a:r>
              <a:rPr dirty="0"/>
              <a:t> ؓ came up to him.</a:t>
            </a:r>
            <a:endParaRPr lang="en-US" dirty="0"/>
          </a:p>
          <a:p>
            <a:endParaRPr dirty="0"/>
          </a:p>
          <a:p>
            <a:r>
              <a:rPr dirty="0"/>
              <a:t>4. What </a:t>
            </a:r>
            <a:r>
              <a:rPr dirty="0" err="1"/>
              <a:t>Musaylima</a:t>
            </a:r>
            <a:r>
              <a:rPr dirty="0"/>
              <a:t> actually feared from </a:t>
            </a:r>
            <a:r>
              <a:rPr dirty="0" err="1"/>
              <a:t>Sajāḥ</a:t>
            </a:r>
            <a:r>
              <a:rPr dirty="0"/>
              <a:t> — Not her army: being tied up while the town was taken.</a:t>
            </a:r>
            <a:endParaRPr lang="en-US" dirty="0"/>
          </a:p>
          <a:p>
            <a:endParaRPr dirty="0"/>
          </a:p>
          <a:p>
            <a:r>
              <a:rPr dirty="0"/>
              <a:t>5. </a:t>
            </a:r>
            <a:r>
              <a:rPr dirty="0" err="1"/>
              <a:t>Ḥajr</a:t>
            </a:r>
            <a:r>
              <a:rPr dirty="0"/>
              <a:t>, which is al-</a:t>
            </a:r>
            <a:r>
              <a:rPr dirty="0" err="1"/>
              <a:t>Yamāma</a:t>
            </a:r>
            <a:r>
              <a:rPr dirty="0"/>
              <a:t> — </a:t>
            </a:r>
            <a:r>
              <a:rPr dirty="0" err="1"/>
              <a:t>Thumāma</a:t>
            </a:r>
            <a:r>
              <a:rPr dirty="0"/>
              <a:t> ؓ, </a:t>
            </a:r>
            <a:r>
              <a:rPr dirty="0" err="1"/>
              <a:t>Shuraḥbīl</a:t>
            </a:r>
            <a:r>
              <a:rPr dirty="0"/>
              <a:t> ؓ and the tribes around them could have taken it.</a:t>
            </a:r>
          </a:p>
          <a:p>
            <a:r>
              <a:rPr dirty="0"/>
              <a:t>   ^ read the Arabic on the face here</a:t>
            </a:r>
            <a:endParaRPr lang="en-US" dirty="0"/>
          </a:p>
          <a:p>
            <a:endParaRPr dirty="0"/>
          </a:p>
          <a:p>
            <a:r>
              <a:rPr dirty="0"/>
              <a:t>6. So the answer is on the page — Men of </a:t>
            </a:r>
            <a:r>
              <a:rPr dirty="0" err="1"/>
              <a:t>Banū</a:t>
            </a:r>
            <a:r>
              <a:rPr dirty="0"/>
              <a:t> </a:t>
            </a:r>
            <a:r>
              <a:rPr dirty="0" err="1"/>
              <a:t>Ḥanīfa</a:t>
            </a:r>
            <a:r>
              <a:rPr dirty="0"/>
              <a:t> were fighting </a:t>
            </a:r>
            <a:r>
              <a:rPr dirty="0" err="1"/>
              <a:t>Musaylima</a:t>
            </a:r>
            <a:r>
              <a:rPr dirty="0"/>
              <a:t> before Medina's army arrived.</a:t>
            </a:r>
          </a:p>
          <a:p>
            <a:endParaRPr dirty="0"/>
          </a:p>
          <a:p>
            <a:r>
              <a:rPr dirty="0"/>
              <a:t>QUOTE — </a:t>
            </a:r>
            <a:r>
              <a:rPr dirty="0" err="1"/>
              <a:t>فَخَافَ</a:t>
            </a:r>
            <a:r>
              <a:rPr dirty="0"/>
              <a:t> </a:t>
            </a:r>
            <a:r>
              <a:rPr dirty="0" err="1"/>
              <a:t>إِنْ</a:t>
            </a:r>
            <a:r>
              <a:rPr dirty="0"/>
              <a:t> </a:t>
            </a:r>
            <a:r>
              <a:rPr dirty="0" err="1"/>
              <a:t>هُوَ</a:t>
            </a:r>
            <a:r>
              <a:rPr dirty="0"/>
              <a:t> </a:t>
            </a:r>
            <a:r>
              <a:rPr dirty="0" err="1"/>
              <a:t>شُغِلَ</a:t>
            </a:r>
            <a:r>
              <a:rPr dirty="0"/>
              <a:t> </a:t>
            </a:r>
            <a:r>
              <a:rPr dirty="0" err="1"/>
              <a:t>بِهَا</a:t>
            </a:r>
            <a:r>
              <a:rPr dirty="0"/>
              <a:t> </a:t>
            </a:r>
            <a:r>
              <a:rPr dirty="0" err="1"/>
              <a:t>أَنْ</a:t>
            </a:r>
            <a:r>
              <a:rPr dirty="0"/>
              <a:t> </a:t>
            </a:r>
            <a:r>
              <a:rPr dirty="0" err="1"/>
              <a:t>يَغْلِبَ</a:t>
            </a:r>
            <a:r>
              <a:rPr dirty="0"/>
              <a:t> </a:t>
            </a:r>
            <a:r>
              <a:rPr dirty="0" err="1"/>
              <a:t>ثُمَامَةُ</a:t>
            </a:r>
            <a:r>
              <a:rPr dirty="0"/>
              <a:t> </a:t>
            </a:r>
            <a:r>
              <a:rPr dirty="0" err="1"/>
              <a:t>وَشُرَحْبِيلُ</a:t>
            </a:r>
            <a:r>
              <a:rPr dirty="0"/>
              <a:t> </a:t>
            </a:r>
            <a:r>
              <a:rPr dirty="0" err="1"/>
              <a:t>بْنُ</a:t>
            </a:r>
            <a:r>
              <a:rPr dirty="0"/>
              <a:t> </a:t>
            </a:r>
            <a:r>
              <a:rPr dirty="0" err="1"/>
              <a:t>حَسَنَةَ</a:t>
            </a:r>
            <a:r>
              <a:rPr dirty="0"/>
              <a:t> </a:t>
            </a:r>
            <a:r>
              <a:rPr dirty="0" err="1"/>
              <a:t>وَالْقَبَائِلُ</a:t>
            </a:r>
            <a:r>
              <a:rPr dirty="0"/>
              <a:t> </a:t>
            </a:r>
            <a:r>
              <a:rPr dirty="0" err="1"/>
              <a:t>التى</a:t>
            </a:r>
            <a:r>
              <a:rPr dirty="0"/>
              <a:t> </a:t>
            </a:r>
            <a:r>
              <a:rPr dirty="0" err="1"/>
              <a:t>حَوْلَهُمْ</a:t>
            </a:r>
            <a:r>
              <a:rPr dirty="0"/>
              <a:t> </a:t>
            </a:r>
            <a:r>
              <a:rPr dirty="0" err="1"/>
              <a:t>عَلَى</a:t>
            </a:r>
            <a:r>
              <a:rPr dirty="0"/>
              <a:t> </a:t>
            </a:r>
            <a:r>
              <a:rPr dirty="0" err="1"/>
              <a:t>حَجْرٍ</a:t>
            </a:r>
            <a:r>
              <a:rPr dirty="0"/>
              <a:t>، </a:t>
            </a:r>
            <a:r>
              <a:rPr dirty="0" err="1"/>
              <a:t>وَهِيَ</a:t>
            </a:r>
            <a:r>
              <a:rPr dirty="0"/>
              <a:t> </a:t>
            </a:r>
            <a:r>
              <a:rPr dirty="0" err="1"/>
              <a:t>الْيَمَامَةُ</a:t>
            </a:r>
            <a:endParaRPr dirty="0"/>
          </a:p>
          <a:p>
            <a:r>
              <a:rPr dirty="0"/>
              <a:t>"He feared that if he were occupied with her, </a:t>
            </a:r>
            <a:r>
              <a:rPr dirty="0" err="1"/>
              <a:t>Thumāma</a:t>
            </a:r>
            <a:r>
              <a:rPr dirty="0"/>
              <a:t> and </a:t>
            </a:r>
            <a:r>
              <a:rPr dirty="0" err="1"/>
              <a:t>Shuraḥbīl</a:t>
            </a:r>
            <a:r>
              <a:rPr dirty="0"/>
              <a:t> b. </a:t>
            </a:r>
            <a:r>
              <a:rPr dirty="0" err="1"/>
              <a:t>Ḥasana</a:t>
            </a:r>
            <a:r>
              <a:rPr dirty="0"/>
              <a:t> and the tribes around them would overcome </a:t>
            </a:r>
            <a:r>
              <a:rPr dirty="0" err="1"/>
              <a:t>Ḥajr</a:t>
            </a:r>
            <a:r>
              <a:rPr dirty="0"/>
              <a:t> — which is al-</a:t>
            </a:r>
            <a:r>
              <a:rPr dirty="0" err="1"/>
              <a:t>Yamāma</a:t>
            </a:r>
            <a:r>
              <a:rPr dirty="0"/>
              <a:t>."</a:t>
            </a:r>
          </a:p>
          <a:p>
            <a:r>
              <a:rPr dirty="0"/>
              <a:t>— </a:t>
            </a:r>
            <a:r>
              <a:rPr dirty="0" err="1"/>
              <a:t>الکامل</a:t>
            </a:r>
            <a:r>
              <a:rPr dirty="0"/>
              <a:t> </a:t>
            </a:r>
            <a:r>
              <a:rPr dirty="0" err="1"/>
              <a:t>فی</a:t>
            </a:r>
            <a:r>
              <a:rPr dirty="0"/>
              <a:t> </a:t>
            </a:r>
            <a:r>
              <a:rPr dirty="0" err="1"/>
              <a:t>التاریخ</a:t>
            </a:r>
            <a:r>
              <a:rPr dirty="0"/>
              <a:t> ج۲ ص۲۱۰</a:t>
            </a:r>
          </a:p>
          <a:p>
            <a:endParaRPr dirty="0"/>
          </a:p>
          <a:p>
            <a:r>
              <a:rPr dirty="0" err="1"/>
              <a:t>عبرت</a:t>
            </a:r>
            <a:r>
              <a:rPr dirty="0"/>
              <a:t> — The men who held out against him were of his own tribe, and they were holding out before any help came.</a:t>
            </a:r>
          </a:p>
          <a:p>
            <a:endParaRPr dirty="0"/>
          </a:p>
          <a:p>
            <a:r>
              <a:rPr dirty="0"/>
              <a:t>HANDS UP — Before beat 1: *"Forty thousand men followed him. Do you think anybody in that country refused?"*</a:t>
            </a:r>
          </a:p>
          <a:p>
            <a:endParaRPr dirty="0"/>
          </a:p>
          <a:p>
            <a:r>
              <a:rPr dirty="0"/>
              <a:t>MAP — Inside the al-</a:t>
            </a:r>
            <a:r>
              <a:rPr dirty="0" err="1"/>
              <a:t>Yamāma</a:t>
            </a:r>
            <a:r>
              <a:rPr dirty="0"/>
              <a:t> country, a **second, small blue marker** beside the large red one — </a:t>
            </a:r>
            <a:r>
              <a:rPr dirty="0" err="1"/>
              <a:t>Thumāma</a:t>
            </a:r>
            <a:r>
              <a:rPr dirty="0"/>
              <a:t> ؓ and the men with him, and </a:t>
            </a:r>
            <a:r>
              <a:rPr dirty="0" err="1"/>
              <a:t>Shuraḥbīl</a:t>
            </a:r>
            <a:r>
              <a:rPr dirty="0"/>
              <a:t> ؓ on the road outside.</a:t>
            </a:r>
          </a:p>
          <a:p>
            <a:endParaRPr dirty="0"/>
          </a:p>
          <a:p>
            <a:r>
              <a:rPr dirty="0"/>
              <a:t>BACKGROUND (read at home, not aloud) —</a:t>
            </a:r>
          </a:p>
          <a:p>
            <a:r>
              <a:rPr dirty="0" err="1"/>
              <a:t>Musaylima</a:t>
            </a:r>
            <a:r>
              <a:rPr dirty="0"/>
              <a:t> was not facing one army. </a:t>
            </a:r>
            <a:r>
              <a:rPr dirty="0" err="1"/>
              <a:t>Thumāma</a:t>
            </a:r>
            <a:r>
              <a:rPr dirty="0"/>
              <a:t> b. </a:t>
            </a:r>
            <a:r>
              <a:rPr dirty="0" err="1"/>
              <a:t>Uthāl</a:t>
            </a:r>
            <a:r>
              <a:rPr dirty="0"/>
              <a:t> al-</a:t>
            </a:r>
            <a:r>
              <a:rPr dirty="0" err="1"/>
              <a:t>Ḥanafī</a:t>
            </a:r>
            <a:r>
              <a:rPr dirty="0"/>
              <a:t> ؓ — of </a:t>
            </a:r>
            <a:r>
              <a:rPr dirty="0" err="1"/>
              <a:t>Banū</a:t>
            </a:r>
            <a:r>
              <a:rPr dirty="0"/>
              <a:t> </a:t>
            </a:r>
            <a:r>
              <a:rPr dirty="0" err="1"/>
              <a:t>Ḥanīfa</a:t>
            </a:r>
            <a:r>
              <a:rPr dirty="0"/>
              <a:t> itself, </a:t>
            </a:r>
            <a:r>
              <a:rPr dirty="0" err="1"/>
              <a:t>Musaylima's</a:t>
            </a:r>
            <a:r>
              <a:rPr dirty="0"/>
              <a:t> own tribe — had been fighting him, with reinforcements reaching him from </a:t>
            </a:r>
            <a:r>
              <a:rPr dirty="0" err="1"/>
              <a:t>Tamīm</a:t>
            </a:r>
            <a:r>
              <a:rPr dirty="0"/>
              <a:t>, until </a:t>
            </a:r>
            <a:r>
              <a:rPr dirty="0" err="1"/>
              <a:t>ʿIkrima</a:t>
            </a:r>
            <a:r>
              <a:rPr dirty="0"/>
              <a:t> b. </a:t>
            </a:r>
            <a:r>
              <a:rPr dirty="0" err="1"/>
              <a:t>Abī</a:t>
            </a:r>
            <a:r>
              <a:rPr dirty="0"/>
              <a:t> Jahl ؓ came up to him. And when </a:t>
            </a:r>
            <a:r>
              <a:rPr dirty="0" err="1"/>
              <a:t>Sajāḥ</a:t>
            </a:r>
            <a:r>
              <a:rPr dirty="0"/>
              <a:t> turned toward al-</a:t>
            </a:r>
            <a:r>
              <a:rPr dirty="0" err="1"/>
              <a:t>Yamāma</a:t>
            </a:r>
            <a:r>
              <a:rPr dirty="0"/>
              <a:t>, what </a:t>
            </a:r>
            <a:r>
              <a:rPr dirty="0" err="1"/>
              <a:t>Musaylima</a:t>
            </a:r>
            <a:r>
              <a:rPr dirty="0"/>
              <a:t> feared was not her: it was that if she tied him up, </a:t>
            </a:r>
            <a:r>
              <a:rPr dirty="0" err="1"/>
              <a:t>Thumāma</a:t>
            </a:r>
            <a:r>
              <a:rPr dirty="0"/>
              <a:t> ؓ and </a:t>
            </a:r>
            <a:r>
              <a:rPr dirty="0" err="1"/>
              <a:t>Shuraḥbīl</a:t>
            </a:r>
            <a:r>
              <a:rPr dirty="0"/>
              <a:t> b. </a:t>
            </a:r>
            <a:r>
              <a:rPr dirty="0" err="1"/>
              <a:t>Ḥasana</a:t>
            </a:r>
            <a:r>
              <a:rPr dirty="0"/>
              <a:t> ؓ and the tribes around them would take </a:t>
            </a:r>
            <a:r>
              <a:rPr dirty="0" err="1"/>
              <a:t>Ḥajr</a:t>
            </a:r>
            <a:r>
              <a:rPr dirty="0"/>
              <a:t> — which is the town of al-</a:t>
            </a:r>
            <a:r>
              <a:rPr dirty="0" err="1"/>
              <a:t>Yamāma</a:t>
            </a:r>
            <a:r>
              <a:rPr dirty="0"/>
              <a:t> — out from under him. So the question a listener is about to ask is already answered: there were Muslims of </a:t>
            </a:r>
            <a:r>
              <a:rPr dirty="0" err="1"/>
              <a:t>Banū</a:t>
            </a:r>
            <a:r>
              <a:rPr dirty="0"/>
              <a:t> </a:t>
            </a:r>
            <a:r>
              <a:rPr dirty="0" err="1"/>
              <a:t>Ḥanīfa</a:t>
            </a:r>
            <a:r>
              <a:rPr dirty="0"/>
              <a:t> fighting </a:t>
            </a:r>
            <a:r>
              <a:rPr dirty="0" err="1"/>
              <a:t>Musaylima</a:t>
            </a:r>
            <a:r>
              <a:rPr dirty="0"/>
              <a:t> before any army arrived from Medina.</a:t>
            </a:r>
          </a:p>
          <a:p>
            <a:endParaRPr dirty="0"/>
          </a:p>
          <a:p>
            <a:r>
              <a:rPr dirty="0"/>
              <a:t>**Also on the page:**</a:t>
            </a:r>
          </a:p>
          <a:p>
            <a:endParaRPr dirty="0"/>
          </a:p>
          <a:p>
            <a:r>
              <a:rPr dirty="0"/>
              <a:t>&gt; </a:t>
            </a:r>
            <a:r>
              <a:rPr dirty="0" err="1"/>
              <a:t>وَكَانَ</a:t>
            </a:r>
            <a:r>
              <a:rPr dirty="0"/>
              <a:t> </a:t>
            </a:r>
            <a:r>
              <a:rPr dirty="0" err="1"/>
              <a:t>ثُمَامَةُ</a:t>
            </a:r>
            <a:r>
              <a:rPr dirty="0"/>
              <a:t> </a:t>
            </a:r>
            <a:r>
              <a:rPr dirty="0" err="1"/>
              <a:t>بْنُ</a:t>
            </a:r>
            <a:r>
              <a:rPr dirty="0"/>
              <a:t> </a:t>
            </a:r>
            <a:r>
              <a:rPr dirty="0" err="1"/>
              <a:t>أُثَالٍ</a:t>
            </a:r>
            <a:r>
              <a:rPr dirty="0"/>
              <a:t> </a:t>
            </a:r>
            <a:r>
              <a:rPr dirty="0" err="1"/>
              <a:t>الْحَنَفِيُّ</a:t>
            </a:r>
            <a:r>
              <a:rPr dirty="0"/>
              <a:t> </a:t>
            </a:r>
            <a:r>
              <a:rPr dirty="0" err="1"/>
              <a:t>تَأْتِيهِ</a:t>
            </a:r>
            <a:r>
              <a:rPr dirty="0"/>
              <a:t> </a:t>
            </a:r>
            <a:r>
              <a:rPr dirty="0" err="1"/>
              <a:t>أَمْدَادُ</a:t>
            </a:r>
            <a:r>
              <a:rPr dirty="0"/>
              <a:t> </a:t>
            </a:r>
            <a:r>
              <a:rPr dirty="0" err="1"/>
              <a:t>تَمِيمٍ</a:t>
            </a:r>
            <a:r>
              <a:rPr dirty="0"/>
              <a:t> … </a:t>
            </a:r>
            <a:r>
              <a:rPr dirty="0" err="1"/>
              <a:t>وَكَانَ</a:t>
            </a:r>
            <a:r>
              <a:rPr dirty="0"/>
              <a:t> </a:t>
            </a:r>
            <a:r>
              <a:rPr dirty="0" err="1"/>
              <a:t>مُقَاتِلًا</a:t>
            </a:r>
            <a:r>
              <a:rPr dirty="0"/>
              <a:t> </a:t>
            </a:r>
            <a:r>
              <a:rPr dirty="0" err="1"/>
              <a:t>لِمُسَيْلِمَةَ</a:t>
            </a:r>
            <a:r>
              <a:rPr dirty="0"/>
              <a:t> </a:t>
            </a:r>
            <a:r>
              <a:rPr dirty="0" err="1"/>
              <a:t>الْكَذَّابِ</a:t>
            </a:r>
            <a:r>
              <a:rPr dirty="0"/>
              <a:t>، </a:t>
            </a:r>
            <a:r>
              <a:rPr dirty="0" err="1"/>
              <a:t>حَتَّى</a:t>
            </a:r>
            <a:r>
              <a:rPr dirty="0"/>
              <a:t> </a:t>
            </a:r>
            <a:r>
              <a:rPr dirty="0" err="1"/>
              <a:t>قَدِمَ</a:t>
            </a:r>
            <a:r>
              <a:rPr dirty="0"/>
              <a:t> </a:t>
            </a:r>
            <a:r>
              <a:rPr dirty="0" err="1"/>
              <a:t>عَلَيْهِ</a:t>
            </a:r>
            <a:r>
              <a:rPr dirty="0"/>
              <a:t> </a:t>
            </a:r>
            <a:r>
              <a:rPr dirty="0" err="1"/>
              <a:t>عِكْرِمَةُ</a:t>
            </a:r>
            <a:r>
              <a:rPr dirty="0"/>
              <a:t> </a:t>
            </a:r>
            <a:r>
              <a:rPr dirty="0" err="1"/>
              <a:t>بْنُ</a:t>
            </a:r>
            <a:r>
              <a:rPr dirty="0"/>
              <a:t> </a:t>
            </a:r>
            <a:r>
              <a:rPr dirty="0" err="1"/>
              <a:t>أَبِي</a:t>
            </a:r>
            <a:r>
              <a:rPr dirty="0"/>
              <a:t> </a:t>
            </a:r>
            <a:r>
              <a:rPr dirty="0" err="1"/>
              <a:t>جَهْلٍ</a:t>
            </a:r>
            <a:endParaRPr dirty="0"/>
          </a:p>
          <a:p>
            <a:r>
              <a:rPr dirty="0"/>
              <a:t>&gt; — </a:t>
            </a:r>
            <a:r>
              <a:rPr dirty="0" err="1"/>
              <a:t>الکامل</a:t>
            </a:r>
            <a:r>
              <a:rPr dirty="0"/>
              <a:t> </a:t>
            </a:r>
            <a:r>
              <a:rPr dirty="0" err="1"/>
              <a:t>فی</a:t>
            </a:r>
            <a:r>
              <a:rPr dirty="0"/>
              <a:t> </a:t>
            </a:r>
            <a:r>
              <a:rPr dirty="0" err="1"/>
              <a:t>التاریخ</a:t>
            </a:r>
            <a:r>
              <a:rPr dirty="0"/>
              <a:t> ج۲ ص۲۱۰ · https://shamela.ws/book/21712/901</a:t>
            </a:r>
          </a:p>
          <a:p>
            <a:r>
              <a:rPr dirty="0"/>
              <a:t>&gt; *English:* "</a:t>
            </a:r>
            <a:r>
              <a:rPr dirty="0" err="1"/>
              <a:t>Thumāma</a:t>
            </a:r>
            <a:r>
              <a:rPr dirty="0"/>
              <a:t> b. </a:t>
            </a:r>
            <a:r>
              <a:rPr dirty="0" err="1"/>
              <a:t>Uthāl</a:t>
            </a:r>
            <a:r>
              <a:rPr dirty="0"/>
              <a:t> al-</a:t>
            </a:r>
            <a:r>
              <a:rPr dirty="0" err="1"/>
              <a:t>Ḥanafī</a:t>
            </a:r>
            <a:r>
              <a:rPr dirty="0"/>
              <a:t> used to receive reinforcements from </a:t>
            </a:r>
            <a:r>
              <a:rPr dirty="0" err="1"/>
              <a:t>Tamīm</a:t>
            </a:r>
            <a:r>
              <a:rPr dirty="0"/>
              <a:t> … and he was</a:t>
            </a:r>
          </a:p>
          <a:p>
            <a:r>
              <a:rPr dirty="0"/>
              <a:t>&gt; fighting </a:t>
            </a:r>
            <a:r>
              <a:rPr dirty="0" err="1"/>
              <a:t>Musaylima</a:t>
            </a:r>
            <a:r>
              <a:rPr dirty="0"/>
              <a:t> the liar, until </a:t>
            </a:r>
            <a:r>
              <a:rPr dirty="0" err="1"/>
              <a:t>ʿIkrima</a:t>
            </a:r>
            <a:r>
              <a:rPr dirty="0"/>
              <a:t> b. </a:t>
            </a:r>
            <a:r>
              <a:rPr dirty="0" err="1"/>
              <a:t>Abī</a:t>
            </a:r>
            <a:r>
              <a:rPr dirty="0"/>
              <a:t> Jahl came up to him."</a:t>
            </a:r>
          </a:p>
          <a:p>
            <a:endParaRPr dirty="0"/>
          </a:p>
          <a:p>
            <a:r>
              <a:rPr dirty="0"/>
              <a:t>**The same page** also carries </a:t>
            </a:r>
            <a:r>
              <a:rPr dirty="0" err="1"/>
              <a:t>Sajāḥ's</a:t>
            </a:r>
            <a:r>
              <a:rPr dirty="0"/>
              <a:t> dealing with </a:t>
            </a:r>
            <a:r>
              <a:rPr dirty="0" err="1"/>
              <a:t>Mālik</a:t>
            </a:r>
            <a:r>
              <a:rPr dirty="0"/>
              <a:t> b. </a:t>
            </a:r>
            <a:r>
              <a:rPr dirty="0" err="1"/>
              <a:t>Nuwayra</a:t>
            </a:r>
            <a:r>
              <a:rPr dirty="0"/>
              <a:t> ؓ — she sent to him asking for a</a:t>
            </a:r>
          </a:p>
          <a:p>
            <a:r>
              <a:rPr dirty="0"/>
              <a:t>truce, he answered her and turned her away from marching on </a:t>
            </a:r>
            <a:r>
              <a:rPr dirty="0" err="1"/>
              <a:t>Abū</a:t>
            </a:r>
            <a:r>
              <a:rPr dirty="0"/>
              <a:t> Bakr ؓ. That is the page-cited basis</a:t>
            </a:r>
          </a:p>
          <a:p>
            <a:r>
              <a:rPr dirty="0"/>
              <a:t>for what `E-RC45` says about him. **</a:t>
            </a:r>
            <a:r>
              <a:rPr dirty="0" err="1"/>
              <a:t>ثمامة</a:t>
            </a:r>
            <a:r>
              <a:rPr dirty="0"/>
              <a:t> ؓ's own story** — the captive tied to the pillar of the</a:t>
            </a:r>
          </a:p>
          <a:p>
            <a:r>
              <a:rPr dirty="0"/>
              <a:t>mosque, and the grain of al-</a:t>
            </a:r>
            <a:r>
              <a:rPr dirty="0" err="1"/>
              <a:t>Yamāma</a:t>
            </a:r>
            <a:r>
              <a:rPr dirty="0"/>
              <a:t> — is `RCT/E-RC28`, held for a later evening. One sentence at most</a:t>
            </a:r>
          </a:p>
          <a:p>
            <a:r>
              <a:rPr dirty="0"/>
              <a:t>here.</a:t>
            </a:r>
          </a:p>
          <a:p>
            <a:endParaRPr dirty="0"/>
          </a:p>
          <a:p>
            <a:r>
              <a:rPr dirty="0"/>
              <a:t>WHEN, as the card gives it: 11 AH, before </a:t>
            </a:r>
            <a:r>
              <a:rPr dirty="0" err="1"/>
              <a:t>Khālid</a:t>
            </a:r>
            <a:r>
              <a:rPr dirty="0"/>
              <a:t> ؓ arrived</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BRIDGE — say:</a:t>
            </a:r>
          </a:p>
          <a:p>
            <a:r>
              <a:rPr dirty="0"/>
              <a:t>We left </a:t>
            </a:r>
            <a:r>
              <a:rPr dirty="0" err="1"/>
              <a:t>Khālid</a:t>
            </a:r>
            <a:r>
              <a:rPr dirty="0"/>
              <a:t> ؓ at </a:t>
            </a:r>
            <a:r>
              <a:rPr dirty="0" err="1"/>
              <a:t>Buzākha</a:t>
            </a:r>
            <a:r>
              <a:rPr dirty="0"/>
              <a:t>. His orders, tied at </a:t>
            </a:r>
            <a:r>
              <a:rPr dirty="0" err="1"/>
              <a:t>Dhū</a:t>
            </a:r>
            <a:r>
              <a:rPr dirty="0"/>
              <a:t> al-</a:t>
            </a:r>
            <a:r>
              <a:rPr dirty="0" err="1"/>
              <a:t>Qaṣṣa</a:t>
            </a:r>
            <a:r>
              <a:rPr dirty="0"/>
              <a:t>, were </a:t>
            </a:r>
            <a:r>
              <a:rPr dirty="0" err="1"/>
              <a:t>Ṭulayḥa</a:t>
            </a:r>
            <a:r>
              <a:rPr dirty="0"/>
              <a:t> first — and when he had finished, </a:t>
            </a:r>
            <a:r>
              <a:rPr dirty="0" err="1"/>
              <a:t>Mālik</a:t>
            </a:r>
            <a:r>
              <a:rPr dirty="0"/>
              <a:t> b. </a:t>
            </a:r>
            <a:r>
              <a:rPr dirty="0" err="1"/>
              <a:t>Nuwayra</a:t>
            </a:r>
            <a:r>
              <a:rPr dirty="0"/>
              <a:t> ؓ at al-</a:t>
            </a:r>
            <a:r>
              <a:rPr dirty="0" err="1"/>
              <a:t>Buṭāḥ</a:t>
            </a:r>
            <a:r>
              <a:rPr dirty="0"/>
              <a:t>, if he held out against him. </a:t>
            </a:r>
            <a:r>
              <a:rPr dirty="0" err="1"/>
              <a:t>Buzākha</a:t>
            </a:r>
            <a:r>
              <a:rPr dirty="0"/>
              <a:t> was done. So the army turns towards al-</a:t>
            </a:r>
            <a:r>
              <a:rPr dirty="0" err="1"/>
              <a:t>Buṭāḥ</a:t>
            </a:r>
            <a:r>
              <a:rPr dirty="0"/>
              <a:t>.</a:t>
            </a:r>
          </a:p>
          <a:p>
            <a:r>
              <a:rPr dirty="0"/>
              <a:t>The orders, al-</a:t>
            </a:r>
            <a:r>
              <a:rPr dirty="0" err="1"/>
              <a:t>Bidāya</a:t>
            </a:r>
            <a:r>
              <a:rPr dirty="0"/>
              <a:t> vol. 7 p. 22: «</a:t>
            </a:r>
            <a:r>
              <a:rPr dirty="0" err="1"/>
              <a:t>عقدَ</a:t>
            </a:r>
            <a:r>
              <a:rPr dirty="0"/>
              <a:t> </a:t>
            </a:r>
            <a:r>
              <a:rPr dirty="0" err="1"/>
              <a:t>لخالد</a:t>
            </a:r>
            <a:r>
              <a:rPr dirty="0"/>
              <a:t> </a:t>
            </a:r>
            <a:r>
              <a:rPr dirty="0" err="1"/>
              <a:t>بن</a:t>
            </a:r>
            <a:r>
              <a:rPr dirty="0"/>
              <a:t> </a:t>
            </a:r>
            <a:r>
              <a:rPr dirty="0" err="1"/>
              <a:t>الوليد</a:t>
            </a:r>
            <a:r>
              <a:rPr dirty="0"/>
              <a:t> </a:t>
            </a:r>
            <a:r>
              <a:rPr dirty="0" err="1"/>
              <a:t>وأمره</a:t>
            </a:r>
            <a:r>
              <a:rPr dirty="0"/>
              <a:t> </a:t>
            </a:r>
            <a:r>
              <a:rPr dirty="0" err="1"/>
              <a:t>بطُلَيْحة</a:t>
            </a:r>
            <a:r>
              <a:rPr dirty="0"/>
              <a:t> </a:t>
            </a:r>
            <a:r>
              <a:rPr dirty="0" err="1"/>
              <a:t>بن</a:t>
            </a:r>
            <a:r>
              <a:rPr dirty="0"/>
              <a:t> </a:t>
            </a:r>
            <a:r>
              <a:rPr dirty="0" err="1"/>
              <a:t>خُوَيْلد</a:t>
            </a:r>
            <a:r>
              <a:rPr dirty="0"/>
              <a:t>، </a:t>
            </a:r>
            <a:r>
              <a:rPr dirty="0" err="1"/>
              <a:t>فإذا</a:t>
            </a:r>
            <a:r>
              <a:rPr dirty="0"/>
              <a:t> </a:t>
            </a:r>
            <a:r>
              <a:rPr dirty="0" err="1"/>
              <a:t>فرغَ</a:t>
            </a:r>
            <a:r>
              <a:rPr dirty="0"/>
              <a:t> </a:t>
            </a:r>
            <a:r>
              <a:rPr dirty="0" err="1"/>
              <a:t>سار</a:t>
            </a:r>
            <a:r>
              <a:rPr dirty="0"/>
              <a:t> </a:t>
            </a:r>
            <a:r>
              <a:rPr dirty="0" err="1"/>
              <a:t>إلى</a:t>
            </a:r>
            <a:r>
              <a:rPr dirty="0"/>
              <a:t> </a:t>
            </a:r>
            <a:r>
              <a:rPr dirty="0" err="1"/>
              <a:t>مالك</a:t>
            </a:r>
            <a:r>
              <a:rPr dirty="0"/>
              <a:t> </a:t>
            </a:r>
            <a:r>
              <a:rPr dirty="0" err="1"/>
              <a:t>بن</a:t>
            </a:r>
            <a:r>
              <a:rPr dirty="0"/>
              <a:t> </a:t>
            </a:r>
            <a:r>
              <a:rPr dirty="0" err="1"/>
              <a:t>نُوَيْرَةَ</a:t>
            </a:r>
            <a:r>
              <a:rPr dirty="0"/>
              <a:t> </a:t>
            </a:r>
            <a:r>
              <a:rPr dirty="0" err="1"/>
              <a:t>بالبطاح</a:t>
            </a:r>
            <a:r>
              <a:rPr dirty="0"/>
              <a:t> </a:t>
            </a:r>
            <a:r>
              <a:rPr dirty="0" err="1"/>
              <a:t>إن</a:t>
            </a:r>
            <a:r>
              <a:rPr dirty="0"/>
              <a:t> </a:t>
            </a:r>
            <a:r>
              <a:rPr dirty="0" err="1"/>
              <a:t>أقام</a:t>
            </a:r>
            <a:r>
              <a:rPr dirty="0"/>
              <a:t> </a:t>
            </a:r>
            <a:r>
              <a:rPr dirty="0" err="1"/>
              <a:t>له</a:t>
            </a:r>
            <a:r>
              <a:rPr dirty="0"/>
              <a:t>» (https://shamela.ws/book/30097/3168).</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MAP: tools/</a:t>
            </a:r>
            <a:r>
              <a:rPr dirty="0" err="1"/>
              <a:t>mapstudio</a:t>
            </a:r>
            <a:r>
              <a:rPr dirty="0"/>
              <a:t>/scenes/s04-03-buzakha-to-al-butah.json at step 2,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RUNSHEET: Opens the part. </a:t>
            </a:r>
            <a:r>
              <a:rPr dirty="0" err="1"/>
              <a:t>Khālid</a:t>
            </a:r>
            <a:r>
              <a:rPr dirty="0"/>
              <a:t> ؓ comes here straight from </a:t>
            </a:r>
            <a:r>
              <a:rPr dirty="0" err="1"/>
              <a:t>Buzākha</a:t>
            </a:r>
            <a:r>
              <a:rPr dirty="0"/>
              <a:t>, where evening 2 stopped</a:t>
            </a:r>
          </a:p>
          <a:p>
            <a:endParaRPr dirty="0"/>
          </a:p>
          <a:p>
            <a:r>
              <a:rPr dirty="0"/>
              <a:t>SAY —</a:t>
            </a:r>
          </a:p>
          <a:p>
            <a:r>
              <a:rPr dirty="0"/>
              <a:t>1. The orders named a third stop — al-</a:t>
            </a:r>
            <a:r>
              <a:rPr dirty="0" err="1"/>
              <a:t>Buṭāḥ</a:t>
            </a:r>
            <a:r>
              <a:rPr dirty="0"/>
              <a:t>, in the </a:t>
            </a:r>
            <a:r>
              <a:rPr dirty="0" err="1"/>
              <a:t>Tamīm</a:t>
            </a:r>
            <a:r>
              <a:rPr dirty="0"/>
              <a:t> country, was written into </a:t>
            </a:r>
            <a:r>
              <a:rPr dirty="0" err="1"/>
              <a:t>Khālid's</a:t>
            </a:r>
            <a:r>
              <a:rPr dirty="0"/>
              <a:t> ؓ instructions.</a:t>
            </a:r>
            <a:endParaRPr lang="en-US" dirty="0"/>
          </a:p>
          <a:p>
            <a:endParaRPr dirty="0"/>
          </a:p>
          <a:p>
            <a:r>
              <a:rPr dirty="0"/>
              <a:t>2. The </a:t>
            </a:r>
            <a:r>
              <a:rPr dirty="0" err="1"/>
              <a:t>Anṣār</a:t>
            </a:r>
            <a:r>
              <a:rPr dirty="0"/>
              <a:t> refuse to march — They said they had done what they were ordered to do, and their part was finished.</a:t>
            </a:r>
          </a:p>
          <a:p>
            <a:endParaRPr lang="en-US" dirty="0"/>
          </a:p>
          <a:p>
            <a:r>
              <a:rPr dirty="0"/>
              <a:t>3. "I am the commander" — No letter had come; the reports came to him; the decision was his to take.</a:t>
            </a:r>
          </a:p>
          <a:p>
            <a:endParaRPr lang="en-US" dirty="0"/>
          </a:p>
          <a:p>
            <a:r>
              <a:rPr dirty="0"/>
              <a:t>4. And he would not compel them — He told them plainly he would not force any man onto the road.</a:t>
            </a:r>
          </a:p>
          <a:p>
            <a:r>
              <a:rPr dirty="0"/>
              <a:t>   ^ read the Arabic on the face here</a:t>
            </a:r>
          </a:p>
          <a:p>
            <a:endParaRPr lang="en-US" dirty="0"/>
          </a:p>
          <a:p>
            <a:r>
              <a:rPr dirty="0"/>
              <a:t>5. He marched without them — Two days later their messenger caught him and asked him to wait.</a:t>
            </a:r>
          </a:p>
          <a:p>
            <a:endParaRPr dirty="0"/>
          </a:p>
          <a:p>
            <a:r>
              <a:rPr dirty="0"/>
              <a:t>QUOTE — </a:t>
            </a:r>
            <a:r>
              <a:rPr dirty="0" err="1"/>
              <a:t>قَدْ</a:t>
            </a:r>
            <a:r>
              <a:rPr dirty="0"/>
              <a:t> </a:t>
            </a:r>
            <a:r>
              <a:rPr dirty="0" err="1"/>
              <a:t>عَهِدَ</a:t>
            </a:r>
            <a:r>
              <a:rPr dirty="0"/>
              <a:t> </a:t>
            </a:r>
            <a:r>
              <a:rPr dirty="0" err="1"/>
              <a:t>إِلَيَّ</a:t>
            </a:r>
            <a:r>
              <a:rPr dirty="0"/>
              <a:t> </a:t>
            </a:r>
            <a:r>
              <a:rPr dirty="0" err="1"/>
              <a:t>أَنْ</a:t>
            </a:r>
            <a:r>
              <a:rPr dirty="0"/>
              <a:t> </a:t>
            </a:r>
            <a:r>
              <a:rPr dirty="0" err="1"/>
              <a:t>أَمْضِيَ</a:t>
            </a:r>
            <a:r>
              <a:rPr dirty="0"/>
              <a:t>، </a:t>
            </a:r>
            <a:r>
              <a:rPr dirty="0" err="1"/>
              <a:t>وَأَنَا</a:t>
            </a:r>
            <a:r>
              <a:rPr dirty="0"/>
              <a:t> </a:t>
            </a:r>
            <a:r>
              <a:rPr dirty="0" err="1"/>
              <a:t>الْأَمِيرُ</a:t>
            </a:r>
            <a:r>
              <a:rPr dirty="0"/>
              <a:t> … </a:t>
            </a:r>
            <a:r>
              <a:rPr dirty="0" err="1"/>
              <a:t>فَأَنَا</a:t>
            </a:r>
            <a:r>
              <a:rPr dirty="0"/>
              <a:t> </a:t>
            </a:r>
            <a:r>
              <a:rPr dirty="0" err="1"/>
              <a:t>قَاصِدٌ</a:t>
            </a:r>
            <a:r>
              <a:rPr dirty="0"/>
              <a:t> </a:t>
            </a:r>
            <a:r>
              <a:rPr dirty="0" err="1"/>
              <a:t>إِلَى</a:t>
            </a:r>
            <a:r>
              <a:rPr dirty="0"/>
              <a:t> </a:t>
            </a:r>
            <a:r>
              <a:rPr dirty="0" err="1"/>
              <a:t>مَالِكٍ</a:t>
            </a:r>
            <a:r>
              <a:rPr dirty="0"/>
              <a:t> </a:t>
            </a:r>
            <a:r>
              <a:rPr dirty="0" err="1"/>
              <a:t>وَمَنْ</a:t>
            </a:r>
            <a:r>
              <a:rPr dirty="0"/>
              <a:t> </a:t>
            </a:r>
            <a:r>
              <a:rPr dirty="0" err="1"/>
              <a:t>مَعِي</a:t>
            </a:r>
            <a:r>
              <a:rPr dirty="0"/>
              <a:t>، </a:t>
            </a:r>
            <a:r>
              <a:rPr dirty="0" err="1"/>
              <a:t>وَلَسْتُ</a:t>
            </a:r>
            <a:r>
              <a:rPr dirty="0"/>
              <a:t> </a:t>
            </a:r>
            <a:r>
              <a:rPr dirty="0" err="1"/>
              <a:t>أُكْرِهُهُمْ</a:t>
            </a:r>
            <a:r>
              <a:rPr dirty="0"/>
              <a:t>.</a:t>
            </a:r>
          </a:p>
          <a:p>
            <a:r>
              <a:rPr dirty="0"/>
              <a:t>"He instructed me to go on, and I am the commander … So I am making for </a:t>
            </a:r>
            <a:r>
              <a:rPr dirty="0" err="1"/>
              <a:t>Mālik</a:t>
            </a:r>
            <a:r>
              <a:rPr dirty="0"/>
              <a:t>, with whoever is with me — and I do not compel them."</a:t>
            </a:r>
          </a:p>
          <a:p>
            <a:r>
              <a:rPr dirty="0"/>
              <a:t>— </a:t>
            </a:r>
            <a:r>
              <a:rPr dirty="0" err="1"/>
              <a:t>الکامل</a:t>
            </a:r>
            <a:r>
              <a:rPr dirty="0"/>
              <a:t> </a:t>
            </a:r>
            <a:r>
              <a:rPr dirty="0" err="1"/>
              <a:t>فی</a:t>
            </a:r>
            <a:r>
              <a:rPr dirty="0"/>
              <a:t> </a:t>
            </a:r>
            <a:r>
              <a:rPr dirty="0" err="1"/>
              <a:t>التاریخ</a:t>
            </a:r>
            <a:r>
              <a:rPr dirty="0"/>
              <a:t> ج۲ ص۲۱۲</a:t>
            </a:r>
          </a:p>
          <a:p>
            <a:endParaRPr dirty="0"/>
          </a:p>
          <a:p>
            <a:r>
              <a:rPr dirty="0" err="1"/>
              <a:t>عبرت</a:t>
            </a:r>
            <a:r>
              <a:rPr dirty="0"/>
              <a:t> — A commander who could not be argued out of a decision also would not force a single man to share it.</a:t>
            </a:r>
          </a:p>
          <a:p>
            <a:endParaRPr dirty="0"/>
          </a:p>
          <a:p>
            <a:r>
              <a:rPr dirty="0"/>
              <a:t>MAP — </a:t>
            </a:r>
            <a:r>
              <a:rPr dirty="0" err="1"/>
              <a:t>Khālid's</a:t>
            </a:r>
            <a:r>
              <a:rPr dirty="0"/>
              <a:t> ؓ arrow continues from </a:t>
            </a:r>
            <a:r>
              <a:rPr dirty="0" err="1"/>
              <a:t>بُزاخة</a:t>
            </a:r>
            <a:r>
              <a:rPr dirty="0"/>
              <a:t> south-east to **</a:t>
            </a:r>
            <a:r>
              <a:rPr dirty="0" err="1"/>
              <a:t>البُطاح</a:t>
            </a:r>
            <a:r>
              <a:rPr dirty="0"/>
              <a:t>**, in the </a:t>
            </a:r>
            <a:r>
              <a:rPr dirty="0" err="1"/>
              <a:t>Tamīm</a:t>
            </a:r>
            <a:r>
              <a:rPr dirty="0"/>
              <a:t> country. Draw the </a:t>
            </a:r>
            <a:r>
              <a:rPr dirty="0" err="1"/>
              <a:t>Anṣār</a:t>
            </a:r>
            <a:r>
              <a:rPr dirty="0"/>
              <a:t> contingent detached from it for two days, then rejoining.</a:t>
            </a:r>
          </a:p>
          <a:p>
            <a:endParaRPr dirty="0"/>
          </a:p>
          <a:p>
            <a:r>
              <a:rPr dirty="0"/>
              <a:t>BACKGROUND (read at home, not aloud) —</a:t>
            </a:r>
          </a:p>
          <a:p>
            <a:r>
              <a:rPr dirty="0" err="1"/>
              <a:t>Khālid's</a:t>
            </a:r>
            <a:r>
              <a:rPr dirty="0"/>
              <a:t> ؓ written orders had named al-</a:t>
            </a:r>
            <a:r>
              <a:rPr dirty="0" err="1"/>
              <a:t>Buṭāḥ</a:t>
            </a:r>
            <a:r>
              <a:rPr dirty="0"/>
              <a:t> as his third stop. The </a:t>
            </a:r>
            <a:r>
              <a:rPr dirty="0" err="1"/>
              <a:t>Anṣār</a:t>
            </a:r>
            <a:r>
              <a:rPr dirty="0"/>
              <a:t> with him refused to march: they said they had already done what the </a:t>
            </a:r>
            <a:r>
              <a:rPr dirty="0" err="1"/>
              <a:t>Ṣiddīq</a:t>
            </a:r>
            <a:r>
              <a:rPr dirty="0"/>
              <a:t> ؓ ordered them to do, and their part was finished. </a:t>
            </a:r>
            <a:r>
              <a:rPr dirty="0" err="1"/>
              <a:t>Khālid</a:t>
            </a:r>
            <a:r>
              <a:rPr dirty="0"/>
              <a:t> ؓ did not argue it as a point of obedience. He said this was a thing that had to be done and an opening that had to be taken; that no letter had come to him about it; that he was the commander and the reports came to him; that he would not force any man onto the road — and that he was going to al-</a:t>
            </a:r>
            <a:r>
              <a:rPr dirty="0" err="1"/>
              <a:t>Buṭāḥ</a:t>
            </a:r>
            <a:r>
              <a:rPr dirty="0"/>
              <a:t>. He marched. Two days out, their messenger caught him and asked him to wait, and they rejoined him.</a:t>
            </a:r>
          </a:p>
          <a:p>
            <a:endParaRPr dirty="0"/>
          </a:p>
          <a:p>
            <a:r>
              <a:rPr dirty="0"/>
              <a:t>**Also on the page:**</a:t>
            </a:r>
          </a:p>
          <a:p>
            <a:endParaRPr dirty="0"/>
          </a:p>
          <a:p>
            <a:r>
              <a:rPr dirty="0"/>
              <a:t>&gt; </a:t>
            </a:r>
            <a:r>
              <a:rPr dirty="0" err="1"/>
              <a:t>فقال</a:t>
            </a:r>
            <a:r>
              <a:rPr dirty="0"/>
              <a:t> </a:t>
            </a:r>
            <a:r>
              <a:rPr dirty="0" err="1"/>
              <a:t>لهم</a:t>
            </a:r>
            <a:r>
              <a:rPr dirty="0"/>
              <a:t> </a:t>
            </a:r>
            <a:r>
              <a:rPr dirty="0" err="1"/>
              <a:t>خالد</a:t>
            </a:r>
            <a:r>
              <a:rPr dirty="0"/>
              <a:t>: </a:t>
            </a:r>
            <a:r>
              <a:rPr dirty="0" err="1"/>
              <a:t>إن</a:t>
            </a:r>
            <a:r>
              <a:rPr dirty="0"/>
              <a:t> </a:t>
            </a:r>
            <a:r>
              <a:rPr dirty="0" err="1"/>
              <a:t>هذا</a:t>
            </a:r>
            <a:r>
              <a:rPr dirty="0"/>
              <a:t> </a:t>
            </a:r>
            <a:r>
              <a:rPr dirty="0" err="1"/>
              <a:t>أمرٌ</a:t>
            </a:r>
            <a:r>
              <a:rPr dirty="0"/>
              <a:t> </a:t>
            </a:r>
            <a:r>
              <a:rPr dirty="0" err="1"/>
              <a:t>لا</a:t>
            </a:r>
            <a:r>
              <a:rPr dirty="0"/>
              <a:t> </a:t>
            </a:r>
            <a:r>
              <a:rPr dirty="0" err="1"/>
              <a:t>بدَّ</a:t>
            </a:r>
            <a:r>
              <a:rPr dirty="0"/>
              <a:t> </a:t>
            </a:r>
            <a:r>
              <a:rPr dirty="0" err="1"/>
              <a:t>من</a:t>
            </a:r>
            <a:r>
              <a:rPr dirty="0"/>
              <a:t> </a:t>
            </a:r>
            <a:r>
              <a:rPr dirty="0" err="1"/>
              <a:t>فعله</a:t>
            </a:r>
            <a:r>
              <a:rPr dirty="0"/>
              <a:t>، </a:t>
            </a:r>
            <a:r>
              <a:rPr dirty="0" err="1"/>
              <a:t>وفرصةٌ</a:t>
            </a:r>
            <a:r>
              <a:rPr dirty="0"/>
              <a:t> </a:t>
            </a:r>
            <a:r>
              <a:rPr dirty="0" err="1"/>
              <a:t>لابدَّ</a:t>
            </a:r>
            <a:r>
              <a:rPr dirty="0"/>
              <a:t> </a:t>
            </a:r>
            <a:r>
              <a:rPr dirty="0" err="1"/>
              <a:t>من</a:t>
            </a:r>
            <a:r>
              <a:rPr dirty="0"/>
              <a:t> </a:t>
            </a:r>
            <a:r>
              <a:rPr dirty="0" err="1"/>
              <a:t>انتهازها</a:t>
            </a:r>
            <a:r>
              <a:rPr dirty="0"/>
              <a:t>، </a:t>
            </a:r>
            <a:r>
              <a:rPr dirty="0" err="1"/>
              <a:t>وإنه</a:t>
            </a:r>
            <a:r>
              <a:rPr dirty="0"/>
              <a:t> </a:t>
            </a:r>
            <a:r>
              <a:rPr dirty="0" err="1"/>
              <a:t>لم</a:t>
            </a:r>
            <a:r>
              <a:rPr dirty="0"/>
              <a:t> </a:t>
            </a:r>
            <a:r>
              <a:rPr dirty="0" err="1"/>
              <a:t>يأتني</a:t>
            </a:r>
            <a:r>
              <a:rPr dirty="0"/>
              <a:t> </a:t>
            </a:r>
            <a:r>
              <a:rPr dirty="0" err="1"/>
              <a:t>فيها</a:t>
            </a:r>
            <a:r>
              <a:rPr dirty="0"/>
              <a:t> </a:t>
            </a:r>
            <a:r>
              <a:rPr dirty="0" err="1"/>
              <a:t>كتابٌ</a:t>
            </a:r>
            <a:r>
              <a:rPr dirty="0"/>
              <a:t>، </a:t>
            </a:r>
            <a:r>
              <a:rPr dirty="0" err="1"/>
              <a:t>وأنا</a:t>
            </a:r>
            <a:r>
              <a:rPr dirty="0"/>
              <a:t> </a:t>
            </a:r>
            <a:r>
              <a:rPr dirty="0" err="1"/>
              <a:t>الأمير</a:t>
            </a:r>
            <a:r>
              <a:rPr dirty="0"/>
              <a:t> </a:t>
            </a:r>
            <a:r>
              <a:rPr dirty="0" err="1"/>
              <a:t>وإليّ</a:t>
            </a:r>
            <a:r>
              <a:rPr dirty="0"/>
              <a:t> </a:t>
            </a:r>
            <a:r>
              <a:rPr dirty="0" err="1"/>
              <a:t>تردُ</a:t>
            </a:r>
            <a:r>
              <a:rPr dirty="0"/>
              <a:t> </a:t>
            </a:r>
            <a:r>
              <a:rPr dirty="0" err="1"/>
              <a:t>الأخبارُ</a:t>
            </a:r>
            <a:r>
              <a:rPr dirty="0"/>
              <a:t>، </a:t>
            </a:r>
            <a:r>
              <a:rPr dirty="0" err="1"/>
              <a:t>ولست</a:t>
            </a:r>
            <a:r>
              <a:rPr dirty="0"/>
              <a:t> </a:t>
            </a:r>
            <a:r>
              <a:rPr dirty="0" err="1"/>
              <a:t>بالذي</a:t>
            </a:r>
            <a:r>
              <a:rPr dirty="0"/>
              <a:t> </a:t>
            </a:r>
            <a:r>
              <a:rPr dirty="0" err="1"/>
              <a:t>أجبركم</a:t>
            </a:r>
            <a:r>
              <a:rPr dirty="0"/>
              <a:t> </a:t>
            </a:r>
            <a:r>
              <a:rPr dirty="0" err="1"/>
              <a:t>على</a:t>
            </a:r>
            <a:r>
              <a:rPr dirty="0"/>
              <a:t> </a:t>
            </a:r>
            <a:r>
              <a:rPr dirty="0" err="1"/>
              <a:t>المسير</a:t>
            </a:r>
            <a:r>
              <a:rPr dirty="0"/>
              <a:t>، </a:t>
            </a:r>
            <a:r>
              <a:rPr dirty="0" err="1"/>
              <a:t>وأنا</a:t>
            </a:r>
            <a:r>
              <a:rPr dirty="0"/>
              <a:t> </a:t>
            </a:r>
            <a:r>
              <a:rPr dirty="0" err="1"/>
              <a:t>قاصدٌ</a:t>
            </a:r>
            <a:r>
              <a:rPr dirty="0"/>
              <a:t> </a:t>
            </a:r>
            <a:r>
              <a:rPr dirty="0" err="1"/>
              <a:t>البطاحَ</a:t>
            </a:r>
            <a:endParaRPr dirty="0"/>
          </a:p>
          <a:p>
            <a:r>
              <a:rPr dirty="0"/>
              <a:t>&gt; — </a:t>
            </a:r>
            <a:r>
              <a:rPr dirty="0" err="1"/>
              <a:t>البدایہ</a:t>
            </a:r>
            <a:r>
              <a:rPr dirty="0"/>
              <a:t> </a:t>
            </a:r>
            <a:r>
              <a:rPr dirty="0" err="1"/>
              <a:t>والنہایہ</a:t>
            </a:r>
            <a:r>
              <a:rPr dirty="0"/>
              <a:t> ج۷ ص۳۰ · https://shamela.ws/book/30097/3176</a:t>
            </a:r>
          </a:p>
          <a:p>
            <a:r>
              <a:rPr dirty="0"/>
              <a:t>&gt; *English:* "</a:t>
            </a:r>
            <a:r>
              <a:rPr dirty="0" err="1"/>
              <a:t>Khālid</a:t>
            </a:r>
            <a:r>
              <a:rPr dirty="0"/>
              <a:t> said to them: This is a thing that must be done and an opening that must be</a:t>
            </a:r>
          </a:p>
          <a:p>
            <a:r>
              <a:rPr dirty="0"/>
              <a:t>&gt; taken, and no letter has come to me about it. I am the commander and the reports come to me. I am</a:t>
            </a:r>
          </a:p>
          <a:p>
            <a:r>
              <a:rPr dirty="0"/>
              <a:t>&gt; not the man to force you onto the road — and I am making for al-</a:t>
            </a:r>
            <a:r>
              <a:rPr dirty="0" err="1"/>
              <a:t>Buṭāḥ</a:t>
            </a:r>
            <a:r>
              <a:rPr dirty="0"/>
              <a:t>."</a:t>
            </a:r>
          </a:p>
          <a:p>
            <a:endParaRPr dirty="0"/>
          </a:p>
          <a:p>
            <a:r>
              <a:rPr dirty="0"/>
              <a:t>&gt; </a:t>
            </a:r>
            <a:r>
              <a:rPr dirty="0" err="1"/>
              <a:t>فسارَ</a:t>
            </a:r>
            <a:r>
              <a:rPr dirty="0"/>
              <a:t> </a:t>
            </a:r>
            <a:r>
              <a:rPr dirty="0" err="1"/>
              <a:t>يومين</a:t>
            </a:r>
            <a:r>
              <a:rPr dirty="0"/>
              <a:t> </a:t>
            </a:r>
            <a:r>
              <a:rPr dirty="0" err="1"/>
              <a:t>ثم</a:t>
            </a:r>
            <a:r>
              <a:rPr dirty="0"/>
              <a:t> </a:t>
            </a:r>
            <a:r>
              <a:rPr dirty="0" err="1"/>
              <a:t>لحقَهُ</a:t>
            </a:r>
            <a:r>
              <a:rPr dirty="0"/>
              <a:t> </a:t>
            </a:r>
            <a:r>
              <a:rPr dirty="0" err="1"/>
              <a:t>رسول</a:t>
            </a:r>
            <a:r>
              <a:rPr dirty="0"/>
              <a:t> </a:t>
            </a:r>
            <a:r>
              <a:rPr dirty="0" err="1"/>
              <a:t>الأنصار</a:t>
            </a:r>
            <a:r>
              <a:rPr dirty="0"/>
              <a:t> </a:t>
            </a:r>
            <a:r>
              <a:rPr dirty="0" err="1"/>
              <a:t>يطلبون</a:t>
            </a:r>
            <a:r>
              <a:rPr dirty="0"/>
              <a:t> </a:t>
            </a:r>
            <a:r>
              <a:rPr dirty="0" err="1"/>
              <a:t>منه</a:t>
            </a:r>
            <a:r>
              <a:rPr dirty="0"/>
              <a:t> </a:t>
            </a:r>
            <a:r>
              <a:rPr dirty="0" err="1"/>
              <a:t>الانتظار</a:t>
            </a:r>
            <a:r>
              <a:rPr dirty="0"/>
              <a:t>، </a:t>
            </a:r>
            <a:r>
              <a:rPr dirty="0" err="1"/>
              <a:t>فلحقوا</a:t>
            </a:r>
            <a:r>
              <a:rPr dirty="0"/>
              <a:t> </a:t>
            </a:r>
            <a:r>
              <a:rPr dirty="0" err="1"/>
              <a:t>به</a:t>
            </a:r>
            <a:endParaRPr dirty="0"/>
          </a:p>
          <a:p>
            <a:r>
              <a:rPr dirty="0"/>
              <a:t>&gt; — </a:t>
            </a:r>
            <a:r>
              <a:rPr dirty="0" err="1"/>
              <a:t>البدایہ</a:t>
            </a:r>
            <a:r>
              <a:rPr dirty="0"/>
              <a:t> </a:t>
            </a:r>
            <a:r>
              <a:rPr dirty="0" err="1"/>
              <a:t>والنہایہ</a:t>
            </a:r>
            <a:r>
              <a:rPr dirty="0"/>
              <a:t> ج۷ ص۳۰ · https://shamela.ws/book/30097/3176</a:t>
            </a:r>
          </a:p>
          <a:p>
            <a:r>
              <a:rPr dirty="0"/>
              <a:t>&gt; *English:* "He marched two days, and then the messenger of the </a:t>
            </a:r>
            <a:r>
              <a:rPr dirty="0" err="1"/>
              <a:t>Anṣār</a:t>
            </a:r>
            <a:r>
              <a:rPr dirty="0"/>
              <a:t> caught him asking him to wait;</a:t>
            </a:r>
          </a:p>
          <a:p>
            <a:r>
              <a:rPr dirty="0"/>
              <a:t>&gt; and they rejoined him."</a:t>
            </a:r>
          </a:p>
          <a:p>
            <a:endParaRPr dirty="0"/>
          </a:p>
          <a:p>
            <a:r>
              <a:rPr dirty="0"/>
              <a:t>WHEN, as the card gives it: 11 AH</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SAY —</a:t>
            </a:r>
          </a:p>
          <a:p>
            <a:r>
              <a:rPr dirty="0"/>
              <a:t>1. Who he was — A chief of </a:t>
            </a:r>
            <a:r>
              <a:rPr dirty="0" err="1"/>
              <a:t>Banū</a:t>
            </a:r>
            <a:r>
              <a:rPr dirty="0"/>
              <a:t> </a:t>
            </a:r>
            <a:r>
              <a:rPr dirty="0" err="1"/>
              <a:t>Yarbūʿ</a:t>
            </a:r>
            <a:r>
              <a:rPr dirty="0"/>
              <a:t> of </a:t>
            </a:r>
            <a:r>
              <a:rPr dirty="0" err="1"/>
              <a:t>Tamīm</a:t>
            </a:r>
            <a:r>
              <a:rPr dirty="0"/>
              <a:t>, at a place called al-</a:t>
            </a:r>
            <a:r>
              <a:rPr dirty="0" err="1"/>
              <a:t>Buṭāḥ</a:t>
            </a:r>
            <a:r>
              <a:rPr dirty="0"/>
              <a:t>.</a:t>
            </a:r>
            <a:endParaRPr lang="en-US" dirty="0"/>
          </a:p>
          <a:p>
            <a:endParaRPr dirty="0"/>
          </a:p>
          <a:p>
            <a:r>
              <a:rPr dirty="0"/>
              <a:t>2. He had made terms with </a:t>
            </a:r>
            <a:r>
              <a:rPr dirty="0" err="1"/>
              <a:t>Sajāḥ</a:t>
            </a:r>
            <a:r>
              <a:rPr dirty="0"/>
              <a:t> — When she came into the </a:t>
            </a:r>
            <a:r>
              <a:rPr dirty="0" err="1"/>
              <a:t>Tamīm</a:t>
            </a:r>
            <a:r>
              <a:rPr dirty="0"/>
              <a:t> country, he had dealt with her.</a:t>
            </a:r>
          </a:p>
          <a:p>
            <a:endParaRPr lang="en-US" dirty="0"/>
          </a:p>
          <a:p>
            <a:r>
              <a:rPr dirty="0"/>
              <a:t>3. And then regretted it — When she attached herself to </a:t>
            </a:r>
            <a:r>
              <a:rPr dirty="0" err="1"/>
              <a:t>Musaylima</a:t>
            </a:r>
            <a:r>
              <a:rPr dirty="0"/>
              <a:t> and went back north, he regretted it.</a:t>
            </a:r>
          </a:p>
          <a:p>
            <a:endParaRPr lang="en-US" dirty="0"/>
          </a:p>
          <a:p>
            <a:r>
              <a:rPr dirty="0"/>
              <a:t>4. The patrols go out — </a:t>
            </a:r>
            <a:r>
              <a:rPr dirty="0" err="1"/>
              <a:t>Khālid</a:t>
            </a:r>
            <a:r>
              <a:rPr dirty="0"/>
              <a:t> ؓ spread his patrols through al-</a:t>
            </a:r>
            <a:r>
              <a:rPr dirty="0" err="1"/>
              <a:t>Buṭāḥ</a:t>
            </a:r>
            <a:r>
              <a:rPr dirty="0"/>
              <a:t>, calling people in.</a:t>
            </a:r>
          </a:p>
          <a:p>
            <a:endParaRPr lang="en-US" dirty="0"/>
          </a:p>
          <a:p>
            <a:r>
              <a:rPr dirty="0"/>
              <a:t>5. The chiefs of </a:t>
            </a:r>
            <a:r>
              <a:rPr dirty="0" err="1"/>
              <a:t>Tamīm</a:t>
            </a:r>
            <a:r>
              <a:rPr dirty="0"/>
              <a:t> come in and pay — Every one of them, with hearing and obedience.</a:t>
            </a:r>
            <a:r>
              <a:rPr lang="en-US" dirty="0"/>
              <a:t> Samm o </a:t>
            </a:r>
            <a:r>
              <a:rPr lang="en-US" dirty="0" err="1"/>
              <a:t>taat</a:t>
            </a:r>
            <a:endParaRPr dirty="0"/>
          </a:p>
          <a:p>
            <a:endParaRPr lang="en-US" dirty="0"/>
          </a:p>
          <a:p>
            <a:r>
              <a:rPr dirty="0"/>
              <a:t>6. Except one — </a:t>
            </a:r>
            <a:r>
              <a:rPr dirty="0" err="1"/>
              <a:t>Mālik</a:t>
            </a:r>
            <a:r>
              <a:rPr dirty="0"/>
              <a:t> ؓ stayed where he was, perplexed, keeping apart from people.</a:t>
            </a:r>
          </a:p>
          <a:p>
            <a:r>
              <a:rPr dirty="0"/>
              <a:t>   ^ read the Arabic on the face here</a:t>
            </a:r>
          </a:p>
          <a:p>
            <a:endParaRPr dirty="0"/>
          </a:p>
          <a:p>
            <a:r>
              <a:rPr dirty="0"/>
              <a:t>QUOTE — </a:t>
            </a:r>
            <a:r>
              <a:rPr dirty="0" err="1"/>
              <a:t>إلَّا</a:t>
            </a:r>
            <a:r>
              <a:rPr dirty="0"/>
              <a:t> </a:t>
            </a:r>
            <a:r>
              <a:rPr dirty="0" err="1"/>
              <a:t>ما</a:t>
            </a:r>
            <a:r>
              <a:rPr dirty="0"/>
              <a:t> </a:t>
            </a:r>
            <a:r>
              <a:rPr dirty="0" err="1"/>
              <a:t>كانَ</a:t>
            </a:r>
            <a:r>
              <a:rPr dirty="0"/>
              <a:t> </a:t>
            </a:r>
            <a:r>
              <a:rPr dirty="0" err="1"/>
              <a:t>من</a:t>
            </a:r>
            <a:r>
              <a:rPr dirty="0"/>
              <a:t> </a:t>
            </a:r>
            <a:r>
              <a:rPr dirty="0" err="1"/>
              <a:t>مالك</a:t>
            </a:r>
            <a:r>
              <a:rPr dirty="0"/>
              <a:t> </a:t>
            </a:r>
            <a:r>
              <a:rPr dirty="0" err="1"/>
              <a:t>بن</a:t>
            </a:r>
            <a:r>
              <a:rPr dirty="0"/>
              <a:t> </a:t>
            </a:r>
            <a:r>
              <a:rPr dirty="0" err="1"/>
              <a:t>نويرة</a:t>
            </a:r>
            <a:r>
              <a:rPr dirty="0"/>
              <a:t> </a:t>
            </a:r>
            <a:r>
              <a:rPr dirty="0" err="1"/>
              <a:t>فإنّه</a:t>
            </a:r>
            <a:r>
              <a:rPr dirty="0"/>
              <a:t> </a:t>
            </a:r>
            <a:r>
              <a:rPr dirty="0" err="1"/>
              <a:t>متحيرٌ</a:t>
            </a:r>
            <a:r>
              <a:rPr dirty="0"/>
              <a:t> </a:t>
            </a:r>
            <a:r>
              <a:rPr dirty="0" err="1"/>
              <a:t>في</a:t>
            </a:r>
            <a:r>
              <a:rPr dirty="0"/>
              <a:t> </a:t>
            </a:r>
            <a:r>
              <a:rPr dirty="0" err="1"/>
              <a:t>أمره</a:t>
            </a:r>
            <a:r>
              <a:rPr dirty="0"/>
              <a:t>، </a:t>
            </a:r>
            <a:r>
              <a:rPr dirty="0" err="1"/>
              <a:t>مُتَنحٍّ</a:t>
            </a:r>
            <a:r>
              <a:rPr dirty="0"/>
              <a:t> </a:t>
            </a:r>
            <a:r>
              <a:rPr dirty="0" err="1"/>
              <a:t>عن</a:t>
            </a:r>
            <a:r>
              <a:rPr dirty="0"/>
              <a:t> </a:t>
            </a:r>
            <a:r>
              <a:rPr dirty="0" err="1"/>
              <a:t>الناس</a:t>
            </a:r>
            <a:endParaRPr dirty="0"/>
          </a:p>
          <a:p>
            <a:r>
              <a:rPr dirty="0"/>
              <a:t>"— except for what was from </a:t>
            </a:r>
            <a:r>
              <a:rPr dirty="0" err="1"/>
              <a:t>Mālik</a:t>
            </a:r>
            <a:r>
              <a:rPr dirty="0"/>
              <a:t> b. </a:t>
            </a:r>
            <a:r>
              <a:rPr dirty="0" err="1"/>
              <a:t>Nuwayra</a:t>
            </a:r>
            <a:r>
              <a:rPr dirty="0"/>
              <a:t>, for he was perplexed about his own affair, keeping apart from the people."</a:t>
            </a:r>
          </a:p>
          <a:p>
            <a:r>
              <a:rPr dirty="0"/>
              <a:t>— </a:t>
            </a:r>
            <a:r>
              <a:rPr dirty="0" err="1"/>
              <a:t>البدایہ</a:t>
            </a:r>
            <a:r>
              <a:rPr dirty="0"/>
              <a:t> </a:t>
            </a:r>
            <a:r>
              <a:rPr dirty="0" err="1"/>
              <a:t>والنہایہ</a:t>
            </a:r>
            <a:r>
              <a:rPr dirty="0"/>
              <a:t> ج۷ ص۳۰</a:t>
            </a:r>
          </a:p>
          <a:p>
            <a:endParaRPr dirty="0"/>
          </a:p>
          <a:p>
            <a:r>
              <a:rPr dirty="0" err="1"/>
              <a:t>عبرت</a:t>
            </a:r>
            <a:r>
              <a:rPr dirty="0"/>
              <a:t> — The men who came in and paid are a line in a book; the one who could not decide is the whole chapter.</a:t>
            </a:r>
          </a:p>
          <a:p>
            <a:endParaRPr dirty="0"/>
          </a:p>
          <a:p>
            <a:r>
              <a:rPr dirty="0"/>
              <a:t>MAP — Hold still on </a:t>
            </a:r>
            <a:r>
              <a:rPr dirty="0" err="1"/>
              <a:t>البُطاح</a:t>
            </a:r>
            <a:r>
              <a:rPr dirty="0"/>
              <a:t>. One dot for the camp of </a:t>
            </a:r>
            <a:r>
              <a:rPr dirty="0" err="1"/>
              <a:t>Banū</a:t>
            </a:r>
            <a:r>
              <a:rPr dirty="0"/>
              <a:t> </a:t>
            </a:r>
            <a:r>
              <a:rPr dirty="0" err="1"/>
              <a:t>Yarbūʿ</a:t>
            </a:r>
            <a:r>
              <a:rPr dirty="0"/>
              <a:t>, and the </a:t>
            </a:r>
            <a:r>
              <a:rPr dirty="0" err="1"/>
              <a:t>Tamīm</a:t>
            </a:r>
            <a:r>
              <a:rPr dirty="0"/>
              <a:t> chiefs' arrows coming in to </a:t>
            </a:r>
            <a:r>
              <a:rPr dirty="0" err="1"/>
              <a:t>Khālid</a:t>
            </a:r>
            <a:r>
              <a:rPr dirty="0"/>
              <a:t> ؓ from every side except that one.</a:t>
            </a:r>
          </a:p>
          <a:p>
            <a:endParaRPr dirty="0"/>
          </a:p>
          <a:p>
            <a:r>
              <a:rPr dirty="0"/>
              <a:t>BACKGROUND (read at home, not aloud) —</a:t>
            </a:r>
          </a:p>
          <a:p>
            <a:r>
              <a:rPr dirty="0" err="1"/>
              <a:t>Mālik</a:t>
            </a:r>
            <a:r>
              <a:rPr dirty="0"/>
              <a:t> b. </a:t>
            </a:r>
            <a:r>
              <a:rPr dirty="0" err="1"/>
              <a:t>Nuwayra</a:t>
            </a:r>
            <a:r>
              <a:rPr dirty="0"/>
              <a:t> ؓ of </a:t>
            </a:r>
            <a:r>
              <a:rPr dirty="0" err="1"/>
              <a:t>Banū</a:t>
            </a:r>
            <a:r>
              <a:rPr dirty="0"/>
              <a:t> </a:t>
            </a:r>
            <a:r>
              <a:rPr dirty="0" err="1"/>
              <a:t>Yarbūʿ</a:t>
            </a:r>
            <a:r>
              <a:rPr dirty="0"/>
              <a:t> of </a:t>
            </a:r>
            <a:r>
              <a:rPr dirty="0" err="1"/>
              <a:t>Tamīm</a:t>
            </a:r>
            <a:r>
              <a:rPr dirty="0"/>
              <a:t> had made terms with </a:t>
            </a:r>
            <a:r>
              <a:rPr dirty="0" err="1"/>
              <a:t>Sajāḥ</a:t>
            </a:r>
            <a:r>
              <a:rPr dirty="0"/>
              <a:t> when she came into the </a:t>
            </a:r>
            <a:r>
              <a:rPr dirty="0" err="1"/>
              <a:t>Tamīm</a:t>
            </a:r>
            <a:r>
              <a:rPr dirty="0"/>
              <a:t> country. When she attached herself to </a:t>
            </a:r>
            <a:r>
              <a:rPr dirty="0" err="1"/>
              <a:t>Musaylima</a:t>
            </a:r>
            <a:r>
              <a:rPr dirty="0"/>
              <a:t> and then went back north, he regretted what he had done and could not settle on what to do next. He was camped at a place called al-</a:t>
            </a:r>
            <a:r>
              <a:rPr dirty="0" err="1"/>
              <a:t>Buṭāḥ</a:t>
            </a:r>
            <a:r>
              <a:rPr dirty="0"/>
              <a:t>. </a:t>
            </a:r>
            <a:r>
              <a:rPr dirty="0" err="1"/>
              <a:t>Khālid</a:t>
            </a:r>
            <a:r>
              <a:rPr dirty="0"/>
              <a:t> ؓ spread his patrols through al-</a:t>
            </a:r>
            <a:r>
              <a:rPr dirty="0" err="1"/>
              <a:t>Buṭāḥ</a:t>
            </a:r>
            <a:r>
              <a:rPr dirty="0"/>
              <a:t> calling people in, and the chiefs of </a:t>
            </a:r>
            <a:r>
              <a:rPr dirty="0" err="1"/>
              <a:t>Banū</a:t>
            </a:r>
            <a:r>
              <a:rPr dirty="0"/>
              <a:t> </a:t>
            </a:r>
            <a:r>
              <a:rPr dirty="0" err="1"/>
              <a:t>Tamīm</a:t>
            </a:r>
            <a:r>
              <a:rPr dirty="0"/>
              <a:t> came to him with hearing and obedience and paid their </a:t>
            </a:r>
            <a:r>
              <a:rPr dirty="0" err="1"/>
              <a:t>zakāt</a:t>
            </a:r>
            <a:r>
              <a:rPr dirty="0"/>
              <a:t> — every one of them except </a:t>
            </a:r>
            <a:r>
              <a:rPr dirty="0" err="1"/>
              <a:t>Mālik</a:t>
            </a:r>
            <a:r>
              <a:rPr dirty="0"/>
              <a:t> ؓ, who stayed where he was, perplexed about his own affair and keeping away from people.</a:t>
            </a:r>
          </a:p>
          <a:p>
            <a:endParaRPr dirty="0"/>
          </a:p>
          <a:p>
            <a:r>
              <a:rPr dirty="0"/>
              <a:t>**Also on the page:** </a:t>
            </a:r>
            <a:r>
              <a:rPr dirty="0" err="1"/>
              <a:t>الکامل</a:t>
            </a:r>
            <a:r>
              <a:rPr dirty="0"/>
              <a:t> ج۲ ص۲۱۲ says the same of him in three words — «</a:t>
            </a:r>
            <a:r>
              <a:rPr dirty="0" err="1"/>
              <a:t>قَدْ</a:t>
            </a:r>
            <a:r>
              <a:rPr dirty="0"/>
              <a:t> </a:t>
            </a:r>
            <a:r>
              <a:rPr dirty="0" err="1"/>
              <a:t>تَرَدَّدَ</a:t>
            </a:r>
            <a:r>
              <a:rPr dirty="0"/>
              <a:t> </a:t>
            </a:r>
            <a:r>
              <a:rPr dirty="0" err="1"/>
              <a:t>عَلَيْهِ</a:t>
            </a:r>
            <a:endParaRPr dirty="0"/>
          </a:p>
          <a:p>
            <a:r>
              <a:rPr dirty="0" err="1"/>
              <a:t>أَمْرُهُ</a:t>
            </a:r>
            <a:r>
              <a:rPr dirty="0"/>
              <a:t>», his affair had gone back and forth on him.</a:t>
            </a:r>
          </a:p>
          <a:p>
            <a:endParaRPr dirty="0"/>
          </a:p>
          <a:p>
            <a:r>
              <a:rPr dirty="0"/>
              <a:t>WHEN, as the card gives it: 11 AH</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RUNSHEET: His own last recorded counsel. State it; build nothing on it</a:t>
            </a:r>
          </a:p>
          <a:p>
            <a:endParaRPr dirty="0"/>
          </a:p>
          <a:p>
            <a:r>
              <a:rPr dirty="0"/>
              <a:t>SAY —</a:t>
            </a:r>
          </a:p>
          <a:p>
            <a:r>
              <a:rPr dirty="0"/>
              <a:t>1. He gathers </a:t>
            </a:r>
            <a:r>
              <a:rPr dirty="0" err="1"/>
              <a:t>Banū</a:t>
            </a:r>
            <a:r>
              <a:rPr dirty="0"/>
              <a:t> </a:t>
            </a:r>
            <a:r>
              <a:rPr dirty="0" err="1"/>
              <a:t>Yarbūʿ</a:t>
            </a:r>
            <a:r>
              <a:rPr dirty="0"/>
              <a:t> — Before the patrols came, he told his own tribe what he had concluded.</a:t>
            </a:r>
            <a:endParaRPr lang="en-US" dirty="0"/>
          </a:p>
          <a:p>
            <a:endParaRPr dirty="0"/>
          </a:p>
          <a:p>
            <a:r>
              <a:rPr dirty="0"/>
              <a:t>2. "We were slow, and we did not prosper" — They had been called to this matter and had hung back.</a:t>
            </a:r>
            <a:endParaRPr lang="en-US" dirty="0"/>
          </a:p>
          <a:p>
            <a:endParaRPr dirty="0"/>
          </a:p>
          <a:p>
            <a:r>
              <a:rPr dirty="0"/>
              <a:t>3. What he had looked into — He could see the affair coming to Medina's people without contrivance.</a:t>
            </a:r>
            <a:endParaRPr lang="en-US" dirty="0"/>
          </a:p>
          <a:p>
            <a:endParaRPr dirty="0"/>
          </a:p>
          <a:p>
            <a:r>
              <a:rPr dirty="0"/>
              <a:t>4. His counsel — Do not oppose a people for whom things are being made.</a:t>
            </a:r>
          </a:p>
          <a:p>
            <a:endParaRPr lang="en-US" dirty="0"/>
          </a:p>
          <a:p>
            <a:r>
              <a:rPr dirty="0"/>
              <a:t>5. "Disperse, and enter into this matter" — His last recorded word to his tribe was: submit.</a:t>
            </a:r>
          </a:p>
          <a:p>
            <a:r>
              <a:rPr dirty="0"/>
              <a:t>   ^ read the Arabic on the face here</a:t>
            </a:r>
          </a:p>
          <a:p>
            <a:endParaRPr lang="en-US" dirty="0"/>
          </a:p>
          <a:p>
            <a:r>
              <a:rPr dirty="0"/>
              <a:t>6. And then he was killed — Say it plainly, and build nothing on it.</a:t>
            </a:r>
          </a:p>
          <a:p>
            <a:endParaRPr dirty="0"/>
          </a:p>
          <a:p>
            <a:r>
              <a:rPr dirty="0"/>
              <a:t>QUOTE — </a:t>
            </a:r>
            <a:r>
              <a:rPr dirty="0" err="1"/>
              <a:t>يَا</a:t>
            </a:r>
            <a:r>
              <a:rPr dirty="0"/>
              <a:t> </a:t>
            </a:r>
            <a:r>
              <a:rPr dirty="0" err="1"/>
              <a:t>بَنِي</a:t>
            </a:r>
            <a:r>
              <a:rPr dirty="0"/>
              <a:t> </a:t>
            </a:r>
            <a:r>
              <a:rPr dirty="0" err="1"/>
              <a:t>يَرْبُوعٍ</a:t>
            </a:r>
            <a:r>
              <a:rPr dirty="0"/>
              <a:t>، </a:t>
            </a:r>
            <a:r>
              <a:rPr dirty="0" err="1"/>
              <a:t>إِنَّا</a:t>
            </a:r>
            <a:r>
              <a:rPr dirty="0"/>
              <a:t> </a:t>
            </a:r>
            <a:r>
              <a:rPr dirty="0" err="1"/>
              <a:t>دُعِينَا</a:t>
            </a:r>
            <a:r>
              <a:rPr dirty="0"/>
              <a:t> </a:t>
            </a:r>
            <a:r>
              <a:rPr dirty="0" err="1"/>
              <a:t>إِلَى</a:t>
            </a:r>
            <a:r>
              <a:rPr dirty="0"/>
              <a:t> </a:t>
            </a:r>
            <a:r>
              <a:rPr dirty="0" err="1"/>
              <a:t>هَذَا</a:t>
            </a:r>
            <a:r>
              <a:rPr dirty="0"/>
              <a:t> </a:t>
            </a:r>
            <a:r>
              <a:rPr dirty="0" err="1"/>
              <a:t>الْأَمْرِ</a:t>
            </a:r>
            <a:r>
              <a:rPr dirty="0"/>
              <a:t> </a:t>
            </a:r>
            <a:r>
              <a:rPr dirty="0" err="1"/>
              <a:t>فَأَبْطَأْنَا</a:t>
            </a:r>
            <a:r>
              <a:rPr dirty="0"/>
              <a:t> </a:t>
            </a:r>
            <a:r>
              <a:rPr dirty="0" err="1"/>
              <a:t>عَنْهُ</a:t>
            </a:r>
            <a:r>
              <a:rPr dirty="0"/>
              <a:t> </a:t>
            </a:r>
            <a:r>
              <a:rPr dirty="0" err="1"/>
              <a:t>فَلَمْ</a:t>
            </a:r>
            <a:r>
              <a:rPr dirty="0"/>
              <a:t> </a:t>
            </a:r>
            <a:r>
              <a:rPr dirty="0" err="1"/>
              <a:t>نُفْلِحْ</a:t>
            </a:r>
            <a:r>
              <a:rPr dirty="0"/>
              <a:t>، </a:t>
            </a:r>
            <a:r>
              <a:rPr dirty="0" err="1"/>
              <a:t>وَقَدْ</a:t>
            </a:r>
            <a:r>
              <a:rPr dirty="0"/>
              <a:t> </a:t>
            </a:r>
            <a:r>
              <a:rPr dirty="0" err="1"/>
              <a:t>نَظَرْتُ</a:t>
            </a:r>
            <a:r>
              <a:rPr dirty="0"/>
              <a:t> </a:t>
            </a:r>
            <a:r>
              <a:rPr dirty="0" err="1"/>
              <a:t>فِيهِ</a:t>
            </a:r>
            <a:r>
              <a:rPr dirty="0"/>
              <a:t> </a:t>
            </a:r>
            <a:r>
              <a:rPr dirty="0" err="1"/>
              <a:t>فَرَأَيْتُ</a:t>
            </a:r>
            <a:r>
              <a:rPr dirty="0"/>
              <a:t> </a:t>
            </a:r>
            <a:r>
              <a:rPr dirty="0" err="1"/>
              <a:t>الْأَمْرَ</a:t>
            </a:r>
            <a:r>
              <a:rPr dirty="0"/>
              <a:t> </a:t>
            </a:r>
            <a:r>
              <a:rPr dirty="0" err="1"/>
              <a:t>يَتَأَتَّى</a:t>
            </a:r>
            <a:r>
              <a:rPr dirty="0"/>
              <a:t> </a:t>
            </a:r>
            <a:r>
              <a:rPr dirty="0" err="1"/>
              <a:t>لَهُمْ</a:t>
            </a:r>
            <a:r>
              <a:rPr dirty="0"/>
              <a:t> </a:t>
            </a:r>
            <a:r>
              <a:rPr dirty="0" err="1"/>
              <a:t>بِغَيْرِ</a:t>
            </a:r>
            <a:r>
              <a:rPr dirty="0"/>
              <a:t> </a:t>
            </a:r>
            <a:r>
              <a:rPr dirty="0" err="1"/>
              <a:t>سِيَاسَةٍ</a:t>
            </a:r>
            <a:r>
              <a:rPr dirty="0"/>
              <a:t> … </a:t>
            </a:r>
            <a:r>
              <a:rPr dirty="0" err="1"/>
              <a:t>فَإِيَّاكُمْ</a:t>
            </a:r>
            <a:r>
              <a:rPr dirty="0"/>
              <a:t> </a:t>
            </a:r>
            <a:r>
              <a:rPr dirty="0" err="1"/>
              <a:t>وَمُنَاوَأَةَ</a:t>
            </a:r>
            <a:r>
              <a:rPr dirty="0"/>
              <a:t> </a:t>
            </a:r>
            <a:r>
              <a:rPr dirty="0" err="1"/>
              <a:t>قَوْمٍ</a:t>
            </a:r>
            <a:r>
              <a:rPr dirty="0"/>
              <a:t> </a:t>
            </a:r>
            <a:r>
              <a:rPr dirty="0" err="1"/>
              <a:t>صُنِعَ</a:t>
            </a:r>
            <a:r>
              <a:rPr dirty="0"/>
              <a:t> </a:t>
            </a:r>
            <a:r>
              <a:rPr dirty="0" err="1"/>
              <a:t>لَهُمْ</a:t>
            </a:r>
            <a:r>
              <a:rPr dirty="0"/>
              <a:t>، </a:t>
            </a:r>
            <a:r>
              <a:rPr dirty="0" err="1"/>
              <a:t>فَتَفَرَّقُوا</a:t>
            </a:r>
            <a:r>
              <a:rPr dirty="0"/>
              <a:t> </a:t>
            </a:r>
            <a:r>
              <a:rPr dirty="0" err="1"/>
              <a:t>وَادْخُلُوا</a:t>
            </a:r>
            <a:r>
              <a:rPr dirty="0"/>
              <a:t> </a:t>
            </a:r>
            <a:r>
              <a:rPr dirty="0" err="1"/>
              <a:t>فِي</a:t>
            </a:r>
            <a:r>
              <a:rPr dirty="0"/>
              <a:t> </a:t>
            </a:r>
            <a:r>
              <a:rPr dirty="0" err="1"/>
              <a:t>هَذَا</a:t>
            </a:r>
            <a:r>
              <a:rPr dirty="0"/>
              <a:t> </a:t>
            </a:r>
            <a:r>
              <a:rPr dirty="0" err="1"/>
              <a:t>الْأَمْرِ</a:t>
            </a:r>
            <a:r>
              <a:rPr dirty="0"/>
              <a:t>.</a:t>
            </a:r>
          </a:p>
          <a:p>
            <a:r>
              <a:rPr dirty="0"/>
              <a:t>"</a:t>
            </a:r>
            <a:r>
              <a:rPr dirty="0" err="1"/>
              <a:t>Banū</a:t>
            </a:r>
            <a:r>
              <a:rPr dirty="0"/>
              <a:t> </a:t>
            </a:r>
            <a:r>
              <a:rPr dirty="0" err="1"/>
              <a:t>Yarbūʿ</a:t>
            </a:r>
            <a:r>
              <a:rPr dirty="0"/>
              <a:t> — we were called to this matter and we were slow to it and did not prosper. I have looked into it and I see the affair coming to them without contrivance … so beware of opposing a people for whom things are being made. Disperse, and enter into this matter."</a:t>
            </a:r>
          </a:p>
          <a:p>
            <a:r>
              <a:rPr dirty="0"/>
              <a:t>— </a:t>
            </a:r>
            <a:r>
              <a:rPr dirty="0" err="1"/>
              <a:t>الکامل</a:t>
            </a:r>
            <a:r>
              <a:rPr dirty="0"/>
              <a:t> </a:t>
            </a:r>
            <a:r>
              <a:rPr dirty="0" err="1"/>
              <a:t>فی</a:t>
            </a:r>
            <a:r>
              <a:rPr dirty="0"/>
              <a:t> </a:t>
            </a:r>
            <a:r>
              <a:rPr dirty="0" err="1"/>
              <a:t>التاریخ</a:t>
            </a:r>
            <a:r>
              <a:rPr dirty="0"/>
              <a:t> ج۲ ص۲۱۲–۲۱۳</a:t>
            </a:r>
          </a:p>
          <a:p>
            <a:endParaRPr dirty="0"/>
          </a:p>
          <a:p>
            <a:r>
              <a:rPr dirty="0" err="1"/>
              <a:t>عبرت</a:t>
            </a:r>
            <a:r>
              <a:rPr dirty="0"/>
              <a:t> — The last thing he is recorded saying to his own tribe was: submit.</a:t>
            </a:r>
          </a:p>
          <a:p>
            <a:endParaRPr dirty="0"/>
          </a:p>
          <a:p>
            <a:r>
              <a:rPr dirty="0"/>
              <a:t>MAP — No movement. Hold on </a:t>
            </a:r>
            <a:r>
              <a:rPr dirty="0" err="1"/>
              <a:t>البُطاح</a:t>
            </a:r>
            <a:r>
              <a:rPr dirty="0"/>
              <a:t>.</a:t>
            </a:r>
          </a:p>
          <a:p>
            <a:endParaRPr dirty="0"/>
          </a:p>
          <a:p>
            <a:r>
              <a:rPr dirty="0"/>
              <a:t>BACKGROUND (read at home, not aloud) —</a:t>
            </a:r>
          </a:p>
          <a:p>
            <a:r>
              <a:rPr dirty="0"/>
              <a:t>Before any of it, </a:t>
            </a:r>
            <a:r>
              <a:rPr dirty="0" err="1"/>
              <a:t>Mālik</a:t>
            </a:r>
            <a:r>
              <a:rPr dirty="0"/>
              <a:t> ؓ had gathered </a:t>
            </a:r>
            <a:r>
              <a:rPr dirty="0" err="1"/>
              <a:t>Banū</a:t>
            </a:r>
            <a:r>
              <a:rPr dirty="0"/>
              <a:t> </a:t>
            </a:r>
            <a:r>
              <a:rPr dirty="0" err="1"/>
              <a:t>Yarbūʿ</a:t>
            </a:r>
            <a:r>
              <a:rPr dirty="0"/>
              <a:t> and told them what he had concluded. They had been called to this matter, he said, and they had been slow to it, and they had not prospered. He had looked into it, and he could see the affair coming to the people of Medina without contrivance. So: do not set yourselves against a people for whom things are being made. Disperse, and enter into this matter. **He told his own tribe to submit — and then he was killed.** That is on the page in al-</a:t>
            </a:r>
            <a:r>
              <a:rPr dirty="0" err="1"/>
              <a:t>Kāmil</a:t>
            </a:r>
            <a:r>
              <a:rPr dirty="0"/>
              <a:t>, and it is the single fact that makes the matter painful. State it, and build nothing on it.</a:t>
            </a:r>
          </a:p>
          <a:p>
            <a:endParaRPr dirty="0"/>
          </a:p>
          <a:p>
            <a:r>
              <a:rPr dirty="0"/>
              <a:t>WHEN, as the card gives it: 11 AH</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RUNSHEET: Give </a:t>
            </a:r>
            <a:r>
              <a:rPr dirty="0" err="1"/>
              <a:t>Abū</a:t>
            </a:r>
            <a:r>
              <a:rPr dirty="0"/>
              <a:t> </a:t>
            </a:r>
            <a:r>
              <a:rPr dirty="0" err="1"/>
              <a:t>Qatāda's</a:t>
            </a:r>
            <a:r>
              <a:rPr dirty="0"/>
              <a:t> ؓ notice in one breath before the testimony — ⁨</a:t>
            </a:r>
            <a:r>
              <a:rPr dirty="0" err="1"/>
              <a:t>فارس</a:t>
            </a:r>
            <a:r>
              <a:rPr dirty="0"/>
              <a:t> </a:t>
            </a:r>
            <a:r>
              <a:rPr dirty="0" err="1"/>
              <a:t>رسول</a:t>
            </a:r>
            <a:r>
              <a:rPr dirty="0"/>
              <a:t> </a:t>
            </a:r>
            <a:r>
              <a:rPr dirty="0" err="1"/>
              <a:t>الله</a:t>
            </a:r>
            <a:r>
              <a:rPr dirty="0"/>
              <a:t> ﷺ⁩. [HANDS] 2 — ask it before you click to this slide: its face shows both testimonies</a:t>
            </a:r>
          </a:p>
          <a:p>
            <a:endParaRPr dirty="0"/>
          </a:p>
          <a:p>
            <a:r>
              <a:rPr dirty="0"/>
              <a:t>SAY —</a:t>
            </a:r>
          </a:p>
          <a:p>
            <a:r>
              <a:rPr dirty="0"/>
              <a:t>1. The patrols take him — </a:t>
            </a:r>
            <a:r>
              <a:rPr dirty="0" err="1"/>
              <a:t>Mālik</a:t>
            </a:r>
            <a:r>
              <a:rPr dirty="0"/>
              <a:t> ؓ was taken prisoner, and his companions with him.</a:t>
            </a:r>
            <a:endParaRPr lang="en-US" dirty="0"/>
          </a:p>
          <a:p>
            <a:endParaRPr dirty="0"/>
          </a:p>
          <a:p>
            <a:r>
              <a:rPr dirty="0"/>
              <a:t>2. And then the patrol fell out — Over what it had just seen with its own eyes.</a:t>
            </a:r>
            <a:endParaRPr lang="en-US" dirty="0"/>
          </a:p>
          <a:p>
            <a:endParaRPr dirty="0"/>
          </a:p>
          <a:p>
            <a:r>
              <a:rPr dirty="0"/>
              <a:t>3. Who </a:t>
            </a:r>
            <a:r>
              <a:rPr dirty="0" err="1"/>
              <a:t>Abū</a:t>
            </a:r>
            <a:r>
              <a:rPr dirty="0"/>
              <a:t> </a:t>
            </a:r>
            <a:r>
              <a:rPr dirty="0" err="1"/>
              <a:t>Qatāda</a:t>
            </a:r>
            <a:r>
              <a:rPr dirty="0"/>
              <a:t> ؓ was — al-</a:t>
            </a:r>
            <a:r>
              <a:rPr dirty="0" err="1"/>
              <a:t>Ḥārith</a:t>
            </a:r>
            <a:r>
              <a:rPr dirty="0"/>
              <a:t> b. </a:t>
            </a:r>
            <a:r>
              <a:rPr dirty="0" err="1"/>
              <a:t>Ribʿī</a:t>
            </a:r>
            <a:r>
              <a:rPr dirty="0"/>
              <a:t> of the </a:t>
            </a:r>
            <a:r>
              <a:rPr dirty="0" err="1"/>
              <a:t>Anṣār</a:t>
            </a:r>
            <a:r>
              <a:rPr dirty="0"/>
              <a:t>, at </a:t>
            </a:r>
            <a:r>
              <a:rPr dirty="0" err="1"/>
              <a:t>Uḥud</a:t>
            </a:r>
            <a:r>
              <a:rPr dirty="0"/>
              <a:t> and al-</a:t>
            </a:r>
            <a:r>
              <a:rPr dirty="0" err="1"/>
              <a:t>Ḥudaybiya</a:t>
            </a:r>
            <a:r>
              <a:rPr dirty="0"/>
              <a:t>; the books title him the Prophet's ﷺ </a:t>
            </a:r>
            <a:r>
              <a:rPr lang="en-US" dirty="0"/>
              <a:t>knight</a:t>
            </a:r>
            <a:r>
              <a:rPr dirty="0"/>
              <a:t>.</a:t>
            </a:r>
            <a:r>
              <a:rPr lang="en-US" dirty="0"/>
              <a:t> </a:t>
            </a:r>
            <a:r>
              <a:rPr lang="ur-PK" dirty="0"/>
              <a:t>فارس</a:t>
            </a:r>
            <a:endParaRPr lang="en-US" dirty="0"/>
          </a:p>
          <a:p>
            <a:endParaRPr dirty="0"/>
          </a:p>
          <a:p>
            <a:r>
              <a:rPr dirty="0"/>
              <a:t>4. He testified — That the men had established the prayer.</a:t>
            </a:r>
            <a:endParaRPr lang="en-US" dirty="0"/>
          </a:p>
          <a:p>
            <a:endParaRPr dirty="0"/>
          </a:p>
          <a:p>
            <a:r>
              <a:rPr dirty="0"/>
              <a:t>5. Others in the same patrol denied it — They said they neither gave the </a:t>
            </a:r>
            <a:r>
              <a:rPr dirty="0" err="1"/>
              <a:t>adhān</a:t>
            </a:r>
            <a:r>
              <a:rPr dirty="0"/>
              <a:t> nor prayed.</a:t>
            </a:r>
          </a:p>
          <a:p>
            <a:r>
              <a:rPr dirty="0"/>
              <a:t>   ^ read the Arabic on the face here</a:t>
            </a:r>
            <a:endParaRPr lang="en-US" dirty="0"/>
          </a:p>
          <a:p>
            <a:endParaRPr dirty="0"/>
          </a:p>
          <a:p>
            <a:r>
              <a:rPr dirty="0"/>
              <a:t>6. Where the disagreement sits — Not between later historians, but between the men who were there.</a:t>
            </a:r>
          </a:p>
          <a:p>
            <a:endParaRPr dirty="0"/>
          </a:p>
          <a:p>
            <a:r>
              <a:rPr dirty="0"/>
              <a:t>QUOTE — </a:t>
            </a:r>
            <a:r>
              <a:rPr dirty="0" err="1"/>
              <a:t>واختلفت</a:t>
            </a:r>
            <a:r>
              <a:rPr dirty="0"/>
              <a:t> </a:t>
            </a:r>
            <a:r>
              <a:rPr dirty="0" err="1"/>
              <a:t>السريةُ</a:t>
            </a:r>
            <a:r>
              <a:rPr dirty="0"/>
              <a:t> </a:t>
            </a:r>
            <a:r>
              <a:rPr dirty="0" err="1"/>
              <a:t>فيهم</a:t>
            </a:r>
            <a:r>
              <a:rPr dirty="0"/>
              <a:t>، </a:t>
            </a:r>
            <a:r>
              <a:rPr dirty="0" err="1"/>
              <a:t>فشهد</a:t>
            </a:r>
            <a:r>
              <a:rPr dirty="0"/>
              <a:t> </a:t>
            </a:r>
            <a:r>
              <a:rPr dirty="0" err="1"/>
              <a:t>أبو</a:t>
            </a:r>
            <a:r>
              <a:rPr dirty="0"/>
              <a:t> </a:t>
            </a:r>
            <a:r>
              <a:rPr dirty="0" err="1"/>
              <a:t>قتادة</a:t>
            </a:r>
            <a:r>
              <a:rPr dirty="0"/>
              <a:t> - </a:t>
            </a:r>
            <a:r>
              <a:rPr dirty="0" err="1"/>
              <a:t>الحارث</a:t>
            </a:r>
            <a:r>
              <a:rPr dirty="0"/>
              <a:t> </a:t>
            </a:r>
            <a:r>
              <a:rPr dirty="0" err="1"/>
              <a:t>بن</a:t>
            </a:r>
            <a:r>
              <a:rPr dirty="0"/>
              <a:t> </a:t>
            </a:r>
            <a:r>
              <a:rPr dirty="0" err="1"/>
              <a:t>ربعي</a:t>
            </a:r>
            <a:r>
              <a:rPr dirty="0"/>
              <a:t> </a:t>
            </a:r>
            <a:r>
              <a:rPr dirty="0" err="1"/>
              <a:t>الأنصاري</a:t>
            </a:r>
            <a:r>
              <a:rPr dirty="0"/>
              <a:t> - </a:t>
            </a:r>
            <a:r>
              <a:rPr dirty="0" err="1"/>
              <a:t>أنهم</a:t>
            </a:r>
            <a:r>
              <a:rPr dirty="0"/>
              <a:t> </a:t>
            </a:r>
            <a:r>
              <a:rPr dirty="0" err="1"/>
              <a:t>أقاموا</a:t>
            </a:r>
            <a:r>
              <a:rPr dirty="0"/>
              <a:t> </a:t>
            </a:r>
            <a:r>
              <a:rPr dirty="0" err="1"/>
              <a:t>الصلاةَ</a:t>
            </a:r>
            <a:r>
              <a:rPr dirty="0"/>
              <a:t>، </a:t>
            </a:r>
            <a:r>
              <a:rPr dirty="0" err="1"/>
              <a:t>وقال</a:t>
            </a:r>
            <a:r>
              <a:rPr dirty="0"/>
              <a:t> </a:t>
            </a:r>
            <a:r>
              <a:rPr dirty="0" err="1"/>
              <a:t>آخرون</a:t>
            </a:r>
            <a:r>
              <a:rPr dirty="0"/>
              <a:t>: </a:t>
            </a:r>
            <a:r>
              <a:rPr dirty="0" err="1"/>
              <a:t>إنهم</a:t>
            </a:r>
            <a:r>
              <a:rPr dirty="0"/>
              <a:t> </a:t>
            </a:r>
            <a:r>
              <a:rPr dirty="0" err="1"/>
              <a:t>لم</a:t>
            </a:r>
            <a:r>
              <a:rPr dirty="0"/>
              <a:t> </a:t>
            </a:r>
            <a:r>
              <a:rPr dirty="0" err="1"/>
              <a:t>يُؤَذّنوا</a:t>
            </a:r>
            <a:r>
              <a:rPr dirty="0"/>
              <a:t> </a:t>
            </a:r>
            <a:r>
              <a:rPr dirty="0" err="1"/>
              <a:t>ولا</a:t>
            </a:r>
            <a:r>
              <a:rPr dirty="0"/>
              <a:t> </a:t>
            </a:r>
            <a:r>
              <a:rPr dirty="0" err="1"/>
              <a:t>صَلّوا</a:t>
            </a:r>
            <a:endParaRPr dirty="0"/>
          </a:p>
          <a:p>
            <a:r>
              <a:rPr dirty="0"/>
              <a:t>"The patrol disagreed about them: </a:t>
            </a:r>
            <a:r>
              <a:rPr dirty="0" err="1"/>
              <a:t>Abū</a:t>
            </a:r>
            <a:r>
              <a:rPr dirty="0"/>
              <a:t> </a:t>
            </a:r>
            <a:r>
              <a:rPr dirty="0" err="1"/>
              <a:t>Qatāda</a:t>
            </a:r>
            <a:r>
              <a:rPr dirty="0"/>
              <a:t> al-</a:t>
            </a:r>
            <a:r>
              <a:rPr dirty="0" err="1"/>
              <a:t>Anṣārī</a:t>
            </a:r>
            <a:r>
              <a:rPr dirty="0"/>
              <a:t> — al-</a:t>
            </a:r>
            <a:r>
              <a:rPr dirty="0" err="1"/>
              <a:t>Ḥārith</a:t>
            </a:r>
            <a:r>
              <a:rPr dirty="0"/>
              <a:t> b. </a:t>
            </a:r>
            <a:r>
              <a:rPr dirty="0" err="1"/>
              <a:t>Ribʿī</a:t>
            </a:r>
            <a:r>
              <a:rPr dirty="0"/>
              <a:t> — testified that they had established the prayer, and others said they had neither given the </a:t>
            </a:r>
            <a:r>
              <a:rPr dirty="0" err="1"/>
              <a:t>adhān</a:t>
            </a:r>
            <a:r>
              <a:rPr dirty="0"/>
              <a:t> nor prayed."</a:t>
            </a:r>
          </a:p>
          <a:p>
            <a:r>
              <a:rPr dirty="0"/>
              <a:t>— </a:t>
            </a:r>
            <a:r>
              <a:rPr dirty="0" err="1"/>
              <a:t>البدایہ</a:t>
            </a:r>
            <a:r>
              <a:rPr dirty="0"/>
              <a:t> </a:t>
            </a:r>
            <a:r>
              <a:rPr dirty="0" err="1"/>
              <a:t>والنہایہ</a:t>
            </a:r>
            <a:r>
              <a:rPr dirty="0"/>
              <a:t> ج۷ ص۳۰</a:t>
            </a:r>
          </a:p>
          <a:p>
            <a:endParaRPr dirty="0"/>
          </a:p>
          <a:p>
            <a:r>
              <a:rPr dirty="0" err="1"/>
              <a:t>عبرت</a:t>
            </a:r>
            <a:r>
              <a:rPr dirty="0"/>
              <a:t> — Two men can stand in the same place at the same hour and carry away two different nights.</a:t>
            </a:r>
          </a:p>
          <a:p>
            <a:endParaRPr dirty="0"/>
          </a:p>
          <a:p>
            <a:r>
              <a:rPr dirty="0"/>
              <a:t>HANDS UP — Before the answer: *"Two men from the same patrol. Do you think they told the same story?"*</a:t>
            </a:r>
          </a:p>
          <a:p>
            <a:endParaRPr dirty="0"/>
          </a:p>
          <a:p>
            <a:r>
              <a:rPr dirty="0"/>
              <a:t>MAP — No movement. One arrow in, and the prisoners brought back to </a:t>
            </a:r>
            <a:r>
              <a:rPr dirty="0" err="1"/>
              <a:t>Khālid's</a:t>
            </a:r>
            <a:r>
              <a:rPr dirty="0"/>
              <a:t> ؓ camp.</a:t>
            </a:r>
          </a:p>
          <a:p>
            <a:endParaRPr dirty="0"/>
          </a:p>
          <a:p>
            <a:r>
              <a:rPr dirty="0"/>
              <a:t>BACKGROUND (read at home, not aloud) —</a:t>
            </a:r>
          </a:p>
          <a:p>
            <a:r>
              <a:rPr dirty="0"/>
              <a:t>The patrols came on </a:t>
            </a:r>
            <a:r>
              <a:rPr dirty="0" err="1"/>
              <a:t>Mālik</a:t>
            </a:r>
            <a:r>
              <a:rPr dirty="0"/>
              <a:t> ؓ and took him prisoner, and his companions with him. Then the patrol itself fell out over what it had seen. </a:t>
            </a:r>
            <a:r>
              <a:rPr dirty="0" err="1"/>
              <a:t>Abū</a:t>
            </a:r>
            <a:r>
              <a:rPr dirty="0"/>
              <a:t> </a:t>
            </a:r>
            <a:r>
              <a:rPr dirty="0" err="1"/>
              <a:t>Qatāda</a:t>
            </a:r>
            <a:r>
              <a:rPr dirty="0"/>
              <a:t> al-</a:t>
            </a:r>
            <a:r>
              <a:rPr dirty="0" err="1"/>
              <a:t>Anṣārī</a:t>
            </a:r>
            <a:r>
              <a:rPr dirty="0"/>
              <a:t> ؓ — al-</a:t>
            </a:r>
            <a:r>
              <a:rPr dirty="0" err="1"/>
              <a:t>Ḥārith</a:t>
            </a:r>
            <a:r>
              <a:rPr dirty="0"/>
              <a:t> b. </a:t>
            </a:r>
            <a:r>
              <a:rPr dirty="0" err="1"/>
              <a:t>Ribʿī</a:t>
            </a:r>
            <a:r>
              <a:rPr dirty="0"/>
              <a:t>, whom al-</a:t>
            </a:r>
            <a:r>
              <a:rPr dirty="0" err="1"/>
              <a:t>Dhahabī's</a:t>
            </a:r>
            <a:r>
              <a:rPr dirty="0"/>
              <a:t> notice titles the Prophet's ﷺ horseman, and who was at </a:t>
            </a:r>
            <a:r>
              <a:rPr dirty="0" err="1"/>
              <a:t>Uḥud</a:t>
            </a:r>
            <a:r>
              <a:rPr dirty="0"/>
              <a:t> and al-</a:t>
            </a:r>
            <a:r>
              <a:rPr dirty="0" err="1"/>
              <a:t>Ḥudaybiya</a:t>
            </a:r>
            <a:r>
              <a:rPr dirty="0"/>
              <a:t> — testified that the men had established the prayer. Others in the same patrol said they had neither given the </a:t>
            </a:r>
            <a:r>
              <a:rPr dirty="0" err="1"/>
              <a:t>adhān</a:t>
            </a:r>
            <a:r>
              <a:rPr dirty="0"/>
              <a:t> nor prayed. The disagreement is not between later historians. It is between the men who were standing there.</a:t>
            </a:r>
          </a:p>
          <a:p>
            <a:endParaRPr dirty="0"/>
          </a:p>
          <a:p>
            <a:r>
              <a:rPr dirty="0"/>
              <a:t>**His </a:t>
            </a:r>
            <a:r>
              <a:rPr dirty="0" err="1"/>
              <a:t>تراجم</a:t>
            </a:r>
            <a:r>
              <a:rPr dirty="0"/>
              <a:t> notice, for the one breath:**</a:t>
            </a:r>
          </a:p>
          <a:p>
            <a:endParaRPr dirty="0"/>
          </a:p>
          <a:p>
            <a:r>
              <a:rPr dirty="0"/>
              <a:t>&gt; ٨٧ - </a:t>
            </a:r>
            <a:r>
              <a:rPr dirty="0" err="1"/>
              <a:t>أَبُو</a:t>
            </a:r>
            <a:r>
              <a:rPr dirty="0"/>
              <a:t> </a:t>
            </a:r>
            <a:r>
              <a:rPr dirty="0" err="1"/>
              <a:t>قَتَادَةَ</a:t>
            </a:r>
            <a:r>
              <a:rPr dirty="0"/>
              <a:t> </a:t>
            </a:r>
            <a:r>
              <a:rPr dirty="0" err="1"/>
              <a:t>الأَنْصَارِيُّ</a:t>
            </a:r>
            <a:r>
              <a:rPr dirty="0"/>
              <a:t> </a:t>
            </a:r>
            <a:r>
              <a:rPr dirty="0" err="1"/>
              <a:t>السُّلَمِيُّ</a:t>
            </a:r>
            <a:r>
              <a:rPr dirty="0"/>
              <a:t> </a:t>
            </a:r>
            <a:r>
              <a:rPr dirty="0" err="1"/>
              <a:t>الحَارِثُ</a:t>
            </a:r>
            <a:r>
              <a:rPr dirty="0"/>
              <a:t> </a:t>
            </a:r>
            <a:r>
              <a:rPr dirty="0" err="1"/>
              <a:t>بنُ</a:t>
            </a:r>
            <a:r>
              <a:rPr dirty="0"/>
              <a:t> </a:t>
            </a:r>
            <a:r>
              <a:rPr dirty="0" err="1"/>
              <a:t>رِبْعِيٍّ</a:t>
            </a:r>
            <a:r>
              <a:rPr dirty="0"/>
              <a:t> … </a:t>
            </a:r>
            <a:r>
              <a:rPr dirty="0" err="1"/>
              <a:t>فَارِسُ</a:t>
            </a:r>
            <a:r>
              <a:rPr dirty="0"/>
              <a:t> </a:t>
            </a:r>
            <a:r>
              <a:rPr dirty="0" err="1"/>
              <a:t>رَسُوْلِ</a:t>
            </a:r>
            <a:r>
              <a:rPr dirty="0"/>
              <a:t> </a:t>
            </a:r>
            <a:r>
              <a:rPr dirty="0" err="1"/>
              <a:t>اللهِ</a:t>
            </a:r>
            <a:r>
              <a:rPr dirty="0"/>
              <a:t> -</a:t>
            </a:r>
            <a:r>
              <a:rPr dirty="0" err="1"/>
              <a:t>صَلَّى</a:t>
            </a:r>
            <a:r>
              <a:rPr dirty="0"/>
              <a:t> </a:t>
            </a:r>
            <a:r>
              <a:rPr dirty="0" err="1"/>
              <a:t>اللَّهُ</a:t>
            </a:r>
            <a:r>
              <a:rPr dirty="0"/>
              <a:t> </a:t>
            </a:r>
            <a:r>
              <a:rPr dirty="0" err="1"/>
              <a:t>عَلَيْهِ</a:t>
            </a:r>
            <a:r>
              <a:rPr dirty="0"/>
              <a:t> </a:t>
            </a:r>
            <a:r>
              <a:rPr dirty="0" err="1"/>
              <a:t>وَسَلَّمَ</a:t>
            </a:r>
            <a:r>
              <a:rPr dirty="0"/>
              <a:t>- </a:t>
            </a:r>
            <a:r>
              <a:rPr dirty="0" err="1"/>
              <a:t>شَهِدَ</a:t>
            </a:r>
            <a:r>
              <a:rPr dirty="0"/>
              <a:t> </a:t>
            </a:r>
            <a:r>
              <a:rPr dirty="0" err="1"/>
              <a:t>أُحُداً</a:t>
            </a:r>
            <a:r>
              <a:rPr dirty="0"/>
              <a:t> </a:t>
            </a:r>
            <a:r>
              <a:rPr dirty="0" err="1"/>
              <a:t>وَالحُدَيْبِيَةَ</a:t>
            </a:r>
            <a:r>
              <a:rPr dirty="0"/>
              <a:t>، </a:t>
            </a:r>
            <a:r>
              <a:rPr dirty="0" err="1"/>
              <a:t>وَلَهُ</a:t>
            </a:r>
            <a:r>
              <a:rPr dirty="0"/>
              <a:t> </a:t>
            </a:r>
            <a:r>
              <a:rPr dirty="0" err="1"/>
              <a:t>عِدَّةُ</a:t>
            </a:r>
            <a:r>
              <a:rPr dirty="0"/>
              <a:t> </a:t>
            </a:r>
            <a:r>
              <a:rPr dirty="0" err="1"/>
              <a:t>أَحَادِيْثَ</a:t>
            </a:r>
            <a:r>
              <a:rPr dirty="0"/>
              <a:t>.</a:t>
            </a:r>
          </a:p>
          <a:p>
            <a:r>
              <a:rPr dirty="0"/>
              <a:t>&gt; — </a:t>
            </a:r>
            <a:r>
              <a:rPr dirty="0" err="1"/>
              <a:t>سیر</a:t>
            </a:r>
            <a:r>
              <a:rPr dirty="0"/>
              <a:t> </a:t>
            </a:r>
            <a:r>
              <a:rPr dirty="0" err="1"/>
              <a:t>أعلام</a:t>
            </a:r>
            <a:r>
              <a:rPr dirty="0"/>
              <a:t> </a:t>
            </a:r>
            <a:r>
              <a:rPr dirty="0" err="1"/>
              <a:t>النبلاء</a:t>
            </a:r>
            <a:r>
              <a:rPr dirty="0"/>
              <a:t> ج۲ ص۴۴۹ · https://shamela.ws/book/10906/2429</a:t>
            </a:r>
          </a:p>
          <a:p>
            <a:r>
              <a:rPr dirty="0"/>
              <a:t>&gt; *English:* "</a:t>
            </a:r>
            <a:r>
              <a:rPr dirty="0" err="1"/>
              <a:t>Abū</a:t>
            </a:r>
            <a:r>
              <a:rPr dirty="0"/>
              <a:t> </a:t>
            </a:r>
            <a:r>
              <a:rPr dirty="0" err="1"/>
              <a:t>Qatāda</a:t>
            </a:r>
            <a:r>
              <a:rPr dirty="0"/>
              <a:t> al-</a:t>
            </a:r>
            <a:r>
              <a:rPr dirty="0" err="1"/>
              <a:t>Anṣārī</a:t>
            </a:r>
            <a:r>
              <a:rPr dirty="0"/>
              <a:t> al-</a:t>
            </a:r>
            <a:r>
              <a:rPr dirty="0" err="1"/>
              <a:t>Sulamī</a:t>
            </a:r>
            <a:r>
              <a:rPr dirty="0"/>
              <a:t>, al-</a:t>
            </a:r>
            <a:r>
              <a:rPr dirty="0" err="1"/>
              <a:t>Ḥārith</a:t>
            </a:r>
            <a:r>
              <a:rPr dirty="0"/>
              <a:t> b. </a:t>
            </a:r>
            <a:r>
              <a:rPr dirty="0" err="1"/>
              <a:t>Ribʿī</a:t>
            </a:r>
            <a:r>
              <a:rPr dirty="0"/>
              <a:t> … the Prophet's ﷺ horseman. He</a:t>
            </a:r>
          </a:p>
          <a:p>
            <a:r>
              <a:rPr dirty="0"/>
              <a:t>&gt; witnessed </a:t>
            </a:r>
            <a:r>
              <a:rPr dirty="0" err="1"/>
              <a:t>Uḥud</a:t>
            </a:r>
            <a:r>
              <a:rPr dirty="0"/>
              <a:t> and al-</a:t>
            </a:r>
            <a:r>
              <a:rPr dirty="0" err="1"/>
              <a:t>Ḥudaybiya</a:t>
            </a:r>
            <a:r>
              <a:rPr dirty="0"/>
              <a:t>, and a number of </a:t>
            </a:r>
            <a:r>
              <a:rPr dirty="0" err="1"/>
              <a:t>ḥadīth</a:t>
            </a:r>
            <a:r>
              <a:rPr dirty="0"/>
              <a:t> are from him."</a:t>
            </a:r>
          </a:p>
          <a:p>
            <a:endParaRPr dirty="0"/>
          </a:p>
          <a:p>
            <a:r>
              <a:rPr dirty="0"/>
              <a:t>**Why it matters:** the man the rest of the patrol contradicted is not an unknown in the ranks. Give</a:t>
            </a:r>
          </a:p>
          <a:p>
            <a:r>
              <a:rPr dirty="0"/>
              <a:t>the notice in one breath before the testimony and the weight of the disagreement lands.</a:t>
            </a:r>
          </a:p>
          <a:p>
            <a:endParaRPr dirty="0"/>
          </a:p>
          <a:p>
            <a:r>
              <a:rPr dirty="0"/>
              <a:t>WHEN, as the card gives it: 11 AH</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RUNSHEET: The </a:t>
            </a:r>
            <a:r>
              <a:rPr dirty="0" err="1"/>
              <a:t>centre</a:t>
            </a:r>
            <a:r>
              <a:rPr dirty="0"/>
              <a:t> of the part. Lay the accounts side by side and stop. Do not use the cooking-pot detail</a:t>
            </a:r>
          </a:p>
          <a:p>
            <a:endParaRPr dirty="0"/>
          </a:p>
          <a:p>
            <a:r>
              <a:rPr dirty="0"/>
              <a:t>SAY —</a:t>
            </a:r>
          </a:p>
          <a:p>
            <a:r>
              <a:rPr dirty="0"/>
              <a:t>1. Here the books stop agreeing — What happened that night is told four different ways.</a:t>
            </a:r>
            <a:endParaRPr lang="en-US" dirty="0"/>
          </a:p>
          <a:p>
            <a:endParaRPr dirty="0"/>
          </a:p>
          <a:p>
            <a:r>
              <a:rPr dirty="0"/>
              <a:t>2. The cold night, and the crier — Two words called through the camp which, on their face, mean warm your prisoners.</a:t>
            </a:r>
          </a:p>
          <a:p>
            <a:endParaRPr lang="en-US" dirty="0"/>
          </a:p>
          <a:p>
            <a:r>
              <a:rPr dirty="0"/>
              <a:t>3. Taken for an order to kill — The men killed them, </a:t>
            </a:r>
            <a:r>
              <a:rPr dirty="0" err="1"/>
              <a:t>Mālik</a:t>
            </a:r>
            <a:r>
              <a:rPr dirty="0"/>
              <a:t> ؓ among them.</a:t>
            </a:r>
          </a:p>
          <a:p>
            <a:endParaRPr lang="en-US" dirty="0"/>
          </a:p>
          <a:p>
            <a:r>
              <a:rPr dirty="0"/>
              <a:t>4. Ibn al-</a:t>
            </a:r>
            <a:r>
              <a:rPr dirty="0" err="1"/>
              <a:t>Athīr's</a:t>
            </a:r>
            <a:r>
              <a:rPr dirty="0"/>
              <a:t> explanation — In the dialect of </a:t>
            </a:r>
            <a:r>
              <a:rPr dirty="0" err="1"/>
              <a:t>Kināna</a:t>
            </a:r>
            <a:r>
              <a:rPr dirty="0"/>
              <a:t> that phrase means killing; only warmth was meant.</a:t>
            </a:r>
          </a:p>
          <a:p>
            <a:endParaRPr lang="en-US" dirty="0"/>
          </a:p>
          <a:p>
            <a:r>
              <a:rPr dirty="0"/>
              <a:t>5. The second version — </a:t>
            </a:r>
            <a:r>
              <a:rPr dirty="0" err="1"/>
              <a:t>Khālid</a:t>
            </a:r>
            <a:r>
              <a:rPr dirty="0"/>
              <a:t> ؓ summoned him, reproached him over </a:t>
            </a:r>
            <a:endParaRPr lang="en-US" dirty="0"/>
          </a:p>
          <a:p>
            <a:r>
              <a:rPr dirty="0" err="1"/>
              <a:t>Sajāḥ</a:t>
            </a:r>
            <a:r>
              <a:rPr dirty="0"/>
              <a:t> and the </a:t>
            </a:r>
            <a:r>
              <a:rPr dirty="0" err="1"/>
              <a:t>zakāt</a:t>
            </a:r>
            <a:r>
              <a:rPr dirty="0"/>
              <a:t>, and it ended in an order to strike.</a:t>
            </a:r>
          </a:p>
          <a:p>
            <a:endParaRPr lang="en-US" dirty="0"/>
          </a:p>
          <a:p>
            <a:r>
              <a:rPr dirty="0"/>
              <a:t>6. The Siyar's two — Including al-Zuhrī's: the men had laid down their arms, </a:t>
            </a:r>
            <a:endParaRPr lang="en-US" dirty="0"/>
          </a:p>
          <a:p>
            <a:r>
              <a:rPr dirty="0"/>
              <a:t>and the patrol split over whether quarter had been given.</a:t>
            </a:r>
          </a:p>
          <a:p>
            <a:endParaRPr lang="en-US" dirty="0"/>
          </a:p>
          <a:p>
            <a:r>
              <a:rPr dirty="0"/>
              <a:t>7. What we say — The books do not agree, and where they do not agree we </a:t>
            </a:r>
            <a:endParaRPr lang="en-US" dirty="0"/>
          </a:p>
          <a:p>
            <a:r>
              <a:rPr dirty="0"/>
              <a:t>record and we stop.</a:t>
            </a:r>
          </a:p>
          <a:p>
            <a:endParaRPr dirty="0"/>
          </a:p>
          <a:p>
            <a:r>
              <a:rPr dirty="0"/>
              <a:t>QUOTE — </a:t>
            </a:r>
            <a:r>
              <a:rPr dirty="0" err="1"/>
              <a:t>وَهِيَ</a:t>
            </a:r>
            <a:r>
              <a:rPr dirty="0"/>
              <a:t> </a:t>
            </a:r>
            <a:r>
              <a:rPr dirty="0" err="1"/>
              <a:t>فِي</a:t>
            </a:r>
            <a:r>
              <a:rPr dirty="0"/>
              <a:t> </a:t>
            </a:r>
            <a:r>
              <a:rPr dirty="0" err="1"/>
              <a:t>لُغَةِ</a:t>
            </a:r>
            <a:r>
              <a:rPr dirty="0"/>
              <a:t> </a:t>
            </a:r>
            <a:r>
              <a:rPr dirty="0" err="1"/>
              <a:t>كِنَانَةَ</a:t>
            </a:r>
            <a:r>
              <a:rPr dirty="0"/>
              <a:t> </a:t>
            </a:r>
            <a:r>
              <a:rPr dirty="0" err="1"/>
              <a:t>الْقَتْلُ</a:t>
            </a:r>
            <a:r>
              <a:rPr dirty="0"/>
              <a:t>، </a:t>
            </a:r>
            <a:r>
              <a:rPr dirty="0" err="1"/>
              <a:t>فَظَنَّ</a:t>
            </a:r>
            <a:r>
              <a:rPr dirty="0"/>
              <a:t> </a:t>
            </a:r>
            <a:r>
              <a:rPr dirty="0" err="1"/>
              <a:t>الْقَوْمُ</a:t>
            </a:r>
            <a:r>
              <a:rPr dirty="0"/>
              <a:t> </a:t>
            </a:r>
            <a:r>
              <a:rPr dirty="0" err="1"/>
              <a:t>أَنَّهُ</a:t>
            </a:r>
            <a:r>
              <a:rPr dirty="0"/>
              <a:t> </a:t>
            </a:r>
            <a:r>
              <a:rPr dirty="0" err="1"/>
              <a:t>أَرَادَ</a:t>
            </a:r>
            <a:r>
              <a:rPr dirty="0"/>
              <a:t> </a:t>
            </a:r>
            <a:r>
              <a:rPr dirty="0" err="1"/>
              <a:t>الْقَتْلَ</a:t>
            </a:r>
            <a:r>
              <a:rPr dirty="0"/>
              <a:t>، </a:t>
            </a:r>
            <a:r>
              <a:rPr dirty="0" err="1"/>
              <a:t>وَلَمْ</a:t>
            </a:r>
            <a:r>
              <a:rPr dirty="0"/>
              <a:t> </a:t>
            </a:r>
            <a:r>
              <a:rPr dirty="0" err="1"/>
              <a:t>يُرِدْ</a:t>
            </a:r>
            <a:r>
              <a:rPr dirty="0"/>
              <a:t> </a:t>
            </a:r>
            <a:r>
              <a:rPr dirty="0" err="1"/>
              <a:t>إِلَّا</a:t>
            </a:r>
            <a:r>
              <a:rPr dirty="0"/>
              <a:t> </a:t>
            </a:r>
            <a:r>
              <a:rPr dirty="0" err="1"/>
              <a:t>الدِّفْءَ</a:t>
            </a:r>
            <a:endParaRPr dirty="0"/>
          </a:p>
          <a:p>
            <a:r>
              <a:rPr dirty="0"/>
              <a:t>"— and in the dialect of </a:t>
            </a:r>
            <a:r>
              <a:rPr dirty="0" err="1"/>
              <a:t>Kināna</a:t>
            </a:r>
            <a:r>
              <a:rPr dirty="0"/>
              <a:t> that word means killing. So the people supposed he meant killing, and he had meant nothing but warmth."</a:t>
            </a:r>
          </a:p>
          <a:p>
            <a:r>
              <a:rPr dirty="0"/>
              <a:t>— </a:t>
            </a:r>
            <a:r>
              <a:rPr dirty="0" err="1"/>
              <a:t>الکامل</a:t>
            </a:r>
            <a:r>
              <a:rPr dirty="0"/>
              <a:t> </a:t>
            </a:r>
            <a:r>
              <a:rPr dirty="0" err="1"/>
              <a:t>فی</a:t>
            </a:r>
            <a:r>
              <a:rPr dirty="0"/>
              <a:t> </a:t>
            </a:r>
            <a:r>
              <a:rPr dirty="0" err="1"/>
              <a:t>التاریخ</a:t>
            </a:r>
            <a:r>
              <a:rPr dirty="0"/>
              <a:t> ج۲ ص۲۱۳</a:t>
            </a:r>
          </a:p>
          <a:p>
            <a:endParaRPr dirty="0"/>
          </a:p>
          <a:p>
            <a:r>
              <a:rPr dirty="0" err="1"/>
              <a:t>عبرت</a:t>
            </a:r>
            <a:r>
              <a:rPr dirty="0"/>
              <a:t> — Where four books tell one night four ways, the honest thing is to say so and stop.</a:t>
            </a:r>
          </a:p>
          <a:p>
            <a:endParaRPr dirty="0"/>
          </a:p>
          <a:p>
            <a:r>
              <a:rPr dirty="0"/>
              <a:t>⚠ and take no questions on it from the floor.</a:t>
            </a:r>
          </a:p>
          <a:p>
            <a:endParaRPr dirty="0"/>
          </a:p>
          <a:p>
            <a:r>
              <a:rPr dirty="0"/>
              <a:t>MAP — No movement. Hold on </a:t>
            </a:r>
            <a:r>
              <a:rPr dirty="0" err="1"/>
              <a:t>البُطاح</a:t>
            </a:r>
            <a:r>
              <a:rPr dirty="0"/>
              <a:t> and let the screen stay still while this is told.</a:t>
            </a:r>
          </a:p>
          <a:p>
            <a:endParaRPr dirty="0"/>
          </a:p>
          <a:p>
            <a:r>
              <a:rPr dirty="0"/>
              <a:t>&gt; ⚠ **HOW TO DELIVER.** Show the disagreement, not a verdict. What is **not** in dispute, in all four</a:t>
            </a:r>
          </a:p>
          <a:p>
            <a:r>
              <a:rPr dirty="0"/>
              <a:t>&gt; books: the </a:t>
            </a:r>
            <a:r>
              <a:rPr dirty="0" err="1"/>
              <a:t>Anṣār</a:t>
            </a:r>
            <a:r>
              <a:rPr dirty="0"/>
              <a:t> refused and then followed; </a:t>
            </a:r>
            <a:r>
              <a:rPr dirty="0" err="1"/>
              <a:t>Mālik</a:t>
            </a:r>
            <a:r>
              <a:rPr dirty="0"/>
              <a:t> ؓ was undecided; the patrol was divided; </a:t>
            </a:r>
            <a:r>
              <a:rPr dirty="0" err="1"/>
              <a:t>Abū</a:t>
            </a:r>
            <a:r>
              <a:rPr dirty="0"/>
              <a:t> </a:t>
            </a:r>
            <a:r>
              <a:rPr dirty="0" err="1"/>
              <a:t>Qatāda</a:t>
            </a:r>
            <a:r>
              <a:rPr dirty="0"/>
              <a:t> ؓ</a:t>
            </a:r>
          </a:p>
          <a:p>
            <a:r>
              <a:rPr dirty="0"/>
              <a:t>&gt; testified they had prayed; they were killed; </a:t>
            </a:r>
            <a:r>
              <a:rPr dirty="0" err="1"/>
              <a:t>Ḍirār</a:t>
            </a:r>
            <a:r>
              <a:rPr dirty="0"/>
              <a:t> killed </a:t>
            </a:r>
            <a:r>
              <a:rPr dirty="0" err="1"/>
              <a:t>Mālik</a:t>
            </a:r>
            <a:r>
              <a:rPr dirty="0"/>
              <a:t> ؓ; </a:t>
            </a:r>
            <a:r>
              <a:rPr dirty="0" err="1"/>
              <a:t>Khālid</a:t>
            </a:r>
            <a:r>
              <a:rPr dirty="0"/>
              <a:t> ؓ married the widow; </a:t>
            </a:r>
            <a:r>
              <a:rPr dirty="0" err="1"/>
              <a:t>ʿUmar</a:t>
            </a:r>
            <a:r>
              <a:rPr dirty="0"/>
              <a:t> ؓ</a:t>
            </a:r>
          </a:p>
          <a:p>
            <a:r>
              <a:rPr dirty="0"/>
              <a:t>&gt; demanded his removal; </a:t>
            </a:r>
            <a:r>
              <a:rPr dirty="0" err="1"/>
              <a:t>Abū</a:t>
            </a:r>
            <a:r>
              <a:rPr dirty="0"/>
              <a:t> Bakr ؓ paid the blood-money and kept him in command. **Disputed: how they</a:t>
            </a:r>
          </a:p>
          <a:p>
            <a:r>
              <a:rPr dirty="0"/>
              <a:t>&gt; died.** Say: *"The books do not agree, and where they do not agree we record and we stop."*</a:t>
            </a:r>
          </a:p>
          <a:p>
            <a:r>
              <a:rPr dirty="0"/>
              <a:t>&gt; **Do not use the cooking-pot detail** (</a:t>
            </a:r>
            <a:r>
              <a:rPr dirty="0" err="1"/>
              <a:t>البدایہ</a:t>
            </a:r>
            <a:r>
              <a:rPr dirty="0"/>
              <a:t> ج۷ ص۳۱) — it is graphic, it adds nothing the room</a:t>
            </a:r>
          </a:p>
          <a:p>
            <a:r>
              <a:rPr dirty="0"/>
              <a:t>&gt; needs, and it is exactly the kind of detail that turns an evening. **Do not adjudicate.** Defer</a:t>
            </a:r>
          </a:p>
          <a:p>
            <a:r>
              <a:rPr dirty="0"/>
              <a:t>&gt; everything else to the session that handles the </a:t>
            </a:r>
            <a:r>
              <a:rPr dirty="0" err="1"/>
              <a:t>مشاجرات</a:t>
            </a:r>
            <a:r>
              <a:rPr dirty="0"/>
              <a:t> with </a:t>
            </a:r>
            <a:r>
              <a:rPr dirty="0" err="1"/>
              <a:t>اصول</a:t>
            </a:r>
            <a:r>
              <a:rPr dirty="0"/>
              <a:t>.</a:t>
            </a:r>
          </a:p>
          <a:p>
            <a:endParaRPr dirty="0"/>
          </a:p>
          <a:p>
            <a:r>
              <a:rPr dirty="0"/>
              <a:t>BACKGROUND (read at home, not aloud) —</a:t>
            </a:r>
          </a:p>
          <a:p>
            <a:r>
              <a:rPr dirty="0"/>
              <a:t>What happened that night is the part the books do not agree on, and the honest thing is to lay the accounts side by side and stop there. Ibn </a:t>
            </a:r>
            <a:r>
              <a:rPr dirty="0" err="1"/>
              <a:t>Kathīr's</a:t>
            </a:r>
            <a:r>
              <a:rPr dirty="0"/>
              <a:t> first version: the prisoners were held through a bitterly cold night, and </a:t>
            </a:r>
            <a:r>
              <a:rPr dirty="0" err="1"/>
              <a:t>Khālid's</a:t>
            </a:r>
            <a:r>
              <a:rPr dirty="0"/>
              <a:t> ؓ crier called out two words which, on their face, mean warm your prisoners. The men took it for an order to kill, and killed them; </a:t>
            </a:r>
            <a:r>
              <a:rPr dirty="0" err="1"/>
              <a:t>Ḍirār</a:t>
            </a:r>
            <a:r>
              <a:rPr dirty="0"/>
              <a:t> b. al-Azwar killed </a:t>
            </a:r>
            <a:r>
              <a:rPr dirty="0" err="1"/>
              <a:t>Mālik</a:t>
            </a:r>
            <a:r>
              <a:rPr dirty="0"/>
              <a:t> ؓ. </a:t>
            </a:r>
            <a:r>
              <a:rPr dirty="0" err="1"/>
              <a:t>Khālid</a:t>
            </a:r>
            <a:r>
              <a:rPr dirty="0"/>
              <a:t> ؓ came out when he heard the noise, and it was already done. Ibn al-</a:t>
            </a:r>
            <a:r>
              <a:rPr dirty="0" err="1"/>
              <a:t>Athīr</a:t>
            </a:r>
            <a:r>
              <a:rPr dirty="0"/>
              <a:t> gives the same words with an explanation attached: in the dialect of </a:t>
            </a:r>
            <a:r>
              <a:rPr dirty="0" err="1"/>
              <a:t>Kināna</a:t>
            </a:r>
            <a:r>
              <a:rPr dirty="0"/>
              <a:t> that phrase means killing, so the men understood killing, and nothing but warmth had been meant. Ibn </a:t>
            </a:r>
            <a:r>
              <a:rPr dirty="0" err="1"/>
              <a:t>Kathīr</a:t>
            </a:r>
            <a:r>
              <a:rPr dirty="0"/>
              <a:t> then gives a second version — «</a:t>
            </a:r>
            <a:r>
              <a:rPr dirty="0" err="1"/>
              <a:t>ويقال</a:t>
            </a:r>
            <a:r>
              <a:rPr dirty="0"/>
              <a:t>» — in which </a:t>
            </a:r>
            <a:r>
              <a:rPr dirty="0" err="1"/>
              <a:t>Khālid</a:t>
            </a:r>
            <a:r>
              <a:rPr dirty="0"/>
              <a:t> ؓ summoned him and reproached him over </a:t>
            </a:r>
            <a:r>
              <a:rPr dirty="0" err="1"/>
              <a:t>Sajāḥ</a:t>
            </a:r>
            <a:r>
              <a:rPr dirty="0"/>
              <a:t> and over the </a:t>
            </a:r>
            <a:r>
              <a:rPr dirty="0" err="1"/>
              <a:t>zakāt</a:t>
            </a:r>
            <a:r>
              <a:rPr dirty="0"/>
              <a:t>, and the exchange ended in an order to strike. The Siyar carries two more, one of them al-Zuhrī's, in which the men had already laid down their arms and </a:t>
            </a:r>
            <a:r>
              <a:rPr dirty="0" err="1"/>
              <a:t>Abū</a:t>
            </a:r>
            <a:r>
              <a:rPr dirty="0"/>
              <a:t> </a:t>
            </a:r>
            <a:r>
              <a:rPr dirty="0" err="1"/>
              <a:t>Qatāda</a:t>
            </a:r>
            <a:r>
              <a:rPr dirty="0"/>
              <a:t> ؓ told </a:t>
            </a:r>
            <a:r>
              <a:rPr dirty="0" err="1"/>
              <a:t>Khālid</a:t>
            </a:r>
            <a:r>
              <a:rPr dirty="0"/>
              <a:t> ؓ they had been given quarter, and the rest of the patrol told him they had not. Four accounts, and we do not choose between them.</a:t>
            </a:r>
          </a:p>
          <a:p>
            <a:endParaRPr dirty="0"/>
          </a:p>
          <a:p>
            <a:r>
              <a:rPr dirty="0"/>
              <a:t>**Also on the page:**</a:t>
            </a:r>
          </a:p>
          <a:p>
            <a:endParaRPr dirty="0"/>
          </a:p>
          <a:p>
            <a:r>
              <a:rPr dirty="0"/>
              <a:t>&gt; </a:t>
            </a:r>
            <a:r>
              <a:rPr dirty="0" err="1"/>
              <a:t>فيقال</a:t>
            </a:r>
            <a:r>
              <a:rPr dirty="0"/>
              <a:t>: </a:t>
            </a:r>
            <a:r>
              <a:rPr dirty="0" err="1"/>
              <a:t>إن</a:t>
            </a:r>
            <a:r>
              <a:rPr dirty="0"/>
              <a:t> </a:t>
            </a:r>
            <a:r>
              <a:rPr dirty="0" err="1"/>
              <a:t>الأسارى</a:t>
            </a:r>
            <a:r>
              <a:rPr dirty="0"/>
              <a:t> </a:t>
            </a:r>
            <a:r>
              <a:rPr dirty="0" err="1"/>
              <a:t>باتوا</a:t>
            </a:r>
            <a:r>
              <a:rPr dirty="0"/>
              <a:t> </a:t>
            </a:r>
            <a:r>
              <a:rPr dirty="0" err="1"/>
              <a:t>في</a:t>
            </a:r>
            <a:r>
              <a:rPr dirty="0"/>
              <a:t> </a:t>
            </a:r>
            <a:r>
              <a:rPr dirty="0" err="1"/>
              <a:t>كبولهم</a:t>
            </a:r>
            <a:r>
              <a:rPr dirty="0"/>
              <a:t> </a:t>
            </a:r>
            <a:r>
              <a:rPr dirty="0" err="1"/>
              <a:t>في</a:t>
            </a:r>
            <a:r>
              <a:rPr dirty="0"/>
              <a:t> </a:t>
            </a:r>
            <a:r>
              <a:rPr dirty="0" err="1"/>
              <a:t>ليلة</a:t>
            </a:r>
            <a:r>
              <a:rPr dirty="0"/>
              <a:t> </a:t>
            </a:r>
            <a:r>
              <a:rPr dirty="0" err="1"/>
              <a:t>شديدةِ</a:t>
            </a:r>
            <a:r>
              <a:rPr dirty="0"/>
              <a:t> </a:t>
            </a:r>
            <a:r>
              <a:rPr dirty="0" err="1"/>
              <a:t>البردِ</a:t>
            </a:r>
            <a:r>
              <a:rPr dirty="0"/>
              <a:t>، </a:t>
            </a:r>
            <a:r>
              <a:rPr dirty="0" err="1"/>
              <a:t>فنادى</a:t>
            </a:r>
            <a:r>
              <a:rPr dirty="0"/>
              <a:t> </a:t>
            </a:r>
            <a:r>
              <a:rPr dirty="0" err="1"/>
              <a:t>منادي</a:t>
            </a:r>
            <a:r>
              <a:rPr dirty="0"/>
              <a:t> </a:t>
            </a:r>
            <a:r>
              <a:rPr dirty="0" err="1"/>
              <a:t>خالدٍ</a:t>
            </a:r>
            <a:r>
              <a:rPr dirty="0"/>
              <a:t>: </a:t>
            </a:r>
            <a:r>
              <a:rPr dirty="0" err="1"/>
              <a:t>أن</a:t>
            </a:r>
            <a:r>
              <a:rPr dirty="0"/>
              <a:t> </a:t>
            </a:r>
            <a:r>
              <a:rPr dirty="0" err="1"/>
              <a:t>أدفئوا</a:t>
            </a:r>
            <a:r>
              <a:rPr dirty="0"/>
              <a:t> </a:t>
            </a:r>
            <a:r>
              <a:rPr dirty="0" err="1"/>
              <a:t>أسراكم</a:t>
            </a:r>
            <a:r>
              <a:rPr dirty="0"/>
              <a:t>، </a:t>
            </a:r>
            <a:r>
              <a:rPr dirty="0" err="1"/>
              <a:t>فظنَّ</a:t>
            </a:r>
            <a:r>
              <a:rPr dirty="0"/>
              <a:t> </a:t>
            </a:r>
            <a:r>
              <a:rPr dirty="0" err="1"/>
              <a:t>القوم</a:t>
            </a:r>
            <a:r>
              <a:rPr dirty="0"/>
              <a:t> </a:t>
            </a:r>
            <a:r>
              <a:rPr dirty="0" err="1"/>
              <a:t>أنّه</a:t>
            </a:r>
            <a:r>
              <a:rPr dirty="0"/>
              <a:t> </a:t>
            </a:r>
            <a:r>
              <a:rPr dirty="0" err="1"/>
              <a:t>أراد</a:t>
            </a:r>
            <a:r>
              <a:rPr dirty="0"/>
              <a:t> </a:t>
            </a:r>
            <a:r>
              <a:rPr dirty="0" err="1"/>
              <a:t>القتلَ</a:t>
            </a:r>
            <a:r>
              <a:rPr dirty="0"/>
              <a:t>، </a:t>
            </a:r>
            <a:r>
              <a:rPr dirty="0" err="1"/>
              <a:t>فقتلوهم</a:t>
            </a:r>
            <a:r>
              <a:rPr dirty="0"/>
              <a:t>، </a:t>
            </a:r>
            <a:r>
              <a:rPr dirty="0" err="1"/>
              <a:t>وقتل</a:t>
            </a:r>
            <a:r>
              <a:rPr dirty="0"/>
              <a:t> </a:t>
            </a:r>
            <a:r>
              <a:rPr dirty="0" err="1"/>
              <a:t>ضرارُ</a:t>
            </a:r>
            <a:r>
              <a:rPr dirty="0"/>
              <a:t> </a:t>
            </a:r>
            <a:r>
              <a:rPr dirty="0" err="1"/>
              <a:t>بن</a:t>
            </a:r>
            <a:r>
              <a:rPr dirty="0"/>
              <a:t> </a:t>
            </a:r>
            <a:r>
              <a:rPr dirty="0" err="1"/>
              <a:t>الأزور</a:t>
            </a:r>
            <a:r>
              <a:rPr dirty="0"/>
              <a:t> </a:t>
            </a:r>
            <a:r>
              <a:rPr dirty="0" err="1"/>
              <a:t>مالكَ</a:t>
            </a:r>
            <a:r>
              <a:rPr dirty="0"/>
              <a:t> </a:t>
            </a:r>
            <a:r>
              <a:rPr dirty="0" err="1"/>
              <a:t>بن</a:t>
            </a:r>
            <a:r>
              <a:rPr dirty="0"/>
              <a:t> </a:t>
            </a:r>
            <a:r>
              <a:rPr dirty="0" err="1"/>
              <a:t>نُوَيْرة</a:t>
            </a:r>
            <a:endParaRPr dirty="0"/>
          </a:p>
          <a:p>
            <a:r>
              <a:rPr dirty="0"/>
              <a:t>&gt; — </a:t>
            </a:r>
            <a:r>
              <a:rPr dirty="0" err="1"/>
              <a:t>البدایہ</a:t>
            </a:r>
            <a:r>
              <a:rPr dirty="0"/>
              <a:t> </a:t>
            </a:r>
            <a:r>
              <a:rPr dirty="0" err="1"/>
              <a:t>والنہایہ</a:t>
            </a:r>
            <a:r>
              <a:rPr dirty="0"/>
              <a:t> ج۷ ص۳۰ · https://shamela.ws/book/30097/3176</a:t>
            </a:r>
          </a:p>
          <a:p>
            <a:r>
              <a:rPr dirty="0"/>
              <a:t>&gt; *English:* "It is said that the prisoners passed the night in their irons on a bitterly cold night,</a:t>
            </a:r>
          </a:p>
          <a:p>
            <a:r>
              <a:rPr dirty="0"/>
              <a:t>&gt; and </a:t>
            </a:r>
            <a:r>
              <a:rPr dirty="0" err="1"/>
              <a:t>Khālid's</a:t>
            </a:r>
            <a:r>
              <a:rPr dirty="0"/>
              <a:t> crier called out: warm your prisoners! And the people supposed he meant killing, and</a:t>
            </a:r>
          </a:p>
          <a:p>
            <a:r>
              <a:rPr dirty="0"/>
              <a:t>&gt; killed them; and </a:t>
            </a:r>
            <a:r>
              <a:rPr dirty="0" err="1"/>
              <a:t>Ḍirār</a:t>
            </a:r>
            <a:r>
              <a:rPr dirty="0"/>
              <a:t> b. al-Azwar killed </a:t>
            </a:r>
            <a:r>
              <a:rPr dirty="0" err="1"/>
              <a:t>Mālik</a:t>
            </a:r>
            <a:r>
              <a:rPr dirty="0"/>
              <a:t> b. </a:t>
            </a:r>
            <a:r>
              <a:rPr dirty="0" err="1"/>
              <a:t>Nuwayra</a:t>
            </a:r>
            <a:r>
              <a:rPr dirty="0"/>
              <a:t>."</a:t>
            </a:r>
          </a:p>
          <a:p>
            <a:endParaRPr dirty="0"/>
          </a:p>
          <a:p>
            <a:r>
              <a:rPr dirty="0"/>
              <a:t>&gt; </a:t>
            </a:r>
            <a:r>
              <a:rPr dirty="0" err="1"/>
              <a:t>ويقال</a:t>
            </a:r>
            <a:r>
              <a:rPr dirty="0"/>
              <a:t>: </a:t>
            </a:r>
            <a:r>
              <a:rPr dirty="0" err="1"/>
              <a:t>بل</a:t>
            </a:r>
            <a:r>
              <a:rPr dirty="0"/>
              <a:t> </a:t>
            </a:r>
            <a:r>
              <a:rPr dirty="0" err="1"/>
              <a:t>استدعى</a:t>
            </a:r>
            <a:r>
              <a:rPr dirty="0"/>
              <a:t> </a:t>
            </a:r>
            <a:r>
              <a:rPr dirty="0" err="1"/>
              <a:t>خالدٌ</a:t>
            </a:r>
            <a:r>
              <a:rPr dirty="0"/>
              <a:t> </a:t>
            </a:r>
            <a:r>
              <a:rPr dirty="0" err="1"/>
              <a:t>مالكَ</a:t>
            </a:r>
            <a:r>
              <a:rPr dirty="0"/>
              <a:t> </a:t>
            </a:r>
            <a:r>
              <a:rPr dirty="0" err="1"/>
              <a:t>بن</a:t>
            </a:r>
            <a:r>
              <a:rPr dirty="0"/>
              <a:t> </a:t>
            </a:r>
            <a:r>
              <a:rPr dirty="0" err="1"/>
              <a:t>نويرة</a:t>
            </a:r>
            <a:r>
              <a:rPr dirty="0"/>
              <a:t>، </a:t>
            </a:r>
            <a:r>
              <a:rPr dirty="0" err="1"/>
              <a:t>فأنّبه</a:t>
            </a:r>
            <a:r>
              <a:rPr dirty="0"/>
              <a:t> </a:t>
            </a:r>
            <a:r>
              <a:rPr dirty="0" err="1"/>
              <a:t>على</a:t>
            </a:r>
            <a:r>
              <a:rPr dirty="0"/>
              <a:t> </a:t>
            </a:r>
            <a:r>
              <a:rPr dirty="0" err="1"/>
              <a:t>ما</a:t>
            </a:r>
            <a:r>
              <a:rPr dirty="0"/>
              <a:t> </a:t>
            </a:r>
            <a:r>
              <a:rPr dirty="0" err="1"/>
              <a:t>صدر</a:t>
            </a:r>
            <a:r>
              <a:rPr dirty="0"/>
              <a:t> </a:t>
            </a:r>
            <a:r>
              <a:rPr dirty="0" err="1"/>
              <a:t>منه</a:t>
            </a:r>
            <a:r>
              <a:rPr dirty="0"/>
              <a:t> </a:t>
            </a:r>
            <a:r>
              <a:rPr dirty="0" err="1"/>
              <a:t>من</a:t>
            </a:r>
            <a:r>
              <a:rPr dirty="0"/>
              <a:t> </a:t>
            </a:r>
            <a:r>
              <a:rPr dirty="0" err="1"/>
              <a:t>متابعة</a:t>
            </a:r>
            <a:r>
              <a:rPr dirty="0"/>
              <a:t> </a:t>
            </a:r>
            <a:r>
              <a:rPr dirty="0" err="1"/>
              <a:t>سَجَاح</a:t>
            </a:r>
            <a:r>
              <a:rPr dirty="0"/>
              <a:t>، </a:t>
            </a:r>
            <a:r>
              <a:rPr dirty="0" err="1"/>
              <a:t>وعلى</a:t>
            </a:r>
            <a:r>
              <a:rPr dirty="0"/>
              <a:t> </a:t>
            </a:r>
            <a:r>
              <a:rPr dirty="0" err="1"/>
              <a:t>منعِه</a:t>
            </a:r>
            <a:r>
              <a:rPr dirty="0"/>
              <a:t> </a:t>
            </a:r>
            <a:r>
              <a:rPr dirty="0" err="1"/>
              <a:t>الزكاة</a:t>
            </a:r>
            <a:r>
              <a:rPr dirty="0"/>
              <a:t> </a:t>
            </a:r>
            <a:r>
              <a:rPr dirty="0" err="1"/>
              <a:t>وقال</a:t>
            </a:r>
            <a:r>
              <a:rPr dirty="0"/>
              <a:t>: </a:t>
            </a:r>
            <a:r>
              <a:rPr dirty="0" err="1"/>
              <a:t>ألم</a:t>
            </a:r>
            <a:r>
              <a:rPr dirty="0"/>
              <a:t> </a:t>
            </a:r>
            <a:r>
              <a:rPr dirty="0" err="1"/>
              <a:t>تعلمْ</a:t>
            </a:r>
            <a:r>
              <a:rPr dirty="0"/>
              <a:t> </a:t>
            </a:r>
            <a:r>
              <a:rPr dirty="0" err="1"/>
              <a:t>أنها</a:t>
            </a:r>
            <a:r>
              <a:rPr dirty="0"/>
              <a:t> </a:t>
            </a:r>
            <a:r>
              <a:rPr dirty="0" err="1"/>
              <a:t>قرينةُ</a:t>
            </a:r>
            <a:r>
              <a:rPr dirty="0"/>
              <a:t> </a:t>
            </a:r>
            <a:r>
              <a:rPr dirty="0" err="1"/>
              <a:t>الصلاة</a:t>
            </a:r>
            <a:r>
              <a:rPr dirty="0"/>
              <a:t>؟ </a:t>
            </a:r>
            <a:r>
              <a:rPr dirty="0" err="1"/>
              <a:t>فقال</a:t>
            </a:r>
            <a:r>
              <a:rPr dirty="0"/>
              <a:t> </a:t>
            </a:r>
            <a:r>
              <a:rPr dirty="0" err="1"/>
              <a:t>مالكٌ</a:t>
            </a:r>
            <a:r>
              <a:rPr dirty="0"/>
              <a:t>: </a:t>
            </a:r>
            <a:r>
              <a:rPr dirty="0" err="1"/>
              <a:t>إن</a:t>
            </a:r>
            <a:r>
              <a:rPr dirty="0"/>
              <a:t> </a:t>
            </a:r>
            <a:r>
              <a:rPr dirty="0" err="1"/>
              <a:t>صاحبَكم</a:t>
            </a:r>
            <a:r>
              <a:rPr dirty="0"/>
              <a:t> </a:t>
            </a:r>
            <a:r>
              <a:rPr dirty="0" err="1"/>
              <a:t>كان</a:t>
            </a:r>
            <a:r>
              <a:rPr dirty="0"/>
              <a:t> </a:t>
            </a:r>
            <a:r>
              <a:rPr dirty="0" err="1"/>
              <a:t>يزعمُ</a:t>
            </a:r>
            <a:r>
              <a:rPr dirty="0"/>
              <a:t> </a:t>
            </a:r>
            <a:r>
              <a:rPr dirty="0" err="1"/>
              <a:t>ذلك</a:t>
            </a:r>
            <a:endParaRPr dirty="0"/>
          </a:p>
          <a:p>
            <a:r>
              <a:rPr dirty="0"/>
              <a:t>&gt; — </a:t>
            </a:r>
            <a:r>
              <a:rPr dirty="0" err="1"/>
              <a:t>البدایہ</a:t>
            </a:r>
            <a:r>
              <a:rPr dirty="0"/>
              <a:t> </a:t>
            </a:r>
            <a:r>
              <a:rPr dirty="0" err="1"/>
              <a:t>والنہایہ</a:t>
            </a:r>
            <a:r>
              <a:rPr dirty="0"/>
              <a:t> ج۷ ص۳۰ · https://shamela.ws/book/30097/3176</a:t>
            </a:r>
          </a:p>
          <a:p>
            <a:r>
              <a:rPr dirty="0"/>
              <a:t>&gt; *English:* "And it is said: rather </a:t>
            </a:r>
            <a:r>
              <a:rPr dirty="0" err="1"/>
              <a:t>Khālid</a:t>
            </a:r>
            <a:r>
              <a:rPr dirty="0"/>
              <a:t> summoned </a:t>
            </a:r>
            <a:r>
              <a:rPr dirty="0" err="1"/>
              <a:t>Mālik</a:t>
            </a:r>
            <a:r>
              <a:rPr dirty="0"/>
              <a:t> b. </a:t>
            </a:r>
            <a:r>
              <a:rPr dirty="0" err="1"/>
              <a:t>Nuwayra</a:t>
            </a:r>
            <a:r>
              <a:rPr dirty="0"/>
              <a:t> and reproached him for what he</a:t>
            </a:r>
          </a:p>
          <a:p>
            <a:r>
              <a:rPr dirty="0"/>
              <a:t>&gt; had done in following </a:t>
            </a:r>
            <a:r>
              <a:rPr dirty="0" err="1"/>
              <a:t>Sajāḥ</a:t>
            </a:r>
            <a:r>
              <a:rPr dirty="0"/>
              <a:t> and for withholding the </a:t>
            </a:r>
            <a:r>
              <a:rPr dirty="0" err="1"/>
              <a:t>zakāt</a:t>
            </a:r>
            <a:r>
              <a:rPr dirty="0"/>
              <a:t>, and said: did you not know that it is the</a:t>
            </a:r>
          </a:p>
          <a:p>
            <a:r>
              <a:rPr dirty="0"/>
              <a:t>&gt; companion of the prayer? </a:t>
            </a:r>
            <a:r>
              <a:rPr dirty="0" err="1"/>
              <a:t>Mālik</a:t>
            </a:r>
            <a:r>
              <a:rPr dirty="0"/>
              <a:t> said: your companion used to claim that."</a:t>
            </a:r>
          </a:p>
          <a:p>
            <a:endParaRPr dirty="0"/>
          </a:p>
          <a:p>
            <a:r>
              <a:rPr dirty="0"/>
              <a:t>The reply, and the order to strike, are overleaf at </a:t>
            </a:r>
            <a:r>
              <a:rPr dirty="0" err="1"/>
              <a:t>البدایہ</a:t>
            </a:r>
            <a:r>
              <a:rPr dirty="0"/>
              <a:t> ج۷ ص۳۱ — *"Is he our companion and not</a:t>
            </a:r>
          </a:p>
          <a:p>
            <a:r>
              <a:rPr dirty="0"/>
              <a:t>yours?"* Both halves of the exchange must be cited to their own page; it straddles the break.</a:t>
            </a:r>
          </a:p>
          <a:p>
            <a:endParaRPr dirty="0"/>
          </a:p>
          <a:p>
            <a:r>
              <a:rPr dirty="0"/>
              <a:t>WHEN, as the card gives it: 11 AH</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MAP: tools/mapstudio/scenes/s04-04-back-to-medina.json at step 1,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RUNSHEET: No hands-up here (review, 2026-09-22): the card's spare one asks the room to choose between </a:t>
            </a:r>
            <a:r>
              <a:rPr dirty="0" err="1"/>
              <a:t>ʿUmar's</a:t>
            </a:r>
            <a:r>
              <a:rPr dirty="0"/>
              <a:t> ؓ position and </a:t>
            </a:r>
            <a:r>
              <a:rPr dirty="0" err="1"/>
              <a:t>Abū</a:t>
            </a:r>
            <a:r>
              <a:rPr dirty="0"/>
              <a:t> Bakr's ؓ, in the part that is never a verdict. build.py drops it (NOHANDS)</a:t>
            </a:r>
          </a:p>
          <a:p>
            <a:endParaRPr dirty="0"/>
          </a:p>
          <a:p>
            <a:r>
              <a:rPr dirty="0"/>
              <a:t>SAY —</a:t>
            </a:r>
            <a:endParaRPr lang="en-US" dirty="0"/>
          </a:p>
          <a:p>
            <a:endParaRPr lang="en-US" dirty="0"/>
          </a:p>
          <a:p>
            <a:r>
              <a:rPr lang="en-US" dirty="0"/>
              <a:t>0. </a:t>
            </a:r>
            <a:r>
              <a:rPr lang="en-US" dirty="0" err="1"/>
              <a:t>Mutammim</a:t>
            </a:r>
            <a:r>
              <a:rPr lang="en-US" dirty="0"/>
              <a:t> bin </a:t>
            </a:r>
            <a:r>
              <a:rPr lang="en-US" dirty="0" err="1"/>
              <a:t>Nuwayra</a:t>
            </a:r>
            <a:r>
              <a:rPr lang="en-US" dirty="0"/>
              <a:t> came to Medina to complain about Khalid</a:t>
            </a:r>
          </a:p>
          <a:p>
            <a:endParaRPr lang="en-US" dirty="0"/>
          </a:p>
          <a:p>
            <a:r>
              <a:rPr lang="en-US" dirty="0"/>
              <a:t>1. </a:t>
            </a:r>
            <a:r>
              <a:rPr lang="en-US" dirty="0" err="1"/>
              <a:t>ʿUmar</a:t>
            </a:r>
            <a:r>
              <a:rPr lang="en-US" dirty="0"/>
              <a:t> </a:t>
            </a:r>
            <a:r>
              <a:rPr lang="ur-PK" dirty="0"/>
              <a:t>ؓ </a:t>
            </a:r>
            <a:r>
              <a:rPr lang="en-US" dirty="0"/>
              <a:t>keeps pressing — Remove him: there is recklessness in that sword.</a:t>
            </a:r>
          </a:p>
          <a:p>
            <a:endParaRPr lang="en-US" dirty="0"/>
          </a:p>
          <a:p>
            <a:r>
              <a:rPr lang="en-US" dirty="0"/>
              <a:t>2. </a:t>
            </a:r>
            <a:r>
              <a:rPr lang="en-US" dirty="0" err="1"/>
              <a:t>Khālid</a:t>
            </a:r>
            <a:r>
              <a:rPr lang="en-US" dirty="0"/>
              <a:t> </a:t>
            </a:r>
            <a:r>
              <a:rPr lang="ur-PK" dirty="0"/>
              <a:t>ؓ </a:t>
            </a:r>
            <a:r>
              <a:rPr lang="en-US" dirty="0"/>
              <a:t>is sent for — And came to Medina in rusted mail, arrows stuck in his turban.</a:t>
            </a:r>
          </a:p>
          <a:p>
            <a:endParaRPr lang="en-US" dirty="0"/>
          </a:p>
          <a:p>
            <a:r>
              <a:rPr lang="en-US" dirty="0"/>
              <a:t>3. In the mosque — </a:t>
            </a:r>
            <a:r>
              <a:rPr lang="en-US" dirty="0" err="1"/>
              <a:t>ʿUmar</a:t>
            </a:r>
            <a:r>
              <a:rPr lang="en-US" dirty="0"/>
              <a:t> </a:t>
            </a:r>
            <a:r>
              <a:rPr lang="ur-PK" dirty="0"/>
              <a:t>ؓ </a:t>
            </a:r>
            <a:r>
              <a:rPr lang="en-US" dirty="0"/>
              <a:t>stood, pulled the arrows out of his turban and broke them.</a:t>
            </a:r>
          </a:p>
          <a:p>
            <a:endParaRPr lang="en-US" dirty="0"/>
          </a:p>
          <a:p>
            <a:r>
              <a:rPr lang="en-US" dirty="0"/>
              <a:t>4. And said it to his face — You killed a Muslim man, and then you took his wife.</a:t>
            </a:r>
          </a:p>
          <a:p>
            <a:r>
              <a:rPr lang="en-US" dirty="0"/>
              <a:t>   ^ read the Arabic on the face here</a:t>
            </a:r>
          </a:p>
          <a:p>
            <a:endParaRPr lang="en-US" dirty="0"/>
          </a:p>
          <a:p>
            <a:r>
              <a:rPr lang="en-US" dirty="0"/>
              <a:t>5. </a:t>
            </a:r>
            <a:r>
              <a:rPr lang="en-US" dirty="0" err="1"/>
              <a:t>Khālid</a:t>
            </a:r>
            <a:r>
              <a:rPr lang="en-US" dirty="0"/>
              <a:t> </a:t>
            </a:r>
            <a:r>
              <a:rPr lang="ur-PK" dirty="0"/>
              <a:t>ؓ </a:t>
            </a:r>
            <a:r>
              <a:rPr lang="en-US" dirty="0"/>
              <a:t>says nothing — He assumed the caliph's view was </a:t>
            </a:r>
            <a:r>
              <a:rPr lang="en-US" dirty="0" err="1"/>
              <a:t>ʿUmar's</a:t>
            </a:r>
            <a:r>
              <a:rPr lang="en-US" dirty="0"/>
              <a:t> </a:t>
            </a:r>
            <a:r>
              <a:rPr lang="ur-PK" dirty="0"/>
              <a:t>ؓ </a:t>
            </a:r>
            <a:r>
              <a:rPr lang="en-US" dirty="0"/>
              <a:t>view.</a:t>
            </a:r>
          </a:p>
          <a:p>
            <a:br>
              <a:rPr lang="en-US" dirty="0"/>
            </a:br>
            <a:r>
              <a:rPr dirty="0"/>
              <a:t>1. The demand is refused — </a:t>
            </a:r>
            <a:r>
              <a:rPr dirty="0" err="1"/>
              <a:t>Abū</a:t>
            </a:r>
            <a:r>
              <a:rPr dirty="0"/>
              <a:t> Bakr ؓ would not remove him.</a:t>
            </a:r>
          </a:p>
          <a:p>
            <a:endParaRPr lang="en-US" dirty="0"/>
          </a:p>
          <a:p>
            <a:r>
              <a:rPr dirty="0"/>
              <a:t>2. "He interpreted and was mistaken" — Not: he was right. The caliph says plainly that he erred.</a:t>
            </a:r>
          </a:p>
          <a:p>
            <a:endParaRPr lang="en-US" dirty="0"/>
          </a:p>
          <a:p>
            <a:r>
              <a:rPr dirty="0"/>
              <a:t>3. "Lift your tongue off </a:t>
            </a:r>
            <a:r>
              <a:rPr dirty="0" err="1"/>
              <a:t>Khālid</a:t>
            </a:r>
            <a:r>
              <a:rPr dirty="0"/>
              <a:t>" — And: I do not sheathe a sword Allah has drawn against the disbelievers.</a:t>
            </a:r>
          </a:p>
          <a:p>
            <a:r>
              <a:rPr dirty="0"/>
              <a:t>   ^ read the Arabic on the face here</a:t>
            </a:r>
          </a:p>
          <a:p>
            <a:endParaRPr lang="en-US" dirty="0"/>
          </a:p>
          <a:p>
            <a:r>
              <a:rPr dirty="0"/>
              <a:t>4. The blood-money is paid — For </a:t>
            </a:r>
            <a:r>
              <a:rPr dirty="0" err="1"/>
              <a:t>Mālik</a:t>
            </a:r>
            <a:r>
              <a:rPr dirty="0"/>
              <a:t> b. </a:t>
            </a:r>
            <a:r>
              <a:rPr dirty="0" err="1"/>
              <a:t>Nuwayra</a:t>
            </a:r>
            <a:r>
              <a:rPr dirty="0"/>
              <a:t> ؓ, from the caliph's own side.</a:t>
            </a:r>
          </a:p>
          <a:p>
            <a:endParaRPr lang="en-US" dirty="0"/>
          </a:p>
          <a:p>
            <a:r>
              <a:rPr dirty="0"/>
              <a:t>5. And he stays in command — The error is named, the price is paid, the commander is kept.</a:t>
            </a:r>
          </a:p>
          <a:p>
            <a:endParaRPr dirty="0"/>
          </a:p>
          <a:p>
            <a:r>
              <a:rPr dirty="0"/>
              <a:t>QUOTE — </a:t>
            </a:r>
            <a:r>
              <a:rPr dirty="0" err="1"/>
              <a:t>هِيهِ</a:t>
            </a:r>
            <a:r>
              <a:rPr dirty="0"/>
              <a:t> </a:t>
            </a:r>
            <a:r>
              <a:rPr dirty="0" err="1"/>
              <a:t>يَا</a:t>
            </a:r>
            <a:r>
              <a:rPr dirty="0"/>
              <a:t> </a:t>
            </a:r>
            <a:r>
              <a:rPr dirty="0" err="1"/>
              <a:t>عُمَرُ</a:t>
            </a:r>
            <a:r>
              <a:rPr dirty="0"/>
              <a:t>! </a:t>
            </a:r>
            <a:r>
              <a:rPr dirty="0" err="1"/>
              <a:t>تَأَوَّلَ</a:t>
            </a:r>
            <a:r>
              <a:rPr dirty="0"/>
              <a:t> </a:t>
            </a:r>
            <a:r>
              <a:rPr dirty="0" err="1"/>
              <a:t>فَأَخْطَأَ</a:t>
            </a:r>
            <a:r>
              <a:rPr dirty="0"/>
              <a:t>، </a:t>
            </a:r>
            <a:r>
              <a:rPr dirty="0" err="1"/>
              <a:t>فَارْفَعْ</a:t>
            </a:r>
            <a:r>
              <a:rPr dirty="0"/>
              <a:t> </a:t>
            </a:r>
            <a:r>
              <a:rPr dirty="0" err="1"/>
              <a:t>لِسَانَكَ</a:t>
            </a:r>
            <a:r>
              <a:rPr dirty="0"/>
              <a:t> </a:t>
            </a:r>
            <a:r>
              <a:rPr dirty="0" err="1"/>
              <a:t>عَنْ</a:t>
            </a:r>
            <a:r>
              <a:rPr dirty="0"/>
              <a:t> </a:t>
            </a:r>
            <a:r>
              <a:rPr dirty="0" err="1"/>
              <a:t>خَالِدٍ</a:t>
            </a:r>
            <a:r>
              <a:rPr dirty="0"/>
              <a:t>، </a:t>
            </a:r>
            <a:r>
              <a:rPr dirty="0" err="1"/>
              <a:t>فَإِنِّي</a:t>
            </a:r>
            <a:r>
              <a:rPr dirty="0"/>
              <a:t> </a:t>
            </a:r>
            <a:r>
              <a:rPr dirty="0" err="1"/>
              <a:t>لَا</a:t>
            </a:r>
            <a:r>
              <a:rPr dirty="0"/>
              <a:t> </a:t>
            </a:r>
            <a:r>
              <a:rPr dirty="0" err="1"/>
              <a:t>أَشِيمُ</a:t>
            </a:r>
            <a:r>
              <a:rPr dirty="0"/>
              <a:t> </a:t>
            </a:r>
            <a:r>
              <a:rPr dirty="0" err="1"/>
              <a:t>سَيْفًا</a:t>
            </a:r>
            <a:r>
              <a:rPr dirty="0"/>
              <a:t> </a:t>
            </a:r>
            <a:r>
              <a:rPr dirty="0" err="1"/>
              <a:t>سَلَّهُ</a:t>
            </a:r>
            <a:r>
              <a:rPr dirty="0"/>
              <a:t> </a:t>
            </a:r>
            <a:r>
              <a:rPr dirty="0" err="1"/>
              <a:t>اللَّهُ</a:t>
            </a:r>
            <a:r>
              <a:rPr dirty="0"/>
              <a:t> </a:t>
            </a:r>
            <a:r>
              <a:rPr dirty="0" err="1"/>
              <a:t>عَلَى</a:t>
            </a:r>
            <a:r>
              <a:rPr dirty="0"/>
              <a:t> </a:t>
            </a:r>
            <a:r>
              <a:rPr dirty="0" err="1"/>
              <a:t>الْكَافِرِينَ</a:t>
            </a:r>
            <a:r>
              <a:rPr dirty="0"/>
              <a:t>.</a:t>
            </a:r>
          </a:p>
          <a:p>
            <a:r>
              <a:rPr dirty="0"/>
              <a:t>"Enough, </a:t>
            </a:r>
            <a:r>
              <a:rPr dirty="0" err="1"/>
              <a:t>ʿUmar</a:t>
            </a:r>
            <a:r>
              <a:rPr dirty="0"/>
              <a:t>! He interpreted and was mistaken. Lift your tongue off </a:t>
            </a:r>
            <a:r>
              <a:rPr dirty="0" err="1"/>
              <a:t>Khālid</a:t>
            </a:r>
            <a:r>
              <a:rPr dirty="0"/>
              <a:t> — for I do not sheathe a sword Allah has drawn against the disbelievers."</a:t>
            </a:r>
          </a:p>
          <a:p>
            <a:r>
              <a:rPr dirty="0"/>
              <a:t>— </a:t>
            </a:r>
            <a:r>
              <a:rPr dirty="0" err="1"/>
              <a:t>الکامل</a:t>
            </a:r>
            <a:r>
              <a:rPr dirty="0"/>
              <a:t> </a:t>
            </a:r>
            <a:r>
              <a:rPr dirty="0" err="1"/>
              <a:t>فی</a:t>
            </a:r>
            <a:r>
              <a:rPr dirty="0"/>
              <a:t> </a:t>
            </a:r>
            <a:r>
              <a:rPr dirty="0" err="1"/>
              <a:t>التاریخ</a:t>
            </a:r>
            <a:r>
              <a:rPr dirty="0"/>
              <a:t> ج۲ ص۲۱۳</a:t>
            </a:r>
          </a:p>
          <a:p>
            <a:endParaRPr dirty="0"/>
          </a:p>
          <a:p>
            <a:r>
              <a:rPr dirty="0" err="1"/>
              <a:t>عبرت</a:t>
            </a:r>
            <a:r>
              <a:rPr dirty="0"/>
              <a:t> — The caliph said out loud that his commander had got it wrong, paid for it, and kept him. Those three are one decision, not three.</a:t>
            </a:r>
          </a:p>
          <a:p>
            <a:endParaRPr dirty="0"/>
          </a:p>
          <a:p>
            <a:r>
              <a:rPr dirty="0"/>
              <a:t>MAP — Hold on **</a:t>
            </a:r>
            <a:r>
              <a:rPr dirty="0" err="1"/>
              <a:t>المدينة</a:t>
            </a:r>
            <a:r>
              <a:rPr dirty="0"/>
              <a:t>**.</a:t>
            </a:r>
          </a:p>
          <a:p>
            <a:endParaRPr dirty="0"/>
          </a:p>
          <a:p>
            <a:r>
              <a:rPr dirty="0"/>
              <a:t>BACKGROUND (read at home, not aloud) —</a:t>
            </a:r>
          </a:p>
          <a:p>
            <a:r>
              <a:rPr dirty="0" err="1"/>
              <a:t>Abū</a:t>
            </a:r>
            <a:r>
              <a:rPr dirty="0"/>
              <a:t> Bakr ؓ did not accept the demand and did not dismiss him. He said </a:t>
            </a:r>
            <a:r>
              <a:rPr dirty="0" err="1"/>
              <a:t>Khālid</a:t>
            </a:r>
            <a:r>
              <a:rPr dirty="0"/>
              <a:t> ؓ had made an interpretation and had got it wrong; that </a:t>
            </a:r>
            <a:r>
              <a:rPr dirty="0" err="1"/>
              <a:t>ʿUmar</a:t>
            </a:r>
            <a:r>
              <a:rPr dirty="0"/>
              <a:t> ؓ was to lift his tongue off him; and that he would not sheathe a sword Allah had drawn against the disbelievers. Then he did the three things that are in all four books: he accepted </a:t>
            </a:r>
            <a:r>
              <a:rPr dirty="0" err="1"/>
              <a:t>Khālid's</a:t>
            </a:r>
            <a:r>
              <a:rPr dirty="0"/>
              <a:t> ؓ excuse and passed over what had been done, he paid the blood-money for </a:t>
            </a:r>
            <a:r>
              <a:rPr dirty="0" err="1"/>
              <a:t>Mālik</a:t>
            </a:r>
            <a:r>
              <a:rPr dirty="0"/>
              <a:t> b. </a:t>
            </a:r>
            <a:r>
              <a:rPr dirty="0" err="1"/>
              <a:t>Nuwayra</a:t>
            </a:r>
            <a:r>
              <a:rPr dirty="0"/>
              <a:t> ؓ out of his own side, and he left him in command.</a:t>
            </a:r>
          </a:p>
          <a:p>
            <a:endParaRPr dirty="0"/>
          </a:p>
          <a:p>
            <a:r>
              <a:rPr dirty="0"/>
              <a:t>**Also on the page:**</a:t>
            </a:r>
          </a:p>
          <a:p>
            <a:endParaRPr dirty="0"/>
          </a:p>
          <a:p>
            <a:r>
              <a:rPr dirty="0"/>
              <a:t>&gt; </a:t>
            </a:r>
            <a:r>
              <a:rPr dirty="0" err="1"/>
              <a:t>اعزلْهُ</a:t>
            </a:r>
            <a:r>
              <a:rPr dirty="0"/>
              <a:t> </a:t>
            </a:r>
            <a:r>
              <a:rPr dirty="0" err="1"/>
              <a:t>فإنَّ</a:t>
            </a:r>
            <a:r>
              <a:rPr dirty="0"/>
              <a:t> </a:t>
            </a:r>
            <a:r>
              <a:rPr dirty="0" err="1"/>
              <a:t>في</a:t>
            </a:r>
            <a:r>
              <a:rPr dirty="0"/>
              <a:t> </a:t>
            </a:r>
            <a:r>
              <a:rPr dirty="0" err="1"/>
              <a:t>سيفه</a:t>
            </a:r>
            <a:r>
              <a:rPr dirty="0"/>
              <a:t> </a:t>
            </a:r>
            <a:r>
              <a:rPr dirty="0" err="1"/>
              <a:t>رَهَقًا</a:t>
            </a:r>
            <a:r>
              <a:rPr dirty="0"/>
              <a:t>، </a:t>
            </a:r>
            <a:r>
              <a:rPr dirty="0" err="1"/>
              <a:t>فقال</a:t>
            </a:r>
            <a:r>
              <a:rPr dirty="0"/>
              <a:t> </a:t>
            </a:r>
            <a:r>
              <a:rPr dirty="0" err="1"/>
              <a:t>أبو</a:t>
            </a:r>
            <a:r>
              <a:rPr dirty="0"/>
              <a:t> </a:t>
            </a:r>
            <a:r>
              <a:rPr dirty="0" err="1"/>
              <a:t>بكر</a:t>
            </a:r>
            <a:r>
              <a:rPr dirty="0"/>
              <a:t>: </a:t>
            </a:r>
            <a:r>
              <a:rPr dirty="0" err="1"/>
              <a:t>لا</a:t>
            </a:r>
            <a:r>
              <a:rPr dirty="0"/>
              <a:t> </a:t>
            </a:r>
            <a:r>
              <a:rPr dirty="0" err="1"/>
              <a:t>أشيم</a:t>
            </a:r>
            <a:r>
              <a:rPr dirty="0"/>
              <a:t> </a:t>
            </a:r>
            <a:r>
              <a:rPr dirty="0" err="1"/>
              <a:t>سيفًا</a:t>
            </a:r>
            <a:r>
              <a:rPr dirty="0"/>
              <a:t> </a:t>
            </a:r>
            <a:r>
              <a:rPr dirty="0" err="1"/>
              <a:t>سلّه</a:t>
            </a:r>
            <a:r>
              <a:rPr dirty="0"/>
              <a:t> </a:t>
            </a:r>
            <a:r>
              <a:rPr dirty="0" err="1"/>
              <a:t>اللهُ</a:t>
            </a:r>
            <a:r>
              <a:rPr dirty="0"/>
              <a:t> </a:t>
            </a:r>
            <a:r>
              <a:rPr dirty="0" err="1"/>
              <a:t>على</a:t>
            </a:r>
            <a:r>
              <a:rPr dirty="0"/>
              <a:t> </a:t>
            </a:r>
            <a:r>
              <a:rPr dirty="0" err="1"/>
              <a:t>الكفار</a:t>
            </a:r>
            <a:endParaRPr dirty="0"/>
          </a:p>
          <a:p>
            <a:r>
              <a:rPr dirty="0"/>
              <a:t>&gt; — </a:t>
            </a:r>
            <a:r>
              <a:rPr dirty="0" err="1"/>
              <a:t>البدایہ</a:t>
            </a:r>
            <a:r>
              <a:rPr dirty="0"/>
              <a:t> </a:t>
            </a:r>
            <a:r>
              <a:rPr dirty="0" err="1"/>
              <a:t>والنہایہ</a:t>
            </a:r>
            <a:r>
              <a:rPr dirty="0"/>
              <a:t> ج۷ ص۳۱ · https://shamela.ws/book/30097/3177</a:t>
            </a:r>
          </a:p>
          <a:p>
            <a:r>
              <a:rPr dirty="0"/>
              <a:t>&gt; *English:* "Dismiss him, for there is recklessness in his sword. </a:t>
            </a:r>
            <a:r>
              <a:rPr dirty="0" err="1"/>
              <a:t>Abū</a:t>
            </a:r>
            <a:r>
              <a:rPr dirty="0"/>
              <a:t> Bakr said: I do not sheathe a</a:t>
            </a:r>
          </a:p>
          <a:p>
            <a:r>
              <a:rPr dirty="0"/>
              <a:t>&gt; sword Allah has drawn against the disbelievers."</a:t>
            </a:r>
          </a:p>
          <a:p>
            <a:endParaRPr dirty="0"/>
          </a:p>
          <a:p>
            <a:r>
              <a:rPr dirty="0"/>
              <a:t>&gt; </a:t>
            </a:r>
            <a:r>
              <a:rPr dirty="0" err="1"/>
              <a:t>ليس</a:t>
            </a:r>
            <a:r>
              <a:rPr dirty="0"/>
              <a:t> </a:t>
            </a:r>
            <a:r>
              <a:rPr dirty="0" err="1"/>
              <a:t>على</a:t>
            </a:r>
            <a:r>
              <a:rPr dirty="0"/>
              <a:t> </a:t>
            </a:r>
            <a:r>
              <a:rPr dirty="0" err="1"/>
              <a:t>خالد</a:t>
            </a:r>
            <a:r>
              <a:rPr dirty="0"/>
              <a:t> </a:t>
            </a:r>
            <a:r>
              <a:rPr dirty="0" err="1"/>
              <a:t>ما</a:t>
            </a:r>
            <a:r>
              <a:rPr dirty="0"/>
              <a:t> </a:t>
            </a:r>
            <a:r>
              <a:rPr dirty="0" err="1"/>
              <a:t>تقول</a:t>
            </a:r>
            <a:r>
              <a:rPr dirty="0"/>
              <a:t>، </a:t>
            </a:r>
            <a:r>
              <a:rPr dirty="0" err="1"/>
              <a:t>هبه</a:t>
            </a:r>
            <a:r>
              <a:rPr dirty="0"/>
              <a:t> </a:t>
            </a:r>
            <a:r>
              <a:rPr dirty="0" err="1"/>
              <a:t>تأول</a:t>
            </a:r>
            <a:r>
              <a:rPr dirty="0"/>
              <a:t> </a:t>
            </a:r>
            <a:r>
              <a:rPr dirty="0" err="1"/>
              <a:t>فأخطأ</a:t>
            </a:r>
            <a:endParaRPr dirty="0"/>
          </a:p>
          <a:p>
            <a:r>
              <a:rPr dirty="0"/>
              <a:t>&gt; — </a:t>
            </a:r>
            <a:r>
              <a:rPr dirty="0" err="1"/>
              <a:t>سیر</a:t>
            </a:r>
            <a:r>
              <a:rPr dirty="0"/>
              <a:t> </a:t>
            </a:r>
            <a:r>
              <a:rPr dirty="0" err="1"/>
              <a:t>أعلام</a:t>
            </a:r>
            <a:r>
              <a:rPr dirty="0"/>
              <a:t> </a:t>
            </a:r>
            <a:r>
              <a:rPr dirty="0" err="1"/>
              <a:t>النبلاء</a:t>
            </a:r>
            <a:r>
              <a:rPr dirty="0"/>
              <a:t> (</a:t>
            </a:r>
            <a:r>
              <a:rPr dirty="0" err="1"/>
              <a:t>سير</a:t>
            </a:r>
            <a:r>
              <a:rPr dirty="0"/>
              <a:t> </a:t>
            </a:r>
            <a:r>
              <a:rPr dirty="0" err="1"/>
              <a:t>الخلفاء</a:t>
            </a:r>
            <a:r>
              <a:rPr dirty="0"/>
              <a:t> </a:t>
            </a:r>
            <a:r>
              <a:rPr dirty="0" err="1"/>
              <a:t>الراشدين</a:t>
            </a:r>
            <a:r>
              <a:rPr dirty="0"/>
              <a:t>) ص۴۶ · https://shamela.ws/book/10906/1194</a:t>
            </a:r>
          </a:p>
          <a:p>
            <a:r>
              <a:rPr dirty="0"/>
              <a:t>&gt; *English:* "</a:t>
            </a:r>
            <a:r>
              <a:rPr dirty="0" err="1"/>
              <a:t>Khālid</a:t>
            </a:r>
            <a:r>
              <a:rPr dirty="0"/>
              <a:t> does not bear what you say. Grant that he interpreted and was mistaken."</a:t>
            </a:r>
          </a:p>
          <a:p>
            <a:endParaRPr dirty="0"/>
          </a:p>
          <a:p>
            <a:r>
              <a:rPr dirty="0"/>
              <a:t>The blood-money is at </a:t>
            </a:r>
            <a:r>
              <a:rPr dirty="0" err="1"/>
              <a:t>البدایہ</a:t>
            </a:r>
            <a:r>
              <a:rPr dirty="0"/>
              <a:t> ج۷ ص۳۲ — «</a:t>
            </a:r>
            <a:r>
              <a:rPr dirty="0" err="1"/>
              <a:t>وودى</a:t>
            </a:r>
            <a:r>
              <a:rPr dirty="0"/>
              <a:t> </a:t>
            </a:r>
            <a:r>
              <a:rPr dirty="0" err="1"/>
              <a:t>مالك</a:t>
            </a:r>
            <a:r>
              <a:rPr dirty="0"/>
              <a:t> </a:t>
            </a:r>
            <a:r>
              <a:rPr dirty="0" err="1"/>
              <a:t>بن</a:t>
            </a:r>
            <a:r>
              <a:rPr dirty="0"/>
              <a:t> </a:t>
            </a:r>
            <a:r>
              <a:rPr dirty="0" err="1"/>
              <a:t>نويرة</a:t>
            </a:r>
            <a:r>
              <a:rPr dirty="0"/>
              <a:t>» (https://shamela.ws/book/30097/3178).</a:t>
            </a:r>
          </a:p>
          <a:p>
            <a:endParaRPr dirty="0"/>
          </a:p>
          <a:p>
            <a:r>
              <a:rPr dirty="0"/>
              <a:t>WHEN, as the card gives it: 11 AH</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RUNSHEET: The safest sentence available on the whole matter. </a:t>
            </a:r>
            <a:r>
              <a:rPr dirty="0" err="1"/>
              <a:t>Banū</a:t>
            </a:r>
            <a:r>
              <a:rPr dirty="0"/>
              <a:t> </a:t>
            </a:r>
            <a:r>
              <a:rPr dirty="0" err="1"/>
              <a:t>Jadhīma</a:t>
            </a:r>
            <a:r>
              <a:rPr dirty="0"/>
              <a:t>, in the Prophet's ﷺ own hand</a:t>
            </a:r>
          </a:p>
          <a:p>
            <a:endParaRPr dirty="0"/>
          </a:p>
          <a:p>
            <a:r>
              <a:rPr dirty="0"/>
              <a:t>SAY —</a:t>
            </a:r>
          </a:p>
          <a:p>
            <a:r>
              <a:rPr dirty="0"/>
              <a:t>2. "He exercised judgement, and he was mistaken" — Ibn </a:t>
            </a:r>
            <a:r>
              <a:rPr dirty="0" err="1"/>
              <a:t>Kathīr</a:t>
            </a:r>
            <a:r>
              <a:rPr dirty="0"/>
              <a:t> says the error plainly, and keeps the man in command.</a:t>
            </a:r>
          </a:p>
          <a:p>
            <a:r>
              <a:rPr dirty="0"/>
              <a:t>   ^ read the Arabic on the face here</a:t>
            </a:r>
          </a:p>
          <a:p>
            <a:endParaRPr lang="en-US" dirty="0"/>
          </a:p>
          <a:p>
            <a:r>
              <a:rPr dirty="0"/>
              <a:t>3. He sets a precedent beside it — </a:t>
            </a:r>
            <a:r>
              <a:rPr dirty="0" err="1"/>
              <a:t>Banū</a:t>
            </a:r>
            <a:r>
              <a:rPr dirty="0"/>
              <a:t> </a:t>
            </a:r>
            <a:r>
              <a:rPr dirty="0" err="1"/>
              <a:t>Jadhīma</a:t>
            </a:r>
            <a:r>
              <a:rPr dirty="0"/>
              <a:t>, in the Prophet's ﷺ own lifetime.</a:t>
            </a:r>
          </a:p>
          <a:p>
            <a:endParaRPr lang="en-US" dirty="0"/>
          </a:p>
          <a:p>
            <a:r>
              <a:rPr dirty="0"/>
              <a:t>4. The prisoners who said the wrong word — They said </a:t>
            </a:r>
            <a:r>
              <a:rPr dirty="0" err="1"/>
              <a:t>ṣabaʾnā</a:t>
            </a:r>
            <a:r>
              <a:rPr dirty="0"/>
              <a:t>, not knowing how to say we have accepted Islam.</a:t>
            </a:r>
          </a:p>
          <a:p>
            <a:endParaRPr lang="en-US" dirty="0"/>
          </a:p>
          <a:p>
            <a:r>
              <a:rPr dirty="0"/>
              <a:t>5. What the Prophet ﷺ did — Paid the blood-money down to the dog's bowl, and dissociated himself from the act.</a:t>
            </a:r>
          </a:p>
          <a:p>
            <a:endParaRPr lang="en-US" dirty="0"/>
          </a:p>
          <a:p>
            <a:r>
              <a:rPr dirty="0"/>
              <a:t>6. And what he did not do — He did not remove him from command.</a:t>
            </a:r>
          </a:p>
          <a:p>
            <a:endParaRPr dirty="0"/>
          </a:p>
          <a:p>
            <a:r>
              <a:rPr dirty="0"/>
              <a:t>QUOTE — </a:t>
            </a:r>
            <a:r>
              <a:rPr dirty="0" err="1"/>
              <a:t>واستمرَّ</a:t>
            </a:r>
            <a:r>
              <a:rPr dirty="0"/>
              <a:t> </a:t>
            </a:r>
            <a:r>
              <a:rPr dirty="0" err="1"/>
              <a:t>أبو</a:t>
            </a:r>
            <a:r>
              <a:rPr dirty="0"/>
              <a:t> </a:t>
            </a:r>
            <a:r>
              <a:rPr dirty="0" err="1"/>
              <a:t>بكر</a:t>
            </a:r>
            <a:r>
              <a:rPr dirty="0"/>
              <a:t> </a:t>
            </a:r>
            <a:r>
              <a:rPr dirty="0" err="1"/>
              <a:t>بخالدٍ</a:t>
            </a:r>
            <a:r>
              <a:rPr dirty="0"/>
              <a:t> </a:t>
            </a:r>
            <a:r>
              <a:rPr dirty="0" err="1"/>
              <a:t>على</a:t>
            </a:r>
            <a:r>
              <a:rPr dirty="0"/>
              <a:t> </a:t>
            </a:r>
            <a:r>
              <a:rPr dirty="0" err="1"/>
              <a:t>الإمرة</a:t>
            </a:r>
            <a:r>
              <a:rPr dirty="0"/>
              <a:t>، </a:t>
            </a:r>
            <a:r>
              <a:rPr dirty="0" err="1"/>
              <a:t>وإن</a:t>
            </a:r>
            <a:r>
              <a:rPr dirty="0"/>
              <a:t> </a:t>
            </a:r>
            <a:r>
              <a:rPr dirty="0" err="1"/>
              <a:t>كان</a:t>
            </a:r>
            <a:r>
              <a:rPr dirty="0"/>
              <a:t> </a:t>
            </a:r>
            <a:r>
              <a:rPr dirty="0" err="1"/>
              <a:t>قد</a:t>
            </a:r>
            <a:r>
              <a:rPr dirty="0"/>
              <a:t> </a:t>
            </a:r>
            <a:r>
              <a:rPr dirty="0" err="1"/>
              <a:t>اجتهد</a:t>
            </a:r>
            <a:r>
              <a:rPr dirty="0"/>
              <a:t> </a:t>
            </a:r>
            <a:r>
              <a:rPr dirty="0" err="1"/>
              <a:t>في</a:t>
            </a:r>
            <a:r>
              <a:rPr dirty="0"/>
              <a:t> </a:t>
            </a:r>
            <a:r>
              <a:rPr dirty="0" err="1"/>
              <a:t>قتلِ</a:t>
            </a:r>
            <a:r>
              <a:rPr dirty="0"/>
              <a:t> </a:t>
            </a:r>
            <a:r>
              <a:rPr dirty="0" err="1"/>
              <a:t>مالك</a:t>
            </a:r>
            <a:r>
              <a:rPr dirty="0"/>
              <a:t> </a:t>
            </a:r>
            <a:r>
              <a:rPr dirty="0" err="1"/>
              <a:t>بن</a:t>
            </a:r>
            <a:r>
              <a:rPr dirty="0"/>
              <a:t> </a:t>
            </a:r>
            <a:r>
              <a:rPr dirty="0" err="1"/>
              <a:t>نويرة</a:t>
            </a:r>
            <a:r>
              <a:rPr dirty="0"/>
              <a:t> </a:t>
            </a:r>
            <a:r>
              <a:rPr dirty="0" err="1"/>
              <a:t>وأخطأَ</a:t>
            </a:r>
            <a:r>
              <a:rPr dirty="0"/>
              <a:t> </a:t>
            </a:r>
            <a:r>
              <a:rPr dirty="0" err="1"/>
              <a:t>في</a:t>
            </a:r>
            <a:r>
              <a:rPr dirty="0"/>
              <a:t> </a:t>
            </a:r>
            <a:r>
              <a:rPr dirty="0" err="1"/>
              <a:t>قتله</a:t>
            </a:r>
            <a:endParaRPr dirty="0"/>
          </a:p>
          <a:p>
            <a:r>
              <a:rPr dirty="0"/>
              <a:t>"</a:t>
            </a:r>
            <a:r>
              <a:rPr dirty="0" err="1"/>
              <a:t>Abū</a:t>
            </a:r>
            <a:r>
              <a:rPr dirty="0"/>
              <a:t> Bakr continued with </a:t>
            </a:r>
            <a:r>
              <a:rPr dirty="0" err="1"/>
              <a:t>Khālid</a:t>
            </a:r>
            <a:r>
              <a:rPr dirty="0"/>
              <a:t> in command, even though he had exercised his judgement in the killing of </a:t>
            </a:r>
            <a:r>
              <a:rPr dirty="0" err="1"/>
              <a:t>Mālik</a:t>
            </a:r>
            <a:r>
              <a:rPr dirty="0"/>
              <a:t> b. </a:t>
            </a:r>
            <a:r>
              <a:rPr dirty="0" err="1"/>
              <a:t>Nuwayra</a:t>
            </a:r>
            <a:r>
              <a:rPr dirty="0"/>
              <a:t> and was mistaken in killing him."</a:t>
            </a:r>
          </a:p>
          <a:p>
            <a:r>
              <a:rPr dirty="0"/>
              <a:t>— </a:t>
            </a:r>
            <a:r>
              <a:rPr dirty="0" err="1"/>
              <a:t>البدایہ</a:t>
            </a:r>
            <a:r>
              <a:rPr dirty="0"/>
              <a:t> </a:t>
            </a:r>
            <a:r>
              <a:rPr dirty="0" err="1"/>
              <a:t>والنہایہ</a:t>
            </a:r>
            <a:r>
              <a:rPr dirty="0"/>
              <a:t> ج۷ ص۳۲</a:t>
            </a:r>
          </a:p>
          <a:p>
            <a:endParaRPr dirty="0"/>
          </a:p>
          <a:p>
            <a:r>
              <a:rPr dirty="0" err="1"/>
              <a:t>عبرت</a:t>
            </a:r>
            <a:r>
              <a:rPr dirty="0"/>
              <a:t> — A mistake can be named as a mistake, paid for, and still not end a man — and the precedent for that is from the Prophet's ﷺ own hand.</a:t>
            </a:r>
          </a:p>
          <a:p>
            <a:endParaRPr dirty="0"/>
          </a:p>
          <a:p>
            <a:r>
              <a:rPr dirty="0"/>
              <a:t>MAP — No map. This is the evening's one large-statement slide.</a:t>
            </a:r>
          </a:p>
          <a:p>
            <a:endParaRPr dirty="0"/>
          </a:p>
          <a:p>
            <a:r>
              <a:rPr dirty="0"/>
              <a:t>BACKGROUND (read at home, not aloud) —</a:t>
            </a:r>
          </a:p>
          <a:p>
            <a:r>
              <a:rPr dirty="0"/>
              <a:t>Ibn </a:t>
            </a:r>
            <a:r>
              <a:rPr dirty="0" err="1"/>
              <a:t>Kathīr</a:t>
            </a:r>
            <a:r>
              <a:rPr dirty="0"/>
              <a:t> writes his own sentence over the whole matter, and it is the safest sentence available on it: </a:t>
            </a:r>
            <a:r>
              <a:rPr dirty="0" err="1"/>
              <a:t>Abū</a:t>
            </a:r>
            <a:r>
              <a:rPr dirty="0"/>
              <a:t> Bakr ؓ continued with </a:t>
            </a:r>
            <a:r>
              <a:rPr dirty="0" err="1"/>
              <a:t>Khālid</a:t>
            </a:r>
            <a:r>
              <a:rPr dirty="0"/>
              <a:t> ؓ in command, **even though he had exercised his judgement in the killing of </a:t>
            </a:r>
            <a:r>
              <a:rPr dirty="0" err="1"/>
              <a:t>Mālik</a:t>
            </a:r>
            <a:r>
              <a:rPr dirty="0"/>
              <a:t> b. </a:t>
            </a:r>
            <a:r>
              <a:rPr dirty="0" err="1"/>
              <a:t>Nuwayra</a:t>
            </a:r>
            <a:r>
              <a:rPr dirty="0"/>
              <a:t> and was mistaken in killing him.** And then he puts a precedent beside it, from the Prophet's ﷺ own lifetime: when </a:t>
            </a:r>
            <a:r>
              <a:rPr dirty="0" err="1"/>
              <a:t>Khālid</a:t>
            </a:r>
            <a:r>
              <a:rPr dirty="0"/>
              <a:t> ؓ was sent to </a:t>
            </a:r>
            <a:r>
              <a:rPr dirty="0" err="1"/>
              <a:t>Banū</a:t>
            </a:r>
            <a:r>
              <a:rPr dirty="0"/>
              <a:t> </a:t>
            </a:r>
            <a:r>
              <a:rPr dirty="0" err="1"/>
              <a:t>Jadhīma</a:t>
            </a:r>
            <a:r>
              <a:rPr dirty="0"/>
              <a:t> and killed prisoners who had said *</a:t>
            </a:r>
            <a:r>
              <a:rPr dirty="0" err="1"/>
              <a:t>ṣabaʾnā</a:t>
            </a:r>
            <a:r>
              <a:rPr dirty="0"/>
              <a:t>, </a:t>
            </a:r>
            <a:r>
              <a:rPr dirty="0" err="1"/>
              <a:t>ṣabaʾnā</a:t>
            </a:r>
            <a:r>
              <a:rPr dirty="0"/>
              <a:t>* because they did not know how to say *we have accepted Islam*, the Prophet ﷺ paid their blood-money down to the dog's bowl, raised his hands and said *"O Allah, I dissociate myself from what </a:t>
            </a:r>
            <a:r>
              <a:rPr dirty="0" err="1"/>
              <a:t>Khālid</a:t>
            </a:r>
            <a:r>
              <a:rPr dirty="0"/>
              <a:t> has done"* — **and, with that, did not remove him from command either.**</a:t>
            </a:r>
          </a:p>
          <a:p>
            <a:endParaRPr dirty="0"/>
          </a:p>
          <a:p>
            <a:r>
              <a:rPr dirty="0"/>
              <a:t>**Also on the page:**</a:t>
            </a:r>
          </a:p>
          <a:p>
            <a:endParaRPr dirty="0"/>
          </a:p>
          <a:p>
            <a:r>
              <a:rPr dirty="0"/>
              <a:t>&gt; </a:t>
            </a:r>
            <a:r>
              <a:rPr dirty="0" err="1"/>
              <a:t>فوداهم</a:t>
            </a:r>
            <a:r>
              <a:rPr dirty="0"/>
              <a:t> </a:t>
            </a:r>
            <a:r>
              <a:rPr dirty="0" err="1"/>
              <a:t>رسول</a:t>
            </a:r>
            <a:r>
              <a:rPr dirty="0"/>
              <a:t> </a:t>
            </a:r>
            <a:r>
              <a:rPr dirty="0" err="1"/>
              <a:t>الله</a:t>
            </a:r>
            <a:r>
              <a:rPr dirty="0"/>
              <a:t> ﷺ </a:t>
            </a:r>
            <a:r>
              <a:rPr dirty="0" err="1"/>
              <a:t>حتى</a:t>
            </a:r>
            <a:r>
              <a:rPr dirty="0"/>
              <a:t> </a:t>
            </a:r>
            <a:r>
              <a:rPr dirty="0" err="1"/>
              <a:t>ردَّ</a:t>
            </a:r>
            <a:r>
              <a:rPr dirty="0"/>
              <a:t> </a:t>
            </a:r>
            <a:r>
              <a:rPr dirty="0" err="1"/>
              <a:t>إليهم</a:t>
            </a:r>
            <a:r>
              <a:rPr dirty="0"/>
              <a:t> </a:t>
            </a:r>
            <a:r>
              <a:rPr dirty="0" err="1"/>
              <a:t>ميلغة</a:t>
            </a:r>
            <a:r>
              <a:rPr dirty="0"/>
              <a:t> </a:t>
            </a:r>
            <a:r>
              <a:rPr dirty="0" err="1"/>
              <a:t>الكلب</a:t>
            </a:r>
            <a:r>
              <a:rPr dirty="0"/>
              <a:t>، </a:t>
            </a:r>
            <a:r>
              <a:rPr dirty="0" err="1"/>
              <a:t>ورفع</a:t>
            </a:r>
            <a:r>
              <a:rPr dirty="0"/>
              <a:t> </a:t>
            </a:r>
            <a:r>
              <a:rPr dirty="0" err="1"/>
              <a:t>يديه</a:t>
            </a:r>
            <a:r>
              <a:rPr dirty="0"/>
              <a:t> </a:t>
            </a:r>
            <a:r>
              <a:rPr dirty="0" err="1"/>
              <a:t>وقال</a:t>
            </a:r>
            <a:r>
              <a:rPr dirty="0"/>
              <a:t>: </a:t>
            </a:r>
            <a:r>
              <a:rPr dirty="0" err="1"/>
              <a:t>اللهم</a:t>
            </a:r>
            <a:r>
              <a:rPr dirty="0"/>
              <a:t> </a:t>
            </a:r>
            <a:r>
              <a:rPr dirty="0" err="1"/>
              <a:t>إني</a:t>
            </a:r>
            <a:r>
              <a:rPr dirty="0"/>
              <a:t> </a:t>
            </a:r>
            <a:r>
              <a:rPr dirty="0" err="1"/>
              <a:t>أبرأ</a:t>
            </a:r>
            <a:r>
              <a:rPr dirty="0"/>
              <a:t> </a:t>
            </a:r>
            <a:r>
              <a:rPr dirty="0" err="1"/>
              <a:t>إليك</a:t>
            </a:r>
            <a:r>
              <a:rPr dirty="0"/>
              <a:t> </a:t>
            </a:r>
            <a:r>
              <a:rPr dirty="0" err="1"/>
              <a:t>مما</a:t>
            </a:r>
            <a:r>
              <a:rPr dirty="0"/>
              <a:t> </a:t>
            </a:r>
            <a:r>
              <a:rPr dirty="0" err="1"/>
              <a:t>صنع</a:t>
            </a:r>
            <a:r>
              <a:rPr dirty="0"/>
              <a:t> </a:t>
            </a:r>
            <a:r>
              <a:rPr dirty="0" err="1"/>
              <a:t>خالد</a:t>
            </a:r>
            <a:r>
              <a:rPr dirty="0"/>
              <a:t>، </a:t>
            </a:r>
            <a:r>
              <a:rPr dirty="0" err="1"/>
              <a:t>ومع</a:t>
            </a:r>
            <a:r>
              <a:rPr dirty="0"/>
              <a:t> </a:t>
            </a:r>
            <a:r>
              <a:rPr dirty="0" err="1"/>
              <a:t>هذا</a:t>
            </a:r>
            <a:r>
              <a:rPr dirty="0"/>
              <a:t> </a:t>
            </a:r>
            <a:r>
              <a:rPr dirty="0" err="1"/>
              <a:t>لم</a:t>
            </a:r>
            <a:r>
              <a:rPr dirty="0"/>
              <a:t> </a:t>
            </a:r>
            <a:r>
              <a:rPr dirty="0" err="1"/>
              <a:t>يعزل</a:t>
            </a:r>
            <a:r>
              <a:rPr dirty="0"/>
              <a:t> </a:t>
            </a:r>
            <a:r>
              <a:rPr dirty="0" err="1"/>
              <a:t>خالدًا</a:t>
            </a:r>
            <a:r>
              <a:rPr dirty="0"/>
              <a:t> </a:t>
            </a:r>
            <a:r>
              <a:rPr dirty="0" err="1"/>
              <a:t>عن</a:t>
            </a:r>
            <a:r>
              <a:rPr dirty="0"/>
              <a:t> </a:t>
            </a:r>
            <a:r>
              <a:rPr dirty="0" err="1"/>
              <a:t>الإمرة</a:t>
            </a:r>
            <a:endParaRPr dirty="0"/>
          </a:p>
          <a:p>
            <a:r>
              <a:rPr dirty="0"/>
              <a:t>&gt; — </a:t>
            </a:r>
            <a:r>
              <a:rPr dirty="0" err="1"/>
              <a:t>البدایہ</a:t>
            </a:r>
            <a:r>
              <a:rPr dirty="0"/>
              <a:t> </a:t>
            </a:r>
            <a:r>
              <a:rPr dirty="0" err="1"/>
              <a:t>والنہایہ</a:t>
            </a:r>
            <a:r>
              <a:rPr dirty="0"/>
              <a:t> ج۷ ص۳۲ · https://shamela.ws/book/30097/3178</a:t>
            </a:r>
          </a:p>
          <a:p>
            <a:r>
              <a:rPr dirty="0"/>
              <a:t>&gt; *English:* "So the Messenger of Allah ﷺ paid their blood-money, until he returned to them even the</a:t>
            </a:r>
          </a:p>
          <a:p>
            <a:r>
              <a:rPr dirty="0"/>
              <a:t>&gt; dog's bowl, and raised his hands and said: O Allah, I dissociate myself from what </a:t>
            </a:r>
            <a:r>
              <a:rPr dirty="0" err="1"/>
              <a:t>Khālid</a:t>
            </a:r>
            <a:r>
              <a:rPr dirty="0"/>
              <a:t> has done —</a:t>
            </a:r>
          </a:p>
          <a:p>
            <a:r>
              <a:rPr dirty="0"/>
              <a:t>&gt; and with all that, he did not remove </a:t>
            </a:r>
            <a:r>
              <a:rPr dirty="0" err="1"/>
              <a:t>Khālid</a:t>
            </a:r>
            <a:r>
              <a:rPr dirty="0"/>
              <a:t> from command."</a:t>
            </a:r>
          </a:p>
          <a:p>
            <a:endParaRPr dirty="0"/>
          </a:p>
          <a:p>
            <a:r>
              <a:rPr dirty="0"/>
              <a:t>WHEN, as the card gives it: the historian's own comment</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RUNSHEET: Closes on consolation, not blame. ⚠ do not say where Zayd ؓ fell — that is #28's to tell, later tonight</a:t>
            </a:r>
          </a:p>
          <a:p>
            <a:endParaRPr/>
          </a:p>
          <a:p>
            <a:r>
              <a:t>SAY —</a:t>
            </a:r>
          </a:p>
          <a:p>
            <a:r>
              <a:t>1. Mutammim comes to Medina — Complaining of Khālid ؓ, with ʿUmar ؓ helping him.</a:t>
            </a:r>
          </a:p>
          <a:p>
            <a:r>
              <a:t>2. The elegies are recited to the caliph — And Abū Bakr ؓ paid him the blood-money from his own side.</a:t>
            </a:r>
          </a:p>
          <a:p>
            <a:r>
              <a:t>3. Years later, ʿUmar ؓ is caliph — And the two men sit together: each had lost a brother in this war.</a:t>
            </a:r>
          </a:p>
          <a:p>
            <a:r>
              <a:t>4. "I would have elegised my brother Zayd ؓ" — If I were a man who made verse. **Do not say yet where Zayd ؓ fell.**</a:t>
            </a:r>
          </a:p>
          <a:p>
            <a:r>
              <a:t>5. Mutammim's answer — Had my brother fallen where yours fell, I would not have wept for him.</a:t>
            </a:r>
          </a:p>
          <a:p>
            <a:r>
              <a:t>   ^ read the Arabic on the face here</a:t>
            </a:r>
          </a:p>
          <a:p>
            <a:r>
              <a:t>6. "No one has ever consoled me better" — And that is where this block ends.</a:t>
            </a:r>
          </a:p>
          <a:p>
            <a:endParaRPr/>
          </a:p>
          <a:p>
            <a:r>
              <a:t>QUOTE — فَقَالَ عُمَرُ: لَوْ كُنْتُ أَقُولُ الشِّعْرَ لَرَثَيْتُ أَخِي زَيْدًا. فَقَالَ مُتَمِّمٌ: وَلَا سَوَاءَ يَا أَمِيرَ الْمُؤْمِنِينَ، لَوْ كَانَ أَخِي صُرِعَ مَصْرَعَ أَخِيكَ لَمَا بَكَيْتُهُ. فَقَالَ عُمَرُ: مَا عَزَّانِي أَحَدٌ بِأَحْسَنَ مِمَّا عَزَّيْتَنِي بِهِ.</a:t>
            </a:r>
          </a:p>
          <a:p>
            <a:r>
              <a:t>"ʿUmar said: Were I a man who made verse, I would have elegised my brother Zayd. Mutammim said: They are not alike, Commander of the Believers — had my brother fallen where your brother fell, I would not have wept for him. ʿUmar said: No one has ever consoled me better than you have consoled me."</a:t>
            </a:r>
          </a:p>
          <a:p>
            <a:r>
              <a:t>— الکامل فی التاریخ ج۲ ص۲۱۴</a:t>
            </a:r>
          </a:p>
          <a:p>
            <a:endParaRPr/>
          </a:p>
          <a:p>
            <a:r>
              <a:t>عبرت — The quarrel is not closed by a verdict. It is closed by two bereaved men consoling each other.</a:t>
            </a:r>
          </a:p>
          <a:p>
            <a:endParaRPr/>
          </a:p>
          <a:p>
            <a:r>
              <a:t>MAP — No map. Close the block on two men sitting down.</a:t>
            </a:r>
          </a:p>
          <a:p>
            <a:endParaRPr/>
          </a:p>
          <a:p>
            <a:r>
              <a:t>⚠ **Do not name al-Yamāma as the place Zayd ؓ fell, unless that evening has already been given.** On a</a:t>
            </a:r>
          </a:p>
          <a:p>
            <a:r>
              <a:t>chronological running order this card comes before al-Yamāma, and naming it here spends the death of</a:t>
            </a:r>
          </a:p>
          <a:p>
            <a:r>
              <a:t>ʿUmar's ؓ brother — one of the most affecting moments of the war — a week early. Say "each of them had</a:t>
            </a:r>
          </a:p>
          <a:p>
            <a:r>
              <a:t>lost a brother in this war". The room closes the loop itself when `RCT/E-RC60` is told.</a:t>
            </a:r>
          </a:p>
          <a:p>
            <a:r>
              <a:t>**Also on the page:**</a:t>
            </a:r>
          </a:p>
          <a:p>
            <a:endParaRPr/>
          </a:p>
          <a:p>
            <a:r>
              <a:t>⚠ الکامل ج۲ ص۲۱۴ also records that two of Khālid's ؓ own nephews were killed «في هذه الوقعة». The</a:t>
            </a:r>
          </a:p>
          <a:p>
            <a:r>
              <a:t>antecedent is not unambiguous on the page. **Do not use.**</a:t>
            </a:r>
          </a:p>
          <a:p>
            <a:endParaRPr/>
          </a:p>
          <a:p>
            <a:r>
              <a:t>BACKGROUND (read at home, not aloud) —</a:t>
            </a:r>
          </a:p>
          <a:p>
            <a:r>
              <a:t>Mutammim b. Nuwayra came to Medina complaining of Khālid ؓ to the Ṣiddīq ؓ, with ʿUmar ؓ helping him and reciting to the caliph the elegies he had made for his brother; and Abū Bakr ؓ paid him the blood-money from his own side. Years later, with ʿUmar ؓ himself caliph, the two men sat together — each of them had lost a brother in this war, in two different places. ʿUmar ؓ said that if he were a man who made verse he would have elegised his brother Zayd ؓ. Mutammim said: they are not alike, Commander of the Believers — had my brother fallen where your brother fell, I would not have wept for him. And ʿUmar ؓ said: no one has ever consoled me better than you have consoled me.</a:t>
            </a:r>
          </a:p>
          <a:p>
            <a:endParaRPr/>
          </a:p>
          <a:p>
            <a:r>
              <a:t>&gt; وجاء مُتمّم بن نُوَيْرة فجعل يشكو إلى الصديق خالدًا، وعمرُ يساعده وينشد الصديقَ ما قال في أخيه من المراثي، فوداه الصديق من عنده</a:t>
            </a:r>
          </a:p>
          <a:p>
            <a:r>
              <a:t>&gt; — البدایہ والنہایہ ج۷ ص۳۱ · https://shamela.ws/book/30097/3177</a:t>
            </a:r>
          </a:p>
          <a:p>
            <a:r>
              <a:t>&gt; *English:* "Mutammim b. Nuwayra came and began to complain of Khālid to the Ṣiddīq, with ʿUmar</a:t>
            </a:r>
          </a:p>
          <a:p>
            <a:r>
              <a:t>&gt; helping him and reciting to the Ṣiddīq the elegies he had made for his brother; and the Ṣiddīq paid</a:t>
            </a:r>
          </a:p>
          <a:p>
            <a:r>
              <a:t>&gt; him the blood-money from his own side."</a:t>
            </a:r>
          </a:p>
          <a:p>
            <a:endParaRPr/>
          </a:p>
          <a:p>
            <a:r>
              <a:t>WHEN, as the card gives it: 13 AH onwards, in ʿUmar's ؓ caliphate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BRIDGE — say:</a:t>
            </a:r>
          </a:p>
          <a:p>
            <a:r>
              <a:t>That consolation came years later, in ʿUmar's ؓ own caliphate. Now back to 11 AH, and to the mosque at Medina where we left Khālid ؓ being answered for — and then sent straight out again.</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MAP: tools/mapstudio/scenes/s04-05-medina-to-al-yamama.json at step 2,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RUNSHEET: The hinge. Without it the room is left standing in the mosque and the next card opens on an army</a:t>
            </a:r>
          </a:p>
          <a:p>
            <a:endParaRPr dirty="0"/>
          </a:p>
          <a:p>
            <a:r>
              <a:rPr dirty="0"/>
              <a:t>SAY —</a:t>
            </a:r>
          </a:p>
          <a:p>
            <a:r>
              <a:rPr dirty="0"/>
              <a:t>1. Excused, and immediately employed — The same audience that cleared him ended with new orders.</a:t>
            </a:r>
            <a:endParaRPr lang="en-US" dirty="0"/>
          </a:p>
          <a:p>
            <a:endParaRPr dirty="0"/>
          </a:p>
          <a:p>
            <a:r>
              <a:rPr dirty="0"/>
              <a:t>2. To fight </a:t>
            </a:r>
            <a:r>
              <a:rPr dirty="0" err="1"/>
              <a:t>Banū</a:t>
            </a:r>
            <a:r>
              <a:rPr dirty="0"/>
              <a:t> </a:t>
            </a:r>
            <a:r>
              <a:rPr dirty="0" err="1"/>
              <a:t>Ḥanīfa</a:t>
            </a:r>
            <a:r>
              <a:rPr dirty="0"/>
              <a:t> at al-</a:t>
            </a:r>
            <a:r>
              <a:rPr dirty="0" err="1"/>
              <a:t>Yamāma</a:t>
            </a:r>
            <a:r>
              <a:rPr dirty="0"/>
              <a:t> — The last claimant still standing, and the largest force in Arabia.</a:t>
            </a:r>
          </a:p>
          <a:p>
            <a:r>
              <a:rPr dirty="0"/>
              <a:t>   ^ read the Arabic on the face here</a:t>
            </a:r>
          </a:p>
          <a:p>
            <a:endParaRPr lang="en-US" dirty="0"/>
          </a:p>
          <a:p>
            <a:r>
              <a:rPr dirty="0"/>
              <a:t>3. The Muslims turned out in force — </a:t>
            </a:r>
            <a:r>
              <a:rPr dirty="0" err="1"/>
              <a:t>Thābit</a:t>
            </a:r>
            <a:r>
              <a:rPr dirty="0"/>
              <a:t> b. Qays b. </a:t>
            </a:r>
            <a:r>
              <a:rPr dirty="0" err="1"/>
              <a:t>Shammās</a:t>
            </a:r>
            <a:r>
              <a:rPr dirty="0"/>
              <a:t> ؓ over the </a:t>
            </a:r>
            <a:r>
              <a:rPr dirty="0" err="1"/>
              <a:t>Anṣār</a:t>
            </a:r>
            <a:r>
              <a:rPr dirty="0"/>
              <a:t>.</a:t>
            </a:r>
          </a:p>
          <a:p>
            <a:endParaRPr lang="en-US" dirty="0"/>
          </a:p>
          <a:p>
            <a:r>
              <a:rPr dirty="0"/>
              <a:t>4. A reserve sent out behind him — </a:t>
            </a:r>
            <a:r>
              <a:rPr dirty="0" err="1"/>
              <a:t>Abū</a:t>
            </a:r>
            <a:r>
              <a:rPr dirty="0"/>
              <a:t> Bakr ؓ put a second detachment at his back.</a:t>
            </a:r>
          </a:p>
          <a:p>
            <a:endParaRPr lang="en-US" dirty="0"/>
          </a:p>
          <a:p>
            <a:r>
              <a:rPr dirty="0"/>
              <a:t>5. He cleared the road as he went — He passed no group that had broken away without dealing with it.</a:t>
            </a:r>
          </a:p>
          <a:p>
            <a:endParaRPr lang="en-US" dirty="0"/>
          </a:p>
          <a:p>
            <a:r>
              <a:rPr dirty="0"/>
              <a:t>6. </a:t>
            </a:r>
            <a:r>
              <a:rPr dirty="0" err="1"/>
              <a:t>Sajāḥ's</a:t>
            </a:r>
            <a:r>
              <a:rPr dirty="0"/>
              <a:t> horsemen scattered — And ordered out of the Arabian peninsula altogether.</a:t>
            </a:r>
          </a:p>
          <a:p>
            <a:endParaRPr dirty="0"/>
          </a:p>
          <a:p>
            <a:r>
              <a:rPr dirty="0"/>
              <a:t>QUOTE — </a:t>
            </a:r>
            <a:r>
              <a:rPr dirty="0" err="1"/>
              <a:t>لما</a:t>
            </a:r>
            <a:r>
              <a:rPr dirty="0"/>
              <a:t> </a:t>
            </a:r>
            <a:r>
              <a:rPr dirty="0" err="1"/>
              <a:t>رضيَ</a:t>
            </a:r>
            <a:r>
              <a:rPr dirty="0"/>
              <a:t> </a:t>
            </a:r>
            <a:r>
              <a:rPr dirty="0" err="1"/>
              <a:t>الصدِّيقُ</a:t>
            </a:r>
            <a:r>
              <a:rPr dirty="0"/>
              <a:t> </a:t>
            </a:r>
            <a:r>
              <a:rPr dirty="0" err="1"/>
              <a:t>عن</a:t>
            </a:r>
            <a:r>
              <a:rPr dirty="0"/>
              <a:t> </a:t>
            </a:r>
            <a:r>
              <a:rPr dirty="0" err="1"/>
              <a:t>خالد</a:t>
            </a:r>
            <a:r>
              <a:rPr dirty="0"/>
              <a:t> </a:t>
            </a:r>
            <a:r>
              <a:rPr dirty="0" err="1"/>
              <a:t>بن</a:t>
            </a:r>
            <a:r>
              <a:rPr dirty="0"/>
              <a:t> </a:t>
            </a:r>
            <a:r>
              <a:rPr dirty="0" err="1"/>
              <a:t>الوليد</a:t>
            </a:r>
            <a:r>
              <a:rPr dirty="0"/>
              <a:t> </a:t>
            </a:r>
            <a:r>
              <a:rPr dirty="0" err="1"/>
              <a:t>وعذَرَهُ</a:t>
            </a:r>
            <a:r>
              <a:rPr dirty="0"/>
              <a:t> </a:t>
            </a:r>
            <a:r>
              <a:rPr dirty="0" err="1"/>
              <a:t>بما</a:t>
            </a:r>
            <a:r>
              <a:rPr dirty="0"/>
              <a:t> </a:t>
            </a:r>
            <a:r>
              <a:rPr dirty="0" err="1"/>
              <a:t>اعتذرَ</a:t>
            </a:r>
            <a:r>
              <a:rPr dirty="0"/>
              <a:t> </a:t>
            </a:r>
            <a:r>
              <a:rPr dirty="0" err="1"/>
              <a:t>به</a:t>
            </a:r>
            <a:r>
              <a:rPr dirty="0"/>
              <a:t>، </a:t>
            </a:r>
            <a:r>
              <a:rPr dirty="0" err="1"/>
              <a:t>بعثَه</a:t>
            </a:r>
            <a:r>
              <a:rPr dirty="0"/>
              <a:t> </a:t>
            </a:r>
            <a:r>
              <a:rPr dirty="0" err="1"/>
              <a:t>إلى</a:t>
            </a:r>
            <a:r>
              <a:rPr dirty="0"/>
              <a:t> </a:t>
            </a:r>
            <a:r>
              <a:rPr dirty="0" err="1"/>
              <a:t>قتالِ</a:t>
            </a:r>
            <a:r>
              <a:rPr dirty="0"/>
              <a:t> </a:t>
            </a:r>
            <a:r>
              <a:rPr dirty="0" err="1"/>
              <a:t>بني</a:t>
            </a:r>
            <a:r>
              <a:rPr dirty="0"/>
              <a:t> </a:t>
            </a:r>
            <a:r>
              <a:rPr dirty="0" err="1"/>
              <a:t>حنيفة</a:t>
            </a:r>
            <a:r>
              <a:rPr dirty="0"/>
              <a:t> </a:t>
            </a:r>
            <a:r>
              <a:rPr dirty="0" err="1"/>
              <a:t>باليمامة</a:t>
            </a:r>
            <a:r>
              <a:rPr dirty="0"/>
              <a:t>، </a:t>
            </a:r>
            <a:r>
              <a:rPr dirty="0" err="1"/>
              <a:t>وأوعب</a:t>
            </a:r>
            <a:r>
              <a:rPr dirty="0"/>
              <a:t> </a:t>
            </a:r>
            <a:r>
              <a:rPr dirty="0" err="1"/>
              <a:t>معه</a:t>
            </a:r>
            <a:r>
              <a:rPr dirty="0"/>
              <a:t> </a:t>
            </a:r>
            <a:r>
              <a:rPr dirty="0" err="1"/>
              <a:t>المسلمون</a:t>
            </a:r>
            <a:r>
              <a:rPr dirty="0"/>
              <a:t>، </a:t>
            </a:r>
            <a:r>
              <a:rPr dirty="0" err="1"/>
              <a:t>وعلى</a:t>
            </a:r>
            <a:r>
              <a:rPr dirty="0"/>
              <a:t> </a:t>
            </a:r>
            <a:r>
              <a:rPr dirty="0" err="1"/>
              <a:t>الأنصار</a:t>
            </a:r>
            <a:r>
              <a:rPr dirty="0"/>
              <a:t> </a:t>
            </a:r>
            <a:r>
              <a:rPr dirty="0" err="1"/>
              <a:t>ثابتُ</a:t>
            </a:r>
            <a:r>
              <a:rPr dirty="0"/>
              <a:t> </a:t>
            </a:r>
            <a:r>
              <a:rPr dirty="0" err="1"/>
              <a:t>بن</a:t>
            </a:r>
            <a:r>
              <a:rPr dirty="0"/>
              <a:t> </a:t>
            </a:r>
            <a:r>
              <a:rPr dirty="0" err="1"/>
              <a:t>قيس</a:t>
            </a:r>
            <a:r>
              <a:rPr dirty="0"/>
              <a:t> </a:t>
            </a:r>
            <a:r>
              <a:rPr dirty="0" err="1"/>
              <a:t>بن</a:t>
            </a:r>
            <a:r>
              <a:rPr dirty="0"/>
              <a:t> </a:t>
            </a:r>
            <a:r>
              <a:rPr dirty="0" err="1"/>
              <a:t>شمّاس</a:t>
            </a:r>
            <a:endParaRPr dirty="0"/>
          </a:p>
          <a:p>
            <a:r>
              <a:rPr dirty="0"/>
              <a:t>"When the </a:t>
            </a:r>
            <a:r>
              <a:rPr dirty="0" err="1"/>
              <a:t>Ṣiddīq</a:t>
            </a:r>
            <a:r>
              <a:rPr dirty="0"/>
              <a:t> was satisfied with </a:t>
            </a:r>
            <a:r>
              <a:rPr dirty="0" err="1"/>
              <a:t>Khālid</a:t>
            </a:r>
            <a:r>
              <a:rPr dirty="0"/>
              <a:t> b. al-</a:t>
            </a:r>
            <a:r>
              <a:rPr dirty="0" err="1"/>
              <a:t>Walīd</a:t>
            </a:r>
            <a:r>
              <a:rPr dirty="0"/>
              <a:t> and accepted the excuse he made, he sent him to fight </a:t>
            </a:r>
            <a:r>
              <a:rPr dirty="0" err="1"/>
              <a:t>Banū</a:t>
            </a:r>
            <a:r>
              <a:rPr dirty="0"/>
              <a:t> </a:t>
            </a:r>
            <a:r>
              <a:rPr dirty="0" err="1"/>
              <a:t>Ḥanīfa</a:t>
            </a:r>
            <a:r>
              <a:rPr dirty="0"/>
              <a:t> at al-</a:t>
            </a:r>
            <a:r>
              <a:rPr dirty="0" err="1"/>
              <a:t>Yamāma</a:t>
            </a:r>
            <a:r>
              <a:rPr dirty="0"/>
              <a:t>. The Muslims turned out with him in force, and </a:t>
            </a:r>
            <a:r>
              <a:rPr dirty="0" err="1"/>
              <a:t>Thābit</a:t>
            </a:r>
            <a:r>
              <a:rPr dirty="0"/>
              <a:t> b. Qays b. </a:t>
            </a:r>
            <a:r>
              <a:rPr dirty="0" err="1"/>
              <a:t>Shammās</a:t>
            </a:r>
            <a:r>
              <a:rPr dirty="0"/>
              <a:t> was over the </a:t>
            </a:r>
            <a:r>
              <a:rPr dirty="0" err="1"/>
              <a:t>Anṣār</a:t>
            </a:r>
            <a:r>
              <a:rPr dirty="0"/>
              <a:t>."</a:t>
            </a:r>
          </a:p>
          <a:p>
            <a:r>
              <a:rPr dirty="0"/>
              <a:t>— </a:t>
            </a:r>
            <a:r>
              <a:rPr dirty="0" err="1"/>
              <a:t>البدایہ</a:t>
            </a:r>
            <a:r>
              <a:rPr dirty="0"/>
              <a:t> </a:t>
            </a:r>
            <a:r>
              <a:rPr dirty="0" err="1"/>
              <a:t>والنہایہ</a:t>
            </a:r>
            <a:r>
              <a:rPr dirty="0"/>
              <a:t> ج۷ ص۳۲</a:t>
            </a:r>
          </a:p>
          <a:p>
            <a:endParaRPr dirty="0"/>
          </a:p>
          <a:p>
            <a:r>
              <a:rPr dirty="0" err="1"/>
              <a:t>عبرت</a:t>
            </a:r>
            <a:r>
              <a:rPr dirty="0"/>
              <a:t> — The reckoning ended and the orders began in the same room, on the same day.</a:t>
            </a:r>
          </a:p>
          <a:p>
            <a:endParaRPr dirty="0"/>
          </a:p>
          <a:p>
            <a:r>
              <a:rPr dirty="0"/>
              <a:t>MAP — The arrow leaves **</a:t>
            </a:r>
            <a:r>
              <a:rPr dirty="0" err="1"/>
              <a:t>المدينة</a:t>
            </a:r>
            <a:r>
              <a:rPr dirty="0"/>
              <a:t>** again and runs east to **</a:t>
            </a:r>
            <a:r>
              <a:rPr dirty="0" err="1"/>
              <a:t>اليمامة</a:t>
            </a:r>
            <a:r>
              <a:rPr dirty="0"/>
              <a:t>**. A second, thinner arrow follows behind it — the reserve detachment. On the way, </a:t>
            </a:r>
            <a:r>
              <a:rPr dirty="0" err="1"/>
              <a:t>Sajāḥ's</a:t>
            </a:r>
            <a:r>
              <a:rPr dirty="0"/>
              <a:t> horsemen scatter off the map to the north.</a:t>
            </a:r>
          </a:p>
          <a:p>
            <a:endParaRPr dirty="0"/>
          </a:p>
          <a:p>
            <a:r>
              <a:rPr dirty="0"/>
              <a:t>BACKGROUND (read at home, not aloud) —</a:t>
            </a:r>
          </a:p>
          <a:p>
            <a:r>
              <a:rPr dirty="0"/>
              <a:t>The moment the </a:t>
            </a:r>
            <a:r>
              <a:rPr dirty="0" err="1"/>
              <a:t>Ṣiddīq</a:t>
            </a:r>
            <a:r>
              <a:rPr dirty="0"/>
              <a:t> ؓ was satisfied with him and had accepted his excuse, he sent him out again — to fight </a:t>
            </a:r>
            <a:r>
              <a:rPr dirty="0" err="1"/>
              <a:t>Banū</a:t>
            </a:r>
            <a:r>
              <a:rPr dirty="0"/>
              <a:t> </a:t>
            </a:r>
            <a:r>
              <a:rPr dirty="0" err="1"/>
              <a:t>Ḥanīfa</a:t>
            </a:r>
            <a:r>
              <a:rPr dirty="0"/>
              <a:t> at al-</a:t>
            </a:r>
            <a:r>
              <a:rPr dirty="0" err="1"/>
              <a:t>Yamāma</a:t>
            </a:r>
            <a:r>
              <a:rPr dirty="0"/>
              <a:t>. The Muslims turned out with him in force. </a:t>
            </a:r>
            <a:r>
              <a:rPr dirty="0" err="1"/>
              <a:t>Thābit</a:t>
            </a:r>
            <a:r>
              <a:rPr dirty="0"/>
              <a:t> b. Qays b. </a:t>
            </a:r>
            <a:r>
              <a:rPr dirty="0" err="1"/>
              <a:t>Shammās</a:t>
            </a:r>
            <a:r>
              <a:rPr dirty="0"/>
              <a:t> ؓ was put over the </a:t>
            </a:r>
            <a:r>
              <a:rPr dirty="0" err="1"/>
              <a:t>Anṣār</a:t>
            </a:r>
            <a:r>
              <a:rPr dirty="0"/>
              <a:t>. </a:t>
            </a:r>
            <a:r>
              <a:rPr dirty="0" err="1"/>
              <a:t>Abū</a:t>
            </a:r>
            <a:r>
              <a:rPr dirty="0"/>
              <a:t> Bakr ؓ sent a detachment out behind him to be a reserve at his back. And </a:t>
            </a:r>
            <a:r>
              <a:rPr dirty="0" err="1"/>
              <a:t>Khālid</a:t>
            </a:r>
            <a:r>
              <a:rPr dirty="0"/>
              <a:t> ؓ marched: he did not pass a single one of those who had broken away without dealing with them, and when he came across horsemen belonging to </a:t>
            </a:r>
            <a:r>
              <a:rPr dirty="0" err="1"/>
              <a:t>Sajāḥ's</a:t>
            </a:r>
            <a:r>
              <a:rPr dirty="0"/>
              <a:t> following he scattered them and ordered them put out of the Arabian peninsula altogether.</a:t>
            </a:r>
          </a:p>
          <a:p>
            <a:endParaRPr dirty="0"/>
          </a:p>
          <a:p>
            <a:r>
              <a:rPr dirty="0"/>
              <a:t>**Also on the page:**</a:t>
            </a:r>
          </a:p>
          <a:p>
            <a:endParaRPr dirty="0"/>
          </a:p>
          <a:p>
            <a:r>
              <a:rPr dirty="0"/>
              <a:t>&gt; </a:t>
            </a:r>
            <a:r>
              <a:rPr dirty="0" err="1"/>
              <a:t>وأردفَ</a:t>
            </a:r>
            <a:r>
              <a:rPr dirty="0"/>
              <a:t> </a:t>
            </a:r>
            <a:r>
              <a:rPr dirty="0" err="1"/>
              <a:t>الصديق</a:t>
            </a:r>
            <a:r>
              <a:rPr dirty="0"/>
              <a:t> </a:t>
            </a:r>
            <a:r>
              <a:rPr dirty="0" err="1"/>
              <a:t>خالدًا</a:t>
            </a:r>
            <a:r>
              <a:rPr dirty="0"/>
              <a:t> </a:t>
            </a:r>
            <a:r>
              <a:rPr dirty="0" err="1"/>
              <a:t>بسريةٍ</a:t>
            </a:r>
            <a:r>
              <a:rPr dirty="0"/>
              <a:t> </a:t>
            </a:r>
            <a:r>
              <a:rPr dirty="0" err="1"/>
              <a:t>لتكونَ</a:t>
            </a:r>
            <a:r>
              <a:rPr dirty="0"/>
              <a:t> </a:t>
            </a:r>
            <a:r>
              <a:rPr dirty="0" err="1"/>
              <a:t>رِدْءًا</a:t>
            </a:r>
            <a:r>
              <a:rPr dirty="0"/>
              <a:t> </a:t>
            </a:r>
            <a:r>
              <a:rPr dirty="0" err="1"/>
              <a:t>له</a:t>
            </a:r>
            <a:r>
              <a:rPr dirty="0"/>
              <a:t> </a:t>
            </a:r>
            <a:r>
              <a:rPr dirty="0" err="1"/>
              <a:t>من</a:t>
            </a:r>
            <a:r>
              <a:rPr dirty="0"/>
              <a:t> </a:t>
            </a:r>
            <a:r>
              <a:rPr dirty="0" err="1"/>
              <a:t>ورائهِ</a:t>
            </a:r>
            <a:endParaRPr dirty="0"/>
          </a:p>
          <a:p>
            <a:r>
              <a:rPr dirty="0"/>
              <a:t>&gt; — </a:t>
            </a:r>
            <a:r>
              <a:rPr dirty="0" err="1"/>
              <a:t>البدایہ</a:t>
            </a:r>
            <a:r>
              <a:rPr dirty="0"/>
              <a:t> </a:t>
            </a:r>
            <a:r>
              <a:rPr dirty="0" err="1"/>
              <a:t>والنہایہ</a:t>
            </a:r>
            <a:r>
              <a:rPr dirty="0"/>
              <a:t> ج۷ ص۳۲ · https://shamela.ws/book/30097/3178</a:t>
            </a:r>
          </a:p>
          <a:p>
            <a:r>
              <a:rPr dirty="0"/>
              <a:t>&gt; *English:* "And the </a:t>
            </a:r>
            <a:r>
              <a:rPr dirty="0" err="1"/>
              <a:t>Ṣiddīq</a:t>
            </a:r>
            <a:r>
              <a:rPr dirty="0"/>
              <a:t> sent a detachment after </a:t>
            </a:r>
            <a:r>
              <a:rPr dirty="0" err="1"/>
              <a:t>Khālid</a:t>
            </a:r>
            <a:r>
              <a:rPr dirty="0"/>
              <a:t>, to be a reserve for him at his back."</a:t>
            </a:r>
          </a:p>
          <a:p>
            <a:endParaRPr dirty="0"/>
          </a:p>
          <a:p>
            <a:r>
              <a:rPr dirty="0"/>
              <a:t>&gt; </a:t>
            </a:r>
            <a:r>
              <a:rPr dirty="0" err="1"/>
              <a:t>فسار</a:t>
            </a:r>
            <a:r>
              <a:rPr dirty="0"/>
              <a:t> </a:t>
            </a:r>
            <a:r>
              <a:rPr dirty="0" err="1"/>
              <a:t>لا</a:t>
            </a:r>
            <a:r>
              <a:rPr dirty="0"/>
              <a:t> </a:t>
            </a:r>
            <a:r>
              <a:rPr dirty="0" err="1"/>
              <a:t>يمرّ</a:t>
            </a:r>
            <a:r>
              <a:rPr dirty="0"/>
              <a:t> </a:t>
            </a:r>
            <a:r>
              <a:rPr dirty="0" err="1"/>
              <a:t>بأحدٍ</a:t>
            </a:r>
            <a:r>
              <a:rPr dirty="0"/>
              <a:t> </a:t>
            </a:r>
            <a:r>
              <a:rPr dirty="0" err="1"/>
              <a:t>من</a:t>
            </a:r>
            <a:r>
              <a:rPr dirty="0"/>
              <a:t> </a:t>
            </a:r>
            <a:r>
              <a:rPr dirty="0" err="1"/>
              <a:t>المُرْتدّين</a:t>
            </a:r>
            <a:r>
              <a:rPr dirty="0"/>
              <a:t> </a:t>
            </a:r>
            <a:r>
              <a:rPr dirty="0" err="1"/>
              <a:t>إلَّا</a:t>
            </a:r>
            <a:r>
              <a:rPr dirty="0"/>
              <a:t> </a:t>
            </a:r>
            <a:r>
              <a:rPr dirty="0" err="1"/>
              <a:t>نكَّلَ</a:t>
            </a:r>
            <a:r>
              <a:rPr dirty="0"/>
              <a:t> </a:t>
            </a:r>
            <a:r>
              <a:rPr dirty="0" err="1"/>
              <a:t>بهم</a:t>
            </a:r>
            <a:r>
              <a:rPr dirty="0"/>
              <a:t>، </a:t>
            </a:r>
            <a:r>
              <a:rPr dirty="0" err="1"/>
              <a:t>وقد</a:t>
            </a:r>
            <a:r>
              <a:rPr dirty="0"/>
              <a:t> </a:t>
            </a:r>
            <a:r>
              <a:rPr dirty="0" err="1"/>
              <a:t>اجتازَ</a:t>
            </a:r>
            <a:r>
              <a:rPr dirty="0"/>
              <a:t> </a:t>
            </a:r>
            <a:r>
              <a:rPr dirty="0" err="1"/>
              <a:t>بخيولٍ</a:t>
            </a:r>
            <a:r>
              <a:rPr dirty="0"/>
              <a:t> </a:t>
            </a:r>
            <a:r>
              <a:rPr dirty="0" err="1"/>
              <a:t>لأصحاب</a:t>
            </a:r>
            <a:r>
              <a:rPr dirty="0"/>
              <a:t> </a:t>
            </a:r>
            <a:r>
              <a:rPr dirty="0" err="1"/>
              <a:t>سَجَاح</a:t>
            </a:r>
            <a:r>
              <a:rPr dirty="0"/>
              <a:t> </a:t>
            </a:r>
            <a:r>
              <a:rPr dirty="0" err="1"/>
              <a:t>فشرَّدَهُمْ</a:t>
            </a:r>
            <a:r>
              <a:rPr dirty="0"/>
              <a:t> </a:t>
            </a:r>
            <a:r>
              <a:rPr dirty="0" err="1"/>
              <a:t>وأمرَ</a:t>
            </a:r>
            <a:r>
              <a:rPr dirty="0"/>
              <a:t> </a:t>
            </a:r>
            <a:r>
              <a:rPr dirty="0" err="1"/>
              <a:t>بإخراجهم</a:t>
            </a:r>
            <a:r>
              <a:rPr dirty="0"/>
              <a:t> </a:t>
            </a:r>
            <a:r>
              <a:rPr dirty="0" err="1"/>
              <a:t>من</a:t>
            </a:r>
            <a:r>
              <a:rPr dirty="0"/>
              <a:t> </a:t>
            </a:r>
            <a:r>
              <a:rPr dirty="0" err="1"/>
              <a:t>جزيرة</a:t>
            </a:r>
            <a:r>
              <a:rPr dirty="0"/>
              <a:t> </a:t>
            </a:r>
            <a:r>
              <a:rPr dirty="0" err="1"/>
              <a:t>العرب</a:t>
            </a:r>
            <a:endParaRPr dirty="0"/>
          </a:p>
          <a:p>
            <a:r>
              <a:rPr dirty="0"/>
              <a:t>&gt; — </a:t>
            </a:r>
            <a:r>
              <a:rPr dirty="0" err="1"/>
              <a:t>البدایہ</a:t>
            </a:r>
            <a:r>
              <a:rPr dirty="0"/>
              <a:t> </a:t>
            </a:r>
            <a:r>
              <a:rPr dirty="0" err="1"/>
              <a:t>والنہایہ</a:t>
            </a:r>
            <a:r>
              <a:rPr dirty="0"/>
              <a:t> ج۷ ص۳۲ · https://shamela.ws/book/30097/3178</a:t>
            </a:r>
          </a:p>
          <a:p>
            <a:r>
              <a:rPr dirty="0"/>
              <a:t>&gt; *English:* "He marched, passing no one of those who had broken away without dealing with them; and</a:t>
            </a:r>
          </a:p>
          <a:p>
            <a:r>
              <a:rPr dirty="0"/>
              <a:t>&gt; he came upon horsemen belonging to </a:t>
            </a:r>
            <a:r>
              <a:rPr dirty="0" err="1"/>
              <a:t>Sajāḥ's</a:t>
            </a:r>
            <a:r>
              <a:rPr dirty="0"/>
              <a:t> following, and scattered them, and ordered them put out</a:t>
            </a:r>
          </a:p>
          <a:p>
            <a:r>
              <a:rPr dirty="0"/>
              <a:t>&gt; of the Arabian peninsula."</a:t>
            </a:r>
          </a:p>
          <a:p>
            <a:endParaRPr dirty="0"/>
          </a:p>
          <a:p>
            <a:r>
              <a:rPr dirty="0"/>
              <a:t>**This card is the hinge between al-</a:t>
            </a:r>
            <a:r>
              <a:rPr dirty="0" err="1"/>
              <a:t>Buṭāḥ</a:t>
            </a:r>
            <a:r>
              <a:rPr dirty="0"/>
              <a:t> and al-</a:t>
            </a:r>
            <a:r>
              <a:rPr dirty="0" err="1"/>
              <a:t>Yamāma</a:t>
            </a:r>
            <a:r>
              <a:rPr dirty="0"/>
              <a:t>.** Without it the room is left standing in the</a:t>
            </a:r>
          </a:p>
          <a:p>
            <a:r>
              <a:rPr dirty="0"/>
              <a:t>mosque at Medina and the next card opens on an army outside al-</a:t>
            </a:r>
            <a:r>
              <a:rPr dirty="0" err="1"/>
              <a:t>Yamāma</a:t>
            </a:r>
            <a:r>
              <a:rPr dirty="0"/>
              <a:t>.</a:t>
            </a:r>
          </a:p>
          <a:p>
            <a:endParaRPr dirty="0"/>
          </a:p>
          <a:p>
            <a:r>
              <a:rPr dirty="0"/>
              <a:t>WHEN, as the card gives it: 11 AH</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BRIDGE — say:</a:t>
            </a:r>
          </a:p>
          <a:p>
            <a:r>
              <a:rPr dirty="0" err="1"/>
              <a:t>Khālid</a:t>
            </a:r>
            <a:r>
              <a:rPr dirty="0"/>
              <a:t> ؓ was not the first to be sent against </a:t>
            </a:r>
            <a:r>
              <a:rPr dirty="0" err="1"/>
              <a:t>Musaylima</a:t>
            </a:r>
            <a:r>
              <a:rPr dirty="0"/>
              <a:t>. Back at </a:t>
            </a:r>
            <a:r>
              <a:rPr dirty="0" err="1"/>
              <a:t>Dhū</a:t>
            </a:r>
            <a:r>
              <a:rPr dirty="0"/>
              <a:t> al-</a:t>
            </a:r>
            <a:r>
              <a:rPr dirty="0" err="1"/>
              <a:t>Qaṣṣa</a:t>
            </a:r>
            <a:r>
              <a:rPr dirty="0"/>
              <a:t> one of the eleven banners had gone to </a:t>
            </a:r>
            <a:r>
              <a:rPr dirty="0" err="1"/>
              <a:t>ʿIkrima</a:t>
            </a:r>
            <a:r>
              <a:rPr dirty="0"/>
              <a:t> ؓ, with </a:t>
            </a:r>
            <a:r>
              <a:rPr dirty="0" err="1"/>
              <a:t>Shuraḥbīl</a:t>
            </a:r>
            <a:r>
              <a:rPr dirty="0"/>
              <a:t> ؓ sent after him — and both reached al-</a:t>
            </a:r>
            <a:r>
              <a:rPr dirty="0" err="1"/>
              <a:t>Yamāma</a:t>
            </a:r>
            <a:r>
              <a:rPr dirty="0"/>
              <a:t> before </a:t>
            </a:r>
            <a:r>
              <a:rPr dirty="0" err="1"/>
              <a:t>Khālid</a:t>
            </a:r>
            <a:r>
              <a:rPr dirty="0"/>
              <a:t> ؓ did. Here is what happened to them.</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HANDS UP FIRST — ask it before you click to this map, because the map shows the answer:</a:t>
            </a:r>
          </a:p>
          <a:p>
            <a:r>
              <a:t>Before telling it: *"A commander loses a battle by moving too soon. What should the letter from the capital say?"*</a:t>
            </a:r>
          </a:p>
          <a:p>
            <a:endParaRPr/>
          </a:p>
          <a:p>
            <a:r>
              <a:t>MAP: tools/mapstudio/scenes/s04-06-two-commanders.json at step 3,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RUNSHEET: Callback: the room already met him at the far end of this road, arriving in Yemen on evening 3. Beats 1–2 are the one-breath notices for </a:t>
            </a:r>
            <a:r>
              <a:rPr dirty="0" err="1"/>
              <a:t>ʿIkrima</a:t>
            </a:r>
            <a:r>
              <a:rPr dirty="0"/>
              <a:t> ؓ and </a:t>
            </a:r>
            <a:r>
              <a:rPr dirty="0" err="1"/>
              <a:t>Shuraḥbīl</a:t>
            </a:r>
            <a:r>
              <a:rPr dirty="0"/>
              <a:t> ؓ (added 2026-09-22, #43). Ask the card's hands-up before you click to the map, which shows the answer</a:t>
            </a:r>
          </a:p>
          <a:p>
            <a:endParaRPr dirty="0"/>
          </a:p>
          <a:p>
            <a:r>
              <a:rPr dirty="0"/>
              <a:t>SAY —</a:t>
            </a:r>
          </a:p>
          <a:p>
            <a:r>
              <a:rPr dirty="0"/>
              <a:t>1. Who </a:t>
            </a:r>
            <a:r>
              <a:rPr dirty="0" err="1"/>
              <a:t>ʿIkrima</a:t>
            </a:r>
            <a:r>
              <a:rPr dirty="0"/>
              <a:t> ؓ was — </a:t>
            </a:r>
            <a:r>
              <a:rPr dirty="0" err="1"/>
              <a:t>ʿIkrima</a:t>
            </a:r>
            <a:r>
              <a:rPr dirty="0"/>
              <a:t> b. </a:t>
            </a:r>
            <a:r>
              <a:rPr dirty="0" err="1"/>
              <a:t>Abī</a:t>
            </a:r>
            <a:r>
              <a:rPr dirty="0"/>
              <a:t> Jahl ؓ of </a:t>
            </a:r>
            <a:r>
              <a:rPr dirty="0" err="1"/>
              <a:t>Banū</a:t>
            </a:r>
            <a:r>
              <a:rPr dirty="0"/>
              <a:t> </a:t>
            </a:r>
            <a:r>
              <a:rPr dirty="0" err="1"/>
              <a:t>Makhzūm</a:t>
            </a:r>
            <a:r>
              <a:rPr dirty="0"/>
              <a:t>, "the noble, the chief, the martyr": he led his clan after his father fell at Badr, then accepted Islam; he died a martyr in Syria, 13 or 15 AH (634 or 636 CE).</a:t>
            </a:r>
            <a:endParaRPr lang="en-US" dirty="0"/>
          </a:p>
          <a:p>
            <a:endParaRPr dirty="0"/>
          </a:p>
          <a:p>
            <a:r>
              <a:rPr dirty="0"/>
              <a:t>2. And </a:t>
            </a:r>
            <a:r>
              <a:rPr dirty="0" err="1"/>
              <a:t>Shuraḥbīl</a:t>
            </a:r>
            <a:r>
              <a:rPr dirty="0"/>
              <a:t> b. </a:t>
            </a:r>
            <a:r>
              <a:rPr dirty="0" err="1"/>
              <a:t>Ḥasana</a:t>
            </a:r>
            <a:r>
              <a:rPr dirty="0"/>
              <a:t> ؓ — </a:t>
            </a:r>
            <a:r>
              <a:rPr dirty="0" err="1"/>
              <a:t>Ḥasana</a:t>
            </a:r>
            <a:r>
              <a:rPr dirty="0"/>
              <a:t> was his mother, and the name stuck; an early Muslim who emigrated to Abyssinia, later a commander in Syria, dead in the plague of 18 AH (639 CE).</a:t>
            </a:r>
          </a:p>
          <a:p>
            <a:endParaRPr lang="en-US" dirty="0"/>
          </a:p>
          <a:p>
            <a:r>
              <a:rPr dirty="0"/>
              <a:t>3. Two commanders sent ahead — </a:t>
            </a:r>
            <a:r>
              <a:rPr dirty="0" err="1"/>
              <a:t>ʿIkrima</a:t>
            </a:r>
            <a:r>
              <a:rPr dirty="0"/>
              <a:t> ؓ had the banner for </a:t>
            </a:r>
            <a:r>
              <a:rPr dirty="0" err="1"/>
              <a:t>Musaylima</a:t>
            </a:r>
            <a:r>
              <a:rPr dirty="0"/>
              <a:t>; </a:t>
            </a:r>
            <a:r>
              <a:rPr dirty="0" err="1"/>
              <a:t>Shuraḥbīl</a:t>
            </a:r>
            <a:r>
              <a:rPr dirty="0"/>
              <a:t> ؓ was sent behind him.</a:t>
            </a:r>
          </a:p>
          <a:p>
            <a:endParaRPr lang="en-US" dirty="0"/>
          </a:p>
          <a:p>
            <a:r>
              <a:rPr dirty="0"/>
              <a:t>4. He attacked before the second came up — To carry off the fame of it alone.</a:t>
            </a:r>
          </a:p>
          <a:p>
            <a:endParaRPr lang="en-US" dirty="0"/>
          </a:p>
          <a:p>
            <a:r>
              <a:rPr dirty="0"/>
              <a:t>5. And was beaten — The first Muslim force to reach al-</a:t>
            </a:r>
            <a:r>
              <a:rPr dirty="0" err="1"/>
              <a:t>Yamāma</a:t>
            </a:r>
            <a:r>
              <a:rPr dirty="0"/>
              <a:t> was thrown back.</a:t>
            </a:r>
          </a:p>
          <a:p>
            <a:endParaRPr lang="en-US" dirty="0"/>
          </a:p>
          <a:p>
            <a:r>
              <a:rPr dirty="0"/>
              <a:t>6. He reported it and waited for recall — What came back was not a recall.</a:t>
            </a:r>
          </a:p>
          <a:p>
            <a:endParaRPr lang="en-US" dirty="0"/>
          </a:p>
          <a:p>
            <a:r>
              <a:rPr dirty="0"/>
              <a:t>7. "Do not come back and weaken the people" — Go on to Oman, then Mahra, then keep marching.</a:t>
            </a:r>
          </a:p>
          <a:p>
            <a:r>
              <a:rPr dirty="0"/>
              <a:t>   ^ read the Arabic on the face here</a:t>
            </a:r>
          </a:p>
          <a:p>
            <a:endParaRPr lang="en-US" dirty="0"/>
          </a:p>
          <a:p>
            <a:r>
              <a:rPr dirty="0"/>
              <a:t>8. The longest march of the war — One man's line crosses the whole southern edge of the map.</a:t>
            </a:r>
          </a:p>
          <a:p>
            <a:endParaRPr dirty="0"/>
          </a:p>
          <a:p>
            <a:r>
              <a:rPr dirty="0"/>
              <a:t>QUOTE — </a:t>
            </a:r>
            <a:r>
              <a:rPr dirty="0" err="1"/>
              <a:t>لَا</a:t>
            </a:r>
            <a:r>
              <a:rPr dirty="0"/>
              <a:t> </a:t>
            </a:r>
            <a:r>
              <a:rPr dirty="0" err="1"/>
              <a:t>أَرَيَنَّكَ</a:t>
            </a:r>
            <a:r>
              <a:rPr dirty="0"/>
              <a:t> </a:t>
            </a:r>
            <a:r>
              <a:rPr dirty="0" err="1"/>
              <a:t>وَلَا</a:t>
            </a:r>
            <a:r>
              <a:rPr dirty="0"/>
              <a:t> </a:t>
            </a:r>
            <a:r>
              <a:rPr dirty="0" err="1"/>
              <a:t>تَرَانِي</a:t>
            </a:r>
            <a:r>
              <a:rPr dirty="0"/>
              <a:t>، </a:t>
            </a:r>
            <a:r>
              <a:rPr dirty="0" err="1"/>
              <a:t>لَا</a:t>
            </a:r>
            <a:r>
              <a:rPr dirty="0"/>
              <a:t> </a:t>
            </a:r>
            <a:r>
              <a:rPr dirty="0" err="1"/>
              <a:t>تَرْجِعَنَّ</a:t>
            </a:r>
            <a:r>
              <a:rPr dirty="0"/>
              <a:t> </a:t>
            </a:r>
            <a:r>
              <a:rPr dirty="0" err="1"/>
              <a:t>فَتُوهِنَ</a:t>
            </a:r>
            <a:r>
              <a:rPr dirty="0"/>
              <a:t> </a:t>
            </a:r>
            <a:r>
              <a:rPr dirty="0" err="1"/>
              <a:t>النَّاسَ</a:t>
            </a:r>
            <a:r>
              <a:rPr dirty="0"/>
              <a:t>، </a:t>
            </a:r>
            <a:r>
              <a:rPr dirty="0" err="1"/>
              <a:t>امْضِ</a:t>
            </a:r>
            <a:r>
              <a:rPr dirty="0"/>
              <a:t> </a:t>
            </a:r>
            <a:r>
              <a:rPr dirty="0" err="1"/>
              <a:t>إِلَى</a:t>
            </a:r>
            <a:r>
              <a:rPr dirty="0"/>
              <a:t> </a:t>
            </a:r>
            <a:r>
              <a:rPr dirty="0" err="1"/>
              <a:t>حُذَيْفَةَ</a:t>
            </a:r>
            <a:r>
              <a:rPr dirty="0"/>
              <a:t> </a:t>
            </a:r>
            <a:r>
              <a:rPr dirty="0" err="1"/>
              <a:t>وَعَرْفَجَةَ</a:t>
            </a:r>
            <a:r>
              <a:rPr dirty="0"/>
              <a:t> </a:t>
            </a:r>
            <a:r>
              <a:rPr dirty="0" err="1"/>
              <a:t>فَقَاتِلْ</a:t>
            </a:r>
            <a:r>
              <a:rPr dirty="0"/>
              <a:t> </a:t>
            </a:r>
            <a:r>
              <a:rPr dirty="0" err="1"/>
              <a:t>أَهْلَ</a:t>
            </a:r>
            <a:r>
              <a:rPr dirty="0"/>
              <a:t> </a:t>
            </a:r>
            <a:r>
              <a:rPr dirty="0" err="1"/>
              <a:t>عُمَانَ</a:t>
            </a:r>
            <a:r>
              <a:rPr dirty="0"/>
              <a:t> </a:t>
            </a:r>
            <a:r>
              <a:rPr dirty="0" err="1"/>
              <a:t>وَمَهْرَةَ</a:t>
            </a:r>
            <a:r>
              <a:rPr dirty="0"/>
              <a:t>، </a:t>
            </a:r>
            <a:r>
              <a:rPr dirty="0" err="1"/>
              <a:t>ثُمَّ</a:t>
            </a:r>
            <a:r>
              <a:rPr dirty="0"/>
              <a:t> </a:t>
            </a:r>
            <a:r>
              <a:rPr dirty="0" err="1"/>
              <a:t>تَسِيرُ</a:t>
            </a:r>
            <a:r>
              <a:rPr dirty="0"/>
              <a:t> </a:t>
            </a:r>
            <a:r>
              <a:rPr dirty="0" err="1"/>
              <a:t>أَنْتَ</a:t>
            </a:r>
            <a:r>
              <a:rPr dirty="0"/>
              <a:t> </a:t>
            </a:r>
            <a:r>
              <a:rPr dirty="0" err="1"/>
              <a:t>وَجُنْدُكَ</a:t>
            </a:r>
            <a:r>
              <a:rPr dirty="0"/>
              <a:t> </a:t>
            </a:r>
            <a:r>
              <a:rPr dirty="0" err="1"/>
              <a:t>تَسْتَبْرُونَ</a:t>
            </a:r>
            <a:r>
              <a:rPr dirty="0"/>
              <a:t> </a:t>
            </a:r>
            <a:r>
              <a:rPr dirty="0" err="1"/>
              <a:t>النَّاسَ</a:t>
            </a:r>
            <a:r>
              <a:rPr dirty="0"/>
              <a:t>، </a:t>
            </a:r>
            <a:r>
              <a:rPr dirty="0" err="1"/>
              <a:t>حَتَّى</a:t>
            </a:r>
            <a:r>
              <a:rPr dirty="0"/>
              <a:t> </a:t>
            </a:r>
            <a:r>
              <a:rPr dirty="0" err="1"/>
              <a:t>تَلْقَى</a:t>
            </a:r>
            <a:r>
              <a:rPr dirty="0"/>
              <a:t> </a:t>
            </a:r>
            <a:r>
              <a:rPr dirty="0" err="1"/>
              <a:t>مُهَاجِرَ</a:t>
            </a:r>
            <a:r>
              <a:rPr dirty="0"/>
              <a:t> </a:t>
            </a:r>
            <a:r>
              <a:rPr dirty="0" err="1"/>
              <a:t>بْنَ</a:t>
            </a:r>
            <a:r>
              <a:rPr dirty="0"/>
              <a:t> </a:t>
            </a:r>
            <a:r>
              <a:rPr dirty="0" err="1"/>
              <a:t>أَبِي</a:t>
            </a:r>
            <a:r>
              <a:rPr dirty="0"/>
              <a:t> </a:t>
            </a:r>
            <a:r>
              <a:rPr dirty="0" err="1"/>
              <a:t>أُمَيَّةَ</a:t>
            </a:r>
            <a:r>
              <a:rPr dirty="0"/>
              <a:t> </a:t>
            </a:r>
            <a:r>
              <a:rPr dirty="0" err="1"/>
              <a:t>بِالْيَمَنِ</a:t>
            </a:r>
            <a:r>
              <a:rPr dirty="0"/>
              <a:t> </a:t>
            </a:r>
            <a:r>
              <a:rPr dirty="0" err="1"/>
              <a:t>وَحَضْرَمَوْتَ</a:t>
            </a:r>
            <a:r>
              <a:rPr dirty="0"/>
              <a:t>.</a:t>
            </a:r>
          </a:p>
          <a:p>
            <a:r>
              <a:rPr dirty="0"/>
              <a:t>"Let me not see you and do not you see me. Do not come back and weaken the people. Go on to </a:t>
            </a:r>
            <a:r>
              <a:rPr dirty="0" err="1"/>
              <a:t>Ḥudhayfa</a:t>
            </a:r>
            <a:r>
              <a:rPr dirty="0"/>
              <a:t> and </a:t>
            </a:r>
            <a:r>
              <a:rPr dirty="0" err="1"/>
              <a:t>ʿArfaja</a:t>
            </a:r>
            <a:r>
              <a:rPr dirty="0"/>
              <a:t> and fight the people of </a:t>
            </a:r>
            <a:r>
              <a:rPr dirty="0" err="1"/>
              <a:t>ʿUmān</a:t>
            </a:r>
            <a:r>
              <a:rPr dirty="0"/>
              <a:t> and Mahra; then you and your troops march on, testing the people, until you meet </a:t>
            </a:r>
            <a:r>
              <a:rPr dirty="0" err="1"/>
              <a:t>Muhājir</a:t>
            </a:r>
            <a:r>
              <a:rPr dirty="0"/>
              <a:t> b. </a:t>
            </a:r>
            <a:r>
              <a:rPr dirty="0" err="1"/>
              <a:t>Abī</a:t>
            </a:r>
            <a:r>
              <a:rPr dirty="0"/>
              <a:t> Umayya in Yemen and </a:t>
            </a:r>
            <a:r>
              <a:rPr dirty="0" err="1"/>
              <a:t>Ḥaḍramawt</a:t>
            </a:r>
            <a:r>
              <a:rPr dirty="0"/>
              <a:t>."</a:t>
            </a:r>
          </a:p>
          <a:p>
            <a:r>
              <a:rPr dirty="0"/>
              <a:t>— </a:t>
            </a:r>
            <a:r>
              <a:rPr dirty="0" err="1"/>
              <a:t>الکامل</a:t>
            </a:r>
            <a:r>
              <a:rPr dirty="0"/>
              <a:t> </a:t>
            </a:r>
            <a:r>
              <a:rPr dirty="0" err="1"/>
              <a:t>فی</a:t>
            </a:r>
            <a:r>
              <a:rPr dirty="0"/>
              <a:t> </a:t>
            </a:r>
            <a:r>
              <a:rPr dirty="0" err="1"/>
              <a:t>التاریخ</a:t>
            </a:r>
            <a:r>
              <a:rPr dirty="0"/>
              <a:t> ج۲ ص۲۱۴–۲۱۵ · **straddles the page break**</a:t>
            </a:r>
          </a:p>
          <a:p>
            <a:endParaRPr dirty="0"/>
          </a:p>
          <a:p>
            <a:r>
              <a:rPr dirty="0" err="1"/>
              <a:t>عبرت</a:t>
            </a:r>
            <a:r>
              <a:rPr dirty="0"/>
              <a:t> — He was not dismissed for the defeat; he was given more ground to cross.</a:t>
            </a:r>
          </a:p>
          <a:p>
            <a:endParaRPr dirty="0"/>
          </a:p>
          <a:p>
            <a:r>
              <a:rPr dirty="0"/>
              <a:t>HANDS UP — Before telling it: *"A commander loses a battle by moving too soon. What should the letter from the capital say?"*</a:t>
            </a:r>
          </a:p>
          <a:p>
            <a:endParaRPr dirty="0"/>
          </a:p>
          <a:p>
            <a:r>
              <a:rPr dirty="0"/>
              <a:t>MAP — </a:t>
            </a:r>
            <a:r>
              <a:rPr dirty="0" err="1"/>
              <a:t>ʿIkrima's</a:t>
            </a:r>
            <a:r>
              <a:rPr dirty="0"/>
              <a:t> ؓ arrow reaches **</a:t>
            </a:r>
            <a:r>
              <a:rPr dirty="0" err="1"/>
              <a:t>اليمامة</a:t>
            </a:r>
            <a:r>
              <a:rPr dirty="0"/>
              <a:t>** and **recoils**. </a:t>
            </a:r>
            <a:r>
              <a:rPr dirty="0" err="1"/>
              <a:t>Shuraḥbīl's</a:t>
            </a:r>
            <a:r>
              <a:rPr dirty="0"/>
              <a:t> ؓ arrow halts short of it on the road. Then a **new, very long line** starts from that point and runs east to </a:t>
            </a:r>
            <a:r>
              <a:rPr dirty="0" err="1"/>
              <a:t>عمان</a:t>
            </a:r>
            <a:r>
              <a:rPr dirty="0"/>
              <a:t>, then west along the southern edge — </a:t>
            </a:r>
            <a:r>
              <a:rPr dirty="0" err="1"/>
              <a:t>مَهْرة</a:t>
            </a:r>
            <a:r>
              <a:rPr dirty="0"/>
              <a:t>, </a:t>
            </a:r>
            <a:r>
              <a:rPr dirty="0" err="1"/>
              <a:t>أبْيَن</a:t>
            </a:r>
            <a:r>
              <a:rPr dirty="0"/>
              <a:t>, </a:t>
            </a:r>
            <a:r>
              <a:rPr dirty="0" err="1"/>
              <a:t>حضرموت</a:t>
            </a:r>
            <a:r>
              <a:rPr dirty="0"/>
              <a:t>. **That line is one man, and it ends only in </a:t>
            </a:r>
            <a:r>
              <a:rPr dirty="0" err="1"/>
              <a:t>Ḥaḍramawt</a:t>
            </a:r>
            <a:r>
              <a:rPr dirty="0"/>
              <a:t>.**</a:t>
            </a:r>
          </a:p>
          <a:p>
            <a:endParaRPr dirty="0"/>
          </a:p>
          <a:p>
            <a:r>
              <a:rPr dirty="0"/>
              <a:t>BACKGROUND (read at home, not aloud) —</a:t>
            </a:r>
          </a:p>
          <a:p>
            <a:r>
              <a:rPr dirty="0" err="1"/>
              <a:t>ʿIkrima</a:t>
            </a:r>
            <a:r>
              <a:rPr dirty="0"/>
              <a:t> ؓ had the banner for </a:t>
            </a:r>
            <a:r>
              <a:rPr dirty="0" err="1"/>
              <a:t>Musaylima</a:t>
            </a:r>
            <a:r>
              <a:rPr dirty="0"/>
              <a:t>, and </a:t>
            </a:r>
            <a:r>
              <a:rPr dirty="0" err="1"/>
              <a:t>Shuraḥbīl</a:t>
            </a:r>
            <a:r>
              <a:rPr dirty="0"/>
              <a:t> ؓ was sent behind him. </a:t>
            </a:r>
            <a:r>
              <a:rPr dirty="0" err="1"/>
              <a:t>ʿIkrima</a:t>
            </a:r>
            <a:r>
              <a:rPr dirty="0"/>
              <a:t> ؓ attacked before </a:t>
            </a:r>
            <a:r>
              <a:rPr dirty="0" err="1"/>
              <a:t>Shuraḥbīl</a:t>
            </a:r>
            <a:r>
              <a:rPr dirty="0"/>
              <a:t> ؓ came up — Ibn al-</a:t>
            </a:r>
            <a:r>
              <a:rPr dirty="0" err="1"/>
              <a:t>Athīr</a:t>
            </a:r>
            <a:r>
              <a:rPr dirty="0"/>
              <a:t> says he wanted to carry off the fame of it alone. He was beaten. He wrote to Medina and reported it, and waited for his recall. What came back was not a recall. He was not to come home and </a:t>
            </a:r>
            <a:r>
              <a:rPr dirty="0" err="1"/>
              <a:t>demoralise</a:t>
            </a:r>
            <a:r>
              <a:rPr dirty="0"/>
              <a:t> people. He was to keep going: join </a:t>
            </a:r>
            <a:r>
              <a:rPr dirty="0" err="1"/>
              <a:t>Ḥudhayfa</a:t>
            </a:r>
            <a:r>
              <a:rPr dirty="0"/>
              <a:t> and </a:t>
            </a:r>
            <a:r>
              <a:rPr dirty="0" err="1"/>
              <a:t>ʿArfaja</a:t>
            </a:r>
            <a:r>
              <a:rPr dirty="0"/>
              <a:t>, fight in Oman and Mahra, and keep marching after that until he met al-</a:t>
            </a:r>
            <a:r>
              <a:rPr dirty="0" err="1"/>
              <a:t>Muhājir</a:t>
            </a:r>
            <a:r>
              <a:rPr dirty="0"/>
              <a:t> ؓ in Yemen and </a:t>
            </a:r>
            <a:r>
              <a:rPr dirty="0" err="1"/>
              <a:t>Ḥaḍramawt</a:t>
            </a:r>
            <a:r>
              <a:rPr dirty="0"/>
              <a:t>.</a:t>
            </a:r>
          </a:p>
          <a:p>
            <a:endParaRPr dirty="0"/>
          </a:p>
          <a:p>
            <a:r>
              <a:rPr dirty="0"/>
              <a:t>**The two notices, for the one breath** (`DECISIONS.md` #28, #43 — added 2026-09-22 after the evening-4</a:t>
            </a:r>
          </a:p>
          <a:p>
            <a:r>
              <a:rPr dirty="0"/>
              <a:t>review found both men carrying cards with no </a:t>
            </a:r>
            <a:r>
              <a:rPr dirty="0" err="1"/>
              <a:t>تراجم</a:t>
            </a:r>
            <a:r>
              <a:rPr dirty="0"/>
              <a:t> notice):</a:t>
            </a:r>
          </a:p>
          <a:p>
            <a:endParaRPr dirty="0"/>
          </a:p>
          <a:p>
            <a:r>
              <a:rPr dirty="0"/>
              <a:t>&gt; </a:t>
            </a:r>
            <a:r>
              <a:rPr dirty="0" err="1"/>
              <a:t>الشَّرِيْفُ</a:t>
            </a:r>
            <a:r>
              <a:rPr dirty="0"/>
              <a:t>، </a:t>
            </a:r>
            <a:r>
              <a:rPr dirty="0" err="1"/>
              <a:t>الرَّئِيْسُ</a:t>
            </a:r>
            <a:r>
              <a:rPr dirty="0"/>
              <a:t>، </a:t>
            </a:r>
            <a:r>
              <a:rPr dirty="0" err="1"/>
              <a:t>الشَّهِيْدُ</a:t>
            </a:r>
            <a:r>
              <a:rPr dirty="0"/>
              <a:t>، </a:t>
            </a:r>
            <a:r>
              <a:rPr dirty="0" err="1"/>
              <a:t>أَبُو</a:t>
            </a:r>
            <a:r>
              <a:rPr dirty="0"/>
              <a:t> </a:t>
            </a:r>
            <a:r>
              <a:rPr dirty="0" err="1"/>
              <a:t>عُثْمَانَ</a:t>
            </a:r>
            <a:r>
              <a:rPr dirty="0"/>
              <a:t> </a:t>
            </a:r>
            <a:r>
              <a:rPr dirty="0" err="1"/>
              <a:t>القُرَشِيُّ</a:t>
            </a:r>
            <a:r>
              <a:rPr dirty="0"/>
              <a:t>، </a:t>
            </a:r>
            <a:r>
              <a:rPr dirty="0" err="1"/>
              <a:t>المَخْزُوْمِيُّ</a:t>
            </a:r>
            <a:r>
              <a:rPr dirty="0"/>
              <a:t>، </a:t>
            </a:r>
            <a:r>
              <a:rPr dirty="0" err="1"/>
              <a:t>المَكِّيُّ</a:t>
            </a:r>
            <a:r>
              <a:rPr dirty="0"/>
              <a:t>. </a:t>
            </a:r>
            <a:r>
              <a:rPr dirty="0" err="1"/>
              <a:t>لَمَّا</a:t>
            </a:r>
            <a:r>
              <a:rPr dirty="0"/>
              <a:t> </a:t>
            </a:r>
            <a:r>
              <a:rPr dirty="0" err="1"/>
              <a:t>قُتِلَ</a:t>
            </a:r>
            <a:r>
              <a:rPr dirty="0"/>
              <a:t> </a:t>
            </a:r>
            <a:r>
              <a:rPr dirty="0" err="1"/>
              <a:t>أَبُوْهُ</a:t>
            </a:r>
            <a:r>
              <a:rPr dirty="0"/>
              <a:t>، </a:t>
            </a:r>
            <a:r>
              <a:rPr dirty="0" err="1"/>
              <a:t>تَحَوَّلَتْ</a:t>
            </a:r>
            <a:r>
              <a:rPr dirty="0"/>
              <a:t> </a:t>
            </a:r>
            <a:r>
              <a:rPr dirty="0" err="1"/>
              <a:t>رِئَاسَةُ</a:t>
            </a:r>
            <a:r>
              <a:rPr dirty="0"/>
              <a:t> </a:t>
            </a:r>
            <a:r>
              <a:rPr dirty="0" err="1"/>
              <a:t>بَنِي</a:t>
            </a:r>
            <a:r>
              <a:rPr dirty="0"/>
              <a:t> </a:t>
            </a:r>
            <a:r>
              <a:rPr dirty="0" err="1"/>
              <a:t>مَخْزُوْمٍ</a:t>
            </a:r>
            <a:r>
              <a:rPr dirty="0"/>
              <a:t> </a:t>
            </a:r>
            <a:r>
              <a:rPr dirty="0" err="1"/>
              <a:t>إِلَى</a:t>
            </a:r>
            <a:r>
              <a:rPr dirty="0"/>
              <a:t> </a:t>
            </a:r>
            <a:r>
              <a:rPr dirty="0" err="1"/>
              <a:t>عِكْرِمَةَ</a:t>
            </a:r>
            <a:r>
              <a:rPr dirty="0"/>
              <a:t>، </a:t>
            </a:r>
            <a:r>
              <a:rPr dirty="0" err="1"/>
              <a:t>ثُمَّ</a:t>
            </a:r>
            <a:r>
              <a:rPr dirty="0"/>
              <a:t> </a:t>
            </a:r>
            <a:r>
              <a:rPr dirty="0" err="1"/>
              <a:t>إِنَّهُ</a:t>
            </a:r>
            <a:r>
              <a:rPr dirty="0"/>
              <a:t> </a:t>
            </a:r>
            <a:r>
              <a:rPr dirty="0" err="1"/>
              <a:t>أَسْلَمَ</a:t>
            </a:r>
            <a:r>
              <a:rPr dirty="0"/>
              <a:t>، </a:t>
            </a:r>
            <a:r>
              <a:rPr dirty="0" err="1"/>
              <a:t>وَحَسُنَ</a:t>
            </a:r>
            <a:r>
              <a:rPr dirty="0"/>
              <a:t> </a:t>
            </a:r>
            <a:r>
              <a:rPr dirty="0" err="1"/>
              <a:t>إِسْلاَمُهُ</a:t>
            </a:r>
            <a:r>
              <a:rPr dirty="0"/>
              <a:t> </a:t>
            </a:r>
            <a:r>
              <a:rPr dirty="0" err="1"/>
              <a:t>بِالمَرَّةِ</a:t>
            </a:r>
            <a:endParaRPr dirty="0"/>
          </a:p>
          <a:p>
            <a:r>
              <a:rPr dirty="0"/>
              <a:t>&gt; — </a:t>
            </a:r>
            <a:r>
              <a:rPr dirty="0" err="1"/>
              <a:t>سیر</a:t>
            </a:r>
            <a:r>
              <a:rPr dirty="0"/>
              <a:t> </a:t>
            </a:r>
            <a:r>
              <a:rPr dirty="0" err="1"/>
              <a:t>أعلام</a:t>
            </a:r>
            <a:r>
              <a:rPr dirty="0"/>
              <a:t> </a:t>
            </a:r>
            <a:r>
              <a:rPr dirty="0" err="1"/>
              <a:t>النبلاء</a:t>
            </a:r>
            <a:r>
              <a:rPr dirty="0"/>
              <a:t> ج۱ ص۳۲۳ · https://shamela.ws/book/10906/1749</a:t>
            </a:r>
          </a:p>
          <a:p>
            <a:r>
              <a:rPr dirty="0"/>
              <a:t>&gt; *English:* "The noble, the chief, the martyr, </a:t>
            </a:r>
            <a:r>
              <a:rPr dirty="0" err="1"/>
              <a:t>Abū</a:t>
            </a:r>
            <a:r>
              <a:rPr dirty="0"/>
              <a:t> </a:t>
            </a:r>
            <a:r>
              <a:rPr dirty="0" err="1"/>
              <a:t>ʿUthmān</a:t>
            </a:r>
            <a:r>
              <a:rPr dirty="0"/>
              <a:t> al-</a:t>
            </a:r>
            <a:r>
              <a:rPr dirty="0" err="1"/>
              <a:t>Qurashī</a:t>
            </a:r>
            <a:r>
              <a:rPr dirty="0"/>
              <a:t> al-</a:t>
            </a:r>
            <a:r>
              <a:rPr dirty="0" err="1"/>
              <a:t>Makhzūmī</a:t>
            </a:r>
            <a:r>
              <a:rPr dirty="0"/>
              <a:t> al-</a:t>
            </a:r>
            <a:r>
              <a:rPr dirty="0" err="1"/>
              <a:t>Makkī</a:t>
            </a:r>
            <a:r>
              <a:rPr dirty="0"/>
              <a:t>. When his</a:t>
            </a:r>
          </a:p>
          <a:p>
            <a:r>
              <a:rPr dirty="0"/>
              <a:t>&gt; father was killed, the leadership of </a:t>
            </a:r>
            <a:r>
              <a:rPr dirty="0" err="1"/>
              <a:t>Banū</a:t>
            </a:r>
            <a:r>
              <a:rPr dirty="0"/>
              <a:t> </a:t>
            </a:r>
            <a:r>
              <a:rPr dirty="0" err="1"/>
              <a:t>Makhzūm</a:t>
            </a:r>
            <a:r>
              <a:rPr dirty="0"/>
              <a:t> passed to </a:t>
            </a:r>
            <a:r>
              <a:rPr dirty="0" err="1"/>
              <a:t>ʿIkrima</a:t>
            </a:r>
            <a:r>
              <a:rPr dirty="0"/>
              <a:t>; then he accepted Islam, and his</a:t>
            </a:r>
          </a:p>
          <a:p>
            <a:r>
              <a:rPr dirty="0"/>
              <a:t>&gt; Islam was excellent — completely."</a:t>
            </a:r>
          </a:p>
          <a:p>
            <a:endParaRPr dirty="0"/>
          </a:p>
          <a:p>
            <a:r>
              <a:rPr dirty="0"/>
              <a:t>&gt; </a:t>
            </a:r>
            <a:r>
              <a:rPr dirty="0" err="1"/>
              <a:t>وحَسَنَةُ</a:t>
            </a:r>
            <a:r>
              <a:rPr dirty="0"/>
              <a:t> </a:t>
            </a:r>
            <a:r>
              <a:rPr dirty="0" err="1"/>
              <a:t>أمه</a:t>
            </a:r>
            <a:r>
              <a:rPr dirty="0"/>
              <a:t>، </a:t>
            </a:r>
            <a:r>
              <a:rPr dirty="0" err="1"/>
              <a:t>نسب</a:t>
            </a:r>
            <a:r>
              <a:rPr dirty="0"/>
              <a:t> </a:t>
            </a:r>
            <a:r>
              <a:rPr dirty="0" err="1"/>
              <a:t>إليها</a:t>
            </a:r>
            <a:r>
              <a:rPr dirty="0"/>
              <a:t> </a:t>
            </a:r>
            <a:r>
              <a:rPr dirty="0" err="1"/>
              <a:t>وغلب</a:t>
            </a:r>
            <a:r>
              <a:rPr dirty="0"/>
              <a:t> </a:t>
            </a:r>
            <a:r>
              <a:rPr dirty="0" err="1"/>
              <a:t>عليه</a:t>
            </a:r>
            <a:r>
              <a:rPr dirty="0"/>
              <a:t> </a:t>
            </a:r>
            <a:r>
              <a:rPr dirty="0" err="1"/>
              <a:t>ذلك</a:t>
            </a:r>
            <a:r>
              <a:rPr dirty="0"/>
              <a:t>. </a:t>
            </a:r>
            <a:r>
              <a:rPr dirty="0" err="1"/>
              <a:t>أسلم</a:t>
            </a:r>
            <a:r>
              <a:rPr dirty="0"/>
              <a:t> </a:t>
            </a:r>
            <a:r>
              <a:rPr dirty="0" err="1"/>
              <a:t>قديمًا</a:t>
            </a:r>
            <a:r>
              <a:rPr dirty="0"/>
              <a:t> </a:t>
            </a:r>
            <a:r>
              <a:rPr dirty="0" err="1"/>
              <a:t>وهاجر</a:t>
            </a:r>
            <a:r>
              <a:rPr dirty="0"/>
              <a:t> </a:t>
            </a:r>
            <a:r>
              <a:rPr dirty="0" err="1"/>
              <a:t>إلى</a:t>
            </a:r>
            <a:r>
              <a:rPr dirty="0"/>
              <a:t> </a:t>
            </a:r>
            <a:r>
              <a:rPr dirty="0" err="1"/>
              <a:t>الحبشة</a:t>
            </a:r>
            <a:r>
              <a:rPr dirty="0"/>
              <a:t> </a:t>
            </a:r>
            <a:r>
              <a:rPr dirty="0" err="1"/>
              <a:t>وجهزه</a:t>
            </a:r>
            <a:r>
              <a:rPr dirty="0"/>
              <a:t> </a:t>
            </a:r>
            <a:r>
              <a:rPr dirty="0" err="1"/>
              <a:t>الصّدّيق</a:t>
            </a:r>
            <a:r>
              <a:rPr dirty="0"/>
              <a:t> </a:t>
            </a:r>
            <a:r>
              <a:rPr dirty="0" err="1"/>
              <a:t>إلى</a:t>
            </a:r>
            <a:r>
              <a:rPr dirty="0"/>
              <a:t> </a:t>
            </a:r>
            <a:r>
              <a:rPr dirty="0" err="1"/>
              <a:t>الشام</a:t>
            </a:r>
            <a:r>
              <a:rPr dirty="0"/>
              <a:t>، </a:t>
            </a:r>
            <a:r>
              <a:rPr dirty="0" err="1"/>
              <a:t>فكان</a:t>
            </a:r>
            <a:r>
              <a:rPr dirty="0"/>
              <a:t> </a:t>
            </a:r>
            <a:r>
              <a:rPr dirty="0" err="1"/>
              <a:t>أميرًا</a:t>
            </a:r>
            <a:r>
              <a:rPr dirty="0"/>
              <a:t> </a:t>
            </a:r>
            <a:r>
              <a:rPr dirty="0" err="1"/>
              <a:t>على</a:t>
            </a:r>
            <a:r>
              <a:rPr dirty="0"/>
              <a:t> </a:t>
            </a:r>
            <a:r>
              <a:rPr dirty="0" err="1"/>
              <a:t>ربع</a:t>
            </a:r>
            <a:r>
              <a:rPr dirty="0"/>
              <a:t> </a:t>
            </a:r>
            <a:r>
              <a:rPr dirty="0" err="1"/>
              <a:t>الجيش</a:t>
            </a:r>
            <a:endParaRPr dirty="0"/>
          </a:p>
          <a:p>
            <a:r>
              <a:rPr dirty="0"/>
              <a:t>&gt; — </a:t>
            </a:r>
            <a:r>
              <a:rPr dirty="0" err="1"/>
              <a:t>البدایہ</a:t>
            </a:r>
            <a:r>
              <a:rPr dirty="0"/>
              <a:t> </a:t>
            </a:r>
            <a:r>
              <a:rPr dirty="0" err="1"/>
              <a:t>والنہایہ</a:t>
            </a:r>
            <a:r>
              <a:rPr dirty="0"/>
              <a:t> ج۷ ص۲۰۸ · https://shamela.ws/book/30097/3354</a:t>
            </a:r>
          </a:p>
          <a:p>
            <a:r>
              <a:rPr dirty="0"/>
              <a:t>&gt; *English:* "</a:t>
            </a:r>
            <a:r>
              <a:rPr dirty="0" err="1"/>
              <a:t>Ḥasana</a:t>
            </a:r>
            <a:r>
              <a:rPr dirty="0"/>
              <a:t> was his mother; he was named after her, and the name stuck. He accepted Islam early,</a:t>
            </a:r>
          </a:p>
          <a:p>
            <a:r>
              <a:rPr dirty="0"/>
              <a:t>&gt; emigrated to Abyssinia, and the </a:t>
            </a:r>
            <a:r>
              <a:rPr dirty="0" err="1"/>
              <a:t>Ṣiddīq</a:t>
            </a:r>
            <a:r>
              <a:rPr dirty="0"/>
              <a:t> equipped him for Syria, where he commanded a quarter of the army."</a:t>
            </a:r>
          </a:p>
          <a:p>
            <a:endParaRPr dirty="0"/>
          </a:p>
          <a:p>
            <a:r>
              <a:rPr dirty="0"/>
              <a:t>The same page ends his notice: «</a:t>
            </a:r>
            <a:r>
              <a:rPr dirty="0" err="1"/>
              <a:t>وطعن</a:t>
            </a:r>
            <a:r>
              <a:rPr dirty="0"/>
              <a:t> </a:t>
            </a:r>
            <a:r>
              <a:rPr dirty="0" err="1"/>
              <a:t>هو</a:t>
            </a:r>
            <a:r>
              <a:rPr dirty="0"/>
              <a:t> </a:t>
            </a:r>
            <a:r>
              <a:rPr dirty="0" err="1"/>
              <a:t>وأبو</a:t>
            </a:r>
            <a:r>
              <a:rPr dirty="0"/>
              <a:t> </a:t>
            </a:r>
            <a:r>
              <a:rPr dirty="0" err="1"/>
              <a:t>عبيدة</a:t>
            </a:r>
            <a:r>
              <a:rPr dirty="0"/>
              <a:t> </a:t>
            </a:r>
            <a:r>
              <a:rPr dirty="0" err="1"/>
              <a:t>وأبو</a:t>
            </a:r>
            <a:r>
              <a:rPr dirty="0"/>
              <a:t> </a:t>
            </a:r>
            <a:r>
              <a:rPr dirty="0" err="1"/>
              <a:t>مالك</a:t>
            </a:r>
            <a:r>
              <a:rPr dirty="0"/>
              <a:t> </a:t>
            </a:r>
            <a:r>
              <a:rPr dirty="0" err="1"/>
              <a:t>الأشعري</a:t>
            </a:r>
            <a:r>
              <a:rPr dirty="0"/>
              <a:t> </a:t>
            </a:r>
            <a:r>
              <a:rPr dirty="0" err="1"/>
              <a:t>في</a:t>
            </a:r>
            <a:r>
              <a:rPr dirty="0"/>
              <a:t> </a:t>
            </a:r>
            <a:r>
              <a:rPr dirty="0" err="1"/>
              <a:t>يوم</a:t>
            </a:r>
            <a:r>
              <a:rPr dirty="0"/>
              <a:t> </a:t>
            </a:r>
            <a:r>
              <a:rPr dirty="0" err="1"/>
              <a:t>واحد</a:t>
            </a:r>
            <a:r>
              <a:rPr dirty="0"/>
              <a:t> </a:t>
            </a:r>
            <a:r>
              <a:rPr dirty="0" err="1"/>
              <a:t>سنة</a:t>
            </a:r>
            <a:r>
              <a:rPr dirty="0"/>
              <a:t> </a:t>
            </a:r>
            <a:r>
              <a:rPr dirty="0" err="1"/>
              <a:t>ثماني</a:t>
            </a:r>
            <a:r>
              <a:rPr dirty="0"/>
              <a:t> </a:t>
            </a:r>
            <a:r>
              <a:rPr dirty="0" err="1"/>
              <a:t>عشرة</a:t>
            </a:r>
            <a:r>
              <a:rPr dirty="0"/>
              <a:t>» — he, </a:t>
            </a:r>
            <a:r>
              <a:rPr dirty="0" err="1"/>
              <a:t>Abū</a:t>
            </a:r>
            <a:endParaRPr dirty="0"/>
          </a:p>
          <a:p>
            <a:r>
              <a:rPr dirty="0" err="1"/>
              <a:t>ʿUbayda</a:t>
            </a:r>
            <a:r>
              <a:rPr dirty="0"/>
              <a:t> ؓ and </a:t>
            </a:r>
            <a:r>
              <a:rPr dirty="0" err="1"/>
              <a:t>Abū</a:t>
            </a:r>
            <a:r>
              <a:rPr dirty="0"/>
              <a:t> </a:t>
            </a:r>
            <a:r>
              <a:rPr dirty="0" err="1"/>
              <a:t>Mālik</a:t>
            </a:r>
            <a:r>
              <a:rPr dirty="0"/>
              <a:t> al-</a:t>
            </a:r>
            <a:r>
              <a:rPr dirty="0" err="1"/>
              <a:t>Ashʿarī</a:t>
            </a:r>
            <a:r>
              <a:rPr dirty="0"/>
              <a:t> ؓ were struck by the plague on one day, in 18 AH. </a:t>
            </a:r>
            <a:r>
              <a:rPr dirty="0" err="1"/>
              <a:t>ʿIkrima's</a:t>
            </a:r>
            <a:r>
              <a:rPr dirty="0"/>
              <a:t> ؓ death is</a:t>
            </a:r>
          </a:p>
          <a:p>
            <a:r>
              <a:rPr dirty="0"/>
              <a:t>13 or 15 AH, the books differing on </a:t>
            </a:r>
            <a:r>
              <a:rPr dirty="0" err="1"/>
              <a:t>Ajnādayn</a:t>
            </a:r>
            <a:r>
              <a:rPr dirty="0"/>
              <a:t> or al-</a:t>
            </a:r>
            <a:r>
              <a:rPr dirty="0" err="1"/>
              <a:t>Yarmūk</a:t>
            </a:r>
            <a:r>
              <a:rPr dirty="0"/>
              <a:t> (`the-men-who-had-fought-against-it.md` §3.5).</a:t>
            </a:r>
          </a:p>
          <a:p>
            <a:endParaRPr dirty="0"/>
          </a:p>
          <a:p>
            <a:r>
              <a:rPr dirty="0"/>
              <a:t>WHEN, as the card gives it: 11 AH, at </a:t>
            </a:r>
            <a:r>
              <a:rPr dirty="0" err="1"/>
              <a:t>اليمامة</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RUNSHEET: Beaten, reproached — and then given the vanguard</a:t>
            </a:r>
          </a:p>
          <a:p>
            <a:endParaRPr dirty="0"/>
          </a:p>
          <a:p>
            <a:r>
              <a:rPr dirty="0"/>
              <a:t>SAY —</a:t>
            </a:r>
          </a:p>
          <a:p>
            <a:r>
              <a:rPr dirty="0"/>
              <a:t>1. His orders were to wait — Stay until </a:t>
            </a:r>
            <a:r>
              <a:rPr dirty="0" err="1"/>
              <a:t>Khālid</a:t>
            </a:r>
            <a:r>
              <a:rPr dirty="0"/>
              <a:t> ؓ comes up, and afterwards go and help </a:t>
            </a:r>
            <a:r>
              <a:rPr dirty="0" err="1"/>
              <a:t>ʿAmr</a:t>
            </a:r>
            <a:r>
              <a:rPr dirty="0"/>
              <a:t> b. al-</a:t>
            </a:r>
            <a:r>
              <a:rPr dirty="0" err="1"/>
              <a:t>ʿĀṣ</a:t>
            </a:r>
            <a:r>
              <a:rPr dirty="0"/>
              <a:t> ؓ against </a:t>
            </a:r>
            <a:r>
              <a:rPr dirty="0" err="1"/>
              <a:t>Quḍāʿa</a:t>
            </a:r>
            <a:r>
              <a:rPr dirty="0"/>
              <a:t>.</a:t>
            </a:r>
            <a:endParaRPr lang="en-US" dirty="0"/>
          </a:p>
          <a:p>
            <a:endParaRPr dirty="0"/>
          </a:p>
          <a:p>
            <a:r>
              <a:rPr dirty="0"/>
              <a:t>2. He did not wait — He got ahead of </a:t>
            </a:r>
            <a:r>
              <a:rPr dirty="0" err="1"/>
              <a:t>Khālid</a:t>
            </a:r>
            <a:r>
              <a:rPr dirty="0"/>
              <a:t> ؓ in engaging </a:t>
            </a:r>
            <a:r>
              <a:rPr dirty="0" err="1"/>
              <a:t>Musaylima</a:t>
            </a:r>
            <a:r>
              <a:rPr dirty="0"/>
              <a:t>.</a:t>
            </a:r>
          </a:p>
          <a:p>
            <a:endParaRPr lang="en-US" dirty="0"/>
          </a:p>
          <a:p>
            <a:r>
              <a:rPr dirty="0"/>
              <a:t>3. Beaten, and reproached — </a:t>
            </a:r>
            <a:r>
              <a:rPr dirty="0" err="1"/>
              <a:t>Khālid</a:t>
            </a:r>
            <a:r>
              <a:rPr dirty="0"/>
              <a:t> ؓ blamed him for it, as Medina had blamed </a:t>
            </a:r>
            <a:r>
              <a:rPr dirty="0" err="1"/>
              <a:t>ʿIkrima</a:t>
            </a:r>
            <a:r>
              <a:rPr dirty="0"/>
              <a:t> ؓ.</a:t>
            </a:r>
          </a:p>
          <a:p>
            <a:r>
              <a:rPr dirty="0"/>
              <a:t>   ^ read the Arabic on the face here</a:t>
            </a:r>
          </a:p>
          <a:p>
            <a:endParaRPr lang="en-US" dirty="0"/>
          </a:p>
          <a:p>
            <a:r>
              <a:rPr dirty="0"/>
              <a:t>4. Both advance forces beaten separately — That is why the day ahead would be so hard.</a:t>
            </a:r>
          </a:p>
          <a:p>
            <a:endParaRPr lang="en-US" dirty="0"/>
          </a:p>
          <a:p>
            <a:r>
              <a:rPr dirty="0"/>
              <a:t>5. And then he was given the vanguard — At </a:t>
            </a:r>
            <a:r>
              <a:rPr dirty="0" err="1"/>
              <a:t>ʿAqrabāʾ</a:t>
            </a:r>
            <a:r>
              <a:rPr dirty="0"/>
              <a:t>, the man who had just failed led the front of the army.</a:t>
            </a:r>
          </a:p>
          <a:p>
            <a:endParaRPr dirty="0"/>
          </a:p>
          <a:p>
            <a:r>
              <a:rPr dirty="0"/>
              <a:t>QUOTE — </a:t>
            </a:r>
            <a:r>
              <a:rPr dirty="0" err="1"/>
              <a:t>وَعَجَّلَ</a:t>
            </a:r>
            <a:r>
              <a:rPr dirty="0"/>
              <a:t> </a:t>
            </a:r>
            <a:r>
              <a:rPr dirty="0" err="1"/>
              <a:t>شُرَحْبِيلُ</a:t>
            </a:r>
            <a:r>
              <a:rPr dirty="0"/>
              <a:t> </a:t>
            </a:r>
            <a:r>
              <a:rPr dirty="0" err="1"/>
              <a:t>بْنُ</a:t>
            </a:r>
            <a:r>
              <a:rPr dirty="0"/>
              <a:t> </a:t>
            </a:r>
            <a:r>
              <a:rPr dirty="0" err="1"/>
              <a:t>حَسَنَةَ</a:t>
            </a:r>
            <a:r>
              <a:rPr dirty="0"/>
              <a:t>، </a:t>
            </a:r>
            <a:r>
              <a:rPr dirty="0" err="1"/>
              <a:t>وَبَادَرَ</a:t>
            </a:r>
            <a:r>
              <a:rPr dirty="0"/>
              <a:t> </a:t>
            </a:r>
            <a:r>
              <a:rPr dirty="0" err="1"/>
              <a:t>خَالِدًا</a:t>
            </a:r>
            <a:r>
              <a:rPr dirty="0"/>
              <a:t> </a:t>
            </a:r>
            <a:r>
              <a:rPr dirty="0" err="1"/>
              <a:t>بِقِتَالِ</a:t>
            </a:r>
            <a:r>
              <a:rPr dirty="0"/>
              <a:t> </a:t>
            </a:r>
            <a:r>
              <a:rPr dirty="0" err="1"/>
              <a:t>مُسَيْلِمَةَ</a:t>
            </a:r>
            <a:r>
              <a:rPr dirty="0"/>
              <a:t>، </a:t>
            </a:r>
            <a:r>
              <a:rPr dirty="0" err="1"/>
              <a:t>فَنُكِبَ</a:t>
            </a:r>
            <a:r>
              <a:rPr dirty="0"/>
              <a:t>، </a:t>
            </a:r>
            <a:r>
              <a:rPr dirty="0" err="1"/>
              <a:t>فَلَامَهُ</a:t>
            </a:r>
            <a:r>
              <a:rPr dirty="0"/>
              <a:t> </a:t>
            </a:r>
            <a:r>
              <a:rPr dirty="0" err="1"/>
              <a:t>خَالِدٌ</a:t>
            </a:r>
            <a:r>
              <a:rPr dirty="0"/>
              <a:t>.</a:t>
            </a:r>
          </a:p>
          <a:p>
            <a:r>
              <a:rPr dirty="0"/>
              <a:t>"</a:t>
            </a:r>
            <a:r>
              <a:rPr dirty="0" err="1"/>
              <a:t>Shuraḥbīl</a:t>
            </a:r>
            <a:r>
              <a:rPr dirty="0"/>
              <a:t> b. </a:t>
            </a:r>
            <a:r>
              <a:rPr dirty="0" err="1"/>
              <a:t>Ḥasana</a:t>
            </a:r>
            <a:r>
              <a:rPr dirty="0"/>
              <a:t> hurried, and got ahead of </a:t>
            </a:r>
            <a:r>
              <a:rPr dirty="0" err="1"/>
              <a:t>Khālid</a:t>
            </a:r>
            <a:r>
              <a:rPr dirty="0"/>
              <a:t> in fighting </a:t>
            </a:r>
            <a:r>
              <a:rPr dirty="0" err="1"/>
              <a:t>Musaylima</a:t>
            </a:r>
            <a:r>
              <a:rPr dirty="0"/>
              <a:t>, and was struck down; and </a:t>
            </a:r>
            <a:r>
              <a:rPr dirty="0" err="1"/>
              <a:t>Khālid</a:t>
            </a:r>
            <a:r>
              <a:rPr dirty="0"/>
              <a:t> reproached him."</a:t>
            </a:r>
          </a:p>
          <a:p>
            <a:r>
              <a:rPr dirty="0"/>
              <a:t>— </a:t>
            </a:r>
            <a:r>
              <a:rPr dirty="0" err="1"/>
              <a:t>الکامل</a:t>
            </a:r>
            <a:r>
              <a:rPr dirty="0"/>
              <a:t> </a:t>
            </a:r>
            <a:r>
              <a:rPr dirty="0" err="1"/>
              <a:t>فی</a:t>
            </a:r>
            <a:r>
              <a:rPr dirty="0"/>
              <a:t> </a:t>
            </a:r>
            <a:r>
              <a:rPr dirty="0" err="1"/>
              <a:t>التاریخ</a:t>
            </a:r>
            <a:r>
              <a:rPr dirty="0"/>
              <a:t> ج۲ ص۲۱۵</a:t>
            </a:r>
          </a:p>
          <a:p>
            <a:endParaRPr dirty="0"/>
          </a:p>
          <a:p>
            <a:r>
              <a:rPr dirty="0" err="1"/>
              <a:t>عبرت</a:t>
            </a:r>
            <a:r>
              <a:rPr dirty="0"/>
              <a:t> — The same mistake twice in one month, and neither man was thrown away for it.</a:t>
            </a:r>
          </a:p>
          <a:p>
            <a:endParaRPr dirty="0"/>
          </a:p>
          <a:p>
            <a:r>
              <a:rPr dirty="0"/>
              <a:t>MAP — </a:t>
            </a:r>
            <a:r>
              <a:rPr dirty="0" err="1"/>
              <a:t>Shuraḥbīl's</a:t>
            </a:r>
            <a:r>
              <a:rPr dirty="0"/>
              <a:t> ؓ halted arrow starts again, reaches </a:t>
            </a:r>
            <a:r>
              <a:rPr dirty="0" err="1"/>
              <a:t>اليمامة</a:t>
            </a:r>
            <a:r>
              <a:rPr dirty="0"/>
              <a:t> and recoils in its turn. Then, when </a:t>
            </a:r>
            <a:r>
              <a:rPr dirty="0" err="1"/>
              <a:t>Khālid's</a:t>
            </a:r>
            <a:r>
              <a:rPr dirty="0"/>
              <a:t> ؓ arrow arrives, </a:t>
            </a:r>
            <a:r>
              <a:rPr dirty="0" err="1"/>
              <a:t>Shuraḥbīl's</a:t>
            </a:r>
            <a:r>
              <a:rPr dirty="0"/>
              <a:t> ؓ re-forms **in front of it** as the vanguard.</a:t>
            </a:r>
          </a:p>
          <a:p>
            <a:endParaRPr dirty="0"/>
          </a:p>
          <a:p>
            <a:r>
              <a:rPr dirty="0"/>
              <a:t>BACKGROUND (read at home, not aloud) —</a:t>
            </a:r>
          </a:p>
          <a:p>
            <a:r>
              <a:rPr dirty="0" err="1"/>
              <a:t>Shuraḥbīl</a:t>
            </a:r>
            <a:r>
              <a:rPr dirty="0"/>
              <a:t> b. </a:t>
            </a:r>
            <a:r>
              <a:rPr dirty="0" err="1"/>
              <a:t>Ḥasana</a:t>
            </a:r>
            <a:r>
              <a:rPr dirty="0"/>
              <a:t> ؓ had been written to with an order to stay where he was until </a:t>
            </a:r>
            <a:r>
              <a:rPr dirty="0" err="1"/>
              <a:t>Khālid</a:t>
            </a:r>
            <a:r>
              <a:rPr dirty="0"/>
              <a:t> ؓ came up, and then, once </a:t>
            </a:r>
            <a:r>
              <a:rPr dirty="0" err="1"/>
              <a:t>Musaylima</a:t>
            </a:r>
            <a:r>
              <a:rPr dirty="0"/>
              <a:t> was finished with, to go and help </a:t>
            </a:r>
            <a:r>
              <a:rPr dirty="0" err="1"/>
              <a:t>ʿAmr</a:t>
            </a:r>
            <a:r>
              <a:rPr dirty="0"/>
              <a:t> b. al-</a:t>
            </a:r>
            <a:r>
              <a:rPr dirty="0" err="1"/>
              <a:t>ʿĀṣ</a:t>
            </a:r>
            <a:r>
              <a:rPr dirty="0"/>
              <a:t> ؓ against </a:t>
            </a:r>
            <a:r>
              <a:rPr dirty="0" err="1"/>
              <a:t>Quḍāʿa</a:t>
            </a:r>
            <a:r>
              <a:rPr dirty="0"/>
              <a:t>. He did not wait. He got ahead of </a:t>
            </a:r>
            <a:r>
              <a:rPr dirty="0" err="1"/>
              <a:t>Khālid</a:t>
            </a:r>
            <a:r>
              <a:rPr dirty="0"/>
              <a:t> ؓ in engaging </a:t>
            </a:r>
            <a:r>
              <a:rPr dirty="0" err="1"/>
              <a:t>Musaylima</a:t>
            </a:r>
            <a:r>
              <a:rPr dirty="0"/>
              <a:t>, and he was beaten too, and </a:t>
            </a:r>
            <a:r>
              <a:rPr dirty="0" err="1"/>
              <a:t>Khālid</a:t>
            </a:r>
            <a:r>
              <a:rPr dirty="0"/>
              <a:t> ؓ reproached him for it. Both of the advance commanders were beaten in detail before the main army ever arrived — which is the military shape of al-</a:t>
            </a:r>
            <a:r>
              <a:rPr dirty="0" err="1"/>
              <a:t>Yamāma</a:t>
            </a:r>
            <a:r>
              <a:rPr dirty="0"/>
              <a:t> and the reason it was the hardest fighting of the war. And then, at </a:t>
            </a:r>
            <a:r>
              <a:rPr dirty="0" err="1"/>
              <a:t>ʿAqrabāʾ</a:t>
            </a:r>
            <a:r>
              <a:rPr dirty="0"/>
              <a:t>, the man who had just been beaten and reproached was given the vanguard.</a:t>
            </a:r>
          </a:p>
          <a:p>
            <a:endParaRPr dirty="0"/>
          </a:p>
          <a:p>
            <a:r>
              <a:rPr dirty="0"/>
              <a:t>**Also on the page:** </a:t>
            </a:r>
            <a:r>
              <a:rPr dirty="0" err="1"/>
              <a:t>البدایہ</a:t>
            </a:r>
            <a:r>
              <a:rPr dirty="0"/>
              <a:t> ج۷ ص۳۳ puts him at the head of the army days later — «</a:t>
            </a:r>
            <a:r>
              <a:rPr dirty="0" err="1"/>
              <a:t>وقد</a:t>
            </a:r>
            <a:r>
              <a:rPr dirty="0"/>
              <a:t> </a:t>
            </a:r>
            <a:r>
              <a:rPr dirty="0" err="1"/>
              <a:t>جعل</a:t>
            </a:r>
            <a:r>
              <a:rPr dirty="0"/>
              <a:t> </a:t>
            </a:r>
            <a:r>
              <a:rPr dirty="0" err="1"/>
              <a:t>على</a:t>
            </a:r>
            <a:endParaRPr dirty="0"/>
          </a:p>
          <a:p>
            <a:r>
              <a:rPr dirty="0" err="1"/>
              <a:t>المقدمة</a:t>
            </a:r>
            <a:r>
              <a:rPr dirty="0"/>
              <a:t> </a:t>
            </a:r>
            <a:r>
              <a:rPr dirty="0" err="1"/>
              <a:t>شرحبيل</a:t>
            </a:r>
            <a:r>
              <a:rPr dirty="0"/>
              <a:t> </a:t>
            </a:r>
            <a:r>
              <a:rPr dirty="0" err="1"/>
              <a:t>بن</a:t>
            </a:r>
            <a:r>
              <a:rPr dirty="0"/>
              <a:t> </a:t>
            </a:r>
            <a:r>
              <a:rPr dirty="0" err="1"/>
              <a:t>حسنة</a:t>
            </a:r>
            <a:r>
              <a:rPr dirty="0"/>
              <a:t>» (https://shamela.ws/book/30097/3179).</a:t>
            </a:r>
          </a:p>
          <a:p>
            <a:endParaRPr dirty="0"/>
          </a:p>
          <a:p>
            <a:r>
              <a:rPr dirty="0"/>
              <a:t>WHEN, as the card gives it: 11 AH, at </a:t>
            </a:r>
            <a:r>
              <a:rPr dirty="0" err="1"/>
              <a:t>اليمامة</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MAP: tools/mapstudio/scenes/s04-07-aqraba.json at step 2,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RUNSHEET: [HANDS] 3: "Why would a commander put his own villages behind his army?" — ask at beat 4</a:t>
            </a:r>
          </a:p>
          <a:p>
            <a:endParaRPr dirty="0"/>
          </a:p>
          <a:p>
            <a:r>
              <a:rPr dirty="0"/>
              <a:t>SAY —</a:t>
            </a:r>
          </a:p>
          <a:p>
            <a:r>
              <a:rPr dirty="0"/>
              <a:t>1. Forty thousand fighting men — Three books, one figure.</a:t>
            </a:r>
            <a:endParaRPr lang="en-US" dirty="0"/>
          </a:p>
          <a:p>
            <a:endParaRPr dirty="0"/>
          </a:p>
          <a:p>
            <a:r>
              <a:rPr dirty="0"/>
              <a:t>2. </a:t>
            </a:r>
            <a:r>
              <a:rPr dirty="0" err="1"/>
              <a:t>Musaylima</a:t>
            </a:r>
            <a:r>
              <a:rPr dirty="0"/>
              <a:t> hears </a:t>
            </a:r>
            <a:r>
              <a:rPr dirty="0" err="1"/>
              <a:t>Khālid</a:t>
            </a:r>
            <a:r>
              <a:rPr dirty="0"/>
              <a:t> ؓ is coming — And chooses his ground before the army arrives.</a:t>
            </a:r>
          </a:p>
          <a:p>
            <a:endParaRPr lang="en-US" dirty="0"/>
          </a:p>
          <a:p>
            <a:r>
              <a:rPr dirty="0"/>
              <a:t>3. </a:t>
            </a:r>
            <a:r>
              <a:rPr dirty="0" err="1"/>
              <a:t>ʿAqrabāʾ</a:t>
            </a:r>
            <a:r>
              <a:rPr dirty="0"/>
              <a:t>, on the edge of al-</a:t>
            </a:r>
            <a:r>
              <a:rPr dirty="0" err="1"/>
              <a:t>Yamāma</a:t>
            </a:r>
            <a:r>
              <a:rPr dirty="0"/>
              <a:t> — The town itself is </a:t>
            </a:r>
            <a:r>
              <a:rPr dirty="0" err="1"/>
              <a:t>Ḥajr</a:t>
            </a:r>
            <a:r>
              <a:rPr dirty="0"/>
              <a:t>; put it on the map.</a:t>
            </a:r>
          </a:p>
          <a:p>
            <a:endParaRPr lang="en-US" dirty="0"/>
          </a:p>
          <a:p>
            <a:r>
              <a:rPr dirty="0"/>
              <a:t>4. The farmland behind his back — The property and the families were left behind his own line.</a:t>
            </a:r>
          </a:p>
          <a:p>
            <a:r>
              <a:rPr dirty="0"/>
              <a:t>   ^ read the Arabic on the face here</a:t>
            </a:r>
          </a:p>
          <a:p>
            <a:endParaRPr lang="en-US" dirty="0"/>
          </a:p>
          <a:p>
            <a:r>
              <a:rPr dirty="0"/>
              <a:t>5. What that decision means — No man in his line could retreat except through his own household.</a:t>
            </a:r>
          </a:p>
          <a:p>
            <a:endParaRPr lang="en-US" dirty="0"/>
          </a:p>
          <a:p>
            <a:r>
              <a:rPr dirty="0"/>
              <a:t>6. Why neither line could give ground — Neither army had anywhere to go.</a:t>
            </a:r>
          </a:p>
          <a:p>
            <a:endParaRPr dirty="0"/>
          </a:p>
          <a:p>
            <a:r>
              <a:rPr dirty="0"/>
              <a:t>QUOTE — </a:t>
            </a:r>
            <a:r>
              <a:rPr dirty="0" err="1"/>
              <a:t>فلما</a:t>
            </a:r>
            <a:r>
              <a:rPr dirty="0"/>
              <a:t> </a:t>
            </a:r>
            <a:r>
              <a:rPr dirty="0" err="1"/>
              <a:t>سمع</a:t>
            </a:r>
            <a:r>
              <a:rPr dirty="0"/>
              <a:t> </a:t>
            </a:r>
            <a:r>
              <a:rPr dirty="0" err="1"/>
              <a:t>مسيلمةُ</a:t>
            </a:r>
            <a:r>
              <a:rPr dirty="0"/>
              <a:t> </a:t>
            </a:r>
            <a:r>
              <a:rPr dirty="0" err="1"/>
              <a:t>بقدوم</a:t>
            </a:r>
            <a:r>
              <a:rPr dirty="0"/>
              <a:t> </a:t>
            </a:r>
            <a:r>
              <a:rPr dirty="0" err="1"/>
              <a:t>خالدٍ</a:t>
            </a:r>
            <a:r>
              <a:rPr dirty="0"/>
              <a:t> </a:t>
            </a:r>
            <a:r>
              <a:rPr dirty="0" err="1"/>
              <a:t>عسكر</a:t>
            </a:r>
            <a:r>
              <a:rPr dirty="0"/>
              <a:t> </a:t>
            </a:r>
            <a:r>
              <a:rPr dirty="0" err="1"/>
              <a:t>بمكانٍ</a:t>
            </a:r>
            <a:r>
              <a:rPr dirty="0"/>
              <a:t> </a:t>
            </a:r>
            <a:r>
              <a:rPr dirty="0" err="1"/>
              <a:t>يقال</a:t>
            </a:r>
            <a:r>
              <a:rPr dirty="0"/>
              <a:t> </a:t>
            </a:r>
            <a:r>
              <a:rPr dirty="0" err="1"/>
              <a:t>له</a:t>
            </a:r>
            <a:r>
              <a:rPr dirty="0"/>
              <a:t>: (</a:t>
            </a:r>
            <a:r>
              <a:rPr dirty="0" err="1"/>
              <a:t>عقربا</a:t>
            </a:r>
            <a:r>
              <a:rPr dirty="0"/>
              <a:t>) </a:t>
            </a:r>
            <a:r>
              <a:rPr dirty="0" err="1"/>
              <a:t>في</a:t>
            </a:r>
            <a:r>
              <a:rPr dirty="0"/>
              <a:t> </a:t>
            </a:r>
            <a:r>
              <a:rPr dirty="0" err="1"/>
              <a:t>طرف</a:t>
            </a:r>
            <a:r>
              <a:rPr dirty="0"/>
              <a:t> </a:t>
            </a:r>
            <a:r>
              <a:rPr dirty="0" err="1"/>
              <a:t>اليمامة</a:t>
            </a:r>
            <a:r>
              <a:rPr dirty="0"/>
              <a:t> </a:t>
            </a:r>
            <a:r>
              <a:rPr dirty="0" err="1"/>
              <a:t>والريفُ</a:t>
            </a:r>
            <a:r>
              <a:rPr dirty="0"/>
              <a:t> </a:t>
            </a:r>
            <a:r>
              <a:rPr dirty="0" err="1"/>
              <a:t>وراءَ</a:t>
            </a:r>
            <a:r>
              <a:rPr dirty="0"/>
              <a:t> </a:t>
            </a:r>
            <a:r>
              <a:rPr dirty="0" err="1"/>
              <a:t>ظهورهم</a:t>
            </a:r>
            <a:endParaRPr dirty="0"/>
          </a:p>
          <a:p>
            <a:r>
              <a:rPr dirty="0"/>
              <a:t>"When </a:t>
            </a:r>
            <a:r>
              <a:rPr dirty="0" err="1"/>
              <a:t>Musaylima</a:t>
            </a:r>
            <a:r>
              <a:rPr dirty="0"/>
              <a:t> heard of </a:t>
            </a:r>
            <a:r>
              <a:rPr dirty="0" err="1"/>
              <a:t>Khālid's</a:t>
            </a:r>
            <a:r>
              <a:rPr dirty="0"/>
              <a:t> coming, he encamped at a place called </a:t>
            </a:r>
            <a:r>
              <a:rPr dirty="0" err="1"/>
              <a:t>ʿAqrabāʾ</a:t>
            </a:r>
            <a:r>
              <a:rPr dirty="0"/>
              <a:t>, at the edge of al-</a:t>
            </a:r>
            <a:r>
              <a:rPr dirty="0" err="1"/>
              <a:t>Yamāma</a:t>
            </a:r>
            <a:r>
              <a:rPr dirty="0"/>
              <a:t>, with the cultivated country behind their backs."</a:t>
            </a:r>
          </a:p>
          <a:p>
            <a:r>
              <a:rPr dirty="0"/>
              <a:t>— </a:t>
            </a:r>
            <a:r>
              <a:rPr dirty="0" err="1"/>
              <a:t>البدایہ</a:t>
            </a:r>
            <a:r>
              <a:rPr dirty="0"/>
              <a:t> </a:t>
            </a:r>
            <a:r>
              <a:rPr dirty="0" err="1"/>
              <a:t>والنہایہ</a:t>
            </a:r>
            <a:r>
              <a:rPr dirty="0"/>
              <a:t> ج۷ ص۳۲</a:t>
            </a:r>
          </a:p>
          <a:p>
            <a:endParaRPr dirty="0"/>
          </a:p>
          <a:p>
            <a:r>
              <a:rPr dirty="0" err="1"/>
              <a:t>عبرت</a:t>
            </a:r>
            <a:r>
              <a:rPr dirty="0"/>
              <a:t> — He put his own people's homes behind his line so that no one could run. **Held for the end of the battle:** the note's own second sentence — *"It worked, and it cost more lives than any other day of the war"* — gives away a day the room has not yet seen decided. Say it with the dead of al-</a:t>
            </a:r>
            <a:r>
              <a:rPr dirty="0" err="1"/>
              <a:t>Yamāma</a:t>
            </a:r>
            <a:r>
              <a:rPr dirty="0"/>
              <a:t>, not here (evening-4 review, 2026-09-22).</a:t>
            </a:r>
          </a:p>
          <a:p>
            <a:endParaRPr dirty="0"/>
          </a:p>
          <a:p>
            <a:r>
              <a:rPr dirty="0"/>
              <a:t>HANDS UP — Before beat 5: *"Why would a commander put his own villages behind his army?"*</a:t>
            </a:r>
          </a:p>
          <a:p>
            <a:endParaRPr dirty="0"/>
          </a:p>
          <a:p>
            <a:r>
              <a:rPr dirty="0"/>
              <a:t>MAP — The enemy camp at **</a:t>
            </a:r>
            <a:r>
              <a:rPr dirty="0" err="1"/>
              <a:t>عَقْرَباء</a:t>
            </a:r>
            <a:r>
              <a:rPr dirty="0"/>
              <a:t>**, on the edge of the cultivated country, with **the farmland and the households behind it**. Draw the red block with **no line of retreat**. Name the town of </a:t>
            </a:r>
            <a:r>
              <a:rPr dirty="0" err="1"/>
              <a:t>اليمامة</a:t>
            </a:r>
            <a:r>
              <a:rPr dirty="0"/>
              <a:t> on the map: **</a:t>
            </a:r>
            <a:r>
              <a:rPr dirty="0" err="1"/>
              <a:t>حَجْر</a:t>
            </a:r>
            <a:r>
              <a:rPr dirty="0"/>
              <a:t>**.</a:t>
            </a:r>
          </a:p>
          <a:p>
            <a:endParaRPr dirty="0"/>
          </a:p>
          <a:p>
            <a:r>
              <a:rPr dirty="0"/>
              <a:t>BACKGROUND (read at home, not aloud) —</a:t>
            </a:r>
          </a:p>
          <a:p>
            <a:r>
              <a:rPr dirty="0" err="1"/>
              <a:t>Banū</a:t>
            </a:r>
            <a:r>
              <a:rPr dirty="0"/>
              <a:t> </a:t>
            </a:r>
            <a:r>
              <a:rPr dirty="0" err="1"/>
              <a:t>Ḥanīfa</a:t>
            </a:r>
            <a:r>
              <a:rPr dirty="0"/>
              <a:t> were about forty thousand fighting men — the figure is the same in three books. When </a:t>
            </a:r>
            <a:r>
              <a:rPr dirty="0" err="1"/>
              <a:t>Musaylima</a:t>
            </a:r>
            <a:r>
              <a:rPr dirty="0"/>
              <a:t> heard </a:t>
            </a:r>
            <a:r>
              <a:rPr dirty="0" err="1"/>
              <a:t>Khālid</a:t>
            </a:r>
            <a:r>
              <a:rPr dirty="0"/>
              <a:t> ؓ was coming he camped at a place called </a:t>
            </a:r>
            <a:r>
              <a:rPr dirty="0" err="1"/>
              <a:t>ʿAqrabāʾ</a:t>
            </a:r>
            <a:r>
              <a:rPr dirty="0"/>
              <a:t> on the edge of al-</a:t>
            </a:r>
            <a:r>
              <a:rPr dirty="0" err="1"/>
              <a:t>Yamāma</a:t>
            </a:r>
            <a:r>
              <a:rPr dirty="0"/>
              <a:t>, and he put the cultivated country behind his back: the farms, the property and the families. Ibn al-</a:t>
            </a:r>
            <a:r>
              <a:rPr dirty="0" err="1"/>
              <a:t>Athīr</a:t>
            </a:r>
            <a:r>
              <a:rPr dirty="0"/>
              <a:t> says it in one line — he left the property behind him. That is a decision about his own men, not about the enemy. A man in that line could not fall back without running through his own household. It is the reason the battle was fought to the finish.</a:t>
            </a:r>
          </a:p>
          <a:p>
            <a:endParaRPr dirty="0"/>
          </a:p>
          <a:p>
            <a:r>
              <a:rPr dirty="0"/>
              <a:t>**Also on the page:** «</a:t>
            </a:r>
            <a:r>
              <a:rPr dirty="0" err="1"/>
              <a:t>لأنهم</a:t>
            </a:r>
            <a:r>
              <a:rPr dirty="0"/>
              <a:t> </a:t>
            </a:r>
            <a:r>
              <a:rPr dirty="0" err="1"/>
              <a:t>نحو</a:t>
            </a:r>
            <a:r>
              <a:rPr dirty="0"/>
              <a:t> </a:t>
            </a:r>
            <a:r>
              <a:rPr dirty="0" err="1"/>
              <a:t>أربعين</a:t>
            </a:r>
            <a:r>
              <a:rPr dirty="0"/>
              <a:t> </a:t>
            </a:r>
            <a:r>
              <a:rPr dirty="0" err="1"/>
              <a:t>ألفًا</a:t>
            </a:r>
            <a:r>
              <a:rPr dirty="0"/>
              <a:t> </a:t>
            </a:r>
            <a:r>
              <a:rPr dirty="0" err="1"/>
              <a:t>من</a:t>
            </a:r>
            <a:r>
              <a:rPr dirty="0"/>
              <a:t> </a:t>
            </a:r>
            <a:r>
              <a:rPr dirty="0" err="1"/>
              <a:t>المقاتلةِ</a:t>
            </a:r>
            <a:r>
              <a:rPr dirty="0"/>
              <a:t>» (</a:t>
            </a:r>
            <a:r>
              <a:rPr dirty="0" err="1"/>
              <a:t>البدایہ</a:t>
            </a:r>
            <a:r>
              <a:rPr dirty="0"/>
              <a:t> ج۷ ص۳۲ ·</a:t>
            </a:r>
          </a:p>
          <a:p>
            <a:r>
              <a:rPr dirty="0"/>
              <a:t>https://shamela.ws/book/30097/3178); </a:t>
            </a:r>
            <a:r>
              <a:rPr dirty="0" err="1"/>
              <a:t>الکامل</a:t>
            </a:r>
            <a:r>
              <a:rPr dirty="0"/>
              <a:t> ج۲ ص۲۱۵ gives the same count, and </a:t>
            </a:r>
            <a:r>
              <a:rPr dirty="0" err="1"/>
              <a:t>الکامل</a:t>
            </a:r>
            <a:r>
              <a:rPr dirty="0"/>
              <a:t> ج۲ ص۲۱۶ has</a:t>
            </a:r>
          </a:p>
          <a:p>
            <a:r>
              <a:rPr dirty="0"/>
              <a:t>«</a:t>
            </a:r>
            <a:r>
              <a:rPr dirty="0" err="1"/>
              <a:t>وَتَرَكَ</a:t>
            </a:r>
            <a:r>
              <a:rPr dirty="0"/>
              <a:t> </a:t>
            </a:r>
            <a:r>
              <a:rPr dirty="0" err="1"/>
              <a:t>مُسَيْلِمَةُ</a:t>
            </a:r>
            <a:r>
              <a:rPr dirty="0"/>
              <a:t> </a:t>
            </a:r>
            <a:r>
              <a:rPr dirty="0" err="1"/>
              <a:t>الْأَمْوَالَ</a:t>
            </a:r>
            <a:r>
              <a:rPr dirty="0"/>
              <a:t> </a:t>
            </a:r>
            <a:r>
              <a:rPr dirty="0" err="1"/>
              <a:t>وَرَاءَ</a:t>
            </a:r>
            <a:r>
              <a:rPr dirty="0"/>
              <a:t> </a:t>
            </a:r>
            <a:r>
              <a:rPr dirty="0" err="1"/>
              <a:t>ظَهْرِهِ</a:t>
            </a:r>
            <a:r>
              <a:rPr dirty="0"/>
              <a:t>» (https://shamela.ws/book/21712/907).</a:t>
            </a:r>
          </a:p>
          <a:p>
            <a:endParaRPr dirty="0"/>
          </a:p>
          <a:p>
            <a:r>
              <a:rPr dirty="0"/>
              <a:t>WHEN, as the card gives it: 11 AH→12 AH</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RUNSHEET: Say "forty to sixty riders" and do not fix a number. This decision settles evening 5</a:t>
            </a:r>
          </a:p>
          <a:p>
            <a:endParaRPr dirty="0"/>
          </a:p>
          <a:p>
            <a:r>
              <a:rPr dirty="0"/>
              <a:t>SAY —</a:t>
            </a:r>
          </a:p>
          <a:p>
            <a:r>
              <a:rPr dirty="0"/>
              <a:t>1. The night before the battle — The vanguard </a:t>
            </a:r>
            <a:r>
              <a:rPr lang="en-US" dirty="0"/>
              <a:t>*</a:t>
            </a:r>
            <a:r>
              <a:rPr lang="en-US" dirty="0" err="1"/>
              <a:t>muqadima</a:t>
            </a:r>
            <a:r>
              <a:rPr lang="en-US" dirty="0"/>
              <a:t> </a:t>
            </a:r>
            <a:r>
              <a:rPr lang="en-US" dirty="0" err="1"/>
              <a:t>tul</a:t>
            </a:r>
            <a:r>
              <a:rPr lang="en-US" dirty="0"/>
              <a:t> </a:t>
            </a:r>
            <a:r>
              <a:rPr lang="en-US" dirty="0" err="1"/>
              <a:t>jaish</a:t>
            </a:r>
            <a:r>
              <a:rPr lang="en-US" dirty="0"/>
              <a:t>* , advance guard, </a:t>
            </a:r>
            <a:r>
              <a:rPr dirty="0"/>
              <a:t>picked up a mounted party coming home.</a:t>
            </a:r>
            <a:endParaRPr lang="en-US" dirty="0"/>
          </a:p>
          <a:p>
            <a:endParaRPr dirty="0"/>
          </a:p>
          <a:p>
            <a:r>
              <a:rPr dirty="0"/>
              <a:t>2. Who they were — Between forty and sixty riders under </a:t>
            </a:r>
            <a:r>
              <a:rPr dirty="0" err="1"/>
              <a:t>Mujjāʿa</a:t>
            </a:r>
            <a:r>
              <a:rPr dirty="0"/>
              <a:t> b. </a:t>
            </a:r>
            <a:r>
              <a:rPr dirty="0" err="1"/>
              <a:t>Murāra</a:t>
            </a:r>
            <a:r>
              <a:rPr dirty="0"/>
              <a:t>, a chief of </a:t>
            </a:r>
            <a:r>
              <a:rPr dirty="0" err="1"/>
              <a:t>Banū</a:t>
            </a:r>
            <a:r>
              <a:rPr dirty="0"/>
              <a:t> </a:t>
            </a:r>
            <a:r>
              <a:rPr dirty="0" err="1"/>
              <a:t>Ḥanīfa</a:t>
            </a:r>
            <a:r>
              <a:rPr dirty="0"/>
              <a:t>.</a:t>
            </a:r>
          </a:p>
          <a:p>
            <a:endParaRPr lang="en-US" dirty="0"/>
          </a:p>
          <a:p>
            <a:r>
              <a:rPr dirty="0"/>
              <a:t>3. Their excuses were not believed — </a:t>
            </a:r>
            <a:r>
              <a:rPr dirty="0" err="1"/>
              <a:t>Khālid</a:t>
            </a:r>
            <a:r>
              <a:rPr dirty="0"/>
              <a:t> ؓ ordered the whole party executed.</a:t>
            </a:r>
            <a:endParaRPr lang="en-US" dirty="0"/>
          </a:p>
          <a:p>
            <a:endParaRPr dirty="0"/>
          </a:p>
          <a:p>
            <a:r>
              <a:rPr dirty="0"/>
              <a:t>4. One man spoke first — If you mean anything for the people of </a:t>
            </a:r>
            <a:r>
              <a:rPr dirty="0" err="1"/>
              <a:t>Yamāma</a:t>
            </a:r>
            <a:r>
              <a:rPr dirty="0"/>
              <a:t> tomorrow, keep this one alive.</a:t>
            </a:r>
          </a:p>
          <a:p>
            <a:r>
              <a:rPr dirty="0"/>
              <a:t>   ^ read the Arabic on the face here</a:t>
            </a:r>
          </a:p>
          <a:p>
            <a:endParaRPr lang="en-US" dirty="0"/>
          </a:p>
          <a:p>
            <a:r>
              <a:rPr dirty="0"/>
              <a:t>5. Kept in irons, in the commander's own tent — With </a:t>
            </a:r>
            <a:r>
              <a:rPr dirty="0" err="1"/>
              <a:t>Khālid's</a:t>
            </a:r>
            <a:r>
              <a:rPr dirty="0"/>
              <a:t> ؓ wife Umm </a:t>
            </a:r>
            <a:r>
              <a:rPr dirty="0" err="1"/>
              <a:t>Tamīm</a:t>
            </a:r>
            <a:r>
              <a:rPr dirty="0"/>
              <a:t>, and: treat him well.</a:t>
            </a:r>
          </a:p>
          <a:p>
            <a:endParaRPr lang="en-US" dirty="0"/>
          </a:p>
          <a:p>
            <a:r>
              <a:rPr dirty="0"/>
              <a:t>6. Remember where he is sitting — That decision settles the end of the battle before it has begun.</a:t>
            </a:r>
          </a:p>
          <a:p>
            <a:endParaRPr dirty="0"/>
          </a:p>
          <a:p>
            <a:r>
              <a:rPr dirty="0"/>
              <a:t>QUOTE — </a:t>
            </a:r>
            <a:r>
              <a:rPr dirty="0" err="1"/>
              <a:t>أيها</a:t>
            </a:r>
            <a:r>
              <a:rPr dirty="0"/>
              <a:t> </a:t>
            </a:r>
            <a:r>
              <a:rPr dirty="0" err="1"/>
              <a:t>الرجل</a:t>
            </a:r>
            <a:r>
              <a:rPr dirty="0"/>
              <a:t> </a:t>
            </a:r>
            <a:r>
              <a:rPr dirty="0" err="1"/>
              <a:t>إن</a:t>
            </a:r>
            <a:r>
              <a:rPr dirty="0"/>
              <a:t> </a:t>
            </a:r>
            <a:r>
              <a:rPr dirty="0" err="1"/>
              <a:t>كنتَ</a:t>
            </a:r>
            <a:r>
              <a:rPr dirty="0"/>
              <a:t> </a:t>
            </a:r>
            <a:r>
              <a:rPr dirty="0" err="1"/>
              <a:t>تريد</a:t>
            </a:r>
            <a:r>
              <a:rPr dirty="0"/>
              <a:t> </a:t>
            </a:r>
            <a:r>
              <a:rPr dirty="0" err="1"/>
              <a:t>بأهل</a:t>
            </a:r>
            <a:r>
              <a:rPr dirty="0"/>
              <a:t> </a:t>
            </a:r>
            <a:r>
              <a:rPr dirty="0" err="1"/>
              <a:t>اليمامة</a:t>
            </a:r>
            <a:r>
              <a:rPr dirty="0"/>
              <a:t> </a:t>
            </a:r>
            <a:r>
              <a:rPr dirty="0" err="1"/>
              <a:t>غدًا</a:t>
            </a:r>
            <a:r>
              <a:rPr dirty="0"/>
              <a:t> </a:t>
            </a:r>
            <a:r>
              <a:rPr dirty="0" err="1"/>
              <a:t>خيرًا</a:t>
            </a:r>
            <a:r>
              <a:rPr dirty="0"/>
              <a:t> </a:t>
            </a:r>
            <a:r>
              <a:rPr dirty="0" err="1"/>
              <a:t>أو</a:t>
            </a:r>
            <a:r>
              <a:rPr dirty="0"/>
              <a:t> </a:t>
            </a:r>
            <a:r>
              <a:rPr dirty="0" err="1"/>
              <a:t>شرًا</a:t>
            </a:r>
            <a:r>
              <a:rPr dirty="0"/>
              <a:t> </a:t>
            </a:r>
            <a:r>
              <a:rPr dirty="0" err="1"/>
              <a:t>فاستبق</a:t>
            </a:r>
            <a:r>
              <a:rPr dirty="0"/>
              <a:t> </a:t>
            </a:r>
            <a:r>
              <a:rPr dirty="0" err="1"/>
              <a:t>هذا</a:t>
            </a:r>
            <a:r>
              <a:rPr dirty="0"/>
              <a:t> </a:t>
            </a:r>
            <a:r>
              <a:rPr dirty="0" err="1"/>
              <a:t>الرجل</a:t>
            </a:r>
            <a:r>
              <a:rPr dirty="0"/>
              <a:t> … </a:t>
            </a:r>
            <a:r>
              <a:rPr dirty="0" err="1"/>
              <a:t>فاستبقاه</a:t>
            </a:r>
            <a:r>
              <a:rPr dirty="0"/>
              <a:t> </a:t>
            </a:r>
            <a:r>
              <a:rPr dirty="0" err="1"/>
              <a:t>خالد</a:t>
            </a:r>
            <a:r>
              <a:rPr dirty="0"/>
              <a:t> </a:t>
            </a:r>
            <a:r>
              <a:rPr dirty="0" err="1"/>
              <a:t>مقيدًا</a:t>
            </a:r>
            <a:r>
              <a:rPr dirty="0"/>
              <a:t>، </a:t>
            </a:r>
            <a:r>
              <a:rPr dirty="0" err="1"/>
              <a:t>وجعله</a:t>
            </a:r>
            <a:r>
              <a:rPr dirty="0"/>
              <a:t> </a:t>
            </a:r>
            <a:r>
              <a:rPr dirty="0" err="1"/>
              <a:t>في</a:t>
            </a:r>
            <a:r>
              <a:rPr dirty="0"/>
              <a:t> </a:t>
            </a:r>
            <a:r>
              <a:rPr dirty="0" err="1"/>
              <a:t>الخيمة</a:t>
            </a:r>
            <a:r>
              <a:rPr dirty="0"/>
              <a:t> </a:t>
            </a:r>
            <a:r>
              <a:rPr dirty="0" err="1"/>
              <a:t>مع</a:t>
            </a:r>
            <a:r>
              <a:rPr dirty="0"/>
              <a:t> </a:t>
            </a:r>
            <a:r>
              <a:rPr dirty="0" err="1"/>
              <a:t>امرأته</a:t>
            </a:r>
            <a:r>
              <a:rPr dirty="0"/>
              <a:t>، </a:t>
            </a:r>
            <a:r>
              <a:rPr dirty="0" err="1"/>
              <a:t>وقال</a:t>
            </a:r>
            <a:r>
              <a:rPr dirty="0"/>
              <a:t>: </a:t>
            </a:r>
            <a:r>
              <a:rPr dirty="0" err="1"/>
              <a:t>استوصي</a:t>
            </a:r>
            <a:r>
              <a:rPr dirty="0"/>
              <a:t> </a:t>
            </a:r>
            <a:r>
              <a:rPr dirty="0" err="1"/>
              <a:t>به</a:t>
            </a:r>
            <a:r>
              <a:rPr dirty="0"/>
              <a:t> </a:t>
            </a:r>
            <a:r>
              <a:rPr dirty="0" err="1"/>
              <a:t>خيرًا</a:t>
            </a:r>
            <a:r>
              <a:rPr dirty="0"/>
              <a:t>.</a:t>
            </a:r>
          </a:p>
          <a:p>
            <a:r>
              <a:rPr dirty="0"/>
              <a:t>"Man — if you intend anything tomorrow for the people of </a:t>
            </a:r>
            <a:r>
              <a:rPr dirty="0" err="1"/>
              <a:t>Yamāma</a:t>
            </a:r>
            <a:r>
              <a:rPr dirty="0"/>
              <a:t>, good or ill, keep this man alive … So </a:t>
            </a:r>
            <a:r>
              <a:rPr dirty="0" err="1"/>
              <a:t>Khālid</a:t>
            </a:r>
            <a:r>
              <a:rPr dirty="0"/>
              <a:t> kept him, in irons, and put him in the tent with his wife, and said: treat him well."</a:t>
            </a:r>
          </a:p>
          <a:p>
            <a:r>
              <a:rPr dirty="0"/>
              <a:t>— </a:t>
            </a:r>
            <a:r>
              <a:rPr dirty="0" err="1"/>
              <a:t>البدایہ</a:t>
            </a:r>
            <a:r>
              <a:rPr dirty="0"/>
              <a:t> </a:t>
            </a:r>
            <a:r>
              <a:rPr dirty="0" err="1"/>
              <a:t>والنہایہ</a:t>
            </a:r>
            <a:r>
              <a:rPr dirty="0"/>
              <a:t> ج۷ ص۳۳</a:t>
            </a:r>
          </a:p>
          <a:p>
            <a:endParaRPr dirty="0"/>
          </a:p>
          <a:p>
            <a:r>
              <a:rPr dirty="0" err="1"/>
              <a:t>عبرت</a:t>
            </a:r>
            <a:r>
              <a:rPr dirty="0"/>
              <a:t> — He kept one prisoner alive on a stranger's advice, and that decision settled the end of the battle before it started.</a:t>
            </a:r>
          </a:p>
          <a:p>
            <a:endParaRPr dirty="0"/>
          </a:p>
          <a:p>
            <a:r>
              <a:rPr dirty="0"/>
              <a:t>MAP — </a:t>
            </a:r>
            <a:r>
              <a:rPr dirty="0" err="1"/>
              <a:t>Khālid's</a:t>
            </a:r>
            <a:r>
              <a:rPr dirty="0"/>
              <a:t> ؓ arrow, out of Medina again (the hinge card), runs east to **</a:t>
            </a:r>
            <a:r>
              <a:rPr dirty="0" err="1"/>
              <a:t>اليمامة</a:t>
            </a:r>
            <a:r>
              <a:rPr dirty="0"/>
              <a:t>**, and halts on a ridge overlooking it. One marker for </a:t>
            </a:r>
            <a:r>
              <a:rPr dirty="0" err="1"/>
              <a:t>Khālid's</a:t>
            </a:r>
            <a:r>
              <a:rPr dirty="0"/>
              <a:t> ؓ own tent, behind the line.</a:t>
            </a:r>
          </a:p>
          <a:p>
            <a:endParaRPr dirty="0"/>
          </a:p>
          <a:p>
            <a:r>
              <a:rPr dirty="0"/>
              <a:t>BACKGROUND (read at home, not aloud) —</a:t>
            </a:r>
          </a:p>
          <a:p>
            <a:r>
              <a:rPr dirty="0"/>
              <a:t>The night before the battle </a:t>
            </a:r>
            <a:r>
              <a:rPr dirty="0" err="1"/>
              <a:t>Khālid's</a:t>
            </a:r>
            <a:r>
              <a:rPr dirty="0"/>
              <a:t> ؓ vanguard picked up a mounted party coming home — the books say between forty and sixty riders — under </a:t>
            </a:r>
            <a:r>
              <a:rPr dirty="0" err="1"/>
              <a:t>Mujjāʿa</a:t>
            </a:r>
            <a:r>
              <a:rPr dirty="0"/>
              <a:t> b. </a:t>
            </a:r>
            <a:r>
              <a:rPr dirty="0" err="1"/>
              <a:t>Murāra</a:t>
            </a:r>
            <a:r>
              <a:rPr dirty="0"/>
              <a:t>, a chief of </a:t>
            </a:r>
            <a:r>
              <a:rPr dirty="0" err="1"/>
              <a:t>Banū</a:t>
            </a:r>
            <a:r>
              <a:rPr dirty="0"/>
              <a:t> </a:t>
            </a:r>
            <a:r>
              <a:rPr dirty="0" err="1"/>
              <a:t>Ḥanīfa</a:t>
            </a:r>
            <a:r>
              <a:rPr dirty="0"/>
              <a:t>, who had been away settling a blood feud. They were brought in and made their excuses; he did not believe them, and ordered the whole party executed. One of them spoke up first: if you mean anything at all for the people of </a:t>
            </a:r>
            <a:r>
              <a:rPr dirty="0" err="1"/>
              <a:t>Yamāma</a:t>
            </a:r>
            <a:r>
              <a:rPr dirty="0"/>
              <a:t> tomorrow, good or ill, keep this one man alive. So </a:t>
            </a:r>
            <a:r>
              <a:rPr dirty="0" err="1"/>
              <a:t>Khālid</a:t>
            </a:r>
            <a:r>
              <a:rPr dirty="0"/>
              <a:t> ؓ kept him, in irons, and put him in his own tent with his wife Umm </a:t>
            </a:r>
            <a:r>
              <a:rPr dirty="0" err="1"/>
              <a:t>Tamīm</a:t>
            </a:r>
            <a:r>
              <a:rPr dirty="0"/>
              <a:t>, and told her to treat him well.</a:t>
            </a:r>
          </a:p>
          <a:p>
            <a:endParaRPr dirty="0"/>
          </a:p>
          <a:p>
            <a:r>
              <a:rPr dirty="0"/>
              <a:t>**Also on the page:** the numbers differ — </a:t>
            </a:r>
            <a:r>
              <a:rPr dirty="0" err="1"/>
              <a:t>البدایہ</a:t>
            </a:r>
            <a:r>
              <a:rPr dirty="0"/>
              <a:t> ج۷ ص۳۳ «</a:t>
            </a:r>
            <a:r>
              <a:rPr dirty="0" err="1"/>
              <a:t>نحو</a:t>
            </a:r>
            <a:r>
              <a:rPr dirty="0"/>
              <a:t> </a:t>
            </a:r>
            <a:r>
              <a:rPr dirty="0" err="1"/>
              <a:t>من</a:t>
            </a:r>
            <a:r>
              <a:rPr dirty="0"/>
              <a:t> </a:t>
            </a:r>
            <a:r>
              <a:rPr dirty="0" err="1"/>
              <a:t>أربعين</a:t>
            </a:r>
            <a:r>
              <a:rPr dirty="0"/>
              <a:t> </a:t>
            </a:r>
            <a:r>
              <a:rPr dirty="0" err="1"/>
              <a:t>وقيل</a:t>
            </a:r>
            <a:r>
              <a:rPr dirty="0"/>
              <a:t> </a:t>
            </a:r>
            <a:r>
              <a:rPr dirty="0" err="1"/>
              <a:t>ستين</a:t>
            </a:r>
            <a:r>
              <a:rPr dirty="0"/>
              <a:t> </a:t>
            </a:r>
            <a:r>
              <a:rPr dirty="0" err="1"/>
              <a:t>فارسًا</a:t>
            </a:r>
            <a:r>
              <a:rPr dirty="0"/>
              <a:t>»; </a:t>
            </a:r>
            <a:r>
              <a:rPr dirty="0" err="1"/>
              <a:t>الکامل</a:t>
            </a:r>
            <a:endParaRPr dirty="0"/>
          </a:p>
          <a:p>
            <a:r>
              <a:rPr dirty="0"/>
              <a:t>ج۲ ص۲۱۶ «</a:t>
            </a:r>
            <a:r>
              <a:rPr dirty="0" err="1"/>
              <a:t>مَا</a:t>
            </a:r>
            <a:r>
              <a:rPr dirty="0"/>
              <a:t> </a:t>
            </a:r>
            <a:r>
              <a:rPr dirty="0" err="1"/>
              <a:t>بَيْنَ</a:t>
            </a:r>
            <a:r>
              <a:rPr dirty="0"/>
              <a:t> </a:t>
            </a:r>
            <a:r>
              <a:rPr dirty="0" err="1"/>
              <a:t>أَرْبَعِينَ</a:t>
            </a:r>
            <a:r>
              <a:rPr dirty="0"/>
              <a:t> </a:t>
            </a:r>
            <a:r>
              <a:rPr dirty="0" err="1"/>
              <a:t>إِلَى</a:t>
            </a:r>
            <a:r>
              <a:rPr dirty="0"/>
              <a:t> </a:t>
            </a:r>
            <a:r>
              <a:rPr dirty="0" err="1"/>
              <a:t>سِتِّينَ</a:t>
            </a:r>
            <a:r>
              <a:rPr dirty="0"/>
              <a:t>»; </a:t>
            </a:r>
            <a:r>
              <a:rPr dirty="0" err="1"/>
              <a:t>سیر</a:t>
            </a:r>
            <a:r>
              <a:rPr dirty="0"/>
              <a:t> (</a:t>
            </a:r>
            <a:r>
              <a:rPr dirty="0" err="1"/>
              <a:t>الراشدون</a:t>
            </a:r>
            <a:r>
              <a:rPr dirty="0"/>
              <a:t>) ص۴۳ says twenty-three. **Say "forty to</a:t>
            </a:r>
          </a:p>
          <a:p>
            <a:r>
              <a:rPr dirty="0"/>
              <a:t>sixty riders" and do not fix a number.**</a:t>
            </a:r>
          </a:p>
          <a:p>
            <a:endParaRPr dirty="0"/>
          </a:p>
          <a:p>
            <a:r>
              <a:rPr dirty="0"/>
              <a:t>WHEN, as the card gives it: 11 AH→12 AH</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BRIDGE — say:</a:t>
            </a:r>
          </a:p>
          <a:p>
            <a:r>
              <a:t>After the worksheet — and for anyone who has just come in. Khālid ؓ was called to Medina over al-Buṭāḥ and kept in command. The two commanders sent ahead of him were both beaten. Forty thousand men of Banū Ḥanīfa wait at ʿAqrabāʾ, with their farms behind them — and there is a prisoner in Khālid's ؓ own tent. Morning comes.</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RUNSHEET: Do not print a banner diagram. Three books, three arrangements</a:t>
            </a:r>
          </a:p>
          <a:p>
            <a:endParaRPr dirty="0"/>
          </a:p>
          <a:p>
            <a:r>
              <a:rPr dirty="0"/>
              <a:t>SAY —</a:t>
            </a:r>
          </a:p>
          <a:p>
            <a:r>
              <a:rPr dirty="0"/>
              <a:t>1. The vanguard — </a:t>
            </a:r>
            <a:r>
              <a:rPr dirty="0" err="1"/>
              <a:t>Shuraḥbīl</a:t>
            </a:r>
            <a:r>
              <a:rPr dirty="0"/>
              <a:t> b. </a:t>
            </a:r>
            <a:r>
              <a:rPr dirty="0" err="1"/>
              <a:t>Ḥasana</a:t>
            </a:r>
            <a:r>
              <a:rPr dirty="0"/>
              <a:t> ؓ, at the head of the army.</a:t>
            </a:r>
            <a:endParaRPr lang="en-US" dirty="0"/>
          </a:p>
          <a:p>
            <a:endParaRPr dirty="0"/>
          </a:p>
          <a:p>
            <a:r>
              <a:rPr dirty="0"/>
              <a:t>2. The two wings — Zayd b. al-</a:t>
            </a:r>
            <a:r>
              <a:rPr dirty="0" err="1"/>
              <a:t>Khaṭṭāb</a:t>
            </a:r>
            <a:r>
              <a:rPr dirty="0"/>
              <a:t> ؓ and </a:t>
            </a:r>
            <a:r>
              <a:rPr dirty="0" err="1"/>
              <a:t>Abū</a:t>
            </a:r>
            <a:r>
              <a:rPr dirty="0"/>
              <a:t> </a:t>
            </a:r>
            <a:r>
              <a:rPr dirty="0" err="1"/>
              <a:t>Ḥudhayfa</a:t>
            </a:r>
            <a:r>
              <a:rPr dirty="0"/>
              <a:t> ؓ.</a:t>
            </a:r>
          </a:p>
          <a:p>
            <a:endParaRPr lang="en-US" dirty="0"/>
          </a:p>
          <a:p>
            <a:r>
              <a:rPr dirty="0"/>
              <a:t>3. The two banners — The </a:t>
            </a:r>
            <a:r>
              <a:rPr dirty="0" err="1"/>
              <a:t>Muhājirūn's</a:t>
            </a:r>
            <a:r>
              <a:rPr dirty="0"/>
              <a:t> with </a:t>
            </a:r>
            <a:r>
              <a:rPr dirty="0" err="1"/>
              <a:t>Sālim</a:t>
            </a:r>
            <a:r>
              <a:rPr dirty="0"/>
              <a:t> ؓ, the </a:t>
            </a:r>
            <a:r>
              <a:rPr dirty="0" err="1"/>
              <a:t>Anṣār's</a:t>
            </a:r>
            <a:r>
              <a:rPr dirty="0"/>
              <a:t> with </a:t>
            </a:r>
            <a:r>
              <a:rPr dirty="0" err="1"/>
              <a:t>Thābit</a:t>
            </a:r>
            <a:r>
              <a:rPr dirty="0"/>
              <a:t> b. Qays ؓ.</a:t>
            </a:r>
          </a:p>
          <a:p>
            <a:endParaRPr lang="en-US" dirty="0"/>
          </a:p>
          <a:p>
            <a:r>
              <a:rPr dirty="0"/>
              <a:t>4. The tribes under their own — Each clan behind its own banner.</a:t>
            </a:r>
          </a:p>
          <a:p>
            <a:r>
              <a:rPr dirty="0"/>
              <a:t>   ^ read the Arabic on the face here</a:t>
            </a:r>
          </a:p>
          <a:p>
            <a:endParaRPr lang="en-US" dirty="0"/>
          </a:p>
          <a:p>
            <a:r>
              <a:rPr dirty="0"/>
              <a:t>5. And the books do not agree — Three books arrange the same three men three ways.</a:t>
            </a:r>
          </a:p>
          <a:p>
            <a:endParaRPr lang="en-US" dirty="0"/>
          </a:p>
          <a:p>
            <a:r>
              <a:rPr dirty="0"/>
              <a:t>6. So: name the men, not the chart — Remember these four names; they all come back within the hour.</a:t>
            </a:r>
          </a:p>
          <a:p>
            <a:endParaRPr dirty="0"/>
          </a:p>
          <a:p>
            <a:r>
              <a:rPr dirty="0"/>
              <a:t>QUOTE — </a:t>
            </a:r>
            <a:r>
              <a:rPr dirty="0" err="1"/>
              <a:t>ورايةُ</a:t>
            </a:r>
            <a:r>
              <a:rPr dirty="0"/>
              <a:t> </a:t>
            </a:r>
            <a:r>
              <a:rPr dirty="0" err="1"/>
              <a:t>المهاجرين</a:t>
            </a:r>
            <a:r>
              <a:rPr dirty="0"/>
              <a:t> </a:t>
            </a:r>
            <a:r>
              <a:rPr dirty="0" err="1"/>
              <a:t>مع</a:t>
            </a:r>
            <a:r>
              <a:rPr dirty="0"/>
              <a:t> </a:t>
            </a:r>
            <a:r>
              <a:rPr dirty="0" err="1"/>
              <a:t>سالم</a:t>
            </a:r>
            <a:r>
              <a:rPr dirty="0"/>
              <a:t> </a:t>
            </a:r>
            <a:r>
              <a:rPr dirty="0" err="1"/>
              <a:t>مولى</a:t>
            </a:r>
            <a:r>
              <a:rPr dirty="0"/>
              <a:t> </a:t>
            </a:r>
            <a:r>
              <a:rPr dirty="0" err="1"/>
              <a:t>أبي</a:t>
            </a:r>
            <a:r>
              <a:rPr dirty="0"/>
              <a:t> </a:t>
            </a:r>
            <a:r>
              <a:rPr dirty="0" err="1"/>
              <a:t>حذيفة</a:t>
            </a:r>
            <a:r>
              <a:rPr dirty="0"/>
              <a:t>، </a:t>
            </a:r>
            <a:r>
              <a:rPr dirty="0" err="1"/>
              <a:t>ورايةُ</a:t>
            </a:r>
            <a:r>
              <a:rPr dirty="0"/>
              <a:t> </a:t>
            </a:r>
            <a:r>
              <a:rPr dirty="0" err="1"/>
              <a:t>الأنصار</a:t>
            </a:r>
            <a:r>
              <a:rPr dirty="0"/>
              <a:t> </a:t>
            </a:r>
            <a:r>
              <a:rPr dirty="0" err="1"/>
              <a:t>مع</a:t>
            </a:r>
            <a:r>
              <a:rPr dirty="0"/>
              <a:t> </a:t>
            </a:r>
            <a:r>
              <a:rPr dirty="0" err="1"/>
              <a:t>ثابت</a:t>
            </a:r>
            <a:r>
              <a:rPr dirty="0"/>
              <a:t> </a:t>
            </a:r>
            <a:r>
              <a:rPr dirty="0" err="1"/>
              <a:t>بن</a:t>
            </a:r>
            <a:r>
              <a:rPr dirty="0"/>
              <a:t> </a:t>
            </a:r>
            <a:r>
              <a:rPr dirty="0" err="1"/>
              <a:t>قيس</a:t>
            </a:r>
            <a:r>
              <a:rPr dirty="0"/>
              <a:t> </a:t>
            </a:r>
            <a:r>
              <a:rPr dirty="0" err="1"/>
              <a:t>بن</a:t>
            </a:r>
            <a:r>
              <a:rPr dirty="0"/>
              <a:t> </a:t>
            </a:r>
            <a:r>
              <a:rPr dirty="0" err="1"/>
              <a:t>شمّاس</a:t>
            </a:r>
            <a:r>
              <a:rPr dirty="0"/>
              <a:t>، </a:t>
            </a:r>
            <a:r>
              <a:rPr dirty="0" err="1"/>
              <a:t>والعرب</a:t>
            </a:r>
            <a:r>
              <a:rPr dirty="0"/>
              <a:t> </a:t>
            </a:r>
            <a:r>
              <a:rPr dirty="0" err="1"/>
              <a:t>على</a:t>
            </a:r>
            <a:r>
              <a:rPr dirty="0"/>
              <a:t> </a:t>
            </a:r>
            <a:r>
              <a:rPr dirty="0" err="1"/>
              <a:t>راياتها</a:t>
            </a:r>
            <a:endParaRPr dirty="0"/>
          </a:p>
          <a:p>
            <a:r>
              <a:rPr dirty="0"/>
              <a:t>"The </a:t>
            </a:r>
            <a:r>
              <a:rPr dirty="0" err="1"/>
              <a:t>Muhājirūn's</a:t>
            </a:r>
            <a:r>
              <a:rPr dirty="0"/>
              <a:t> banner was with </a:t>
            </a:r>
            <a:r>
              <a:rPr dirty="0" err="1"/>
              <a:t>Sālim</a:t>
            </a:r>
            <a:r>
              <a:rPr dirty="0"/>
              <a:t>, the freedman of </a:t>
            </a:r>
            <a:r>
              <a:rPr dirty="0" err="1"/>
              <a:t>Abū</a:t>
            </a:r>
            <a:r>
              <a:rPr dirty="0"/>
              <a:t> </a:t>
            </a:r>
            <a:r>
              <a:rPr dirty="0" err="1"/>
              <a:t>Ḥudhayfa</a:t>
            </a:r>
            <a:r>
              <a:rPr dirty="0"/>
              <a:t>; the </a:t>
            </a:r>
            <a:r>
              <a:rPr dirty="0" err="1"/>
              <a:t>Anṣār's</a:t>
            </a:r>
            <a:r>
              <a:rPr dirty="0"/>
              <a:t> banner with </a:t>
            </a:r>
            <a:r>
              <a:rPr dirty="0" err="1"/>
              <a:t>Thābit</a:t>
            </a:r>
            <a:r>
              <a:rPr dirty="0"/>
              <a:t> b. Qays b. </a:t>
            </a:r>
            <a:r>
              <a:rPr dirty="0" err="1"/>
              <a:t>Shammās</a:t>
            </a:r>
            <a:r>
              <a:rPr dirty="0"/>
              <a:t>; and the Arabs each under their own banners."</a:t>
            </a:r>
          </a:p>
          <a:p>
            <a:r>
              <a:rPr dirty="0"/>
              <a:t>— </a:t>
            </a:r>
            <a:r>
              <a:rPr dirty="0" err="1"/>
              <a:t>البدایہ</a:t>
            </a:r>
            <a:r>
              <a:rPr dirty="0"/>
              <a:t> </a:t>
            </a:r>
            <a:r>
              <a:rPr dirty="0" err="1"/>
              <a:t>والنہایہ</a:t>
            </a:r>
            <a:r>
              <a:rPr dirty="0"/>
              <a:t> ج۷ ص۳۳</a:t>
            </a:r>
          </a:p>
          <a:p>
            <a:endParaRPr dirty="0"/>
          </a:p>
          <a:p>
            <a:r>
              <a:rPr dirty="0" err="1"/>
              <a:t>عبرت</a:t>
            </a:r>
            <a:r>
              <a:rPr dirty="0"/>
              <a:t> — Where three books arrange the same men three ways, name the men and leave the diagram unbuilt.</a:t>
            </a:r>
          </a:p>
          <a:p>
            <a:endParaRPr dirty="0"/>
          </a:p>
          <a:p>
            <a:r>
              <a:rPr dirty="0"/>
              <a:t>MAP — The blue block forms up on the ridge: vanguard forward, two wings, the </a:t>
            </a:r>
            <a:r>
              <a:rPr dirty="0" err="1"/>
              <a:t>Muhājirūn's</a:t>
            </a:r>
            <a:r>
              <a:rPr dirty="0"/>
              <a:t> banner and the </a:t>
            </a:r>
            <a:r>
              <a:rPr dirty="0" err="1"/>
              <a:t>Anṣār's</a:t>
            </a:r>
            <a:r>
              <a:rPr dirty="0"/>
              <a:t> banner, and the tribes each under their own. **No labelled diagram of who held which banner.**</a:t>
            </a:r>
          </a:p>
          <a:p>
            <a:endParaRPr dirty="0"/>
          </a:p>
          <a:p>
            <a:r>
              <a:rPr dirty="0"/>
              <a:t>BACKGROUND (read at home, not aloud) —</a:t>
            </a:r>
          </a:p>
          <a:p>
            <a:r>
              <a:rPr dirty="0" err="1"/>
              <a:t>Khālid</a:t>
            </a:r>
            <a:r>
              <a:rPr dirty="0"/>
              <a:t> ؓ put </a:t>
            </a:r>
            <a:r>
              <a:rPr dirty="0" err="1"/>
              <a:t>Shuraḥbīl</a:t>
            </a:r>
            <a:r>
              <a:rPr dirty="0"/>
              <a:t> b. </a:t>
            </a:r>
            <a:r>
              <a:rPr dirty="0" err="1"/>
              <a:t>Ḥasana</a:t>
            </a:r>
            <a:r>
              <a:rPr dirty="0"/>
              <a:t> ؓ at the head of the army and Zayd b. al-</a:t>
            </a:r>
            <a:r>
              <a:rPr dirty="0" err="1"/>
              <a:t>Khaṭṭāb</a:t>
            </a:r>
            <a:r>
              <a:rPr dirty="0"/>
              <a:t> ؓ and </a:t>
            </a:r>
            <a:r>
              <a:rPr dirty="0" err="1"/>
              <a:t>Abū</a:t>
            </a:r>
            <a:r>
              <a:rPr dirty="0"/>
              <a:t> </a:t>
            </a:r>
            <a:r>
              <a:rPr dirty="0" err="1"/>
              <a:t>Ḥudhayfa</a:t>
            </a:r>
            <a:r>
              <a:rPr dirty="0"/>
              <a:t> ؓ on the two wings. The </a:t>
            </a:r>
            <a:r>
              <a:rPr dirty="0" err="1"/>
              <a:t>Muhājirūn's</a:t>
            </a:r>
            <a:r>
              <a:rPr dirty="0"/>
              <a:t> banner went to </a:t>
            </a:r>
            <a:r>
              <a:rPr dirty="0" err="1"/>
              <a:t>Sālim</a:t>
            </a:r>
            <a:r>
              <a:rPr dirty="0"/>
              <a:t> ؓ, the freedman of </a:t>
            </a:r>
            <a:r>
              <a:rPr dirty="0" err="1"/>
              <a:t>Abū</a:t>
            </a:r>
            <a:r>
              <a:rPr dirty="0"/>
              <a:t> </a:t>
            </a:r>
            <a:r>
              <a:rPr dirty="0" err="1"/>
              <a:t>Ḥudhayfa</a:t>
            </a:r>
            <a:r>
              <a:rPr dirty="0"/>
              <a:t> ؓ, and the </a:t>
            </a:r>
            <a:r>
              <a:rPr dirty="0" err="1"/>
              <a:t>Anṣār's</a:t>
            </a:r>
            <a:r>
              <a:rPr dirty="0"/>
              <a:t> to </a:t>
            </a:r>
            <a:r>
              <a:rPr dirty="0" err="1"/>
              <a:t>Thābit</a:t>
            </a:r>
            <a:r>
              <a:rPr dirty="0"/>
              <a:t> b. Qays b. </a:t>
            </a:r>
            <a:r>
              <a:rPr dirty="0" err="1"/>
              <a:t>Shammās</a:t>
            </a:r>
            <a:r>
              <a:rPr dirty="0"/>
              <a:t> ؓ, and the tribes were each under their own banners. That is Ibn </a:t>
            </a:r>
            <a:r>
              <a:rPr dirty="0" err="1"/>
              <a:t>Kathīr</a:t>
            </a:r>
            <a:r>
              <a:rPr dirty="0"/>
              <a:t>. Ibn al-</a:t>
            </a:r>
            <a:r>
              <a:rPr dirty="0" err="1"/>
              <a:t>Athīr</a:t>
            </a:r>
            <a:r>
              <a:rPr dirty="0"/>
              <a:t> has </a:t>
            </a:r>
            <a:r>
              <a:rPr dirty="0" err="1"/>
              <a:t>Sālim</a:t>
            </a:r>
            <a:r>
              <a:rPr dirty="0"/>
              <a:t> ؓ carrying it after the man who had it before him was killed, and puts </a:t>
            </a:r>
            <a:r>
              <a:rPr dirty="0" err="1"/>
              <a:t>Abū</a:t>
            </a:r>
            <a:r>
              <a:rPr dirty="0"/>
              <a:t> </a:t>
            </a:r>
            <a:r>
              <a:rPr dirty="0" err="1"/>
              <a:t>Ḥudhayfa</a:t>
            </a:r>
            <a:r>
              <a:rPr dirty="0"/>
              <a:t> ؓ and Zayd ؓ over the </a:t>
            </a:r>
            <a:r>
              <a:rPr dirty="0" err="1"/>
              <a:t>Muhājirūn</a:t>
            </a:r>
            <a:r>
              <a:rPr dirty="0"/>
              <a:t>; al-</a:t>
            </a:r>
            <a:r>
              <a:rPr dirty="0" err="1"/>
              <a:t>Dhahabī</a:t>
            </a:r>
            <a:r>
              <a:rPr dirty="0"/>
              <a:t> has Zayd ؓ carrying the Muslims' banner and </a:t>
            </a:r>
            <a:r>
              <a:rPr dirty="0" err="1"/>
              <a:t>Sālim</a:t>
            </a:r>
            <a:r>
              <a:rPr dirty="0"/>
              <a:t> ؓ taking it up when Zayd ؓ fell. **Three books, three arrangements of the same three men.** Name the men; do not draw the chart.</a:t>
            </a:r>
          </a:p>
          <a:p>
            <a:endParaRPr dirty="0"/>
          </a:p>
          <a:p>
            <a:r>
              <a:rPr dirty="0"/>
              <a:t>**Also on the page:** «</a:t>
            </a:r>
            <a:r>
              <a:rPr dirty="0" err="1"/>
              <a:t>وقد</a:t>
            </a:r>
            <a:r>
              <a:rPr dirty="0"/>
              <a:t> </a:t>
            </a:r>
            <a:r>
              <a:rPr dirty="0" err="1"/>
              <a:t>جعل</a:t>
            </a:r>
            <a:r>
              <a:rPr dirty="0"/>
              <a:t> </a:t>
            </a:r>
            <a:r>
              <a:rPr dirty="0" err="1"/>
              <a:t>على</a:t>
            </a:r>
            <a:r>
              <a:rPr dirty="0"/>
              <a:t> </a:t>
            </a:r>
            <a:r>
              <a:rPr dirty="0" err="1"/>
              <a:t>المقدمة</a:t>
            </a:r>
            <a:r>
              <a:rPr dirty="0"/>
              <a:t> </a:t>
            </a:r>
            <a:r>
              <a:rPr dirty="0" err="1"/>
              <a:t>شرحبيل</a:t>
            </a:r>
            <a:r>
              <a:rPr dirty="0"/>
              <a:t> </a:t>
            </a:r>
            <a:r>
              <a:rPr dirty="0" err="1"/>
              <a:t>بن</a:t>
            </a:r>
            <a:r>
              <a:rPr dirty="0"/>
              <a:t> </a:t>
            </a:r>
            <a:r>
              <a:rPr dirty="0" err="1"/>
              <a:t>حسنة</a:t>
            </a:r>
            <a:r>
              <a:rPr dirty="0"/>
              <a:t>، </a:t>
            </a:r>
            <a:r>
              <a:rPr dirty="0" err="1"/>
              <a:t>وعلى</a:t>
            </a:r>
            <a:r>
              <a:rPr dirty="0"/>
              <a:t> </a:t>
            </a:r>
            <a:r>
              <a:rPr dirty="0" err="1"/>
              <a:t>المَجْنبتين</a:t>
            </a:r>
            <a:r>
              <a:rPr dirty="0"/>
              <a:t> </a:t>
            </a:r>
            <a:r>
              <a:rPr dirty="0" err="1"/>
              <a:t>زيدًا</a:t>
            </a:r>
            <a:r>
              <a:rPr dirty="0"/>
              <a:t> </a:t>
            </a:r>
            <a:r>
              <a:rPr dirty="0" err="1"/>
              <a:t>وأبا</a:t>
            </a:r>
            <a:r>
              <a:rPr dirty="0"/>
              <a:t> </a:t>
            </a:r>
            <a:r>
              <a:rPr dirty="0" err="1"/>
              <a:t>حذيفة</a:t>
            </a:r>
            <a:r>
              <a:rPr dirty="0"/>
              <a:t>»</a:t>
            </a:r>
          </a:p>
          <a:p>
            <a:r>
              <a:rPr dirty="0"/>
              <a:t>(</a:t>
            </a:r>
            <a:r>
              <a:rPr dirty="0" err="1"/>
              <a:t>البدایہ</a:t>
            </a:r>
            <a:r>
              <a:rPr dirty="0"/>
              <a:t> ج۷ ص۳۳ · https://shamela.ws/book/30097/3179). </a:t>
            </a:r>
            <a:r>
              <a:rPr dirty="0" err="1"/>
              <a:t>الکامل</a:t>
            </a:r>
            <a:r>
              <a:rPr dirty="0"/>
              <a:t> ج۲ ص۲۱۵–۲۱۶ and </a:t>
            </a:r>
            <a:r>
              <a:rPr dirty="0" err="1"/>
              <a:t>سیر</a:t>
            </a:r>
            <a:r>
              <a:rPr dirty="0"/>
              <a:t> ج۱ ص۲۹۸ give the</a:t>
            </a:r>
          </a:p>
          <a:p>
            <a:r>
              <a:rPr dirty="0"/>
              <a:t>two other arrangements — **do not print a banner diagram** (§6.3).</a:t>
            </a:r>
          </a:p>
          <a:p>
            <a:endParaRPr dirty="0"/>
          </a:p>
          <a:p>
            <a:r>
              <a:rPr dirty="0"/>
              <a:t>WHEN, as the card gives it: 11 AH→12 AH, at </a:t>
            </a:r>
            <a:r>
              <a:rPr dirty="0" err="1"/>
              <a:t>عَقْرَباء</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RUNSHEET: Say "one of their leaders" — three books name three men</a:t>
            </a:r>
          </a:p>
          <a:p>
            <a:endParaRPr dirty="0"/>
          </a:p>
          <a:p>
            <a:r>
              <a:rPr dirty="0"/>
              <a:t>SAY —</a:t>
            </a:r>
          </a:p>
          <a:p>
            <a:r>
              <a:rPr dirty="0"/>
              <a:t>1. The armies come into sight — And a call goes along the enemy line.</a:t>
            </a:r>
            <a:endParaRPr lang="en-US" dirty="0"/>
          </a:p>
          <a:p>
            <a:endParaRPr dirty="0"/>
          </a:p>
          <a:p>
            <a:r>
              <a:rPr dirty="0"/>
              <a:t>2. </a:t>
            </a:r>
            <a:r>
              <a:rPr lang="en-US" dirty="0"/>
              <a:t>One of the leaders of Banu Hanifa says: </a:t>
            </a:r>
            <a:r>
              <a:rPr dirty="0"/>
              <a:t>"Today is the day of </a:t>
            </a:r>
            <a:r>
              <a:rPr dirty="0" err="1"/>
              <a:t>honour</a:t>
            </a:r>
            <a:r>
              <a:rPr dirty="0"/>
              <a:t>" — If you are routed, your women are taken.</a:t>
            </a:r>
          </a:p>
          <a:p>
            <a:endParaRPr lang="en-US" dirty="0"/>
          </a:p>
          <a:p>
            <a:r>
              <a:rPr dirty="0"/>
              <a:t>3. "Fight for your own </a:t>
            </a:r>
            <a:r>
              <a:rPr dirty="0" err="1"/>
              <a:t>honour</a:t>
            </a:r>
            <a:r>
              <a:rPr dirty="0"/>
              <a:t>" — And protect your women.</a:t>
            </a:r>
          </a:p>
          <a:p>
            <a:r>
              <a:rPr dirty="0"/>
              <a:t>   ^ read the Arabic on the face here</a:t>
            </a:r>
          </a:p>
          <a:p>
            <a:endParaRPr lang="en-US" dirty="0"/>
          </a:p>
          <a:p>
            <a:r>
              <a:rPr dirty="0"/>
              <a:t>4. Who said it — Three books name three different men.</a:t>
            </a:r>
          </a:p>
          <a:p>
            <a:endParaRPr lang="en-US" dirty="0"/>
          </a:p>
          <a:p>
            <a:r>
              <a:rPr dirty="0"/>
              <a:t>5. What we say — One of their leaders. We do not pick between the three.</a:t>
            </a:r>
            <a:endParaRPr lang="en-US" dirty="0"/>
          </a:p>
          <a:p>
            <a:endParaRPr lang="en-US" dirty="0"/>
          </a:p>
          <a:p>
            <a:r>
              <a:rPr lang="en-US" dirty="0"/>
              <a:t>6. Slogan of the </a:t>
            </a:r>
            <a:r>
              <a:rPr lang="en-US" dirty="0" err="1"/>
              <a:t>muslims</a:t>
            </a:r>
            <a:r>
              <a:rPr lang="en-US" dirty="0"/>
              <a:t> </a:t>
            </a:r>
            <a:r>
              <a:rPr lang="en-US" dirty="0" err="1"/>
              <a:t>wa</a:t>
            </a:r>
            <a:r>
              <a:rPr lang="en-US" dirty="0"/>
              <a:t> </a:t>
            </a:r>
            <a:r>
              <a:rPr lang="en-US" dirty="0" err="1"/>
              <a:t>muhammada</a:t>
            </a:r>
            <a:endParaRPr dirty="0"/>
          </a:p>
          <a:p>
            <a:endParaRPr dirty="0"/>
          </a:p>
          <a:p>
            <a:r>
              <a:rPr dirty="0"/>
              <a:t>QUOTE — </a:t>
            </a:r>
            <a:r>
              <a:rPr dirty="0" err="1"/>
              <a:t>اليوم</a:t>
            </a:r>
            <a:r>
              <a:rPr dirty="0"/>
              <a:t> </a:t>
            </a:r>
            <a:r>
              <a:rPr dirty="0" err="1"/>
              <a:t>يوم</a:t>
            </a:r>
            <a:r>
              <a:rPr dirty="0"/>
              <a:t> </a:t>
            </a:r>
            <a:r>
              <a:rPr dirty="0" err="1"/>
              <a:t>الغيرة</a:t>
            </a:r>
            <a:r>
              <a:rPr dirty="0"/>
              <a:t>، </a:t>
            </a:r>
            <a:r>
              <a:rPr dirty="0" err="1"/>
              <a:t>اليوم</a:t>
            </a:r>
            <a:r>
              <a:rPr dirty="0"/>
              <a:t> </a:t>
            </a:r>
            <a:r>
              <a:rPr dirty="0" err="1"/>
              <a:t>إن</a:t>
            </a:r>
            <a:r>
              <a:rPr dirty="0"/>
              <a:t> </a:t>
            </a:r>
            <a:r>
              <a:rPr dirty="0" err="1"/>
              <a:t>هُزمتم</a:t>
            </a:r>
            <a:r>
              <a:rPr dirty="0"/>
              <a:t> </a:t>
            </a:r>
            <a:r>
              <a:rPr dirty="0" err="1"/>
              <a:t>تُستنكح</a:t>
            </a:r>
            <a:r>
              <a:rPr dirty="0"/>
              <a:t> </a:t>
            </a:r>
            <a:r>
              <a:rPr dirty="0" err="1"/>
              <a:t>النساء</a:t>
            </a:r>
            <a:r>
              <a:rPr dirty="0"/>
              <a:t> </a:t>
            </a:r>
            <a:r>
              <a:rPr dirty="0" err="1"/>
              <a:t>سَبيّاتٍ</a:t>
            </a:r>
            <a:r>
              <a:rPr dirty="0"/>
              <a:t>، </a:t>
            </a:r>
            <a:r>
              <a:rPr dirty="0" err="1"/>
              <a:t>ويُنكحن</a:t>
            </a:r>
            <a:r>
              <a:rPr dirty="0"/>
              <a:t> </a:t>
            </a:r>
            <a:r>
              <a:rPr dirty="0" err="1"/>
              <a:t>غيرَ</a:t>
            </a:r>
            <a:r>
              <a:rPr dirty="0"/>
              <a:t> </a:t>
            </a:r>
            <a:r>
              <a:rPr dirty="0" err="1"/>
              <a:t>حظيّاتٍ</a:t>
            </a:r>
            <a:r>
              <a:rPr dirty="0"/>
              <a:t>، </a:t>
            </a:r>
            <a:r>
              <a:rPr dirty="0" err="1"/>
              <a:t>فقاتلوا</a:t>
            </a:r>
            <a:r>
              <a:rPr dirty="0"/>
              <a:t> </a:t>
            </a:r>
            <a:r>
              <a:rPr dirty="0" err="1"/>
              <a:t>عن</a:t>
            </a:r>
            <a:r>
              <a:rPr dirty="0"/>
              <a:t> </a:t>
            </a:r>
            <a:r>
              <a:rPr dirty="0" err="1"/>
              <a:t>أحسابكم</a:t>
            </a:r>
            <a:r>
              <a:rPr dirty="0"/>
              <a:t>، </a:t>
            </a:r>
            <a:r>
              <a:rPr dirty="0" err="1"/>
              <a:t>وامنعوا</a:t>
            </a:r>
            <a:r>
              <a:rPr dirty="0"/>
              <a:t> </a:t>
            </a:r>
            <a:r>
              <a:rPr dirty="0" err="1"/>
              <a:t>نساءكم</a:t>
            </a:r>
            <a:r>
              <a:rPr dirty="0"/>
              <a:t>.</a:t>
            </a:r>
          </a:p>
          <a:p>
            <a:r>
              <a:rPr dirty="0"/>
              <a:t>"Today is the day of </a:t>
            </a:r>
            <a:r>
              <a:rPr dirty="0" err="1"/>
              <a:t>honour</a:t>
            </a:r>
            <a:r>
              <a:rPr dirty="0"/>
              <a:t>. Today, if you are routed, the women will be taken as captives and married without being cherished. So fight for your own standing, and protect your women."</a:t>
            </a:r>
          </a:p>
          <a:p>
            <a:r>
              <a:rPr dirty="0"/>
              <a:t>— </a:t>
            </a:r>
            <a:r>
              <a:rPr dirty="0" err="1"/>
              <a:t>البدایہ</a:t>
            </a:r>
            <a:r>
              <a:rPr dirty="0"/>
              <a:t> </a:t>
            </a:r>
            <a:r>
              <a:rPr dirty="0" err="1"/>
              <a:t>والنہایہ</a:t>
            </a:r>
            <a:r>
              <a:rPr dirty="0"/>
              <a:t> ج۷ ص۳۳</a:t>
            </a:r>
          </a:p>
          <a:p>
            <a:endParaRPr dirty="0"/>
          </a:p>
          <a:p>
            <a:r>
              <a:rPr dirty="0" err="1"/>
              <a:t>عبرت</a:t>
            </a:r>
            <a:r>
              <a:rPr dirty="0"/>
              <a:t> — Both sides that day were fighting with their families behind them. That is the whole reason the ground did not give.</a:t>
            </a:r>
          </a:p>
          <a:p>
            <a:endParaRPr dirty="0"/>
          </a:p>
          <a:p>
            <a:r>
              <a:rPr dirty="0"/>
              <a:t>MAP — The two blocks face each other. Nothing moves yet.</a:t>
            </a:r>
          </a:p>
          <a:p>
            <a:endParaRPr dirty="0"/>
          </a:p>
          <a:p>
            <a:r>
              <a:rPr dirty="0"/>
              <a:t>BACKGROUND (read at home, not aloud) —</a:t>
            </a:r>
          </a:p>
          <a:p>
            <a:r>
              <a:rPr dirty="0"/>
              <a:t>As the two armies came into each other's sight, a call went along the enemy line: today is the day of </a:t>
            </a:r>
            <a:r>
              <a:rPr dirty="0" err="1"/>
              <a:t>honour</a:t>
            </a:r>
            <a:r>
              <a:rPr dirty="0"/>
              <a:t>; if you are routed, your women will be taken as captives and married without being asked for; so fight for your own </a:t>
            </a:r>
            <a:r>
              <a:rPr dirty="0" err="1"/>
              <a:t>honour</a:t>
            </a:r>
            <a:r>
              <a:rPr dirty="0"/>
              <a:t>, and protect your women. Ibn </a:t>
            </a:r>
            <a:r>
              <a:rPr dirty="0" err="1"/>
              <a:t>Kathīr</a:t>
            </a:r>
            <a:r>
              <a:rPr dirty="0"/>
              <a:t> puts those words in </a:t>
            </a:r>
            <a:r>
              <a:rPr dirty="0" err="1"/>
              <a:t>Musaylima's</a:t>
            </a:r>
            <a:r>
              <a:rPr dirty="0"/>
              <a:t> own mouth. Ibn al-</a:t>
            </a:r>
            <a:r>
              <a:rPr dirty="0" err="1"/>
              <a:t>Athīr</a:t>
            </a:r>
            <a:r>
              <a:rPr dirty="0"/>
              <a:t> gives them to </a:t>
            </a:r>
            <a:r>
              <a:rPr dirty="0" err="1"/>
              <a:t>Shuraḥbīl</a:t>
            </a:r>
            <a:r>
              <a:rPr dirty="0"/>
              <a:t> b. </a:t>
            </a:r>
            <a:r>
              <a:rPr dirty="0" err="1"/>
              <a:t>Musaylima</a:t>
            </a:r>
            <a:r>
              <a:rPr dirty="0"/>
              <a:t>, and al-</a:t>
            </a:r>
            <a:r>
              <a:rPr dirty="0" err="1"/>
              <a:t>Dhahabī</a:t>
            </a:r>
            <a:r>
              <a:rPr dirty="0"/>
              <a:t> to </a:t>
            </a:r>
            <a:r>
              <a:rPr dirty="0" err="1"/>
              <a:t>Shuraḥbīl</a:t>
            </a:r>
            <a:r>
              <a:rPr dirty="0"/>
              <a:t> b. Salama. **On the slide, say "one of their leaders".**</a:t>
            </a:r>
          </a:p>
          <a:p>
            <a:endParaRPr dirty="0"/>
          </a:p>
          <a:p>
            <a:r>
              <a:rPr dirty="0"/>
              <a:t>**Also on the page:** </a:t>
            </a:r>
            <a:r>
              <a:rPr dirty="0" err="1"/>
              <a:t>الکامل</a:t>
            </a:r>
            <a:r>
              <a:rPr dirty="0"/>
              <a:t> ج۲ ص۲۱۶ attributes the same words to </a:t>
            </a:r>
            <a:r>
              <a:rPr dirty="0" err="1"/>
              <a:t>شرحبيل</a:t>
            </a:r>
            <a:r>
              <a:rPr dirty="0"/>
              <a:t> </a:t>
            </a:r>
            <a:r>
              <a:rPr dirty="0" err="1"/>
              <a:t>بن</a:t>
            </a:r>
            <a:r>
              <a:rPr dirty="0"/>
              <a:t> </a:t>
            </a:r>
            <a:r>
              <a:rPr dirty="0" err="1"/>
              <a:t>مسيلمة</a:t>
            </a:r>
            <a:endParaRPr dirty="0"/>
          </a:p>
          <a:p>
            <a:r>
              <a:rPr dirty="0"/>
              <a:t>(https://shamela.ws/book/21712/907); </a:t>
            </a:r>
            <a:r>
              <a:rPr dirty="0" err="1"/>
              <a:t>سیر</a:t>
            </a:r>
            <a:r>
              <a:rPr dirty="0"/>
              <a:t> (</a:t>
            </a:r>
            <a:r>
              <a:rPr dirty="0" err="1"/>
              <a:t>الراشدون</a:t>
            </a:r>
            <a:r>
              <a:rPr dirty="0"/>
              <a:t>) ص۴۷ to </a:t>
            </a:r>
            <a:r>
              <a:rPr dirty="0" err="1"/>
              <a:t>شرحبيل</a:t>
            </a:r>
            <a:r>
              <a:rPr dirty="0"/>
              <a:t> </a:t>
            </a:r>
            <a:r>
              <a:rPr dirty="0" err="1"/>
              <a:t>بن</a:t>
            </a:r>
            <a:r>
              <a:rPr dirty="0"/>
              <a:t> </a:t>
            </a:r>
            <a:r>
              <a:rPr dirty="0" err="1"/>
              <a:t>سلمة</a:t>
            </a:r>
            <a:endParaRPr dirty="0"/>
          </a:p>
          <a:p>
            <a:r>
              <a:rPr dirty="0"/>
              <a:t>(https://shamela.ws/book/10906/1195).</a:t>
            </a:r>
          </a:p>
          <a:p>
            <a:endParaRPr dirty="0"/>
          </a:p>
          <a:p>
            <a:r>
              <a:rPr dirty="0"/>
              <a:t>WHEN, as the card gives it: 11 AH→12 AH, at </a:t>
            </a:r>
            <a:r>
              <a:rPr dirty="0" err="1"/>
              <a:t>عَقْرَباء</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RUNSHEET: Neither book softens the rout. Tell both halves of the protection</a:t>
            </a:r>
          </a:p>
          <a:p>
            <a:endParaRPr dirty="0"/>
          </a:p>
          <a:p>
            <a:r>
              <a:rPr dirty="0"/>
              <a:t>SAY —</a:t>
            </a:r>
          </a:p>
          <a:p>
            <a:r>
              <a:rPr dirty="0"/>
              <a:t>1. The armies collide — And the Muslim line gives way.</a:t>
            </a:r>
            <a:endParaRPr lang="en-US" dirty="0"/>
          </a:p>
          <a:p>
            <a:endParaRPr dirty="0"/>
          </a:p>
          <a:p>
            <a:r>
              <a:rPr dirty="0"/>
              <a:t>2. The </a:t>
            </a:r>
            <a:r>
              <a:rPr dirty="0" err="1"/>
              <a:t>bedouin</a:t>
            </a:r>
            <a:r>
              <a:rPr dirty="0"/>
              <a:t> contingents break — The rout is in the books plainly; neither book softens it.</a:t>
            </a:r>
          </a:p>
          <a:p>
            <a:endParaRPr lang="en-US" dirty="0"/>
          </a:p>
          <a:p>
            <a:r>
              <a:rPr dirty="0"/>
              <a:t>3. Into the commander's own tent — </a:t>
            </a:r>
            <a:r>
              <a:rPr dirty="0" err="1"/>
              <a:t>Banū</a:t>
            </a:r>
            <a:r>
              <a:rPr dirty="0"/>
              <a:t> </a:t>
            </a:r>
            <a:r>
              <a:rPr dirty="0" err="1"/>
              <a:t>Ḥanīfa</a:t>
            </a:r>
            <a:r>
              <a:rPr dirty="0"/>
              <a:t> came through, and were minded to kill Umm </a:t>
            </a:r>
            <a:r>
              <a:rPr dirty="0" err="1"/>
              <a:t>Tamīm</a:t>
            </a:r>
            <a:r>
              <a:rPr dirty="0"/>
              <a:t> ؓ.</a:t>
            </a:r>
          </a:p>
          <a:p>
            <a:endParaRPr lang="en-US" dirty="0"/>
          </a:p>
          <a:p>
            <a:r>
              <a:rPr dirty="0"/>
              <a:t>4. The prisoner stands up — </a:t>
            </a:r>
            <a:r>
              <a:rPr dirty="0" err="1"/>
              <a:t>Mujjāʿa</a:t>
            </a:r>
            <a:r>
              <a:rPr dirty="0"/>
              <a:t>, still in irons, gave her his protection: this is a fine free woman.</a:t>
            </a:r>
          </a:p>
          <a:p>
            <a:r>
              <a:rPr dirty="0"/>
              <a:t>   ^ read the Arabic on the face here</a:t>
            </a:r>
          </a:p>
          <a:p>
            <a:endParaRPr lang="en-US" dirty="0"/>
          </a:p>
          <a:p>
            <a:r>
              <a:rPr dirty="0"/>
              <a:t>5. Later the same day, the mirror — Muslims entered the same tent to kill him, and she gave him hers.</a:t>
            </a:r>
          </a:p>
          <a:p>
            <a:endParaRPr lang="en-US" dirty="0"/>
          </a:p>
          <a:p>
            <a:r>
              <a:rPr dirty="0"/>
              <a:t>6. Both halves are in the books — On the worst day of the war, each saved the other.</a:t>
            </a:r>
          </a:p>
          <a:p>
            <a:endParaRPr dirty="0"/>
          </a:p>
          <a:p>
            <a:r>
              <a:rPr dirty="0"/>
              <a:t>QUOTE — </a:t>
            </a:r>
            <a:r>
              <a:rPr dirty="0" err="1"/>
              <a:t>فكانت</a:t>
            </a:r>
            <a:r>
              <a:rPr dirty="0"/>
              <a:t> </a:t>
            </a:r>
            <a:r>
              <a:rPr dirty="0" err="1"/>
              <a:t>جولة</a:t>
            </a:r>
            <a:r>
              <a:rPr dirty="0"/>
              <a:t> </a:t>
            </a:r>
            <a:r>
              <a:rPr dirty="0" err="1"/>
              <a:t>وانهزمتِ</a:t>
            </a:r>
            <a:r>
              <a:rPr dirty="0"/>
              <a:t> </a:t>
            </a:r>
            <a:r>
              <a:rPr dirty="0" err="1"/>
              <a:t>الأعرابُ</a:t>
            </a:r>
            <a:r>
              <a:rPr dirty="0"/>
              <a:t> </a:t>
            </a:r>
            <a:r>
              <a:rPr dirty="0" err="1"/>
              <a:t>حتى</a:t>
            </a:r>
            <a:r>
              <a:rPr dirty="0"/>
              <a:t> </a:t>
            </a:r>
            <a:r>
              <a:rPr dirty="0" err="1"/>
              <a:t>دخلت</a:t>
            </a:r>
            <a:r>
              <a:rPr dirty="0"/>
              <a:t> </a:t>
            </a:r>
            <a:r>
              <a:rPr dirty="0" err="1"/>
              <a:t>بنو</a:t>
            </a:r>
            <a:r>
              <a:rPr dirty="0"/>
              <a:t> </a:t>
            </a:r>
            <a:r>
              <a:rPr dirty="0" err="1"/>
              <a:t>حنيفة</a:t>
            </a:r>
            <a:r>
              <a:rPr dirty="0"/>
              <a:t> </a:t>
            </a:r>
            <a:r>
              <a:rPr dirty="0" err="1"/>
              <a:t>خيمةَ</a:t>
            </a:r>
            <a:r>
              <a:rPr dirty="0"/>
              <a:t> </a:t>
            </a:r>
            <a:r>
              <a:rPr dirty="0" err="1"/>
              <a:t>خالد</a:t>
            </a:r>
            <a:r>
              <a:rPr dirty="0"/>
              <a:t> </a:t>
            </a:r>
            <a:r>
              <a:rPr dirty="0" err="1"/>
              <a:t>بن</a:t>
            </a:r>
            <a:r>
              <a:rPr dirty="0"/>
              <a:t> </a:t>
            </a:r>
            <a:r>
              <a:rPr dirty="0" err="1"/>
              <a:t>الوليد</a:t>
            </a:r>
            <a:r>
              <a:rPr dirty="0"/>
              <a:t> </a:t>
            </a:r>
            <a:r>
              <a:rPr dirty="0" err="1"/>
              <a:t>وهمّوا</a:t>
            </a:r>
            <a:r>
              <a:rPr dirty="0"/>
              <a:t> </a:t>
            </a:r>
            <a:r>
              <a:rPr dirty="0" err="1"/>
              <a:t>بقتل</a:t>
            </a:r>
            <a:r>
              <a:rPr dirty="0"/>
              <a:t> </a:t>
            </a:r>
            <a:r>
              <a:rPr dirty="0" err="1"/>
              <a:t>أم</a:t>
            </a:r>
            <a:r>
              <a:rPr dirty="0"/>
              <a:t> </a:t>
            </a:r>
            <a:r>
              <a:rPr dirty="0" err="1"/>
              <a:t>تميم</a:t>
            </a:r>
            <a:r>
              <a:rPr dirty="0"/>
              <a:t>، </a:t>
            </a:r>
            <a:r>
              <a:rPr dirty="0" err="1"/>
              <a:t>حتى</a:t>
            </a:r>
            <a:r>
              <a:rPr dirty="0"/>
              <a:t> </a:t>
            </a:r>
            <a:r>
              <a:rPr dirty="0" err="1"/>
              <a:t>أجارها</a:t>
            </a:r>
            <a:r>
              <a:rPr dirty="0"/>
              <a:t> </a:t>
            </a:r>
            <a:r>
              <a:rPr dirty="0" err="1"/>
              <a:t>مجاعة</a:t>
            </a:r>
            <a:r>
              <a:rPr dirty="0"/>
              <a:t> </a:t>
            </a:r>
            <a:r>
              <a:rPr dirty="0" err="1"/>
              <a:t>وقال</a:t>
            </a:r>
            <a:r>
              <a:rPr dirty="0"/>
              <a:t>: </a:t>
            </a:r>
            <a:r>
              <a:rPr dirty="0" err="1"/>
              <a:t>نعمتِ</a:t>
            </a:r>
            <a:r>
              <a:rPr dirty="0"/>
              <a:t> </a:t>
            </a:r>
            <a:r>
              <a:rPr dirty="0" err="1"/>
              <a:t>الحُرَّةُ</a:t>
            </a:r>
            <a:r>
              <a:rPr dirty="0"/>
              <a:t> </a:t>
            </a:r>
            <a:r>
              <a:rPr dirty="0" err="1"/>
              <a:t>هذه</a:t>
            </a:r>
            <a:r>
              <a:rPr dirty="0"/>
              <a:t>.</a:t>
            </a:r>
          </a:p>
          <a:p>
            <a:r>
              <a:rPr dirty="0"/>
              <a:t>"There was a rout: the </a:t>
            </a:r>
            <a:r>
              <a:rPr dirty="0" err="1"/>
              <a:t>bedouin</a:t>
            </a:r>
            <a:r>
              <a:rPr dirty="0"/>
              <a:t> broke, until </a:t>
            </a:r>
            <a:r>
              <a:rPr dirty="0" err="1"/>
              <a:t>Banū</a:t>
            </a:r>
            <a:r>
              <a:rPr dirty="0"/>
              <a:t> </a:t>
            </a:r>
            <a:r>
              <a:rPr dirty="0" err="1"/>
              <a:t>Ḥanīfa</a:t>
            </a:r>
            <a:r>
              <a:rPr dirty="0"/>
              <a:t> entered </a:t>
            </a:r>
            <a:r>
              <a:rPr dirty="0" err="1"/>
              <a:t>Khālid</a:t>
            </a:r>
            <a:r>
              <a:rPr dirty="0"/>
              <a:t> b. al-</a:t>
            </a:r>
            <a:r>
              <a:rPr dirty="0" err="1"/>
              <a:t>Walīd's</a:t>
            </a:r>
            <a:r>
              <a:rPr dirty="0"/>
              <a:t> own tent and were minded to kill Umm </a:t>
            </a:r>
            <a:r>
              <a:rPr dirty="0" err="1"/>
              <a:t>Tamīm</a:t>
            </a:r>
            <a:r>
              <a:rPr dirty="0"/>
              <a:t> — until </a:t>
            </a:r>
            <a:r>
              <a:rPr dirty="0" err="1"/>
              <a:t>Mujjāʿa</a:t>
            </a:r>
            <a:r>
              <a:rPr dirty="0"/>
              <a:t> gave her his protection and said: This is a fine free woman."</a:t>
            </a:r>
          </a:p>
          <a:p>
            <a:r>
              <a:rPr dirty="0"/>
              <a:t>— </a:t>
            </a:r>
            <a:r>
              <a:rPr dirty="0" err="1"/>
              <a:t>البدایہ</a:t>
            </a:r>
            <a:r>
              <a:rPr dirty="0"/>
              <a:t> </a:t>
            </a:r>
            <a:r>
              <a:rPr dirty="0" err="1"/>
              <a:t>والنہایہ</a:t>
            </a:r>
            <a:r>
              <a:rPr dirty="0"/>
              <a:t> ج۷ ص۳۳</a:t>
            </a:r>
          </a:p>
          <a:p>
            <a:endParaRPr dirty="0"/>
          </a:p>
          <a:p>
            <a:r>
              <a:rPr dirty="0" err="1"/>
              <a:t>عبرت</a:t>
            </a:r>
            <a:r>
              <a:rPr dirty="0"/>
              <a:t> — Each of them saved the other's life on the same day, and the book keeps both halves.</a:t>
            </a:r>
          </a:p>
          <a:p>
            <a:endParaRPr dirty="0"/>
          </a:p>
          <a:p>
            <a:r>
              <a:rPr dirty="0"/>
              <a:t>MAP — The blue block at </a:t>
            </a:r>
            <a:r>
              <a:rPr dirty="0" err="1"/>
              <a:t>عَقْرَباء</a:t>
            </a:r>
            <a:r>
              <a:rPr dirty="0"/>
              <a:t> is pushed **backwards**. A red spike reaches the marker for </a:t>
            </a:r>
            <a:r>
              <a:rPr dirty="0" err="1"/>
              <a:t>Khālid's</a:t>
            </a:r>
            <a:r>
              <a:rPr dirty="0"/>
              <a:t> ؓ own tent, behind the line.</a:t>
            </a:r>
          </a:p>
          <a:p>
            <a:endParaRPr dirty="0"/>
          </a:p>
          <a:p>
            <a:r>
              <a:rPr dirty="0"/>
              <a:t>BACKGROUND (read at home, not aloud) —</a:t>
            </a:r>
          </a:p>
          <a:p>
            <a:r>
              <a:rPr dirty="0"/>
              <a:t>The two armies collided, and the Muslim line broke. The </a:t>
            </a:r>
            <a:r>
              <a:rPr dirty="0" err="1"/>
              <a:t>bedouin</a:t>
            </a:r>
            <a:r>
              <a:rPr dirty="0"/>
              <a:t> contingents ran, and </a:t>
            </a:r>
            <a:r>
              <a:rPr dirty="0" err="1"/>
              <a:t>Banū</a:t>
            </a:r>
            <a:r>
              <a:rPr dirty="0"/>
              <a:t> </a:t>
            </a:r>
            <a:r>
              <a:rPr dirty="0" err="1"/>
              <a:t>Ḥanīfa</a:t>
            </a:r>
            <a:r>
              <a:rPr dirty="0"/>
              <a:t> came through them and into </a:t>
            </a:r>
            <a:r>
              <a:rPr dirty="0" err="1"/>
              <a:t>Khālid's</a:t>
            </a:r>
            <a:r>
              <a:rPr dirty="0"/>
              <a:t> ؓ own tent, and were going to kill his wife. The prisoner in irons in that tent stood up and gave her his protection: *this is a fine free woman*. Later in the same day, Muslims came into the same tent meaning to kill him, and Umm </a:t>
            </a:r>
            <a:r>
              <a:rPr dirty="0" err="1"/>
              <a:t>Tamīm</a:t>
            </a:r>
            <a:r>
              <a:rPr dirty="0"/>
              <a:t> ؓ said: by Allah, he will not be killed — and gave him hers. Each of them saved the other's life on the same day, and the books keep both halves.</a:t>
            </a:r>
          </a:p>
          <a:p>
            <a:endParaRPr dirty="0"/>
          </a:p>
          <a:p>
            <a:r>
              <a:rPr dirty="0"/>
              <a:t>**The mirror, from </a:t>
            </a:r>
            <a:r>
              <a:rPr dirty="0" err="1"/>
              <a:t>سیر</a:t>
            </a:r>
            <a:r>
              <a:rPr dirty="0"/>
              <a:t>:** «</a:t>
            </a:r>
            <a:r>
              <a:rPr dirty="0" err="1"/>
              <a:t>فَقَالَتْ</a:t>
            </a:r>
            <a:r>
              <a:rPr dirty="0"/>
              <a:t> </a:t>
            </a:r>
            <a:r>
              <a:rPr dirty="0" err="1"/>
              <a:t>أُمُّ</a:t>
            </a:r>
            <a:r>
              <a:rPr dirty="0"/>
              <a:t> </a:t>
            </a:r>
            <a:r>
              <a:rPr dirty="0" err="1"/>
              <a:t>تَمِيمٍ</a:t>
            </a:r>
            <a:r>
              <a:rPr dirty="0"/>
              <a:t>: </a:t>
            </a:r>
            <a:r>
              <a:rPr dirty="0" err="1"/>
              <a:t>وَاللَّهِ</a:t>
            </a:r>
            <a:r>
              <a:rPr dirty="0"/>
              <a:t> </a:t>
            </a:r>
            <a:r>
              <a:rPr dirty="0" err="1"/>
              <a:t>لَا</a:t>
            </a:r>
            <a:r>
              <a:rPr dirty="0"/>
              <a:t> </a:t>
            </a:r>
            <a:r>
              <a:rPr dirty="0" err="1"/>
              <a:t>يُقْتَلُ</a:t>
            </a:r>
            <a:r>
              <a:rPr dirty="0"/>
              <a:t>، </a:t>
            </a:r>
            <a:r>
              <a:rPr dirty="0" err="1"/>
              <a:t>وَأَجَارَتْهُ</a:t>
            </a:r>
            <a:r>
              <a:rPr dirty="0"/>
              <a:t>» — </a:t>
            </a:r>
            <a:r>
              <a:rPr dirty="0" err="1"/>
              <a:t>سیر</a:t>
            </a:r>
            <a:r>
              <a:rPr dirty="0"/>
              <a:t> </a:t>
            </a:r>
            <a:r>
              <a:rPr dirty="0" err="1"/>
              <a:t>أعلام</a:t>
            </a:r>
            <a:r>
              <a:rPr dirty="0"/>
              <a:t> </a:t>
            </a:r>
            <a:r>
              <a:rPr dirty="0" err="1"/>
              <a:t>النبلاء</a:t>
            </a:r>
            <a:endParaRPr dirty="0"/>
          </a:p>
          <a:p>
            <a:r>
              <a:rPr dirty="0"/>
              <a:t>(</a:t>
            </a:r>
            <a:r>
              <a:rPr dirty="0" err="1"/>
              <a:t>سير</a:t>
            </a:r>
            <a:r>
              <a:rPr dirty="0"/>
              <a:t> </a:t>
            </a:r>
            <a:r>
              <a:rPr dirty="0" err="1"/>
              <a:t>الخلفاء</a:t>
            </a:r>
            <a:r>
              <a:rPr dirty="0"/>
              <a:t> </a:t>
            </a:r>
            <a:r>
              <a:rPr dirty="0" err="1"/>
              <a:t>الراشدين</a:t>
            </a:r>
            <a:r>
              <a:rPr dirty="0"/>
              <a:t>) ص۴۷ · https://shamela.ws/book/10906/1195.</a:t>
            </a:r>
          </a:p>
          <a:p>
            <a:endParaRPr dirty="0"/>
          </a:p>
          <a:p>
            <a:r>
              <a:rPr dirty="0"/>
              <a:t>WHEN, as the card gives it: 11 AH→12 AH, at </a:t>
            </a:r>
            <a:r>
              <a:rPr dirty="0" err="1"/>
              <a:t>عَقْرَباء</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RUNSHEET: ⚠ do not use the </a:t>
            </a:r>
            <a:r>
              <a:rPr dirty="0" err="1"/>
              <a:t>ḥadīth</a:t>
            </a:r>
            <a:r>
              <a:rPr dirty="0"/>
              <a:t> attached to him — the editor marks it «⁨</a:t>
            </a:r>
            <a:r>
              <a:rPr dirty="0" err="1"/>
              <a:t>ضعيف</a:t>
            </a:r>
            <a:r>
              <a:rPr dirty="0"/>
              <a:t> </a:t>
            </a:r>
            <a:r>
              <a:rPr dirty="0" err="1"/>
              <a:t>جدًّا</a:t>
            </a:r>
            <a:r>
              <a:rPr dirty="0"/>
              <a:t>⁩»</a:t>
            </a:r>
          </a:p>
          <a:p>
            <a:endParaRPr dirty="0"/>
          </a:p>
          <a:p>
            <a:r>
              <a:rPr dirty="0"/>
              <a:t>SAY —</a:t>
            </a:r>
          </a:p>
          <a:p>
            <a:r>
              <a:rPr dirty="0"/>
              <a:t>1. Killed in the rout — Zayd b. al-</a:t>
            </a:r>
            <a:r>
              <a:rPr dirty="0" err="1"/>
              <a:t>Khaṭṭāb</a:t>
            </a:r>
            <a:r>
              <a:rPr dirty="0"/>
              <a:t> ؓ killed a man named al-</a:t>
            </a:r>
            <a:r>
              <a:rPr dirty="0" err="1"/>
              <a:t>Rajjāl</a:t>
            </a:r>
            <a:r>
              <a:rPr dirty="0"/>
              <a:t> b. </a:t>
            </a:r>
            <a:r>
              <a:rPr dirty="0" err="1"/>
              <a:t>ʿUnfuwa</a:t>
            </a:r>
            <a:r>
              <a:rPr dirty="0"/>
              <a:t>.</a:t>
            </a:r>
            <a:endParaRPr lang="en-US" dirty="0"/>
          </a:p>
          <a:p>
            <a:endParaRPr dirty="0"/>
          </a:p>
          <a:p>
            <a:r>
              <a:rPr dirty="0"/>
              <a:t>2. Who he was — He had come to the Prophet ﷺ and had recited the </a:t>
            </a:r>
            <a:r>
              <a:rPr dirty="0" err="1"/>
              <a:t>Qurʾān</a:t>
            </a:r>
            <a:r>
              <a:rPr dirty="0"/>
              <a:t>.</a:t>
            </a:r>
          </a:p>
          <a:p>
            <a:endParaRPr lang="en-US" dirty="0"/>
          </a:p>
          <a:p>
            <a:r>
              <a:rPr dirty="0"/>
              <a:t>3. What he was sent to do — He had been sent as a teacher to al-</a:t>
            </a:r>
            <a:r>
              <a:rPr dirty="0" err="1"/>
              <a:t>Yamāma</a:t>
            </a:r>
            <a:r>
              <a:rPr dirty="0"/>
              <a:t>, to hold the people to Islam.</a:t>
            </a:r>
          </a:p>
          <a:p>
            <a:endParaRPr lang="en-US" dirty="0"/>
          </a:p>
          <a:p>
            <a:r>
              <a:rPr dirty="0"/>
              <a:t>4. What he did instead — He testified that the Prophet ﷺ had made </a:t>
            </a:r>
            <a:r>
              <a:rPr dirty="0" err="1"/>
              <a:t>Musaylima</a:t>
            </a:r>
            <a:r>
              <a:rPr dirty="0"/>
              <a:t> a partner in the matter.</a:t>
            </a:r>
          </a:p>
          <a:p>
            <a:endParaRPr lang="en-US" dirty="0"/>
          </a:p>
          <a:p>
            <a:r>
              <a:rPr dirty="0"/>
              <a:t>5. And they believed him — Because of who was saying it, not because of what was said.</a:t>
            </a:r>
          </a:p>
          <a:p>
            <a:r>
              <a:rPr dirty="0"/>
              <a:t>   ^ read the Arabic on the face here</a:t>
            </a:r>
          </a:p>
          <a:p>
            <a:endParaRPr lang="en-US" dirty="0"/>
          </a:p>
          <a:p>
            <a:r>
              <a:rPr dirty="0"/>
              <a:t>6. The historians' verdict — He was a greater fitna upon </a:t>
            </a:r>
            <a:r>
              <a:rPr dirty="0" err="1"/>
              <a:t>Banū</a:t>
            </a:r>
            <a:r>
              <a:rPr dirty="0"/>
              <a:t> </a:t>
            </a:r>
            <a:r>
              <a:rPr dirty="0" err="1"/>
              <a:t>Ḥanīfa</a:t>
            </a:r>
            <a:r>
              <a:rPr dirty="0"/>
              <a:t> than </a:t>
            </a:r>
            <a:r>
              <a:rPr dirty="0" err="1"/>
              <a:t>Musaylima</a:t>
            </a:r>
            <a:r>
              <a:rPr dirty="0"/>
              <a:t> himself.</a:t>
            </a:r>
          </a:p>
          <a:p>
            <a:endParaRPr dirty="0"/>
          </a:p>
          <a:p>
            <a:r>
              <a:rPr dirty="0"/>
              <a:t>QUOTE — </a:t>
            </a:r>
            <a:r>
              <a:rPr dirty="0" err="1"/>
              <a:t>فَكَانَ</a:t>
            </a:r>
            <a:r>
              <a:rPr dirty="0"/>
              <a:t> </a:t>
            </a:r>
            <a:r>
              <a:rPr dirty="0" err="1"/>
              <a:t>أَعْظَمَ</a:t>
            </a:r>
            <a:r>
              <a:rPr dirty="0"/>
              <a:t> </a:t>
            </a:r>
            <a:r>
              <a:rPr dirty="0" err="1"/>
              <a:t>فِتْنَةً</a:t>
            </a:r>
            <a:r>
              <a:rPr dirty="0"/>
              <a:t> </a:t>
            </a:r>
            <a:r>
              <a:rPr dirty="0" err="1"/>
              <a:t>عَلَى</a:t>
            </a:r>
            <a:r>
              <a:rPr dirty="0"/>
              <a:t> </a:t>
            </a:r>
            <a:r>
              <a:rPr dirty="0" err="1"/>
              <a:t>بَنِي</a:t>
            </a:r>
            <a:r>
              <a:rPr dirty="0"/>
              <a:t> </a:t>
            </a:r>
            <a:r>
              <a:rPr dirty="0" err="1"/>
              <a:t>حَنِيفَةَ</a:t>
            </a:r>
            <a:r>
              <a:rPr dirty="0"/>
              <a:t> </a:t>
            </a:r>
            <a:r>
              <a:rPr dirty="0" err="1"/>
              <a:t>مِنْ</a:t>
            </a:r>
            <a:r>
              <a:rPr dirty="0"/>
              <a:t> </a:t>
            </a:r>
            <a:r>
              <a:rPr dirty="0" err="1"/>
              <a:t>مُسَيْلِمَةَ</a:t>
            </a:r>
            <a:r>
              <a:rPr dirty="0"/>
              <a:t>، </a:t>
            </a:r>
            <a:r>
              <a:rPr dirty="0" err="1"/>
              <a:t>شَهِدَ</a:t>
            </a:r>
            <a:r>
              <a:rPr dirty="0"/>
              <a:t> </a:t>
            </a:r>
            <a:r>
              <a:rPr dirty="0" err="1"/>
              <a:t>أَنَّ</a:t>
            </a:r>
            <a:r>
              <a:rPr dirty="0"/>
              <a:t> </a:t>
            </a:r>
            <a:r>
              <a:rPr dirty="0" err="1"/>
              <a:t>مُحَمَّدًا</a:t>
            </a:r>
            <a:r>
              <a:rPr dirty="0"/>
              <a:t> - </a:t>
            </a:r>
            <a:r>
              <a:rPr dirty="0" err="1"/>
              <a:t>صَلَّى</a:t>
            </a:r>
            <a:r>
              <a:rPr dirty="0"/>
              <a:t> </a:t>
            </a:r>
            <a:r>
              <a:rPr dirty="0" err="1"/>
              <a:t>اللَّهُ</a:t>
            </a:r>
            <a:r>
              <a:rPr dirty="0"/>
              <a:t> </a:t>
            </a:r>
            <a:r>
              <a:rPr dirty="0" err="1"/>
              <a:t>عَلَيْهِ</a:t>
            </a:r>
            <a:r>
              <a:rPr dirty="0"/>
              <a:t> </a:t>
            </a:r>
            <a:r>
              <a:rPr dirty="0" err="1"/>
              <a:t>وَسَلَّمَ</a:t>
            </a:r>
            <a:r>
              <a:rPr dirty="0"/>
              <a:t> - </a:t>
            </a:r>
            <a:r>
              <a:rPr dirty="0" err="1"/>
              <a:t>يَقُولُ</a:t>
            </a:r>
            <a:r>
              <a:rPr dirty="0"/>
              <a:t>: </a:t>
            </a:r>
            <a:r>
              <a:rPr dirty="0" err="1"/>
              <a:t>إِنَّ</a:t>
            </a:r>
            <a:r>
              <a:rPr dirty="0"/>
              <a:t> </a:t>
            </a:r>
            <a:r>
              <a:rPr dirty="0" err="1"/>
              <a:t>مُسَيْلِمَةَ</a:t>
            </a:r>
            <a:r>
              <a:rPr dirty="0"/>
              <a:t> </a:t>
            </a:r>
            <a:r>
              <a:rPr dirty="0" err="1"/>
              <a:t>قَدْ</a:t>
            </a:r>
            <a:r>
              <a:rPr dirty="0"/>
              <a:t> </a:t>
            </a:r>
            <a:r>
              <a:rPr dirty="0" err="1"/>
              <a:t>أُشْرِكَ</a:t>
            </a:r>
            <a:r>
              <a:rPr dirty="0"/>
              <a:t> </a:t>
            </a:r>
            <a:r>
              <a:rPr dirty="0" err="1"/>
              <a:t>مَعَهُ</a:t>
            </a:r>
            <a:r>
              <a:rPr dirty="0"/>
              <a:t>، </a:t>
            </a:r>
            <a:r>
              <a:rPr dirty="0" err="1"/>
              <a:t>فَصَدَّقُوهُ</a:t>
            </a:r>
            <a:r>
              <a:rPr dirty="0"/>
              <a:t> </a:t>
            </a:r>
            <a:r>
              <a:rPr dirty="0" err="1"/>
              <a:t>وَاسْتَجَابُوا</a:t>
            </a:r>
            <a:r>
              <a:rPr dirty="0"/>
              <a:t> </a:t>
            </a:r>
            <a:r>
              <a:rPr dirty="0" err="1"/>
              <a:t>لَهُ</a:t>
            </a:r>
            <a:endParaRPr dirty="0"/>
          </a:p>
          <a:p>
            <a:r>
              <a:rPr dirty="0"/>
              <a:t>"He was a greater fitna upon </a:t>
            </a:r>
            <a:r>
              <a:rPr dirty="0" err="1"/>
              <a:t>Banū</a:t>
            </a:r>
            <a:r>
              <a:rPr dirty="0"/>
              <a:t> </a:t>
            </a:r>
            <a:r>
              <a:rPr dirty="0" err="1"/>
              <a:t>Ḥanīfa</a:t>
            </a:r>
            <a:r>
              <a:rPr dirty="0"/>
              <a:t> than </a:t>
            </a:r>
            <a:r>
              <a:rPr dirty="0" err="1"/>
              <a:t>Musaylima</a:t>
            </a:r>
            <a:r>
              <a:rPr dirty="0"/>
              <a:t>. He testified that </a:t>
            </a:r>
            <a:r>
              <a:rPr dirty="0" err="1"/>
              <a:t>Muḥammad</a:t>
            </a:r>
            <a:r>
              <a:rPr dirty="0"/>
              <a:t> ﷺ said that </a:t>
            </a:r>
            <a:r>
              <a:rPr dirty="0" err="1"/>
              <a:t>Musaylima</a:t>
            </a:r>
            <a:r>
              <a:rPr dirty="0"/>
              <a:t> had been made a partner with him — and they believed him and answered him."</a:t>
            </a:r>
          </a:p>
          <a:p>
            <a:r>
              <a:rPr dirty="0"/>
              <a:t>— </a:t>
            </a:r>
            <a:r>
              <a:rPr dirty="0" err="1"/>
              <a:t>الکامل</a:t>
            </a:r>
            <a:r>
              <a:rPr dirty="0"/>
              <a:t> </a:t>
            </a:r>
            <a:r>
              <a:rPr dirty="0" err="1"/>
              <a:t>فی</a:t>
            </a:r>
            <a:r>
              <a:rPr dirty="0"/>
              <a:t> </a:t>
            </a:r>
            <a:r>
              <a:rPr dirty="0" err="1"/>
              <a:t>التاریخ</a:t>
            </a:r>
            <a:r>
              <a:rPr dirty="0"/>
              <a:t> ج۲ ص۲۱۵</a:t>
            </a:r>
          </a:p>
          <a:p>
            <a:endParaRPr dirty="0"/>
          </a:p>
          <a:p>
            <a:r>
              <a:rPr dirty="0" err="1"/>
              <a:t>عبرت</a:t>
            </a:r>
            <a:r>
              <a:rPr dirty="0"/>
              <a:t> — The false prophet needed someone with the </a:t>
            </a:r>
            <a:r>
              <a:rPr dirty="0" err="1"/>
              <a:t>Qurʾān</a:t>
            </a:r>
            <a:r>
              <a:rPr dirty="0"/>
              <a:t> to vouch for him, and that man did more damage than he did.</a:t>
            </a:r>
          </a:p>
          <a:p>
            <a:endParaRPr dirty="0"/>
          </a:p>
          <a:p>
            <a:r>
              <a:rPr dirty="0"/>
              <a:t>HANDS UP — Before beat 5: *"Why would a whole tribe believe it from him?"*</a:t>
            </a:r>
          </a:p>
          <a:p>
            <a:endParaRPr dirty="0"/>
          </a:p>
          <a:p>
            <a:r>
              <a:rPr dirty="0"/>
              <a:t>MAP — No movement. Hold on the broken line.</a:t>
            </a:r>
          </a:p>
          <a:p>
            <a:endParaRPr dirty="0"/>
          </a:p>
          <a:p>
            <a:r>
              <a:rPr dirty="0"/>
              <a:t>**Also on the page:** «</a:t>
            </a:r>
            <a:r>
              <a:rPr dirty="0" err="1"/>
              <a:t>وقد</a:t>
            </a:r>
            <a:r>
              <a:rPr dirty="0"/>
              <a:t> </a:t>
            </a:r>
            <a:r>
              <a:rPr dirty="0" err="1"/>
              <a:t>قُتل</a:t>
            </a:r>
            <a:r>
              <a:rPr dirty="0"/>
              <a:t> </a:t>
            </a:r>
            <a:r>
              <a:rPr dirty="0" err="1"/>
              <a:t>الرَّجَّالُ</a:t>
            </a:r>
            <a:r>
              <a:rPr dirty="0"/>
              <a:t> </a:t>
            </a:r>
            <a:r>
              <a:rPr dirty="0" err="1"/>
              <a:t>بن</a:t>
            </a:r>
            <a:r>
              <a:rPr dirty="0"/>
              <a:t> </a:t>
            </a:r>
            <a:r>
              <a:rPr dirty="0" err="1"/>
              <a:t>عنفوة</a:t>
            </a:r>
            <a:r>
              <a:rPr dirty="0"/>
              <a:t> … </a:t>
            </a:r>
            <a:r>
              <a:rPr dirty="0" err="1"/>
              <a:t>في</a:t>
            </a:r>
            <a:r>
              <a:rPr dirty="0"/>
              <a:t> </a:t>
            </a:r>
            <a:r>
              <a:rPr dirty="0" err="1"/>
              <a:t>هذه</a:t>
            </a:r>
            <a:r>
              <a:rPr dirty="0"/>
              <a:t> </a:t>
            </a:r>
            <a:r>
              <a:rPr dirty="0" err="1"/>
              <a:t>الجولة</a:t>
            </a:r>
            <a:r>
              <a:rPr dirty="0"/>
              <a:t>، </a:t>
            </a:r>
            <a:r>
              <a:rPr dirty="0" err="1"/>
              <a:t>قتله</a:t>
            </a:r>
            <a:r>
              <a:rPr dirty="0"/>
              <a:t> </a:t>
            </a:r>
            <a:r>
              <a:rPr dirty="0" err="1"/>
              <a:t>زيدُ</a:t>
            </a:r>
            <a:r>
              <a:rPr dirty="0"/>
              <a:t> </a:t>
            </a:r>
            <a:r>
              <a:rPr dirty="0" err="1"/>
              <a:t>بن</a:t>
            </a:r>
            <a:r>
              <a:rPr dirty="0"/>
              <a:t> </a:t>
            </a:r>
            <a:r>
              <a:rPr dirty="0" err="1"/>
              <a:t>الخطاب</a:t>
            </a:r>
            <a:r>
              <a:rPr dirty="0"/>
              <a:t>» and</a:t>
            </a:r>
          </a:p>
          <a:p>
            <a:r>
              <a:rPr dirty="0"/>
              <a:t>«</a:t>
            </a:r>
            <a:r>
              <a:rPr dirty="0" err="1"/>
              <a:t>فكانت</a:t>
            </a:r>
            <a:r>
              <a:rPr dirty="0"/>
              <a:t> </a:t>
            </a:r>
            <a:r>
              <a:rPr dirty="0" err="1"/>
              <a:t>فتنةُ</a:t>
            </a:r>
            <a:r>
              <a:rPr dirty="0"/>
              <a:t> </a:t>
            </a:r>
            <a:r>
              <a:rPr dirty="0" err="1"/>
              <a:t>الرجَّال</a:t>
            </a:r>
            <a:r>
              <a:rPr dirty="0"/>
              <a:t> </a:t>
            </a:r>
            <a:r>
              <a:rPr dirty="0" err="1"/>
              <a:t>أَعظمَ</a:t>
            </a:r>
            <a:r>
              <a:rPr dirty="0"/>
              <a:t> </a:t>
            </a:r>
            <a:r>
              <a:rPr dirty="0" err="1"/>
              <a:t>من</a:t>
            </a:r>
            <a:r>
              <a:rPr dirty="0"/>
              <a:t> </a:t>
            </a:r>
            <a:r>
              <a:rPr dirty="0" err="1"/>
              <a:t>فتنة</a:t>
            </a:r>
            <a:r>
              <a:rPr dirty="0"/>
              <a:t> </a:t>
            </a:r>
            <a:r>
              <a:rPr dirty="0" err="1"/>
              <a:t>مسيلمة</a:t>
            </a:r>
            <a:r>
              <a:rPr dirty="0"/>
              <a:t>» — </a:t>
            </a:r>
            <a:r>
              <a:rPr dirty="0" err="1"/>
              <a:t>البدایہ</a:t>
            </a:r>
            <a:r>
              <a:rPr dirty="0"/>
              <a:t> ج۷ ص۳۳ · https://shamela.ws/book/30097/3179.</a:t>
            </a:r>
          </a:p>
          <a:p>
            <a:r>
              <a:rPr dirty="0"/>
              <a:t>⚠ **</a:t>
            </a:r>
            <a:r>
              <a:rPr dirty="0" err="1"/>
              <a:t>البدایہ</a:t>
            </a:r>
            <a:r>
              <a:rPr dirty="0"/>
              <a:t> ج۷ ص۳۲–۳۳ attaches a </a:t>
            </a:r>
            <a:r>
              <a:rPr dirty="0" err="1"/>
              <a:t>ḥadīth</a:t>
            </a:r>
            <a:r>
              <a:rPr dirty="0"/>
              <a:t> to him which the editor there marks «</a:t>
            </a:r>
            <a:r>
              <a:rPr dirty="0" err="1"/>
              <a:t>وإسناده</a:t>
            </a:r>
            <a:r>
              <a:rPr dirty="0"/>
              <a:t> </a:t>
            </a:r>
            <a:r>
              <a:rPr dirty="0" err="1"/>
              <a:t>ضعيف</a:t>
            </a:r>
            <a:r>
              <a:rPr dirty="0"/>
              <a:t> </a:t>
            </a:r>
            <a:r>
              <a:rPr dirty="0" err="1"/>
              <a:t>جدًّا</a:t>
            </a:r>
            <a:r>
              <a:rPr dirty="0"/>
              <a:t>».</a:t>
            </a:r>
          </a:p>
          <a:p>
            <a:r>
              <a:rPr dirty="0"/>
              <a:t>Do not use the </a:t>
            </a:r>
            <a:r>
              <a:rPr dirty="0" err="1"/>
              <a:t>ḥadīth</a:t>
            </a:r>
            <a:r>
              <a:rPr dirty="0"/>
              <a:t>.** The bare fact is in both books and is enough.</a:t>
            </a:r>
          </a:p>
          <a:p>
            <a:endParaRPr dirty="0"/>
          </a:p>
          <a:p>
            <a:r>
              <a:rPr dirty="0"/>
              <a:t>BACKGROUND (read at home, not aloud) —</a:t>
            </a:r>
          </a:p>
          <a:p>
            <a:r>
              <a:rPr dirty="0"/>
              <a:t>In that same rout, Zayd b. al-</a:t>
            </a:r>
            <a:r>
              <a:rPr dirty="0" err="1"/>
              <a:t>Khaṭṭāb</a:t>
            </a:r>
            <a:r>
              <a:rPr dirty="0"/>
              <a:t> ؓ killed a man named al-</a:t>
            </a:r>
            <a:r>
              <a:rPr dirty="0" err="1"/>
              <a:t>Rajjāl</a:t>
            </a:r>
            <a:r>
              <a:rPr dirty="0"/>
              <a:t> b. </a:t>
            </a:r>
            <a:r>
              <a:rPr dirty="0" err="1"/>
              <a:t>ʿUnfuwa</a:t>
            </a:r>
            <a:r>
              <a:rPr dirty="0"/>
              <a:t>. He was not a man of </a:t>
            </a:r>
            <a:r>
              <a:rPr dirty="0" err="1"/>
              <a:t>Banū</a:t>
            </a:r>
            <a:r>
              <a:rPr dirty="0"/>
              <a:t> </a:t>
            </a:r>
            <a:r>
              <a:rPr dirty="0" err="1"/>
              <a:t>Ḥanīfa's</a:t>
            </a:r>
            <a:r>
              <a:rPr dirty="0"/>
              <a:t> making. He had come to the Prophet ﷺ, he had recited the </a:t>
            </a:r>
            <a:r>
              <a:rPr dirty="0" err="1"/>
              <a:t>Qurʾān</a:t>
            </a:r>
            <a:r>
              <a:rPr dirty="0"/>
              <a:t>, and he had been sent as a teacher to al-</a:t>
            </a:r>
            <a:r>
              <a:rPr dirty="0" err="1"/>
              <a:t>Yamāma</a:t>
            </a:r>
            <a:r>
              <a:rPr dirty="0"/>
              <a:t>, to hold the people to Islam. ⚠ No approved page names who sent him. Instead he testified that the Prophet ﷺ had said </a:t>
            </a:r>
            <a:r>
              <a:rPr dirty="0" err="1"/>
              <a:t>Musaylima</a:t>
            </a:r>
            <a:r>
              <a:rPr dirty="0"/>
              <a:t> was made a partner with him in the matter — and because it was he who said it, they believed him. Ibn al-</a:t>
            </a:r>
            <a:r>
              <a:rPr dirty="0" err="1"/>
              <a:t>Athīr's</a:t>
            </a:r>
            <a:r>
              <a:rPr dirty="0"/>
              <a:t> verdict: he was a greater fitna upon </a:t>
            </a:r>
            <a:r>
              <a:rPr dirty="0" err="1"/>
              <a:t>Banū</a:t>
            </a:r>
            <a:r>
              <a:rPr dirty="0"/>
              <a:t> </a:t>
            </a:r>
            <a:r>
              <a:rPr dirty="0" err="1"/>
              <a:t>Ḥanīfa</a:t>
            </a:r>
            <a:r>
              <a:rPr dirty="0"/>
              <a:t> than </a:t>
            </a:r>
            <a:r>
              <a:rPr dirty="0" err="1"/>
              <a:t>Musaylima</a:t>
            </a:r>
            <a:r>
              <a:rPr dirty="0"/>
              <a:t> was. Ibn </a:t>
            </a:r>
            <a:r>
              <a:rPr dirty="0" err="1"/>
              <a:t>Kathīr</a:t>
            </a:r>
            <a:r>
              <a:rPr dirty="0"/>
              <a:t> says the same in his own words.</a:t>
            </a:r>
          </a:p>
          <a:p>
            <a:endParaRPr dirty="0"/>
          </a:p>
          <a:p>
            <a:r>
              <a:rPr dirty="0"/>
              <a:t>WHEN, as the card gives it: 11 AH→12 AH, at </a:t>
            </a:r>
            <a:r>
              <a:rPr dirty="0" err="1"/>
              <a:t>عَقْرَباء</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RUNSHEET: What re-formed the line was what the men had </a:t>
            </a:r>
            <a:r>
              <a:rPr dirty="0" err="1"/>
              <a:t>memorised</a:t>
            </a:r>
            <a:endParaRPr dirty="0"/>
          </a:p>
          <a:p>
            <a:endParaRPr dirty="0"/>
          </a:p>
          <a:p>
            <a:r>
              <a:rPr dirty="0"/>
              <a:t>SAY —</a:t>
            </a:r>
          </a:p>
          <a:p>
            <a:r>
              <a:rPr dirty="0"/>
              <a:t>1. The line has broken — And the Companions begin calling to one another across the field.</a:t>
            </a:r>
            <a:endParaRPr lang="en-US" dirty="0"/>
          </a:p>
          <a:p>
            <a:endParaRPr dirty="0"/>
          </a:p>
          <a:p>
            <a:r>
              <a:rPr dirty="0"/>
              <a:t>2. "Set us clear, </a:t>
            </a:r>
            <a:r>
              <a:rPr dirty="0" err="1"/>
              <a:t>Khālid</a:t>
            </a:r>
            <a:r>
              <a:rPr dirty="0"/>
              <a:t>!" — The call goes up from every side.</a:t>
            </a:r>
          </a:p>
          <a:p>
            <a:endParaRPr lang="en-US" dirty="0"/>
          </a:p>
          <a:p>
            <a:r>
              <a:rPr dirty="0"/>
              <a:t>3. A company cuts its way through — </a:t>
            </a:r>
            <a:r>
              <a:rPr dirty="0" err="1"/>
              <a:t>Muhājirūn</a:t>
            </a:r>
            <a:r>
              <a:rPr dirty="0"/>
              <a:t> and </a:t>
            </a:r>
            <a:r>
              <a:rPr dirty="0" err="1"/>
              <a:t>Anṣār</a:t>
            </a:r>
            <a:r>
              <a:rPr dirty="0"/>
              <a:t>, forcing a way clear.</a:t>
            </a:r>
          </a:p>
          <a:p>
            <a:endParaRPr lang="en-US" dirty="0"/>
          </a:p>
          <a:p>
            <a:r>
              <a:rPr dirty="0"/>
              <a:t>4. And they call each other by a </a:t>
            </a:r>
            <a:r>
              <a:rPr dirty="0" err="1"/>
              <a:t>sūra</a:t>
            </a:r>
            <a:r>
              <a:rPr dirty="0"/>
              <a:t> — People of </a:t>
            </a:r>
            <a:r>
              <a:rPr dirty="0" err="1"/>
              <a:t>Sūrat</a:t>
            </a:r>
            <a:r>
              <a:rPr dirty="0"/>
              <a:t> al-</a:t>
            </a:r>
            <a:r>
              <a:rPr dirty="0" err="1"/>
              <a:t>Baqara</a:t>
            </a:r>
            <a:r>
              <a:rPr dirty="0"/>
              <a:t>: today the sorcery is undone.</a:t>
            </a:r>
          </a:p>
          <a:p>
            <a:r>
              <a:rPr dirty="0"/>
              <a:t>   ^ read the Arabic on the face here</a:t>
            </a:r>
          </a:p>
          <a:p>
            <a:endParaRPr lang="en-US" dirty="0"/>
          </a:p>
          <a:p>
            <a:r>
              <a:rPr dirty="0"/>
              <a:t>5. What re-formed the army — Not an order. Men naming each other by what they had </a:t>
            </a:r>
            <a:r>
              <a:rPr dirty="0" err="1"/>
              <a:t>memorised</a:t>
            </a:r>
            <a:r>
              <a:rPr dirty="0"/>
              <a:t>.</a:t>
            </a:r>
          </a:p>
          <a:p>
            <a:endParaRPr dirty="0"/>
          </a:p>
          <a:p>
            <a:r>
              <a:rPr dirty="0"/>
              <a:t>QUOTE — </a:t>
            </a:r>
            <a:r>
              <a:rPr dirty="0" err="1"/>
              <a:t>وجعلت</a:t>
            </a:r>
            <a:r>
              <a:rPr dirty="0"/>
              <a:t> </a:t>
            </a:r>
            <a:r>
              <a:rPr dirty="0" err="1"/>
              <a:t>الصحابة</a:t>
            </a:r>
            <a:r>
              <a:rPr dirty="0"/>
              <a:t> </a:t>
            </a:r>
            <a:r>
              <a:rPr dirty="0" err="1"/>
              <a:t>يتواصَون</a:t>
            </a:r>
            <a:r>
              <a:rPr dirty="0"/>
              <a:t> </a:t>
            </a:r>
            <a:r>
              <a:rPr dirty="0" err="1"/>
              <a:t>بينهم</a:t>
            </a:r>
            <a:r>
              <a:rPr dirty="0"/>
              <a:t> </a:t>
            </a:r>
            <a:r>
              <a:rPr dirty="0" err="1"/>
              <a:t>ويقولون</a:t>
            </a:r>
            <a:r>
              <a:rPr dirty="0"/>
              <a:t>: </a:t>
            </a:r>
            <a:r>
              <a:rPr dirty="0" err="1"/>
              <a:t>يا</a:t>
            </a:r>
            <a:r>
              <a:rPr dirty="0"/>
              <a:t> </a:t>
            </a:r>
            <a:r>
              <a:rPr dirty="0" err="1"/>
              <a:t>أصحاب</a:t>
            </a:r>
            <a:r>
              <a:rPr dirty="0"/>
              <a:t> </a:t>
            </a:r>
            <a:r>
              <a:rPr dirty="0" err="1"/>
              <a:t>سورةِ</a:t>
            </a:r>
            <a:r>
              <a:rPr dirty="0"/>
              <a:t> </a:t>
            </a:r>
            <a:r>
              <a:rPr dirty="0" err="1"/>
              <a:t>البقرةِ</a:t>
            </a:r>
            <a:r>
              <a:rPr dirty="0"/>
              <a:t>، </a:t>
            </a:r>
            <a:r>
              <a:rPr dirty="0" err="1"/>
              <a:t>بَطلَ</a:t>
            </a:r>
            <a:r>
              <a:rPr dirty="0"/>
              <a:t> </a:t>
            </a:r>
            <a:r>
              <a:rPr dirty="0" err="1"/>
              <a:t>السِّحْرُ</a:t>
            </a:r>
            <a:r>
              <a:rPr dirty="0"/>
              <a:t> </a:t>
            </a:r>
            <a:r>
              <a:rPr dirty="0" err="1"/>
              <a:t>اليوم</a:t>
            </a:r>
            <a:endParaRPr dirty="0"/>
          </a:p>
          <a:p>
            <a:r>
              <a:rPr dirty="0"/>
              <a:t>"And the Companions began enjoining one another, saying: People of </a:t>
            </a:r>
            <a:r>
              <a:rPr dirty="0" err="1"/>
              <a:t>Sūrat</a:t>
            </a:r>
            <a:r>
              <a:rPr dirty="0"/>
              <a:t> al-</a:t>
            </a:r>
            <a:r>
              <a:rPr dirty="0" err="1"/>
              <a:t>Baqara</a:t>
            </a:r>
            <a:r>
              <a:rPr dirty="0"/>
              <a:t> — today the sorcery is undone."</a:t>
            </a:r>
          </a:p>
          <a:p>
            <a:r>
              <a:rPr dirty="0"/>
              <a:t>— </a:t>
            </a:r>
            <a:r>
              <a:rPr dirty="0" err="1"/>
              <a:t>البدایہ</a:t>
            </a:r>
            <a:r>
              <a:rPr dirty="0"/>
              <a:t> </a:t>
            </a:r>
            <a:r>
              <a:rPr dirty="0" err="1"/>
              <a:t>والنہایہ</a:t>
            </a:r>
            <a:r>
              <a:rPr dirty="0"/>
              <a:t> ج۷ ص۳۳</a:t>
            </a:r>
          </a:p>
          <a:p>
            <a:endParaRPr dirty="0"/>
          </a:p>
          <a:p>
            <a:r>
              <a:rPr dirty="0" err="1"/>
              <a:t>عبرت</a:t>
            </a:r>
            <a:r>
              <a:rPr dirty="0"/>
              <a:t> — When the line broke, what re-formed it was what the men had </a:t>
            </a:r>
            <a:r>
              <a:rPr dirty="0" err="1"/>
              <a:t>memorised</a:t>
            </a:r>
            <a:r>
              <a:rPr dirty="0"/>
              <a:t>.</a:t>
            </a:r>
          </a:p>
          <a:p>
            <a:endParaRPr dirty="0"/>
          </a:p>
          <a:p>
            <a:r>
              <a:rPr dirty="0"/>
              <a:t>MAP — The blue block stops going backwards and begins to re-form.</a:t>
            </a:r>
          </a:p>
          <a:p>
            <a:endParaRPr dirty="0"/>
          </a:p>
          <a:p>
            <a:r>
              <a:rPr dirty="0"/>
              <a:t>BACKGROUND (read at home, not aloud) —</a:t>
            </a:r>
          </a:p>
          <a:p>
            <a:r>
              <a:rPr dirty="0"/>
              <a:t>With the line broken, the Companions began calling to each other across the field. From every side they called to </a:t>
            </a:r>
            <a:r>
              <a:rPr dirty="0" err="1"/>
              <a:t>Khālid</a:t>
            </a:r>
            <a:r>
              <a:rPr dirty="0"/>
              <a:t> ؓ to clear them a way through. And they began enjoining one another by the thing they had in common that the </a:t>
            </a:r>
            <a:r>
              <a:rPr dirty="0" err="1"/>
              <a:t>bedouin</a:t>
            </a:r>
            <a:r>
              <a:rPr dirty="0"/>
              <a:t> contingents did not: *People of </a:t>
            </a:r>
            <a:r>
              <a:rPr dirty="0" err="1"/>
              <a:t>Sūrat</a:t>
            </a:r>
            <a:r>
              <a:rPr dirty="0"/>
              <a:t> al-</a:t>
            </a:r>
            <a:r>
              <a:rPr dirty="0" err="1"/>
              <a:t>Baqara</a:t>
            </a:r>
            <a:r>
              <a:rPr dirty="0"/>
              <a:t> — today the sorcery is undone.* The army was re-formed by men calling each other by what they had </a:t>
            </a:r>
            <a:r>
              <a:rPr dirty="0" err="1"/>
              <a:t>memorised</a:t>
            </a:r>
            <a:r>
              <a:rPr dirty="0"/>
              <a:t>.</a:t>
            </a:r>
          </a:p>
          <a:p>
            <a:endParaRPr dirty="0"/>
          </a:p>
          <a:p>
            <a:r>
              <a:rPr dirty="0"/>
              <a:t>**Also on the page:** «</a:t>
            </a:r>
            <a:r>
              <a:rPr dirty="0" err="1"/>
              <a:t>ونادَوْا</a:t>
            </a:r>
            <a:r>
              <a:rPr dirty="0"/>
              <a:t> </a:t>
            </a:r>
            <a:r>
              <a:rPr dirty="0" err="1"/>
              <a:t>من</a:t>
            </a:r>
            <a:r>
              <a:rPr dirty="0"/>
              <a:t> </a:t>
            </a:r>
            <a:r>
              <a:rPr dirty="0" err="1"/>
              <a:t>كل</a:t>
            </a:r>
            <a:r>
              <a:rPr dirty="0"/>
              <a:t> </a:t>
            </a:r>
            <a:r>
              <a:rPr dirty="0" err="1"/>
              <a:t>جانب</a:t>
            </a:r>
            <a:r>
              <a:rPr dirty="0"/>
              <a:t>: </a:t>
            </a:r>
            <a:r>
              <a:rPr dirty="0" err="1"/>
              <a:t>أخلصنا</a:t>
            </a:r>
            <a:r>
              <a:rPr dirty="0"/>
              <a:t> </a:t>
            </a:r>
            <a:r>
              <a:rPr dirty="0" err="1"/>
              <a:t>يا</a:t>
            </a:r>
            <a:r>
              <a:rPr dirty="0"/>
              <a:t> </a:t>
            </a:r>
            <a:r>
              <a:rPr dirty="0" err="1"/>
              <a:t>خالد</a:t>
            </a:r>
            <a:r>
              <a:rPr dirty="0"/>
              <a:t>» — *"and they called from every side: set us</a:t>
            </a:r>
          </a:p>
          <a:p>
            <a:r>
              <a:rPr dirty="0"/>
              <a:t>clear, </a:t>
            </a:r>
            <a:r>
              <a:rPr dirty="0" err="1"/>
              <a:t>Khālid</a:t>
            </a:r>
            <a:r>
              <a:rPr dirty="0"/>
              <a:t>!"* (</a:t>
            </a:r>
            <a:r>
              <a:rPr dirty="0" err="1"/>
              <a:t>البدایہ</a:t>
            </a:r>
            <a:r>
              <a:rPr dirty="0"/>
              <a:t> ج۷ ص۳۳ · https://shamela.ws/book/30097/3179).</a:t>
            </a:r>
          </a:p>
          <a:p>
            <a:endParaRPr dirty="0"/>
          </a:p>
          <a:p>
            <a:r>
              <a:rPr dirty="0"/>
              <a:t>WHEN, as the card gives it: 11 AH→12 AH, at </a:t>
            </a:r>
            <a:r>
              <a:rPr dirty="0" err="1"/>
              <a:t>عَقْرَباء</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RUNSHEET: ⁨</a:t>
            </a:r>
            <a:r>
              <a:rPr dirty="0" err="1"/>
              <a:t>صحيح</a:t>
            </a:r>
            <a:r>
              <a:rPr dirty="0"/>
              <a:t> </a:t>
            </a:r>
            <a:r>
              <a:rPr dirty="0" err="1"/>
              <a:t>البخاري</a:t>
            </a:r>
            <a:r>
              <a:rPr dirty="0"/>
              <a:t> 2845⁩. Give his notice first — ⁨</a:t>
            </a:r>
            <a:r>
              <a:rPr dirty="0" err="1"/>
              <a:t>خطيب</a:t>
            </a:r>
            <a:r>
              <a:rPr dirty="0"/>
              <a:t> </a:t>
            </a:r>
            <a:r>
              <a:rPr dirty="0" err="1"/>
              <a:t>الأنصار</a:t>
            </a:r>
            <a:r>
              <a:rPr dirty="0"/>
              <a:t>⁩ — and the room closes the loop from #2 itself</a:t>
            </a:r>
          </a:p>
          <a:p>
            <a:endParaRPr dirty="0"/>
          </a:p>
          <a:p>
            <a:r>
              <a:rPr dirty="0"/>
              <a:t>SAY —</a:t>
            </a:r>
          </a:p>
          <a:p>
            <a:r>
              <a:rPr dirty="0"/>
              <a:t>1. Who he was — </a:t>
            </a:r>
            <a:r>
              <a:rPr dirty="0" err="1"/>
              <a:t>Thābit</a:t>
            </a:r>
            <a:r>
              <a:rPr dirty="0"/>
              <a:t> b. Qays ؓ, the orator of the </a:t>
            </a:r>
            <a:r>
              <a:rPr dirty="0" err="1"/>
              <a:t>Anṣār</a:t>
            </a:r>
            <a:r>
              <a:rPr dirty="0"/>
              <a:t>, at </a:t>
            </a:r>
            <a:r>
              <a:rPr dirty="0" err="1"/>
              <a:t>Uḥud</a:t>
            </a:r>
            <a:r>
              <a:rPr dirty="0"/>
              <a:t> and </a:t>
            </a:r>
            <a:r>
              <a:rPr dirty="0" err="1"/>
              <a:t>Bayʿat</a:t>
            </a:r>
            <a:r>
              <a:rPr dirty="0"/>
              <a:t> al-</a:t>
            </a:r>
            <a:r>
              <a:rPr dirty="0" err="1"/>
              <a:t>Riḍwān</a:t>
            </a:r>
            <a:r>
              <a:rPr dirty="0"/>
              <a:t>, carrying their banner.</a:t>
            </a:r>
            <a:endParaRPr lang="en-US" dirty="0"/>
          </a:p>
          <a:p>
            <a:endParaRPr lang="en-US" dirty="0"/>
          </a:p>
          <a:p>
            <a:r>
              <a:rPr lang="en-US" dirty="0"/>
              <a:t>Yeh meri </a:t>
            </a:r>
            <a:r>
              <a:rPr lang="en-US" dirty="0" err="1"/>
              <a:t>taraf</a:t>
            </a:r>
            <a:r>
              <a:rPr lang="en-US" dirty="0"/>
              <a:t> se </a:t>
            </a:r>
            <a:r>
              <a:rPr lang="en-US" dirty="0" err="1"/>
              <a:t>jawab</a:t>
            </a:r>
            <a:r>
              <a:rPr lang="en-US" dirty="0"/>
              <a:t> de ga </a:t>
            </a:r>
            <a:r>
              <a:rPr lang="en-US" dirty="0" err="1"/>
              <a:t>tumhen</a:t>
            </a:r>
            <a:r>
              <a:rPr lang="en-US" dirty="0"/>
              <a:t> </a:t>
            </a:r>
          </a:p>
          <a:p>
            <a:endParaRPr dirty="0"/>
          </a:p>
          <a:p>
            <a:r>
              <a:rPr dirty="0"/>
              <a:t>2. Anas ؓ finds him — While the line is going backwards, he is perfuming himself with </a:t>
            </a:r>
            <a:r>
              <a:rPr dirty="0" err="1"/>
              <a:t>ḥanūṭ</a:t>
            </a:r>
            <a:r>
              <a:rPr dirty="0"/>
              <a:t>.</a:t>
            </a:r>
          </a:p>
          <a:p>
            <a:endParaRPr lang="en-US" dirty="0"/>
          </a:p>
          <a:p>
            <a:r>
              <a:rPr dirty="0"/>
              <a:t>3. He is putting on his shroud — The two white garments he was buried in.</a:t>
            </a:r>
          </a:p>
          <a:p>
            <a:endParaRPr lang="en-US" dirty="0"/>
          </a:p>
          <a:p>
            <a:r>
              <a:rPr dirty="0"/>
              <a:t>4. "In a moment, nephew" — Asked whether he can see what is happening.</a:t>
            </a:r>
          </a:p>
          <a:p>
            <a:endParaRPr lang="en-US" dirty="0"/>
          </a:p>
          <a:p>
            <a:r>
              <a:rPr dirty="0"/>
              <a:t>5. Then he comes forward — Past the men falling back: get out of our faces so we can strike them.</a:t>
            </a:r>
          </a:p>
          <a:p>
            <a:endParaRPr lang="en-US" dirty="0"/>
          </a:p>
          <a:p>
            <a:r>
              <a:rPr dirty="0"/>
              <a:t>6. "This is not how we used to fight with the Messenger of Allah ﷺ" — Said to a generation that knew exactly what he meant.</a:t>
            </a:r>
          </a:p>
          <a:p>
            <a:r>
              <a:rPr dirty="0"/>
              <a:t>   ^ read the Arabic on the face here</a:t>
            </a:r>
          </a:p>
          <a:p>
            <a:endParaRPr lang="en-US" dirty="0"/>
          </a:p>
          <a:p>
            <a:r>
              <a:rPr dirty="0"/>
              <a:t>7. He digs his feet in — Holding the </a:t>
            </a:r>
            <a:r>
              <a:rPr dirty="0" err="1"/>
              <a:t>Anṣār's</a:t>
            </a:r>
            <a:r>
              <a:rPr dirty="0"/>
              <a:t> banner, to the middle of his shins, and did not move.</a:t>
            </a:r>
          </a:p>
          <a:p>
            <a:endParaRPr lang="en-US" dirty="0"/>
          </a:p>
          <a:p>
            <a:r>
              <a:rPr dirty="0"/>
              <a:t>8. And was killed there — He never left the spot.</a:t>
            </a:r>
          </a:p>
          <a:p>
            <a:endParaRPr dirty="0"/>
          </a:p>
          <a:p>
            <a:r>
              <a:rPr dirty="0"/>
              <a:t>QUOTE — </a:t>
            </a:r>
            <a:r>
              <a:rPr dirty="0" err="1"/>
              <a:t>هَكَذَا</a:t>
            </a:r>
            <a:r>
              <a:rPr dirty="0"/>
              <a:t> </a:t>
            </a:r>
            <a:r>
              <a:rPr dirty="0" err="1"/>
              <a:t>عَنْ</a:t>
            </a:r>
            <a:r>
              <a:rPr dirty="0"/>
              <a:t> </a:t>
            </a:r>
            <a:r>
              <a:rPr dirty="0" err="1"/>
              <a:t>وُجُوْهِنَا</a:t>
            </a:r>
            <a:r>
              <a:rPr dirty="0"/>
              <a:t> </a:t>
            </a:r>
            <a:r>
              <a:rPr dirty="0" err="1"/>
              <a:t>نُقَارِعُ</a:t>
            </a:r>
            <a:r>
              <a:rPr dirty="0"/>
              <a:t> </a:t>
            </a:r>
            <a:r>
              <a:rPr dirty="0" err="1"/>
              <a:t>القَوْمَ</a:t>
            </a:r>
            <a:r>
              <a:rPr dirty="0"/>
              <a:t>، </a:t>
            </a:r>
            <a:r>
              <a:rPr dirty="0" err="1"/>
              <a:t>بِئْسَ</a:t>
            </a:r>
            <a:r>
              <a:rPr dirty="0"/>
              <a:t> </a:t>
            </a:r>
            <a:r>
              <a:rPr dirty="0" err="1"/>
              <a:t>مَا</a:t>
            </a:r>
            <a:r>
              <a:rPr dirty="0"/>
              <a:t> </a:t>
            </a:r>
            <a:r>
              <a:rPr dirty="0" err="1"/>
              <a:t>عَوَّدْتُم</a:t>
            </a:r>
            <a:r>
              <a:rPr dirty="0"/>
              <a:t> </a:t>
            </a:r>
            <a:r>
              <a:rPr dirty="0" err="1"/>
              <a:t>أَقْرَانَكُم</a:t>
            </a:r>
            <a:r>
              <a:rPr dirty="0"/>
              <a:t>، </a:t>
            </a:r>
            <a:r>
              <a:rPr dirty="0" err="1"/>
              <a:t>مَا</a:t>
            </a:r>
            <a:r>
              <a:rPr dirty="0"/>
              <a:t> </a:t>
            </a:r>
            <a:r>
              <a:rPr dirty="0" err="1"/>
              <a:t>هَكَذَا</a:t>
            </a:r>
            <a:r>
              <a:rPr dirty="0"/>
              <a:t> </a:t>
            </a:r>
            <a:r>
              <a:rPr dirty="0" err="1"/>
              <a:t>كُنَّا</a:t>
            </a:r>
            <a:r>
              <a:rPr dirty="0"/>
              <a:t> </a:t>
            </a:r>
            <a:r>
              <a:rPr dirty="0" err="1"/>
              <a:t>نُقَاتِلُ</a:t>
            </a:r>
            <a:r>
              <a:rPr dirty="0"/>
              <a:t> </a:t>
            </a:r>
            <a:r>
              <a:rPr dirty="0" err="1"/>
              <a:t>مَعَ</a:t>
            </a:r>
            <a:r>
              <a:rPr dirty="0"/>
              <a:t> </a:t>
            </a:r>
            <a:r>
              <a:rPr dirty="0" err="1"/>
              <a:t>رَسُوْلِ</a:t>
            </a:r>
            <a:r>
              <a:rPr dirty="0"/>
              <a:t> </a:t>
            </a:r>
            <a:r>
              <a:rPr dirty="0" err="1"/>
              <a:t>اللهِ</a:t>
            </a:r>
            <a:r>
              <a:rPr dirty="0"/>
              <a:t> ﷺ.</a:t>
            </a:r>
          </a:p>
          <a:p>
            <a:r>
              <a:rPr dirty="0"/>
              <a:t>"Get out of our faces so we can strike the enemy. Wretched is what you have accustomed your opponents to! This is not how we used to fight alongside the Messenger of Allah ﷺ."</a:t>
            </a:r>
          </a:p>
          <a:p>
            <a:r>
              <a:rPr dirty="0"/>
              <a:t>— </a:t>
            </a:r>
            <a:r>
              <a:rPr dirty="0" err="1"/>
              <a:t>سیر</a:t>
            </a:r>
            <a:r>
              <a:rPr dirty="0"/>
              <a:t> </a:t>
            </a:r>
            <a:r>
              <a:rPr dirty="0" err="1"/>
              <a:t>أعلام</a:t>
            </a:r>
            <a:r>
              <a:rPr dirty="0"/>
              <a:t> </a:t>
            </a:r>
            <a:r>
              <a:rPr dirty="0" err="1"/>
              <a:t>النبلاء</a:t>
            </a:r>
            <a:r>
              <a:rPr dirty="0"/>
              <a:t> ج۱ ص۳۱۱ — **</a:t>
            </a:r>
            <a:r>
              <a:rPr dirty="0" err="1"/>
              <a:t>صحيح</a:t>
            </a:r>
            <a:r>
              <a:rPr dirty="0"/>
              <a:t> </a:t>
            </a:r>
            <a:r>
              <a:rPr dirty="0" err="1"/>
              <a:t>البخاري</a:t>
            </a:r>
            <a:r>
              <a:rPr dirty="0"/>
              <a:t> ٢٨٤٥**</a:t>
            </a:r>
          </a:p>
          <a:p>
            <a:endParaRPr dirty="0"/>
          </a:p>
          <a:p>
            <a:r>
              <a:rPr dirty="0" err="1"/>
              <a:t>عبرت</a:t>
            </a:r>
            <a:r>
              <a:rPr dirty="0"/>
              <a:t> — He did not tell them what to do; he told them what they had already been.</a:t>
            </a:r>
          </a:p>
          <a:p>
            <a:endParaRPr dirty="0"/>
          </a:p>
          <a:p>
            <a:r>
              <a:rPr dirty="0"/>
              <a:t>MAP — No movement. Hold the map still on </a:t>
            </a:r>
            <a:r>
              <a:rPr dirty="0" err="1"/>
              <a:t>عَقْرَباء</a:t>
            </a:r>
            <a:r>
              <a:rPr dirty="0"/>
              <a:t> for this card.</a:t>
            </a:r>
          </a:p>
          <a:p>
            <a:endParaRPr dirty="0"/>
          </a:p>
          <a:p>
            <a:r>
              <a:rPr dirty="0"/>
              <a:t>BACKGROUND (read at home, not aloud) —</a:t>
            </a:r>
          </a:p>
          <a:p>
            <a:r>
              <a:rPr dirty="0" err="1"/>
              <a:t>Thābit</a:t>
            </a:r>
            <a:r>
              <a:rPr dirty="0"/>
              <a:t> b. Qays b. </a:t>
            </a:r>
            <a:r>
              <a:rPr dirty="0" err="1"/>
              <a:t>Shammās</a:t>
            </a:r>
            <a:r>
              <a:rPr dirty="0"/>
              <a:t> ؓ was the orator of the </a:t>
            </a:r>
            <a:r>
              <a:rPr dirty="0" err="1"/>
              <a:t>Anṣār</a:t>
            </a:r>
            <a:r>
              <a:rPr dirty="0"/>
              <a:t> — of the </a:t>
            </a:r>
            <a:r>
              <a:rPr dirty="0" err="1"/>
              <a:t>Khazraj</a:t>
            </a:r>
            <a:r>
              <a:rPr dirty="0"/>
              <a:t>; not at Badr, and at </a:t>
            </a:r>
            <a:r>
              <a:rPr dirty="0" err="1"/>
              <a:t>Uḥud</a:t>
            </a:r>
            <a:r>
              <a:rPr dirty="0"/>
              <a:t> and at </a:t>
            </a:r>
            <a:r>
              <a:rPr dirty="0" err="1"/>
              <a:t>Bayʿat</a:t>
            </a:r>
            <a:r>
              <a:rPr dirty="0"/>
              <a:t> al-</a:t>
            </a:r>
            <a:r>
              <a:rPr dirty="0" err="1"/>
              <a:t>Riḍwān</a:t>
            </a:r>
            <a:r>
              <a:rPr dirty="0"/>
              <a:t>. (⁨</a:t>
            </a:r>
            <a:r>
              <a:rPr dirty="0" err="1"/>
              <a:t>سیر</a:t>
            </a:r>
            <a:r>
              <a:rPr dirty="0"/>
              <a:t> ج۱ ص۳۰۹⁩ gives two reports about his mother; on the second of them — «⁨</a:t>
            </a:r>
            <a:r>
              <a:rPr dirty="0" err="1"/>
              <a:t>وقيل</a:t>
            </a:r>
            <a:r>
              <a:rPr dirty="0"/>
              <a:t>⁩» — </a:t>
            </a:r>
            <a:r>
              <a:rPr dirty="0" err="1"/>
              <a:t>ʿAbdallāh</a:t>
            </a:r>
            <a:r>
              <a:rPr dirty="0"/>
              <a:t> b. </a:t>
            </a:r>
            <a:r>
              <a:rPr dirty="0" err="1"/>
              <a:t>Rawāḥa</a:t>
            </a:r>
            <a:r>
              <a:rPr dirty="0"/>
              <a:t> ؓ is his brother by her. Say it with the «⁨</a:t>
            </a:r>
            <a:r>
              <a:rPr dirty="0" err="1"/>
              <a:t>وقيل</a:t>
            </a:r>
            <a:r>
              <a:rPr dirty="0"/>
              <a:t>⁩» attached, or not at all.) He carried the </a:t>
            </a:r>
            <a:r>
              <a:rPr dirty="0" err="1"/>
              <a:t>Anṣār's</a:t>
            </a:r>
            <a:r>
              <a:rPr dirty="0"/>
              <a:t> banner that day. Anas ؓ came to him while the line was going backwards and found him rubbing himself with burial perfume. He had put on two white garments — the ones he was buried in. Anas ؓ said: do you not see what is happening? He said: in a moment, nephew. Then he came forward past the men who were falling back, told them to get out of his way, and said the thing everyone in that generation would have understood: this is not how we used to fight alongside the Messenger of Allah ﷺ. Then he took the </a:t>
            </a:r>
            <a:r>
              <a:rPr dirty="0" err="1"/>
              <a:t>Anṣār's</a:t>
            </a:r>
            <a:r>
              <a:rPr dirty="0"/>
              <a:t> banner, dug his feet into the ground to the middle of his shins, and did not move from there until he was killed.</a:t>
            </a:r>
          </a:p>
          <a:p>
            <a:endParaRPr dirty="0"/>
          </a:p>
          <a:p>
            <a:r>
              <a:rPr dirty="0"/>
              <a:t>**His </a:t>
            </a:r>
            <a:r>
              <a:rPr dirty="0" err="1"/>
              <a:t>تراجم</a:t>
            </a:r>
            <a:r>
              <a:rPr dirty="0"/>
              <a:t> notice, for the one breath:**</a:t>
            </a:r>
          </a:p>
          <a:p>
            <a:endParaRPr dirty="0"/>
          </a:p>
          <a:p>
            <a:r>
              <a:rPr dirty="0"/>
              <a:t>&gt; </a:t>
            </a:r>
            <a:r>
              <a:rPr dirty="0" err="1"/>
              <a:t>خَطِيْبُ</a:t>
            </a:r>
            <a:r>
              <a:rPr dirty="0"/>
              <a:t> </a:t>
            </a:r>
            <a:r>
              <a:rPr dirty="0" err="1"/>
              <a:t>الأَنْصَارِ</a:t>
            </a:r>
            <a:r>
              <a:rPr dirty="0"/>
              <a:t>، </a:t>
            </a:r>
            <a:r>
              <a:rPr dirty="0" err="1"/>
              <a:t>كَانَ</a:t>
            </a:r>
            <a:r>
              <a:rPr dirty="0"/>
              <a:t> </a:t>
            </a:r>
            <a:r>
              <a:rPr dirty="0" err="1"/>
              <a:t>مِنْ</a:t>
            </a:r>
            <a:r>
              <a:rPr dirty="0"/>
              <a:t> </a:t>
            </a:r>
            <a:r>
              <a:rPr dirty="0" err="1"/>
              <a:t>نُجَبَاءِ</a:t>
            </a:r>
            <a:r>
              <a:rPr dirty="0"/>
              <a:t> </a:t>
            </a:r>
            <a:r>
              <a:rPr dirty="0" err="1"/>
              <a:t>أَصْحَابِ</a:t>
            </a:r>
            <a:r>
              <a:rPr dirty="0"/>
              <a:t> </a:t>
            </a:r>
            <a:r>
              <a:rPr dirty="0" err="1"/>
              <a:t>مُحَمَّدٍ</a:t>
            </a:r>
            <a:r>
              <a:rPr dirty="0"/>
              <a:t> -</a:t>
            </a:r>
            <a:r>
              <a:rPr dirty="0" err="1"/>
              <a:t>صَلَّى</a:t>
            </a:r>
            <a:r>
              <a:rPr dirty="0"/>
              <a:t> </a:t>
            </a:r>
            <a:r>
              <a:rPr dirty="0" err="1"/>
              <a:t>اللَّهُ</a:t>
            </a:r>
            <a:r>
              <a:rPr dirty="0"/>
              <a:t> </a:t>
            </a:r>
            <a:r>
              <a:rPr dirty="0" err="1"/>
              <a:t>عَلَيْهِ</a:t>
            </a:r>
            <a:r>
              <a:rPr dirty="0"/>
              <a:t> </a:t>
            </a:r>
            <a:r>
              <a:rPr dirty="0" err="1"/>
              <a:t>وَسَلَّمَ</a:t>
            </a:r>
            <a:r>
              <a:rPr dirty="0"/>
              <a:t>- </a:t>
            </a:r>
            <a:r>
              <a:rPr dirty="0" err="1"/>
              <a:t>وَلَمْ</a:t>
            </a:r>
            <a:r>
              <a:rPr dirty="0"/>
              <a:t> </a:t>
            </a:r>
            <a:r>
              <a:rPr dirty="0" err="1"/>
              <a:t>يَشْهَدْ</a:t>
            </a:r>
            <a:r>
              <a:rPr dirty="0"/>
              <a:t> </a:t>
            </a:r>
            <a:r>
              <a:rPr dirty="0" err="1"/>
              <a:t>بَدْراً</a:t>
            </a:r>
            <a:r>
              <a:rPr dirty="0"/>
              <a:t>، </a:t>
            </a:r>
            <a:r>
              <a:rPr dirty="0" err="1"/>
              <a:t>شَهِدَ</a:t>
            </a:r>
            <a:r>
              <a:rPr dirty="0"/>
              <a:t> </a:t>
            </a:r>
            <a:r>
              <a:rPr dirty="0" err="1"/>
              <a:t>أُحُداً</a:t>
            </a:r>
            <a:r>
              <a:rPr dirty="0"/>
              <a:t>، </a:t>
            </a:r>
            <a:r>
              <a:rPr dirty="0" err="1"/>
              <a:t>وَبَيْعَةَ</a:t>
            </a:r>
            <a:r>
              <a:rPr dirty="0"/>
              <a:t> </a:t>
            </a:r>
            <a:r>
              <a:rPr dirty="0" err="1"/>
              <a:t>الرُّضْوَانِ</a:t>
            </a:r>
            <a:r>
              <a:rPr dirty="0"/>
              <a:t>.</a:t>
            </a:r>
          </a:p>
          <a:p>
            <a:r>
              <a:rPr dirty="0"/>
              <a:t>&gt; — </a:t>
            </a:r>
            <a:r>
              <a:rPr dirty="0" err="1"/>
              <a:t>سیر</a:t>
            </a:r>
            <a:r>
              <a:rPr dirty="0"/>
              <a:t> </a:t>
            </a:r>
            <a:r>
              <a:rPr dirty="0" err="1"/>
              <a:t>أعلام</a:t>
            </a:r>
            <a:r>
              <a:rPr dirty="0"/>
              <a:t> </a:t>
            </a:r>
            <a:r>
              <a:rPr dirty="0" err="1"/>
              <a:t>النبلاء</a:t>
            </a:r>
            <a:r>
              <a:rPr dirty="0"/>
              <a:t> ج۱ ص۳۰۹ · https://shamela.ws/book/10906/1735</a:t>
            </a:r>
          </a:p>
          <a:p>
            <a:r>
              <a:rPr dirty="0"/>
              <a:t>&gt; *English:* "The orator of the </a:t>
            </a:r>
            <a:r>
              <a:rPr dirty="0" err="1"/>
              <a:t>Anṣār</a:t>
            </a:r>
            <a:r>
              <a:rPr dirty="0"/>
              <a:t>. He was among the noblest of </a:t>
            </a:r>
            <a:r>
              <a:rPr dirty="0" err="1"/>
              <a:t>Muḥammad's</a:t>
            </a:r>
            <a:r>
              <a:rPr dirty="0"/>
              <a:t> ﷺ Companions. He was</a:t>
            </a:r>
          </a:p>
          <a:p>
            <a:r>
              <a:rPr dirty="0"/>
              <a:t>&gt; not at Badr; he was at </a:t>
            </a:r>
            <a:r>
              <a:rPr dirty="0" err="1"/>
              <a:t>Uḥud</a:t>
            </a:r>
            <a:r>
              <a:rPr dirty="0"/>
              <a:t> and at </a:t>
            </a:r>
            <a:r>
              <a:rPr dirty="0" err="1"/>
              <a:t>Bayʿat</a:t>
            </a:r>
            <a:r>
              <a:rPr dirty="0"/>
              <a:t> al-</a:t>
            </a:r>
            <a:r>
              <a:rPr dirty="0" err="1"/>
              <a:t>Riḍwān</a:t>
            </a:r>
            <a:r>
              <a:rPr dirty="0"/>
              <a:t>."</a:t>
            </a:r>
          </a:p>
          <a:p>
            <a:endParaRPr dirty="0"/>
          </a:p>
          <a:p>
            <a:r>
              <a:rPr dirty="0"/>
              <a:t>His mother's other sons were </a:t>
            </a:r>
            <a:r>
              <a:rPr dirty="0" err="1"/>
              <a:t>عبد</a:t>
            </a:r>
            <a:r>
              <a:rPr dirty="0"/>
              <a:t> </a:t>
            </a:r>
            <a:r>
              <a:rPr dirty="0" err="1"/>
              <a:t>الله</a:t>
            </a:r>
            <a:r>
              <a:rPr dirty="0"/>
              <a:t> </a:t>
            </a:r>
            <a:r>
              <a:rPr dirty="0" err="1"/>
              <a:t>بن</a:t>
            </a:r>
            <a:r>
              <a:rPr dirty="0"/>
              <a:t> </a:t>
            </a:r>
            <a:r>
              <a:rPr dirty="0" err="1"/>
              <a:t>رواحة</a:t>
            </a:r>
            <a:r>
              <a:rPr dirty="0"/>
              <a:t> ؓ and </a:t>
            </a:r>
            <a:r>
              <a:rPr dirty="0" err="1"/>
              <a:t>عمرة</a:t>
            </a:r>
            <a:r>
              <a:rPr dirty="0"/>
              <a:t> </a:t>
            </a:r>
            <a:r>
              <a:rPr dirty="0" err="1"/>
              <a:t>بنت</a:t>
            </a:r>
            <a:r>
              <a:rPr dirty="0"/>
              <a:t> </a:t>
            </a:r>
            <a:r>
              <a:rPr dirty="0" err="1"/>
              <a:t>رواحة</a:t>
            </a:r>
            <a:r>
              <a:rPr dirty="0"/>
              <a:t> (same page). **He is also the</a:t>
            </a:r>
          </a:p>
          <a:p>
            <a:r>
              <a:rPr dirty="0"/>
              <a:t>Companion standing beside the Prophet ﷺ in `ATA/E-TB16`** — tell that card first and let the room make</a:t>
            </a:r>
          </a:p>
          <a:p>
            <a:r>
              <a:rPr dirty="0"/>
              <a:t>the connection itself.</a:t>
            </a:r>
          </a:p>
          <a:p>
            <a:r>
              <a:rPr dirty="0"/>
              <a:t>**Also on the page:** </a:t>
            </a:r>
            <a:r>
              <a:rPr dirty="0" err="1"/>
              <a:t>الکامل</a:t>
            </a:r>
            <a:r>
              <a:rPr dirty="0"/>
              <a:t> ج۲ ص۲۱۷ has him adding that he dissociated himself before Allah from what</a:t>
            </a:r>
          </a:p>
          <a:p>
            <a:r>
              <a:rPr dirty="0"/>
              <a:t>**both** armies were doing that day. And </a:t>
            </a:r>
            <a:r>
              <a:rPr dirty="0" err="1"/>
              <a:t>البدایہ</a:t>
            </a:r>
            <a:r>
              <a:rPr dirty="0"/>
              <a:t> ج۷ ص۳۳–۳۴ has him holding the position: «</a:t>
            </a:r>
            <a:r>
              <a:rPr dirty="0" err="1"/>
              <a:t>وحفر</a:t>
            </a:r>
            <a:r>
              <a:rPr dirty="0"/>
              <a:t> </a:t>
            </a:r>
            <a:r>
              <a:rPr dirty="0" err="1"/>
              <a:t>ثابتُ</a:t>
            </a:r>
            <a:endParaRPr dirty="0"/>
          </a:p>
          <a:p>
            <a:r>
              <a:rPr dirty="0" err="1"/>
              <a:t>بن</a:t>
            </a:r>
            <a:r>
              <a:rPr dirty="0"/>
              <a:t> </a:t>
            </a:r>
            <a:r>
              <a:rPr dirty="0" err="1"/>
              <a:t>قيس</a:t>
            </a:r>
            <a:r>
              <a:rPr dirty="0"/>
              <a:t> </a:t>
            </a:r>
            <a:r>
              <a:rPr dirty="0" err="1"/>
              <a:t>لقدميه</a:t>
            </a:r>
            <a:r>
              <a:rPr dirty="0"/>
              <a:t> </a:t>
            </a:r>
            <a:r>
              <a:rPr dirty="0" err="1"/>
              <a:t>في</a:t>
            </a:r>
            <a:r>
              <a:rPr dirty="0"/>
              <a:t> </a:t>
            </a:r>
            <a:r>
              <a:rPr dirty="0" err="1"/>
              <a:t>الأرض</a:t>
            </a:r>
            <a:r>
              <a:rPr dirty="0"/>
              <a:t> </a:t>
            </a:r>
            <a:r>
              <a:rPr dirty="0" err="1"/>
              <a:t>إلى</a:t>
            </a:r>
            <a:r>
              <a:rPr dirty="0"/>
              <a:t> </a:t>
            </a:r>
            <a:r>
              <a:rPr dirty="0" err="1"/>
              <a:t>أنصافِ</a:t>
            </a:r>
            <a:r>
              <a:rPr dirty="0"/>
              <a:t> </a:t>
            </a:r>
            <a:r>
              <a:rPr dirty="0" err="1"/>
              <a:t>ساقَيْه</a:t>
            </a:r>
            <a:r>
              <a:rPr dirty="0"/>
              <a:t>، </a:t>
            </a:r>
            <a:r>
              <a:rPr dirty="0" err="1"/>
              <a:t>وهو</a:t>
            </a:r>
            <a:r>
              <a:rPr dirty="0"/>
              <a:t> </a:t>
            </a:r>
            <a:r>
              <a:rPr dirty="0" err="1"/>
              <a:t>حاملُ</a:t>
            </a:r>
            <a:r>
              <a:rPr dirty="0"/>
              <a:t> </a:t>
            </a:r>
            <a:r>
              <a:rPr dirty="0" err="1"/>
              <a:t>لواءِ</a:t>
            </a:r>
            <a:r>
              <a:rPr dirty="0"/>
              <a:t> </a:t>
            </a:r>
            <a:r>
              <a:rPr dirty="0" err="1"/>
              <a:t>الأنصارِ</a:t>
            </a:r>
            <a:r>
              <a:rPr dirty="0"/>
              <a:t> </a:t>
            </a:r>
            <a:r>
              <a:rPr dirty="0" err="1"/>
              <a:t>بعدما</a:t>
            </a:r>
            <a:r>
              <a:rPr dirty="0"/>
              <a:t> </a:t>
            </a:r>
            <a:r>
              <a:rPr dirty="0" err="1"/>
              <a:t>تحنَّطَ</a:t>
            </a:r>
            <a:r>
              <a:rPr dirty="0"/>
              <a:t> </a:t>
            </a:r>
            <a:r>
              <a:rPr dirty="0" err="1"/>
              <a:t>وَتكفَّنَ</a:t>
            </a:r>
            <a:r>
              <a:rPr dirty="0"/>
              <a:t>»</a:t>
            </a:r>
          </a:p>
          <a:p>
            <a:r>
              <a:rPr dirty="0"/>
              <a:t>(https://shamela.ws/book/30097/3179).</a:t>
            </a:r>
          </a:p>
          <a:p>
            <a:endParaRPr dirty="0"/>
          </a:p>
          <a:p>
            <a:r>
              <a:rPr dirty="0"/>
              <a:t>WHEN, as the card gives it: 11 AH→12 AH, at </a:t>
            </a:r>
            <a:r>
              <a:rPr dirty="0" err="1"/>
              <a:t>عَقْرَباء</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RUNSHEET: One sentence of the ⁨</a:t>
            </a:r>
            <a:r>
              <a:rPr dirty="0" err="1"/>
              <a:t>سیر</a:t>
            </a:r>
            <a:r>
              <a:rPr dirty="0"/>
              <a:t>⁩ notice, not the whole of it</a:t>
            </a:r>
          </a:p>
          <a:p>
            <a:endParaRPr dirty="0"/>
          </a:p>
          <a:p>
            <a:r>
              <a:rPr dirty="0"/>
              <a:t>SAY —</a:t>
            </a:r>
          </a:p>
          <a:p>
            <a:r>
              <a:rPr dirty="0"/>
              <a:t>1. The question put to him — Do you fear we shall be broken from your side?</a:t>
            </a:r>
            <a:endParaRPr lang="en-US" dirty="0"/>
          </a:p>
          <a:p>
            <a:endParaRPr dirty="0"/>
          </a:p>
          <a:p>
            <a:r>
              <a:rPr dirty="0"/>
              <a:t>2. His answer — A wretched bearer of the </a:t>
            </a:r>
            <a:r>
              <a:rPr dirty="0" err="1"/>
              <a:t>Qurʾān</a:t>
            </a:r>
            <a:r>
              <a:rPr dirty="0"/>
              <a:t> I should be, then.</a:t>
            </a:r>
          </a:p>
          <a:p>
            <a:r>
              <a:rPr dirty="0"/>
              <a:t>   ^ read the Arabic on the face here</a:t>
            </a:r>
          </a:p>
          <a:p>
            <a:endParaRPr lang="en-US" dirty="0"/>
          </a:p>
          <a:p>
            <a:r>
              <a:rPr dirty="0"/>
              <a:t>3. Who he was — The freedman of </a:t>
            </a:r>
            <a:r>
              <a:rPr dirty="0" err="1"/>
              <a:t>Abū</a:t>
            </a:r>
            <a:r>
              <a:rPr dirty="0"/>
              <a:t> </a:t>
            </a:r>
            <a:r>
              <a:rPr dirty="0" err="1"/>
              <a:t>Ḥudhayfa</a:t>
            </a:r>
            <a:r>
              <a:rPr dirty="0"/>
              <a:t> ؓ, and the best reciter among the </a:t>
            </a:r>
            <a:r>
              <a:rPr dirty="0" err="1"/>
              <a:t>Muhājirūn</a:t>
            </a:r>
            <a:r>
              <a:rPr dirty="0"/>
              <a:t>.</a:t>
            </a:r>
          </a:p>
          <a:p>
            <a:endParaRPr lang="en-US" dirty="0"/>
          </a:p>
          <a:p>
            <a:r>
              <a:rPr dirty="0"/>
              <a:t>4. He led them in prayer at </a:t>
            </a:r>
            <a:r>
              <a:rPr dirty="0" err="1"/>
              <a:t>Qubāʾ</a:t>
            </a:r>
            <a:r>
              <a:rPr dirty="0"/>
              <a:t> — Before the Prophet ﷺ arrived, because he carried the most </a:t>
            </a:r>
            <a:r>
              <a:rPr dirty="0" err="1"/>
              <a:t>Qurʾān</a:t>
            </a:r>
            <a:r>
              <a:rPr dirty="0"/>
              <a:t>.</a:t>
            </a:r>
          </a:p>
          <a:p>
            <a:endParaRPr lang="en-US" dirty="0"/>
          </a:p>
          <a:p>
            <a:r>
              <a:rPr dirty="0"/>
              <a:t>5. The Prophet ﷺ went out at night to listen to him — One line, and the room knows what was lost.</a:t>
            </a:r>
            <a:r>
              <a:rPr lang="en-US" dirty="0"/>
              <a:t> And Aisha as well. May Allah be pleased with her.</a:t>
            </a:r>
            <a:endParaRPr dirty="0"/>
          </a:p>
          <a:p>
            <a:endParaRPr lang="en-US" dirty="0"/>
          </a:p>
          <a:p>
            <a:r>
              <a:rPr dirty="0"/>
              <a:t>6. He was killed there — Holding the banner he had been asked about.</a:t>
            </a:r>
          </a:p>
          <a:p>
            <a:endParaRPr dirty="0"/>
          </a:p>
          <a:p>
            <a:r>
              <a:rPr dirty="0"/>
              <a:t>QUOTE — </a:t>
            </a:r>
            <a:r>
              <a:rPr dirty="0" err="1"/>
              <a:t>وقال</a:t>
            </a:r>
            <a:r>
              <a:rPr dirty="0"/>
              <a:t> </a:t>
            </a:r>
            <a:r>
              <a:rPr dirty="0" err="1"/>
              <a:t>المهاجرون</a:t>
            </a:r>
            <a:r>
              <a:rPr dirty="0"/>
              <a:t> </a:t>
            </a:r>
            <a:r>
              <a:rPr dirty="0" err="1"/>
              <a:t>لسالم</a:t>
            </a:r>
            <a:r>
              <a:rPr dirty="0"/>
              <a:t> </a:t>
            </a:r>
            <a:r>
              <a:rPr dirty="0" err="1"/>
              <a:t>مولى</a:t>
            </a:r>
            <a:r>
              <a:rPr dirty="0"/>
              <a:t> </a:t>
            </a:r>
            <a:r>
              <a:rPr dirty="0" err="1"/>
              <a:t>أبي</a:t>
            </a:r>
            <a:r>
              <a:rPr dirty="0"/>
              <a:t> </a:t>
            </a:r>
            <a:r>
              <a:rPr dirty="0" err="1"/>
              <a:t>حذيفة</a:t>
            </a:r>
            <a:r>
              <a:rPr dirty="0"/>
              <a:t>: </a:t>
            </a:r>
            <a:r>
              <a:rPr dirty="0" err="1"/>
              <a:t>أتخشى</a:t>
            </a:r>
            <a:r>
              <a:rPr dirty="0"/>
              <a:t> </a:t>
            </a:r>
            <a:r>
              <a:rPr dirty="0" err="1"/>
              <a:t>أن</a:t>
            </a:r>
            <a:r>
              <a:rPr dirty="0"/>
              <a:t> </a:t>
            </a:r>
            <a:r>
              <a:rPr dirty="0" err="1"/>
              <a:t>نؤتى</a:t>
            </a:r>
            <a:r>
              <a:rPr dirty="0"/>
              <a:t> </a:t>
            </a:r>
            <a:r>
              <a:rPr dirty="0" err="1"/>
              <a:t>من</a:t>
            </a:r>
            <a:r>
              <a:rPr dirty="0"/>
              <a:t> </a:t>
            </a:r>
            <a:r>
              <a:rPr dirty="0" err="1"/>
              <a:t>قبلك</a:t>
            </a:r>
            <a:r>
              <a:rPr dirty="0"/>
              <a:t>؟ </a:t>
            </a:r>
            <a:r>
              <a:rPr dirty="0" err="1"/>
              <a:t>فقال</a:t>
            </a:r>
            <a:r>
              <a:rPr dirty="0"/>
              <a:t>: </a:t>
            </a:r>
            <a:r>
              <a:rPr dirty="0" err="1"/>
              <a:t>بئس</a:t>
            </a:r>
            <a:r>
              <a:rPr dirty="0"/>
              <a:t> </a:t>
            </a:r>
            <a:r>
              <a:rPr dirty="0" err="1"/>
              <a:t>حامل</a:t>
            </a:r>
            <a:r>
              <a:rPr dirty="0"/>
              <a:t> </a:t>
            </a:r>
            <a:r>
              <a:rPr dirty="0" err="1"/>
              <a:t>القرآن</a:t>
            </a:r>
            <a:r>
              <a:rPr dirty="0"/>
              <a:t> </a:t>
            </a:r>
            <a:r>
              <a:rPr dirty="0" err="1"/>
              <a:t>أنا</a:t>
            </a:r>
            <a:r>
              <a:rPr dirty="0"/>
              <a:t> </a:t>
            </a:r>
            <a:r>
              <a:rPr dirty="0" err="1"/>
              <a:t>إذًا</a:t>
            </a:r>
            <a:r>
              <a:rPr dirty="0"/>
              <a:t>.</a:t>
            </a:r>
          </a:p>
          <a:p>
            <a:r>
              <a:rPr dirty="0"/>
              <a:t>"The </a:t>
            </a:r>
            <a:r>
              <a:rPr dirty="0" err="1"/>
              <a:t>Muhājirūn</a:t>
            </a:r>
            <a:r>
              <a:rPr dirty="0"/>
              <a:t> said to </a:t>
            </a:r>
            <a:r>
              <a:rPr dirty="0" err="1"/>
              <a:t>Sālim</a:t>
            </a:r>
            <a:r>
              <a:rPr dirty="0"/>
              <a:t>, the freedman of </a:t>
            </a:r>
            <a:r>
              <a:rPr dirty="0" err="1"/>
              <a:t>Abū</a:t>
            </a:r>
            <a:r>
              <a:rPr dirty="0"/>
              <a:t> </a:t>
            </a:r>
            <a:r>
              <a:rPr dirty="0" err="1"/>
              <a:t>Ḥudhayfa</a:t>
            </a:r>
            <a:r>
              <a:rPr dirty="0"/>
              <a:t>: Do you fear we shall be broken from your side? He said: A wretched bearer of the </a:t>
            </a:r>
            <a:r>
              <a:rPr dirty="0" err="1"/>
              <a:t>Qurʾān</a:t>
            </a:r>
            <a:r>
              <a:rPr dirty="0"/>
              <a:t> I should be, then."</a:t>
            </a:r>
          </a:p>
          <a:p>
            <a:r>
              <a:rPr dirty="0"/>
              <a:t>— </a:t>
            </a:r>
            <a:r>
              <a:rPr dirty="0" err="1"/>
              <a:t>البدایہ</a:t>
            </a:r>
            <a:r>
              <a:rPr dirty="0"/>
              <a:t> </a:t>
            </a:r>
            <a:r>
              <a:rPr dirty="0" err="1"/>
              <a:t>والنہایہ</a:t>
            </a:r>
            <a:r>
              <a:rPr dirty="0"/>
              <a:t> ج۷ ص۳۴</a:t>
            </a:r>
          </a:p>
          <a:p>
            <a:endParaRPr dirty="0"/>
          </a:p>
          <a:p>
            <a:r>
              <a:rPr dirty="0" err="1"/>
              <a:t>عبرت</a:t>
            </a:r>
            <a:r>
              <a:rPr dirty="0"/>
              <a:t> — He answered a question about the battle line with a statement about the </a:t>
            </a:r>
            <a:r>
              <a:rPr dirty="0" err="1"/>
              <a:t>Qurʾān</a:t>
            </a:r>
            <a:r>
              <a:rPr dirty="0"/>
              <a:t>, and the two were the same answer.</a:t>
            </a:r>
          </a:p>
          <a:p>
            <a:endParaRPr dirty="0"/>
          </a:p>
          <a:p>
            <a:r>
              <a:rPr dirty="0"/>
              <a:t>MAP — No movement. The </a:t>
            </a:r>
            <a:r>
              <a:rPr dirty="0" err="1"/>
              <a:t>Muhājirūn's</a:t>
            </a:r>
            <a:r>
              <a:rPr dirty="0"/>
              <a:t> banner, held.</a:t>
            </a:r>
          </a:p>
          <a:p>
            <a:endParaRPr dirty="0"/>
          </a:p>
          <a:p>
            <a:r>
              <a:rPr dirty="0"/>
              <a:t>BACKGROUND (read at home, not aloud) —</a:t>
            </a:r>
          </a:p>
          <a:p>
            <a:r>
              <a:rPr dirty="0"/>
              <a:t>The </a:t>
            </a:r>
            <a:r>
              <a:rPr dirty="0" err="1"/>
              <a:t>Muhājirūn</a:t>
            </a:r>
            <a:r>
              <a:rPr dirty="0"/>
              <a:t> asked the man holding their banner whether he was afraid the line would be broken from his side. </a:t>
            </a:r>
            <a:r>
              <a:rPr dirty="0" err="1"/>
              <a:t>Sālim</a:t>
            </a:r>
            <a:r>
              <a:rPr dirty="0"/>
              <a:t> ؓ, the freedman of </a:t>
            </a:r>
            <a:r>
              <a:rPr dirty="0" err="1"/>
              <a:t>Abū</a:t>
            </a:r>
            <a:r>
              <a:rPr dirty="0"/>
              <a:t> </a:t>
            </a:r>
            <a:r>
              <a:rPr dirty="0" err="1"/>
              <a:t>Ḥudhayfa</a:t>
            </a:r>
            <a:r>
              <a:rPr dirty="0"/>
              <a:t> ؓ, answered in six words: a wretched bearer of the </a:t>
            </a:r>
            <a:r>
              <a:rPr dirty="0" err="1"/>
              <a:t>Qurʾān</a:t>
            </a:r>
            <a:r>
              <a:rPr dirty="0"/>
              <a:t> I should be, then. This is the man the Prophet ﷺ went out at night to listen to, and the man who had led the </a:t>
            </a:r>
            <a:r>
              <a:rPr dirty="0" err="1"/>
              <a:t>Muhājirūn</a:t>
            </a:r>
            <a:r>
              <a:rPr dirty="0"/>
              <a:t> in prayer at </a:t>
            </a:r>
            <a:r>
              <a:rPr dirty="0" err="1"/>
              <a:t>Qubāʾ</a:t>
            </a:r>
            <a:r>
              <a:rPr dirty="0"/>
              <a:t> before the Prophet ﷺ arrived, because he carried more of the </a:t>
            </a:r>
            <a:r>
              <a:rPr dirty="0" err="1"/>
              <a:t>Qurʾān</a:t>
            </a:r>
            <a:r>
              <a:rPr dirty="0"/>
              <a:t> than any of them. He was killed on that field.</a:t>
            </a:r>
          </a:p>
          <a:p>
            <a:endParaRPr dirty="0"/>
          </a:p>
          <a:p>
            <a:r>
              <a:rPr dirty="0"/>
              <a:t>**Also in the books:** </a:t>
            </a:r>
            <a:r>
              <a:rPr dirty="0" err="1"/>
              <a:t>سیر</a:t>
            </a:r>
            <a:r>
              <a:rPr dirty="0"/>
              <a:t> ج۱ ص۱۶۸ — the Prophet ﷺ went out at night to the voice and found it was</a:t>
            </a:r>
          </a:p>
          <a:p>
            <a:r>
              <a:rPr dirty="0" err="1"/>
              <a:t>Sālim</a:t>
            </a:r>
            <a:r>
              <a:rPr dirty="0"/>
              <a:t> ؓ, and said «</a:t>
            </a:r>
            <a:r>
              <a:rPr dirty="0" err="1"/>
              <a:t>الحَمْدُ</a:t>
            </a:r>
            <a:r>
              <a:rPr dirty="0"/>
              <a:t> </a:t>
            </a:r>
            <a:r>
              <a:rPr dirty="0" err="1"/>
              <a:t>لِلِّهِ</a:t>
            </a:r>
            <a:r>
              <a:rPr dirty="0"/>
              <a:t> </a:t>
            </a:r>
            <a:r>
              <a:rPr dirty="0" err="1"/>
              <a:t>الَّذِي</a:t>
            </a:r>
            <a:r>
              <a:rPr dirty="0"/>
              <a:t> </a:t>
            </a:r>
            <a:r>
              <a:rPr dirty="0" err="1"/>
              <a:t>جَعَلَ</a:t>
            </a:r>
            <a:r>
              <a:rPr dirty="0"/>
              <a:t> </a:t>
            </a:r>
            <a:r>
              <a:rPr dirty="0" err="1"/>
              <a:t>فِي</a:t>
            </a:r>
            <a:r>
              <a:rPr dirty="0"/>
              <a:t> </a:t>
            </a:r>
            <a:r>
              <a:rPr dirty="0" err="1"/>
              <a:t>أُمَّتِي</a:t>
            </a:r>
            <a:r>
              <a:rPr dirty="0"/>
              <a:t> </a:t>
            </a:r>
            <a:r>
              <a:rPr dirty="0" err="1"/>
              <a:t>مِثْلَكَ</a:t>
            </a:r>
            <a:r>
              <a:rPr dirty="0"/>
              <a:t>»; al-</a:t>
            </a:r>
            <a:r>
              <a:rPr dirty="0" err="1"/>
              <a:t>Dhahabī</a:t>
            </a:r>
            <a:r>
              <a:rPr dirty="0"/>
              <a:t> grades the chain «</a:t>
            </a:r>
            <a:r>
              <a:rPr dirty="0" err="1"/>
              <a:t>إسناده</a:t>
            </a:r>
            <a:r>
              <a:rPr dirty="0"/>
              <a:t> </a:t>
            </a:r>
            <a:r>
              <a:rPr dirty="0" err="1"/>
              <a:t>جيد</a:t>
            </a:r>
            <a:r>
              <a:rPr dirty="0"/>
              <a:t>».</a:t>
            </a:r>
          </a:p>
          <a:p>
            <a:r>
              <a:rPr dirty="0"/>
              <a:t>Use one sentence of this, not the whole notice.</a:t>
            </a:r>
          </a:p>
          <a:p>
            <a:endParaRPr dirty="0"/>
          </a:p>
          <a:p>
            <a:r>
              <a:rPr dirty="0"/>
              <a:t>WHEN, as the card gives it: 11 AH→12 AH, at </a:t>
            </a:r>
            <a:r>
              <a:rPr dirty="0" err="1"/>
              <a:t>عَقْرَباء</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RUNSHEET: </a:t>
            </a:r>
            <a:r>
              <a:rPr dirty="0" err="1"/>
              <a:t>ʿUmar's</a:t>
            </a:r>
            <a:r>
              <a:rPr dirty="0"/>
              <a:t> ؓ elder brother. This is where #15's loop closes. </a:t>
            </a:r>
            <a:r>
              <a:rPr dirty="0" err="1"/>
              <a:t>ʿUmar's</a:t>
            </a:r>
            <a:r>
              <a:rPr dirty="0"/>
              <a:t> ؓ grief for him is told on evening 5, with the dead of al-</a:t>
            </a:r>
            <a:r>
              <a:rPr dirty="0" err="1"/>
              <a:t>Yamāma</a:t>
            </a:r>
            <a:endParaRPr dirty="0"/>
          </a:p>
          <a:p>
            <a:endParaRPr dirty="0"/>
          </a:p>
          <a:p>
            <a:r>
              <a:rPr dirty="0"/>
              <a:t>SAY —</a:t>
            </a:r>
          </a:p>
          <a:p>
            <a:r>
              <a:rPr dirty="0"/>
              <a:t>1. Who he was — </a:t>
            </a:r>
            <a:r>
              <a:rPr dirty="0" err="1"/>
              <a:t>ʿUmar's</a:t>
            </a:r>
            <a:r>
              <a:rPr dirty="0"/>
              <a:t> ؓ elder brother, Muslim before </a:t>
            </a:r>
            <a:r>
              <a:rPr dirty="0" err="1"/>
              <a:t>ʿUmar</a:t>
            </a:r>
            <a:r>
              <a:rPr dirty="0"/>
              <a:t> ؓ was, holding one wing.</a:t>
            </a:r>
            <a:endParaRPr lang="en-US" dirty="0"/>
          </a:p>
          <a:p>
            <a:endParaRPr dirty="0"/>
          </a:p>
          <a:p>
            <a:r>
              <a:rPr dirty="0"/>
              <a:t>2. "Bite down on your back teeth" — Strike into your enemy, and go forward.</a:t>
            </a:r>
          </a:p>
          <a:p>
            <a:endParaRPr lang="en-US" dirty="0"/>
          </a:p>
          <a:p>
            <a:r>
              <a:rPr dirty="0"/>
              <a:t>3. And then the vow — I will not speak until Allah routs them.</a:t>
            </a:r>
          </a:p>
          <a:p>
            <a:endParaRPr lang="en-US" dirty="0"/>
          </a:p>
          <a:p>
            <a:r>
              <a:rPr dirty="0"/>
              <a:t>4. "Or I meet Allah and speak to Him with my case" — He said nothing more that day.</a:t>
            </a:r>
          </a:p>
          <a:p>
            <a:r>
              <a:rPr dirty="0"/>
              <a:t>   ^ read the Arabic on the face here</a:t>
            </a:r>
          </a:p>
          <a:p>
            <a:endParaRPr lang="en-US" dirty="0"/>
          </a:p>
          <a:p>
            <a:r>
              <a:rPr dirty="0"/>
              <a:t>5. He was killed there — A martyr, on that wing.</a:t>
            </a:r>
          </a:p>
          <a:p>
            <a:endParaRPr dirty="0"/>
          </a:p>
          <a:p>
            <a:r>
              <a:rPr dirty="0"/>
              <a:t>QUOTE — </a:t>
            </a:r>
            <a:r>
              <a:rPr dirty="0" err="1"/>
              <a:t>أيها</a:t>
            </a:r>
            <a:r>
              <a:rPr dirty="0"/>
              <a:t> </a:t>
            </a:r>
            <a:r>
              <a:rPr dirty="0" err="1"/>
              <a:t>الناس</a:t>
            </a:r>
            <a:r>
              <a:rPr dirty="0"/>
              <a:t> </a:t>
            </a:r>
            <a:r>
              <a:rPr dirty="0" err="1"/>
              <a:t>عَضُّوا</a:t>
            </a:r>
            <a:r>
              <a:rPr dirty="0"/>
              <a:t> </a:t>
            </a:r>
            <a:r>
              <a:rPr dirty="0" err="1"/>
              <a:t>على</a:t>
            </a:r>
            <a:r>
              <a:rPr dirty="0"/>
              <a:t> </a:t>
            </a:r>
            <a:r>
              <a:rPr dirty="0" err="1"/>
              <a:t>أضراسكم</a:t>
            </a:r>
            <a:r>
              <a:rPr dirty="0"/>
              <a:t>، </a:t>
            </a:r>
            <a:r>
              <a:rPr dirty="0" err="1"/>
              <a:t>واضربوا</a:t>
            </a:r>
            <a:r>
              <a:rPr dirty="0"/>
              <a:t> </a:t>
            </a:r>
            <a:r>
              <a:rPr dirty="0" err="1"/>
              <a:t>في</a:t>
            </a:r>
            <a:r>
              <a:rPr dirty="0"/>
              <a:t> </a:t>
            </a:r>
            <a:r>
              <a:rPr dirty="0" err="1"/>
              <a:t>عدوِّكم</a:t>
            </a:r>
            <a:r>
              <a:rPr dirty="0"/>
              <a:t> </a:t>
            </a:r>
            <a:r>
              <a:rPr dirty="0" err="1"/>
              <a:t>وامضوا</a:t>
            </a:r>
            <a:r>
              <a:rPr dirty="0"/>
              <a:t> </a:t>
            </a:r>
            <a:r>
              <a:rPr dirty="0" err="1"/>
              <a:t>قدمًا</a:t>
            </a:r>
            <a:r>
              <a:rPr dirty="0"/>
              <a:t> … </a:t>
            </a:r>
            <a:r>
              <a:rPr dirty="0" err="1"/>
              <a:t>والله</a:t>
            </a:r>
            <a:r>
              <a:rPr dirty="0"/>
              <a:t> </a:t>
            </a:r>
            <a:r>
              <a:rPr dirty="0" err="1"/>
              <a:t>لا</a:t>
            </a:r>
            <a:r>
              <a:rPr dirty="0"/>
              <a:t> </a:t>
            </a:r>
            <a:r>
              <a:rPr dirty="0" err="1"/>
              <a:t>أتكلَّمُ</a:t>
            </a:r>
            <a:r>
              <a:rPr dirty="0"/>
              <a:t> </a:t>
            </a:r>
            <a:r>
              <a:rPr dirty="0" err="1"/>
              <a:t>حتى</a:t>
            </a:r>
            <a:r>
              <a:rPr dirty="0"/>
              <a:t> </a:t>
            </a:r>
            <a:r>
              <a:rPr dirty="0" err="1"/>
              <a:t>يهزمهم</a:t>
            </a:r>
            <a:r>
              <a:rPr dirty="0"/>
              <a:t> </a:t>
            </a:r>
            <a:r>
              <a:rPr dirty="0" err="1"/>
              <a:t>اللهُ</a:t>
            </a:r>
            <a:r>
              <a:rPr dirty="0"/>
              <a:t> </a:t>
            </a:r>
            <a:r>
              <a:rPr dirty="0" err="1"/>
              <a:t>أو</a:t>
            </a:r>
            <a:r>
              <a:rPr dirty="0"/>
              <a:t> </a:t>
            </a:r>
            <a:r>
              <a:rPr dirty="0" err="1"/>
              <a:t>ألقىَ</a:t>
            </a:r>
            <a:r>
              <a:rPr dirty="0"/>
              <a:t> </a:t>
            </a:r>
            <a:r>
              <a:rPr dirty="0" err="1"/>
              <a:t>اللهَ</a:t>
            </a:r>
            <a:r>
              <a:rPr dirty="0"/>
              <a:t> </a:t>
            </a:r>
            <a:r>
              <a:rPr dirty="0" err="1"/>
              <a:t>فأكلِّمه</a:t>
            </a:r>
            <a:r>
              <a:rPr dirty="0"/>
              <a:t> </a:t>
            </a:r>
            <a:r>
              <a:rPr dirty="0" err="1"/>
              <a:t>بحجَّتي</a:t>
            </a:r>
            <a:endParaRPr dirty="0"/>
          </a:p>
          <a:p>
            <a:r>
              <a:rPr dirty="0"/>
              <a:t>"People — bite down on your back teeth, strike into your enemy and go forward … By Allah, I will not speak until Allah routs them, or I meet Allah and speak to Him with my case."</a:t>
            </a:r>
          </a:p>
          <a:p>
            <a:r>
              <a:rPr dirty="0"/>
              <a:t>— </a:t>
            </a:r>
            <a:r>
              <a:rPr dirty="0" err="1"/>
              <a:t>البدایہ</a:t>
            </a:r>
            <a:r>
              <a:rPr dirty="0"/>
              <a:t> </a:t>
            </a:r>
            <a:r>
              <a:rPr dirty="0" err="1"/>
              <a:t>والنہایہ</a:t>
            </a:r>
            <a:r>
              <a:rPr dirty="0"/>
              <a:t> ج۷ ص۳۴</a:t>
            </a:r>
          </a:p>
          <a:p>
            <a:endParaRPr dirty="0"/>
          </a:p>
          <a:p>
            <a:r>
              <a:rPr dirty="0" err="1"/>
              <a:t>عبرت</a:t>
            </a:r>
            <a:r>
              <a:rPr dirty="0"/>
              <a:t> — He put his own silence on the outcome, and did not live to break it.</a:t>
            </a:r>
          </a:p>
          <a:p>
            <a:endParaRPr dirty="0"/>
          </a:p>
          <a:p>
            <a:r>
              <a:rPr dirty="0"/>
              <a:t>MAP — No movement. One wing of the blue block.</a:t>
            </a:r>
          </a:p>
          <a:p>
            <a:endParaRPr dirty="0"/>
          </a:p>
          <a:p>
            <a:r>
              <a:rPr dirty="0"/>
              <a:t>BACKGROUND (read at home, not aloud) —</a:t>
            </a:r>
          </a:p>
          <a:p>
            <a:r>
              <a:rPr dirty="0" err="1"/>
              <a:t>ʿUmar's</a:t>
            </a:r>
            <a:r>
              <a:rPr dirty="0"/>
              <a:t> ؓ elder brother — Muslim before </a:t>
            </a:r>
            <a:r>
              <a:rPr dirty="0" err="1"/>
              <a:t>ʿUmar</a:t>
            </a:r>
            <a:r>
              <a:rPr dirty="0"/>
              <a:t> ؓ was — held one of the wings. He called out to the men to bite down on their back teeth, strike into the enemy and go forward. Then he said that he would not speak another word until Allah routed them, or until he met Allah and put his case to Him. And he was killed there.</a:t>
            </a:r>
          </a:p>
          <a:p>
            <a:endParaRPr dirty="0"/>
          </a:p>
          <a:p>
            <a:r>
              <a:rPr dirty="0"/>
              <a:t>**Also on the page:** </a:t>
            </a:r>
            <a:r>
              <a:rPr dirty="0" err="1"/>
              <a:t>الکامل</a:t>
            </a:r>
            <a:r>
              <a:rPr dirty="0"/>
              <a:t> ج۲ ص۲۱۷ adds «</a:t>
            </a:r>
            <a:r>
              <a:rPr dirty="0" err="1"/>
              <a:t>لَا</a:t>
            </a:r>
            <a:r>
              <a:rPr dirty="0"/>
              <a:t> </a:t>
            </a:r>
            <a:r>
              <a:rPr dirty="0" err="1"/>
              <a:t>نَحُورُ</a:t>
            </a:r>
            <a:r>
              <a:rPr dirty="0"/>
              <a:t> </a:t>
            </a:r>
            <a:r>
              <a:rPr dirty="0" err="1"/>
              <a:t>بَعْدَ</a:t>
            </a:r>
            <a:r>
              <a:rPr dirty="0"/>
              <a:t> </a:t>
            </a:r>
            <a:r>
              <a:rPr dirty="0" err="1"/>
              <a:t>الرِّجَالِ</a:t>
            </a:r>
            <a:r>
              <a:rPr dirty="0"/>
              <a:t>» and «</a:t>
            </a:r>
            <a:r>
              <a:rPr dirty="0" err="1"/>
              <a:t>غُضُّوا</a:t>
            </a:r>
            <a:r>
              <a:rPr dirty="0"/>
              <a:t> </a:t>
            </a:r>
            <a:r>
              <a:rPr dirty="0" err="1"/>
              <a:t>أَبْصَارَكُمْ</a:t>
            </a:r>
            <a:r>
              <a:rPr dirty="0"/>
              <a:t>»</a:t>
            </a:r>
          </a:p>
          <a:p>
            <a:r>
              <a:rPr dirty="0"/>
              <a:t>(https://shamela.ws/book/21712/908). </a:t>
            </a:r>
            <a:r>
              <a:rPr dirty="0" err="1"/>
              <a:t>ʿUmar's</a:t>
            </a:r>
            <a:r>
              <a:rPr dirty="0"/>
              <a:t> ؓ grief for him is carried by the people strand</a:t>
            </a:r>
          </a:p>
          <a:p>
            <a:r>
              <a:rPr dirty="0"/>
              <a:t>(`zayd-ibn-al-khattab-and-the-dead-of-yamama.md`), and by `RCT/E-RC23`.</a:t>
            </a:r>
          </a:p>
          <a:p>
            <a:endParaRPr dirty="0"/>
          </a:p>
          <a:p>
            <a:r>
              <a:rPr dirty="0"/>
              <a:t>WHEN, as the card gives it: 11 AH→12 AH, at </a:t>
            </a:r>
            <a:r>
              <a:rPr dirty="0" err="1"/>
              <a:t>عَقْرَباء</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RUNSHEET: Three men, three answers, all three about the </a:t>
            </a:r>
            <a:r>
              <a:rPr dirty="0" err="1"/>
              <a:t>Qurʾān</a:t>
            </a:r>
            <a:endParaRPr dirty="0"/>
          </a:p>
          <a:p>
            <a:endParaRPr dirty="0"/>
          </a:p>
          <a:p>
            <a:r>
              <a:rPr dirty="0"/>
              <a:t>SAY —</a:t>
            </a:r>
          </a:p>
          <a:p>
            <a:r>
              <a:rPr dirty="0"/>
              <a:t>1. The other wing — </a:t>
            </a:r>
            <a:r>
              <a:rPr dirty="0" err="1"/>
              <a:t>Abū</a:t>
            </a:r>
            <a:r>
              <a:rPr dirty="0"/>
              <a:t> </a:t>
            </a:r>
            <a:r>
              <a:rPr dirty="0" err="1"/>
              <a:t>Ḥudhayfa</a:t>
            </a:r>
            <a:r>
              <a:rPr dirty="0"/>
              <a:t> ؓ, whose own father fell at Badr on the other side.</a:t>
            </a:r>
            <a:endParaRPr lang="en-US" dirty="0"/>
          </a:p>
          <a:p>
            <a:endParaRPr dirty="0"/>
          </a:p>
          <a:p>
            <a:r>
              <a:rPr dirty="0"/>
              <a:t>2. One line to the men around him — People of the </a:t>
            </a:r>
            <a:r>
              <a:rPr dirty="0" err="1"/>
              <a:t>Qurʾān</a:t>
            </a:r>
            <a:r>
              <a:rPr dirty="0"/>
              <a:t>: adorn the </a:t>
            </a:r>
            <a:r>
              <a:rPr dirty="0" err="1"/>
              <a:t>Qurʾān</a:t>
            </a:r>
            <a:r>
              <a:rPr dirty="0"/>
              <a:t> with deeds.</a:t>
            </a:r>
          </a:p>
          <a:p>
            <a:r>
              <a:rPr dirty="0"/>
              <a:t>   ^ read the Arabic on the face here</a:t>
            </a:r>
          </a:p>
          <a:p>
            <a:endParaRPr lang="en-US" dirty="0"/>
          </a:p>
          <a:p>
            <a:r>
              <a:rPr dirty="0"/>
              <a:t>3. Then he charged — Until he had driven them back.</a:t>
            </a:r>
          </a:p>
          <a:p>
            <a:endParaRPr lang="en-US" dirty="0"/>
          </a:p>
          <a:p>
            <a:r>
              <a:rPr dirty="0"/>
              <a:t>4. And was killed — On the same field, on the same day as </a:t>
            </a:r>
            <a:r>
              <a:rPr dirty="0" err="1"/>
              <a:t>Sālim</a:t>
            </a:r>
            <a:r>
              <a:rPr dirty="0"/>
              <a:t> ؓ.</a:t>
            </a:r>
          </a:p>
          <a:p>
            <a:endParaRPr lang="en-US" dirty="0"/>
          </a:p>
          <a:p>
            <a:r>
              <a:rPr dirty="0"/>
              <a:t>5. Master and freedman — The two of them are buried out of the same battle.</a:t>
            </a:r>
          </a:p>
          <a:p>
            <a:endParaRPr dirty="0"/>
          </a:p>
          <a:p>
            <a:r>
              <a:rPr dirty="0"/>
              <a:t>QUOTE — </a:t>
            </a:r>
            <a:r>
              <a:rPr dirty="0" err="1"/>
              <a:t>يا</a:t>
            </a:r>
            <a:r>
              <a:rPr dirty="0"/>
              <a:t> </a:t>
            </a:r>
            <a:r>
              <a:rPr dirty="0" err="1"/>
              <a:t>أهلَ</a:t>
            </a:r>
            <a:r>
              <a:rPr dirty="0"/>
              <a:t> </a:t>
            </a:r>
            <a:r>
              <a:rPr dirty="0" err="1"/>
              <a:t>القرآنِ</a:t>
            </a:r>
            <a:r>
              <a:rPr dirty="0"/>
              <a:t> </a:t>
            </a:r>
            <a:r>
              <a:rPr dirty="0" err="1"/>
              <a:t>زيِّنوا</a:t>
            </a:r>
            <a:r>
              <a:rPr dirty="0"/>
              <a:t> </a:t>
            </a:r>
            <a:r>
              <a:rPr dirty="0" err="1"/>
              <a:t>القرآنَ</a:t>
            </a:r>
            <a:r>
              <a:rPr dirty="0"/>
              <a:t> </a:t>
            </a:r>
            <a:r>
              <a:rPr dirty="0" err="1"/>
              <a:t>بالفِعال</a:t>
            </a:r>
            <a:endParaRPr dirty="0"/>
          </a:p>
          <a:p>
            <a:r>
              <a:rPr dirty="0"/>
              <a:t>"People of the </a:t>
            </a:r>
            <a:r>
              <a:rPr dirty="0" err="1"/>
              <a:t>Qurʾān</a:t>
            </a:r>
            <a:r>
              <a:rPr dirty="0"/>
              <a:t> — adorn the </a:t>
            </a:r>
            <a:r>
              <a:rPr dirty="0" err="1"/>
              <a:t>Qurʾān</a:t>
            </a:r>
            <a:r>
              <a:rPr dirty="0"/>
              <a:t> with deeds."</a:t>
            </a:r>
          </a:p>
          <a:p>
            <a:r>
              <a:rPr dirty="0"/>
              <a:t>— </a:t>
            </a:r>
            <a:r>
              <a:rPr dirty="0" err="1"/>
              <a:t>البدایہ</a:t>
            </a:r>
            <a:r>
              <a:rPr dirty="0"/>
              <a:t> </a:t>
            </a:r>
            <a:r>
              <a:rPr dirty="0" err="1"/>
              <a:t>والنہایہ</a:t>
            </a:r>
            <a:r>
              <a:rPr dirty="0"/>
              <a:t> ج۷ ص۳۴</a:t>
            </a:r>
          </a:p>
          <a:p>
            <a:endParaRPr dirty="0"/>
          </a:p>
          <a:p>
            <a:r>
              <a:rPr dirty="0" err="1"/>
              <a:t>عبرت</a:t>
            </a:r>
            <a:r>
              <a:rPr dirty="0"/>
              <a:t> — Three men that morning answered the same question three ways, and all three answers were about the </a:t>
            </a:r>
            <a:r>
              <a:rPr dirty="0" err="1"/>
              <a:t>Qurʾān</a:t>
            </a:r>
            <a:r>
              <a:rPr dirty="0"/>
              <a:t>.</a:t>
            </a:r>
          </a:p>
          <a:p>
            <a:endParaRPr dirty="0"/>
          </a:p>
          <a:p>
            <a:r>
              <a:rPr dirty="0"/>
              <a:t>MAP — No movement. The other wing.</a:t>
            </a:r>
          </a:p>
          <a:p>
            <a:endParaRPr dirty="0"/>
          </a:p>
          <a:p>
            <a:r>
              <a:rPr dirty="0"/>
              <a:t>BACKGROUND (read at home, not aloud) —</a:t>
            </a:r>
          </a:p>
          <a:p>
            <a:r>
              <a:rPr dirty="0"/>
              <a:t>On the other wing, </a:t>
            </a:r>
            <a:r>
              <a:rPr dirty="0" err="1"/>
              <a:t>Abū</a:t>
            </a:r>
            <a:r>
              <a:rPr dirty="0"/>
              <a:t> </a:t>
            </a:r>
            <a:r>
              <a:rPr dirty="0" err="1"/>
              <a:t>Ḥudhayfa</a:t>
            </a:r>
            <a:r>
              <a:rPr dirty="0"/>
              <a:t> ؓ — whose own father had been killed at Badr fighting against the Muslims — called out one line to the men around him: people of the </a:t>
            </a:r>
            <a:r>
              <a:rPr dirty="0" err="1"/>
              <a:t>Qurʾān</a:t>
            </a:r>
            <a:r>
              <a:rPr dirty="0"/>
              <a:t>, adorn the </a:t>
            </a:r>
            <a:r>
              <a:rPr dirty="0" err="1"/>
              <a:t>Qurʾān</a:t>
            </a:r>
            <a:r>
              <a:rPr dirty="0"/>
              <a:t> with deeds. Then he charged into them until he had driven them back, and he was killed. He and </a:t>
            </a:r>
            <a:r>
              <a:rPr dirty="0" err="1"/>
              <a:t>Sālim</a:t>
            </a:r>
            <a:r>
              <a:rPr dirty="0"/>
              <a:t> ؓ, his freedman, died on the same field on the same day.</a:t>
            </a:r>
          </a:p>
          <a:p>
            <a:endParaRPr dirty="0"/>
          </a:p>
          <a:p>
            <a:r>
              <a:rPr dirty="0"/>
              <a:t>WHEN, as the card gives it: 11 AH→12 AH, at </a:t>
            </a:r>
            <a:r>
              <a:rPr dirty="0" err="1"/>
              <a:t>عَقْرَباء</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RUNSHEET: ⚠ The watchword «⁨</a:t>
            </a:r>
            <a:r>
              <a:rPr dirty="0" err="1"/>
              <a:t>يا</a:t>
            </a:r>
            <a:r>
              <a:rPr dirty="0"/>
              <a:t> </a:t>
            </a:r>
            <a:r>
              <a:rPr dirty="0" err="1"/>
              <a:t>محمداه</a:t>
            </a:r>
            <a:r>
              <a:rPr dirty="0"/>
              <a:t>⁩» is off the face and off the cue (review, 2026-09-22): in this country it is a proof-text in a live dispute. It stays in the notes; say it only as the army's battle-cry, recorded as history, or not at all. Prepared answer: QABANK.md §6.11</a:t>
            </a:r>
          </a:p>
          <a:p>
            <a:endParaRPr dirty="0"/>
          </a:p>
          <a:p>
            <a:r>
              <a:rPr dirty="0"/>
              <a:t>SAY —</a:t>
            </a:r>
          </a:p>
          <a:p>
            <a:r>
              <a:rPr dirty="0"/>
              <a:t>1. He rides the length of the line — Past them, opposite </a:t>
            </a:r>
            <a:r>
              <a:rPr dirty="0" err="1"/>
              <a:t>Musaylima</a:t>
            </a:r>
            <a:r>
              <a:rPr dirty="0"/>
              <a:t>, watching for a chance at him.</a:t>
            </a:r>
            <a:endParaRPr lang="en-US" dirty="0"/>
          </a:p>
          <a:p>
            <a:endParaRPr dirty="0"/>
          </a:p>
          <a:p>
            <a:r>
              <a:rPr dirty="0"/>
              <a:t>2. Then he stands in the gap — Between the two armies, and calls for single combat.</a:t>
            </a:r>
          </a:p>
          <a:p>
            <a:endParaRPr lang="en-US" dirty="0"/>
          </a:p>
          <a:p>
            <a:r>
              <a:rPr dirty="0"/>
              <a:t>3. He names himself — I am the son of al-</a:t>
            </a:r>
            <a:r>
              <a:rPr dirty="0" err="1"/>
              <a:t>Walīd</a:t>
            </a:r>
            <a:r>
              <a:rPr dirty="0"/>
              <a:t> the seasoned; I am the son of </a:t>
            </a:r>
            <a:r>
              <a:rPr dirty="0" err="1"/>
              <a:t>ʿĀmir</a:t>
            </a:r>
            <a:r>
              <a:rPr dirty="0"/>
              <a:t> and Zayd.</a:t>
            </a:r>
          </a:p>
          <a:p>
            <a:endParaRPr lang="en-US" dirty="0"/>
          </a:p>
          <a:p>
            <a:r>
              <a:rPr dirty="0"/>
              <a:t>4. And calls the watchword — Their watchword that day was: </a:t>
            </a:r>
            <a:r>
              <a:rPr dirty="0" err="1"/>
              <a:t>Yā</a:t>
            </a:r>
            <a:r>
              <a:rPr dirty="0"/>
              <a:t> </a:t>
            </a:r>
            <a:r>
              <a:rPr dirty="0" err="1"/>
              <a:t>Muḥammadāh</a:t>
            </a:r>
            <a:r>
              <a:rPr dirty="0"/>
              <a:t>.</a:t>
            </a:r>
          </a:p>
          <a:p>
            <a:r>
              <a:rPr dirty="0"/>
              <a:t>   ^ read the Arabic on the face here</a:t>
            </a:r>
          </a:p>
          <a:p>
            <a:endParaRPr lang="en-US" dirty="0"/>
          </a:p>
          <a:p>
            <a:r>
              <a:rPr dirty="0"/>
              <a:t>5. No one came out to him and lived — The books say it plainly.</a:t>
            </a:r>
          </a:p>
          <a:p>
            <a:endParaRPr lang="en-US" dirty="0"/>
          </a:p>
          <a:p>
            <a:r>
              <a:rPr dirty="0"/>
              <a:t>6. And he had offered terms first — He came near </a:t>
            </a:r>
            <a:r>
              <a:rPr dirty="0" err="1"/>
              <a:t>Musaylima</a:t>
            </a:r>
            <a:r>
              <a:rPr dirty="0"/>
              <a:t> and offered him a return to the truth. Refused.</a:t>
            </a:r>
          </a:p>
          <a:p>
            <a:endParaRPr dirty="0"/>
          </a:p>
          <a:p>
            <a:r>
              <a:rPr dirty="0"/>
              <a:t>QUOTE — </a:t>
            </a:r>
            <a:r>
              <a:rPr dirty="0" err="1"/>
              <a:t>أنا</a:t>
            </a:r>
            <a:r>
              <a:rPr dirty="0"/>
              <a:t> </a:t>
            </a:r>
            <a:r>
              <a:rPr dirty="0" err="1"/>
              <a:t>ابن</a:t>
            </a:r>
            <a:r>
              <a:rPr dirty="0"/>
              <a:t> </a:t>
            </a:r>
            <a:r>
              <a:rPr dirty="0" err="1"/>
              <a:t>الوليد</a:t>
            </a:r>
            <a:r>
              <a:rPr dirty="0"/>
              <a:t> </a:t>
            </a:r>
            <a:r>
              <a:rPr dirty="0" err="1"/>
              <a:t>العَوْد</a:t>
            </a:r>
            <a:r>
              <a:rPr dirty="0"/>
              <a:t>، </a:t>
            </a:r>
            <a:r>
              <a:rPr dirty="0" err="1"/>
              <a:t>أنا</a:t>
            </a:r>
            <a:r>
              <a:rPr dirty="0"/>
              <a:t> </a:t>
            </a:r>
            <a:r>
              <a:rPr dirty="0" err="1"/>
              <a:t>ابن</a:t>
            </a:r>
            <a:r>
              <a:rPr dirty="0"/>
              <a:t> </a:t>
            </a:r>
            <a:r>
              <a:rPr dirty="0" err="1"/>
              <a:t>عامر</a:t>
            </a:r>
            <a:r>
              <a:rPr dirty="0"/>
              <a:t> </a:t>
            </a:r>
            <a:r>
              <a:rPr dirty="0" err="1"/>
              <a:t>وزيد</a:t>
            </a:r>
            <a:r>
              <a:rPr dirty="0"/>
              <a:t>، </a:t>
            </a:r>
            <a:r>
              <a:rPr dirty="0" err="1"/>
              <a:t>ثم</a:t>
            </a:r>
            <a:r>
              <a:rPr dirty="0"/>
              <a:t> </a:t>
            </a:r>
            <a:r>
              <a:rPr dirty="0" err="1"/>
              <a:t>نادى</a:t>
            </a:r>
            <a:r>
              <a:rPr dirty="0"/>
              <a:t> </a:t>
            </a:r>
            <a:r>
              <a:rPr dirty="0" err="1"/>
              <a:t>بشعار</a:t>
            </a:r>
            <a:r>
              <a:rPr dirty="0"/>
              <a:t> </a:t>
            </a:r>
            <a:r>
              <a:rPr dirty="0" err="1"/>
              <a:t>المسلمين</a:t>
            </a:r>
            <a:r>
              <a:rPr dirty="0"/>
              <a:t> - </a:t>
            </a:r>
            <a:r>
              <a:rPr dirty="0" err="1"/>
              <a:t>وكان</a:t>
            </a:r>
            <a:r>
              <a:rPr dirty="0"/>
              <a:t> </a:t>
            </a:r>
            <a:r>
              <a:rPr dirty="0" err="1"/>
              <a:t>شعارهم</a:t>
            </a:r>
            <a:r>
              <a:rPr dirty="0"/>
              <a:t> </a:t>
            </a:r>
            <a:r>
              <a:rPr dirty="0" err="1"/>
              <a:t>يومئذ</a:t>
            </a:r>
            <a:r>
              <a:rPr dirty="0"/>
              <a:t>: </a:t>
            </a:r>
            <a:r>
              <a:rPr dirty="0" err="1"/>
              <a:t>يا</a:t>
            </a:r>
            <a:r>
              <a:rPr dirty="0"/>
              <a:t> </a:t>
            </a:r>
            <a:r>
              <a:rPr dirty="0" err="1"/>
              <a:t>محمداه</a:t>
            </a:r>
            <a:r>
              <a:rPr dirty="0"/>
              <a:t> - </a:t>
            </a:r>
            <a:r>
              <a:rPr dirty="0" err="1"/>
              <a:t>وجعل</a:t>
            </a:r>
            <a:r>
              <a:rPr dirty="0"/>
              <a:t> </a:t>
            </a:r>
            <a:r>
              <a:rPr dirty="0" err="1"/>
              <a:t>لا</a:t>
            </a:r>
            <a:r>
              <a:rPr dirty="0"/>
              <a:t> </a:t>
            </a:r>
            <a:r>
              <a:rPr dirty="0" err="1"/>
              <a:t>يبرز</a:t>
            </a:r>
            <a:r>
              <a:rPr dirty="0"/>
              <a:t> </a:t>
            </a:r>
            <a:r>
              <a:rPr dirty="0" err="1"/>
              <a:t>لهم</a:t>
            </a:r>
            <a:r>
              <a:rPr dirty="0"/>
              <a:t> </a:t>
            </a:r>
            <a:r>
              <a:rPr dirty="0" err="1"/>
              <a:t>أحدٌ</a:t>
            </a:r>
            <a:r>
              <a:rPr dirty="0"/>
              <a:t> </a:t>
            </a:r>
            <a:r>
              <a:rPr dirty="0" err="1"/>
              <a:t>إلا</a:t>
            </a:r>
            <a:r>
              <a:rPr dirty="0"/>
              <a:t> </a:t>
            </a:r>
            <a:r>
              <a:rPr dirty="0" err="1"/>
              <a:t>قتله</a:t>
            </a:r>
            <a:endParaRPr dirty="0"/>
          </a:p>
          <a:p>
            <a:r>
              <a:rPr dirty="0"/>
              <a:t>"I am the son of al-</a:t>
            </a:r>
            <a:r>
              <a:rPr dirty="0" err="1"/>
              <a:t>Walīd</a:t>
            </a:r>
            <a:r>
              <a:rPr dirty="0"/>
              <a:t> the seasoned; I am the son of </a:t>
            </a:r>
            <a:r>
              <a:rPr dirty="0" err="1"/>
              <a:t>ʿĀmir</a:t>
            </a:r>
            <a:r>
              <a:rPr dirty="0"/>
              <a:t> and Zayd — then he called out the Muslims' watchword, and their watchword that day was: </a:t>
            </a:r>
            <a:r>
              <a:rPr dirty="0" err="1"/>
              <a:t>Yā</a:t>
            </a:r>
            <a:r>
              <a:rPr dirty="0"/>
              <a:t> </a:t>
            </a:r>
            <a:r>
              <a:rPr dirty="0" err="1"/>
              <a:t>Muḥammadāh</a:t>
            </a:r>
            <a:r>
              <a:rPr dirty="0"/>
              <a:t>! — and no one came out against him but he killed him."</a:t>
            </a:r>
          </a:p>
          <a:p>
            <a:r>
              <a:rPr dirty="0"/>
              <a:t>— </a:t>
            </a:r>
            <a:r>
              <a:rPr dirty="0" err="1"/>
              <a:t>البدایہ</a:t>
            </a:r>
            <a:r>
              <a:rPr dirty="0"/>
              <a:t> </a:t>
            </a:r>
            <a:r>
              <a:rPr dirty="0" err="1"/>
              <a:t>والنہایہ</a:t>
            </a:r>
            <a:r>
              <a:rPr dirty="0"/>
              <a:t> ج۷ ص۳۴</a:t>
            </a:r>
          </a:p>
          <a:p>
            <a:endParaRPr dirty="0"/>
          </a:p>
          <a:p>
            <a:r>
              <a:rPr dirty="0" err="1"/>
              <a:t>عبرت</a:t>
            </a:r>
            <a:r>
              <a:rPr dirty="0"/>
              <a:t> — He offered terms in the middle of the worst day of the war, and it is recorded that they were refused.</a:t>
            </a:r>
          </a:p>
          <a:p>
            <a:endParaRPr dirty="0"/>
          </a:p>
          <a:p>
            <a:r>
              <a:rPr dirty="0"/>
              <a:t>MAP — A single marker in the gap between the two blocks.</a:t>
            </a:r>
          </a:p>
          <a:p>
            <a:endParaRPr dirty="0"/>
          </a:p>
          <a:p>
            <a:r>
              <a:rPr dirty="0"/>
              <a:t>BACKGROUND (read at home, not aloud) —</a:t>
            </a:r>
          </a:p>
          <a:p>
            <a:r>
              <a:rPr dirty="0" err="1"/>
              <a:t>Khālid</a:t>
            </a:r>
            <a:r>
              <a:rPr dirty="0"/>
              <a:t> ؓ charged through until he was past them, rode along opposite </a:t>
            </a:r>
            <a:r>
              <a:rPr dirty="0" err="1"/>
              <a:t>Musaylima</a:t>
            </a:r>
            <a:r>
              <a:rPr dirty="0"/>
              <a:t> watching for a chance to reach him, then came back and stood in the gap between the two lines and called for single combat, naming his own father and his own people. Then he called out the Muslims' watchword for that day — *</a:t>
            </a:r>
            <a:r>
              <a:rPr dirty="0" err="1"/>
              <a:t>Yā</a:t>
            </a:r>
            <a:r>
              <a:rPr dirty="0"/>
              <a:t> </a:t>
            </a:r>
            <a:r>
              <a:rPr dirty="0" err="1"/>
              <a:t>Muḥammadāh</a:t>
            </a:r>
            <a:r>
              <a:rPr dirty="0"/>
              <a:t>* — and no one came out to him whom he did not kill. And before the fighting closed, he came near </a:t>
            </a:r>
            <a:r>
              <a:rPr dirty="0" err="1"/>
              <a:t>Musaylima</a:t>
            </a:r>
            <a:r>
              <a:rPr dirty="0"/>
              <a:t> and offered him terms and a return to the truth. It was refused.</a:t>
            </a:r>
          </a:p>
          <a:p>
            <a:endParaRPr dirty="0"/>
          </a:p>
          <a:p>
            <a:r>
              <a:rPr dirty="0"/>
              <a:t>**Also on the page:** «</a:t>
            </a:r>
            <a:r>
              <a:rPr dirty="0" err="1"/>
              <a:t>ثم</a:t>
            </a:r>
            <a:r>
              <a:rPr dirty="0"/>
              <a:t> </a:t>
            </a:r>
            <a:r>
              <a:rPr dirty="0" err="1"/>
              <a:t>اقترب</a:t>
            </a:r>
            <a:r>
              <a:rPr dirty="0"/>
              <a:t> </a:t>
            </a:r>
            <a:r>
              <a:rPr dirty="0" err="1"/>
              <a:t>من</a:t>
            </a:r>
            <a:r>
              <a:rPr dirty="0"/>
              <a:t> </a:t>
            </a:r>
            <a:r>
              <a:rPr dirty="0" err="1"/>
              <a:t>مسيلمة</a:t>
            </a:r>
            <a:r>
              <a:rPr dirty="0"/>
              <a:t>، </a:t>
            </a:r>
            <a:r>
              <a:rPr dirty="0" err="1"/>
              <a:t>فعرض</a:t>
            </a:r>
            <a:r>
              <a:rPr dirty="0"/>
              <a:t> </a:t>
            </a:r>
            <a:r>
              <a:rPr dirty="0" err="1"/>
              <a:t>عليه</a:t>
            </a:r>
            <a:r>
              <a:rPr dirty="0"/>
              <a:t> </a:t>
            </a:r>
            <a:r>
              <a:rPr dirty="0" err="1"/>
              <a:t>النَّصَفَ</a:t>
            </a:r>
            <a:r>
              <a:rPr dirty="0"/>
              <a:t> </a:t>
            </a:r>
            <a:r>
              <a:rPr dirty="0" err="1"/>
              <a:t>والرجوع</a:t>
            </a:r>
            <a:r>
              <a:rPr dirty="0"/>
              <a:t> </a:t>
            </a:r>
            <a:r>
              <a:rPr dirty="0" err="1"/>
              <a:t>إلى</a:t>
            </a:r>
            <a:r>
              <a:rPr dirty="0"/>
              <a:t> </a:t>
            </a:r>
            <a:r>
              <a:rPr dirty="0" err="1"/>
              <a:t>الحق</a:t>
            </a:r>
            <a:r>
              <a:rPr dirty="0"/>
              <a:t>» — *"then he drew near</a:t>
            </a:r>
          </a:p>
          <a:p>
            <a:r>
              <a:rPr dirty="0" err="1"/>
              <a:t>Musaylima</a:t>
            </a:r>
            <a:r>
              <a:rPr dirty="0"/>
              <a:t> and offered him fair terms and a return to the truth"* (</a:t>
            </a:r>
            <a:r>
              <a:rPr dirty="0" err="1"/>
              <a:t>البدایہ</a:t>
            </a:r>
            <a:r>
              <a:rPr dirty="0"/>
              <a:t> ج۷ ص۳۴ ·</a:t>
            </a:r>
          </a:p>
          <a:p>
            <a:r>
              <a:rPr dirty="0"/>
              <a:t>https://shamela.ws/book/30097/3180).</a:t>
            </a:r>
          </a:p>
          <a:p>
            <a:endParaRPr dirty="0"/>
          </a:p>
          <a:p>
            <a:r>
              <a:rPr dirty="0"/>
              <a:t>WHEN, as the card gives it: 11 AH→12 AH, at </a:t>
            </a:r>
            <a:r>
              <a:rPr dirty="0" err="1"/>
              <a:t>عَقْرَباء</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HANDS UP FIRST — ask it before you click to this map, because the map shows the answer:</a:t>
            </a:r>
          </a:p>
          <a:p>
            <a:r>
              <a:t>Before telling it: *"The line is breaking and you do not know where. What do you change?"*</a:t>
            </a:r>
          </a:p>
          <a:p>
            <a:endParaRPr/>
          </a:p>
          <a:p>
            <a:r>
              <a:t>MAP: tools/mapstudio/scenes/s04-07-aqraba.json at step 5,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RUNSHEET: Spare [HANDS]: "The line is breaking and you do not know where. What do you change?" — ask it before you click to the map, which shows the answer. The face title is Every clan under its own banner: the day is not yet decided at STOP C</a:t>
            </a:r>
          </a:p>
          <a:p>
            <a:endParaRPr dirty="0"/>
          </a:p>
          <a:p>
            <a:r>
              <a:rPr dirty="0"/>
              <a:t>SAY —</a:t>
            </a:r>
          </a:p>
          <a:p>
            <a:r>
              <a:rPr dirty="0"/>
              <a:t>1. He looks at the state of his men — And gives an order that has nothing to do with weapons.</a:t>
            </a:r>
            <a:endParaRPr lang="en-US" dirty="0"/>
          </a:p>
          <a:p>
            <a:endParaRPr dirty="0"/>
          </a:p>
          <a:p>
            <a:r>
              <a:rPr dirty="0"/>
              <a:t>2. "Separate out" — Every clan under its own banner, fighting under it.</a:t>
            </a:r>
          </a:p>
          <a:p>
            <a:endParaRPr lang="en-US" dirty="0"/>
          </a:p>
          <a:p>
            <a:r>
              <a:rPr dirty="0"/>
              <a:t>3. Why — So we may know what each clan is worth, and where we are being broken.</a:t>
            </a:r>
          </a:p>
          <a:p>
            <a:endParaRPr lang="en-US" dirty="0"/>
          </a:p>
          <a:p>
            <a:r>
              <a:rPr dirty="0"/>
              <a:t>4. They separated — </a:t>
            </a:r>
            <a:r>
              <a:rPr dirty="0" err="1"/>
              <a:t>Muhājirūn</a:t>
            </a:r>
            <a:r>
              <a:rPr dirty="0"/>
              <a:t>, </a:t>
            </a:r>
            <a:r>
              <a:rPr dirty="0" err="1"/>
              <a:t>Anṣār</a:t>
            </a:r>
            <a:r>
              <a:rPr dirty="0"/>
              <a:t>, and every tribe under its own.</a:t>
            </a:r>
          </a:p>
          <a:p>
            <a:endParaRPr lang="en-US" dirty="0"/>
          </a:p>
          <a:p>
            <a:r>
              <a:rPr dirty="0"/>
              <a:t>5. And then they said it to each other — Today, running is shameful.</a:t>
            </a:r>
          </a:p>
          <a:p>
            <a:r>
              <a:rPr dirty="0"/>
              <a:t>   ^ read the Arabic on the face here</a:t>
            </a:r>
          </a:p>
          <a:p>
            <a:endParaRPr lang="en-US" dirty="0"/>
          </a:p>
          <a:p>
            <a:r>
              <a:rPr dirty="0"/>
              <a:t>6. The honest coda — The books do not settle which clan fought hardest.</a:t>
            </a:r>
          </a:p>
          <a:p>
            <a:endParaRPr dirty="0"/>
          </a:p>
          <a:p>
            <a:r>
              <a:rPr dirty="0"/>
              <a:t>QUOTE — </a:t>
            </a:r>
            <a:r>
              <a:rPr dirty="0" err="1"/>
              <a:t>امْتَازُوا</a:t>
            </a:r>
            <a:r>
              <a:rPr dirty="0"/>
              <a:t> </a:t>
            </a:r>
            <a:r>
              <a:rPr dirty="0" err="1"/>
              <a:t>أَيُّهَا</a:t>
            </a:r>
            <a:r>
              <a:rPr dirty="0"/>
              <a:t> </a:t>
            </a:r>
            <a:r>
              <a:rPr dirty="0" err="1"/>
              <a:t>النَّاسُ</a:t>
            </a:r>
            <a:r>
              <a:rPr dirty="0"/>
              <a:t> </a:t>
            </a:r>
            <a:r>
              <a:rPr dirty="0" err="1"/>
              <a:t>لِنَعْلَمَ</a:t>
            </a:r>
            <a:r>
              <a:rPr dirty="0"/>
              <a:t> </a:t>
            </a:r>
            <a:r>
              <a:rPr dirty="0" err="1"/>
              <a:t>بَلَاءَ</a:t>
            </a:r>
            <a:r>
              <a:rPr dirty="0"/>
              <a:t> </a:t>
            </a:r>
            <a:r>
              <a:rPr dirty="0" err="1"/>
              <a:t>كُلِّ</a:t>
            </a:r>
            <a:r>
              <a:rPr dirty="0"/>
              <a:t> </a:t>
            </a:r>
            <a:r>
              <a:rPr dirty="0" err="1"/>
              <a:t>حَيٍّ</a:t>
            </a:r>
            <a:r>
              <a:rPr dirty="0"/>
              <a:t>، </a:t>
            </a:r>
            <a:r>
              <a:rPr dirty="0" err="1"/>
              <a:t>وَلِنَعْلَمَ</a:t>
            </a:r>
            <a:r>
              <a:rPr dirty="0"/>
              <a:t> </a:t>
            </a:r>
            <a:r>
              <a:rPr dirty="0" err="1"/>
              <a:t>مِنْ</a:t>
            </a:r>
            <a:r>
              <a:rPr dirty="0"/>
              <a:t> </a:t>
            </a:r>
            <a:r>
              <a:rPr dirty="0" err="1"/>
              <a:t>أَيْنَ</a:t>
            </a:r>
            <a:r>
              <a:rPr dirty="0"/>
              <a:t> </a:t>
            </a:r>
            <a:r>
              <a:rPr dirty="0" err="1"/>
              <a:t>نُؤْتَى</a:t>
            </a:r>
            <a:r>
              <a:rPr dirty="0"/>
              <a:t> … </a:t>
            </a:r>
            <a:r>
              <a:rPr dirty="0" err="1"/>
              <a:t>فَلَمَّا</a:t>
            </a:r>
            <a:r>
              <a:rPr dirty="0"/>
              <a:t> </a:t>
            </a:r>
            <a:r>
              <a:rPr dirty="0" err="1"/>
              <a:t>امْتَازُوا</a:t>
            </a:r>
            <a:r>
              <a:rPr dirty="0"/>
              <a:t> </a:t>
            </a:r>
            <a:r>
              <a:rPr dirty="0" err="1"/>
              <a:t>قَالَ</a:t>
            </a:r>
            <a:r>
              <a:rPr dirty="0"/>
              <a:t> </a:t>
            </a:r>
            <a:r>
              <a:rPr dirty="0" err="1"/>
              <a:t>بَعْضُهُمْ</a:t>
            </a:r>
            <a:r>
              <a:rPr dirty="0"/>
              <a:t> </a:t>
            </a:r>
            <a:r>
              <a:rPr dirty="0" err="1"/>
              <a:t>لِبَعْضٍ</a:t>
            </a:r>
            <a:r>
              <a:rPr dirty="0"/>
              <a:t>: </a:t>
            </a:r>
            <a:r>
              <a:rPr dirty="0" err="1"/>
              <a:t>الْيَوْمَ</a:t>
            </a:r>
            <a:r>
              <a:rPr dirty="0"/>
              <a:t> </a:t>
            </a:r>
            <a:r>
              <a:rPr dirty="0" err="1"/>
              <a:t>يُسْتَحَى</a:t>
            </a:r>
            <a:r>
              <a:rPr dirty="0"/>
              <a:t> </a:t>
            </a:r>
            <a:r>
              <a:rPr dirty="0" err="1"/>
              <a:t>مِنَ</a:t>
            </a:r>
            <a:r>
              <a:rPr dirty="0"/>
              <a:t> </a:t>
            </a:r>
            <a:r>
              <a:rPr dirty="0" err="1"/>
              <a:t>الْفِرَارِ</a:t>
            </a:r>
            <a:r>
              <a:rPr dirty="0"/>
              <a:t>.</a:t>
            </a:r>
          </a:p>
          <a:p>
            <a:r>
              <a:rPr dirty="0"/>
              <a:t>"Separate out, people, so we may know what each clan is worth, and know from where we are being broken … and when they had separated, they said to one another: Today, running is shameful."</a:t>
            </a:r>
          </a:p>
          <a:p>
            <a:r>
              <a:rPr dirty="0"/>
              <a:t>— </a:t>
            </a:r>
            <a:r>
              <a:rPr dirty="0" err="1"/>
              <a:t>الکامل</a:t>
            </a:r>
            <a:r>
              <a:rPr dirty="0"/>
              <a:t> </a:t>
            </a:r>
            <a:r>
              <a:rPr dirty="0" err="1"/>
              <a:t>فی</a:t>
            </a:r>
            <a:r>
              <a:rPr dirty="0"/>
              <a:t> </a:t>
            </a:r>
            <a:r>
              <a:rPr dirty="0" err="1"/>
              <a:t>التاریخ</a:t>
            </a:r>
            <a:r>
              <a:rPr dirty="0"/>
              <a:t> ج۲ ص۲۱۷</a:t>
            </a:r>
          </a:p>
          <a:p>
            <a:endParaRPr dirty="0"/>
          </a:p>
          <a:p>
            <a:r>
              <a:rPr dirty="0" err="1"/>
              <a:t>عبرت</a:t>
            </a:r>
            <a:r>
              <a:rPr dirty="0"/>
              <a:t> — He did not make them braver; he made it impossible for anyone's failure to be anonymous.</a:t>
            </a:r>
          </a:p>
          <a:p>
            <a:endParaRPr dirty="0"/>
          </a:p>
          <a:p>
            <a:r>
              <a:rPr dirty="0"/>
              <a:t>HANDS UP — Before telling it: *"The line is breaking and you do not know where. What do you change?"*</a:t>
            </a:r>
          </a:p>
          <a:p>
            <a:endParaRPr dirty="0"/>
          </a:p>
          <a:p>
            <a:r>
              <a:rPr dirty="0"/>
              <a:t>MAP — The blue block at </a:t>
            </a:r>
            <a:r>
              <a:rPr dirty="0" err="1"/>
              <a:t>عَقْرَباء</a:t>
            </a:r>
            <a:r>
              <a:rPr dirty="0"/>
              <a:t> splits into separate labelled sections — </a:t>
            </a:r>
            <a:r>
              <a:rPr dirty="0" err="1"/>
              <a:t>Muhājirūn</a:t>
            </a:r>
            <a:r>
              <a:rPr dirty="0"/>
              <a:t>, </a:t>
            </a:r>
            <a:r>
              <a:rPr dirty="0" err="1"/>
              <a:t>Anṣār</a:t>
            </a:r>
            <a:r>
              <a:rPr dirty="0"/>
              <a:t>, and the tribes each under their own banner.</a:t>
            </a:r>
          </a:p>
          <a:p>
            <a:endParaRPr dirty="0"/>
          </a:p>
          <a:p>
            <a:r>
              <a:rPr dirty="0"/>
              <a:t>**Also on the page:** ⚠ Ibn al-</a:t>
            </a:r>
            <a:r>
              <a:rPr dirty="0" err="1"/>
              <a:t>Athīr</a:t>
            </a:r>
            <a:r>
              <a:rPr dirty="0"/>
              <a:t> adds, on the same page, that it did not settle who fought hardest</a:t>
            </a:r>
          </a:p>
          <a:p>
            <a:r>
              <a:rPr dirty="0"/>
              <a:t>— only that the dead were more numerous among the </a:t>
            </a:r>
            <a:r>
              <a:rPr dirty="0" err="1"/>
              <a:t>Muhājirūn</a:t>
            </a:r>
            <a:r>
              <a:rPr dirty="0"/>
              <a:t>, the </a:t>
            </a:r>
            <a:r>
              <a:rPr dirty="0" err="1"/>
              <a:t>Anṣār</a:t>
            </a:r>
            <a:r>
              <a:rPr dirty="0"/>
              <a:t> and the townsmen than among</a:t>
            </a:r>
          </a:p>
          <a:p>
            <a:r>
              <a:rPr dirty="0"/>
              <a:t>the </a:t>
            </a:r>
            <a:r>
              <a:rPr dirty="0" err="1"/>
              <a:t>bedouin</a:t>
            </a:r>
            <a:r>
              <a:rPr dirty="0"/>
              <a:t>: «</a:t>
            </a:r>
            <a:r>
              <a:rPr dirty="0" err="1"/>
              <a:t>وَلَمْ</a:t>
            </a:r>
            <a:r>
              <a:rPr dirty="0"/>
              <a:t> </a:t>
            </a:r>
            <a:r>
              <a:rPr dirty="0" err="1"/>
              <a:t>يُدْرَ</a:t>
            </a:r>
            <a:r>
              <a:rPr dirty="0"/>
              <a:t> </a:t>
            </a:r>
            <a:r>
              <a:rPr dirty="0" err="1"/>
              <a:t>أَيُّ</a:t>
            </a:r>
            <a:r>
              <a:rPr dirty="0"/>
              <a:t> </a:t>
            </a:r>
            <a:r>
              <a:rPr dirty="0" err="1"/>
              <a:t>الْفَرِيقَيْنِ</a:t>
            </a:r>
            <a:r>
              <a:rPr dirty="0"/>
              <a:t> </a:t>
            </a:r>
            <a:r>
              <a:rPr dirty="0" err="1"/>
              <a:t>كَانَ</a:t>
            </a:r>
            <a:r>
              <a:rPr dirty="0"/>
              <a:t> </a:t>
            </a:r>
            <a:r>
              <a:rPr dirty="0" err="1"/>
              <a:t>أَعْظَمَ</a:t>
            </a:r>
            <a:r>
              <a:rPr dirty="0"/>
              <a:t> </a:t>
            </a:r>
            <a:r>
              <a:rPr dirty="0" err="1"/>
              <a:t>نِكَايَةً</a:t>
            </a:r>
            <a:r>
              <a:rPr dirty="0"/>
              <a:t>». And </a:t>
            </a:r>
            <a:r>
              <a:rPr dirty="0" err="1"/>
              <a:t>البدایہ</a:t>
            </a:r>
            <a:r>
              <a:rPr dirty="0"/>
              <a:t> ج۷ ص۳۴ gives the same order</a:t>
            </a:r>
          </a:p>
          <a:p>
            <a:r>
              <a:rPr dirty="0"/>
              <a:t>in narrative — «</a:t>
            </a:r>
            <a:r>
              <a:rPr dirty="0" err="1"/>
              <a:t>وقد</a:t>
            </a:r>
            <a:r>
              <a:rPr dirty="0"/>
              <a:t> </a:t>
            </a:r>
            <a:r>
              <a:rPr dirty="0" err="1"/>
              <a:t>ميز</a:t>
            </a:r>
            <a:r>
              <a:rPr dirty="0"/>
              <a:t> </a:t>
            </a:r>
            <a:r>
              <a:rPr dirty="0" err="1"/>
              <a:t>خالد</a:t>
            </a:r>
            <a:r>
              <a:rPr dirty="0"/>
              <a:t> </a:t>
            </a:r>
            <a:r>
              <a:rPr dirty="0" err="1"/>
              <a:t>المهاجرين</a:t>
            </a:r>
            <a:r>
              <a:rPr dirty="0"/>
              <a:t> </a:t>
            </a:r>
            <a:r>
              <a:rPr dirty="0" err="1"/>
              <a:t>من</a:t>
            </a:r>
            <a:r>
              <a:rPr dirty="0"/>
              <a:t> </a:t>
            </a:r>
            <a:r>
              <a:rPr dirty="0" err="1"/>
              <a:t>الأنصار</a:t>
            </a:r>
            <a:r>
              <a:rPr dirty="0"/>
              <a:t> </a:t>
            </a:r>
            <a:r>
              <a:rPr dirty="0" err="1"/>
              <a:t>من</a:t>
            </a:r>
            <a:r>
              <a:rPr dirty="0"/>
              <a:t> </a:t>
            </a:r>
            <a:r>
              <a:rPr dirty="0" err="1"/>
              <a:t>الأعراب</a:t>
            </a:r>
            <a:r>
              <a:rPr dirty="0"/>
              <a:t>، </a:t>
            </a:r>
            <a:r>
              <a:rPr dirty="0" err="1"/>
              <a:t>وكل</a:t>
            </a:r>
            <a:r>
              <a:rPr dirty="0"/>
              <a:t> </a:t>
            </a:r>
            <a:r>
              <a:rPr dirty="0" err="1"/>
              <a:t>بني</a:t>
            </a:r>
            <a:r>
              <a:rPr dirty="0"/>
              <a:t> </a:t>
            </a:r>
            <a:r>
              <a:rPr dirty="0" err="1"/>
              <a:t>أبٍ</a:t>
            </a:r>
            <a:r>
              <a:rPr dirty="0"/>
              <a:t> </a:t>
            </a:r>
            <a:r>
              <a:rPr dirty="0" err="1"/>
              <a:t>على</a:t>
            </a:r>
            <a:r>
              <a:rPr dirty="0"/>
              <a:t> </a:t>
            </a:r>
            <a:r>
              <a:rPr dirty="0" err="1"/>
              <a:t>رايتهم</a:t>
            </a:r>
            <a:r>
              <a:rPr dirty="0"/>
              <a:t>، </a:t>
            </a:r>
            <a:r>
              <a:rPr dirty="0" err="1"/>
              <a:t>يقاتلون</a:t>
            </a:r>
            <a:r>
              <a:rPr dirty="0"/>
              <a:t> </a:t>
            </a:r>
            <a:r>
              <a:rPr dirty="0" err="1"/>
              <a:t>تحتها</a:t>
            </a:r>
            <a:r>
              <a:rPr dirty="0"/>
              <a:t>،</a:t>
            </a:r>
          </a:p>
          <a:p>
            <a:r>
              <a:rPr dirty="0" err="1"/>
              <a:t>حتى</a:t>
            </a:r>
            <a:r>
              <a:rPr dirty="0"/>
              <a:t> </a:t>
            </a:r>
            <a:r>
              <a:rPr dirty="0" err="1"/>
              <a:t>يعرفَ</a:t>
            </a:r>
            <a:r>
              <a:rPr dirty="0"/>
              <a:t> </a:t>
            </a:r>
            <a:r>
              <a:rPr dirty="0" err="1"/>
              <a:t>الناسُ</a:t>
            </a:r>
            <a:r>
              <a:rPr dirty="0"/>
              <a:t> </a:t>
            </a:r>
            <a:r>
              <a:rPr dirty="0" err="1"/>
              <a:t>من</a:t>
            </a:r>
            <a:r>
              <a:rPr dirty="0"/>
              <a:t> </a:t>
            </a:r>
            <a:r>
              <a:rPr dirty="0" err="1"/>
              <a:t>أين</a:t>
            </a:r>
            <a:r>
              <a:rPr dirty="0"/>
              <a:t> </a:t>
            </a:r>
            <a:r>
              <a:rPr dirty="0" err="1"/>
              <a:t>يُؤْتون</a:t>
            </a:r>
            <a:r>
              <a:rPr dirty="0"/>
              <a:t>» (https://shamela.ws/book/30097/3180).</a:t>
            </a:r>
          </a:p>
          <a:p>
            <a:endParaRPr dirty="0"/>
          </a:p>
          <a:p>
            <a:r>
              <a:rPr dirty="0"/>
              <a:t>BACKGROUND (read at home, not aloud) —</a:t>
            </a:r>
          </a:p>
          <a:p>
            <a:r>
              <a:rPr dirty="0" err="1"/>
              <a:t>Khālid</a:t>
            </a:r>
            <a:r>
              <a:rPr dirty="0"/>
              <a:t> ؓ looked at what was happening to his men and gave an order that had nothing to do with weapons. Separate out. Every clan under its own banner, fighting under it. He wanted two things: to know what each group was actually worth, and to know exactly where the line was being broken. They separated. And once they had, they started saying to one another that today, running would be shameful.</a:t>
            </a:r>
          </a:p>
          <a:p>
            <a:endParaRPr dirty="0"/>
          </a:p>
          <a:p>
            <a:r>
              <a:rPr dirty="0"/>
              <a:t>WHEN, as the card gives it: 11 AH→12 AH, at </a:t>
            </a:r>
            <a:r>
              <a:rPr dirty="0" err="1"/>
              <a:t>عَقْرَباء</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BOOKEND OUT STOP C — the Line. Re-used verbatim as next evening's opening slide (DECISIONS.md #23).</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MAP: tools/mapstudio/scenes/s04-close-stop-c.json at step 1,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TONIGHT'S عبرت — say each one, then move on:</a:t>
            </a:r>
          </a:p>
          <a:p>
            <a:r>
              <a:t>1. One document divides the country between two tribes, and the other answers that the country belongs to neither of them.</a:t>
            </a:r>
          </a:p>
          <a:p>
            <a:r>
              <a:t>2. The caliph said out loud that his commander had got it wrong, paid for it, and kept him. Those three are one decision, not three.</a:t>
            </a:r>
          </a:p>
          <a:p>
            <a:r>
              <a:t>3. When the line broke, what re-formed it was what the men had memorised.</a:t>
            </a:r>
          </a:p>
          <a:p>
            <a:r>
              <a:t>4. He did not make them braver; he made it impossible for anyone's failure to be anonymous.</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MAP: tools/mapstudio/scenes/s04-07-aqraba.json at step 6,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RUNSHEET: Daniyal, 2026-09-23: add the garden card. The climax was being told with a nameless man shutting the gate. ⁨</a:t>
            </a:r>
            <a:r>
              <a:rPr dirty="0" err="1"/>
              <a:t>الکامل</a:t>
            </a:r>
            <a:r>
              <a:rPr dirty="0"/>
              <a:t> ج2 ص217⁩ has the call; ⁨</a:t>
            </a:r>
            <a:r>
              <a:rPr dirty="0" err="1"/>
              <a:t>البدایہ</a:t>
            </a:r>
            <a:r>
              <a:rPr dirty="0"/>
              <a:t> ج7 ص34⁩ has </a:t>
            </a:r>
            <a:r>
              <a:rPr dirty="0" err="1"/>
              <a:t>ʿAbd</a:t>
            </a:r>
            <a:r>
              <a:rPr dirty="0"/>
              <a:t> al-</a:t>
            </a:r>
            <a:r>
              <a:rPr dirty="0" err="1"/>
              <a:t>Raḥmān</a:t>
            </a:r>
            <a:r>
              <a:rPr dirty="0"/>
              <a:t> b. </a:t>
            </a:r>
            <a:r>
              <a:rPr dirty="0" err="1"/>
              <a:t>Abī</a:t>
            </a:r>
            <a:r>
              <a:rPr dirty="0"/>
              <a:t> Bakr ؓ — the caliph's own son, on that field — killing him while he exhorted. ⚠ The ⁨</a:t>
            </a:r>
            <a:r>
              <a:rPr dirty="0" err="1"/>
              <a:t>البدایہ</a:t>
            </a:r>
            <a:r>
              <a:rPr dirty="0"/>
              <a:t>⁩ page curses them; we do not. Our quotation excludes it. ⚠ </a:t>
            </a:r>
            <a:r>
              <a:rPr dirty="0" err="1"/>
              <a:t>ʿAbd</a:t>
            </a:r>
            <a:r>
              <a:rPr dirty="0"/>
              <a:t> al-</a:t>
            </a:r>
            <a:r>
              <a:rPr dirty="0" err="1"/>
              <a:t>Raḥmān</a:t>
            </a:r>
            <a:r>
              <a:rPr dirty="0"/>
              <a:t> ؓ is introduced here as </a:t>
            </a:r>
            <a:r>
              <a:rPr dirty="0" err="1"/>
              <a:t>Abū</a:t>
            </a:r>
            <a:r>
              <a:rPr dirty="0"/>
              <a:t> Bakr's ؓ son and nothing more</a:t>
            </a:r>
          </a:p>
          <a:p>
            <a:endParaRPr dirty="0"/>
          </a:p>
          <a:p>
            <a:r>
              <a:rPr dirty="0"/>
              <a:t>SAY —</a:t>
            </a:r>
          </a:p>
          <a:p>
            <a:r>
              <a:rPr dirty="0"/>
              <a:t>1. The line breaks — </a:t>
            </a:r>
            <a:r>
              <a:rPr dirty="0" err="1"/>
              <a:t>Banū</a:t>
            </a:r>
            <a:r>
              <a:rPr dirty="0"/>
              <a:t> </a:t>
            </a:r>
            <a:r>
              <a:rPr dirty="0" err="1"/>
              <a:t>Ḥanīfa</a:t>
            </a:r>
            <a:r>
              <a:rPr dirty="0"/>
              <a:t> are driven back onto their own farms.</a:t>
            </a:r>
            <a:endParaRPr lang="en-US" dirty="0"/>
          </a:p>
          <a:p>
            <a:endParaRPr dirty="0"/>
          </a:p>
          <a:p>
            <a:r>
              <a:rPr dirty="0"/>
              <a:t>2. They ask </a:t>
            </a:r>
            <a:r>
              <a:rPr dirty="0" err="1"/>
              <a:t>Musaylima</a:t>
            </a:r>
            <a:r>
              <a:rPr dirty="0"/>
              <a:t> where the help he promised is — He tells them to fight for their </a:t>
            </a:r>
            <a:r>
              <a:rPr dirty="0" err="1"/>
              <a:t>honour</a:t>
            </a:r>
            <a:r>
              <a:rPr dirty="0"/>
              <a:t>.</a:t>
            </a:r>
          </a:p>
          <a:p>
            <a:endParaRPr lang="en-US" dirty="0"/>
          </a:p>
          <a:p>
            <a:r>
              <a:rPr dirty="0"/>
              <a:t>3. One of their commanders calls them in — </a:t>
            </a:r>
            <a:r>
              <a:rPr dirty="0" err="1"/>
              <a:t>Banū</a:t>
            </a:r>
            <a:r>
              <a:rPr dirty="0"/>
              <a:t> </a:t>
            </a:r>
            <a:r>
              <a:rPr dirty="0" err="1"/>
              <a:t>Ḥanīfa</a:t>
            </a:r>
            <a:r>
              <a:rPr dirty="0"/>
              <a:t>, the garden, the garden!</a:t>
            </a:r>
          </a:p>
          <a:p>
            <a:r>
              <a:rPr dirty="0"/>
              <a:t>   ^ read the Arabic on the face here</a:t>
            </a:r>
          </a:p>
          <a:p>
            <a:endParaRPr lang="en-US" dirty="0"/>
          </a:p>
          <a:p>
            <a:r>
              <a:rPr dirty="0"/>
              <a:t>4. They go in and bar the gate behind them — Thousands of them, behind a solid wall.</a:t>
            </a:r>
          </a:p>
          <a:p>
            <a:endParaRPr lang="en-US" dirty="0"/>
          </a:p>
          <a:p>
            <a:r>
              <a:rPr dirty="0"/>
              <a:t>5. Who he was — The books call him </a:t>
            </a:r>
            <a:r>
              <a:rPr dirty="0" err="1"/>
              <a:t>Muḥakkam</a:t>
            </a:r>
            <a:r>
              <a:rPr dirty="0"/>
              <a:t> al-</a:t>
            </a:r>
            <a:r>
              <a:rPr dirty="0" err="1"/>
              <a:t>Yamāma</a:t>
            </a:r>
            <a:r>
              <a:rPr dirty="0"/>
              <a:t>; Ibn </a:t>
            </a:r>
            <a:r>
              <a:rPr dirty="0" err="1"/>
              <a:t>Kathīr</a:t>
            </a:r>
            <a:r>
              <a:rPr dirty="0"/>
              <a:t> </a:t>
            </a:r>
            <a:r>
              <a:rPr dirty="0" err="1"/>
              <a:t>رحمہ</a:t>
            </a:r>
            <a:r>
              <a:rPr dirty="0"/>
              <a:t> </a:t>
            </a:r>
            <a:r>
              <a:rPr dirty="0" err="1"/>
              <a:t>اللہ</a:t>
            </a:r>
            <a:r>
              <a:rPr dirty="0"/>
              <a:t>, </a:t>
            </a:r>
            <a:r>
              <a:rPr dirty="0" err="1"/>
              <a:t>Musaylima's</a:t>
            </a:r>
            <a:r>
              <a:rPr dirty="0"/>
              <a:t> </a:t>
            </a:r>
            <a:r>
              <a:rPr dirty="0" err="1"/>
              <a:t>wazīr</a:t>
            </a:r>
            <a:r>
              <a:rPr dirty="0"/>
              <a:t> and counsellor.</a:t>
            </a:r>
          </a:p>
          <a:p>
            <a:endParaRPr lang="en-US" dirty="0"/>
          </a:p>
          <a:p>
            <a:r>
              <a:rPr dirty="0"/>
              <a:t>6. Still exhorting them when it comes — </a:t>
            </a:r>
            <a:r>
              <a:rPr dirty="0" err="1"/>
              <a:t>ʿAbd</a:t>
            </a:r>
            <a:r>
              <a:rPr dirty="0"/>
              <a:t> al-</a:t>
            </a:r>
            <a:r>
              <a:rPr dirty="0" err="1"/>
              <a:t>Raḥmān</a:t>
            </a:r>
            <a:r>
              <a:rPr dirty="0"/>
              <a:t> b. </a:t>
            </a:r>
            <a:r>
              <a:rPr dirty="0" err="1"/>
              <a:t>Abī</a:t>
            </a:r>
            <a:r>
              <a:rPr dirty="0"/>
              <a:t> Bakr ؓ, the caliph's own son on that field, shoots him through the throat.</a:t>
            </a:r>
          </a:p>
          <a:p>
            <a:endParaRPr dirty="0"/>
          </a:p>
          <a:p>
            <a:r>
              <a:rPr dirty="0"/>
              <a:t>QUOTE — </a:t>
            </a:r>
            <a:r>
              <a:rPr dirty="0" err="1"/>
              <a:t>وَنَادَى</a:t>
            </a:r>
            <a:r>
              <a:rPr dirty="0"/>
              <a:t> </a:t>
            </a:r>
            <a:r>
              <a:rPr dirty="0" err="1"/>
              <a:t>الْمُحَكَّمُ</a:t>
            </a:r>
            <a:r>
              <a:rPr dirty="0"/>
              <a:t>: </a:t>
            </a:r>
            <a:r>
              <a:rPr dirty="0" err="1"/>
              <a:t>يَا</a:t>
            </a:r>
            <a:r>
              <a:rPr dirty="0"/>
              <a:t> </a:t>
            </a:r>
            <a:r>
              <a:rPr dirty="0" err="1"/>
              <a:t>بَنِي</a:t>
            </a:r>
            <a:r>
              <a:rPr dirty="0"/>
              <a:t> </a:t>
            </a:r>
            <a:r>
              <a:rPr dirty="0" err="1"/>
              <a:t>حَنِيفَةَ</a:t>
            </a:r>
            <a:r>
              <a:rPr dirty="0"/>
              <a:t>، </a:t>
            </a:r>
            <a:r>
              <a:rPr dirty="0" err="1"/>
              <a:t>الْحَدِيقَةَ</a:t>
            </a:r>
            <a:r>
              <a:rPr dirty="0"/>
              <a:t> </a:t>
            </a:r>
            <a:r>
              <a:rPr dirty="0" err="1"/>
              <a:t>الْحَدِيقَةَ</a:t>
            </a:r>
            <a:r>
              <a:rPr dirty="0"/>
              <a:t>! </a:t>
            </a:r>
            <a:r>
              <a:rPr dirty="0" err="1"/>
              <a:t>فَدَخَلُوهَا</a:t>
            </a:r>
            <a:r>
              <a:rPr dirty="0"/>
              <a:t> </a:t>
            </a:r>
            <a:r>
              <a:rPr dirty="0" err="1"/>
              <a:t>وَأَغْلَقُوا</a:t>
            </a:r>
            <a:r>
              <a:rPr dirty="0"/>
              <a:t> </a:t>
            </a:r>
            <a:r>
              <a:rPr dirty="0" err="1"/>
              <a:t>عَلَيْهِمْ</a:t>
            </a:r>
            <a:r>
              <a:rPr dirty="0"/>
              <a:t> </a:t>
            </a:r>
            <a:r>
              <a:rPr dirty="0" err="1"/>
              <a:t>بَابَهَا</a:t>
            </a:r>
            <a:r>
              <a:rPr dirty="0"/>
              <a:t>.</a:t>
            </a:r>
          </a:p>
          <a:p>
            <a:r>
              <a:rPr dirty="0"/>
              <a:t>"And al-</a:t>
            </a:r>
            <a:r>
              <a:rPr dirty="0" err="1"/>
              <a:t>Muḥakkam</a:t>
            </a:r>
            <a:r>
              <a:rPr dirty="0"/>
              <a:t> called out: </a:t>
            </a:r>
            <a:r>
              <a:rPr dirty="0" err="1"/>
              <a:t>Banū</a:t>
            </a:r>
            <a:r>
              <a:rPr dirty="0"/>
              <a:t> </a:t>
            </a:r>
            <a:r>
              <a:rPr dirty="0" err="1"/>
              <a:t>Ḥanīfa</a:t>
            </a:r>
            <a:r>
              <a:rPr dirty="0"/>
              <a:t> — the garden, the garden! So they went into it and barred its gate behind them."</a:t>
            </a:r>
          </a:p>
          <a:p>
            <a:r>
              <a:rPr dirty="0"/>
              <a:t>— </a:t>
            </a:r>
            <a:r>
              <a:rPr dirty="0" err="1"/>
              <a:t>الکامل</a:t>
            </a:r>
            <a:r>
              <a:rPr dirty="0"/>
              <a:t> </a:t>
            </a:r>
            <a:r>
              <a:rPr dirty="0" err="1"/>
              <a:t>فی</a:t>
            </a:r>
            <a:r>
              <a:rPr dirty="0"/>
              <a:t> </a:t>
            </a:r>
            <a:r>
              <a:rPr dirty="0" err="1"/>
              <a:t>التاریخ</a:t>
            </a:r>
            <a:r>
              <a:rPr dirty="0"/>
              <a:t> ج۲ ص۲۱۷</a:t>
            </a:r>
          </a:p>
          <a:p>
            <a:endParaRPr dirty="0"/>
          </a:p>
          <a:p>
            <a:r>
              <a:rPr dirty="0" err="1"/>
              <a:t>عبرت</a:t>
            </a:r>
            <a:r>
              <a:rPr dirty="0"/>
              <a:t> — The advice that shut the gate was the last advice he gave.</a:t>
            </a:r>
          </a:p>
          <a:p>
            <a:endParaRPr dirty="0"/>
          </a:p>
          <a:p>
            <a:r>
              <a:rPr dirty="0"/>
              <a:t>MAP — </a:t>
            </a:r>
            <a:r>
              <a:rPr dirty="0" err="1"/>
              <a:t>عَقْرَباء</a:t>
            </a:r>
            <a:r>
              <a:rPr dirty="0"/>
              <a:t> — hold on the garden.</a:t>
            </a:r>
          </a:p>
          <a:p>
            <a:endParaRPr dirty="0"/>
          </a:p>
          <a:p>
            <a:r>
              <a:rPr dirty="0"/>
              <a:t>⚠ **The </a:t>
            </a:r>
            <a:r>
              <a:rPr dirty="0" err="1"/>
              <a:t>البدایہ</a:t>
            </a:r>
            <a:r>
              <a:rPr dirty="0"/>
              <a:t> page carries imprecations («</a:t>
            </a:r>
            <a:r>
              <a:rPr dirty="0" err="1"/>
              <a:t>لعنه</a:t>
            </a:r>
            <a:r>
              <a:rPr dirty="0"/>
              <a:t> </a:t>
            </a:r>
            <a:r>
              <a:rPr dirty="0" err="1"/>
              <a:t>الله</a:t>
            </a:r>
            <a:r>
              <a:rPr dirty="0"/>
              <a:t>») against </a:t>
            </a:r>
            <a:r>
              <a:rPr dirty="0" err="1"/>
              <a:t>Musaylima</a:t>
            </a:r>
            <a:r>
              <a:rPr dirty="0"/>
              <a:t> and al-</a:t>
            </a:r>
            <a:r>
              <a:rPr dirty="0" err="1"/>
              <a:t>Muḥakkam</a:t>
            </a:r>
            <a:r>
              <a:rPr dirty="0"/>
              <a:t>. They are</a:t>
            </a:r>
          </a:p>
          <a:p>
            <a:r>
              <a:rPr dirty="0"/>
              <a:t>not in our quotation and they are not said aloud** — the evening narrates, it does not curse.</a:t>
            </a:r>
          </a:p>
          <a:p>
            <a:r>
              <a:rPr dirty="0"/>
              <a:t>⚠ **</a:t>
            </a:r>
            <a:r>
              <a:rPr dirty="0" err="1"/>
              <a:t>ʿAbd</a:t>
            </a:r>
            <a:r>
              <a:rPr dirty="0"/>
              <a:t> al-</a:t>
            </a:r>
            <a:r>
              <a:rPr dirty="0" err="1"/>
              <a:t>Raḥmān</a:t>
            </a:r>
            <a:r>
              <a:rPr dirty="0"/>
              <a:t> b. </a:t>
            </a:r>
            <a:r>
              <a:rPr dirty="0" err="1"/>
              <a:t>Abī</a:t>
            </a:r>
            <a:r>
              <a:rPr dirty="0"/>
              <a:t> Bakr ؓ is introduced here as </a:t>
            </a:r>
            <a:r>
              <a:rPr dirty="0" err="1"/>
              <a:t>Abū</a:t>
            </a:r>
            <a:r>
              <a:rPr dirty="0"/>
              <a:t> Bakr's ؓ son on that field, and nothing</a:t>
            </a:r>
          </a:p>
          <a:p>
            <a:r>
              <a:rPr dirty="0"/>
              <a:t>more. Do not open his own earlier story from the platform.**</a:t>
            </a:r>
          </a:p>
          <a:p>
            <a:r>
              <a:rPr dirty="0"/>
              <a:t>⚠ Two more approved pages carry the killing and may be named if challenged: </a:t>
            </a:r>
            <a:r>
              <a:rPr dirty="0" err="1"/>
              <a:t>البدایہ</a:t>
            </a:r>
            <a:r>
              <a:rPr dirty="0"/>
              <a:t> ج۷ ص۶۰ (where Ibn</a:t>
            </a:r>
          </a:p>
          <a:p>
            <a:r>
              <a:rPr dirty="0" err="1"/>
              <a:t>Kathīr</a:t>
            </a:r>
            <a:r>
              <a:rPr dirty="0"/>
              <a:t> calls him </a:t>
            </a:r>
            <a:r>
              <a:rPr dirty="0" err="1"/>
              <a:t>Musaylima's</a:t>
            </a:r>
            <a:r>
              <a:rPr dirty="0"/>
              <a:t> </a:t>
            </a:r>
            <a:r>
              <a:rPr dirty="0" err="1"/>
              <a:t>wazīr</a:t>
            </a:r>
            <a:r>
              <a:rPr dirty="0"/>
              <a:t>) and </a:t>
            </a:r>
            <a:r>
              <a:rPr dirty="0" err="1"/>
              <a:t>سیر</a:t>
            </a:r>
            <a:r>
              <a:rPr dirty="0"/>
              <a:t> </a:t>
            </a:r>
            <a:r>
              <a:rPr dirty="0" err="1"/>
              <a:t>الراشدون</a:t>
            </a:r>
            <a:r>
              <a:rPr dirty="0"/>
              <a:t> ص۴۹, which gives it **from </a:t>
            </a:r>
            <a:r>
              <a:rPr dirty="0" err="1"/>
              <a:t>ابن</a:t>
            </a:r>
            <a:r>
              <a:rPr dirty="0"/>
              <a:t> </a:t>
            </a:r>
            <a:r>
              <a:rPr dirty="0" err="1"/>
              <a:t>إسحاق</a:t>
            </a:r>
            <a:r>
              <a:rPr dirty="0"/>
              <a:t>**.</a:t>
            </a:r>
          </a:p>
          <a:p>
            <a:endParaRPr dirty="0"/>
          </a:p>
          <a:p>
            <a:r>
              <a:rPr dirty="0"/>
              <a:t>BACKGROUND (read at home, not aloud) —</a:t>
            </a:r>
          </a:p>
          <a:p>
            <a:r>
              <a:rPr dirty="0"/>
              <a:t>The line broke and </a:t>
            </a:r>
            <a:r>
              <a:rPr dirty="0" err="1"/>
              <a:t>Banū</a:t>
            </a:r>
            <a:r>
              <a:rPr dirty="0"/>
              <a:t> </a:t>
            </a:r>
            <a:r>
              <a:rPr dirty="0" err="1"/>
              <a:t>Ḥanīfa</a:t>
            </a:r>
            <a:r>
              <a:rPr dirty="0"/>
              <a:t> were driven back onto their own farms. They asked </a:t>
            </a:r>
            <a:r>
              <a:rPr dirty="0" err="1"/>
              <a:t>Musaylima</a:t>
            </a:r>
            <a:r>
              <a:rPr dirty="0"/>
              <a:t> where the help he had promised them was, and he told them to fight for their </a:t>
            </a:r>
            <a:r>
              <a:rPr dirty="0" err="1"/>
              <a:t>honour</a:t>
            </a:r>
            <a:r>
              <a:rPr dirty="0"/>
              <a:t>. Then one of their own commanders called them in: al-</a:t>
            </a:r>
            <a:r>
              <a:rPr dirty="0" err="1"/>
              <a:t>Muḥakkam</a:t>
            </a:r>
            <a:r>
              <a:rPr dirty="0"/>
              <a:t> b. al-</a:t>
            </a:r>
            <a:r>
              <a:rPr dirty="0" err="1"/>
              <a:t>Ṭufayl</a:t>
            </a:r>
            <a:r>
              <a:rPr dirty="0"/>
              <a:t>, whom the books call </a:t>
            </a:r>
            <a:r>
              <a:rPr dirty="0" err="1"/>
              <a:t>Muḥakkam</a:t>
            </a:r>
            <a:r>
              <a:rPr dirty="0"/>
              <a:t> al-</a:t>
            </a:r>
            <a:r>
              <a:rPr dirty="0" err="1"/>
              <a:t>Yamāma</a:t>
            </a:r>
            <a:r>
              <a:rPr dirty="0"/>
              <a:t>, and whom Ibn </a:t>
            </a:r>
            <a:r>
              <a:rPr dirty="0" err="1"/>
              <a:t>Kathīr</a:t>
            </a:r>
            <a:r>
              <a:rPr dirty="0"/>
              <a:t> </a:t>
            </a:r>
            <a:r>
              <a:rPr dirty="0" err="1"/>
              <a:t>رحمہ</a:t>
            </a:r>
            <a:r>
              <a:rPr dirty="0"/>
              <a:t> </a:t>
            </a:r>
            <a:r>
              <a:rPr dirty="0" err="1"/>
              <a:t>اللہ</a:t>
            </a:r>
            <a:r>
              <a:rPr dirty="0"/>
              <a:t> calls </a:t>
            </a:r>
            <a:r>
              <a:rPr dirty="0" err="1"/>
              <a:t>Musaylima's</a:t>
            </a:r>
            <a:r>
              <a:rPr dirty="0"/>
              <a:t> </a:t>
            </a:r>
            <a:r>
              <a:rPr dirty="0" err="1"/>
              <a:t>wazīr</a:t>
            </a:r>
            <a:r>
              <a:rPr dirty="0"/>
              <a:t> and counsellor. They went into the walled garden and barred the gate behind them. And while he was still standing there exhorting them, </a:t>
            </a:r>
            <a:r>
              <a:rPr dirty="0" err="1"/>
              <a:t>ʿAbd</a:t>
            </a:r>
            <a:r>
              <a:rPr dirty="0"/>
              <a:t> al-</a:t>
            </a:r>
            <a:r>
              <a:rPr dirty="0" err="1"/>
              <a:t>Raḥmān</a:t>
            </a:r>
            <a:r>
              <a:rPr dirty="0"/>
              <a:t> b. </a:t>
            </a:r>
            <a:r>
              <a:rPr dirty="0" err="1"/>
              <a:t>Abī</a:t>
            </a:r>
            <a:r>
              <a:rPr dirty="0"/>
              <a:t> Bakr ؓ — the caliph's own son, on that field — shot him through the throat and killed him.</a:t>
            </a:r>
          </a:p>
          <a:p>
            <a:endParaRPr dirty="0"/>
          </a:p>
          <a:p>
            <a:r>
              <a:rPr dirty="0"/>
              <a:t>WHEN, as the card gives it: 11 AH→12 AH, at </a:t>
            </a:r>
            <a:r>
              <a:rPr dirty="0" err="1"/>
              <a:t>عَقْرَباء</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RUNSHEET: The climax. [HANDS] 4: "The gate is shut, the wall is solid, and there are thousands inside. What do you do?" — ask it before the map slide, which shows the answer. Beat 3 is al-</a:t>
            </a:r>
            <a:r>
              <a:rPr dirty="0" err="1"/>
              <a:t>Barāʾ's</a:t>
            </a:r>
            <a:r>
              <a:rPr dirty="0"/>
              <a:t> ؓ notice, in one breath. Gloss the name once — the books call it «⁨</a:t>
            </a:r>
            <a:r>
              <a:rPr dirty="0" err="1"/>
              <a:t>حديقة</a:t>
            </a:r>
            <a:r>
              <a:rPr dirty="0"/>
              <a:t> </a:t>
            </a:r>
            <a:r>
              <a:rPr dirty="0" err="1"/>
              <a:t>الموت</a:t>
            </a:r>
            <a:r>
              <a:rPr dirty="0"/>
              <a:t>⁩», the Garden of Death (⁨</a:t>
            </a:r>
            <a:r>
              <a:rPr dirty="0" err="1"/>
              <a:t>البدایہ</a:t>
            </a:r>
            <a:r>
              <a:rPr dirty="0"/>
              <a:t> ج7 ص34⁩). ⚠ He lived — ⁨</a:t>
            </a:r>
            <a:r>
              <a:rPr dirty="0" err="1"/>
              <a:t>سیر</a:t>
            </a:r>
            <a:r>
              <a:rPr dirty="0"/>
              <a:t>⁩ says eighty-odd wounds and a month under </a:t>
            </a:r>
            <a:r>
              <a:rPr dirty="0" err="1"/>
              <a:t>Khālid's</a:t>
            </a:r>
            <a:r>
              <a:rPr dirty="0"/>
              <a:t> ؓ care; do not say he died there</a:t>
            </a:r>
          </a:p>
          <a:p>
            <a:endParaRPr dirty="0"/>
          </a:p>
          <a:p>
            <a:r>
              <a:rPr dirty="0"/>
              <a:t>SAY —</a:t>
            </a:r>
          </a:p>
          <a:p>
            <a:r>
              <a:rPr dirty="0"/>
              <a:t>1. The line breaks the other way — </a:t>
            </a:r>
            <a:r>
              <a:rPr dirty="0" err="1"/>
              <a:t>Banū</a:t>
            </a:r>
            <a:r>
              <a:rPr dirty="0"/>
              <a:t> </a:t>
            </a:r>
            <a:r>
              <a:rPr dirty="0" err="1"/>
              <a:t>Ḥanīfa</a:t>
            </a:r>
            <a:r>
              <a:rPr dirty="0"/>
              <a:t> fall back, and one of their commanders calls them into a walled garden.</a:t>
            </a:r>
            <a:endParaRPr lang="en-US" dirty="0"/>
          </a:p>
          <a:p>
            <a:endParaRPr dirty="0"/>
          </a:p>
          <a:p>
            <a:r>
              <a:rPr dirty="0"/>
              <a:t>2. The gate is shut behind them — Thousands inside, the wall solid; the books call it the Garden of Death.</a:t>
            </a:r>
          </a:p>
          <a:p>
            <a:endParaRPr lang="en-US" dirty="0"/>
          </a:p>
          <a:p>
            <a:r>
              <a:rPr dirty="0"/>
              <a:t>3. Who al-</a:t>
            </a:r>
            <a:r>
              <a:rPr dirty="0" err="1"/>
              <a:t>Barāʾ</a:t>
            </a:r>
            <a:r>
              <a:rPr dirty="0"/>
              <a:t> ؓ was — al-</a:t>
            </a:r>
            <a:r>
              <a:rPr dirty="0" err="1"/>
              <a:t>Barāʾ</a:t>
            </a:r>
            <a:r>
              <a:rPr dirty="0"/>
              <a:t> b. </a:t>
            </a:r>
            <a:r>
              <a:rPr dirty="0" err="1"/>
              <a:t>Mālik</a:t>
            </a:r>
            <a:r>
              <a:rPr dirty="0"/>
              <a:t> ؓ, the brother of Anas ؓ, the Prophet's ﷺ servant.</a:t>
            </a:r>
          </a:p>
          <a:p>
            <a:endParaRPr lang="en-US" dirty="0"/>
          </a:p>
          <a:p>
            <a:r>
              <a:rPr dirty="0"/>
              <a:t>4. "Throw me over onto them" — The men refuse. He swears by Allah that they will do it.</a:t>
            </a:r>
          </a:p>
          <a:p>
            <a:r>
              <a:rPr dirty="0"/>
              <a:t>   ^ read the Arabic on the face here</a:t>
            </a:r>
          </a:p>
          <a:p>
            <a:endParaRPr lang="en-US" dirty="0"/>
          </a:p>
          <a:p>
            <a:r>
              <a:rPr dirty="0"/>
              <a:t>5. Over the wall on a shield — Lifted on spear-shafts until he topped it, and he went down among them alone.</a:t>
            </a:r>
          </a:p>
          <a:p>
            <a:endParaRPr lang="en-US" dirty="0"/>
          </a:p>
          <a:p>
            <a:r>
              <a:rPr dirty="0"/>
              <a:t>6. He opens the gate from the inside — He fought his way to it, and the army came in behind him.</a:t>
            </a:r>
          </a:p>
          <a:p>
            <a:endParaRPr lang="en-US" dirty="0"/>
          </a:p>
          <a:p>
            <a:r>
              <a:rPr dirty="0"/>
              <a:t>7. What it cost him — Some eighty-odd wounds, and </a:t>
            </a:r>
            <a:r>
              <a:rPr dirty="0" err="1"/>
              <a:t>Khālid</a:t>
            </a:r>
            <a:r>
              <a:rPr dirty="0"/>
              <a:t> ؓ stayed a month treating them. He lived.</a:t>
            </a:r>
          </a:p>
          <a:p>
            <a:endParaRPr dirty="0"/>
          </a:p>
          <a:p>
            <a:r>
              <a:rPr dirty="0"/>
              <a:t>QUOTE — </a:t>
            </a:r>
            <a:r>
              <a:rPr dirty="0" err="1"/>
              <a:t>يَا</a:t>
            </a:r>
            <a:r>
              <a:rPr dirty="0"/>
              <a:t> </a:t>
            </a:r>
            <a:r>
              <a:rPr dirty="0" err="1"/>
              <a:t>مَعْشَرَ</a:t>
            </a:r>
            <a:r>
              <a:rPr dirty="0"/>
              <a:t> </a:t>
            </a:r>
            <a:r>
              <a:rPr dirty="0" err="1"/>
              <a:t>الْمُسْلِمِينَ</a:t>
            </a:r>
            <a:r>
              <a:rPr dirty="0"/>
              <a:t>، </a:t>
            </a:r>
            <a:r>
              <a:rPr dirty="0" err="1"/>
              <a:t>أَلْقُونِي</a:t>
            </a:r>
            <a:r>
              <a:rPr dirty="0"/>
              <a:t> </a:t>
            </a:r>
            <a:r>
              <a:rPr dirty="0" err="1"/>
              <a:t>عَلَيْهِمْ</a:t>
            </a:r>
            <a:r>
              <a:rPr dirty="0"/>
              <a:t> </a:t>
            </a:r>
            <a:r>
              <a:rPr dirty="0" err="1"/>
              <a:t>فِي</a:t>
            </a:r>
            <a:r>
              <a:rPr dirty="0"/>
              <a:t> </a:t>
            </a:r>
            <a:r>
              <a:rPr dirty="0" err="1"/>
              <a:t>الْحَدِيقَةِ</a:t>
            </a:r>
            <a:r>
              <a:rPr dirty="0"/>
              <a:t>. </a:t>
            </a:r>
            <a:r>
              <a:rPr dirty="0" err="1"/>
              <a:t>فَقَالُوا</a:t>
            </a:r>
            <a:r>
              <a:rPr dirty="0"/>
              <a:t>: </a:t>
            </a:r>
            <a:r>
              <a:rPr dirty="0" err="1"/>
              <a:t>لَا</a:t>
            </a:r>
            <a:r>
              <a:rPr dirty="0"/>
              <a:t> </a:t>
            </a:r>
            <a:r>
              <a:rPr dirty="0" err="1"/>
              <a:t>نَفْعَلُ</a:t>
            </a:r>
            <a:r>
              <a:rPr dirty="0"/>
              <a:t>، </a:t>
            </a:r>
            <a:r>
              <a:rPr dirty="0" err="1"/>
              <a:t>فَقَالَ</a:t>
            </a:r>
            <a:r>
              <a:rPr dirty="0"/>
              <a:t>: </a:t>
            </a:r>
            <a:r>
              <a:rPr dirty="0" err="1"/>
              <a:t>وَاللَّهِ</a:t>
            </a:r>
            <a:r>
              <a:rPr dirty="0"/>
              <a:t> </a:t>
            </a:r>
            <a:r>
              <a:rPr dirty="0" err="1"/>
              <a:t>لَتَطْرَحُنَّنِي</a:t>
            </a:r>
            <a:r>
              <a:rPr dirty="0"/>
              <a:t> </a:t>
            </a:r>
            <a:r>
              <a:rPr dirty="0" err="1"/>
              <a:t>عَلَيْهِمْ</a:t>
            </a:r>
            <a:r>
              <a:rPr dirty="0"/>
              <a:t> </a:t>
            </a:r>
            <a:r>
              <a:rPr dirty="0" err="1"/>
              <a:t>بِهَا</a:t>
            </a:r>
            <a:r>
              <a:rPr dirty="0"/>
              <a:t>! … </a:t>
            </a:r>
            <a:r>
              <a:rPr dirty="0" err="1"/>
              <a:t>وَقَاتَلَ</a:t>
            </a:r>
            <a:r>
              <a:rPr dirty="0"/>
              <a:t> </a:t>
            </a:r>
            <a:r>
              <a:rPr dirty="0" err="1"/>
              <a:t>عَلَى</a:t>
            </a:r>
            <a:r>
              <a:rPr dirty="0"/>
              <a:t> </a:t>
            </a:r>
            <a:r>
              <a:rPr dirty="0" err="1"/>
              <a:t>الْبَابِ</a:t>
            </a:r>
            <a:r>
              <a:rPr dirty="0"/>
              <a:t> </a:t>
            </a:r>
            <a:r>
              <a:rPr dirty="0" err="1"/>
              <a:t>وَفَتَحَهُ</a:t>
            </a:r>
            <a:r>
              <a:rPr dirty="0"/>
              <a:t> </a:t>
            </a:r>
            <a:r>
              <a:rPr dirty="0" err="1"/>
              <a:t>لِلْمُسْلِمِينَ</a:t>
            </a:r>
            <a:r>
              <a:rPr dirty="0"/>
              <a:t>.</a:t>
            </a:r>
          </a:p>
          <a:p>
            <a:r>
              <a:rPr dirty="0"/>
              <a:t>"Company of Muslims — throw me over onto them into the garden. They said: we will not. He said: By Allah, you will throw me onto them in it! … And he fought at the gate and opened it for the Muslims."</a:t>
            </a:r>
          </a:p>
          <a:p>
            <a:r>
              <a:rPr dirty="0"/>
              <a:t>— </a:t>
            </a:r>
            <a:r>
              <a:rPr dirty="0" err="1"/>
              <a:t>الکامل</a:t>
            </a:r>
            <a:r>
              <a:rPr dirty="0"/>
              <a:t> </a:t>
            </a:r>
            <a:r>
              <a:rPr dirty="0" err="1"/>
              <a:t>فی</a:t>
            </a:r>
            <a:r>
              <a:rPr dirty="0"/>
              <a:t> </a:t>
            </a:r>
            <a:r>
              <a:rPr dirty="0" err="1"/>
              <a:t>التاریخ</a:t>
            </a:r>
            <a:r>
              <a:rPr dirty="0"/>
              <a:t> ج۲ ص۲۱۸</a:t>
            </a:r>
          </a:p>
          <a:p>
            <a:endParaRPr dirty="0"/>
          </a:p>
          <a:p>
            <a:r>
              <a:rPr dirty="0" err="1"/>
              <a:t>عبرت</a:t>
            </a:r>
            <a:r>
              <a:rPr dirty="0"/>
              <a:t> — One man asked to be thrown where nobody could follow him, and the whole army came in behind him through the gate he opened.</a:t>
            </a:r>
          </a:p>
          <a:p>
            <a:endParaRPr dirty="0"/>
          </a:p>
          <a:p>
            <a:r>
              <a:rPr dirty="0"/>
              <a:t>HANDS UP — Before telling it: *"The gate is shut, the wall is solid, and there are thousands inside. What do you do?"*</a:t>
            </a:r>
          </a:p>
          <a:p>
            <a:endParaRPr dirty="0"/>
          </a:p>
          <a:p>
            <a:r>
              <a:rPr dirty="0"/>
              <a:t>MAP — The red block collapses back from </a:t>
            </a:r>
            <a:r>
              <a:rPr dirty="0" err="1"/>
              <a:t>عَقْرَباء</a:t>
            </a:r>
            <a:r>
              <a:rPr dirty="0"/>
              <a:t> into a small walled enclosure. The gate is drawn shut. Then it opens **from the inside**.</a:t>
            </a:r>
          </a:p>
          <a:p>
            <a:endParaRPr dirty="0"/>
          </a:p>
          <a:p>
            <a:r>
              <a:rPr dirty="0"/>
              <a:t>**What it cost him — </a:t>
            </a:r>
            <a:r>
              <a:rPr dirty="0" err="1"/>
              <a:t>سیر</a:t>
            </a:r>
            <a:r>
              <a:rPr dirty="0"/>
              <a:t> ج۱ ص۱۹۶:** «</a:t>
            </a:r>
            <a:r>
              <a:rPr dirty="0" err="1"/>
              <a:t>فَجُرِحَ</a:t>
            </a:r>
            <a:r>
              <a:rPr dirty="0"/>
              <a:t> </a:t>
            </a:r>
            <a:r>
              <a:rPr dirty="0" err="1"/>
              <a:t>يَوْمَئِذٍ</a:t>
            </a:r>
            <a:r>
              <a:rPr dirty="0"/>
              <a:t> **</a:t>
            </a:r>
            <a:r>
              <a:rPr dirty="0" err="1"/>
              <a:t>بِضْعَةً</a:t>
            </a:r>
            <a:r>
              <a:rPr dirty="0"/>
              <a:t> </a:t>
            </a:r>
            <a:r>
              <a:rPr dirty="0" err="1"/>
              <a:t>وَثَمَانِيْنَ</a:t>
            </a:r>
            <a:r>
              <a:rPr dirty="0"/>
              <a:t> </a:t>
            </a:r>
            <a:r>
              <a:rPr dirty="0" err="1"/>
              <a:t>جُرْحاً</a:t>
            </a:r>
            <a:r>
              <a:rPr dirty="0"/>
              <a:t>**، </a:t>
            </a:r>
            <a:r>
              <a:rPr dirty="0" err="1"/>
              <a:t>وَلِذَلِكَ</a:t>
            </a:r>
            <a:r>
              <a:rPr dirty="0"/>
              <a:t> </a:t>
            </a:r>
            <a:r>
              <a:rPr dirty="0" err="1"/>
              <a:t>أَقَامَ</a:t>
            </a:r>
            <a:endParaRPr dirty="0"/>
          </a:p>
          <a:p>
            <a:r>
              <a:rPr dirty="0" err="1"/>
              <a:t>خَالِدُ</a:t>
            </a:r>
            <a:r>
              <a:rPr dirty="0"/>
              <a:t> </a:t>
            </a:r>
            <a:r>
              <a:rPr dirty="0" err="1"/>
              <a:t>بنُ</a:t>
            </a:r>
            <a:r>
              <a:rPr dirty="0"/>
              <a:t> </a:t>
            </a:r>
            <a:r>
              <a:rPr dirty="0" err="1"/>
              <a:t>الوَلِيْدِ</a:t>
            </a:r>
            <a:r>
              <a:rPr dirty="0"/>
              <a:t> </a:t>
            </a:r>
            <a:r>
              <a:rPr dirty="0" err="1"/>
              <a:t>عَلَيْهِ</a:t>
            </a:r>
            <a:r>
              <a:rPr dirty="0"/>
              <a:t> </a:t>
            </a:r>
            <a:r>
              <a:rPr dirty="0" err="1"/>
              <a:t>شَهْراً</a:t>
            </a:r>
            <a:r>
              <a:rPr dirty="0"/>
              <a:t> </a:t>
            </a:r>
            <a:r>
              <a:rPr dirty="0" err="1"/>
              <a:t>يُدَاوِي</a:t>
            </a:r>
            <a:r>
              <a:rPr dirty="0"/>
              <a:t> </a:t>
            </a:r>
            <a:r>
              <a:rPr dirty="0" err="1"/>
              <a:t>جِرَاحَهُ</a:t>
            </a:r>
            <a:r>
              <a:rPr dirty="0"/>
              <a:t>» — *some eighty-odd wounds, and </a:t>
            </a:r>
            <a:r>
              <a:rPr dirty="0" err="1"/>
              <a:t>Khālid</a:t>
            </a:r>
            <a:r>
              <a:rPr dirty="0"/>
              <a:t> ؓ stayed a</a:t>
            </a:r>
          </a:p>
          <a:p>
            <a:r>
              <a:rPr dirty="0"/>
              <a:t>month over him treating them.* **He survived.** ⚠ Ibn </a:t>
            </a:r>
            <a:r>
              <a:rPr dirty="0" err="1"/>
              <a:t>Khaldūn</a:t>
            </a:r>
            <a:r>
              <a:rPr dirty="0"/>
              <a:t> appears to list him among the killed;</a:t>
            </a:r>
          </a:p>
          <a:p>
            <a:r>
              <a:rPr dirty="0" err="1"/>
              <a:t>سیر</a:t>
            </a:r>
            <a:r>
              <a:rPr dirty="0"/>
              <a:t> contradicts it. **Do not say he died there.**</a:t>
            </a:r>
          </a:p>
          <a:p>
            <a:endParaRPr dirty="0"/>
          </a:p>
          <a:p>
            <a:r>
              <a:rPr dirty="0"/>
              <a:t>BACKGROUND (read at home, not aloud) —</a:t>
            </a:r>
          </a:p>
          <a:p>
            <a:r>
              <a:rPr dirty="0"/>
              <a:t>When </a:t>
            </a:r>
            <a:r>
              <a:rPr dirty="0" err="1"/>
              <a:t>Banū</a:t>
            </a:r>
            <a:r>
              <a:rPr dirty="0"/>
              <a:t> </a:t>
            </a:r>
            <a:r>
              <a:rPr dirty="0" err="1"/>
              <a:t>Ḥanīfa</a:t>
            </a:r>
            <a:r>
              <a:rPr dirty="0"/>
              <a:t> broke, one of their commanders called them into a walled garden and shut the gate behind them. There were thousands of them inside and the wall was solid. Al-</a:t>
            </a:r>
            <a:r>
              <a:rPr dirty="0" err="1"/>
              <a:t>Barāʾ</a:t>
            </a:r>
            <a:r>
              <a:rPr dirty="0"/>
              <a:t> b. </a:t>
            </a:r>
            <a:r>
              <a:rPr dirty="0" err="1"/>
              <a:t>Mālik</a:t>
            </a:r>
            <a:r>
              <a:rPr dirty="0"/>
              <a:t> ؓ — the brother of Anas ؓ, the Prophet's ﷺ servant — told the Muslims to throw him over it. They refused. He made them do it. They lifted him on a shield raised on spear-shafts until he topped the wall, and he went down among them alone, and fought his way to the gate, and opened it.</a:t>
            </a:r>
          </a:p>
          <a:p>
            <a:endParaRPr dirty="0"/>
          </a:p>
          <a:p>
            <a:r>
              <a:rPr dirty="0"/>
              <a:t>WHEN, as the card gives it: 11 AH→12 AH</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MAP: tools/mapstudio/scenes/s04-07-aqraba.json at step 7,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RUNSHEET: ⚠ "a second man came up" — the books name different men. If Part VII is reached, #51 names one of them as Umm </a:t>
            </a:r>
            <a:r>
              <a:rPr dirty="0" err="1"/>
              <a:t>ʿUmāra's</a:t>
            </a:r>
            <a:r>
              <a:rPr dirty="0"/>
              <a:t> ؓ own son — do not pre-empt it here, and do not adjudicate there. ⚠ Do not use the ⁨</a:t>
            </a:r>
            <a:r>
              <a:rPr dirty="0" err="1"/>
              <a:t>سیر</a:t>
            </a:r>
            <a:r>
              <a:rPr dirty="0"/>
              <a:t>⁩ line about "the best of the people of the earth and the worst": it is a ranking claim the room will argue with</a:t>
            </a:r>
          </a:p>
          <a:p>
            <a:endParaRPr dirty="0"/>
          </a:p>
          <a:p>
            <a:r>
              <a:rPr dirty="0"/>
              <a:t>SAY —</a:t>
            </a:r>
          </a:p>
          <a:p>
            <a:r>
              <a:rPr dirty="0"/>
              <a:t>1. They reach him in a gap in the wall — The fighting comes to where </a:t>
            </a:r>
            <a:r>
              <a:rPr dirty="0" err="1"/>
              <a:t>Musaylima</a:t>
            </a:r>
            <a:r>
              <a:rPr dirty="0"/>
              <a:t> stood.</a:t>
            </a:r>
            <a:endParaRPr lang="en-US" dirty="0"/>
          </a:p>
          <a:p>
            <a:endParaRPr dirty="0"/>
          </a:p>
          <a:p>
            <a:r>
              <a:rPr dirty="0"/>
              <a:t>2. </a:t>
            </a:r>
            <a:r>
              <a:rPr dirty="0" err="1"/>
              <a:t>Waḥshī</a:t>
            </a:r>
            <a:r>
              <a:rPr dirty="0"/>
              <a:t> b. </a:t>
            </a:r>
            <a:r>
              <a:rPr dirty="0" err="1"/>
              <a:t>Ḥarb</a:t>
            </a:r>
            <a:r>
              <a:rPr dirty="0"/>
              <a:t> ؓ — The man who had killed </a:t>
            </a:r>
            <a:r>
              <a:rPr dirty="0" err="1"/>
              <a:t>Ḥamza</a:t>
            </a:r>
            <a:r>
              <a:rPr dirty="0"/>
              <a:t> ؓ at </a:t>
            </a:r>
            <a:r>
              <a:rPr dirty="0" err="1"/>
              <a:t>Uḥud</a:t>
            </a:r>
            <a:r>
              <a:rPr dirty="0"/>
              <a:t>, before he was a Muslim.</a:t>
            </a:r>
          </a:p>
          <a:p>
            <a:endParaRPr lang="en-US" dirty="0"/>
          </a:p>
          <a:p>
            <a:r>
              <a:rPr dirty="0"/>
              <a:t>3. The javelin, and a second man — It went through him and out the other side; a second man came up and struck, and he fell.</a:t>
            </a:r>
          </a:p>
          <a:p>
            <a:endParaRPr lang="en-US" dirty="0"/>
          </a:p>
          <a:p>
            <a:r>
              <a:rPr dirty="0"/>
              <a:t>4. A woman cried out from the fort above — At the moment he went down.</a:t>
            </a:r>
          </a:p>
          <a:p>
            <a:endParaRPr lang="en-US" dirty="0"/>
          </a:p>
          <a:p>
            <a:r>
              <a:rPr dirty="0"/>
              <a:t>5. </a:t>
            </a:r>
            <a:r>
              <a:rPr dirty="0" err="1"/>
              <a:t>Khālid</a:t>
            </a:r>
            <a:r>
              <a:rPr dirty="0"/>
              <a:t> ؓ is shown a body — Is this him? "No, by Allah — this one is better than him."</a:t>
            </a:r>
          </a:p>
          <a:p>
            <a:endParaRPr lang="en-US" dirty="0"/>
          </a:p>
          <a:p>
            <a:r>
              <a:rPr dirty="0"/>
              <a:t>6. What </a:t>
            </a:r>
            <a:r>
              <a:rPr dirty="0" err="1"/>
              <a:t>Waḥshī</a:t>
            </a:r>
            <a:r>
              <a:rPr dirty="0"/>
              <a:t> ؓ said afterwards — Not about himself: he never saw men more steadfast in death than </a:t>
            </a:r>
            <a:r>
              <a:rPr dirty="0" err="1"/>
              <a:t>Musaylima's</a:t>
            </a:r>
            <a:r>
              <a:rPr dirty="0"/>
              <a:t> companions.</a:t>
            </a:r>
          </a:p>
          <a:p>
            <a:r>
              <a:rPr dirty="0"/>
              <a:t>   ^ read the Arabic on the face here</a:t>
            </a:r>
          </a:p>
          <a:p>
            <a:endParaRPr dirty="0"/>
          </a:p>
          <a:p>
            <a:r>
              <a:rPr dirty="0"/>
              <a:t>QUOTE — </a:t>
            </a:r>
            <a:r>
              <a:rPr dirty="0" err="1"/>
              <a:t>وَعَنْ</a:t>
            </a:r>
            <a:r>
              <a:rPr dirty="0"/>
              <a:t> </a:t>
            </a:r>
            <a:r>
              <a:rPr dirty="0" err="1"/>
              <a:t>وَحْشِيٍّ</a:t>
            </a:r>
            <a:r>
              <a:rPr dirty="0"/>
              <a:t>، </a:t>
            </a:r>
            <a:r>
              <a:rPr dirty="0" err="1"/>
              <a:t>قَالَ</a:t>
            </a:r>
            <a:r>
              <a:rPr dirty="0"/>
              <a:t>: </a:t>
            </a:r>
            <a:r>
              <a:rPr dirty="0" err="1"/>
              <a:t>لَمْ</a:t>
            </a:r>
            <a:r>
              <a:rPr dirty="0"/>
              <a:t> </a:t>
            </a:r>
            <a:r>
              <a:rPr dirty="0" err="1"/>
              <a:t>أَرَ</a:t>
            </a:r>
            <a:r>
              <a:rPr dirty="0"/>
              <a:t> </a:t>
            </a:r>
            <a:r>
              <a:rPr dirty="0" err="1"/>
              <a:t>قَطُّ</a:t>
            </a:r>
            <a:r>
              <a:rPr dirty="0"/>
              <a:t> </a:t>
            </a:r>
            <a:r>
              <a:rPr dirty="0" err="1"/>
              <a:t>أَصْبَرَ</a:t>
            </a:r>
            <a:r>
              <a:rPr dirty="0"/>
              <a:t> </a:t>
            </a:r>
            <a:r>
              <a:rPr dirty="0" err="1"/>
              <a:t>عَلَى</a:t>
            </a:r>
            <a:r>
              <a:rPr dirty="0"/>
              <a:t> </a:t>
            </a:r>
            <a:r>
              <a:rPr dirty="0" err="1"/>
              <a:t>الْمَوْتِ</a:t>
            </a:r>
            <a:r>
              <a:rPr dirty="0"/>
              <a:t> </a:t>
            </a:r>
            <a:r>
              <a:rPr dirty="0" err="1"/>
              <a:t>مِنْ</a:t>
            </a:r>
            <a:r>
              <a:rPr dirty="0"/>
              <a:t> </a:t>
            </a:r>
            <a:r>
              <a:rPr dirty="0" err="1"/>
              <a:t>أَصْحَابِ</a:t>
            </a:r>
            <a:r>
              <a:rPr dirty="0"/>
              <a:t> </a:t>
            </a:r>
            <a:r>
              <a:rPr dirty="0" err="1"/>
              <a:t>مُسَيْلِمَةَ</a:t>
            </a:r>
            <a:r>
              <a:rPr dirty="0"/>
              <a:t>، </a:t>
            </a:r>
            <a:r>
              <a:rPr dirty="0" err="1"/>
              <a:t>ثُمَّ</a:t>
            </a:r>
            <a:r>
              <a:rPr dirty="0"/>
              <a:t> </a:t>
            </a:r>
            <a:r>
              <a:rPr dirty="0" err="1"/>
              <a:t>ذَكَرَ</a:t>
            </a:r>
            <a:r>
              <a:rPr dirty="0"/>
              <a:t> </a:t>
            </a:r>
            <a:r>
              <a:rPr dirty="0" err="1"/>
              <a:t>أَنَّهُ</a:t>
            </a:r>
            <a:r>
              <a:rPr dirty="0"/>
              <a:t> </a:t>
            </a:r>
            <a:r>
              <a:rPr dirty="0" err="1"/>
              <a:t>شَارَكَ</a:t>
            </a:r>
            <a:r>
              <a:rPr dirty="0"/>
              <a:t> </a:t>
            </a:r>
            <a:r>
              <a:rPr dirty="0" err="1"/>
              <a:t>فِي</a:t>
            </a:r>
            <a:r>
              <a:rPr dirty="0"/>
              <a:t> </a:t>
            </a:r>
            <a:r>
              <a:rPr dirty="0" err="1"/>
              <a:t>قَتْلِ</a:t>
            </a:r>
            <a:r>
              <a:rPr dirty="0"/>
              <a:t> </a:t>
            </a:r>
            <a:r>
              <a:rPr dirty="0" err="1"/>
              <a:t>مُسَيْلِمَةَ</a:t>
            </a:r>
            <a:r>
              <a:rPr dirty="0"/>
              <a:t>.</a:t>
            </a:r>
          </a:p>
          <a:p>
            <a:r>
              <a:rPr dirty="0"/>
              <a:t>"From </a:t>
            </a:r>
            <a:r>
              <a:rPr dirty="0" err="1"/>
              <a:t>Waḥshī</a:t>
            </a:r>
            <a:r>
              <a:rPr dirty="0"/>
              <a:t>: I never saw men more steadfast in the face of death than </a:t>
            </a:r>
            <a:r>
              <a:rPr dirty="0" err="1"/>
              <a:t>Musaylima's</a:t>
            </a:r>
            <a:r>
              <a:rPr dirty="0"/>
              <a:t> companions — then he mentioned that he had a share in killing </a:t>
            </a:r>
            <a:r>
              <a:rPr dirty="0" err="1"/>
              <a:t>Musaylima</a:t>
            </a:r>
            <a:r>
              <a:rPr dirty="0"/>
              <a:t>."</a:t>
            </a:r>
          </a:p>
          <a:p>
            <a:r>
              <a:rPr dirty="0"/>
              <a:t>— </a:t>
            </a:r>
            <a:r>
              <a:rPr dirty="0" err="1"/>
              <a:t>سیر</a:t>
            </a:r>
            <a:r>
              <a:rPr dirty="0"/>
              <a:t> </a:t>
            </a:r>
            <a:r>
              <a:rPr dirty="0" err="1"/>
              <a:t>أعلام</a:t>
            </a:r>
            <a:r>
              <a:rPr dirty="0"/>
              <a:t> </a:t>
            </a:r>
            <a:r>
              <a:rPr dirty="0" err="1"/>
              <a:t>النبلاء</a:t>
            </a:r>
            <a:r>
              <a:rPr dirty="0"/>
              <a:t> (</a:t>
            </a:r>
            <a:r>
              <a:rPr dirty="0" err="1"/>
              <a:t>سير</a:t>
            </a:r>
            <a:r>
              <a:rPr dirty="0"/>
              <a:t> </a:t>
            </a:r>
            <a:r>
              <a:rPr dirty="0" err="1"/>
              <a:t>الخلفاء</a:t>
            </a:r>
            <a:r>
              <a:rPr dirty="0"/>
              <a:t> </a:t>
            </a:r>
            <a:r>
              <a:rPr dirty="0" err="1"/>
              <a:t>الراشدين</a:t>
            </a:r>
            <a:r>
              <a:rPr dirty="0"/>
              <a:t>) ص۴۸</a:t>
            </a:r>
          </a:p>
          <a:p>
            <a:endParaRPr dirty="0"/>
          </a:p>
          <a:p>
            <a:r>
              <a:rPr dirty="0" err="1"/>
              <a:t>عبرت</a:t>
            </a:r>
            <a:r>
              <a:rPr dirty="0"/>
              <a:t> — The man who killed their leader is the one the book quotes praising their courage.</a:t>
            </a:r>
          </a:p>
          <a:p>
            <a:endParaRPr dirty="0"/>
          </a:p>
          <a:p>
            <a:r>
              <a:rPr dirty="0"/>
              <a:t>MAP — The enclosure fills blue. </a:t>
            </a:r>
            <a:r>
              <a:rPr dirty="0" err="1"/>
              <a:t>اليمامة</a:t>
            </a:r>
            <a:r>
              <a:rPr dirty="0"/>
              <a:t> turns from red to blue.</a:t>
            </a:r>
          </a:p>
          <a:p>
            <a:endParaRPr dirty="0"/>
          </a:p>
          <a:p>
            <a:r>
              <a:rPr dirty="0"/>
              <a:t>⚠ **Sources differ on the second man**: </a:t>
            </a:r>
            <a:r>
              <a:rPr dirty="0" err="1"/>
              <a:t>البدایہ</a:t>
            </a:r>
            <a:r>
              <a:rPr dirty="0"/>
              <a:t> ج۷ ص۳۴ names </a:t>
            </a:r>
            <a:r>
              <a:rPr dirty="0" err="1"/>
              <a:t>Abū</a:t>
            </a:r>
            <a:r>
              <a:rPr dirty="0"/>
              <a:t> </a:t>
            </a:r>
            <a:r>
              <a:rPr dirty="0" err="1"/>
              <a:t>Dujāna</a:t>
            </a:r>
            <a:r>
              <a:rPr dirty="0"/>
              <a:t> ؓ; </a:t>
            </a:r>
            <a:r>
              <a:rPr dirty="0" err="1"/>
              <a:t>الکامل</a:t>
            </a:r>
            <a:r>
              <a:rPr dirty="0"/>
              <a:t> ج۲ ص۲۱۸ says only</a:t>
            </a:r>
          </a:p>
          <a:p>
            <a:r>
              <a:rPr dirty="0"/>
              <a:t>"a man of the </a:t>
            </a:r>
            <a:r>
              <a:rPr dirty="0" err="1"/>
              <a:t>Anṣār</a:t>
            </a:r>
            <a:r>
              <a:rPr dirty="0"/>
              <a:t>". **Say "a second man came up".** ⚠ **Do not use the anonymous saying on the same</a:t>
            </a:r>
          </a:p>
          <a:p>
            <a:r>
              <a:rPr dirty="0" err="1"/>
              <a:t>سیر</a:t>
            </a:r>
            <a:r>
              <a:rPr dirty="0"/>
              <a:t> page about "the best of the people of the earth and the worst" — it makes a ranking claim the room</a:t>
            </a:r>
          </a:p>
          <a:p>
            <a:r>
              <a:rPr dirty="0"/>
              <a:t>will want to argue with.** Use </a:t>
            </a:r>
            <a:r>
              <a:rPr dirty="0" err="1"/>
              <a:t>البدایہ's</a:t>
            </a:r>
            <a:r>
              <a:rPr dirty="0"/>
              <a:t> plain apposition instead: *</a:t>
            </a:r>
            <a:r>
              <a:rPr dirty="0" err="1"/>
              <a:t>Waḥshī</a:t>
            </a:r>
            <a:r>
              <a:rPr dirty="0"/>
              <a:t> b. </a:t>
            </a:r>
            <a:r>
              <a:rPr dirty="0" err="1"/>
              <a:t>Ḥarb</a:t>
            </a:r>
            <a:r>
              <a:rPr dirty="0"/>
              <a:t> ؓ, who had killed</a:t>
            </a:r>
          </a:p>
          <a:p>
            <a:r>
              <a:rPr dirty="0" err="1"/>
              <a:t>Ḥamza</a:t>
            </a:r>
            <a:r>
              <a:rPr dirty="0"/>
              <a:t> ؓ.*</a:t>
            </a:r>
          </a:p>
          <a:p>
            <a:r>
              <a:rPr dirty="0"/>
              <a:t>**And </a:t>
            </a:r>
            <a:r>
              <a:rPr dirty="0" err="1"/>
              <a:t>Khālid</a:t>
            </a:r>
            <a:r>
              <a:rPr dirty="0"/>
              <a:t> ؓ walking the dead with the prisoner** — </a:t>
            </a:r>
            <a:r>
              <a:rPr dirty="0" err="1"/>
              <a:t>البدایہ</a:t>
            </a:r>
            <a:r>
              <a:rPr dirty="0"/>
              <a:t> ج۷ ص۳۵: he was shown a body and asked, is</a:t>
            </a:r>
          </a:p>
          <a:p>
            <a:r>
              <a:rPr dirty="0"/>
              <a:t>this him? «**</a:t>
            </a:r>
            <a:r>
              <a:rPr dirty="0" err="1"/>
              <a:t>لا</a:t>
            </a:r>
            <a:r>
              <a:rPr dirty="0"/>
              <a:t>، </a:t>
            </a:r>
            <a:r>
              <a:rPr dirty="0" err="1"/>
              <a:t>والله</a:t>
            </a:r>
            <a:r>
              <a:rPr dirty="0"/>
              <a:t> </a:t>
            </a:r>
            <a:r>
              <a:rPr dirty="0" err="1"/>
              <a:t>هذا</a:t>
            </a:r>
            <a:r>
              <a:rPr dirty="0"/>
              <a:t> </a:t>
            </a:r>
            <a:r>
              <a:rPr dirty="0" err="1"/>
              <a:t>خيرٌ</a:t>
            </a:r>
            <a:r>
              <a:rPr dirty="0"/>
              <a:t> </a:t>
            </a:r>
            <a:r>
              <a:rPr dirty="0" err="1"/>
              <a:t>منه</a:t>
            </a:r>
            <a:r>
              <a:rPr dirty="0"/>
              <a:t>**». Then they came to a small sallow man, and </a:t>
            </a:r>
            <a:r>
              <a:rPr dirty="0" err="1"/>
              <a:t>Khālid</a:t>
            </a:r>
            <a:r>
              <a:rPr dirty="0"/>
              <a:t> ؓ said: «**</a:t>
            </a:r>
            <a:r>
              <a:rPr dirty="0" err="1"/>
              <a:t>قبَّحكم</a:t>
            </a:r>
            <a:endParaRPr dirty="0"/>
          </a:p>
          <a:p>
            <a:r>
              <a:rPr dirty="0" err="1"/>
              <a:t>الله</a:t>
            </a:r>
            <a:r>
              <a:rPr dirty="0"/>
              <a:t> </a:t>
            </a:r>
            <a:r>
              <a:rPr dirty="0" err="1"/>
              <a:t>على</a:t>
            </a:r>
            <a:r>
              <a:rPr dirty="0"/>
              <a:t> </a:t>
            </a:r>
            <a:r>
              <a:rPr dirty="0" err="1"/>
              <a:t>اتّباعكم</a:t>
            </a:r>
            <a:r>
              <a:rPr dirty="0"/>
              <a:t> </a:t>
            </a:r>
            <a:r>
              <a:rPr dirty="0" err="1"/>
              <a:t>هذا</a:t>
            </a:r>
            <a:r>
              <a:rPr dirty="0"/>
              <a:t>**» — *"May Allah disfigure you for following this."*</a:t>
            </a:r>
          </a:p>
          <a:p>
            <a:endParaRPr dirty="0"/>
          </a:p>
          <a:p>
            <a:r>
              <a:rPr dirty="0"/>
              <a:t>BACKGROUND (read at home, not aloud) —</a:t>
            </a:r>
          </a:p>
          <a:p>
            <a:r>
              <a:rPr dirty="0"/>
              <a:t>They got through to him standing in a gap in the wall. </a:t>
            </a:r>
            <a:r>
              <a:rPr dirty="0" err="1"/>
              <a:t>Waḥshī</a:t>
            </a:r>
            <a:r>
              <a:rPr dirty="0"/>
              <a:t> b. </a:t>
            </a:r>
            <a:r>
              <a:rPr dirty="0" err="1"/>
              <a:t>Ḥarb</a:t>
            </a:r>
            <a:r>
              <a:rPr dirty="0"/>
              <a:t> ؓ — the man who had killed </a:t>
            </a:r>
            <a:r>
              <a:rPr dirty="0" err="1"/>
              <a:t>Ḥamza</a:t>
            </a:r>
            <a:r>
              <a:rPr dirty="0"/>
              <a:t> ؓ at </a:t>
            </a:r>
            <a:r>
              <a:rPr dirty="0" err="1"/>
              <a:t>Uḥud</a:t>
            </a:r>
            <a:r>
              <a:rPr dirty="0"/>
              <a:t>, before he was a Muslim — threw his javelin, and it went through him and out the other side; a second man struck him with a sword and he fell. A woman cried out from the fort above. And afterwards, when </a:t>
            </a:r>
            <a:r>
              <a:rPr dirty="0" err="1"/>
              <a:t>Waḥshī</a:t>
            </a:r>
            <a:r>
              <a:rPr dirty="0"/>
              <a:t> ؓ was asked about the battle, what he said was not about himself.</a:t>
            </a:r>
          </a:p>
          <a:p>
            <a:endParaRPr dirty="0"/>
          </a:p>
          <a:p>
            <a:r>
              <a:rPr dirty="0"/>
              <a:t>WHEN, as the card gives it: 11 AH→12 AH</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RUNSHEET: </a:t>
            </a:r>
            <a:r>
              <a:rPr dirty="0" err="1"/>
              <a:t>Mujjāʿa's</a:t>
            </a:r>
            <a:r>
              <a:rPr dirty="0"/>
              <a:t> third appearance, and the end of his arc. Say it beside evening 2's reprisals (): the same commander, one campaign, both pages</a:t>
            </a:r>
          </a:p>
          <a:p>
            <a:endParaRPr dirty="0"/>
          </a:p>
          <a:p>
            <a:r>
              <a:rPr dirty="0"/>
              <a:t>SAY —</a:t>
            </a:r>
          </a:p>
          <a:p>
            <a:r>
              <a:rPr dirty="0"/>
              <a:t>1. The forts are still holding — The fighting is over, the forts are not, and the army is exhausted.</a:t>
            </a:r>
            <a:endParaRPr lang="en-US" dirty="0"/>
          </a:p>
          <a:p>
            <a:endParaRPr dirty="0"/>
          </a:p>
          <a:p>
            <a:r>
              <a:rPr dirty="0"/>
              <a:t>2. The prisoner is now the negotiator — </a:t>
            </a:r>
            <a:r>
              <a:rPr dirty="0" err="1"/>
              <a:t>Mujjāʿa</a:t>
            </a:r>
            <a:r>
              <a:rPr dirty="0"/>
              <a:t> goes in to consult his own people.</a:t>
            </a:r>
          </a:p>
          <a:p>
            <a:endParaRPr lang="en-US" dirty="0"/>
          </a:p>
          <a:p>
            <a:r>
              <a:rPr dirty="0"/>
              <a:t>3. What he actually did — He put the women and the old men up on the walls in </a:t>
            </a:r>
            <a:r>
              <a:rPr dirty="0" err="1"/>
              <a:t>armour</a:t>
            </a:r>
            <a:r>
              <a:rPr dirty="0"/>
              <a:t>.</a:t>
            </a:r>
          </a:p>
          <a:p>
            <a:endParaRPr lang="en-US" dirty="0"/>
          </a:p>
          <a:p>
            <a:r>
              <a:rPr dirty="0"/>
              <a:t>4. </a:t>
            </a:r>
            <a:r>
              <a:rPr dirty="0" err="1"/>
              <a:t>Khālid</a:t>
            </a:r>
            <a:r>
              <a:rPr dirty="0"/>
              <a:t> ؓ looks at the battlements — He sees them full of heads, and settles on terms.</a:t>
            </a:r>
          </a:p>
          <a:p>
            <a:endParaRPr lang="en-US" dirty="0"/>
          </a:p>
          <a:p>
            <a:r>
              <a:rPr dirty="0"/>
              <a:t>5. The forts open — Inside there are women, children and old men, and nobody else.</a:t>
            </a:r>
          </a:p>
          <a:p>
            <a:endParaRPr lang="en-US" dirty="0"/>
          </a:p>
          <a:p>
            <a:r>
              <a:rPr dirty="0"/>
              <a:t>6. "You tricked me" — "They are my people, and I could not do other than I did."</a:t>
            </a:r>
          </a:p>
          <a:p>
            <a:endParaRPr lang="en-US" dirty="0"/>
          </a:p>
          <a:p>
            <a:r>
              <a:rPr dirty="0"/>
              <a:t>7. Then the caliph's letter arrives — Kill every grown man among them. The terms had already been given.</a:t>
            </a:r>
          </a:p>
          <a:p>
            <a:r>
              <a:rPr dirty="0"/>
              <a:t>   ^ read the Arabic on the face here</a:t>
            </a:r>
          </a:p>
          <a:p>
            <a:endParaRPr lang="en-US" dirty="0"/>
          </a:p>
          <a:p>
            <a:r>
              <a:rPr dirty="0"/>
              <a:t>8. He kept faith and did not betray them — The agreement had been made, so it stood.</a:t>
            </a:r>
          </a:p>
          <a:p>
            <a:endParaRPr dirty="0"/>
          </a:p>
          <a:p>
            <a:r>
              <a:rPr dirty="0"/>
              <a:t>QUOTE — </a:t>
            </a:r>
            <a:r>
              <a:rPr dirty="0" err="1"/>
              <a:t>وَوَصَلَ</a:t>
            </a:r>
            <a:r>
              <a:rPr dirty="0"/>
              <a:t> </a:t>
            </a:r>
            <a:r>
              <a:rPr dirty="0" err="1"/>
              <a:t>كِتَابُ</a:t>
            </a:r>
            <a:r>
              <a:rPr dirty="0"/>
              <a:t> </a:t>
            </a:r>
            <a:r>
              <a:rPr dirty="0" err="1"/>
              <a:t>أَبِي</a:t>
            </a:r>
            <a:r>
              <a:rPr dirty="0"/>
              <a:t> </a:t>
            </a:r>
            <a:r>
              <a:rPr dirty="0" err="1"/>
              <a:t>بَكْرٍ</a:t>
            </a:r>
            <a:r>
              <a:rPr dirty="0"/>
              <a:t> </a:t>
            </a:r>
            <a:r>
              <a:rPr dirty="0" err="1"/>
              <a:t>إِلَى</a:t>
            </a:r>
            <a:r>
              <a:rPr dirty="0"/>
              <a:t> </a:t>
            </a:r>
            <a:r>
              <a:rPr dirty="0" err="1"/>
              <a:t>خَالِدٍ</a:t>
            </a:r>
            <a:r>
              <a:rPr dirty="0"/>
              <a:t> </a:t>
            </a:r>
            <a:r>
              <a:rPr dirty="0" err="1"/>
              <a:t>أَنْ</a:t>
            </a:r>
            <a:r>
              <a:rPr dirty="0"/>
              <a:t> </a:t>
            </a:r>
            <a:r>
              <a:rPr dirty="0" err="1"/>
              <a:t>يَقْتُلَ</a:t>
            </a:r>
            <a:r>
              <a:rPr dirty="0"/>
              <a:t> </a:t>
            </a:r>
            <a:r>
              <a:rPr dirty="0" err="1"/>
              <a:t>كُلَّ</a:t>
            </a:r>
            <a:r>
              <a:rPr dirty="0"/>
              <a:t> </a:t>
            </a:r>
            <a:r>
              <a:rPr dirty="0" err="1"/>
              <a:t>مُحْتَلِمٍ</a:t>
            </a:r>
            <a:r>
              <a:rPr dirty="0"/>
              <a:t>، </a:t>
            </a:r>
            <a:r>
              <a:rPr dirty="0" err="1"/>
              <a:t>وَكَانَ</a:t>
            </a:r>
            <a:r>
              <a:rPr dirty="0"/>
              <a:t> </a:t>
            </a:r>
            <a:r>
              <a:rPr dirty="0" err="1"/>
              <a:t>قَدْ</a:t>
            </a:r>
            <a:r>
              <a:rPr dirty="0"/>
              <a:t> </a:t>
            </a:r>
            <a:r>
              <a:rPr dirty="0" err="1"/>
              <a:t>صَالَحَهُمْ</a:t>
            </a:r>
            <a:r>
              <a:rPr dirty="0"/>
              <a:t>، </a:t>
            </a:r>
            <a:r>
              <a:rPr dirty="0" err="1"/>
              <a:t>فَوَفَى</a:t>
            </a:r>
            <a:r>
              <a:rPr dirty="0"/>
              <a:t> </a:t>
            </a:r>
            <a:r>
              <a:rPr dirty="0" err="1"/>
              <a:t>لَهُمْ</a:t>
            </a:r>
            <a:r>
              <a:rPr dirty="0"/>
              <a:t> </a:t>
            </a:r>
            <a:r>
              <a:rPr dirty="0" err="1"/>
              <a:t>وَلَمْ</a:t>
            </a:r>
            <a:r>
              <a:rPr dirty="0"/>
              <a:t> </a:t>
            </a:r>
            <a:r>
              <a:rPr dirty="0" err="1"/>
              <a:t>يَغْدِرْ</a:t>
            </a:r>
            <a:r>
              <a:rPr dirty="0"/>
              <a:t>.</a:t>
            </a:r>
          </a:p>
          <a:p>
            <a:r>
              <a:rPr dirty="0"/>
              <a:t>"And </a:t>
            </a:r>
            <a:r>
              <a:rPr dirty="0" err="1"/>
              <a:t>Abū</a:t>
            </a:r>
            <a:r>
              <a:rPr dirty="0"/>
              <a:t> Bakr's letter reached </a:t>
            </a:r>
            <a:r>
              <a:rPr dirty="0" err="1"/>
              <a:t>Khālid</a:t>
            </a:r>
            <a:r>
              <a:rPr dirty="0"/>
              <a:t>, ordering him to kill every man who had reached puberty — but he had already made terms with them, so he kept faith with them and did not betray them."</a:t>
            </a:r>
          </a:p>
          <a:p>
            <a:r>
              <a:rPr dirty="0"/>
              <a:t>— </a:t>
            </a:r>
            <a:r>
              <a:rPr dirty="0" err="1"/>
              <a:t>الکامل</a:t>
            </a:r>
            <a:r>
              <a:rPr dirty="0"/>
              <a:t> </a:t>
            </a:r>
            <a:r>
              <a:rPr dirty="0" err="1"/>
              <a:t>فی</a:t>
            </a:r>
            <a:r>
              <a:rPr dirty="0"/>
              <a:t> </a:t>
            </a:r>
            <a:r>
              <a:rPr dirty="0" err="1"/>
              <a:t>التاریخ</a:t>
            </a:r>
            <a:r>
              <a:rPr dirty="0"/>
              <a:t> ج۲ ص۲۱۹</a:t>
            </a:r>
          </a:p>
          <a:p>
            <a:endParaRPr dirty="0"/>
          </a:p>
          <a:p>
            <a:r>
              <a:rPr dirty="0" err="1"/>
              <a:t>عبرت</a:t>
            </a:r>
            <a:r>
              <a:rPr dirty="0"/>
              <a:t> — He had been deceived into the agreement and he kept it anyway, because the agreement had already been made.</a:t>
            </a:r>
          </a:p>
          <a:p>
            <a:endParaRPr dirty="0"/>
          </a:p>
          <a:p>
            <a:r>
              <a:rPr dirty="0"/>
              <a:t>HANDS UP — Before telling it: *"You have signed terms. Then you find out you were tricked into them. Are you still bound?"*</a:t>
            </a:r>
          </a:p>
          <a:p>
            <a:endParaRPr dirty="0"/>
          </a:p>
          <a:p>
            <a:r>
              <a:rPr dirty="0"/>
              <a:t>MAP — The forts of </a:t>
            </a:r>
            <a:r>
              <a:rPr dirty="0" err="1"/>
              <a:t>اليمامة</a:t>
            </a:r>
            <a:r>
              <a:rPr dirty="0"/>
              <a:t>, ringed and then </a:t>
            </a:r>
            <a:r>
              <a:rPr dirty="0" err="1"/>
              <a:t>unringed</a:t>
            </a:r>
            <a:r>
              <a:rPr dirty="0"/>
              <a:t>.</a:t>
            </a:r>
          </a:p>
          <a:p>
            <a:endParaRPr dirty="0"/>
          </a:p>
          <a:p>
            <a:r>
              <a:rPr dirty="0"/>
              <a:t>BACKGROUND (read at home, not aloud) —</a:t>
            </a:r>
          </a:p>
          <a:p>
            <a:r>
              <a:rPr dirty="0"/>
              <a:t>The forts were still holding, and the Muslims were exhausted. The prisoner — </a:t>
            </a:r>
            <a:r>
              <a:rPr dirty="0" err="1"/>
              <a:t>Mujjāʿa</a:t>
            </a:r>
            <a:r>
              <a:rPr dirty="0"/>
              <a:t>, now the negotiator — went in to consult his people and came back saying they refused the terms. What he had actually done was dress the women and the old men in </a:t>
            </a:r>
            <a:r>
              <a:rPr dirty="0" err="1"/>
              <a:t>armour</a:t>
            </a:r>
            <a:r>
              <a:rPr dirty="0"/>
              <a:t> and put them up on the walls. </a:t>
            </a:r>
            <a:r>
              <a:rPr dirty="0" err="1"/>
              <a:t>Khālid</a:t>
            </a:r>
            <a:r>
              <a:rPr dirty="0"/>
              <a:t> ؓ looked at the battlements, saw them full of heads, and settled. Then the forts were opened and there was nobody inside but women, children and old men. And then a letter arrived from Medina ordering him to kill every grown man among them.</a:t>
            </a:r>
          </a:p>
          <a:p>
            <a:endParaRPr dirty="0"/>
          </a:p>
          <a:p>
            <a:r>
              <a:rPr dirty="0"/>
              <a:t>**The exchange:** «**</a:t>
            </a:r>
            <a:r>
              <a:rPr dirty="0" err="1"/>
              <a:t>وَيْحَكَ</a:t>
            </a:r>
            <a:r>
              <a:rPr dirty="0"/>
              <a:t>! </a:t>
            </a:r>
            <a:r>
              <a:rPr dirty="0" err="1"/>
              <a:t>خَدَعْتَنِي</a:t>
            </a:r>
            <a:r>
              <a:rPr dirty="0"/>
              <a:t>!**» — «**</a:t>
            </a:r>
            <a:r>
              <a:rPr dirty="0" err="1"/>
              <a:t>هُمْ</a:t>
            </a:r>
            <a:r>
              <a:rPr dirty="0"/>
              <a:t> </a:t>
            </a:r>
            <a:r>
              <a:rPr dirty="0" err="1"/>
              <a:t>قَوْمِي</a:t>
            </a:r>
            <a:r>
              <a:rPr dirty="0"/>
              <a:t>، </a:t>
            </a:r>
            <a:r>
              <a:rPr dirty="0" err="1"/>
              <a:t>وَلَمْ</a:t>
            </a:r>
            <a:r>
              <a:rPr dirty="0"/>
              <a:t> </a:t>
            </a:r>
            <a:r>
              <a:rPr dirty="0" err="1"/>
              <a:t>أَسْتَطِعْ</a:t>
            </a:r>
            <a:r>
              <a:rPr dirty="0"/>
              <a:t> </a:t>
            </a:r>
            <a:r>
              <a:rPr dirty="0" err="1"/>
              <a:t>إِلَّا</a:t>
            </a:r>
            <a:r>
              <a:rPr dirty="0"/>
              <a:t> </a:t>
            </a:r>
            <a:r>
              <a:rPr dirty="0" err="1"/>
              <a:t>مَا</a:t>
            </a:r>
            <a:r>
              <a:rPr dirty="0"/>
              <a:t> </a:t>
            </a:r>
            <a:r>
              <a:rPr dirty="0" err="1"/>
              <a:t>صَنَعْتُ</a:t>
            </a:r>
            <a:r>
              <a:rPr dirty="0"/>
              <a:t>**»</a:t>
            </a:r>
          </a:p>
          <a:p>
            <a:r>
              <a:rPr dirty="0"/>
              <a:t>(</a:t>
            </a:r>
            <a:r>
              <a:rPr dirty="0" err="1"/>
              <a:t>الکامل</a:t>
            </a:r>
            <a:r>
              <a:rPr dirty="0"/>
              <a:t> ج۲ ص۲۱۹). </a:t>
            </a:r>
            <a:r>
              <a:rPr dirty="0" err="1"/>
              <a:t>ابن</a:t>
            </a:r>
            <a:r>
              <a:rPr dirty="0"/>
              <a:t> </a:t>
            </a:r>
            <a:r>
              <a:rPr dirty="0" err="1"/>
              <a:t>خلدون</a:t>
            </a:r>
            <a:r>
              <a:rPr dirty="0"/>
              <a:t> ج۲ ص۵۰۳ confirms the kept treaty independently.</a:t>
            </a:r>
          </a:p>
          <a:p>
            <a:r>
              <a:rPr dirty="0"/>
              <a:t>**Pair this card directly with E-RC11.** The same commander, in one campaign: reprisals by fire on</a:t>
            </a:r>
          </a:p>
          <a:p>
            <a:r>
              <a:rPr dirty="0"/>
              <a:t>one page, and a treaty </a:t>
            </a:r>
            <a:r>
              <a:rPr dirty="0" err="1"/>
              <a:t>honoured</a:t>
            </a:r>
            <a:r>
              <a:rPr dirty="0"/>
              <a:t> against a caliph's written order on another. Say both.</a:t>
            </a:r>
          </a:p>
          <a:p>
            <a:endParaRPr dirty="0"/>
          </a:p>
          <a:p>
            <a:r>
              <a:rPr dirty="0"/>
              <a:t>WHEN, as the card gives it: 12 AH</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BOOKEND OUT STOP D — the Line. Re-used verbatim as next evening's opening slide (DECISIONS.md #23).</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MAP: tools/mapstudio/scenes/s04-close-stop-d.json at step 1,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TONIGHT'S عبرت — say each one, then move on:</a:t>
            </a:r>
          </a:p>
          <a:p>
            <a:r>
              <a:t>1. The caliph said out loud that his commander had got it wrong, paid for it, and kept him. Those three are one decision, not three.</a:t>
            </a:r>
          </a:p>
          <a:p>
            <a:r>
              <a:t>2. When the line broke, what re-formed it was what the men had memorised.</a:t>
            </a:r>
          </a:p>
          <a:p>
            <a:r>
              <a:t>3. One man asked to be thrown where nobody could follow him, and the whole army came in behind him through the gate he opened.</a:t>
            </a:r>
          </a:p>
          <a:p>
            <a:r>
              <a:t>4. He had been deceived into the agreement and he kept it anyway, because the agreement had already been made.</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RUNSHEET: This is where #28's silence is answered. ʿUmar's ؓ grief, and his son's reply</a:t>
            </a:r>
          </a:p>
          <a:p>
            <a:endParaRPr/>
          </a:p>
          <a:p>
            <a:r>
              <a:t>SAY —</a:t>
            </a:r>
          </a:p>
          <a:p>
            <a:r>
              <a:t>1. The elder brother — Older than ʿUmar ؓ, and a Muslim before him.</a:t>
            </a:r>
          </a:p>
          <a:p>
            <a:r>
              <a:t>2. At Badr, the mail coat — ʿUmar ؓ offered him his own; he refused it, wanting from martyrdom what his brother wanted.</a:t>
            </a:r>
          </a:p>
          <a:p>
            <a:r>
              <a:t>3. At al-Yamāma — He carried a banner, would not speak until it was over, and was killed.</a:t>
            </a:r>
          </a:p>
          <a:p>
            <a:r>
              <a:t>4. The army comes home — ʿUmar ؓ turns on his own son ʿAbdullāh ؓ for coming back alive.</a:t>
            </a:r>
          </a:p>
          <a:p>
            <a:r>
              <a:t>5. The son's answer — He asked Allah for martyrdom and was given it; I strove for it and was not.</a:t>
            </a:r>
          </a:p>
          <a:p>
            <a:r>
              <a:t>6. "He became Muslim before me, and was martyred before me" — And: the east wind never blows but I find in it the scent of Zayd.</a:t>
            </a:r>
          </a:p>
          <a:p>
            <a:r>
              <a:t>   ^ read the Arabic on the face here</a:t>
            </a:r>
          </a:p>
          <a:p>
            <a:endParaRPr/>
          </a:p>
          <a:p>
            <a:r>
              <a:t>QUOTE — وَكَانَ يَقُوْلُ: أَسْلَمَ قَبْلِي، وَاسْتُشْهِدَ قَبْلِي … وَكَانَ يَقُوْلُ: مَا هَبَّتِ الصَّبَا إِلاَّ وَأَنَا أَجِدُ رِيْحَ زَيْدٍ.</a:t>
            </a:r>
          </a:p>
          <a:p>
            <a:r>
              <a:t>"He used to say: He became Muslim before me and was martyred before me … And he used to say: The east wind never blows but I find in it the scent of Zayd."</a:t>
            </a:r>
          </a:p>
          <a:p>
            <a:r>
              <a:t>— سیر أعلام النبلاء ج۱ ص۲۹۸</a:t>
            </a:r>
          </a:p>
          <a:p>
            <a:endParaRPr/>
          </a:p>
          <a:p>
            <a:r>
              <a:t>عبرت — The Companions' grief is recorded as carefully as their victories, and by the same men.</a:t>
            </a:r>
          </a:p>
          <a:p>
            <a:endParaRPr/>
          </a:p>
          <a:p>
            <a:r>
              <a:t>MAP — No movement.</a:t>
            </a:r>
          </a:p>
          <a:p>
            <a:endParaRPr/>
          </a:p>
          <a:p>
            <a:r>
              <a:t>BACKGROUND (read at home, not aloud) —</a:t>
            </a:r>
          </a:p>
          <a:p>
            <a:r>
              <a:t>He was older than ʿUmar ؓ and he had become a Muslim before him. At Badr, ʿUmar ؓ offered him his own mail coat and he refused it — he said he wanted from martyrdom what his brother wanted. At al-Yamāma he carried a banner and would not speak until it was over, and he was killed. When the army came home, ʿUmar ؓ turned on his own son ʿAbdullāh ؓ for coming back alive.</a:t>
            </a:r>
          </a:p>
          <a:p>
            <a:endParaRPr/>
          </a:p>
          <a:p>
            <a:r>
              <a:t>**The son's answer, on the page** — الکامل ج۲ ص۲۱۹: «**سَأَلَ اللَّهَ الشَّهَادَةَ فَأُعْطِيَهَا، وَجَهَدْتُ</a:t>
            </a:r>
          </a:p>
          <a:p>
            <a:r>
              <a:t>أَنْ تُسَاقَ إِلَيَّ فَلَمْ أُعْطَهَا**» — *"He asked Allah for martyrdom and was given it; I strove for it</a:t>
            </a:r>
          </a:p>
          <a:p>
            <a:r>
              <a:t>to be driven to me and I was not given it."*</a:t>
            </a:r>
          </a:p>
          <a:p>
            <a:endParaRPr/>
          </a:p>
          <a:p>
            <a:r>
              <a:t>WHEN, as the card gives it: 12 AH, ربيع الأول</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RUNSHEET: The hand-off itself, in ⁨الذہبی⁩'s own sentence: Zayd ؓ falls, Sālim ؓ picks the banner up. ⚠ Three books give three different banner arrangements — say only that it changed hands because the man holding it was killed. Never a diagram</a:t>
            </a:r>
          </a:p>
          <a:p>
            <a:endParaRPr/>
          </a:p>
          <a:p>
            <a:r>
              <a:t>SAY —</a:t>
            </a:r>
          </a:p>
          <a:p>
            <a:r>
              <a:t>1. Zayd ؓ carries it forward — The Muslims' banner was with him, and he kept pressing forward into the enemy.</a:t>
            </a:r>
          </a:p>
          <a:p>
            <a:r>
              <a:t>2. Until he was killed — He fought on with it until he was killed, and the banner fell.</a:t>
            </a:r>
          </a:p>
          <a:p>
            <a:r>
              <a:t>3. Sālim ؓ takes it up — The freedman of Abū Ḥudhayfa ؓ picks it off the ground.</a:t>
            </a:r>
          </a:p>
          <a:p>
            <a:r>
              <a:t>   ^ read the Arabic on the face here</a:t>
            </a:r>
          </a:p>
          <a:p>
            <a:r>
              <a:t>4. How we know — al-Dhahabī رحمہ اللہ records it once; Ibn Kathīr رحمہ اللہ twice, on consecutive pages.</a:t>
            </a:r>
          </a:p>
          <a:p>
            <a:endParaRPr/>
          </a:p>
          <a:p>
            <a:r>
              <a:t>QUOTE — وَكَانَتْ رَايَةُ المُسْلِمِيْنَ مَعَهُ يَوْمَ اليَمَامَةِ، فَلَمْ يَزَلْ يَقْدَمُ بِهَا فِي نَحْرِ العَدُوِّ، ثُمَّ قَاتَلَ حَتَّى قُتِلَ، فَوَقَعَتْ الرَّايَةُ، فَأَخَذَهَا سَالِمٌ مَوْلَى أَبِي حُذَيْفَةَ</a:t>
            </a:r>
          </a:p>
          <a:p>
            <a:r>
              <a:t>"The Muslims' banner was with him on the day of al-Yamāma, and he kept pressing forward with it into the enemy's throat, and then fought until he was killed. The banner fell — and Sālim, the freedman of Abū Ḥudhayfa, took it up."</a:t>
            </a:r>
          </a:p>
          <a:p>
            <a:r>
              <a:t>— سیر أعلام النبلاء ج۱ ص۲۹۸</a:t>
            </a:r>
          </a:p>
          <a:p>
            <a:endParaRPr/>
          </a:p>
          <a:p>
            <a:r>
              <a:t>عبرت — Every man who took it knew what had happened to the man before him.</a:t>
            </a:r>
          </a:p>
          <a:p>
            <a:endParaRPr/>
          </a:p>
          <a:p>
            <a:r>
              <a:t>MAP — **عَقْرَباء** — one marker, three hands.</a:t>
            </a:r>
          </a:p>
          <a:p>
            <a:endParaRPr/>
          </a:p>
          <a:p>
            <a:r>
              <a:t>⚠ Three books give three different banner arrangements at al-Yamāma. **Do not draw a diagram** —</a:t>
            </a:r>
          </a:p>
          <a:p>
            <a:r>
              <a:t>say only that the banner changed hands because the man holding it was killed.</a:t>
            </a:r>
          </a:p>
          <a:p>
            <a:endParaRPr/>
          </a:p>
          <a:p>
            <a:r>
              <a:t>BACKGROUND (read at home, not aloud) —</a:t>
            </a:r>
          </a:p>
          <a:p>
            <a:r>
              <a:t>Zayd b. al-Khaṭṭāb ؓ — the elder brother of ʿUmar ؓ — carried the banner forward into the enemy until he was killed. The banner fell. Sālim ؓ picked it up. Al-Dhahabī رحمہ اللہ records it in one sentence in Zayd's ؓ own notice, and Ibn Kathīr رحمہ اللہ records it twice, in two separate death notices on consecutive pages (ج۷ ص۴۹ and ج۷ ص۵۰).</a:t>
            </a:r>
          </a:p>
          <a:p>
            <a:endParaRPr/>
          </a:p>
          <a:p>
            <a:r>
              <a:t>WHEN, as the card gives it: 12 AH, at اليمامة</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BRIDGE — say:</a:t>
            </a:r>
          </a:p>
          <a:p>
            <a:r>
              <a:t>We met these three at the line: Sālim ؓ with the banner of the Muhājirūn, and on the wings Zayd b. al-Khaṭṭāb ؓ and Abū Ḥudhayfa ؓ. All three were killed on that field. Now we go back to the banner itself — because what the books put next to the order given at Medina is what happened to the man holding it.</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RUNSHEET: The ⁨تراجم⁩ notice for both men, one breath each: Sālim ؓ, and Abū Ḥudhayfa b. ʿUtba ؓ. ⚠ The four names do not go on the slide — ⁨ابن کثیر⁩ quotes only the opening clause, and the four are ⁨صحیح مسلم⁩ 2464 in the editor's note (QABANK.md §5.3)</a:t>
            </a:r>
          </a:p>
          <a:p>
            <a:endParaRPr/>
          </a:p>
          <a:p>
            <a:r>
              <a:t>SAY —</a:t>
            </a:r>
          </a:p>
          <a:p>
            <a:r>
              <a:t>1. Who has just picked up the banner — Sālim ؓ, the freed slave of Abū Ḥudhayfa ؓ, of the household that kept him.</a:t>
            </a:r>
          </a:p>
          <a:p>
            <a:r>
              <a:t>2. Abū Ḥudhayfa ؓ, in one breath — Of Quraysh, son of ʿUtba b. Rabīʿa, a man of Badr, Muslim before the house of al-Arqam.</a:t>
            </a:r>
          </a:p>
          <a:p>
            <a:r>
              <a:t>3. Why the ummah remembers Sālim ؓ — The Prophet ﷺ named four men to take the Qurʾān from, and he was one of them.</a:t>
            </a:r>
          </a:p>
          <a:p>
            <a:r>
              <a:t>   ^ read the Arabic on the face here</a:t>
            </a:r>
          </a:p>
          <a:p>
            <a:r>
              <a:t>4. What that means on this field — The man now holding the banner is one of the four.</a:t>
            </a:r>
          </a:p>
          <a:p>
            <a:endParaRPr/>
          </a:p>
          <a:p>
            <a:r>
              <a:t>QUOTE — وهو أحد الأربعة الذين قال فيهم رسول الله ﷺ: "استقرئوا القرآنَ من أربعةٍ" فذكر منهم سالمًا مولى أبي حذيفة</a:t>
            </a:r>
          </a:p>
          <a:p>
            <a:r>
              <a:t>"And he is one of the four of whom the Messenger of Allah ﷺ said: 'Take the Qurʾān from four' — and he mentioned Sālim, the freedman of Abū Ḥudhayfa, among them."</a:t>
            </a:r>
          </a:p>
          <a:p>
            <a:r>
              <a:t>— البدایہ والنہایہ ج۷ ص۵۰</a:t>
            </a:r>
          </a:p>
          <a:p>
            <a:endParaRPr/>
          </a:p>
          <a:p>
            <a:r>
              <a:t>عبرت — Standing in this matter was decided by what a man carried, and by nothing else about him.</a:t>
            </a:r>
          </a:p>
          <a:p>
            <a:endParaRPr/>
          </a:p>
          <a:p>
            <a:r>
              <a:t>⚠ **Slide rule:** Ibn Kathīr's own text quotes only the opening clause. If the four names go on</a:t>
            </a:r>
          </a:p>
          <a:p>
            <a:r>
              <a:t>screen they must be captioned to صحیح مسلم ٢٤٦٤ as given in the editor's note on البدایہ ج۷ ص۵۰ —</a:t>
            </a:r>
          </a:p>
          <a:p>
            <a:r>
              <a:t>**never to ابن کثیر.** See §5.3.</a:t>
            </a:r>
          </a:p>
          <a:p>
            <a:endParaRPr/>
          </a:p>
          <a:p>
            <a:r>
              <a:t>BACKGROUND (read at home, not aloud) —</a:t>
            </a:r>
          </a:p>
          <a:p>
            <a:r>
              <a:t>Ibn Kathīr رحمہ اللہ, writing Sālim's ؓ death notice, gives the reason the ummah remembered him. He was one of four men the Prophet ﷺ named when he told the Companions from whom to take the Qurʾān. One of the four was a freed slave of the house of Abū Ḥudhayfa ؓ.</a:t>
            </a:r>
          </a:p>
          <a:p>
            <a:endParaRPr/>
          </a:p>
          <a:p>
            <a:r>
              <a:t>WHEN, as the card gives it: the Prophet's ﷺ lifetime</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RUNSHEET: Thābit b. Qays ؓ and Sālim ؓ, after the line had been driven back three times. ⚠ The ⁨بخاری⁩-anchored wording of those words belongs to Thābit ؓ (, §7.4(a)) — attribute it that way</a:t>
            </a:r>
          </a:p>
          <a:p>
            <a:endParaRPr/>
          </a:p>
          <a:p>
            <a:r>
              <a:t>SAY —</a:t>
            </a:r>
          </a:p>
          <a:p>
            <a:r>
              <a:t>1. Driven back three times — Banū Ḥanīfa had pushed the Muslim line backwards three times.</a:t>
            </a:r>
          </a:p>
          <a:p>
            <a:r>
              <a:t>2. What the two of them said — This is not how we used to fight alongside the Messenger of Allah ﷺ.</a:t>
            </a:r>
          </a:p>
          <a:p>
            <a:r>
              <a:t>   ^ read the Arabic on the face here</a:t>
            </a:r>
          </a:p>
          <a:p>
            <a:r>
              <a:t>3. What they did about it — They dug a pit for themselves, went down into it, and fought from there.</a:t>
            </a:r>
          </a:p>
          <a:p>
            <a:r>
              <a:t>4. Neither came out — Both were killed where they stood.</a:t>
            </a:r>
          </a:p>
          <a:p>
            <a:endParaRPr/>
          </a:p>
          <a:p>
            <a:r>
              <a:t>QUOTE — فقال ثابتٌ وسالمٌ مولى أبي حذيفة: ما هكذا كنَّا نقاتلُ مع رسول الله ﷺ، فجعلا لأنفسهما حفرة فدخلا فيها فقاتلا حتى قُتلا</a:t>
            </a:r>
          </a:p>
          <a:p>
            <a:r>
              <a:t>"Thābit and Sālim, the freedman of Abū Ḥudhayfa, said: This is not how we used to fight alongside the Messenger of Allah ﷺ. And the two of them made a pit for themselves and went down into it and fought until they were killed."</a:t>
            </a:r>
          </a:p>
          <a:p>
            <a:r>
              <a:t>— البدایہ والنہایہ ج۷ ص۴۸</a:t>
            </a:r>
          </a:p>
          <a:p>
            <a:endParaRPr/>
          </a:p>
          <a:p>
            <a:r>
              <a:t>عبرت — They fixed the line by taking away their own ability to move back from it.</a:t>
            </a:r>
          </a:p>
          <a:p>
            <a:endParaRPr/>
          </a:p>
          <a:p>
            <a:r>
              <a:t>MAP — **عَقْرَباء**, the point where the line stopped moving.</a:t>
            </a:r>
          </a:p>
          <a:p>
            <a:endParaRPr/>
          </a:p>
          <a:p>
            <a:r>
              <a:t>⚠ The Bukhārī-anchored version of these words (البخاري ٢٨٤٥, via سیر ج۱ ص۳۱۱) belongs to</a:t>
            </a:r>
          </a:p>
          <a:p>
            <a:r>
              <a:t>**ثابت بن قيس ؓ**. Attribute accordingly; see §7.4(a) and RCT `E-RC18`.</a:t>
            </a:r>
          </a:p>
          <a:p>
            <a:endParaRPr/>
          </a:p>
          <a:p>
            <a:r>
              <a:t>BACKGROUND (read at home, not aloud) —</a:t>
            </a:r>
          </a:p>
          <a:p>
            <a:r>
              <a:t>Banū Ḥanīfa had driven the Muslims back three times. Thābit b. Qays ؓ and Sālim ؓ said the same thing to each other: this is not how we used to fight alongside the Messenger of Allah ﷺ. So they dug a pit, stood in it, and fought from there. Neither came out.</a:t>
            </a:r>
          </a:p>
          <a:p>
            <a:endParaRPr/>
          </a:p>
          <a:p>
            <a:r>
              <a:t>WHEN, as the card gives it: 12 AH, at اليمامة</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RUNSHEET: The right hand, then the left, then the chest. Make the link aloud: the āya he recited is the one Abū Bakr ؓ read out to Medina the day the Prophet ﷺ died — one year before this field</a:t>
            </a:r>
          </a:p>
          <a:p>
            <a:endParaRPr/>
          </a:p>
          <a:p>
            <a:r>
              <a:t>SAY —</a:t>
            </a:r>
          </a:p>
          <a:p>
            <a:r>
              <a:t>1. The right hand — He is holding the banner when his right hand is severed.</a:t>
            </a:r>
          </a:p>
          <a:p>
            <a:r>
              <a:t>2. The left hand — He takes the banner in his left, and that hand is cut too.</a:t>
            </a:r>
          </a:p>
          <a:p>
            <a:r>
              <a:t>3. He holds it with what is left — He clasps the banner to his chest, and he recites.</a:t>
            </a:r>
          </a:p>
          <a:p>
            <a:r>
              <a:t>   ^ read the Arabic on the face here</a:t>
            </a:r>
          </a:p>
          <a:p>
            <a:r>
              <a:t>4. The āya — The same āya Abū Bakr ؓ read out to Medina the day the Prophet ﷺ died, the year before.</a:t>
            </a:r>
          </a:p>
          <a:p>
            <a:r>
              <a:t>5. And the āya after it — And how many a prophet fought, and with him many devoted men.</a:t>
            </a:r>
          </a:p>
          <a:p>
            <a:endParaRPr/>
          </a:p>
          <a:p>
            <a:r>
              <a:t>QUOTE — انقطعت يدُه اليمنى فأخذها بيساره، فقُطعت فاحتضنها وهو يقول: ﴿وَمَا مُحَمَّدٌ إِلَّا رَسُولٌ قَدْ خَلَتْ مِنْ قَبْلِهِ الرُّسُلُ﴾ [آل عمران: ١٤٤] ﴿وَكَأَيِّنْ مِنْ نَبِيٍّ قَاتَلَ مَعَهُ رِبِّيُّونَ كَثِيرٌ﴾ [آل عمران: ١٤٦]</a:t>
            </a:r>
          </a:p>
          <a:p>
            <a:r>
              <a:t>"His right hand was severed, so he took the banner in his left; that was cut off, so he clasped it to his chest, saying: ﴾Muḥammad is no more than a Messenger; messengers have passed away before him﴿ ﴾And how many a prophet fought, and with him many devoted men﴿."</a:t>
            </a:r>
          </a:p>
          <a:p>
            <a:r>
              <a:t>— البدایہ والنہایہ ج۷ ص۵۰</a:t>
            </a:r>
          </a:p>
          <a:p>
            <a:endParaRPr/>
          </a:p>
          <a:p>
            <a:r>
              <a:t>عبرت — The verse that steadied Medina in the year eleven is the verse a man recited on the ground in the year twelve.</a:t>
            </a:r>
          </a:p>
          <a:p>
            <a:endParaRPr/>
          </a:p>
          <a:p>
            <a:r>
              <a:t>HANDS UP — Before it: "Does anyone remember the āya Abū Bakr ؓ read out the day the Prophet ﷺ died?" — then let the slide answer.</a:t>
            </a:r>
          </a:p>
          <a:p>
            <a:endParaRPr/>
          </a:p>
          <a:p>
            <a:r>
              <a:t>BACKGROUND (read at home, not aloud) —</a:t>
            </a:r>
          </a:p>
          <a:p>
            <a:r>
              <a:t>Sālim ؓ was holding the banner when his right hand was severed. He took the banner in his left. That hand was cut too. So he clasped the banner to his chest, and he recited. The verse he recited was the one Abū Bakr ؓ had recited to the people of Medina the day the Prophet ﷺ died, the year before: *Muḥammad is no more than a Messenger; messengers have passed away before him.* Then he recited the verse that follows it: *and how many a prophet fought, and with him many devoted men.*</a:t>
            </a:r>
          </a:p>
          <a:p>
            <a:endParaRPr/>
          </a:p>
          <a:p>
            <a:r>
              <a:t>WHEN, as the card gives it: 12 AH, at اليمامة</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RUNSHEET: ⚠ The second man is «⁨فلان⁩» in the source — do not name him. ⚠ No approved source says they were buried in one grave (§10.3 of the note)</a:t>
            </a:r>
          </a:p>
          <a:p>
            <a:endParaRPr/>
          </a:p>
          <a:p>
            <a:r>
              <a:t>SAY —</a:t>
            </a:r>
          </a:p>
          <a:p>
            <a:r>
              <a:t>1. Struck down — He asks the men near him one question: what has become of Abū Ḥudhayfa ؓ?</a:t>
            </a:r>
          </a:p>
          <a:p>
            <a:r>
              <a:t>2. The answer — He has been killed.</a:t>
            </a:r>
          </a:p>
          <a:p>
            <a:r>
              <a:t>3. He asks about one more man — The source says only "so-and-so", and we do not name him either.</a:t>
            </a:r>
          </a:p>
          <a:p>
            <a:r>
              <a:t>4. The last thing he asked for — Then lay me down between the two of them.</a:t>
            </a:r>
          </a:p>
          <a:p>
            <a:r>
              <a:t>   ^ read the Arabic on the face here</a:t>
            </a:r>
          </a:p>
          <a:p>
            <a:endParaRPr/>
          </a:p>
          <a:p>
            <a:r>
              <a:t>QUOTE — فلما صرع قال لأصحابه: ما فعل أبو حُذَيْفة؟ قالوا: قُتل، قال: فما فعلَ فلان؟ قالوا: قُتل، قال: فأضجعوني بينهما</a:t>
            </a:r>
          </a:p>
          <a:p>
            <a:r>
              <a:t>"When he was struck down he said to his companions: What has become of Abū Ḥudhayfa? They said: He has been killed. He said: And what has become of so-and-so? They said: He has been killed. He said: Then lay me down between the two of them."</a:t>
            </a:r>
          </a:p>
          <a:p>
            <a:r>
              <a:t>— البدایہ والنہایہ ج۷ ص۵۰</a:t>
            </a:r>
          </a:p>
          <a:p>
            <a:endParaRPr/>
          </a:p>
          <a:p>
            <a:r>
              <a:t>عبرت — The freed slave's last request was to be put back beside the household that had taken him in.</a:t>
            </a:r>
          </a:p>
          <a:p>
            <a:endParaRPr/>
          </a:p>
          <a:p>
            <a:r>
              <a:t>⚠ The second man is **«فلان»** in the source. **Do not name him.** And no approved source says they</a:t>
            </a:r>
          </a:p>
          <a:p>
            <a:r>
              <a:t>were buried in one grave — see §10.3.</a:t>
            </a:r>
          </a:p>
          <a:p>
            <a:endParaRPr/>
          </a:p>
          <a:p>
            <a:r>
              <a:t>BACKGROUND (read at home, not aloud) —</a:t>
            </a:r>
          </a:p>
          <a:p>
            <a:r>
              <a:t>Struck down, Sālim ؓ asked the men near him a question. What had become of Abū Ḥudhayfa? They told him he had been killed. He asked about one other man. They told him he was dead too. Then he asked them for one thing, and it was the last thing he asked for.</a:t>
            </a:r>
          </a:p>
          <a:p>
            <a:endParaRPr/>
          </a:p>
          <a:p>
            <a:r>
              <a:t>WHEN, as the card gives it: 12 AH, at اليمامة</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RUNSHEET: ⚠ ⁨الذہبی⁩ gives this with «⁨وقيل⁩». Carry it across in the delivery: "it is said that…", never "they were found"</a:t>
            </a:r>
          </a:p>
          <a:p>
            <a:endParaRPr/>
          </a:p>
          <a:p>
            <a:r>
              <a:t>SAY —</a:t>
            </a:r>
          </a:p>
          <a:p>
            <a:r>
              <a:t>1. How al-Dhahabī رحمہ اللہ gives it — With the words "it is said", which is how a scholar passes something on without vouching for it.</a:t>
            </a:r>
          </a:p>
          <a:p>
            <a:r>
              <a:t>2. What is said — The two were found together, the head of one at the feet of the other.</a:t>
            </a:r>
          </a:p>
          <a:p>
            <a:r>
              <a:t>   ^ read the Arabic on the face here</a:t>
            </a:r>
          </a:p>
          <a:p>
            <a:r>
              <a:t>3. Say it his way — "It is said that…", never "they were found".</a:t>
            </a:r>
          </a:p>
          <a:p>
            <a:r>
              <a:t>4. Where he does vouch — In his roll of that day's martyrs he lists the two of them first, and in that order.</a:t>
            </a:r>
          </a:p>
          <a:p>
            <a:endParaRPr/>
          </a:p>
          <a:p>
            <a:r>
              <a:t>QUOTE — وَقِيْلَ: إِنَّ سَالِماً وُجِدَ هُوَ وَمَوْلاَهُ أَبُو حُذَيْفَةَ، رَأْسُ أَحَدِهِمَا عِنْدَ رِجْلَي الآخَرِ صَرِيْعَيْنِ -رَضِيَ اللهُ عَنْهُمَا-</a:t>
            </a:r>
          </a:p>
          <a:p>
            <a:r>
              <a:t>"And it is said: Sālim was found, he and his patron Abū Ḥudhayfa, the head of one of them at the feet of the other, both struck down ؓ."</a:t>
            </a:r>
          </a:p>
          <a:p>
            <a:r>
              <a:t>— سیر أعلام النبلاء ج۱ ص۱۶۹</a:t>
            </a:r>
          </a:p>
          <a:p>
            <a:endParaRPr/>
          </a:p>
          <a:p>
            <a:r>
              <a:t>عبرت — The books that list the dead of that day put the master and the freedman on one line.</a:t>
            </a:r>
          </a:p>
          <a:p>
            <a:endParaRPr/>
          </a:p>
          <a:p>
            <a:r>
              <a:t>⚠ Carry «وقيل» across into the delivery: *"it is said that…"*, not *"they were found"*.</a:t>
            </a:r>
          </a:p>
          <a:p>
            <a:endParaRPr/>
          </a:p>
          <a:p>
            <a:r>
              <a:t>BACKGROUND (read at home, not aloud) —</a:t>
            </a:r>
          </a:p>
          <a:p>
            <a:r>
              <a:t>In his notice on Sālim ؓ, al-Dhahabī رحمہ اللہ gives a report he introduces with the word *it is said* — which is his way of passing something on without vouching for it. And elsewhere, in the roll of the day's martyrs (سیر ج۱ ص۲۹۸), he lists the two of them first, and in that order: Abū Ḥudhayfa b. ʿUtba al-ʿAbshamī, and his freedman Sālim, one of the reciters.</a:t>
            </a:r>
          </a:p>
          <a:p>
            <a:endParaRPr/>
          </a:p>
          <a:p>
            <a:r>
              <a:t>WHEN, as the card gives it: 12 AH, after اليمامة — reported by الذہبی as «وقيل»</a:t>
            </a:r>
          </a:p>
        </p:txBody>
      </p:sp>
      <p:sp>
        <p:nvSpPr>
          <p:cNvPr id="4" name="Slide Number Placeholder 3"/>
          <p:cNvSpPr>
            <a:spLocks noGrp="1"/>
          </p:cNvSpPr>
          <p:nvPr>
            <p:ph type="sldNum" sz="quarter" idx="5"/>
          </p:nvPr>
        </p:nvSpPr>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RUNSHEET: The payoff of the whole thread, eleven years on: ⁨عمر ؓ⁩ dying, and the ⁨شوریٰ⁩. ⚠ Say "it is related that…" — Ibn Kathīr's own passive. ⚠ Do not merge the ⁨سیر⁩ ⁨ج1 ص170⁩ version naming Abū ʿUbayda ؓ as well: ⁨الذہبی⁩ weakens its chain on the page</a:t>
            </a:r>
          </a:p>
          <a:p>
            <a:endParaRPr/>
          </a:p>
          <a:p>
            <a:r>
              <a:t>SAY —</a:t>
            </a:r>
          </a:p>
          <a:p>
            <a:r>
              <a:t>1. Eleven years later — ʿUmar ؓ is dying of the assassin's wound, and the succession will not wait.</a:t>
            </a:r>
          </a:p>
          <a:p>
            <a:r>
              <a:t>2. What he did — He refused to name one man, and made it a council of six instead.</a:t>
            </a:r>
          </a:p>
          <a:p>
            <a:r>
              <a:t>3. What is related of him — Had Sālim ؓ been alive, I would not have made it a council.</a:t>
            </a:r>
          </a:p>
          <a:p>
            <a:r>
              <a:t>   ^ read the Arabic on the face here</a:t>
            </a:r>
          </a:p>
          <a:p>
            <a:r>
              <a:t>4. What that means — Ibn ʿAbd al-Barr رحمہ اللہ: he would have gone by Sālim's ؓ judgement on whom to appoint.</a:t>
            </a:r>
          </a:p>
          <a:p>
            <a:r>
              <a:t>5. Say it as Ibn Kathīr رحمہ اللہ writes it — "It is related that…", and nothing stronger.</a:t>
            </a:r>
          </a:p>
          <a:p>
            <a:endParaRPr/>
          </a:p>
          <a:p>
            <a:r>
              <a:t>QUOTE — وروي عن عمر أنه قال لما احتُضِر: لو كانَ سالمٌ حيًّا لما جعلتها شُورى</a:t>
            </a:r>
          </a:p>
          <a:p>
            <a:r>
              <a:t>"And it is related of ʿUmar that he said, when death was upon him: Had Sālim been alive I would not have made it a shūrā."</a:t>
            </a:r>
          </a:p>
          <a:p>
            <a:r>
              <a:t>— البدایہ والنہایہ ج۷ ص۵۰</a:t>
            </a:r>
          </a:p>
          <a:p>
            <a:endParaRPr/>
          </a:p>
          <a:p>
            <a:r>
              <a:t>عبرت — Eleven years later, the man the Commander of the Faithful wished were still in the room was a freed slave who had died holding a banner.</a:t>
            </a:r>
          </a:p>
          <a:p>
            <a:endParaRPr/>
          </a:p>
          <a:p>
            <a:r>
              <a:t>⚠ Say **"it is related that…"** — Ibn Kathīr's own passive. A second, differently worded report in</a:t>
            </a:r>
          </a:p>
          <a:p>
            <a:r>
              <a:t>سیر ج۱ ص۱۷۰ names **both سالم ؓ and أبو عبيدة ؓ**, and **الذہبی weakens its chain on the page**.</a:t>
            </a:r>
          </a:p>
          <a:p>
            <a:r>
              <a:t>Do not merge the two.</a:t>
            </a:r>
          </a:p>
          <a:p>
            <a:endParaRPr/>
          </a:p>
          <a:p>
            <a:r>
              <a:t>BACKGROUND (read at home, not aloud) —</a:t>
            </a:r>
          </a:p>
          <a:p>
            <a:r>
              <a:t>Eleven years after al-Yamāma, ʿUmar ؓ was dying of the assassin's wound, and the question of who would follow him would not wait. He refused to name one man and set up a council of six instead. And it is related that he said that had Sālim ؓ been alive, he would not have made it a council at all. Ibn ʿAbd al-Barr رحمہ اللہ explains what that means: he would have gone by Sālim's ؓ judgement about whom to appoint.</a:t>
            </a:r>
          </a:p>
          <a:p>
            <a:endParaRPr/>
          </a:p>
          <a:p>
            <a:r>
              <a:t>WHEN, as the card gives it: 23 AH, Medina</a:t>
            </a:r>
          </a:p>
        </p:txBody>
      </p:sp>
      <p:sp>
        <p:nvSpPr>
          <p:cNvPr id="4" name="Slide Number Placeholder 3"/>
          <p:cNvSpPr>
            <a:spLocks noGrp="1"/>
          </p:cNvSpPr>
          <p:nvPr>
            <p:ph type="sldNum" sz="quarter" idx="5"/>
          </p:nvPr>
        </p:nvSpPr>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RUNSHEET: ⚠ Do not read the name of the woman who freed him — the printed page gives it two ways on one page (§4.2). ⚠ ⁨سیر⁩ ⁨ج1 ص169⁩ tells the estate differently: tell one version, captioned to ⁨البدایہ ج7 ص50⁩</a:t>
            </a:r>
          </a:p>
          <a:p>
            <a:endParaRPr/>
          </a:p>
          <a:p>
            <a:r>
              <a:t>SAY —</a:t>
            </a:r>
          </a:p>
          <a:p>
            <a:r>
              <a:t>1. He left property and no heir of his own — Under the law of walāʾ it goes to the woman who had freed him.</a:t>
            </a:r>
          </a:p>
          <a:p>
            <a:r>
              <a:t>2. ʿUmar ؓ sends it to her — And she sends it back.</a:t>
            </a:r>
          </a:p>
          <a:p>
            <a:r>
              <a:t>3. Her reason — She had freed him outright, and had never freed him expecting a return.</a:t>
            </a:r>
          </a:p>
          <a:p>
            <a:r>
              <a:t>   ^ read the Arabic on the face here</a:t>
            </a:r>
          </a:p>
          <a:p>
            <a:r>
              <a:t>4. Where it went instead — ʿUmar ؓ put the estate into the treasury.</a:t>
            </a:r>
          </a:p>
          <a:p>
            <a:endParaRPr/>
          </a:p>
          <a:p>
            <a:r>
              <a:t>QUOTE — وقد بعثَ عمرُ بميراثه إلى مولاته التي أعْتَقَتْه "بثينة" فردَّتْه وقالتْ: إنّما أعْتَقَتْهُ سائبةٌ، فجعله عمر في بيت المال</a:t>
            </a:r>
          </a:p>
          <a:p>
            <a:r>
              <a:t>"ʿUmar sent his inheritance to the woman who had freed him, Buthayna; and she sent it back and said: I freed him only as sāʾiba. So ʿUmar put it into the treasury." (⚠ The name «بثينة» appears in the printed text here and «ثُبَيْتة» a few lines above it on the same page. **Do not read the name aloud** — say "the woman who had freed him". See §4.2.)</a:t>
            </a:r>
          </a:p>
          <a:p>
            <a:r>
              <a:t>— البدایہ والنہایہ ج۷ ص۵۰</a:t>
            </a:r>
          </a:p>
          <a:p>
            <a:endParaRPr/>
          </a:p>
          <a:p>
            <a:r>
              <a:t>عبرت — She had a legal claim on what he left, and she said she had not freed him in order to have one.</a:t>
            </a:r>
          </a:p>
          <a:p>
            <a:endParaRPr/>
          </a:p>
          <a:p>
            <a:r>
              <a:t>⚠ **سیر ج۱ ص۱۶۹ tells the same estate differently** (sold for 200 dirhams and given to «أمه»).</a:t>
            </a:r>
          </a:p>
          <a:p>
            <a:r>
              <a:t>**Tell one version only, captioned to البدایہ ج۷ ص۵۰.** See §7.6.</a:t>
            </a:r>
          </a:p>
          <a:p>
            <a:endParaRPr/>
          </a:p>
          <a:p>
            <a:r>
              <a:t>BACKGROUND (read at home, not aloud) —</a:t>
            </a:r>
          </a:p>
          <a:p>
            <a:r>
              <a:t>Sālim ؓ died leaving property and no heir of his own. Under the law of walāʾ it went to the woman who had freed him, so ʿUmar ؓ sent it to her. She sent it back. Her reason was that she had freed him outright — sāʾiba — and had never freed him expecting a return. ʿUmar ؓ put the estate into the treasury instead.</a:t>
            </a:r>
          </a:p>
          <a:p>
            <a:endParaRPr/>
          </a:p>
          <a:p>
            <a:r>
              <a:t>## The people: زيد بن الخطاب ؓ and the dead of اليمامة</a:t>
            </a:r>
          </a:p>
          <a:p>
            <a:endParaRPr/>
          </a:p>
          <a:p>
            <a:r>
              <a:t>*Source note: [`zayd-ibn-al-khattab-and-the-dead-of-yamama.md`](../docs/research/zayd-ibn-al-khattab-and-the-dead-of-yamama.md) — read it for the pages behind these cards.*</a:t>
            </a:r>
          </a:p>
          <a:p>
            <a:endParaRPr/>
          </a:p>
          <a:p>
            <a:r>
              <a:t>WHEN, as the card gives it: after 12 AH</a:t>
            </a:r>
          </a:p>
        </p:txBody>
      </p:sp>
      <p:sp>
        <p:nvSpPr>
          <p:cNvPr id="4" name="Slide Number Placeholder 3"/>
          <p:cNvSpPr>
            <a:spLocks noGrp="1"/>
          </p:cNvSpPr>
          <p:nvPr>
            <p:ph type="sldNum" sz="quarter" idx="5"/>
          </p:nvPr>
        </p:nvSpPr>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BRIDGE — say:</a:t>
            </a:r>
          </a:p>
          <a:p>
            <a:r>
              <a:t>That is the banner. But the banner is not the whole line. The books go through that field name by name, and what they record is not a casualty list — it is households. Here are some of them.</a:t>
            </a: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RUNSHEET: The ⁨مؤاخاة⁩ pairing of Zayd ؓ with Maʿn b. ʿAdī ؓ — and the second pair, Abū Ḥudhayfa ؓ with ʿAbbād b. Bishr ؓ. ⚠ The ⁨مؤاخاة⁩'s own year is [CONVENTIONAL-ESTIMATE]: say "when the Muhājirūn arrived", never a year</a:t>
            </a:r>
          </a:p>
          <a:p>
            <a:endParaRPr/>
          </a:p>
          <a:p>
            <a:r>
              <a:t>SAY —</a:t>
            </a:r>
          </a:p>
          <a:p>
            <a:r>
              <a:t>1. The Muhājirūn arrive with nothing — The Prophet ﷺ pairs each of them with a man of the Anṣār, as brothers.</a:t>
            </a:r>
          </a:p>
          <a:p>
            <a:r>
              <a:t>2. Zayd's ؓ brother by appointment — Maʿn b. ʿAdī ؓ, of Banū al-ʿAjlān, an ally of the Anṣār.</a:t>
            </a:r>
          </a:p>
          <a:p>
            <a:r>
              <a:t>3. Years later, one field — Both were at al-Yamāma, and both were killed there.</a:t>
            </a:r>
          </a:p>
          <a:p>
            <a:r>
              <a:t>   ^ read the Arabic on the face here</a:t>
            </a:r>
          </a:p>
          <a:p>
            <a:r>
              <a:t>4. And not the only such pair — Abū Ḥudhayfa ؓ and ʿAbbād b. Bishr ؓ were paired the same way, and died there too.</a:t>
            </a:r>
          </a:p>
          <a:p>
            <a:endParaRPr/>
          </a:p>
          <a:p>
            <a:r>
              <a:t>QUOTE — وقد آخى رسول الله ﷺ بينه وبين معن بن عديّ الأنصاري وقد قُتلا جميعًا باليمامة.</a:t>
            </a:r>
          </a:p>
          <a:p>
            <a:r>
              <a:t>"The Messenger of Allah ﷺ made him and Maʿn b. ʿAdī al-Anṣārī brothers, and the two of them were killed together at al-Yamāma."</a:t>
            </a:r>
          </a:p>
          <a:p>
            <a:r>
              <a:t>— البدایہ والنہایہ ج۷ ص۴۹</a:t>
            </a:r>
          </a:p>
          <a:p>
            <a:endParaRPr/>
          </a:p>
          <a:p>
            <a:r>
              <a:t>عبرت — The tie was made in a year when they owned nothing, and it was still holding on the day they died.</a:t>
            </a:r>
          </a:p>
          <a:p>
            <a:endParaRPr/>
          </a:p>
          <a:p>
            <a:r>
              <a:t>MAP — Two dots — Mecca and Medina — joined by a line; then the line moved intact to عَقْرَباء.</a:t>
            </a:r>
          </a:p>
          <a:p>
            <a:endParaRPr/>
          </a:p>
          <a:p>
            <a:r>
              <a:t>BACKGROUND (read at home, not aloud) —</a:t>
            </a:r>
          </a:p>
          <a:p>
            <a:r>
              <a:t>When the Muhājirūn arrived in Medina with nothing, the Prophet ﷺ paired each of them with a man of the Anṣār and made the two of them brothers. Zayd b. al-Khaṭṭāb ؓ, of Quraysh, was paired with Maʿn b. ʿAdī ؓ of Banū al-ʿAjlān, an ally of the Anṣār. Years later, both of them were on the field at al-Yamāma. Both of them were killed there, on the same day. And they were not the only such pair: Abū Ḥudhayfa ؓ and ʿAbbād b. Bishr ؓ had been paired the same way, and they died there too.</a:t>
            </a:r>
          </a:p>
          <a:p>
            <a:endParaRPr/>
          </a:p>
          <a:p>
            <a:r>
              <a:t>WHEN, as the card gives it: the مؤاخاة, on the arrival in المدینہ — the approved sources give it no year → اليمامة 12 AH</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RUNSHEET: Maʿn ؓ on the day the Prophet ﷺ died — and he is one of the two men who met Abū Bakr ؓ and ʿUmar ؓ on the road to the Saqīfa, which evening 1 told. ⚠ Chain honesty (§4.2): ⁨البدایہ ج7 ص54⁩ connected through Ibn ʿUmar ؓ, the ⁨سیر⁩ editor notes the preserved form is ⁨مرسل⁩ from ⁨عروہ⁩ — say so if challenged</a:t>
            </a:r>
          </a:p>
          <a:p>
            <a:endParaRPr/>
          </a:p>
          <a:p>
            <a:r>
              <a:t>SAY —</a:t>
            </a:r>
          </a:p>
          <a:p>
            <a:r>
              <a:t>1. The day the Prophet ﷺ died — Medina wept, and men said they wished they had died before him.</a:t>
            </a:r>
          </a:p>
          <a:p>
            <a:r>
              <a:t>2. One man said the opposite — Maʿn b. ʿAdī ؓ, Zayd's ؓ brother by appointment.</a:t>
            </a:r>
          </a:p>
          <a:p>
            <a:r>
              <a:t>3. What he said — I do not wish I had died first: let me confirm him dead as I confirmed him alive.</a:t>
            </a:r>
          </a:p>
          <a:p>
            <a:r>
              <a:t>   ^ read the Arabic on the face here</a:t>
            </a:r>
          </a:p>
          <a:p>
            <a:r>
              <a:t>4. Where else he stood — He was one of the two men who met Abū Bakr ؓ and ʿUmar ؓ on the road to the Saqīfa.</a:t>
            </a:r>
          </a:p>
          <a:p>
            <a:r>
              <a:t>5. The year after — He was killed at al-Yamāma, in the war fought to hold what he said he would confirm.</a:t>
            </a:r>
          </a:p>
          <a:p>
            <a:endParaRPr/>
          </a:p>
          <a:p>
            <a:r>
              <a:t>QUOTE — فَقَالَ مَعْنٌ: لَكِنِّي -وَاللهِ- مَا أُحِبُّ أَنِّي مُتُّ قَبْلَهُ حَتَّى أُصَدِّقَهُ مَيْتاً، كَمَا صَدَّقْتُهُ حَيّاً.</a:t>
            </a:r>
          </a:p>
          <a:p>
            <a:r>
              <a:t>"But I, by Allah, do not wish that I had died before him — so that I may confirm him dead as I confirmed him alive."</a:t>
            </a:r>
          </a:p>
          <a:p>
            <a:r>
              <a:t>— سیر أعلام النبلاء ج۱ ص۳۲۱</a:t>
            </a:r>
          </a:p>
          <a:p>
            <a:endParaRPr/>
          </a:p>
          <a:p>
            <a:r>
              <a:t>عبرت — He did not want to be spared what came next; he wanted to be there for it.</a:t>
            </a:r>
          </a:p>
          <a:p>
            <a:endParaRPr/>
          </a:p>
          <a:p>
            <a:r>
              <a:t>⚠ **Chain honesty (§4.2): البدایہ ج۷ ص۵۴ gives it with a connected chain through ابن عمر ؓ; the سیر</a:t>
            </a:r>
          </a:p>
          <a:p>
            <a:r>
              <a:t>editor notes that the preserved form is mursal from عروة. Say so if challenged.** **This card is the</a:t>
            </a:r>
          </a:p>
          <a:p>
            <a:r>
              <a:t>bookend for E-ZY8 — tell them together or not at all.**</a:t>
            </a:r>
          </a:p>
          <a:p>
            <a:endParaRPr/>
          </a:p>
          <a:p>
            <a:r>
              <a:t>BACKGROUND (read at home, not aloud) —</a:t>
            </a:r>
          </a:p>
          <a:p>
            <a:r>
              <a:t>When the Prophet ﷺ died, the people in Medina wept and said they wished they had died before him, because they were afraid of what would happen to them after him. One man said the opposite. He said he did not want to have died first — he wanted to be alive afterwards, so that he could confirm the Prophet ﷺ dead the same way he had confirmed him alive. His name was Maʿn b. ʿAdī ؓ. He was one of the two men who met Abū Bakr ؓ and ʿUmar ؓ on the road to the Saqīfa. And in the following year he was killed at al-Yamāma, in the war fought to hold what he had said he would confirm.</a:t>
            </a:r>
          </a:p>
          <a:p>
            <a:endParaRPr/>
          </a:p>
          <a:p>
            <a:r>
              <a:t>WHEN, as the card gives it: المدینہ 11 AH → اليمامة 12 AH</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RUNSHEET: [HANDS] 5: "The man who killed your brother is standing in front of you, and he is now a Muslim. What is there to say?" ⚠ The sources record no answer from ʿUmar ؓ — do not supply one. ⚠ Give Ibn Kathīr's own handling of the competing report: it is this part's "how do we know?" beat</a:t>
            </a:r>
          </a:p>
          <a:p>
            <a:endParaRPr/>
          </a:p>
          <a:p>
            <a:r>
              <a:t>SAY —</a:t>
            </a:r>
          </a:p>
          <a:p>
            <a:r>
              <a:t>1. Who killed Zayd ؓ — A man called Abū Maryam al-Ḥanafī, fighting that day on the other side.</a:t>
            </a:r>
          </a:p>
          <a:p>
            <a:r>
              <a:t>2. Afterwards — He became a Muslim.</a:t>
            </a:r>
          </a:p>
          <a:p>
            <a:r>
              <a:t>3. He stands in front of ʿUmar ؓ — The dead man's younger brother, now Commander of the Faithful.</a:t>
            </a:r>
          </a:p>
          <a:p>
            <a:r>
              <a:t>4. What he said — Allah honoured Zayd ؓ at my hand, and did not disgrace me at his.</a:t>
            </a:r>
          </a:p>
          <a:p>
            <a:r>
              <a:t>   ^ read the Arabic on the face here</a:t>
            </a:r>
          </a:p>
          <a:p>
            <a:r>
              <a:t>5. What the sources do not give — Any answer from ʿUmar ؓ. We do not supply one. He later made him a judge.</a:t>
            </a:r>
          </a:p>
          <a:p>
            <a:r>
              <a:t>6. A competing report, handled on the page — Ibn Kathīr names another killer, says Ibn ʿAbd al-Barr preferred it, then says it does not disprove the first.</a:t>
            </a:r>
          </a:p>
          <a:p>
            <a:endParaRPr/>
          </a:p>
          <a:p>
            <a:r>
              <a:t>QUOTE — ثم قتلَ زيدًا رجل يقال له: أبو مريم الحنفي، وقد أسلم بعد ذلك وقال لعمر: يا أميرَ المؤمنين إن الله أكرم زيدًا بيدي ولم يُهنِّي على يده.</a:t>
            </a:r>
          </a:p>
          <a:p>
            <a:r>
              <a:t>"Then Zayd was killed by a man called Abū Maryam al-Ḥanafī, who afterwards became a Muslim and said to ʿUmar: Commander of the Faithful — Allah honoured Zayd at my hand, and did not disgrace me at his."</a:t>
            </a:r>
          </a:p>
          <a:p>
            <a:r>
              <a:t>— البدایہ والنہایہ ج۷ ص۴۹</a:t>
            </a:r>
          </a:p>
          <a:p>
            <a:endParaRPr/>
          </a:p>
          <a:p>
            <a:r>
              <a:t>عبرت — He did not ask to be forgiven; he told the brother what he thought Allah had done with both of them.</a:t>
            </a:r>
          </a:p>
          <a:p>
            <a:endParaRPr/>
          </a:p>
          <a:p>
            <a:r>
              <a:t>HANDS UP — Before telling it: *"The man who killed your brother is standing in front of you, and he is now a Muslim. What is there to say?"*</a:t>
            </a:r>
          </a:p>
          <a:p>
            <a:endParaRPr/>
          </a:p>
          <a:p>
            <a:r>
              <a:t>⚠ **The sources record no answer from ʿUmar ؓ. Do not supply one.** ⚠ Give Ibn Kathīr's own handling</a:t>
            </a:r>
          </a:p>
          <a:p>
            <a:r>
              <a:t>of the competing report — it is the "how do we know?" beat of this act (§2.7).</a:t>
            </a:r>
          </a:p>
          <a:p>
            <a:endParaRPr/>
          </a:p>
          <a:p>
            <a:r>
              <a:t>BACKGROUND (read at home, not aloud) —</a:t>
            </a:r>
          </a:p>
          <a:p>
            <a:r>
              <a:t>The man who killed Zayd ؓ was called Abū Maryam al-Ḥanafī. He fought that day on the other side. Afterwards he became a Muslim. And at some point after that he stood in front of ʿUmar ؓ — the dead man's younger brother, now the Commander of the Faithful — and said this to him. ʿUmar ؓ later appointed him a judge. Ibn Kathīr records a second report naming a different killer, and records that Ibn ʿAbd al-Barr preferred it, and then says the second report does not disprove the first.</a:t>
            </a:r>
          </a:p>
          <a:p>
            <a:endParaRPr/>
          </a:p>
          <a:p>
            <a:r>
              <a:t>WHEN, as the card gives it: اليمامة 12 AH, and afterwards in المدینہ</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RUNSHEET: Abū ʿAqīl ؓ, a chief of the Anṣār and a man of Badr. ⚠⚠ The long famous version — the night wound, the dead arm, the severed arm, "who won?" — is in NO approved source (§X.2). Tell only the sentence on the card</a:t>
            </a:r>
          </a:p>
          <a:p>
            <a:endParaRPr/>
          </a:p>
          <a:p>
            <a:r>
              <a:t>SAY —</a:t>
            </a:r>
          </a:p>
          <a:p>
            <a:r>
              <a:t>1. Who he was — Abū ʿAqīl ؓ, one of the chiefs of the Anṣār and a man of Badr.</a:t>
            </a:r>
          </a:p>
          <a:p>
            <a:r>
              <a:t>2. The arrow — It struck him at al-Yamāma, and he pulled it out himself.</a:t>
            </a:r>
          </a:p>
          <a:p>
            <a:r>
              <a:t>3. What he did next — Bound himself up, took his sword, and went back into the fighting.</a:t>
            </a:r>
          </a:p>
          <a:p>
            <a:r>
              <a:t>4. Afterwards — He fought until he was killed, and many wounds were found on him.</a:t>
            </a:r>
          </a:p>
          <a:p>
            <a:r>
              <a:t>   ^ read the Arabic on the face here</a:t>
            </a:r>
          </a:p>
          <a:p>
            <a:endParaRPr/>
          </a:p>
          <a:p>
            <a:r>
              <a:t>QUOTE — أصابه سهم يوم اليمامة فنزعه، وتحزم وأخذ السيف وقاتل حتى قتل، فوجد به جراحات كثيرة.</a:t>
            </a:r>
          </a:p>
          <a:p>
            <a:r>
              <a:t>"An arrow struck him on the day of al-Yamāma and he pulled it out, bound himself up, took his sword and fought until he was killed — and many wounds were found on him."</a:t>
            </a:r>
          </a:p>
          <a:p>
            <a:r>
              <a:t>— سیر أعلام النبلاء (سير الخلفاء الراشدين) ص۶۰</a:t>
            </a:r>
          </a:p>
          <a:p>
            <a:endParaRPr/>
          </a:p>
          <a:p>
            <a:r>
              <a:t>عبرت — Nobody carried him out and nobody was asked to.</a:t>
            </a:r>
          </a:p>
          <a:p>
            <a:endParaRPr/>
          </a:p>
          <a:p>
            <a:r>
              <a:t>⚠ البدایہ ج۷ ص۵۷ gives the same sentence. ⚠⚠ The long famous version of this account — the night wound, the dead arm, the severed arm, the fourteen wounds, "who won?" — is NOT in any approved source (§X.2). Tell only what is above.</a:t>
            </a:r>
          </a:p>
          <a:p>
            <a:endParaRPr/>
          </a:p>
          <a:p>
            <a:r>
              <a:t>MAP — No movement.</a:t>
            </a:r>
          </a:p>
          <a:p>
            <a:endParaRPr/>
          </a:p>
          <a:p>
            <a:r>
              <a:t>BACKGROUND (read at home, not aloud) —</a:t>
            </a:r>
          </a:p>
          <a:p>
            <a:r>
              <a:t>Abū ʿAqīl ؓ was one of the chiefs of the Anṣār and a man of Badr. At al-Yamāma an arrow hit him. He pulled it out himself. Then he bound himself up, took his sword, and went back to fighting. He fought until he was killed. When they came to him afterwards, they found many wounds on him.</a:t>
            </a:r>
          </a:p>
          <a:p>
            <a:endParaRPr/>
          </a:p>
          <a:p>
            <a:r>
              <a:t>WHEN, as the card gives it: اليمامة, 12 AH</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RUNSHEET: ⚠ Where he died is disputed (⁨سیر⁩/⁨البدایہ⁩: اليمامة; ⁨سیر الراشدون⁩ ص61: ⁨جواثى⁩) — say "in this war". ⚠ Do not print a verse number without checking a ⁨مصحف⁩</a:t>
            </a:r>
          </a:p>
          <a:p>
            <a:endParaRPr/>
          </a:p>
          <a:p>
            <a:r>
              <a:t>SAY —</a:t>
            </a:r>
          </a:p>
          <a:p>
            <a:r>
              <a:t>1. Whose son he was — ʿAbdullāh b. ʿAbdullāh b. Ubayy ؓ: his father is the man the Qurʾān calls the head of the hypocrites.</a:t>
            </a:r>
          </a:p>
          <a:p>
            <a:r>
              <a:t>2. What he himself was — A Muslim at Badr and at everything after it; the books call him one of the best of them.</a:t>
            </a:r>
          </a:p>
          <a:p>
            <a:r>
              <a:t>3. Hardest of all people on his own father — And the books record that plainly.</a:t>
            </a:r>
          </a:p>
          <a:p>
            <a:r>
              <a:t>   ^ read the Arabic on the face here</a:t>
            </a:r>
          </a:p>
          <a:p>
            <a:r>
              <a:t>4. At that father's burial — The Prophet ﷺ gave his own shirt and prayed over him, as an honour to the son.</a:t>
            </a:r>
          </a:p>
          <a:p>
            <a:r>
              <a:t>5. A few years later — The son was killed in this war.</a:t>
            </a:r>
          </a:p>
          <a:p>
            <a:endParaRPr/>
          </a:p>
          <a:p>
            <a:r>
              <a:t>QUOTE — وكان أبوه رأسَ المنافقين، وكان أشدَّ الناس على أبيه، ولو أذن له رسول الله فيه لضربَ عُنُقه.</a:t>
            </a:r>
          </a:p>
          <a:p>
            <a:r>
              <a:t>"His father was the head of the hypocrites, and he was the hardest of all people on his father — had the Messenger of Allah ﷺ permitted him, he would have struck his neck."</a:t>
            </a:r>
          </a:p>
          <a:p>
            <a:r>
              <a:t>— البدایہ والنہایہ ج۷ ص۵۳</a:t>
            </a:r>
          </a:p>
          <a:p>
            <a:endParaRPr/>
          </a:p>
          <a:p>
            <a:r>
              <a:t>عبرت — A man is not his father, and the books are careful to record that they were not confused about it.</a:t>
            </a:r>
          </a:p>
          <a:p>
            <a:endParaRPr/>
          </a:p>
          <a:p>
            <a:r>
              <a:t>⚠ **Where he died is disputed: سیر ج۱ ص۳۲۲ and البدایہ ج۷ ص۵۳ say اليمامة; سیر الراشدون ص۶۱ records</a:t>
            </a:r>
          </a:p>
          <a:p>
            <a:r>
              <a:t>a report that it was جواثى. Say "in this war" if the field is not needed.** ⚠ The سیر page prints the</a:t>
            </a:r>
          </a:p>
          <a:p>
            <a:r>
              <a:t>verse reference as [التوبة: ٨٩]; **verify against a مصحف before printing any number.**</a:t>
            </a:r>
          </a:p>
          <a:p>
            <a:endParaRPr/>
          </a:p>
          <a:p>
            <a:r>
              <a:t>BACKGROUND (read at home, not aloud) —</a:t>
            </a:r>
          </a:p>
          <a:p>
            <a:r>
              <a:t>ʿAbd Allāh b. ʿAbd Allāh b. Ubayy ؓ was the son of the man the Qurʾān calls the head of the hypocrites. He was a Muslim, he was at Badr and at everything after it, and the books call him one of the best of the Companions. He was the hardest of all people on his own father. When that father died, the Prophet ﷺ gave his own shirt for the burial and prayed over him — as an honour to the son. And a few years after that, the son was killed at al-Yamāma.</a:t>
            </a:r>
          </a:p>
          <a:p>
            <a:endParaRPr/>
          </a:p>
          <a:p>
            <a:r>
              <a:t>WHEN, as the card gives it: اليمامة, 12 AH</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RUNSHEET: ⚠ The fourth man is a son in one source and a grandson in another — say "three men of his own household with him" and do not count them out</a:t>
            </a:r>
          </a:p>
          <a:p>
            <a:endParaRPr/>
          </a:p>
          <a:p>
            <a:r>
              <a:t>SAY —</a:t>
            </a:r>
          </a:p>
          <a:p>
            <a:r>
              <a:t>1. Who he was — Ḥazn al-Makhzūmī ؓ of Mecca, grandfather of Saʿīd b. al-Musayyab رحمہ اللہ.</a:t>
            </a:r>
          </a:p>
          <a:p>
            <a:r>
              <a:t>2. The name — The Prophet ﷺ wanted to change it; he would not change a name his parents had given him.</a:t>
            </a:r>
          </a:p>
          <a:p>
            <a:r>
              <a:t>3. How the report ends — So the roughness never left us.</a:t>
            </a:r>
          </a:p>
          <a:p>
            <a:r>
              <a:t>   ^ read the Arabic on the face here</a:t>
            </a:r>
          </a:p>
          <a:p>
            <a:r>
              <a:t>4. At al-Yamāma — He was killed, and three men of his own household with him.</a:t>
            </a:r>
          </a:p>
          <a:p>
            <a:endParaRPr/>
          </a:p>
          <a:p>
            <a:r>
              <a:t>QUOTE — أراد رسولُ الله ﷺ أن يسميه سَهْلًا فامتنعَ وقال: لا أغيّرُ اسمًا سمانيه أبواي، فلم تزل الحزونة فينا. استُشهد يومَ اليمامة. وقتل معه أيضًا ابناه عبد الرحمن ووهب، وابن ابنه حكيمُ بن وَهْبِ بن حزن.</a:t>
            </a:r>
          </a:p>
          <a:p>
            <a:r>
              <a:t>"The Messenger of Allah ﷺ wanted to name him Sahl, and he refused, saying: I will not change a name my parents gave me. So the roughness never left us. He was martyred on the day of al-Yamāma; and killed with him also were his two sons ʿAbd al-Raḥmān and Wahb, and his grandson Ḥakīm b. Wahb b. Ḥazn."</a:t>
            </a:r>
          </a:p>
          <a:p>
            <a:r>
              <a:t>— البدایہ والنہایہ ج۷ ص۴۹ — the naming report: **صحيح البخاري ٦١٩٠**</a:t>
            </a:r>
          </a:p>
          <a:p>
            <a:endParaRPr/>
          </a:p>
          <a:p>
            <a:r>
              <a:t>عبرت — One household sent four men to one field and none of them came back.</a:t>
            </a:r>
          </a:p>
          <a:p>
            <a:endParaRPr/>
          </a:p>
          <a:p>
            <a:r>
              <a:t>⚠ **سیر الراشدون ص۵۷ makes the fourth man a son rather than a grandson. Say: "three men of his own</a:t>
            </a:r>
          </a:p>
          <a:p>
            <a:r>
              <a:t>household with him — the sources differ over whether the fourth was his son or his grandson."**</a:t>
            </a:r>
          </a:p>
          <a:p>
            <a:r>
              <a:t>⚠ **The page does not say Saʿīd b. al-Musayyab رحمہ اللہ told the story; «فلم تزل الحزونة فينا» is</a:t>
            </a:r>
          </a:p>
          <a:p>
            <a:r>
              <a:t>part of the report as البدایہ prints it. Do not attribute the telling to him from the platform** —</a:t>
            </a:r>
          </a:p>
          <a:p>
            <a:r>
              <a:t>say only that the naming report is in **صحيح البخاري ٦١٩٠** (البدایہ ed. fn., ج۷ ص۴۹). ⚠ **Nothing on</a:t>
            </a:r>
          </a:p>
          <a:p>
            <a:r>
              <a:t>the page gives his age. Do not call him old.**</a:t>
            </a:r>
          </a:p>
          <a:p>
            <a:endParaRPr/>
          </a:p>
          <a:p>
            <a:r>
              <a:t>BACKGROUND (read at home, not aloud) —</a:t>
            </a:r>
          </a:p>
          <a:p>
            <a:r>
              <a:t>Ḥazn al-Makhzūmī ؓ was a man of Mecca of Banū Makhzūm, and the grandfather of Saʿīd b. al-Musayyab رحمہ اللہ, one of the great jurists of the next generation. The Prophet ﷺ once wanted to change his name — Ḥazn means rough ground — to Sahl, which means smooth. He refused: he would not change a name his parents had given him. And the report ends: *so the roughness never left us.* At al-Yamāma, Ḥazn ؓ was killed. So were two of his sons. So was a grandson.</a:t>
            </a:r>
          </a:p>
          <a:p>
            <a:endParaRPr/>
          </a:p>
          <a:p>
            <a:r>
              <a:t>WHEN, as the card gives it: اليمامة, 12 AH</a:t>
            </a:r>
          </a:p>
        </p:txBody>
      </p:sp>
      <p:sp>
        <p:nvSpPr>
          <p:cNvPr id="4" name="Slide Number Placeholder 3"/>
          <p:cNvSpPr>
            <a:spLocks noGrp="1"/>
          </p:cNvSpPr>
          <p:nvPr>
            <p:ph type="sldNum" sz="quarter" idx="5"/>
          </p:nvPr>
        </p:nvSpPr>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RUNSHEET: ⚠ SPEAKER'S DISCRETION — this is the most severe card in the evening. It is what was done to Ḥabīb b. Zayd ؓ, and what his mother Umm ʿUmāra ؓ did after it. Tell it plainly and without dwelling; do not elaborate beyond the page. If the room is heavy, skip it. ⚠ The two books differ on the wounds — ⁨سیر ج2 ص281⁩: the hand plus eleven; ⁨البدایہ ج3 ص428⁩: twelve. Say "covered in wounds", or give one book's figure with its caption</a:t>
            </a:r>
          </a:p>
          <a:p>
            <a:endParaRPr/>
          </a:p>
          <a:p>
            <a:r>
              <a:t>SAY —</a:t>
            </a:r>
          </a:p>
          <a:p>
            <a:r>
              <a:t>1. A man in Musaylima's hands — Ḥabīb b. Zayd ؓ, asked whether he testified that Muḥammad ﷺ is the Messenger of Allah.</a:t>
            </a:r>
          </a:p>
          <a:p>
            <a:r>
              <a:t>2. He said yes — Then he was asked to testify the same of Musaylima, and said: I do not hear.</a:t>
            </a:r>
          </a:p>
          <a:p>
            <a:r>
              <a:t>3. He was cut apart, limb by limb — And he never gave more than that one answer, until he died.</a:t>
            </a:r>
          </a:p>
          <a:p>
            <a:r>
              <a:t>   ^ read the Arabic on the face here</a:t>
            </a:r>
          </a:p>
          <a:p>
            <a:r>
              <a:t>4. His mother — Umm ʿUmāra Nusayba bint Kaʿb رضي الله عنها: al-ʿAqaba, Uḥud, al-Ḥudaybiya, Ḥunayn.</a:t>
            </a:r>
          </a:p>
          <a:p>
            <a:r>
              <a:t>5. What al-Dhahabī رحمہ اللہ records of her — She fought, and she did great things; twelve wounds at Uḥud.</a:t>
            </a:r>
          </a:p>
          <a:p>
            <a:r>
              <a:t>6. She went out with the army — Her hand was cut off at al-Yamāma, and she came back covered in wounds.</a:t>
            </a:r>
          </a:p>
          <a:p>
            <a:r>
              <a:t>7. Abū Bakr ؓ, while he was caliph — Was seen coming to her to ask after her.</a:t>
            </a:r>
          </a:p>
          <a:p>
            <a:endParaRPr/>
          </a:p>
          <a:p>
            <a:r>
              <a:t>QUOTE — فيقول: أتشهدُ أني رسولُ اللَّه؟ فيقول: لا أسمع، فجعل يقطِّعُه عضوًا عضوًا حتى مات في يديه، لا يزيدُه على ذلك.</a:t>
            </a:r>
          </a:p>
          <a:p>
            <a:r>
              <a:t>"Then he would say: Do you testify that I am the Messenger of Allah? And he would say: I do not hear. So he began to cut him apart limb by limb until he died in his hands — and he never gave him more than that."</a:t>
            </a:r>
          </a:p>
          <a:p>
            <a:r>
              <a:t>— البدایہ والنہایہ ج۳ ص۴۲۸</a:t>
            </a:r>
          </a:p>
          <a:p>
            <a:endParaRPr/>
          </a:p>
          <a:p>
            <a:r>
              <a:t>عبرت — He was not asked to say anything; he was asked to hear something, and he would not.</a:t>
            </a:r>
          </a:p>
          <a:p>
            <a:endParaRPr/>
          </a:p>
          <a:p>
            <a:r>
              <a:t>⚠ The wounds: سیر ج۲ ص۲۸۱ — hand cut off at al-Yamāma and eleven wounds besides. ⚠ البدایہ ج۳ ص۴۲۸ says twelve wounds; give one figure with its caption, or say only "covered in wounds". ⚠ سیر ج۲ ص۲۸۲ names her other son ʿAbd Allāh b. Zayd ؓ as the man who killed Musaylima with his sword —</a:t>
            </a:r>
          </a:p>
          <a:p>
            <a:endParaRPr/>
          </a:p>
          <a:p>
            <a:r>
              <a:t>MAP — A single line from المدینہ to عَقْرَباء.</a:t>
            </a:r>
          </a:p>
          <a:p>
            <a:endParaRPr/>
          </a:p>
          <a:p>
            <a:r>
              <a:t>BACKGROUND (read at home, not aloud) —</a:t>
            </a:r>
          </a:p>
          <a:p>
            <a:r>
              <a:t>Musaylima had a man named Ḥabīb b. Zayd ؓ in his hands. He asked him whether he testified that Muḥammad ﷺ was the Messenger of Allah, and Ḥabīb ؓ said yes. Then he asked whether he testified that he, Musaylima, was a messenger of Allah — and Ḥabīb ؓ said: I do not hear. So he began to cut him apart, one limb at a time, and Ḥabīb ؓ never gave him more than that answer, until he died in his hands. Ḥabīb's ؓ mother was Umm ʿUmāra Nusayba bint Kaʿb رضي الله عنها, who had been at al-ʿAqaba, at Uḥud, at al-Ḥudaybiya and at Ḥunayn. When the army marched to al-Yamāma, she went with it. Her hand was cut off there. She came back to Medina covered in wounds, and Abū Bakr ؓ, while he was caliph, was seen coming to her to ask after her.</a:t>
            </a:r>
          </a:p>
          <a:p>
            <a:endParaRPr/>
          </a:p>
          <a:p>
            <a:r>
              <a:t>**one of four accounts in the safe list; do not settle it (§9.3).**</a:t>
            </a:r>
          </a:p>
          <a:p>
            <a:endParaRPr/>
          </a:p>
          <a:p>
            <a:r>
              <a:t>WHEN, as the card gives it: 11 AH → 12 AH</a:t>
            </a:r>
          </a:p>
        </p:txBody>
      </p:sp>
      <p:sp>
        <p:nvSpPr>
          <p:cNvPr id="4" name="Slide Number Placeholder 3"/>
          <p:cNvSpPr>
            <a:spLocks noGrp="1"/>
          </p:cNvSpPr>
          <p:nvPr>
            <p:ph type="sldNum" sz="quarter" idx="5"/>
          </p:nvPr>
        </p:nvSpPr>
        <p:spPr/>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RUNSHEET: This is the card Daniyal's own question found (2026-09-23): the note's §9.3 was on no card, so it did not exist on stage (#35). ⁨الذہبی⁩, in her notice, says her other son ʿAbd Allāh b. Zayd ؓ is the man who killed Musaylima with his sword. ⚠ It is ONE OF FOUR names (QABANK.md §5.3) — say it as he writes it, and say in the same breath that three other names are given. ⚠ Do not open ⁨الحرة⁩, which the same page mentions</a:t>
            </a:r>
          </a:p>
          <a:p>
            <a:endParaRPr/>
          </a:p>
          <a:p>
            <a:r>
              <a:t>SAY —</a:t>
            </a:r>
          </a:p>
          <a:p>
            <a:r>
              <a:t>1. She had another son — ʿAbd Allāh b. Zayd ؓ, the brother of Ḥabīb ؓ.</a:t>
            </a:r>
          </a:p>
          <a:p>
            <a:r>
              <a:t>2. What the ummah knows him for — He is the Companion who described the Prophet's ﷺ wuḍūʾ.</a:t>
            </a:r>
          </a:p>
          <a:p>
            <a:r>
              <a:t>3. What al-Dhahabī رحمہ اللہ adds, in her notice — That he is the one who killed Musaylima with his sword.</a:t>
            </a:r>
          </a:p>
          <a:p>
            <a:r>
              <a:t>   ^ read the Arabic on the face here</a:t>
            </a:r>
          </a:p>
          <a:p>
            <a:r>
              <a:t>4. One of four names — The books give four, and they do not choose between them.</a:t>
            </a:r>
          </a:p>
          <a:p>
            <a:r>
              <a:t>5. And the man best placed to know refused the claim — Your Lord knows better which of us killed him.</a:t>
            </a:r>
          </a:p>
          <a:p>
            <a:endParaRPr/>
          </a:p>
          <a:p>
            <a:r>
              <a:t>QUOTE — وَابْنُهَا الآخَرُ عَبْدُ اللهِ بنُ زَيْدٍ المَازِنِيُّ الَّذِي حَكَى وُضُوْءَ رَسُوْلِ اللهِ -صَلَّى اللَّهُ عَلَيْهِ وَسَلَّمَ- … وَهُوَ الَّذِي قَتَلَ مُسَيْلِمَةَ الكَذَّابَ بِسَيْفِهِ.</a:t>
            </a:r>
          </a:p>
          <a:p>
            <a:r>
              <a:t>"Her other son, ʿAbd Allāh b. Zayd al-Māzinī — the one who described the Messenger of Allah's ﷺ wuḍūʾ — … and he is the one who killed Musaylima the liar with his sword."</a:t>
            </a:r>
          </a:p>
          <a:p>
            <a:r>
              <a:t>— سیر أعلام النبلاء ج۲ ص۲۸۲</a:t>
            </a:r>
          </a:p>
          <a:p>
            <a:endParaRPr/>
          </a:p>
          <a:p>
            <a:r>
              <a:t>عبرت — The same notice records what that house lost and what one account says it did, and the books still decline to say whose hand it was.</a:t>
            </a:r>
          </a:p>
          <a:p>
            <a:endParaRPr/>
          </a:p>
          <a:p>
            <a:r>
              <a:t>⚠ **NEVER state a single killer (`QA_BANK.md` §5.3).** The four: ⁨الواقدي⁩ names ⁨عبد الله بن زيد ؓ⁩ ·</a:t>
            </a:r>
          </a:p>
          <a:p>
            <a:r>
              <a:t>⁨ابن کثیر⁩ prefers ⁨وحشي ؓ⁩ striking first and ⁨أبو دجانة ؓ⁩ finishing · ⁨سيف⁩ names ⁨عدي بن سهل⁩ ·</a:t>
            </a:r>
          </a:p>
          <a:p>
            <a:r>
              <a:t>and ⁨وحشي ؓ⁩ himself: «⁨فَربُّك أعلمُ أيُّنا قَتَله⁩». Say the sentence as ⁨الذہبی⁩ writes it, **and say in</a:t>
            </a:r>
          </a:p>
          <a:p>
            <a:r>
              <a:t>the same breath that three other names are given**.</a:t>
            </a:r>
          </a:p>
          <a:p>
            <a:r>
              <a:t>⚠ **The same page says he was killed on the day of ⁨الحرة⁩. Do not say it and do not open it** — it is</a:t>
            </a:r>
          </a:p>
          <a:p>
            <a:r>
              <a:t>63 AH and it is not this course's ground yet.</a:t>
            </a:r>
          </a:p>
          <a:p>
            <a:endParaRPr/>
          </a:p>
          <a:p>
            <a:r>
              <a:t>BACKGROUND (read at home, not aloud) —</a:t>
            </a:r>
          </a:p>
          <a:p>
            <a:r>
              <a:t>Umm ʿUmāra ؓ had another son besides Ḥabīb ؓ. He is ʿAbd Allāh b. Zayd ؓ, and the ummah knows him for something entirely separate: he is the Companion who described the Prophet's ﷺ wuḍūʾ. In her own notice, al-Dhahabī رحمہ اللہ adds one more sentence about him — that he is the man who killed Musaylima with his sword. That is **one of four names** the approved books give for Musaylima's killer, and they do not choose between them.</a:t>
            </a:r>
          </a:p>
          <a:p>
            <a:endParaRPr/>
          </a:p>
          <a:p>
            <a:r>
              <a:t>WHEN, as the card gives it: اليمامة 12 AH</a:t>
            </a:r>
          </a:p>
        </p:txBody>
      </p:sp>
      <p:sp>
        <p:nvSpPr>
          <p:cNvPr id="4" name="Slide Number Placeholder 3"/>
          <p:cNvSpPr>
            <a:spLocks noGrp="1"/>
          </p:cNvSpPr>
          <p:nvPr>
            <p:ph type="sldNum" sz="quarter" idx="5"/>
          </p:nvPr>
        </p:nvSpPr>
        <p:spPr/>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RUNSHEET: ⚠ Frame ⁨اليرموك⁩ aloud as a battle we have not reached (#43, forward reference). ⚠ Do not read the Arabic of the dream and do not render its second image — say only what the card says he interpreted</a:t>
            </a:r>
          </a:p>
          <a:p>
            <a:endParaRPr/>
          </a:p>
          <a:p>
            <a:r>
              <a:t>SAY —</a:t>
            </a:r>
          </a:p>
          <a:p>
            <a:r>
              <a:t>1. Who he was — al-Ṭufayl b. ʿAmr al-Dawsī ؓ, who took Islam back to Daws and brought ninety households to Medina.</a:t>
            </a:r>
          </a:p>
          <a:p>
            <a:r>
              <a:t>2. He went out with his son — ʿAmr, to al-Yamāma.</a:t>
            </a:r>
          </a:p>
          <a:p>
            <a:r>
              <a:t>3. A dream before the battle, which he read aloud himself — He would be killed and buried; his son would press for martyrdom and not get it that year.</a:t>
            </a:r>
          </a:p>
          <a:p>
            <a:r>
              <a:t>4. Both halves came true — The father was killed at al-Yamāma.</a:t>
            </a:r>
          </a:p>
          <a:p>
            <a:r>
              <a:t>   ^ read the Arabic on the face here</a:t>
            </a:r>
          </a:p>
          <a:p>
            <a:r>
              <a:t>5. The son — Killed a few years later at al-Yarmūk, a battle this course has not reached yet.</a:t>
            </a:r>
          </a:p>
          <a:p>
            <a:endParaRPr/>
          </a:p>
          <a:p>
            <a:r>
              <a:t>QUOTE — فأولها بأنه سيقتل ويدفن، وأن ابنه يحرص على الشهادةِ فلا ينالُها عامَه ذلك. وقد وقع الأمر كما أوّلها، ثم قُتل ابنُه شهيدًا يوم اليرموك.</a:t>
            </a:r>
          </a:p>
          <a:p>
            <a:r>
              <a:t>"He interpreted it himself: that he would be killed and buried, and that his son would press for martyrdom and not attain it that year. And it happened exactly as he interpreted it — and then his son was killed a martyr on the day of al-Yarmūk."</a:t>
            </a:r>
          </a:p>
          <a:p>
            <a:r>
              <a:t>— البدایہ والنہایہ ج۷ ص۵۲</a:t>
            </a:r>
          </a:p>
          <a:p>
            <a:endParaRPr/>
          </a:p>
          <a:p>
            <a:r>
              <a:t>عبرت — He read his own end aloud before the battle, and then went into it anyway.</a:t>
            </a:r>
          </a:p>
          <a:p>
            <a:endParaRPr/>
          </a:p>
          <a:p>
            <a:r>
              <a:t>MAP — Two marks a long way apart — عَقْرَباء in central Najd, and اليرموك on the Syrian frontier.</a:t>
            </a:r>
          </a:p>
          <a:p>
            <a:endParaRPr/>
          </a:p>
          <a:p>
            <a:r>
              <a:t>⚠ **Do not read the Arabic of the dream itself aloud and do not render its second image. Say: he</a:t>
            </a:r>
          </a:p>
          <a:p>
            <a:r>
              <a:t>dreamed his head was shaved and the earth took him in, and that his son was trying to reach him and</a:t>
            </a:r>
          </a:p>
          <a:p>
            <a:r>
              <a:t>could not.** Ibn Kathīr's interpretation is his own text and is safe to give. Corroboration for the</a:t>
            </a:r>
          </a:p>
          <a:p>
            <a:r>
              <a:t>son at اليرموك: سیر الراشدون ص۱۱۳ · https://shamela.ws/book/10906/1258 — «عمرو بن الطفيل بن عمرو بن</a:t>
            </a:r>
          </a:p>
          <a:p>
            <a:r>
              <a:t>طريف، قتل باليرموك».</a:t>
            </a:r>
          </a:p>
          <a:p>
            <a:endParaRPr/>
          </a:p>
          <a:p>
            <a:r>
              <a:t>BACKGROUND (read at home, not aloud) —</a:t>
            </a:r>
          </a:p>
          <a:p>
            <a:r>
              <a:t>Al-Ṭufayl b. ʿAmr al-Dawsī ؓ was the man who took Islam back to his own tribe and brought ninety households of Daws to Medina. He went out to al-Yamāma with his son ʿAmr. Before the battle he had a dream, and he read it aloud himself: that he would be killed and buried, and that his son would press hard for martyrdom and would not get it that year. Both halves came true. The father was killed at al-Yamāma. The son was killed a few years later, at al-Yarmūk.</a:t>
            </a:r>
          </a:p>
          <a:p>
            <a:endParaRPr/>
          </a:p>
          <a:p>
            <a:r>
              <a:t>WHEN, as the card gives it: اليمامة 12 AH, then اليرموك — whose own year is disputed in the sources (13 AH / 15 AH)</a:t>
            </a:r>
          </a:p>
        </p:txBody>
      </p:sp>
      <p:sp>
        <p:nvSpPr>
          <p:cNvPr id="4" name="Slide Number Placeholder 3"/>
          <p:cNvSpPr>
            <a:spLocks noGrp="1"/>
          </p:cNvSpPr>
          <p:nvPr>
            <p:ph type="sldNum" sz="quarter" idx="5"/>
          </p:nvPr>
        </p:nvSpPr>
        <p:spPr/>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BRIDGE — say:</a:t>
            </a:r>
          </a:p>
          <a:p>
            <a:r>
              <a:t>One more, and he is the one who lived. The man who asked to be thrown over the wall of the garden came out of it with eighty-odd wounds, and Khālid ؓ stayed a month treating him. Here is what was said about him afterwards.</a:t>
            </a:r>
          </a:p>
        </p:txBody>
      </p:sp>
      <p:sp>
        <p:nvSpPr>
          <p:cNvPr id="4" name="Slide Number Placeholder 3"/>
          <p:cNvSpPr>
            <a:spLocks noGrp="1"/>
          </p:cNvSpPr>
          <p:nvPr>
            <p:ph type="sldNum" sz="quarter" idx="5"/>
          </p:nvPr>
        </p:nvSpPr>
        <p:spPr/>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RUNSHEET: Answers what the room has been holding since #32 — the man who went over the wall lived. ⚠ The page opens with «⁨قيل⁩»: say "it is reported that ʿUmar ؓ wrote". Hands-up is switched off: the room has just buried a field</a:t>
            </a:r>
          </a:p>
          <a:p>
            <a:endParaRPr/>
          </a:p>
          <a:p>
            <a:r>
              <a:t>SAY —</a:t>
            </a:r>
          </a:p>
          <a:p>
            <a:r>
              <a:t>1. The man who went over the wall lived — al-Barāʾ b. Mālik ؓ, and this is what was said of him afterwards.</a:t>
            </a:r>
          </a:p>
          <a:p>
            <a:r>
              <a:t>2. His house — Brother of Anas b. Mālik ؓ, who served the Prophet ﷺ ten years.</a:t>
            </a:r>
          </a:p>
          <a:p>
            <a:r>
              <a:t>3. What is reported of ʿUmar ؓ — That he wrote to his army commanders about him.</a:t>
            </a:r>
          </a:p>
          <a:p>
            <a:r>
              <a:t>4. The instruction — Do not put al-Barāʾ in command of an army.</a:t>
            </a:r>
          </a:p>
          <a:p>
            <a:r>
              <a:t>   ^ read the Arabic on the face here</a:t>
            </a:r>
          </a:p>
          <a:p>
            <a:r>
              <a:t>5. The reason — Not that he was unreliable: that he presses forward, and takes the men with him.</a:t>
            </a:r>
          </a:p>
          <a:p>
            <a:endParaRPr/>
          </a:p>
          <a:p>
            <a:r>
              <a:t>QUOTE — لاَ تَسْتَعْمِلُوا البَرَاءَ عَلَى جَيْشٍ، فَإِنَّهُ مَهْلَكَةٌ مِنَ المَهَالِكِ يَقْدَمُ بِهِم.</a:t>
            </a:r>
          </a:p>
          <a:p>
            <a:r>
              <a:t>"Do not put al-Barāʾ in command of an army, for he is a destruction among destructions — he presses forward with them."</a:t>
            </a:r>
          </a:p>
          <a:p>
            <a:r>
              <a:t>— سیر أعلام النبلاء ج۱ ص۱۹۶</a:t>
            </a:r>
          </a:p>
          <a:p>
            <a:endParaRPr/>
          </a:p>
          <a:p>
            <a:r>
              <a:t>عبرت — Courage is not the same qualification as command, and a state has to know the difference.</a:t>
            </a:r>
          </a:p>
          <a:p>
            <a:endParaRPr/>
          </a:p>
          <a:p>
            <a:r>
              <a:t>BACKGROUND (read at home, not aloud) —</a:t>
            </a:r>
          </a:p>
          <a:p>
            <a:r>
              <a:t>Anas b. Mālik's elder brother al-Barāʾ was the kind of fighter other men lined up behind. It is reported that ʿUmar wrote to his army commanders about him, and the instruction was not to give him a command. The reason given was not that he was unreliable. It was the opposite.</a:t>
            </a:r>
          </a:p>
          <a:p>
            <a:endParaRPr/>
          </a:p>
          <a:p>
            <a:r>
              <a:t>WHEN, as the card gives it: the caliphate of عمر ؓ, 13–23 AH for the caliphate; the letter itself is undated</a:t>
            </a:r>
          </a:p>
        </p:txBody>
      </p:sp>
      <p:sp>
        <p:nvSpPr>
          <p:cNvPr id="4" name="Slide Number Placeholder 3"/>
          <p:cNvSpPr>
            <a:spLocks noGrp="1"/>
          </p:cNvSpPr>
          <p:nvPr>
            <p:ph type="sldNum" sz="quarter" idx="5"/>
          </p:nvPr>
        </p:nvSpPr>
        <p:spPr/>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RUNSHEET: Cut first. ⚠ The counts move — ninety-nine, ninety-odd, a hundred. Say "the reports give ninety-odd" and move on. Beat 4 is where he did die: ⁨تُسْتَر⁩, years later</a:t>
            </a:r>
          </a:p>
          <a:p>
            <a:endParaRPr/>
          </a:p>
          <a:p>
            <a:r>
              <a:t>SAY —</a:t>
            </a:r>
          </a:p>
          <a:p>
            <a:r>
              <a:t>1. His brother comes in on him — Anas ؓ finds him singing over his bow, and asks how long that will go on.</a:t>
            </a:r>
          </a:p>
          <a:p>
            <a:r>
              <a:t>2. The answer is a question — Do you see me dying in my bed?</a:t>
            </a:r>
          </a:p>
          <a:p>
            <a:r>
              <a:t>   ^ read the Arabic on the face here</a:t>
            </a:r>
          </a:p>
          <a:p>
            <a:r>
              <a:t>3. And then a number — The reports give ninety-odd killed in single combat, besides what he shared in with others.</a:t>
            </a:r>
          </a:p>
          <a:p>
            <a:r>
              <a:t>4. He did not die in his bed — He was killed at Tustar, years later, in the assault he had prayed for.</a:t>
            </a:r>
          </a:p>
          <a:p>
            <a:endParaRPr/>
          </a:p>
          <a:p>
            <a:r>
              <a:t>QUOTE — أَترَانِي أَمُوْتُ عَلَى فِرَاشِي؟ وَاللهِ لَقَدْ قَتَلْتُ بِضْعاً وَتِسْعِيْنَ.</a:t>
            </a:r>
          </a:p>
          <a:p>
            <a:r>
              <a:t>"Do you see me dying in my bed? By Allah, I have killed ninety-odd."</a:t>
            </a:r>
          </a:p>
          <a:p>
            <a:r>
              <a:t>— سیر أعلام النبلاء ج۱ ص۱۹۸</a:t>
            </a:r>
          </a:p>
          <a:p>
            <a:endParaRPr/>
          </a:p>
          <a:p>
            <a:r>
              <a:t>عبرت — Two brothers in one house, and each thought the other needed correcting.</a:t>
            </a:r>
          </a:p>
          <a:p>
            <a:endParaRPr/>
          </a:p>
          <a:p>
            <a:r>
              <a:t>⚠ (Delivery note: the counts move — ninety-nine in one chain, ninety-odd in another, a hundred in a third. Say "the reports give ninety-odd" and move on.)</a:t>
            </a:r>
          </a:p>
          <a:p>
            <a:endParaRPr/>
          </a:p>
          <a:p>
            <a:r>
              <a:t>BACKGROUND (read at home, not aloud) —</a:t>
            </a:r>
          </a:p>
          <a:p>
            <a:r>
              <a:t>Anas came in on his brother and found him singing over his bow. He asked him how long that was going to go on. His brother answered with a question of his own, and then with a number: ninety-nine men killed in single combat, not counting what he had shared in with everyone else. In a second telling Anas puts the question the other way and asks him why he sings poetry when Allah has given him the Qurʾān instead.</a:t>
            </a:r>
          </a:p>
          <a:p>
            <a:endParaRPr/>
          </a:p>
          <a:p>
            <a:r>
              <a:t>WHEN, as the card gives it: at Medina or Basra, undated</a:t>
            </a:r>
          </a:p>
        </p:txBody>
      </p:sp>
      <p:sp>
        <p:nvSpPr>
          <p:cNvPr id="4" name="Slide Number Placeholder 3"/>
          <p:cNvSpPr>
            <a:spLocks noGrp="1"/>
          </p:cNvSpPr>
          <p:nvPr>
            <p:ph type="sldNum" sz="quarter" idx="5"/>
          </p:nvPr>
        </p:nvSpPr>
        <p:spPr/>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RUNSHEET: The card that stops a wrong number being said aloud. [HANDS] 6: "How many men who had the whole Qurʾān by heart died that day? What would you guess?" — then the honest answer: the books do not give one</a:t>
            </a:r>
          </a:p>
          <a:p>
            <a:endParaRPr/>
          </a:p>
          <a:p>
            <a:r>
              <a:t>SAY —</a:t>
            </a:r>
          </a:p>
          <a:p>
            <a:r>
              <a:t>1. The question the room is already asking — How many men who carried the Qurʾān died that day?</a:t>
            </a:r>
          </a:p>
          <a:p>
            <a:r>
              <a:t>2. What the books do say — The killing ran hot among the reciters on the day of al-Yamāma.</a:t>
            </a:r>
          </a:p>
          <a:p>
            <a:r>
              <a:t>   ^ read the Arabic on the face here</a:t>
            </a:r>
          </a:p>
          <a:p>
            <a:r>
              <a:t>3. What none of them gives — A number for the reciters.</a:t>
            </a:r>
          </a:p>
          <a:p>
            <a:r>
              <a:t>4. Ibn Kathīr's figures are approximate, and he says so — Six hundred Muslim dead, or five hundred: «and Allah knows best».</a:t>
            </a:r>
          </a:p>
          <a:p>
            <a:r>
              <a:t>5. And twenty pages later — Four hundred and fifty, counting reciters, Companions and others together.</a:t>
            </a:r>
          </a:p>
          <a:p>
            <a:r>
              <a:t>6. So we say it plainly — We know why the Qurʾān was collected. We do not know how many were lost. Only that it was enough.</a:t>
            </a:r>
          </a:p>
          <a:p>
            <a:endParaRPr/>
          </a:p>
          <a:p>
            <a:r>
              <a:t>QUOTE — وذلك بعد ما استَحَرّ القتلُ في القُرّاء يوم اليمامة كما ثبت به الحديث في صحيح البخاري.</a:t>
            </a:r>
          </a:p>
          <a:p>
            <a:r>
              <a:t>"…and that was after the killing had run hot among the reciters on the day of al-Yamāma, as the ḥadīth in Ṣaḥīḥ al-Bukhārī establishes."</a:t>
            </a:r>
          </a:p>
          <a:p>
            <a:r>
              <a:t>— البدایہ والنہایہ ج۷ ص۷۹ — **صحيح البخاري ٤٩٨٦**</a:t>
            </a:r>
          </a:p>
          <a:p>
            <a:endParaRPr/>
          </a:p>
          <a:p>
            <a:r>
              <a:t>عبرت — They did not wait to find out how much had been lost before they secured what was left.</a:t>
            </a:r>
          </a:p>
          <a:p>
            <a:endParaRPr/>
          </a:p>
          <a:p>
            <a:r>
              <a:t>HANDS UP — Before telling it: *"How many men who had the whole Qurʾān by heart died that day? What would you guess?"* — then give the honest answer: the books do not say.</a:t>
            </a:r>
          </a:p>
          <a:p>
            <a:endParaRPr/>
          </a:p>
          <a:p>
            <a:r>
              <a:t>⚠ **This is the card that stops a wrong number being said. The figures the safe list does give run</a:t>
            </a:r>
          </a:p>
          <a:p>
            <a:r>
              <a:t>from 58 to more than 1,080 (§Y), and none of them is a count of reciters.** ⚠ **Anyone who says "450</a:t>
            </a:r>
          </a:p>
          <a:p>
            <a:r>
              <a:t>reciters" has misread البدایہ ج۷ ص۵۵.**</a:t>
            </a:r>
          </a:p>
          <a:p>
            <a:endParaRPr/>
          </a:p>
          <a:p>
            <a:r>
              <a:t>BACKGROUND (read at home, not aloud) —</a:t>
            </a:r>
          </a:p>
          <a:p>
            <a:r>
              <a:t>After al-Yamāma, Abū Bakr ؓ ordered the Qurʾān collected, and the reason the books give is that the killing had run hot among the reciters. That is the phrase all three of them use. What none of them gives is a number. Ibn Kathīr's own summary of the Muslim dead is four hundred and fifty — and he says in the same breath that he is counting bearers of the Qurʾān, Companions and others together in that one figure. So we know why the Qurʾān was collected. We do not know how many reciters died. We only know that it was enough.</a:t>
            </a:r>
          </a:p>
          <a:p>
            <a:endParaRPr/>
          </a:p>
          <a:p>
            <a:r>
              <a:t>## The people: the men who had fought against it</a:t>
            </a:r>
          </a:p>
          <a:p>
            <a:endParaRPr/>
          </a:p>
          <a:p>
            <a:r>
              <a:t>*Source note: [`the-men-who-had-fought-against-it.md`](../docs/research/the-men-who-had-fought-against-it.md) — read it for the pages behind these cards.*</a:t>
            </a:r>
          </a:p>
          <a:p>
            <a:endParaRPr/>
          </a:p>
          <a:p>
            <a:r>
              <a:t>WHEN, as the card gives it: 12 AH, after the battle</a:t>
            </a:r>
          </a:p>
        </p:txBody>
      </p:sp>
      <p:sp>
        <p:nvSpPr>
          <p:cNvPr id="4" name="Slide Number Placeholder 3"/>
          <p:cNvSpPr>
            <a:spLocks noGrp="1"/>
          </p:cNvSpPr>
          <p:nvPr>
            <p:ph type="sldNum" sz="quarter" idx="5"/>
          </p:nvPr>
        </p:nvSpPr>
        <p:spPr/>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RUNSHEET: Daniyal, 2026-09-23: add the dialogue. ⁨سیر ج2 ص431⁩, in Zayd's ؓ own words — the reason he was chosen, his objection, and the three-word answer. This is the run-up to #57; do not let it become the ending. ⚠ ʿUmar ؓ is named inside Zayd's ؓ sentence — that is the page's wording, not a claim about who proposed it: do not tell the "ʿUmar ؓ proposed it" account here, it is not on this page</a:t>
            </a:r>
          </a:p>
          <a:p>
            <a:endParaRPr/>
          </a:p>
          <a:p>
            <a:r>
              <a:t>SAY —</a:t>
            </a:r>
          </a:p>
          <a:p>
            <a:r>
              <a:t>1. Why him — A young man, of sound judgement, not suspected; and he had written the revelation for the Prophet ﷺ.</a:t>
            </a:r>
          </a:p>
          <a:p>
            <a:r>
              <a:t>2. The order — Follow the Qurʾān up, and gather it.</a:t>
            </a:r>
          </a:p>
          <a:p>
            <a:r>
              <a:t>3. He did not say yes — How do you do a thing the Messenger of Allah ﷺ did not do?</a:t>
            </a:r>
          </a:p>
          <a:p>
            <a:r>
              <a:t>4. The answer, in three words — By Allah, it is good.</a:t>
            </a:r>
          </a:p>
          <a:p>
            <a:r>
              <a:t>   ^ read the Arabic on the face here</a:t>
            </a:r>
          </a:p>
          <a:p>
            <a:r>
              <a:t>5. What changed it — Abū Bakr ؓ kept coming back to him, until Allah opened his breast to what He had opened theirs to.</a:t>
            </a:r>
          </a:p>
          <a:p>
            <a:r>
              <a:t>6. What he gathered it from — The parchments, the shoulder-blades, the palm-stalks, and the breasts of men.</a:t>
            </a:r>
          </a:p>
          <a:p>
            <a:endParaRPr/>
          </a:p>
          <a:p>
            <a:r>
              <a:t>QUOTE — إِنَّكَ رَجُلٌ شَابٌّ عَاقِلٌ لاَ نَتَّهِمُكَ، قَدْ كُنْتَ تَكْتُبَ الوَحْيَ لِرَسُوْلِ اللهِ -صَلَّى اللَّهُ عَلَيْهِ وَسَلَّمَ- فَتَتَبَّعِ القُرْآنَ، فَاجْمَعْهُ. فَقُلْتُ: كَيْفَ تَفْعَلُوْنَ شَيْئاً لَمْ يَفْعَلْهُ رَسُوْلُ اللهِ -صَلَّى اللَّهُ عَلَيْهِ وَسَلَّمَ-. قَالَ: هُوَ -وَاللهِ- خَيْرٌ.</a:t>
            </a:r>
          </a:p>
          <a:p>
            <a:r>
              <a:t>"You are a young man, of sound judgement, and we do not suspect you; you used to write the revelation for the Messenger of Allah ﷺ — so follow the Qurʾān up and gather it. I said: How do you do a thing the Messenger of Allah ﷺ did not do? He said: By Allah, it is good."</a:t>
            </a:r>
          </a:p>
          <a:p>
            <a:r>
              <a:t>— سیر أعلام النبلاء ج۲ ص۴۳۱</a:t>
            </a:r>
          </a:p>
          <a:p>
            <a:endParaRPr/>
          </a:p>
          <a:p>
            <a:r>
              <a:t>عبرت — The man who did it first had to be argued into it, and he is the one who told us so.</a:t>
            </a:r>
          </a:p>
          <a:p>
            <a:endParaRPr/>
          </a:p>
          <a:p>
            <a:r>
              <a:t>⚠ **ʿUmar ؓ is named inside Zayd's ؓ own sentence** («⁨شَرَحَ اللهُ صَدْرِي لِلَّذِي شَرَحَ لَهُ صَدْرَ أَبِي</a:t>
            </a:r>
          </a:p>
          <a:p>
            <a:r>
              <a:t>بَكْرٍ وَعُمَرَ⁩»). That is the page's wording, **not** a claim about who proposed it. **Do not build the</a:t>
            </a:r>
          </a:p>
          <a:p>
            <a:r>
              <a:t>"ʿUmar ؓ proposed it" account on this card — it is not on this page.**</a:t>
            </a:r>
          </a:p>
          <a:p>
            <a:r>
              <a:t>⚠ This page adds ⁨الرقاع⁩ and ⁨الأكتاف⁩ to the materials `RCT/E-RC37` lists. Say all four, or say the</a:t>
            </a:r>
          </a:p>
          <a:p>
            <a:r>
              <a:t>two the next card says; do not say "only".</a:t>
            </a:r>
          </a:p>
          <a:p>
            <a:endParaRPr/>
          </a:p>
          <a:p>
            <a:r>
              <a:t>BACKGROUND (read at home, not aloud) —</a:t>
            </a:r>
          </a:p>
          <a:p>
            <a:r>
              <a:t>Abū Bakr ؓ sent for Zayd b. Thābit ؓ and told him plainly why it was him: a young man, of sound judgement, not suspected — and he had written the revelation for the Prophet ﷺ. Then he told him to follow the Qurʾān up and gather it. Zayd ؓ did not say yes. He asked how they could do a thing the Messenger of Allah ﷺ had not done. Abū Bakr ؓ answered him in three words: by Allah, it is good. And he kept coming back to him — these are Zayd's ؓ own words — until Allah opened his breast to what He had opened the breast of Abū Bakr ؓ and ʿUmar ؓ to. Then he went and gathered it: from the parchments, the shoulder-blades, the palm-stalks, and the breasts of men.</a:t>
            </a:r>
          </a:p>
          <a:p>
            <a:endParaRPr/>
          </a:p>
          <a:p>
            <a:r>
              <a:t>WHEN, as the card gives it: 12 AH, المدینہ</a:t>
            </a:r>
          </a:p>
        </p:txBody>
      </p:sp>
      <p:sp>
        <p:nvSpPr>
          <p:cNvPr id="4" name="Slide Number Placeholder 3"/>
          <p:cNvSpPr>
            <a:spLocks noGrp="1"/>
          </p:cNvSpPr>
          <p:nvPr>
            <p:ph type="sldNum" sz="quarter" idx="5"/>
          </p:nvPr>
        </p:nvSpPr>
        <p:spPr/>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RUNSHEET: The true ending. End here and go straight to the closing bookend — say nothing after it</a:t>
            </a:r>
          </a:p>
          <a:p>
            <a:endParaRPr/>
          </a:p>
          <a:p>
            <a:r>
              <a:t>SAY —</a:t>
            </a:r>
          </a:p>
          <a:p>
            <a:r>
              <a:t>1. Count this day's dead differently — So many of the reciters were killed at al-Yamāma.</a:t>
            </a:r>
          </a:p>
          <a:p>
            <a:r>
              <a:t>2. Abū Bakr ؓ gives an order — Zayd b. Thābit ؓ is to gather the Qurʾān.</a:t>
            </a:r>
          </a:p>
          <a:p>
            <a:r>
              <a:t>3. Who he is — Of the Khazraj, of Banū al-Najjār, and the Prophet's ﷺ own scribe of the revelation.</a:t>
            </a:r>
          </a:p>
          <a:p>
            <a:r>
              <a:t>4. Out of what it was gathered — The flat stones, the palm-stalks, and the memories of men.</a:t>
            </a:r>
          </a:p>
          <a:p>
            <a:r>
              <a:t>   ^ read the Arabic on the face here</a:t>
            </a:r>
          </a:p>
          <a:p>
            <a:r>
              <a:t>5. Why then — So that it would not go with the men who carried it.</a:t>
            </a:r>
          </a:p>
          <a:p>
            <a:r>
              <a:t>6. Both books say it in the same place — al-Bidāya and al-Kāmil, and both point at al-Bukhārī.</a:t>
            </a:r>
          </a:p>
          <a:p>
            <a:r>
              <a:t>7. The muṣḥaf in this room — It was gathered because of the men who were killed in that garden.</a:t>
            </a:r>
          </a:p>
          <a:p>
            <a:endParaRPr/>
          </a:p>
          <a:p>
            <a:r>
              <a:t>QUOTE — فيها أمرَ الصديق زيدَ بن ثابتٍ أن يجمعَ القرآن من اللِّخاف والعُسُب وصدور الرجال، وذلك بعد ما استَحَرّ القتلُ في القُرّاء يوم اليمامة كما ثبت به الحديث في صحيح البخاري.</a:t>
            </a:r>
          </a:p>
          <a:p>
            <a:r>
              <a:t>"In it, al-Ṣiddīq ordered Zayd b. Thābit to gather the Qurʾān from the flat stones and the palm-stalks and the breasts of men — and that was after killing had grown severe among the reciters on the day of al-Yamāma, as the ḥadīth in Ṣaḥīḥ al-Bukhārī establishes."</a:t>
            </a:r>
          </a:p>
          <a:p>
            <a:r>
              <a:t>— البدایہ والنہایہ ج۷ ص۷۹ — **صحيح البخاري ٤٩٨٦**</a:t>
            </a:r>
          </a:p>
          <a:p>
            <a:endParaRPr/>
          </a:p>
          <a:p>
            <a:r>
              <a:t>عبرت — The mushaf the room reads from was gathered because of the men who were killed in the garden.</a:t>
            </a:r>
          </a:p>
          <a:p>
            <a:endParaRPr/>
          </a:p>
          <a:p>
            <a:r>
              <a:t>⚠ end here and go straight to the closing bookend.</a:t>
            </a:r>
          </a:p>
          <a:p>
            <a:endParaRPr/>
          </a:p>
          <a:p>
            <a:r>
              <a:t>MAP — The Line, not the map. Put a single mark on ۱۲ھ.</a:t>
            </a:r>
          </a:p>
          <a:p>
            <a:endParaRPr/>
          </a:p>
          <a:p>
            <a:r>
              <a:t>BACKGROUND (read at home, not aloud) —</a:t>
            </a:r>
          </a:p>
          <a:p>
            <a:r>
              <a:t>So many of the reciters were killed at al-Yamāma that Abū Bakr ؓ ordered the Qurʾān gathered — from the flat stones and the palm-stalks and the memories of men — so that it would not go with them. Two of the four books say it in the same place, and both of them point at al-Bukhārī for it.</a:t>
            </a:r>
          </a:p>
          <a:p>
            <a:endParaRPr/>
          </a:p>
          <a:p>
            <a:r>
              <a:t>**الکامل ج۲ ص۲۱۹, in the same place:** «أَمَرَ أَبُو بَكْرٍ بِجَمْعِ الْقُرْآنِ لِمَا رَأَى مِنْ كَثْرَةِ مَنْ</a:t>
            </a:r>
          </a:p>
          <a:p>
            <a:r>
              <a:t>قُتِلَ مِنَ الصَّحَابَةِ؛ **لِئَلَّا يَذْهَبَ الْقُرْآنُ**».</a:t>
            </a:r>
          </a:p>
          <a:p>
            <a:endParaRPr/>
          </a:p>
          <a:p>
            <a:r>
              <a:t>WHEN, as the card gives it: 12 AH</a:t>
            </a:r>
          </a:p>
        </p:txBody>
      </p:sp>
      <p:sp>
        <p:nvSpPr>
          <p:cNvPr id="4" name="Slide Number Placeholder 3"/>
          <p:cNvSpPr>
            <a:spLocks noGrp="1"/>
          </p:cNvSpPr>
          <p:nvPr>
            <p:ph type="sldNum" sz="quarter" idx="5"/>
          </p:nvPr>
        </p:nvSpPr>
        <p:spPr/>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BOOKEND OUT STOP E — the Line. Re-used verbatim as next evening's opening slide (DECISIONS.md #23).</a:t>
            </a:r>
          </a:p>
        </p:txBody>
      </p:sp>
      <p:sp>
        <p:nvSpPr>
          <p:cNvPr id="4" name="Slide Number Placeholder 3"/>
          <p:cNvSpPr>
            <a:spLocks noGrp="1"/>
          </p:cNvSpPr>
          <p:nvPr>
            <p:ph type="sldNum" sz="quarter" idx="5"/>
          </p:nvPr>
        </p:nvSpPr>
        <p:spPr/>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MAP: tools/mapstudio/scenes/s04-close-stop-d.json at step 1,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sz="quarter" idx="5"/>
          </p:nvPr>
        </p:nvSpPr>
        <p:spPr/>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TONIGHT'S عبرت — say each one, then move on:</a:t>
            </a:r>
          </a:p>
          <a:p>
            <a:r>
              <a:t>1. When the line broke, what re-formed it was what the men had memorised.</a:t>
            </a:r>
          </a:p>
          <a:p>
            <a:r>
              <a:t>2. One man asked to be thrown where nobody could follow him, and the whole army came in behind him through the gate he opened.</a:t>
            </a:r>
          </a:p>
          <a:p>
            <a:r>
              <a:t>3. The verse that steadied Medina in the year eleven is the verse a man recited on the ground in the year twelve.</a:t>
            </a:r>
          </a:p>
          <a:p>
            <a:r>
              <a:t>4. The mushaf the room reads from was gathered because of the men who were killed in the garden.</a:t>
            </a:r>
          </a:p>
        </p:txBody>
      </p:sp>
      <p:sp>
        <p:nvSpPr>
          <p:cNvPr id="4" name="Slide Number Placeholder 3"/>
          <p:cNvSpPr>
            <a:spLocks noGrp="1"/>
          </p:cNvSpPr>
          <p:nvPr>
            <p:ph type="sldNum" sz="quarter" idx="5"/>
          </p:nvPr>
        </p:nvSpPr>
        <p:spPr/>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Ask it, and pause. Then the salām, loudly — and the dua. The room must know it has ended.</a:t>
            </a:r>
          </a:p>
        </p:txBody>
      </p:sp>
      <p:sp>
        <p:nvSpPr>
          <p:cNvPr id="4" name="Slide Number Placeholder 3"/>
          <p:cNvSpPr>
            <a:spLocks noGrp="1"/>
          </p:cNvSpPr>
          <p:nvPr>
            <p:ph type="sldNum" sz="quarter" idx="5"/>
          </p:nvPr>
        </p:nvSpPr>
        <p:spPr/>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BRIDGE — say:</a:t>
            </a:r>
          </a:p>
          <a:p>
            <a:r>
              <a:t>We have finished; the Line does not move again tonight. What follows is older than everything we have told — it is the houses those men came out of, and we go back to before the Hijra to start it.</a:t>
            </a:r>
          </a:p>
        </p:txBody>
      </p:sp>
      <p:sp>
        <p:nvSpPr>
          <p:cNvPr id="4" name="Slide Number Placeholder 3"/>
          <p:cNvSpPr>
            <a:spLocks noGrp="1"/>
          </p:cNvSpPr>
          <p:nvPr>
            <p:ph type="sldNum" sz="quarter" idx="5"/>
          </p:nvPr>
        </p:nvSpPr>
        <p:spPr/>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RUNSHEET: The house begins here. ⁨ثابت⁩'s closing line is worth saying aloud: "we never heard of a nobler dower"</a:t>
            </a:r>
          </a:p>
          <a:p>
            <a:endParaRPr/>
          </a:p>
          <a:p>
            <a:r>
              <a:t>SAY —</a:t>
            </a:r>
          </a:p>
          <a:p>
            <a:r>
              <a:t>1. Who he is — Abū Ṭalḥa ؓ of the Anṣār; his own name is Zayd b. Sahl. ⁨الذہبی⁩: a man of Badr, and one of the twelve naqībs of the night of al-ʿAqaba.</a:t>
            </a:r>
          </a:p>
          <a:p>
            <a:r>
              <a:t>2. He comes to ask for her in marriage — Still a pagan; she had already believed.</a:t>
            </a:r>
          </a:p>
          <a:p>
            <a:r>
              <a:t>3. What she answered — She would not refuse a man like him, but he was a disbeliever.</a:t>
            </a:r>
          </a:p>
          <a:p>
            <a:r>
              <a:t>4. Her price — If he accepted Islam, that would be her dower, and she would ask for nothing else.</a:t>
            </a:r>
          </a:p>
          <a:p>
            <a:r>
              <a:t>   ^ read the Arabic on the face here</a:t>
            </a:r>
          </a:p>
          <a:p>
            <a:r>
              <a:t>5. What happened — He accepted Islam, and he married her.</a:t>
            </a:r>
          </a:p>
          <a:p>
            <a:endParaRPr/>
          </a:p>
          <a:p>
            <a:r>
              <a:t>QUOTE — أَمَا إِنِّي فِيْكَ لَرَاغِبَةٌ، وَمَا مِثْلُكَ يُرَدُّ، وَلَكِنَّكَ كَافِرٌ، فَإِنْ تُسْلِمْ فَذَلِكَ مَهْرِي، لاَ أَسْأَلُكَ غَيْرَهُ.</a:t>
            </a:r>
          </a:p>
          <a:p>
            <a:r>
              <a:t>"I am indeed willing in your case, and a man like you is not refused; but you are a disbeliever. If you accept Islam, that is my dower — I ask you for nothing else."</a:t>
            </a:r>
          </a:p>
          <a:p>
            <a:r>
              <a:t>— سیر أعلام النبلاء ج۲ ص۲۹</a:t>
            </a:r>
          </a:p>
          <a:p>
            <a:endParaRPr/>
          </a:p>
          <a:p>
            <a:r>
              <a:t>عبرت — She set the terms of her own household before she entered it.</a:t>
            </a:r>
          </a:p>
          <a:p>
            <a:endParaRPr/>
          </a:p>
          <a:p>
            <a:r>
              <a:t>⚠ but ثابت's closing line is worth adding aloud: *"We never heard of a nobler dower than Umm Sulaym's dower: Islam."</a:t>
            </a:r>
          </a:p>
          <a:p>
            <a:endParaRPr/>
          </a:p>
          <a:p>
            <a:r>
              <a:t>MAP — Medina — بنو النجار quarter</a:t>
            </a:r>
          </a:p>
          <a:p>
            <a:endParaRPr/>
          </a:p>
          <a:p>
            <a:r>
              <a:t>BACKGROUND (read at home, not aloud) —</a:t>
            </a:r>
          </a:p>
          <a:p>
            <a:r>
              <a:t>Abū Ṭalḥa came to ask for Umm Sulaym in marriage. He was still a pagan; she had already believed. She told him she would not refuse a man like him, but that he was a disbeliever. Then she named her price. If he accepted Islam, that would be her dower, and she would ask for nothing else. He accepted Islam, and he married her.</a:t>
            </a:r>
          </a:p>
          <a:p>
            <a:endParaRPr/>
          </a:p>
          <a:p>
            <a:r>
              <a:t>WHEN, as the card gives it: before the Hijra, at Medina (the sources fix no year)</a:t>
            </a:r>
          </a:p>
        </p:txBody>
      </p:sp>
      <p:sp>
        <p:nvSpPr>
          <p:cNvPr id="4" name="Slide Number Placeholder 3"/>
          <p:cNvSpPr>
            <a:spLocks noGrp="1"/>
          </p:cNvSpPr>
          <p:nvPr>
            <p:ph type="sldNum" sz="quarter" idx="5"/>
          </p:nvPr>
        </p:nvSpPr>
        <p:spPr/>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RUNSHEET: Anas ؓ is ten, and he stays ten years. This is the same Anas ؓ whose brother went over the wall at #32 — say so</a:t>
            </a:r>
          </a:p>
          <a:p>
            <a:endParaRPr/>
          </a:p>
          <a:p>
            <a:r>
              <a:t>SAY —</a:t>
            </a:r>
          </a:p>
          <a:p>
            <a:r>
              <a:t>1. She brings her son to the Prophet ﷺ — Dressed in half her own head-covering.</a:t>
            </a:r>
          </a:p>
          <a:p>
            <a:r>
              <a:t>2. What she asked — That he be taken into service, and prayed for.</a:t>
            </a:r>
          </a:p>
          <a:p>
            <a:r>
              <a:t>   ^ read the Arabic on the face here</a:t>
            </a:r>
          </a:p>
          <a:p>
            <a:r>
              <a:t>3. How old he was — Ten. He stayed ten years.</a:t>
            </a:r>
          </a:p>
          <a:p>
            <a:endParaRPr/>
          </a:p>
          <a:p>
            <a:r>
              <a:t>QUOTE — يَا رَسُوْلَ اللهِ! هَذَا أُنَيْسٌ ابْنِي، أَتَيْتُكَ بِهِ يَخْدُمُكَ، فَادْعُ اللهَ لَهُ.</a:t>
            </a:r>
          </a:p>
          <a:p>
            <a:r>
              <a:t>"Messenger of Allah, this is Unays, my son. I have brought him to you to serve you — so pray to Allah for him."</a:t>
            </a:r>
          </a:p>
          <a:p>
            <a:r>
              <a:t>— سیر أعلام النبلاء ج۳ ص۳۹۸</a:t>
            </a:r>
          </a:p>
          <a:p>
            <a:endParaRPr/>
          </a:p>
          <a:p>
            <a:r>
              <a:t>عبرت — She gave what she had, and what she had was a child's ten years.</a:t>
            </a:r>
          </a:p>
          <a:p>
            <a:endParaRPr/>
          </a:p>
          <a:p>
            <a:r>
              <a:t>HANDS UP — yes — *"How old were you when you first learned something you still use?"* *(Delivery caution: the familiar line — "every man and woman of the Anṣār had already given him a gift, and I have nothing but this son" — is a **different** report on the same page (سیر ج۳ ص۳۹۸), and it comes through علي بن زيد, of whom الذہبی says «وَفِيْهِ لِينٌ». Its wording is **أبو يعلى's, not الترمذي's** — the سیر editor says so outright: «هذا اللفظ ليس عند الترمذي، وإنما هو لأبي يعلى». The quotation above is the ṣaḥīḥ one, مسلم (٢٤٨١). Do not weld the two: if the "gift" line is told, say it is the weaker report — and note that the same weaker report makes him **eight**, not ten.)*</a:t>
            </a:r>
          </a:p>
          <a:p>
            <a:endParaRPr/>
          </a:p>
          <a:p>
            <a:r>
              <a:t>MAP — Medina</a:t>
            </a:r>
          </a:p>
          <a:p>
            <a:endParaRPr/>
          </a:p>
          <a:p>
            <a:r>
              <a:t>BACKGROUND (read at home, not aloud) —</a:t>
            </a:r>
          </a:p>
          <a:p>
            <a:r>
              <a:t>Umm Sulaym dressed her son in half her own head-covering, brought him to the Prophet ﷺ, and asked that he be taken into service and prayed for. He was ten years old. He stayed ten years.</a:t>
            </a:r>
          </a:p>
          <a:p>
            <a:endParaRPr/>
          </a:p>
          <a:p>
            <a:r>
              <a:t>WHEN, as the card gives it: 1 AH, soon after the Hijra (سیر ج3 ص397: he was ten when the Prophet ﷺ reached Medina)</a:t>
            </a:r>
          </a:p>
        </p:txBody>
      </p:sp>
      <p:sp>
        <p:nvSpPr>
          <p:cNvPr id="4" name="Slide Number Placeholder 3"/>
          <p:cNvSpPr>
            <a:spLocks noGrp="1"/>
          </p:cNvSpPr>
          <p:nvPr>
            <p:ph type="sldNum" sz="quarter" idx="5"/>
          </p:nvPr>
        </p:nvSpPr>
        <p:spPr/>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RUNSHEET: Under oath: never once told off, and «⁨أف⁩» never said to him</a:t>
            </a:r>
          </a:p>
          <a:p>
            <a:endParaRPr/>
          </a:p>
          <a:p>
            <a:r>
              <a:t>SAY —</a:t>
            </a:r>
          </a:p>
          <a:p>
            <a:r>
              <a:t>1. Ten years in that service — Anas ؓ served the Prophet ﷺ from the age of ten.</a:t>
            </a:r>
          </a:p>
          <a:p>
            <a:r>
              <a:t>2. What he said afterwards, under oath — In ten years he was never once told off.</a:t>
            </a:r>
          </a:p>
          <a:p>
            <a:r>
              <a:t>3. Not for what he did, and not for what he failed to do — And «uff» was never said to him.</a:t>
            </a:r>
          </a:p>
          <a:p>
            <a:r>
              <a:t>   ^ read the Arabic on the face here</a:t>
            </a:r>
          </a:p>
          <a:p>
            <a:endParaRPr/>
          </a:p>
          <a:p>
            <a:r>
              <a:t>QUOTE — خدمته صلى الله عليه وسلم عشر سنين، فوالله ما قال لي: أف قط، ولا قال لشيء فعلته: لم فعلت كذا، ولا لشيء لم أفعله: ألا فعلت كذا؟</a:t>
            </a:r>
          </a:p>
          <a:p>
            <a:r>
              <a:t>"I served him ﷺ ten years, and by Allah he never said 'uff' to me once; he never said of anything I did, why did you do that; nor of anything I did not do, why did you not do that."</a:t>
            </a:r>
          </a:p>
          <a:p>
            <a:r>
              <a:t>— سیر أعلام النبلاء، جلد السیرہ ۲ ص۳۸۶</a:t>
            </a:r>
          </a:p>
          <a:p>
            <a:endParaRPr/>
          </a:p>
          <a:p>
            <a:r>
              <a:t>عبرت — The measure of a man is what the people who work for him say afterwards.</a:t>
            </a:r>
          </a:p>
          <a:p>
            <a:endParaRPr/>
          </a:p>
          <a:p>
            <a:r>
              <a:t>BACKGROUND (read at home, not aloud) —</a:t>
            </a:r>
          </a:p>
          <a:p>
            <a:r>
              <a:t>Anas served in that household for ten years. He said afterwards, under oath, that in ten years he was never once told off — not for something he did, and not for something he failed to do. He said the word «uff» was never said to him.</a:t>
            </a:r>
          </a:p>
          <a:p>
            <a:endParaRPr/>
          </a:p>
          <a:p>
            <a:r>
              <a:t>WHEN, as the card gives it: 1–11 AH</a:t>
            </a:r>
          </a:p>
        </p:txBody>
      </p:sp>
      <p:sp>
        <p:nvSpPr>
          <p:cNvPr id="4" name="Slide Number Placeholder 3"/>
          <p:cNvSpPr>
            <a:spLocks noGrp="1"/>
          </p:cNvSpPr>
          <p:nvPr>
            <p:ph type="sldNum" sz="quarter" idx="5"/>
          </p:nvPr>
        </p:nvSpPr>
        <p:spPr/>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RUNSHEET: Uḥud, 3 AH. Anas b. al-Naḍr ؓ — the uncle Anas b. Mālik ؓ is named after. Say the year aloud: we have gone back nine years</a:t>
            </a:r>
          </a:p>
          <a:p>
            <a:endParaRPr/>
          </a:p>
          <a:p>
            <a:r>
              <a:t>SAY —</a:t>
            </a:r>
          </a:p>
          <a:p>
            <a:r>
              <a:t>1. He had missed Badr — Anas b. al-Naḍr ؓ, and it weighed on him.</a:t>
            </a:r>
          </a:p>
          <a:p>
            <a:r>
              <a:t>2. What he said about it — If Allah gives me a battle, He will see what I do.</a:t>
            </a:r>
          </a:p>
          <a:p>
            <a:r>
              <a:t>3. At Uḥud, when the line broke — He walked forward with his sword and met Saʿd b. Muʿādh ؓ.</a:t>
            </a:r>
          </a:p>
          <a:p>
            <a:r>
              <a:t>4. What he said to him — I find the scent of Paradise, on this side of the mountain.</a:t>
            </a:r>
          </a:p>
          <a:p>
            <a:r>
              <a:t>   ^ read the Arabic on the face here</a:t>
            </a:r>
          </a:p>
          <a:p>
            <a:r>
              <a:t>5. Then he went in — He fought until he was killed, and Saʿd ؓ said he could not have done what that man did.</a:t>
            </a:r>
          </a:p>
          <a:p>
            <a:endParaRPr/>
          </a:p>
          <a:p>
            <a:r>
              <a:t>QUOTE — يا أبا عمرو أين؟ واهًا لريح الجنة، أجده دون أحدٍ.</a:t>
            </a:r>
          </a:p>
          <a:p>
            <a:r>
              <a:t>"Abū ʿAmr, where to? Ah, the scent of Paradise — I find it this side of Uḥud."</a:t>
            </a:r>
          </a:p>
          <a:p>
            <a:r>
              <a:t>— البدایہ والنہایہ ج۴ ص۲۰۳</a:t>
            </a:r>
          </a:p>
          <a:p>
            <a:endParaRPr/>
          </a:p>
          <a:p>
            <a:r>
              <a:t>عبرت — He had made a promise in private, and he kept it on a day when nobody would have checked.</a:t>
            </a:r>
          </a:p>
          <a:p>
            <a:endParaRPr/>
          </a:p>
          <a:p>
            <a:r>
              <a:t>HANDS UP — yes — *"Has anyone here ever missed something and spent years wishing they had been there?"*</a:t>
            </a:r>
          </a:p>
          <a:p>
            <a:endParaRPr/>
          </a:p>
          <a:p>
            <a:r>
              <a:t>MAP — أحد, north of Medina</a:t>
            </a:r>
          </a:p>
          <a:p>
            <a:endParaRPr/>
          </a:p>
          <a:p>
            <a:r>
              <a:t>BACKGROUND (read at home, not aloud) —</a:t>
            </a:r>
          </a:p>
          <a:p>
            <a:r>
              <a:t>Anas b. al-Naḍr had missed Badr, and it weighed on him. He said that if Allah ever gave him a battle, Allah would see what he did. At Uḥud the Muslim line broke. He walked forward with his sword, and met Saʿd b. Muʿādh on the way. He told Saʿd he could smell Paradise, on this side of the mountain. Then he went in, and fought until he was killed. Saʿd said afterwards that he himself could not do what that man had done.</a:t>
            </a:r>
          </a:p>
          <a:p>
            <a:endParaRPr/>
          </a:p>
          <a:p>
            <a:r>
              <a:t>WHEN, as the card gives it: أحد, شوال 3 AH (the year is not fixed on the pages read; سیر's chapter heading is «غزوة أحد وكانت في شوال»)</a:t>
            </a:r>
          </a:p>
        </p:txBody>
      </p:sp>
      <p:sp>
        <p:nvSpPr>
          <p:cNvPr id="4" name="Slide Number Placeholder 3"/>
          <p:cNvSpPr>
            <a:spLocks noGrp="1"/>
          </p:cNvSpPr>
          <p:nvPr>
            <p:ph type="sldNum" sz="quarter" idx="5"/>
          </p:nvPr>
        </p:nvSpPr>
        <p:spPr/>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RUNSHEET: Eighty-odd wounds; his sister knew him by his fingertips</a:t>
            </a:r>
          </a:p>
          <a:p>
            <a:endParaRPr/>
          </a:p>
          <a:p>
            <a:r>
              <a:t>SAY —</a:t>
            </a:r>
          </a:p>
          <a:p>
            <a:r>
              <a:t>1. Afterwards they went out to identify the dead — More than eighty wounds on him: sword, spear and arrow.</a:t>
            </a:r>
          </a:p>
          <a:p>
            <a:r>
              <a:t>2. His own family could not tell who he was — His sister came.</a:t>
            </a:r>
          </a:p>
          <a:p>
            <a:r>
              <a:t>3. How she knew him — By his fingertips.</a:t>
            </a:r>
          </a:p>
          <a:p>
            <a:r>
              <a:t>   ^ read the Arabic on the face here</a:t>
            </a:r>
          </a:p>
          <a:p>
            <a:r>
              <a:t>4. What his nephew said later — The āya of al-Aḥzāb was held to have come down about him and men like him.</a:t>
            </a:r>
          </a:p>
          <a:p>
            <a:endParaRPr/>
          </a:p>
          <a:p>
            <a:r>
              <a:t>QUOTE — ﴿مِنَ الْمُؤْمِنِينَ رِجَالٌ صَدَقُوا مَا عَاهَدُوا اللَّهَ عَلَيْهِ﴾</a:t>
            </a:r>
          </a:p>
          <a:p>
            <a:r>
              <a:t>— verse as quoted at البدایہ والنہایہ ج۴ ص۲۰۳ the reference</a:t>
            </a:r>
          </a:p>
          <a:p>
            <a:endParaRPr/>
          </a:p>
          <a:p>
            <a:r>
              <a:t>عبرت — Some men are recognised by their faces, and some by what is left of their hands.</a:t>
            </a:r>
          </a:p>
          <a:p>
            <a:endParaRPr/>
          </a:p>
          <a:p>
            <a:r>
              <a:t>MAP — the field at أحد</a:t>
            </a:r>
          </a:p>
          <a:p>
            <a:endParaRPr/>
          </a:p>
          <a:p>
            <a:r>
              <a:t>BACKGROUND (read at home, not aloud) —</a:t>
            </a:r>
          </a:p>
          <a:p>
            <a:r>
              <a:t>When the fighting stopped they went out to identify the dead. They found Anas b. al-Naḍr, and there were more than eighty wounds on his body — sword, spear and arrow. His own family could not tell who he was. His sister came, and she recognised her brother by his fingertips. His nephew, who was still a boy, later said that the verse of Sūrat al-Aḥzāb was held to have come down about him and men like him.</a:t>
            </a:r>
          </a:p>
          <a:p>
            <a:endParaRPr/>
          </a:p>
          <a:p>
            <a:r>
              <a:t>WHEN, as the card gives it: أحد, 3 AH (as — the year is not fixed on the pages read)</a:t>
            </a:r>
          </a:p>
        </p:txBody>
      </p:sp>
      <p:sp>
        <p:nvSpPr>
          <p:cNvPr id="4" name="Slide Number Placeholder 3"/>
          <p:cNvSpPr>
            <a:spLocks noGrp="1"/>
          </p:cNvSpPr>
          <p:nvPr>
            <p:ph type="sldNum" sz="quarter" idx="5"/>
          </p:nvPr>
        </p:nvSpPr>
        <p:spPr/>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RUNSHEET: ⚠ This one comes through Ibn Isḥāq, not the ⁨صحیح⁩ chain of #59–#60. Say "it is reported", and do not put it on the same footing</a:t>
            </a:r>
          </a:p>
          <a:p>
            <a:endParaRPr/>
          </a:p>
          <a:p>
            <a:r>
              <a:t>SAY —</a:t>
            </a:r>
          </a:p>
          <a:p>
            <a:r>
              <a:t>1. The word goes round the field — That the Prophet ﷺ had been killed.</a:t>
            </a:r>
          </a:p>
          <a:p>
            <a:r>
              <a:t>2. Men sat down where they were and let their hands fall — Among them ʿUmar ؓ and Ṭalḥa ؓ.</a:t>
            </a:r>
          </a:p>
          <a:p>
            <a:r>
              <a:t>3. He asks what is keeping them there — And they tell him.</a:t>
            </a:r>
          </a:p>
          <a:p>
            <a:r>
              <a:t>4. One sentence — And he walks past them into the fighting.</a:t>
            </a:r>
          </a:p>
          <a:p>
            <a:r>
              <a:t>   ^ read the Arabic on the face here</a:t>
            </a:r>
          </a:p>
          <a:p>
            <a:endParaRPr/>
          </a:p>
          <a:p>
            <a:r>
              <a:t>QUOTE — فما تصنعون بالحياة بعده؟! قوموا فموتوا على ما مات عليه رسول اللَّه ﷺ.</a:t>
            </a:r>
          </a:p>
          <a:p>
            <a:r>
              <a:t>"And what will you do with life after him? Rise, and die upon what the Messenger of Allah ﷺ died upon."</a:t>
            </a:r>
          </a:p>
          <a:p>
            <a:r>
              <a:t>— البدایہ والنہایہ ج۴ ص۲۰۷</a:t>
            </a:r>
          </a:p>
          <a:p>
            <a:endParaRPr/>
          </a:p>
          <a:p>
            <a:r>
              <a:t>عبرت — A rumour stopped a whole line of men; one sentence started it moving again.</a:t>
            </a:r>
          </a:p>
          <a:p>
            <a:endParaRPr/>
          </a:p>
          <a:p>
            <a:r>
              <a:t>⚠ (Delivery note: this comes through Ibn Isḥāq, not through the ṣaḥīḥ chain of E-HS4/E-HS5. Say so if the room is told both.)</a:t>
            </a:r>
          </a:p>
          <a:p>
            <a:endParaRPr/>
          </a:p>
          <a:p>
            <a:r>
              <a:t>MAP — أحد</a:t>
            </a:r>
          </a:p>
          <a:p>
            <a:endParaRPr/>
          </a:p>
          <a:p>
            <a:r>
              <a:t>BACKGROUND (read at home, not aloud) —</a:t>
            </a:r>
          </a:p>
          <a:p>
            <a:r>
              <a:t>The word went round the field that the Prophet ﷺ had been killed. Men sat down where they were and let their hands fall — among them ʿUmar and Ṭalḥa. Anas b. al-Naḍr came on them sitting and asked what was keeping them there. They told him. He said one sentence and walked past them into the fighting.</a:t>
            </a:r>
          </a:p>
          <a:p>
            <a:endParaRPr/>
          </a:p>
          <a:p>
            <a:r>
              <a:t>WHEN, as the card gives it: أحد, 3 AH , at the moment the rumour spread</a:t>
            </a:r>
          </a:p>
        </p:txBody>
      </p:sp>
      <p:sp>
        <p:nvSpPr>
          <p:cNvPr id="4" name="Slide Number Placeholder 3"/>
          <p:cNvSpPr>
            <a:spLocks noGrp="1"/>
          </p:cNvSpPr>
          <p:nvPr>
            <p:ph type="sldNum" sz="quarter" idx="5"/>
          </p:nvPr>
        </p:nvSpPr>
        <p:spPr/>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RUNSHEET: Two memories of a boy: his stepfather's my throat before your throat, and the two women with the waterskins — one of them ʿĀʾisha ؓ, the other his mother</a:t>
            </a:r>
          </a:p>
          <a:p>
            <a:endParaRPr/>
          </a:p>
          <a:p>
            <a:r>
              <a:t>SAY —</a:t>
            </a:r>
          </a:p>
          <a:p>
            <a:r>
              <a:t>1. He was a boy that day — Anas ؓ remembered two things from Uḥud.</a:t>
            </a:r>
          </a:p>
          <a:p>
            <a:r>
              <a:t>2. His stepfather in front of the Prophet ﷺ — Breaking bow after bow: my throat before your throat.</a:t>
            </a:r>
          </a:p>
          <a:p>
            <a:r>
              <a:t>3. Two women running with waterskins — Skirts tucked up, emptying them into the men's mouths, going back to fill them.</a:t>
            </a:r>
          </a:p>
          <a:p>
            <a:r>
              <a:t>   ^ read the Arabic on the face here</a:t>
            </a:r>
          </a:p>
          <a:p>
            <a:r>
              <a:t>4. Who they were — One was ʿĀʾisha ؓ. The other was his mother.</a:t>
            </a:r>
          </a:p>
          <a:p>
            <a:endParaRPr/>
          </a:p>
          <a:p>
            <a:r>
              <a:t>QUOTE — يَا نَبِيَّ اللهِ، بِأَبِي أَنْتَ، لاَ تُشْرِفْ، لاَ يُصِيْبُكَ سَهْمٌ، نَحْرِي دُوْنَ نَحْرِكَ.</a:t>
            </a:r>
          </a:p>
          <a:p>
            <a:r>
              <a:t>"Prophet of Allah — may my father be your ransom — do not look out, lest an arrow strike you. My throat before your throat."</a:t>
            </a:r>
          </a:p>
          <a:p>
            <a:r>
              <a:t>— سیر أعلام النبلاء ج۲ ص۳۱</a:t>
            </a:r>
          </a:p>
          <a:p>
            <a:endParaRPr/>
          </a:p>
          <a:p>
            <a:r>
              <a:t>عبرت — A boy remembers who was working, and he remembers it for the rest of his life.</a:t>
            </a:r>
          </a:p>
          <a:p>
            <a:endParaRPr/>
          </a:p>
          <a:p>
            <a:r>
              <a:t>MAP — أحد</a:t>
            </a:r>
          </a:p>
          <a:p>
            <a:endParaRPr/>
          </a:p>
          <a:p>
            <a:r>
              <a:t>BACKGROUND (read at home, not aloud) —</a:t>
            </a:r>
          </a:p>
          <a:p>
            <a:r>
              <a:t>Anas was a boy at Uḥud, and he remembered two things from that day. One was his stepfather standing in front of the Prophet ﷺ with a buckler, breaking bow after bow, saying: my throat before your throat. The other was two women with their skirts tucked up, running with waterskins on their backs, emptying them into the mouths of the men and going back to fill them again. One of them was ʿĀʾisha. The other was his mother.</a:t>
            </a:r>
          </a:p>
          <a:p>
            <a:endParaRPr/>
          </a:p>
          <a:p>
            <a:r>
              <a:t>WHEN, as the card gives it: أحد, 3 AH</a:t>
            </a:r>
          </a:p>
        </p:txBody>
      </p:sp>
      <p:sp>
        <p:nvSpPr>
          <p:cNvPr id="4" name="Slide Number Placeholder 3"/>
          <p:cNvSpPr>
            <a:spLocks noGrp="1"/>
          </p:cNvSpPr>
          <p:nvPr>
            <p:ph type="sldNum" sz="quarter" idx="5"/>
          </p:nvPr>
        </p:nvSpPr>
        <p:spPr/>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RUNSHEET: Biʾr Maʿūna, 4 AH. Her brother Ḥarām ؓ, speared from behind while speaking under safe conduct</a:t>
            </a:r>
          </a:p>
          <a:p>
            <a:endParaRPr/>
          </a:p>
          <a:p>
            <a:r>
              <a:t>SAY —</a:t>
            </a:r>
          </a:p>
          <a:p>
            <a:r>
              <a:t>1. A party sent out to Najd to teach — Umm Sulaym's ؓ brother Ḥarām ؓ carries the letter forward.</a:t>
            </a:r>
          </a:p>
          <a:p>
            <a:r>
              <a:t>2. Safe conduct until the message is delivered — And he begins to speak to them.</a:t>
            </a:r>
          </a:p>
          <a:p>
            <a:r>
              <a:t>3. What they did while he spoke — Signalled to a man, who came round behind him and ran a spear through him.</a:t>
            </a:r>
          </a:p>
          <a:p>
            <a:r>
              <a:t>4. What he did with his own blood — Took it in his hand and threw it over his face and head.</a:t>
            </a:r>
          </a:p>
          <a:p>
            <a:r>
              <a:t>   ^ read the Arabic on the face here</a:t>
            </a:r>
          </a:p>
          <a:p>
            <a:endParaRPr/>
          </a:p>
          <a:p>
            <a:r>
              <a:t>QUOTE — اللَّهُ أَكْبَرُ، فُزْتُ وَرَبِّ الكَعْبَةِ.</a:t>
            </a:r>
          </a:p>
          <a:p>
            <a:r>
              <a:t>"Allāhu akbar — I have won, by the Lord of the Kaʿba."</a:t>
            </a:r>
          </a:p>
          <a:p>
            <a:r>
              <a:t>— البدایہ والنہایہ ج۴ ص۲۵۵ (the page cites البخاري ٤٠٩١، ٤٠٩٢)</a:t>
            </a:r>
          </a:p>
          <a:p>
            <a:endParaRPr/>
          </a:p>
          <a:p>
            <a:r>
              <a:t>عبرت — He was killed in the middle of a sentence, and he called it winning.</a:t>
            </a:r>
          </a:p>
          <a:p>
            <a:endParaRPr/>
          </a:p>
          <a:p>
            <a:r>
              <a:t>MAP — بئر معونة, between the land of بنو عامر and the ḥarra of بنو سليم</a:t>
            </a:r>
          </a:p>
          <a:p>
            <a:endParaRPr/>
          </a:p>
          <a:p>
            <a:r>
              <a:t>BACKGROUND (read at home, not aloud) —</a:t>
            </a:r>
          </a:p>
          <a:p>
            <a:r>
              <a:t>A party was sent out to Najd to teach. Umm Sulaym's brother Ḥarām carried the letter forward. He asked for safe conduct until he had delivered the message, and began to speak to them. While he was speaking they signalled to a man, who came round behind him and ran a spear through him. He took the blood in his hand and threw it over his own face and head, and said what he said.</a:t>
            </a:r>
          </a:p>
          <a:p>
            <a:endParaRPr/>
          </a:p>
          <a:p>
            <a:r>
              <a:t>WHEN, as the card gives it: بئر معونة, 4 AH (البدایہ ج4 ص256 places it four months after Uḥud, in صفر)</a:t>
            </a:r>
          </a:p>
        </p:txBody>
      </p:sp>
      <p:sp>
        <p:nvSpPr>
          <p:cNvPr id="4" name="Slide Number Placeholder 3"/>
          <p:cNvSpPr>
            <a:spLocks noGrp="1"/>
          </p:cNvSpPr>
          <p:nvPr>
            <p:ph type="sldNum" sz="quarter" idx="5"/>
          </p:nvPr>
        </p:nvSpPr>
        <p:spPr/>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RUNSHEET: The answer is not a compliment to the house — it is that her brother was killed alongside him. [HANDS] optional: "why that house and no other?"</a:t>
            </a:r>
          </a:p>
          <a:p>
            <a:endParaRPr/>
          </a:p>
          <a:p>
            <a:r>
              <a:t>SAY —</a:t>
            </a:r>
          </a:p>
          <a:p>
            <a:r>
              <a:t>1. People noticed — He went into no house in Medina except hers.</a:t>
            </a:r>
          </a:p>
          <a:p>
            <a:r>
              <a:t>2. They asked him why — And the answer was not a compliment to the house.</a:t>
            </a:r>
          </a:p>
          <a:p>
            <a:r>
              <a:t>3. The reason — Her brother had been killed alongside him.</a:t>
            </a:r>
          </a:p>
          <a:p>
            <a:r>
              <a:t>   ^ read the Arabic on the face here</a:t>
            </a:r>
          </a:p>
          <a:p>
            <a:endParaRPr/>
          </a:p>
          <a:p>
            <a:r>
              <a:t>QUOTE — إِنِّي أَرْحَمُهَا، قُتِلَ</a:t>
            </a:r>
          </a:p>
          <a:p>
            <a:r>
              <a:t>— سیر أعلام النبلاء ج۲ ص۳۰۶–۳۰۷</a:t>
            </a:r>
          </a:p>
          <a:p>
            <a:endParaRPr/>
          </a:p>
          <a:p>
            <a:r>
              <a:t>عبرت — The debt a leader owes is to the family, and it is paid by turning up.</a:t>
            </a:r>
          </a:p>
          <a:p>
            <a:endParaRPr/>
          </a:p>
          <a:p>
            <a:r>
              <a:t>HANDS UP — yes — *"Why do you think he went to that house and no other?"* (Then give the answer from the page.)</a:t>
            </a:r>
          </a:p>
          <a:p>
            <a:endParaRPr/>
          </a:p>
          <a:p>
            <a:r>
              <a:t>MAP — Medina — the house of أم سليم ؓ</a:t>
            </a:r>
          </a:p>
          <a:p>
            <a:endParaRPr/>
          </a:p>
          <a:p>
            <a:r>
              <a:t>BACKGROUND (read at home, not aloud) —</a:t>
            </a:r>
          </a:p>
          <a:p>
            <a:r>
              <a:t>People noticed that the Prophet ﷺ went into no house in Medina except Umm Sulaym's. They asked him about it. He gave one reason, and it was not a compliment to the house. It was that her brother had been killed alongside him.</a:t>
            </a:r>
          </a:p>
          <a:p>
            <a:endParaRPr/>
          </a:p>
          <a:p>
            <a:r>
              <a:t>WHEN, as the card gives it: after بئر معونة, 4 AH onwards</a:t>
            </a:r>
          </a:p>
        </p:txBody>
      </p:sp>
      <p:sp>
        <p:nvSpPr>
          <p:cNvPr id="4" name="Slide Number Placeholder 3"/>
          <p:cNvSpPr>
            <a:spLocks noGrp="1"/>
          </p:cNvSpPr>
          <p:nvPr>
            <p:ph type="sldNum" sz="quarter" idx="5"/>
          </p:nvPr>
        </p:nvSpPr>
        <p:spPr/>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RUNSHEET: ⚠ The page does not name the child. Do not name him. Tell it slowly; it is the strongest card in the part</a:t>
            </a:r>
          </a:p>
          <a:p>
            <a:endParaRPr/>
          </a:p>
          <a:p>
            <a:r>
              <a:t>SAY —</a:t>
            </a:r>
          </a:p>
          <a:p>
            <a:r>
              <a:t>1. Their small son is gravely ill — Abū Ṭalḥa ؓ goes out to the mosque, and the boy dies.</a:t>
            </a:r>
          </a:p>
          <a:p>
            <a:r>
              <a:t>2. She prepares the body herself — And tells the household to say nothing.</a:t>
            </a:r>
          </a:p>
          <a:p>
            <a:r>
              <a:t>3. He comes home — She has his supper ready, and he eats it.</a:t>
            </a:r>
          </a:p>
          <a:p>
            <a:r>
              <a:t>4. At the end of the night, a question — About neighbours who borrowed something and would not give it back.</a:t>
            </a:r>
          </a:p>
          <a:p>
            <a:r>
              <a:t>5. He says they were not fair — And she tells him: your son was a loan, and He has taken him back.</a:t>
            </a:r>
          </a:p>
          <a:p>
            <a:r>
              <a:t>   ^ read the Arabic on the face here</a:t>
            </a:r>
          </a:p>
          <a:p>
            <a:r>
              <a:t>6. The morning after — He went to the Prophet ﷺ, who prayed for them both.</a:t>
            </a:r>
          </a:p>
          <a:p>
            <a:endParaRPr/>
          </a:p>
          <a:p>
            <a:r>
              <a:t>QUOTE — فَإِنَّ ابْنَكَ كَانَ عَارِيَّةً مِنَ اللهِ، فَقَبَضَهُ.</a:t>
            </a:r>
          </a:p>
          <a:p>
            <a:r>
              <a:t>"Your son was a loan from Allah, and He has taken him back."</a:t>
            </a:r>
          </a:p>
          <a:p>
            <a:r>
              <a:t>— سیر أعلام النبلاء ج۲ ص۳۱۰</a:t>
            </a:r>
          </a:p>
          <a:p>
            <a:endParaRPr/>
          </a:p>
          <a:p>
            <a:r>
              <a:t>عبرت — She made him say the ruling before she told him it was his own case.</a:t>
            </a:r>
          </a:p>
          <a:p>
            <a:endParaRPr/>
          </a:p>
          <a:p>
            <a:r>
              <a:t>⚠ (Delivery caution: the page does not name the child, and the exchange is at the end of the night, not at the door. Both details are usually got wrong in retelling.)</a:t>
            </a:r>
          </a:p>
          <a:p>
            <a:endParaRPr/>
          </a:p>
          <a:p>
            <a:r>
              <a:t>MAP — Medina</a:t>
            </a:r>
          </a:p>
          <a:p>
            <a:endParaRPr/>
          </a:p>
          <a:p>
            <a:r>
              <a:t>BACKGROUND (read at home, not aloud) —</a:t>
            </a:r>
          </a:p>
          <a:p>
            <a:r>
              <a:t>Their small son was gravely ill. Abū Ṭalḥa went out to the mosque, and while he was gone the boy died. Umm Sulaym prepared the body herself and told the household to say nothing. Her husband came home; she had his supper ready, and he ate it. At the end of the night she asked him a question about some neighbours who had borrowed something and then would not give it back. He said they had not been fair. She said: your son was a loan from Allah, and He has taken him back. He said the words of return to Allah, and praised Him. In the morning he went to the Prophet ﷺ, who saw him and prayed for them both.</a:t>
            </a:r>
          </a:p>
          <a:p>
            <a:endParaRPr/>
          </a:p>
          <a:p>
            <a:r>
              <a:t>WHEN, as the card gives it: at Medina (no year on the page)</a:t>
            </a:r>
          </a:p>
        </p:txBody>
      </p:sp>
      <p:sp>
        <p:nvSpPr>
          <p:cNvPr id="4" name="Slide Number Placeholder 3"/>
          <p:cNvSpPr>
            <a:spLocks noGrp="1"/>
          </p:cNvSpPr>
          <p:nvPr>
            <p:ph type="sldNum" sz="quarter" idx="5"/>
          </p:nvPr>
        </p:nvSpPr>
        <p:spPr/>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RUNSHEET: He gave away the piece he loved most, and was told to put it among his near kin</a:t>
            </a:r>
          </a:p>
          <a:p>
            <a:endParaRPr/>
          </a:p>
          <a:p>
            <a:r>
              <a:t>SAY —</a:t>
            </a:r>
          </a:p>
          <a:p>
            <a:r>
              <a:t>1. More date-palms than any man of the Anṣār — And the one he loved most was Bayruḥāʾ.</a:t>
            </a:r>
          </a:p>
          <a:p>
            <a:r>
              <a:t>2. He gave it away — And said plainly that he was giving the piece he loved most.</a:t>
            </a:r>
          </a:p>
          <a:p>
            <a:r>
              <a:t>   ^ read the Arabic on the face here</a:t>
            </a:r>
          </a:p>
          <a:p>
            <a:r>
              <a:t>3. What he asked — That the Prophet ﷺ place it wherever he was shown.</a:t>
            </a:r>
          </a:p>
          <a:p>
            <a:r>
              <a:t>4. Where it went — Among his own near kin.</a:t>
            </a:r>
          </a:p>
          <a:p>
            <a:endParaRPr/>
          </a:p>
          <a:p>
            <a:r>
              <a:t>QUOTE — إِنَّ أَحَبَّ أَمْوَالِي إِلَيَّ بَيْرُحَاءُ، وَإِنَّهَا صَدَقَةٌ للهِ… فَقَالَ: (بَخٍ! ذَلِكَ مَالٌ رَابِحٌ، وَإِنِّي أَرَى أَنْ تَجْعَلَهَا فِي الأَقْرَبِيْنَ).</a:t>
            </a:r>
          </a:p>
          <a:p>
            <a:r>
              <a:t>"The dearest of my property to me is Bayruḥāʾ, and it is a ṣadaqa for Allah… He said: 'Bakhkh! That is profitable property. I think you should put it among your near kin.'"</a:t>
            </a:r>
          </a:p>
          <a:p>
            <a:r>
              <a:t>— سیر أعلام النبلاء ج۲ ص۳۳</a:t>
            </a:r>
          </a:p>
          <a:p>
            <a:endParaRPr/>
          </a:p>
          <a:p>
            <a:r>
              <a:t>عبرت — He gave away the thing he would miss, and he was told to give it to his own relatives.</a:t>
            </a:r>
          </a:p>
          <a:p>
            <a:endParaRPr/>
          </a:p>
          <a:p>
            <a:r>
              <a:t>HANDS UP — yes — *"What is the one thing in your house you would find hardest to give away?"*</a:t>
            </a:r>
          </a:p>
          <a:p>
            <a:endParaRPr/>
          </a:p>
          <a:p>
            <a:r>
              <a:t>MAP — the palm gardens of Medina</a:t>
            </a:r>
          </a:p>
          <a:p>
            <a:endParaRPr/>
          </a:p>
          <a:p>
            <a:r>
              <a:t>BACKGROUND (read at home, not aloud) —</a:t>
            </a:r>
          </a:p>
          <a:p>
            <a:r>
              <a:t>Abū Ṭalḥa owned more date-palms than any other man of the Anṣār at Medina. The one he loved most was a garden called Bayruḥāʾ. He came and gave it away, and said plainly that he was giving away the piece he loved most, and asked the Prophet ﷺ to place it wherever he was shown. He was told to put it among his own near kin.</a:t>
            </a:r>
          </a:p>
          <a:p>
            <a:endParaRPr/>
          </a:p>
          <a:p>
            <a:r>
              <a:t>WHEN, as the card gives it: at Medina</a:t>
            </a:r>
          </a:p>
        </p:txBody>
      </p:sp>
      <p:sp>
        <p:nvSpPr>
          <p:cNvPr id="4" name="Slide Number Placeholder 3"/>
          <p:cNvSpPr>
            <a:spLocks noGrp="1"/>
          </p:cNvSpPr>
          <p:nvPr>
            <p:ph type="sldNum" sz="quarter" idx="5"/>
          </p:nvPr>
        </p:nvSpPr>
        <p:spPr/>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RUNSHEET: 8 AH. ⚠ Stop where the card stops — ⁨البدایہ ج4 ص589⁩ continues the exchange, and that continuation is not on this card</a:t>
            </a:r>
          </a:p>
          <a:p>
            <a:endParaRPr/>
          </a:p>
          <a:p>
            <a:r>
              <a:t>SAY —</a:t>
            </a:r>
          </a:p>
          <a:p>
            <a:r>
              <a:t>1. The Muslims driven back at the start of the day — Abū Ṭalḥa ؓ finds his wife standing with a dagger.</a:t>
            </a:r>
          </a:p>
          <a:p>
            <a:r>
              <a:t>2. He asks what it is for — If any of them comes near me, I will use it on him.</a:t>
            </a:r>
          </a:p>
          <a:p>
            <a:r>
              <a:t>   ^ read the Arabic on the face here</a:t>
            </a:r>
          </a:p>
          <a:p>
            <a:r>
              <a:t>3. He turns to the Prophet ﷺ — Have you heard what she is saying?</a:t>
            </a:r>
          </a:p>
          <a:p>
            <a:endParaRPr/>
          </a:p>
          <a:p>
            <a:r>
              <a:t>QUOTE — يَا رَسُوْلَ اللهِ! إِنْ دَنَا مِنِّي مُشْرِكٌ بَقَرْتُ بِهِ بَطْنَهُ.</a:t>
            </a:r>
          </a:p>
          <a:p>
            <a:r>
              <a:t>"Messenger of Allah, if a mushrik comes near me I will open his belly with it."</a:t>
            </a:r>
          </a:p>
          <a:p>
            <a:r>
              <a:t>— سیر أعلام النبلاء ج۲ ص۳۰۴</a:t>
            </a:r>
          </a:p>
          <a:p>
            <a:endParaRPr/>
          </a:p>
          <a:p>
            <a:r>
              <a:t>عبرت — She did not intend to be carried off a battlefield.</a:t>
            </a:r>
          </a:p>
          <a:p>
            <a:endParaRPr/>
          </a:p>
          <a:p>
            <a:r>
              <a:t>⚠ (Delivery note: البدایہ ج۴ ص۵۸۹ continues this exchange with her request about the الطلقاء and the reply «إن الله قد كفى وأحسن». Either tell that half whole, ending on his ﷺ refusal, or leave it out entirely. Never the request without the answer.)</a:t>
            </a:r>
          </a:p>
          <a:p>
            <a:endParaRPr/>
          </a:p>
          <a:p>
            <a:r>
              <a:t>MAP — the valley of حنين, near الطائف</a:t>
            </a:r>
          </a:p>
          <a:p>
            <a:endParaRPr/>
          </a:p>
          <a:p>
            <a:r>
              <a:t>BACKGROUND (read at home, not aloud) —</a:t>
            </a:r>
          </a:p>
          <a:p>
            <a:r>
              <a:t>The Muslims had been driven back at the start of the day. Abū Ṭalḥa found his wife standing there with a dagger in her hand. He asked her what it was for. She said that if any of the enemy came near her she would use it on him. Abū Ṭalḥa turned to the Prophet ﷺ and asked whether he had heard what she was saying. And the Prophet ﷺ laughed.</a:t>
            </a:r>
          </a:p>
          <a:p>
            <a:endParaRPr/>
          </a:p>
          <a:p>
            <a:r>
              <a:t>WHEN, as the card gives it: حنين, 8 AH (the year is not on the pages read)</a:t>
            </a:r>
          </a:p>
        </p:txBody>
      </p:sp>
      <p:sp>
        <p:nvSpPr>
          <p:cNvPr id="4" name="Slide Number Placeholder 3"/>
          <p:cNvSpPr>
            <a:spLocks noGrp="1"/>
          </p:cNvSpPr>
          <p:nvPr>
            <p:ph type="sldNum" sz="quarter" idx="5"/>
          </p:nvPr>
        </p:nvSpPr>
        <p:spPr/>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RUNSHEET: ⚠ Do not develop the fleet — it is 28 AH and belongs to a later evening. ⚠ Do not name its commander (QABANK.md §17.4): say "a fleet went to Cyprus"</a:t>
            </a:r>
          </a:p>
          <a:p>
            <a:endParaRPr/>
          </a:p>
          <a:p>
            <a:r>
              <a:t>SAY —</a:t>
            </a:r>
          </a:p>
          <a:p>
            <a:r>
              <a:t>1. He rested in her house one afternoon — And woke up laughing.</a:t>
            </a:r>
          </a:p>
          <a:p>
            <a:r>
              <a:t>2. What he had been shown — People of his umma riding the sea like kings on thrones.</a:t>
            </a:r>
          </a:p>
          <a:p>
            <a:r>
              <a:t>3. What she asked — That he pray she be one of them; he told her she was among the first.</a:t>
            </a:r>
          </a:p>
          <a:p>
            <a:r>
              <a:t>   ^ read the Arabic on the face here</a:t>
            </a:r>
          </a:p>
          <a:p>
            <a:r>
              <a:t>4. Years later — A fleet went to Cyprus, and her husband ʿUbāda b. al-Ṣāmit ؓ carried her with it.</a:t>
            </a:r>
          </a:p>
          <a:p>
            <a:r>
              <a:t>5. Coming ashore on the way back — A mule threw her, and she died there.</a:t>
            </a:r>
          </a:p>
          <a:p>
            <a:endParaRPr/>
          </a:p>
          <a:p>
            <a:r>
              <a:t>QUOTE — عُرِضَ عَلَيَّ نَاسٌ مِنْ أُمَّتِي يَرْكَبُوْنَ ظَهْرَ هَذَا البَحْرِ كَالمُلُوْكِ</a:t>
            </a:r>
          </a:p>
          <a:p>
            <a:r>
              <a:t>— سیر أعلام النبلاء ج۲ ص۳۱۶–۳۱۷</a:t>
            </a:r>
          </a:p>
          <a:p>
            <a:endParaRPr/>
          </a:p>
          <a:p>
            <a:r>
              <a:t>عبرت — She was told where she would be a caliphate before the ships were built.</a:t>
            </a:r>
          </a:p>
          <a:p>
            <a:endParaRPr/>
          </a:p>
          <a:p>
            <a:r>
              <a:t>HANDS UP — yes — *"How long between a promise and its keeping is too long?"* *(Delivery caution: stop the البدایہ quotation at «فماتت هناك». The clause about her grave that follows is Ibn Kathīr reporting local practice and will be heard as doctrine in this room.)*</a:t>
            </a:r>
          </a:p>
          <a:p>
            <a:endParaRPr/>
          </a:p>
          <a:p>
            <a:r>
              <a:t>MAP — Medina → Cyprus. **This is the first point on the map that is across water.**</a:t>
            </a:r>
          </a:p>
          <a:p>
            <a:endParaRPr/>
          </a:p>
          <a:p>
            <a:r>
              <a:t>BACKGROUND (read at home, not aloud) —</a:t>
            </a:r>
          </a:p>
          <a:p>
            <a:r>
              <a:t>The Prophet ﷺ rested in her house one afternoon and woke up laughing. She asked what had made him laugh. He said people of his umma had been shown to him riding the sea like kings on thrones. She asked him to pray that she be one of them, and he told her she was among the first. Years later, under ʿUthmān, Muʿāwiya took a fleet to Cyprus, and her husband ʿUbāda b. al-Ṣāmit carried her with him. When they came ashore on the way back, a mule threw her, and she died there.</a:t>
            </a:r>
          </a:p>
          <a:p>
            <a:endParaRPr/>
          </a:p>
          <a:p>
            <a:r>
              <a:t>WHEN, as the card gives it: the ḥadīth: at Medina, in the Prophet's ﷺ lifetime. The expedition: 28 AH — البدایہ ج7 ص290 records 27، 28 and 33</a:t>
            </a:r>
          </a:p>
        </p:txBody>
      </p:sp>
      <p:sp>
        <p:nvSpPr>
          <p:cNvPr id="4" name="Slide Number Placeholder 3"/>
          <p:cNvSpPr>
            <a:spLocks noGrp="1"/>
          </p:cNvSpPr>
          <p:nvPr>
            <p:ph type="sldNum" sz="quarter" idx="5"/>
          </p:nvPr>
        </p:nvSpPr>
        <p:spPr/>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RUNSHEET: 17–20 AH; the sources differ on the year, so say "years later". ⚠ «⁨واستشهدني⁩» is where the sources stop — add nothing</a:t>
            </a:r>
          </a:p>
          <a:p>
            <a:endParaRPr/>
          </a:p>
          <a:p>
            <a:r>
              <a:t>SAY —</a:t>
            </a:r>
          </a:p>
          <a:p>
            <a:r>
              <a:t>1. Months of siege, and the assaults keep failing — The men know a ḥadīth about al-Barāʾ ؓ.</a:t>
            </a:r>
          </a:p>
          <a:p>
            <a:r>
              <a:t>2. What it says — That if he swore an oath upon Allah, Allah would answer it.</a:t>
            </a:r>
          </a:p>
          <a:p>
            <a:r>
              <a:t>3. What they asked him for — That he swear that oath for them.</a:t>
            </a:r>
          </a:p>
          <a:p>
            <a:r>
              <a:t>4. What he added, unasked — And take me as a martyr.</a:t>
            </a:r>
          </a:p>
          <a:p>
            <a:r>
              <a:t>   ^ read the Arabic on the face here</a:t>
            </a:r>
          </a:p>
          <a:p>
            <a:r>
              <a:t>5. That day — They broke the enemy, and he was killed inside the city.</a:t>
            </a:r>
          </a:p>
          <a:p>
            <a:endParaRPr/>
          </a:p>
          <a:p>
            <a:r>
              <a:t>QUOTE — قَالَ الْمُسْلِمُونَ: يَا بَرَاءُ أَقْسِمْ عَلَى رَبِّكَ لَيَهْزِمَنَّهُمْ لَنَا. قَالَ: اللَّهُمَّ اهْزِمْهُمْ لَنَا وَاسْتَشْهِدْنِي.</a:t>
            </a:r>
          </a:p>
          <a:p>
            <a:r>
              <a:t>"The Muslims said: Barāʾ, swear upon your Lord that He will defeat them for us. He said: O Allah, defeat them for us, and take me as a martyr."</a:t>
            </a:r>
          </a:p>
          <a:p>
            <a:r>
              <a:t>— الکامل فی التاریخ ج۲ ص۳۶۸ (identically at البدایہ ج۷ ص۱۹۷)</a:t>
            </a:r>
          </a:p>
          <a:p>
            <a:endParaRPr/>
          </a:p>
          <a:p>
            <a:r>
              <a:t>عبرت — He was asked to pray for the army; he prayed for the army and put himself in the cost column.</a:t>
            </a:r>
          </a:p>
          <a:p>
            <a:endParaRPr/>
          </a:p>
          <a:p>
            <a:r>
              <a:t>⚠ (Delivery note: «واستشهدني» is where the sources stop. Nothing may be added after it.)</a:t>
            </a:r>
          </a:p>
          <a:p>
            <a:endParaRPr/>
          </a:p>
          <a:p>
            <a:r>
              <a:t>MAP — خوزستان — تُسْتَر, east of البصرة; the Persian frontier moves past the Zagros</a:t>
            </a:r>
          </a:p>
          <a:p>
            <a:endParaRPr/>
          </a:p>
          <a:p>
            <a:r>
              <a:t>BACKGROUND (read at home, not aloud) —</a:t>
            </a:r>
          </a:p>
          <a:p>
            <a:r>
              <a:t>The siege had gone on for months and the assaults kept failing. The men knew there was a ḥadīth about al-Barāʾ — that if he swore an oath upon Allah, Allah would answer it. So in the last assault they asked him to swear that oath for them. He made the prayer they asked for, and then added something to it that they had not asked for. They broke the enemy that day. He was killed inside the city.</a:t>
            </a:r>
          </a:p>
          <a:p>
            <a:endParaRPr/>
          </a:p>
          <a:p>
            <a:r>
              <a:t>WHEN, as the card gives it: the conquest of تُسْتَر — سیر ج1 ص198 says 20 AH; البدایہ and الکامل narrate it under 17 AH both ways</a:t>
            </a:r>
          </a:p>
        </p:txBody>
      </p:sp>
      <p:sp>
        <p:nvSpPr>
          <p:cNvPr id="4" name="Slide Number Placeholder 3"/>
          <p:cNvSpPr>
            <a:spLocks noGrp="1"/>
          </p:cNvSpPr>
          <p:nvPr>
            <p:ph type="sldNum" sz="quarter" idx="5"/>
          </p:nvPr>
        </p:nvSpPr>
        <p:spPr/>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RUNSHEET: Anas ؓ was there: the prayer he would not have traded for red camels — and he is the brother of the man killed at that wall</a:t>
            </a:r>
          </a:p>
          <a:p>
            <a:endParaRPr/>
          </a:p>
          <a:p>
            <a:r>
              <a:t>SAY —</a:t>
            </a:r>
          </a:p>
          <a:p>
            <a:r>
              <a:t>1. Volunteers go in at night with the water — They put the gatekeepers to sleep and open the gates at Fajr.</a:t>
            </a:r>
          </a:p>
          <a:p>
            <a:r>
              <a:t>2. The fighting runs into the morning — Nobody prayed Ṣubḥ until after the sun was up.</a:t>
            </a:r>
          </a:p>
          <a:p>
            <a:r>
              <a:t>3. What Anas ؓ said afterwards — He would not have traded that prayer for red camels.</a:t>
            </a:r>
          </a:p>
          <a:p>
            <a:r>
              <a:t>   ^ read the Arabic on the face here</a:t>
            </a:r>
          </a:p>
          <a:p>
            <a:r>
              <a:t>4. Who he was that day — The man who took the captured lord of the city back to ʿUmar ؓ, and the brother of the man killed at that wall.</a:t>
            </a:r>
          </a:p>
          <a:p>
            <a:endParaRPr/>
          </a:p>
          <a:p>
            <a:r>
              <a:t>QUOTE — شهدت فتح تُسْتَر، وذلك عند صلاة الفجر، فاشتغل الناس بالفتح فما صلوا الصبح إلا بعد طلوع الشمس فما أحب أن لي بتلك الصلاة حمرَ النعم.</a:t>
            </a:r>
          </a:p>
          <a:p>
            <a:r>
              <a:t>"I was present at the conquest of Tustar, and it was at the time of the dawn prayer; the men were taken up with the conquest and did not pray Ṣubḥ until after sunrise — and I would not wish red camels in exchange for that prayer."</a:t>
            </a:r>
          </a:p>
          <a:p>
            <a:r>
              <a:t>— البدایہ والنہایہ ج۷ ص۱۹۸ (the page cites البخاري)</a:t>
            </a:r>
          </a:p>
          <a:p>
            <a:endParaRPr/>
          </a:p>
          <a:p>
            <a:r>
              <a:t>عبرت — The same morning is a conquest in one man's memory and a brother's grave in another's.</a:t>
            </a:r>
          </a:p>
          <a:p>
            <a:endParaRPr/>
          </a:p>
          <a:p>
            <a:r>
              <a:t>MAP — تُسْتَر</a:t>
            </a:r>
          </a:p>
          <a:p>
            <a:endParaRPr/>
          </a:p>
          <a:p>
            <a:r>
              <a:t>BACKGROUND (read at home, not aloud) —</a:t>
            </a:r>
          </a:p>
          <a:p>
            <a:r>
              <a:t>Anas b. Mālik was there. Volunteers went into the town at night with the water — «كالبطّ», like ducks — put the gatekeepers to sleep and opened the gates at Fajr, and the fighting ran on into the morning; nobody prayed Ṣubḥ until after the sun was up (البدایہ ج۷ ص۱۹۸). Anas said afterwards that he would not have traded that prayer for red camels. He was the one who took the captured lord of the city, al-Hurmuzān, back to ʿUmar. He was also the brother of the man who had been killed at that wall.</a:t>
            </a:r>
          </a:p>
          <a:p>
            <a:endParaRPr/>
          </a:p>
          <a:p>
            <a:r>
              <a:t>WHEN, as the card gives it: the same morning as</a:t>
            </a:r>
          </a:p>
        </p:txBody>
      </p:sp>
      <p:sp>
        <p:nvSpPr>
          <p:cNvPr id="4" name="Slide Number Placeholder 3"/>
          <p:cNvSpPr>
            <a:spLocks noGrp="1"/>
          </p:cNvSpPr>
          <p:nvPr>
            <p:ph type="sldNum" sz="quarter" idx="5"/>
          </p:nvPr>
        </p:nvSpPr>
        <p:spPr/>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RUNSHEET: ⚠ ⁨سیر⁩ itself says the better-known report has him dying at Medina. Give both, or give neither</a:t>
            </a:r>
          </a:p>
          <a:p>
            <a:endParaRPr/>
          </a:p>
          <a:p>
            <a:r>
              <a:t>SAY —</a:t>
            </a:r>
          </a:p>
          <a:p>
            <a:r>
              <a:t>1. He was old — And he read the āya: go forth, light and heavy.</a:t>
            </a:r>
          </a:p>
          <a:p>
            <a:r>
              <a:t>2. He took it as addressed to him — Equip me.</a:t>
            </a:r>
          </a:p>
          <a:p>
            <a:r>
              <a:t>   ^ read the Arabic on the face here</a:t>
            </a:r>
          </a:p>
          <a:p>
            <a:r>
              <a:t>3. His sons tried to talk him out of it — He had fought under the Prophet ﷺ, Abū Bakr ؓ and ʿUmar ؓ.</a:t>
            </a:r>
          </a:p>
          <a:p>
            <a:r>
              <a:t>4. He refused — He went to sea, and died on the ship.</a:t>
            </a:r>
          </a:p>
          <a:p>
            <a:r>
              <a:t>5. What followed — They found no island to bury him on for seven days.</a:t>
            </a:r>
          </a:p>
          <a:p>
            <a:endParaRPr/>
          </a:p>
          <a:p>
            <a:r>
              <a:t>QUOTE — اسْتَنْفَرَنَا اللهُ وَأَمَرَنَا، شُيُوْخَنَا وَشَبَابَنَا، جَهِّزُوْنِي.</a:t>
            </a:r>
          </a:p>
          <a:p>
            <a:r>
              <a:t>"Allah has called us out and commanded us — our old and our young. Equip me."</a:t>
            </a:r>
          </a:p>
          <a:p>
            <a:r>
              <a:t>— سیر أعلام النبلاء ج۲ ص۳۴</a:t>
            </a:r>
          </a:p>
          <a:p>
            <a:endParaRPr/>
          </a:p>
          <a:p>
            <a:r>
              <a:t>عبرت — He would not let his sons carry an obligation he read as his own.</a:t>
            </a:r>
          </a:p>
          <a:p>
            <a:endParaRPr/>
          </a:p>
          <a:p>
            <a:r>
              <a:t>⚠ (Delivery note: سیر itself says the better-known report has him dying at Medina, and lists 34, 32 and 51 as years. Tell the story; give no year.)</a:t>
            </a:r>
          </a:p>
          <a:p>
            <a:endParaRPr/>
          </a:p>
          <a:p>
            <a:r>
              <a:t>MAP — Medina → the sea</a:t>
            </a:r>
          </a:p>
          <a:p>
            <a:endParaRPr/>
          </a:p>
          <a:p>
            <a:r>
              <a:t>BACKGROUND (read at home, not aloud) —</a:t>
            </a:r>
          </a:p>
          <a:p>
            <a:r>
              <a:t>Abū Ṭalḥa was old. He read the verse that says go forth, light and heavy, and took it as addressed to him. He told his sons to equip him. They tried to talk him out of it: he had fought under the Prophet ﷺ, under Abū Bakr and under ʿUmar, and they would fight in his place now. He refused. He went to sea, and died on the ship, and they found no island to bury him on for seven days.</a:t>
            </a:r>
          </a:p>
          <a:p>
            <a:endParaRPr/>
          </a:p>
          <a:p>
            <a:r>
              <a:t>## The people: أبو حذيفة ؓ and سالم ؓ</a:t>
            </a:r>
          </a:p>
          <a:p>
            <a:endParaRPr/>
          </a:p>
          <a:p>
            <a:r>
              <a:t>*Source note: [`abu-hudhayfa-and-salim-mawla-abi-hudhayfa.md`](../docs/research/abu-hudhayfa-and-salim-mawla-abi-hudhayfa.md) — read it for the pages behind these cards.*</a:t>
            </a:r>
          </a:p>
          <a:p>
            <a:endParaRPr/>
          </a:p>
          <a:p>
            <a:r>
              <a:t>WHEN, as the card gives it: the caliphate of عثمان ؓ (سیر ج2 ص28: عثمان ؓ prayed over him)</a:t>
            </a:r>
          </a:p>
        </p:txBody>
      </p:sp>
      <p:sp>
        <p:nvSpPr>
          <p:cNvPr id="4" name="Slide Number Placeholder 3"/>
          <p:cNvSpPr>
            <a:spLocks noGrp="1"/>
          </p:cNvSpPr>
          <p:nvPr>
            <p:ph type="sldNum" sz="quarter" idx="5"/>
          </p:nvPr>
        </p:nvSpPr>
        <p:spPr/>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BRIDGE — say:</a:t>
            </a:r>
          </a:p>
          <a:p>
            <a:r>
              <a:t>That was one house. Here is the other one — and it begins in Mecca, with a man whose father was one of the great men of Quraysh, and with a slave who came from Persia.</a:t>
            </a:r>
          </a:p>
        </p:txBody>
      </p:sp>
      <p:sp>
        <p:nvSpPr>
          <p:cNvPr id="4" name="Slide Number Placeholder 3"/>
          <p:cNvSpPr>
            <a:spLocks noGrp="1"/>
          </p:cNvSpPr>
          <p:nvPr>
            <p:ph type="sldNum" sz="quarter" idx="5"/>
          </p:nvPr>
        </p:nvSpPr>
        <p:spPr/>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RUNSHEET: ⁨الذہبی⁩ says all three things in one sentence and softens none of them</a:t>
            </a:r>
          </a:p>
          <a:p>
            <a:endParaRPr/>
          </a:p>
          <a:p>
            <a:r>
              <a:t>SAY —</a:t>
            </a:r>
          </a:p>
          <a:p>
            <a:r>
              <a:t>1. Whose son he was — ʿUtba b. Rabīʿa, one of the great men of Quraysh before Islam.</a:t>
            </a:r>
          </a:p>
          <a:p>
            <a:r>
              <a:t>2. How al-Dhahabī رحمہ اللہ opens his notice — He does not soften the position at all.</a:t>
            </a:r>
          </a:p>
          <a:p>
            <a:r>
              <a:t>3. Three things in one sentence — A martyr; the son of the elder of the Jāhiliyya; a man of Badr.</a:t>
            </a:r>
          </a:p>
          <a:p>
            <a:r>
              <a:t>   ^ read the Arabic on the face here</a:t>
            </a:r>
          </a:p>
          <a:p>
            <a:r>
              <a:t>4. How early he was — A Muslim before the Companions were even meeting in the house of al-Arqam.</a:t>
            </a:r>
          </a:p>
          <a:p>
            <a:endParaRPr/>
          </a:p>
          <a:p>
            <a:r>
              <a:t>QUOTE — السَّيِّدُ الكَبِيْرُ، الشَّهِيْدُ، أَبُو حُذَيْفَةَ ابْنُ شَيْخِ الجَاهِلِيَّةِ: عُتْبَةَ بنِ رَبِيْعَةَ … القُرَشِيُّ، العَبْشَمِيُّ، البَدْرِيُّ</a:t>
            </a:r>
          </a:p>
          <a:p>
            <a:r>
              <a:t>"The great chief, the martyr, Abū Ḥudhayfa — son of the elder of the Jāhiliyya, ʿUtba b. Rabīʿa — al-Qurashī, al-ʿAbshamī, the man of Badr."</a:t>
            </a:r>
          </a:p>
          <a:p>
            <a:r>
              <a:t>— سیر أعلام النبلاء ج۱ ص۱۶۴</a:t>
            </a:r>
          </a:p>
          <a:p>
            <a:endParaRPr/>
          </a:p>
          <a:p>
            <a:r>
              <a:t>عبرت — A man's descent is recorded honestly, and it is not what he is judged by.</a:t>
            </a:r>
          </a:p>
          <a:p>
            <a:endParaRPr/>
          </a:p>
          <a:p>
            <a:r>
              <a:t>HANDS UP — Before it: "Who here has a relative who did not agree with the biggest decision they ever made?" — then leave the hands up for one beat and move on. Do not develop it.</a:t>
            </a:r>
          </a:p>
          <a:p>
            <a:endParaRPr/>
          </a:p>
          <a:p>
            <a:r>
              <a:t>BACKGROUND (read at home, not aloud) —</a:t>
            </a:r>
          </a:p>
          <a:p>
            <a:r>
              <a:t>Abū Ḥudhayfa ؓ was the son of ʿUtba b. Rabīʿa — one of the great men of Quraysh before Islam. Al-Dhahabī رحمہ اللہ, opening his notice, does not soften the position at all. In one sentence he calls him a martyr, calls his father the elder of the Jāhiliyya, and calls him a man of Badr. He had accepted Islam before the Companions were even meeting in the house of al-Arqam.</a:t>
            </a:r>
          </a:p>
          <a:p>
            <a:endParaRPr/>
          </a:p>
          <a:p>
            <a:r>
              <a:t>WHEN, as the card gives it: before دار الأرقم</a:t>
            </a:r>
          </a:p>
        </p:txBody>
      </p:sp>
      <p:sp>
        <p:nvSpPr>
          <p:cNvPr id="4" name="Slide Number Placeholder 3"/>
          <p:cNvSpPr>
            <a:spLocks noGrp="1"/>
          </p:cNvSpPr>
          <p:nvPr>
            <p:ph type="sldNum" sz="quarter" idx="5"/>
          </p:nvPr>
        </p:nvSpPr>
        <p:spPr/>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RUNSHEET: Abyssinia. ⚠ The party's composition is ⁨ابن کثیر⁩ reporting ⁨الواقدی⁩ — say "it is reported"</a:t>
            </a:r>
          </a:p>
          <a:p>
            <a:endParaRPr/>
          </a:p>
          <a:p>
            <a:r>
              <a:t>SAY —</a:t>
            </a:r>
          </a:p>
          <a:p>
            <a:r>
              <a:t>1. The persecution in Mecca got past bearing — A small party left for Abyssinia.</a:t>
            </a:r>
          </a:p>
          <a:p>
            <a:r>
              <a:t>2. Why there — The Prophet ﷺ had said there was a king there under whom no one was wronged.</a:t>
            </a:r>
          </a:p>
          <a:p>
            <a:r>
              <a:t>3. Who went — Eleven men and four women, down to the sea.</a:t>
            </a:r>
          </a:p>
          <a:p>
            <a:r>
              <a:t>4. The ship — Hired for half a dinar.</a:t>
            </a:r>
          </a:p>
          <a:p>
            <a:r>
              <a:t>   ^ read the Arabic on the face here</a:t>
            </a:r>
          </a:p>
          <a:p>
            <a:r>
              <a:t>5. Who was on it — ʿUthmān ؓ and Ruqayya ؓ; and Abū Ḥudhayfa ؓ with his wife Sahla ؓ.</a:t>
            </a:r>
          </a:p>
          <a:p>
            <a:endParaRPr/>
          </a:p>
          <a:p>
            <a:r>
              <a:t>QUOTE — فاستأجروا سفينةً بنصف دينار إلى الحبشة، وهم عثمان بن عفان، وامرأته رُقَيَّة بنت رسول الله ﷺ، وأبو حُذيفة بن عتبة، وامرأته سهلة بنت سُهيل</a:t>
            </a:r>
          </a:p>
          <a:p>
            <a:r>
              <a:t>"So they hired a ship for half a dinar to Abyssinia. They were: ʿUthmān b. ʿAffān and his wife Ruqayya, daughter of the Messenger of Allah ﷺ; and Abū Ḥudhayfa b. ʿUtba and his wife Sahla bt. Suhayl…"</a:t>
            </a:r>
          </a:p>
          <a:p>
            <a:r>
              <a:t>— البدایہ والنہایہ ج۳ ص۲۸۱</a:t>
            </a:r>
          </a:p>
          <a:p>
            <a:endParaRPr/>
          </a:p>
          <a:p>
            <a:r>
              <a:t>عبرت — The first thing this ummah did when it could not stay was to pool a fare and leave together.</a:t>
            </a:r>
          </a:p>
          <a:p>
            <a:endParaRPr/>
          </a:p>
          <a:p>
            <a:r>
              <a:t>MAP — Mecca → the Red Sea coast → **Abyssinia**. The first arrow that ever leaves Arabia.</a:t>
            </a:r>
          </a:p>
          <a:p>
            <a:endParaRPr/>
          </a:p>
          <a:p>
            <a:r>
              <a:t>BACKGROUND (read at home, not aloud) —</a:t>
            </a:r>
          </a:p>
          <a:p>
            <a:r>
              <a:t>The persecution in Mecca got past bearing. A small party left for Abyssinia, because the Prophet ﷺ had told them there was a king there under whom no one was wronged. Eleven men and four women went down to the sea, some walking and some riding. They hired a ship for half a dinar. On it were ʿUthmān ؓ and his wife Ruqayya ؓ, the Prophet's ﷺ daughter — and Abū Ḥudhayfa b. ʿUtba ؓ and his wife Sahla ؓ, the daughter of Suhayl b. ʿAmr ؓ.</a:t>
            </a:r>
          </a:p>
          <a:p>
            <a:endParaRPr/>
          </a:p>
          <a:p>
            <a:r>
              <a:t>WHEN, as the card gives it: 5 years after the beginning of revelation (البدایہ ج3 ص281, ابن کثیر reporting الواقدی)</a:t>
            </a:r>
          </a:p>
        </p:txBody>
      </p:sp>
      <p:sp>
        <p:nvSpPr>
          <p:cNvPr id="4" name="Slide Number Placeholder 3"/>
          <p:cNvSpPr>
            <a:spLocks noGrp="1"/>
          </p:cNvSpPr>
          <p:nvPr>
            <p:ph type="sldNum" sz="quarter" idx="5"/>
          </p:nvPr>
        </p:nvSpPr>
        <p:spPr/>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RUNSHEET: [HANDS] optional: "where do you think the man who led the Muhājirūn in prayer came from?" — then the answer</a:t>
            </a:r>
          </a:p>
          <a:p>
            <a:endParaRPr/>
          </a:p>
          <a:p>
            <a:r>
              <a:t>SAY —</a:t>
            </a:r>
          </a:p>
          <a:p>
            <a:r>
              <a:t>1. He was a slave — His origin was Iṣṭakhr, in Persia.</a:t>
            </a:r>
          </a:p>
          <a:p>
            <a:r>
              <a:t>2. The household freed him — And Abū Ḥudhayfa ؓ took him as his own.</a:t>
            </a:r>
          </a:p>
          <a:p>
            <a:r>
              <a:t>3. How al-Dhahabī رحمہ اللہ opens his notice — Four descriptions in a row.</a:t>
            </a:r>
          </a:p>
          <a:p>
            <a:r>
              <a:t>   ^ read the Arabic on the face here</a:t>
            </a:r>
          </a:p>
          <a:p>
            <a:endParaRPr/>
          </a:p>
          <a:p>
            <a:r>
              <a:t>QUOTE — مِنَ السَّابِقِيْنَ الأَوَّلِيْنَ، البَدْرِيِّيْنَ، المُقَرَّبِيْنَ، العَالِمِيْنَ … أَصْلُهُ مِنْ إِصْطَخْرَ</a:t>
            </a:r>
          </a:p>
          <a:p>
            <a:r>
              <a:t>"Of the first forerunners, of the men of Badr, of those brought near, of the learned … his origin is from Iṣṭakhr."</a:t>
            </a:r>
          </a:p>
          <a:p>
            <a:r>
              <a:t>— سیر أعلام النبلاء ج۱ ص۱۶۷</a:t>
            </a:r>
          </a:p>
          <a:p>
            <a:endParaRPr/>
          </a:p>
          <a:p>
            <a:r>
              <a:t>عبرت — The books record where he came from in four words and what he became in four titles.</a:t>
            </a:r>
          </a:p>
          <a:p>
            <a:endParaRPr/>
          </a:p>
          <a:p>
            <a:r>
              <a:t>HANDS UP — Before it: "Where do you think the man who led the Muhājirūn in prayer came from?"</a:t>
            </a:r>
          </a:p>
          <a:p>
            <a:endParaRPr/>
          </a:p>
          <a:p>
            <a:r>
              <a:t>MAP — a faint line from **إصطخر** (Fārs) to **المدینہ** — the only line on the map that comes *into* Arabia.</a:t>
            </a:r>
          </a:p>
          <a:p>
            <a:endParaRPr/>
          </a:p>
          <a:p>
            <a:r>
              <a:t>BACKGROUND (read at home, not aloud) —</a:t>
            </a:r>
          </a:p>
          <a:p>
            <a:r>
              <a:t>Sālim ؓ was a slave. His origin was Iṣṭakhr, in Persia. The woman of Abū Ḥudhayfa's ؓ household freed him, and Abū Ḥudhayfa ؓ took him as his own — adopted him outright. Al-Dhahabī رحمہ اللہ opens his notice on him with four descriptions in a row, and not one of them is about where he came from.</a:t>
            </a:r>
          </a:p>
          <a:p>
            <a:endParaRPr/>
          </a:p>
          <a:p>
            <a:r>
              <a:t>WHEN, as the card gives it: before the hijra</a:t>
            </a:r>
          </a:p>
        </p:txBody>
      </p:sp>
      <p:sp>
        <p:nvSpPr>
          <p:cNvPr id="4" name="Slide Number Placeholder 3"/>
          <p:cNvSpPr>
            <a:spLocks noGrp="1"/>
          </p:cNvSpPr>
          <p:nvPr>
            <p:ph type="sldNum" sz="quarter" idx="5"/>
          </p:nvPr>
        </p:nvSpPr>
        <p:spPr/>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RUNSHEET: A freed slave leads, because he carried the most Qurʾān — and ʿUmar ؓ is praying behind him</a:t>
            </a:r>
          </a:p>
          <a:p>
            <a:endParaRPr/>
          </a:p>
          <a:p>
            <a:r>
              <a:t>SAY —</a:t>
            </a:r>
          </a:p>
          <a:p>
            <a:r>
              <a:t>1. The Muhājirūn reach Medina before the Prophet ﷺ does — They camp at al-ʿUṣba, beside Qubāʾ.</a:t>
            </a:r>
          </a:p>
          <a:p>
            <a:r>
              <a:t>2. Someone has to lead the prayer — They put forward a freed slave.</a:t>
            </a:r>
          </a:p>
          <a:p>
            <a:r>
              <a:t>3. Why him — Because he carried more of the Qurʾān than any of them.</a:t>
            </a:r>
          </a:p>
          <a:p>
            <a:r>
              <a:t>   ^ read the Arabic on the face here</a:t>
            </a:r>
          </a:p>
          <a:p>
            <a:r>
              <a:t>4. Who prayed behind him — ʿUmar b. al-Khaṭṭāb ؓ among them.</a:t>
            </a:r>
          </a:p>
          <a:p>
            <a:endParaRPr/>
          </a:p>
          <a:p>
            <a:r>
              <a:t>QUOTE — أَنَّ المُهَاجِرِيْنَ نَزَلُوا بِالعُصْبَةِ إِلَى جَنْبِ قُبَاءَ، فَأَمَّهُم سَالِمٌ مَوْلَى أَبِي حُذَيْفَةَ، لأَنَّهُ كَانَ … أَكْثَرَهُم قُرْآناً، فِيْهِم عُمَرُ، وَأَبُو سَلَمَةَ بنُ عَبْدِ الأَسَدِ</a:t>
            </a:r>
          </a:p>
          <a:p>
            <a:r>
              <a:t>"The Muhājirūn camped at al-ʿUṣba beside Qubāʾ, and Sālim, the freedman of Abū Ḥudhayfa, led them in prayer, because he had the most Qurʾān of them — among them ʿUmar and Abū Salama b. ʿAbd al-Asad."</a:t>
            </a:r>
          </a:p>
          <a:p>
            <a:r>
              <a:t>— سیر أعلام النبلاء ج۱ ص۱۶۸–۱۶۹ و (the ellipsis marks the page turn — nothing is omitted)</a:t>
            </a:r>
          </a:p>
          <a:p>
            <a:endParaRPr/>
          </a:p>
          <a:p>
            <a:r>
              <a:t>عبرت — The first thing the Muhājirūn did on arriving was to put the best reciter in front, whoever he was.</a:t>
            </a:r>
          </a:p>
          <a:p>
            <a:endParaRPr/>
          </a:p>
          <a:p>
            <a:r>
              <a:t>MAP — **قُباء**, just outside Medina — the first pin on the Medina inset.</a:t>
            </a:r>
          </a:p>
          <a:p>
            <a:endParaRPr/>
          </a:p>
          <a:p>
            <a:r>
              <a:t>BACKGROUND (read at home, not aloud) —</a:t>
            </a:r>
          </a:p>
          <a:p>
            <a:r>
              <a:t>The Muhājirūn reached Medina before the Prophet ﷺ did. They camped at al-ʿUṣba, beside Qubāʾ, and they had to pray. Someone had to lead. They put forward a freed slave, because he had more of the Qurʾān than any of them. Among the men praying behind him was ʿUmar b. al-Khaṭṭāb ؓ.</a:t>
            </a:r>
          </a:p>
          <a:p>
            <a:endParaRPr/>
          </a:p>
          <a:p>
            <a:r>
              <a:t>WHEN, as the card gives it: before the Prophet ﷺ reached Medina</a:t>
            </a:r>
          </a:p>
        </p:txBody>
      </p:sp>
      <p:sp>
        <p:nvSpPr>
          <p:cNvPr id="4" name="Slide Number Placeholder 3"/>
          <p:cNvSpPr>
            <a:spLocks noGrp="1"/>
          </p:cNvSpPr>
          <p:nvPr>
            <p:ph type="sldNum" sz="quarter" idx="5"/>
          </p:nvPr>
        </p:nvSpPr>
        <p:spPr/>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RUNSHEET: ⚠ Narrate, do not dwell. The father and the brother on one side, the son on the other. No comment is added; the next card is the comment</a:t>
            </a:r>
          </a:p>
          <a:p>
            <a:endParaRPr/>
          </a:p>
          <a:p>
            <a:r>
              <a:t>SAY —</a:t>
            </a:r>
          </a:p>
          <a:p>
            <a:r>
              <a:t>1. Badr opens with single combat — Quraysh call for their equals to come out.</a:t>
            </a:r>
          </a:p>
          <a:p>
            <a:r>
              <a:t>2. Whom the Prophet ﷺ sent — ʿUbayda b. al-Ḥārith ؓ, Ḥamza ؓ and ʿAlī ؓ.</a:t>
            </a:r>
          </a:p>
          <a:p>
            <a:r>
              <a:t>3. Who came out against them — ʿUtba b. Rabīʿa, his brother Shayba, and ʿUtba's son al-Walīd.</a:t>
            </a:r>
          </a:p>
          <a:p>
            <a:r>
              <a:t>4. All three of the Meccans were killed — And Abū Ḥudhayfa ؓ was standing with the Muslims.</a:t>
            </a:r>
          </a:p>
          <a:p>
            <a:r>
              <a:t>   ^ read the Arabic on the face here</a:t>
            </a:r>
          </a:p>
          <a:p>
            <a:r>
              <a:t>5. What that is — His father and his brother on one side, and himself on the other.</a:t>
            </a:r>
          </a:p>
          <a:p>
            <a:endParaRPr/>
          </a:p>
          <a:p>
            <a:r>
              <a:t>QUOTE — فبارز عبيدة، وكان أسنّ القوم، عتبة، وبارز حمزة شيبة، وبارز عليٌّ الوليد بن عتبة</a:t>
            </a:r>
          </a:p>
          <a:p>
            <a:r>
              <a:t>"ʿUbayda — and he was the oldest of them — faced ʿUtba; Ḥamza faced Shayba; and ʿAlī faced al-Walīd b. ʿUtba."</a:t>
            </a:r>
          </a:p>
          <a:p>
            <a:r>
              <a:t>— البدایہ والنہایہ ج۴ ص۶۰</a:t>
            </a:r>
          </a:p>
          <a:p>
            <a:endParaRPr/>
          </a:p>
          <a:p>
            <a:r>
              <a:t>عبرت — He was not asked to stop being his father's son. He was asked which side of the field to stand on, and he answered that question only.</a:t>
            </a:r>
          </a:p>
          <a:p>
            <a:endParaRPr/>
          </a:p>
          <a:p>
            <a:r>
              <a:t>MAP — **بدر**, the first battle marker on the line.</a:t>
            </a:r>
          </a:p>
          <a:p>
            <a:endParaRPr/>
          </a:p>
          <a:p>
            <a:r>
              <a:t>BACKGROUND (read at home, not aloud) —</a:t>
            </a:r>
          </a:p>
          <a:p>
            <a:r>
              <a:t>Badr opened with single combat. Quraysh called for their equals to come out. The Prophet ﷺ sent ʿUbayda b. al-Ḥārith ؓ, Ḥamza ؓ and ʿAlī ؓ. Against them came ʿUtba b. Rabīʿa, his brother Shayba, and ʿUtba's son al-Walīd. All three of the Meccans were killed. ʿUtba was the father of Abū Ḥudhayfa ؓ, and al-Walīd was his brother — and Abū Ḥudhayfa ؓ was standing with the Muslims.</a:t>
            </a:r>
          </a:p>
          <a:p>
            <a:endParaRPr/>
          </a:p>
          <a:p>
            <a:r>
              <a:t>WHEN, as the card gives it: 2 AH</a:t>
            </a:r>
          </a:p>
        </p:txBody>
      </p:sp>
      <p:sp>
        <p:nvSpPr>
          <p:cNvPr id="4" name="Slide Number Placeholder 3"/>
          <p:cNvSpPr>
            <a:spLocks noGrp="1"/>
          </p:cNvSpPr>
          <p:nvPr>
            <p:ph type="sldNum" sz="quarter" idx="5"/>
          </p:nvPr>
        </p:nvSpPr>
        <p:spPr/>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RUNSHEET: The answer is not a denial of grief. This card is why #76 is tellable at all</a:t>
            </a:r>
          </a:p>
          <a:p>
            <a:endParaRPr/>
          </a:p>
          <a:p>
            <a:r>
              <a:t>SAY —</a:t>
            </a:r>
          </a:p>
          <a:p>
            <a:r>
              <a:t>1. After the battle — The dead of Quraysh are put into the well.</a:t>
            </a:r>
          </a:p>
          <a:p>
            <a:r>
              <a:t>2. The Prophet ﷺ looks at the son's face — And sees that it has gone pale.</a:t>
            </a:r>
          </a:p>
          <a:p>
            <a:r>
              <a:t>3. What he asked him — Has something entered you about your father?</a:t>
            </a:r>
          </a:p>
          <a:p>
            <a:r>
              <a:t>4. The answer — I never doubted his fate; I had known a judgement and a forbearance in him, and hoped it would bring him to Islam.</a:t>
            </a:r>
          </a:p>
          <a:p>
            <a:r>
              <a:t>   ^ read the Arabic on the face here</a:t>
            </a:r>
          </a:p>
          <a:p>
            <a:r>
              <a:t>5. And then — The Prophet ﷺ prayed for him, and spoke kindly to him.</a:t>
            </a:r>
          </a:p>
          <a:p>
            <a:endParaRPr/>
          </a:p>
          <a:p>
            <a:r>
              <a:t>QUOTE — لما سحب عتبة بن ربيعة إلى القليب نظر رسول الله صلى الله عليه وسلم في وجه أبي حذيفة ابنه، فإذا هو كئيب متغير. فقال: "لعلك قد دخلك من شأن أبيك شيء"؟. قال: لا والله ما شككت في أبي ولا في مصرعه، ولكني كنت أعرف منه رأيا وحلما، فكنت أرجو أن يسلم، فلما رأيت ما أصابه وما مات عليه أحزنني ذلك. فدعا له النبي صلى الله عليه وسلم وقال له خيرا</a:t>
            </a:r>
          </a:p>
          <a:p>
            <a:r>
              <a:t>"When ʿUtba b. Rabīʿa was dragged to the well, the Messenger of Allah ﷺ looked into the face of his son Abū Ḥudhayfa, and there he was, downcast and changed. He said: 'Perhaps something has entered you about the matter of your father?' He said: No, by Allah, I have not doubted my father nor where he fell. But I knew in him a judgement and a forbearance, and I used to hope he would accept Islam; and when I saw what befell him and what he died upon, that grieved me. So the Prophet ﷺ prayed for him and spoke kindly to him."</a:t>
            </a:r>
          </a:p>
          <a:p>
            <a:r>
              <a:t>— سیر أعلام النبلاء (السیرة النبویة) ص۳۱۲ (the page spells the honorific out in full, and is quoted as it stands)</a:t>
            </a:r>
          </a:p>
          <a:p>
            <a:endParaRPr/>
          </a:p>
          <a:p>
            <a:r>
              <a:t>عبرت — He was not told that grief was a fault, and he did not pretend he had none.</a:t>
            </a:r>
          </a:p>
          <a:p>
            <a:endParaRPr/>
          </a:p>
          <a:p>
            <a:r>
              <a:t>BACKGROUND (read at home, not aloud) —</a:t>
            </a:r>
          </a:p>
          <a:p>
            <a:r>
              <a:t>After the battle the dead of Quraysh were put into the well. ʿUtba b. Rabīʿa was taken and dragged to it. The Prophet ﷺ looked at the face of his son, and saw it had gone pale. So he asked him whether something had entered him about his father. The answer was not a denial of grief. He said he had never doubted his father's fate, but that he had known a judgement and a forbearance in the man and had hoped it would bring him to Islam — and it had not. The Prophet ﷺ prayed for him, and spoke kindly to him.</a:t>
            </a:r>
          </a:p>
          <a:p>
            <a:endParaRPr/>
          </a:p>
          <a:p>
            <a:r>
              <a:t>WHEN, as the card gives it: 2 AH, after بدر</a:t>
            </a:r>
          </a:p>
        </p:txBody>
      </p:sp>
      <p:sp>
        <p:nvSpPr>
          <p:cNvPr id="4" name="Slide Number Placeholder 3"/>
          <p:cNvSpPr>
            <a:spLocks noGrp="1"/>
          </p:cNvSpPr>
          <p:nvPr>
            <p:ph type="sldNum" sz="quarter" idx="5"/>
          </p:nvPr>
        </p:nvSpPr>
        <p:spPr/>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RUNSHEET: ⚠ SPEAKER'S DISCRETION. It is about al-ʿAbbās ؓ at Badr. If it is told, it ends where the books end it: and he was killed a martyr at al-Yamāma</a:t>
            </a:r>
          </a:p>
          <a:p>
            <a:endParaRPr/>
          </a:p>
          <a:p>
            <a:r>
              <a:t>SAY —</a:t>
            </a:r>
          </a:p>
          <a:p>
            <a:r>
              <a:t>1. Before the fighting at Badr — The Prophet ﷺ names men brought out against their will, not to be killed.</a:t>
            </a:r>
          </a:p>
          <a:p>
            <a:r>
              <a:t>2. Among them, his own uncle — al-ʿAbbās ؓ.</a:t>
            </a:r>
          </a:p>
          <a:p>
            <a:r>
              <a:t>3. What Abū Ḥudhayfa ؓ said out loud — Are we to kill our fathers and sons and brothers, and leave al-ʿAbbās?</a:t>
            </a:r>
          </a:p>
          <a:p>
            <a:r>
              <a:t>4. Word of it reached the Prophet ﷺ — And he never forgave himself for it.</a:t>
            </a:r>
          </a:p>
          <a:p>
            <a:r>
              <a:t>5. What he said afterwards — He would not stop fearing that word unless martyrdom wiped it away.</a:t>
            </a:r>
          </a:p>
          <a:p>
            <a:r>
              <a:t>   ^ read the Arabic on the face here</a:t>
            </a:r>
          </a:p>
          <a:p>
            <a:r>
              <a:t>6. Where three books end the sentence — And he was killed a martyr at al-Yamāma.</a:t>
            </a:r>
          </a:p>
          <a:p>
            <a:endParaRPr/>
          </a:p>
          <a:p>
            <a:r>
              <a:t>QUOTE — ما أنا بآمنٍ من تلك الكلمة التي قُلتُ يومئذٍ، ولا أزالُ منها خائفًا إلّا أن تُكفّرها عنّي الشهادةُ، فقُتل يوم اليمامة شهيدًا</a:t>
            </a:r>
          </a:p>
          <a:p>
            <a:r>
              <a:t>"I am not safe from that word I said that day; I shall not stop fearing it unless martyrdom wipes it away from me. And he was killed a martyr on the day of al-Yamāma."</a:t>
            </a:r>
          </a:p>
          <a:p>
            <a:r>
              <a:t>— البدایہ والنہایہ ج۴ ص۷۷</a:t>
            </a:r>
          </a:p>
          <a:p>
            <a:endParaRPr/>
          </a:p>
          <a:p>
            <a:r>
              <a:t>عبرت — He treated one sentence spoken in anger as a debt, and he carried it for ten years.</a:t>
            </a:r>
          </a:p>
          <a:p>
            <a:endParaRPr/>
          </a:p>
          <a:p>
            <a:r>
              <a:t>⚠ **Discretion note.** The same page carries عمر ؓ's heated reply. **It is not to be read out, put on</a:t>
            </a:r>
          </a:p>
          <a:p>
            <a:r>
              <a:t>a slide, or volunteered.** Tell only Abū Ḥudhayfa's ؓ own words about himself. See §3.2.</a:t>
            </a:r>
          </a:p>
          <a:p>
            <a:endParaRPr/>
          </a:p>
          <a:p>
            <a:r>
              <a:t>BACKGROUND (read at home, not aloud) —</a:t>
            </a:r>
          </a:p>
          <a:p>
            <a:r>
              <a:t>Before the fighting at Badr, the Prophet ﷺ named men who had been brought out against their will and were not to be killed. Al-ʿAbbās ؓ, his own uncle, was among them. Abū Ḥudhayfa ؓ objected out loud: were they to kill their own fathers and sons and brothers and leave al-ʿAbbās? Word of it reached the Prophet ﷺ. Abū Ḥudhayfa ؓ never forgave himself for it. He said afterwards that he would not stop fearing that word unless martyrdom wiped it away. Three separate books record the sentence, and all three end it in the same place: and he was killed a martyr at al-Yamāma.</a:t>
            </a:r>
          </a:p>
          <a:p>
            <a:endParaRPr/>
          </a:p>
          <a:p>
            <a:r>
              <a:t>WHEN, as the card gives it: 2 AH, and answered 12 AH</a:t>
            </a:r>
          </a:p>
        </p:txBody>
      </p:sp>
      <p:sp>
        <p:nvSpPr>
          <p:cNvPr id="4" name="Slide Number Placeholder 3"/>
          <p:cNvSpPr>
            <a:spLocks noGrp="1"/>
          </p:cNvSpPr>
          <p:nvPr>
            <p:ph type="sldNum" sz="quarter" idx="5"/>
          </p:nvPr>
        </p:nvSpPr>
        <p:spPr/>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RUNSHEET: ⚠ SPEAKER'S DISCRETION. Stay on what the card says: the law changed, and the household kept him by every other means. Do not open the fiqh</a:t>
            </a:r>
          </a:p>
          <a:p>
            <a:endParaRPr/>
          </a:p>
          <a:p>
            <a:r>
              <a:t>SAY —</a:t>
            </a:r>
          </a:p>
          <a:p>
            <a:r>
              <a:t>1. He had adopted him — And married him to his own niece Fāṭima, daughter of the brother killed at Badr.</a:t>
            </a:r>
          </a:p>
          <a:p>
            <a:r>
              <a:t>2. Then the āya came down — Call them by their fathers.</a:t>
            </a:r>
          </a:p>
          <a:p>
            <a:r>
              <a:t>   ^ read the Arabic on the face here</a:t>
            </a:r>
          </a:p>
          <a:p>
            <a:r>
              <a:t>3. What changed in law — Adoption was no longer a legal fact, and he was no longer a son of the house.</a:t>
            </a:r>
          </a:p>
          <a:p>
            <a:r>
              <a:t>4. What the household did — It did not put him out; it kept him by every other means it had.</a:t>
            </a:r>
          </a:p>
          <a:p>
            <a:endParaRPr/>
          </a:p>
          <a:p>
            <a:r>
              <a:t>QUOTE — وقد تَبنّاهُ أبو حُذَيْفة وزوَّجَهُ بابنةِ أخيه فاطمة بنت الوليد بن عُتْبة، فلما أنزل الله ﴿ادْعُوهُمْ لِآبَائِهِمْ﴾</a:t>
            </a:r>
          </a:p>
          <a:p>
            <a:r>
              <a:t>"Abū Ḥudhayfa had adopted him and married him to his brother's daughter, Fāṭima bt. al-Walīd b. ʿUtba. Then Allah sent down: ﴾Call them by their fathers﴿."</a:t>
            </a:r>
          </a:p>
          <a:p>
            <a:r>
              <a:t>— البدایہ والنہایہ ج۷ ص۵۰</a:t>
            </a:r>
          </a:p>
          <a:p>
            <a:endParaRPr/>
          </a:p>
          <a:p>
            <a:r>
              <a:t>عبرت — A ruling changed what he could be called, and it did not change what the household did for him.</a:t>
            </a:r>
          </a:p>
          <a:p>
            <a:endParaRPr/>
          </a:p>
          <a:p>
            <a:r>
              <a:t>⚠ **Discretion note.** The same page continues into the رضاعة report, which is a live فقہی</a:t>
            </a:r>
          </a:p>
          <a:p>
            <a:r>
              <a:t>question. **Do not go past the verse.** If a written slip asks, use §6.3 and stop: it is in صحیح</a:t>
            </a:r>
          </a:p>
          <a:p>
            <a:r>
              <a:t>مسلم; the Prophet's ﷺ wives held it a dispensation for Sālim ؓ in particular; الذہبی records the</a:t>
            </a:r>
          </a:p>
          <a:p>
            <a:r>
              <a:t>majority of the scholars taking it that way; the ruling is a matter for the فقہاء.</a:t>
            </a:r>
          </a:p>
          <a:p>
            <a:endParaRPr/>
          </a:p>
          <a:p>
            <a:r>
              <a:t>BACKGROUND (read at home, not aloud) —</a:t>
            </a:r>
          </a:p>
          <a:p>
            <a:r>
              <a:t>Abū Ḥudhayfa ؓ had adopted Sālim ؓ, and had married him to his own niece — Fāṭima, the daughter of his brother al-Walīd, the brother who had been killed at Badr on the other side. Then the verse came down: *call them by their fathers*. Adoption was no longer a legal fact, and Sālim ؓ was no longer a son of the house in law. The household did not put him out. It kept him by every other means it had.</a:t>
            </a:r>
          </a:p>
          <a:p>
            <a:endParaRPr/>
          </a:p>
          <a:p>
            <a:r>
              <a:t>WHEN, as the card gives it: Medina, after الأحزاب 5 was revealed</a:t>
            </a:r>
          </a:p>
        </p:txBody>
      </p:sp>
      <p:sp>
        <p:nvSpPr>
          <p:cNvPr id="4" name="Slide Number Placeholder 3"/>
          <p:cNvSpPr>
            <a:spLocks noGrp="1"/>
          </p:cNvSpPr>
          <p:nvPr>
            <p:ph type="sldNum" sz="quarter" idx="5"/>
          </p:nvPr>
        </p:nvSpPr>
        <p:spPr/>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RUNSHEET: ⁨الذہبی⁩ marks the chain good — say so, it is a "how do we know?" beat. End the part here: it is the best last line in it</a:t>
            </a:r>
          </a:p>
          <a:p>
            <a:endParaRPr/>
          </a:p>
          <a:p>
            <a:r>
              <a:t>SAY —</a:t>
            </a:r>
          </a:p>
          <a:p>
            <a:r>
              <a:t>1. ʿĀʾisha ؓ comes in late — The Prophet ﷺ asks what kept her.</a:t>
            </a:r>
          </a:p>
          <a:p>
            <a:r>
              <a:t>2. What she said — A voice reciting in the mosque, finer than any she had heard.</a:t>
            </a:r>
          </a:p>
          <a:p>
            <a:r>
              <a:t>3. What he did — He took his cloak and went out to listen.</a:t>
            </a:r>
          </a:p>
          <a:p>
            <a:r>
              <a:t>   ^ read the Arabic on the face here</a:t>
            </a:r>
          </a:p>
          <a:p>
            <a:r>
              <a:t>4. Who it was — Sālim ؓ, the freedman of Abū Ḥudhayfa ؓ.</a:t>
            </a:r>
          </a:p>
          <a:p>
            <a:r>
              <a:t>5. The chain — al-Dhahabī رحمہ اللہ records it and marks it good.</a:t>
            </a:r>
          </a:p>
          <a:p>
            <a:endParaRPr/>
          </a:p>
          <a:p>
            <a:r>
              <a:t>QUOTE — فَأَخَذَ رِدَاءهُ، وَخَرَجَ يَسْمَعُهُ، فَإِذَا هُوَ سَالِمٌ مَوْلَى أَبِي حُذَيْفَةَ. فَقَالَ: (الحَمْدُ لِلِّهِ الَّذِي جَعَلَ فِي أُمَّتِي مِثْلَكَ)</a:t>
            </a:r>
          </a:p>
          <a:p>
            <a:r>
              <a:t>"So he took his cloak and went out to listen to him — and it was Sālim, the freedman of Abū Ḥudhayfa. And he said: 'Praise be to Allah, who has put the like of you in my ummah.'"</a:t>
            </a:r>
          </a:p>
          <a:p>
            <a:r>
              <a:t>— سیر أعلام النبلاء ج۱ ص۱۶۸</a:t>
            </a:r>
          </a:p>
          <a:p>
            <a:endParaRPr/>
          </a:p>
          <a:p>
            <a:r>
              <a:t>عبرت — He was praised for what he carried, and the praise is recorded in the words the Prophet ﷺ used.</a:t>
            </a:r>
          </a:p>
          <a:p>
            <a:endParaRPr/>
          </a:p>
          <a:p>
            <a:r>
              <a:t>BACKGROUND (read at home, not aloud) —</a:t>
            </a:r>
          </a:p>
          <a:p>
            <a:r>
              <a:t>One night ʿĀʾisha ؓ came in late. The Prophet ﷺ asked her what had kept her. She said there was a voice reciting in the mosque, finer than any she had heard. He took his cloak and went out to listen. It was Sālim ؓ, the freedman of Abū Ḥudhayfa. Al-Dhahabī رحمہ اللہ records the chain of this one and marks it good.</a:t>
            </a:r>
          </a:p>
          <a:p>
            <a:endParaRPr/>
          </a:p>
          <a:p>
            <a:r>
              <a:t>WHEN, as the card gives it: Medina — الذہبی: «إسناده جيد»</a:t>
            </a:r>
          </a:p>
        </p:txBody>
      </p:sp>
      <p:sp>
        <p:nvSpPr>
          <p:cNvPr id="4" name="Slide Number Placeholder 3"/>
          <p:cNvSpPr>
            <a:spLocks noGrp="1"/>
          </p:cNvSpPr>
          <p:nvPr>
            <p:ph type="sldNum" sz="quarter" idx="5"/>
          </p:nvPr>
        </p:nvSpPr>
        <p:spPr/>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RUNSHEET: The man whose shroud the room saw at #26. The three things he was told — live praised, killed a martyr, enter the Garden — and the room has already watched the second happen</a:t>
            </a:r>
          </a:p>
          <a:p>
            <a:endParaRPr/>
          </a:p>
          <a:p>
            <a:r>
              <a:t>SAY —</a:t>
            </a:r>
          </a:p>
          <a:p>
            <a:r>
              <a:t>1. Who he was — Thābit b. Qays ؓ, the orator of the Anṣār, with a very loud voice.</a:t>
            </a:r>
          </a:p>
          <a:p>
            <a:r>
              <a:t>2. The āya forbidding raised voices above the Prophet's ﷺ — He concluded he was of the people of the Fire.</a:t>
            </a:r>
          </a:p>
          <a:p>
            <a:r>
              <a:t>3. He shut himself in his house — And stopped coming.</a:t>
            </a:r>
          </a:p>
          <a:p>
            <a:r>
              <a:t>4. The Prophet ﷺ noticed he was missing and sent to ask — And said: he is of the people of the Garden.</a:t>
            </a:r>
          </a:p>
          <a:p>
            <a:r>
              <a:t>   ^ read the Arabic on the face here</a:t>
            </a:r>
          </a:p>
          <a:p>
            <a:r>
              <a:t>5. In another report — He is told he will live praised, be killed a martyr, and enter the Garden.</a:t>
            </a:r>
          </a:p>
          <a:p>
            <a:endParaRPr/>
          </a:p>
          <a:p>
            <a:r>
              <a:t>QUOTE — فَقَالَ: (يَا ثَابِتُ! أَمَا تَرْضَى أَنْ تَعِيْشَ حَمِيْداً، وَتُقْتَلَ شَهِيْداً، وَتَدْخُلَ الجَنَّةَ)</a:t>
            </a:r>
          </a:p>
          <a:p>
            <a:r>
              <a:t>"He said: Thābit — are you not content to live praised, to be killed a martyr, and to enter the Garden?"</a:t>
            </a:r>
          </a:p>
          <a:p>
            <a:r>
              <a:t>— سیر أعلام النبلاء ج۱ ص۳۱۰</a:t>
            </a:r>
          </a:p>
          <a:p>
            <a:endParaRPr/>
          </a:p>
          <a:p>
            <a:r>
              <a:t>عبرت — He was told the end of his own life years before it happened, and then he lived as though he believed it.</a:t>
            </a:r>
          </a:p>
          <a:p>
            <a:endParaRPr/>
          </a:p>
          <a:p>
            <a:r>
              <a:t>⚠ The verse-and-house incident is in صحيح مسلم ١١٩ and صحيح البخاري ٣٦١٣ (سیر ed. fn., ج۱ ص۳۱۰ and ج۱ ص۳۱۱); البدایہ ج۷ ص۴۸ carries both this and the earlier لقمان ۱۸ incident in sequence.</a:t>
            </a:r>
          </a:p>
          <a:p>
            <a:endParaRPr/>
          </a:p>
          <a:p>
            <a:r>
              <a:t>BACKGROUND (read at home, not aloud) —</a:t>
            </a:r>
          </a:p>
          <a:p>
            <a:r>
              <a:t>Thābit b. Qays ؓ was the orator of the Anṣār and he had a very loud voice. When the verse came down forbidding the believers to raise their voices above the Prophet's ﷺ, he concluded that he was of the people of the Fire, and he shut himself in his house and stopped coming. The Prophet ﷺ noticed he was missing and sent for the reason. When he heard it, he said Thābit was of the people of the Garden. And in another report he told him what would happen to him: that he would live praised, be killed a martyr, and enter the Garden.</a:t>
            </a:r>
          </a:p>
          <a:p>
            <a:endParaRPr/>
          </a:p>
          <a:p>
            <a:r>
              <a:t>**Play this card immediately before RCT/E-RC18 — it is what makes the shroud land.**</a:t>
            </a:r>
          </a:p>
          <a:p>
            <a:endParaRPr/>
          </a:p>
          <a:p>
            <a:r>
              <a:t>WHEN, as the card gives it: المدینہ, after the revelation of الحجرات</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12.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1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14.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13.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1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16.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17.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18.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 Id="rId3" Type="http://schemas.openxmlformats.org/officeDocument/2006/relationships/image" Target="../media/image19.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 Id="rId3" Type="http://schemas.openxmlformats.org/officeDocument/2006/relationships/image" Target="../media/image20.jp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66928" y="3017520"/>
            <a:ext cx="201168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554480"/>
            <a:ext cx="11057839" cy="45720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Evening 4</a:t>
            </a:r>
          </a:p>
        </p:txBody>
      </p:sp>
      <p:sp>
        <p:nvSpPr>
          <p:cNvPr id="5" name="TextBox 4"/>
          <p:cNvSpPr txBox="1"/>
          <p:nvPr/>
        </p:nvSpPr>
        <p:spPr>
          <a:xfrm>
            <a:off x="566928" y="2011680"/>
            <a:ext cx="11057839" cy="1005840"/>
          </a:xfrm>
          <a:prstGeom prst="rect">
            <a:avLst/>
          </a:prstGeom>
          <a:noFill/>
        </p:spPr>
        <p:txBody>
          <a:bodyPr wrap="square" lIns="36576" tIns="0" rIns="36576" bIns="0" anchor="t">
            <a:spAutoFit/>
          </a:bodyPr>
          <a:lstStyle/>
          <a:p>
            <a:pPr algn="l">
              <a:lnSpc>
                <a:spcPct val="125000"/>
              </a:lnSpc>
            </a:pPr>
            <a:r>
              <a:rPr sz="6000" b="1" i="0">
                <a:solidFill>
                  <a:srgbClr val="FFFFFF"/>
                </a:solidFill>
                <a:latin typeface="Georgia"/>
                <a:cs typeface="Georgia"/>
              </a:rPr>
              <a:t>al-Buṭāḥ and al-Yamāma</a:t>
            </a:r>
          </a:p>
        </p:txBody>
      </p:sp>
      <p:sp>
        <p:nvSpPr>
          <p:cNvPr id="6" name="TextBox 5"/>
          <p:cNvSpPr txBox="1"/>
          <p:nvPr/>
        </p:nvSpPr>
        <p:spPr>
          <a:xfrm>
            <a:off x="566928" y="3383280"/>
            <a:ext cx="11057839" cy="640080"/>
          </a:xfrm>
          <a:prstGeom prst="rect">
            <a:avLst/>
          </a:prstGeom>
          <a:noFill/>
        </p:spPr>
        <p:txBody>
          <a:bodyPr wrap="square" lIns="36576" tIns="0" rIns="36576" bIns="0" anchor="t">
            <a:spAutoFit/>
          </a:bodyPr>
          <a:lstStyle/>
          <a:p>
            <a:pPr algn="l">
              <a:lnSpc>
                <a:spcPct val="125000"/>
              </a:lnSpc>
            </a:pPr>
            <a:r>
              <a:rPr sz="3200" b="0" i="0">
                <a:solidFill>
                  <a:srgbClr val="FAF7F0"/>
                </a:solidFill>
                <a:latin typeface="Segoe UI"/>
                <a:cs typeface="Segoe UI"/>
              </a:rPr>
              <a:t>10–12 AH</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82880"/>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Where we stopped</a:t>
            </a:r>
          </a:p>
        </p:txBody>
      </p:sp>
      <p:pic>
        <p:nvPicPr>
          <p:cNvPr id="5" name="Picture 4" descr="line_s04_open.trim.png"/>
          <p:cNvPicPr>
            <a:picLocks noChangeAspect="1"/>
          </p:cNvPicPr>
          <p:nvPr/>
        </p:nvPicPr>
        <p:blipFill>
          <a:blip r:embed="rId3"/>
          <a:stretch>
            <a:fillRect/>
          </a:stretch>
        </p:blipFill>
        <p:spPr>
          <a:xfrm>
            <a:off x="1702869" y="1389888"/>
            <a:ext cx="8785957" cy="495604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From last week</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Where we stand</a:t>
            </a:r>
          </a:p>
        </p:txBody>
      </p:sp>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819479" y="1499616"/>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Ṣanʿāʾ</a:t>
            </a:r>
          </a:p>
        </p:txBody>
      </p:sp>
      <p:sp>
        <p:nvSpPr>
          <p:cNvPr id="9" name="TextBox 8"/>
          <p:cNvSpPr txBox="1"/>
          <p:nvPr/>
        </p:nvSpPr>
        <p:spPr>
          <a:xfrm>
            <a:off x="8819479" y="1920240"/>
            <a:ext cx="2805288" cy="1943100"/>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restored</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19479" y="3863340"/>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Ḥaḍramawt</a:t>
            </a:r>
          </a:p>
        </p:txBody>
      </p:sp>
      <p:sp>
        <p:nvSpPr>
          <p:cNvPr id="12" name="TextBox 11"/>
          <p:cNvSpPr txBox="1"/>
          <p:nvPr/>
        </p:nvSpPr>
        <p:spPr>
          <a:xfrm>
            <a:off x="8819479" y="4283964"/>
            <a:ext cx="2805288" cy="1943100"/>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still to come</a:t>
            </a:r>
          </a:p>
        </p:txBody>
      </p:sp>
      <p:pic>
        <p:nvPicPr>
          <p:cNvPr id="14" name="Picture 13">
            <a:extLst>
              <a:ext uri="{FF2B5EF4-FFF2-40B4-BE49-F238E27FC236}">
                <a16:creationId xmlns:a16="http://schemas.microsoft.com/office/drawing/2014/main" id="{3964B9A6-A58E-6EE0-B24D-DC9F5D61DB3B}"/>
              </a:ext>
            </a:extLst>
          </p:cNvPr>
          <p:cNvPicPr>
            <a:picLocks noChangeAspect="1"/>
          </p:cNvPicPr>
          <p:nvPr/>
        </p:nvPicPr>
        <p:blipFill>
          <a:blip r:embed="rId3"/>
          <a:stretch>
            <a:fillRect/>
          </a:stretch>
        </p:blipFill>
        <p:spPr>
          <a:xfrm>
            <a:off x="52299" y="1449830"/>
            <a:ext cx="8492860" cy="477723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2788920"/>
            <a:ext cx="10728655" cy="731520"/>
          </a:xfrm>
          <a:prstGeom prst="rect">
            <a:avLst/>
          </a:prstGeom>
          <a:noFill/>
        </p:spPr>
        <p:txBody>
          <a:bodyPr wrap="square" lIns="36576" tIns="0" rIns="36576" bIns="0" anchor="ctr">
            <a:spAutoFit/>
          </a:bodyPr>
          <a:lstStyle/>
          <a:p>
            <a:pPr algn="l">
              <a:lnSpc>
                <a:spcPct val="125000"/>
              </a:lnSpc>
            </a:pPr>
            <a:r>
              <a:rPr sz="4600" b="1" i="0">
                <a:solidFill>
                  <a:srgbClr val="0A322E"/>
                </a:solidFill>
                <a:latin typeface="Georgia"/>
                <a:cs typeface="Georgia"/>
              </a:rPr>
              <a:t>Part I</a:t>
            </a:r>
          </a:p>
        </p:txBody>
      </p:sp>
      <p:sp>
        <p:nvSpPr>
          <p:cNvPr id="5" name="TextBox 4"/>
          <p:cNvSpPr txBox="1"/>
          <p:nvPr/>
        </p:nvSpPr>
        <p:spPr>
          <a:xfrm>
            <a:off x="868680" y="3520440"/>
            <a:ext cx="10728655" cy="548640"/>
          </a:xfrm>
          <a:prstGeom prst="rect">
            <a:avLst/>
          </a:prstGeom>
          <a:noFill/>
        </p:spPr>
        <p:txBody>
          <a:bodyPr wrap="square" lIns="36576" tIns="0" rIns="36576" bIns="0" anchor="t">
            <a:spAutoFit/>
          </a:bodyPr>
          <a:lstStyle/>
          <a:p>
            <a:pPr algn="l">
              <a:lnSpc>
                <a:spcPct val="125000"/>
              </a:lnSpc>
            </a:pPr>
            <a:r>
              <a:rPr sz="2800" b="0" i="0">
                <a:solidFill>
                  <a:srgbClr val="5A6862"/>
                </a:solidFill>
                <a:latin typeface="Segoe UI"/>
                <a:cs typeface="Segoe UI"/>
              </a:rPr>
              <a:t>The two claimants still standing (10–12 AH)</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Where the story stands</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Tonight: back to the north</a:t>
            </a:r>
          </a:p>
        </p:txBody>
      </p:sp>
      <p:sp>
        <p:nvSpPr>
          <p:cNvPr id="6" name="card0"/>
          <p:cNvSpPr/>
          <p:nvPr/>
        </p:nvSpPr>
        <p:spPr>
          <a:xfrm>
            <a:off x="566928"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49808" y="1700784"/>
            <a:ext cx="3161690" cy="556691"/>
          </a:xfrm>
          <a:prstGeom prst="rect">
            <a:avLst/>
          </a:prstGeom>
          <a:noFill/>
        </p:spPr>
        <p:txBody>
          <a:bodyPr wrap="square" lIns="36576" tIns="0" rIns="36576" bIns="0" anchor="t">
            <a:spAutoFit/>
          </a:bodyPr>
          <a:lstStyle/>
          <a:p>
            <a:pPr algn="l">
              <a:lnSpc>
                <a:spcPct val="125000"/>
              </a:lnSpc>
            </a:pPr>
            <a:r>
              <a:rPr lang="en-US" sz="3200" b="1" i="0" dirty="0">
                <a:solidFill>
                  <a:srgbClr val="0A322E"/>
                </a:solidFill>
                <a:latin typeface="Georgia"/>
                <a:cs typeface="Georgia"/>
              </a:rPr>
              <a:t>Session</a:t>
            </a:r>
            <a:r>
              <a:rPr sz="3200" b="1" i="0" dirty="0">
                <a:solidFill>
                  <a:srgbClr val="0A322E"/>
                </a:solidFill>
                <a:latin typeface="Georgia"/>
                <a:cs typeface="Georgia"/>
              </a:rPr>
              <a:t> 2</a:t>
            </a:r>
          </a:p>
        </p:txBody>
      </p:sp>
      <p:sp>
        <p:nvSpPr>
          <p:cNvPr id="9" name="TextBox 8"/>
          <p:cNvSpPr txBox="1"/>
          <p:nvPr/>
        </p:nvSpPr>
        <p:spPr>
          <a:xfrm>
            <a:off x="749808" y="2807208"/>
            <a:ext cx="3161690" cy="2135265"/>
          </a:xfrm>
          <a:prstGeom prst="rect">
            <a:avLst/>
          </a:prstGeom>
          <a:noFill/>
        </p:spPr>
        <p:txBody>
          <a:bodyPr wrap="square" lIns="36576" tIns="0" rIns="36576" bIns="0" anchor="t">
            <a:spAutoFit/>
          </a:bodyPr>
          <a:lstStyle/>
          <a:p>
            <a:pPr algn="l">
              <a:lnSpc>
                <a:spcPct val="132000"/>
              </a:lnSpc>
            </a:pPr>
            <a:r>
              <a:rPr sz="2700" b="0" i="0" dirty="0" err="1">
                <a:solidFill>
                  <a:srgbClr val="1C2321"/>
                </a:solidFill>
                <a:latin typeface="Segoe UI"/>
                <a:cs typeface="Arabic Typesetting"/>
              </a:rPr>
              <a:t>Khālid</a:t>
            </a:r>
            <a:r>
              <a:rPr sz="2700" b="0" i="0" dirty="0">
                <a:solidFill>
                  <a:srgbClr val="1C2321"/>
                </a:solidFill>
                <a:latin typeface="Segoe UI"/>
                <a:cs typeface="Arabic Typesetting"/>
              </a:rPr>
              <a:t> ؓ at </a:t>
            </a:r>
            <a:r>
              <a:rPr sz="2700" b="1" i="0" dirty="0" err="1">
                <a:solidFill>
                  <a:srgbClr val="1C2321"/>
                </a:solidFill>
                <a:latin typeface="Segoe UI"/>
                <a:cs typeface="Arabic Typesetting"/>
              </a:rPr>
              <a:t>Buzākha</a:t>
            </a:r>
            <a:r>
              <a:rPr sz="2700" b="0" i="0" dirty="0">
                <a:solidFill>
                  <a:srgbClr val="1C2321"/>
                </a:solidFill>
                <a:latin typeface="Segoe UI"/>
                <a:cs typeface="Arabic Typesetting"/>
              </a:rPr>
              <a:t>, in Najd: </a:t>
            </a:r>
            <a:r>
              <a:rPr sz="2700" b="0" i="0" dirty="0" err="1">
                <a:solidFill>
                  <a:srgbClr val="1C2321"/>
                </a:solidFill>
                <a:latin typeface="Segoe UI"/>
                <a:cs typeface="Arabic Typesetting"/>
              </a:rPr>
              <a:t>Ṭulayḥa</a:t>
            </a:r>
            <a:r>
              <a:rPr sz="2700" b="0" i="0" dirty="0">
                <a:solidFill>
                  <a:srgbClr val="1C2321"/>
                </a:solidFill>
                <a:latin typeface="Segoe UI"/>
                <a:cs typeface="Arabic Typesetting"/>
              </a:rPr>
              <a:t> </a:t>
            </a:r>
            <a:r>
              <a:rPr lang="en-US" sz="2700" b="0" i="0" dirty="0">
                <a:solidFill>
                  <a:srgbClr val="1C2321"/>
                </a:solidFill>
                <a:latin typeface="Segoe UI"/>
                <a:cs typeface="Arabic Typesetting"/>
              </a:rPr>
              <a:t>al Asadi defeated and flees</a:t>
            </a:r>
            <a:endParaRPr sz="2700" b="0" i="0" dirty="0">
              <a:solidFill>
                <a:srgbClr val="1C2321"/>
              </a:solidFill>
              <a:latin typeface="Segoe UI"/>
              <a:cs typeface="Arabic Typesetting"/>
            </a:endParaRPr>
          </a:p>
        </p:txBody>
      </p:sp>
      <p:sp>
        <p:nvSpPr>
          <p:cNvPr id="10" name="card1"/>
          <p:cNvSpPr/>
          <p:nvPr/>
        </p:nvSpPr>
        <p:spPr>
          <a:xfrm>
            <a:off x="4332122"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15002" y="1700784"/>
            <a:ext cx="3161690" cy="556691"/>
          </a:xfrm>
          <a:prstGeom prst="rect">
            <a:avLst/>
          </a:prstGeom>
          <a:noFill/>
        </p:spPr>
        <p:txBody>
          <a:bodyPr wrap="square" lIns="36576" tIns="0" rIns="36576" bIns="0" anchor="t">
            <a:spAutoFit/>
          </a:bodyPr>
          <a:lstStyle/>
          <a:p>
            <a:pPr>
              <a:lnSpc>
                <a:spcPct val="125000"/>
              </a:lnSpc>
            </a:pPr>
            <a:r>
              <a:rPr lang="en-US" sz="3200" b="1" dirty="0">
                <a:solidFill>
                  <a:srgbClr val="0A322E"/>
                </a:solidFill>
                <a:latin typeface="Georgia"/>
                <a:cs typeface="Georgia"/>
              </a:rPr>
              <a:t>Session</a:t>
            </a:r>
            <a:r>
              <a:rPr sz="3200" b="1" i="0" dirty="0">
                <a:solidFill>
                  <a:srgbClr val="0A322E"/>
                </a:solidFill>
                <a:latin typeface="Georgia"/>
                <a:cs typeface="Georgia"/>
              </a:rPr>
              <a:t> 3</a:t>
            </a:r>
          </a:p>
        </p:txBody>
      </p:sp>
      <p:sp>
        <p:nvSpPr>
          <p:cNvPr id="13" name="TextBox 12"/>
          <p:cNvSpPr txBox="1"/>
          <p:nvPr/>
        </p:nvSpPr>
        <p:spPr>
          <a:xfrm>
            <a:off x="4515002" y="2807208"/>
            <a:ext cx="3161690" cy="2683748"/>
          </a:xfrm>
          <a:prstGeom prst="rect">
            <a:avLst/>
          </a:prstGeom>
          <a:noFill/>
        </p:spPr>
        <p:txBody>
          <a:bodyPr wrap="square" lIns="36576" tIns="0" rIns="36576" bIns="0" anchor="t">
            <a:spAutoFit/>
          </a:bodyPr>
          <a:lstStyle/>
          <a:p>
            <a:pPr algn="l">
              <a:lnSpc>
                <a:spcPct val="132000"/>
              </a:lnSpc>
            </a:pPr>
            <a:r>
              <a:rPr sz="2700" b="0" i="0" dirty="0">
                <a:solidFill>
                  <a:srgbClr val="1C2321"/>
                </a:solidFill>
                <a:latin typeface="Segoe UI"/>
                <a:cs typeface="Segoe UI"/>
              </a:rPr>
              <a:t>The south: al-Aswad killed in </a:t>
            </a:r>
            <a:r>
              <a:rPr sz="2700" b="0" i="0" dirty="0" err="1">
                <a:solidFill>
                  <a:srgbClr val="1C2321"/>
                </a:solidFill>
                <a:latin typeface="Segoe UI"/>
                <a:cs typeface="Segoe UI"/>
              </a:rPr>
              <a:t>Ṣanʿāʾ</a:t>
            </a:r>
            <a:r>
              <a:rPr sz="2700" b="0" i="0" dirty="0">
                <a:solidFill>
                  <a:srgbClr val="1C2321"/>
                </a:solidFill>
                <a:latin typeface="Segoe UI"/>
                <a:cs typeface="Segoe UI"/>
              </a:rPr>
              <a:t>, the </a:t>
            </a:r>
            <a:r>
              <a:rPr sz="2700" b="1" i="0" dirty="0">
                <a:solidFill>
                  <a:srgbClr val="1C2321"/>
                </a:solidFill>
                <a:latin typeface="Segoe UI"/>
                <a:cs typeface="Segoe UI"/>
              </a:rPr>
              <a:t>Yemen</a:t>
            </a:r>
            <a:r>
              <a:rPr sz="2700" b="0" i="0" dirty="0">
                <a:solidFill>
                  <a:srgbClr val="1C2321"/>
                </a:solidFill>
                <a:latin typeface="Segoe UI"/>
                <a:cs typeface="Segoe UI"/>
              </a:rPr>
              <a:t> restored; </a:t>
            </a:r>
            <a:r>
              <a:rPr sz="2700" b="1" i="0" dirty="0" err="1">
                <a:solidFill>
                  <a:srgbClr val="1C2321"/>
                </a:solidFill>
                <a:latin typeface="Segoe UI"/>
                <a:cs typeface="Segoe UI"/>
              </a:rPr>
              <a:t>Ḥaḍramawt</a:t>
            </a:r>
            <a:r>
              <a:rPr sz="2700" b="0" i="0" dirty="0">
                <a:solidFill>
                  <a:srgbClr val="1C2321"/>
                </a:solidFill>
                <a:latin typeface="Segoe UI"/>
                <a:cs typeface="Segoe UI"/>
              </a:rPr>
              <a:t> still to come</a:t>
            </a:r>
          </a:p>
        </p:txBody>
      </p:sp>
      <p:sp>
        <p:nvSpPr>
          <p:cNvPr id="14" name="card2"/>
          <p:cNvSpPr/>
          <p:nvPr/>
        </p:nvSpPr>
        <p:spPr>
          <a:xfrm>
            <a:off x="8097316"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80196" y="1700784"/>
            <a:ext cx="3161690" cy="1097280"/>
          </a:xfrm>
          <a:prstGeom prst="rect">
            <a:avLst/>
          </a:prstGeom>
          <a:noFill/>
        </p:spPr>
        <p:txBody>
          <a:bodyPr wrap="square" lIns="36576" tIns="0" rIns="36576" bIns="0" anchor="t">
            <a:spAutoFit/>
          </a:bodyPr>
          <a:lstStyle/>
          <a:p>
            <a:pPr algn="l">
              <a:lnSpc>
                <a:spcPct val="125000"/>
              </a:lnSpc>
            </a:pPr>
            <a:r>
              <a:rPr sz="3200" b="1" i="0">
                <a:solidFill>
                  <a:srgbClr val="0A322E"/>
                </a:solidFill>
                <a:latin typeface="Georgia"/>
                <a:cs typeface="Georgia"/>
              </a:rPr>
              <a:t>Tonight</a:t>
            </a:r>
          </a:p>
        </p:txBody>
      </p:sp>
      <p:sp>
        <p:nvSpPr>
          <p:cNvPr id="17" name="TextBox 16"/>
          <p:cNvSpPr txBox="1"/>
          <p:nvPr/>
        </p:nvSpPr>
        <p:spPr>
          <a:xfrm>
            <a:off x="8280196" y="2807208"/>
            <a:ext cx="3161690" cy="2683748"/>
          </a:xfrm>
          <a:prstGeom prst="rect">
            <a:avLst/>
          </a:prstGeom>
          <a:noFill/>
        </p:spPr>
        <p:txBody>
          <a:bodyPr wrap="square" lIns="36576" tIns="0" rIns="36576" bIns="0" anchor="t">
            <a:spAutoFit/>
          </a:bodyPr>
          <a:lstStyle/>
          <a:p>
            <a:pPr algn="l">
              <a:lnSpc>
                <a:spcPct val="132000"/>
              </a:lnSpc>
            </a:pPr>
            <a:r>
              <a:rPr sz="2700" b="0" i="0" dirty="0">
                <a:solidFill>
                  <a:srgbClr val="1C2321"/>
                </a:solidFill>
                <a:latin typeface="Segoe UI"/>
                <a:cs typeface="Segoe UI"/>
              </a:rPr>
              <a:t>Two claimants still standing in the north: </a:t>
            </a:r>
            <a:r>
              <a:rPr sz="2700" b="1" i="0" dirty="0" err="1">
                <a:solidFill>
                  <a:srgbClr val="1C2321"/>
                </a:solidFill>
                <a:latin typeface="Segoe UI"/>
                <a:cs typeface="Segoe UI"/>
              </a:rPr>
              <a:t>Musaylima</a:t>
            </a:r>
            <a:r>
              <a:rPr sz="2700" b="0" i="0" dirty="0">
                <a:solidFill>
                  <a:srgbClr val="1C2321"/>
                </a:solidFill>
                <a:latin typeface="Segoe UI"/>
                <a:cs typeface="Segoe UI"/>
              </a:rPr>
              <a:t> at al-</a:t>
            </a:r>
            <a:r>
              <a:rPr sz="2700" b="0" i="0" dirty="0" err="1">
                <a:solidFill>
                  <a:srgbClr val="1C2321"/>
                </a:solidFill>
                <a:latin typeface="Segoe UI"/>
                <a:cs typeface="Segoe UI"/>
              </a:rPr>
              <a:t>Yamāma</a:t>
            </a:r>
            <a:r>
              <a:rPr sz="2700" b="0" i="0" dirty="0">
                <a:solidFill>
                  <a:srgbClr val="1C2321"/>
                </a:solidFill>
                <a:latin typeface="Segoe UI"/>
                <a:cs typeface="Segoe UI"/>
              </a:rPr>
              <a:t>, and </a:t>
            </a:r>
            <a:r>
              <a:rPr sz="2700" b="1" i="0" dirty="0" err="1">
                <a:solidFill>
                  <a:srgbClr val="1C2321"/>
                </a:solidFill>
                <a:latin typeface="Segoe UI"/>
                <a:cs typeface="Segoe UI"/>
              </a:rPr>
              <a:t>Sajāḥ</a:t>
            </a:r>
            <a:endParaRPr sz="2700" b="1" i="0" dirty="0">
              <a:solidFill>
                <a:srgbClr val="1C2321"/>
              </a:solidFill>
              <a:latin typeface="Segoe UI"/>
              <a:cs typeface="Segoe U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End of 10 AH</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Musaylima's letter, and the reply</a:t>
            </a:r>
          </a:p>
        </p:txBody>
      </p:sp>
      <p:sp>
        <p:nvSpPr>
          <p:cNvPr id="6" name="TextBox 5"/>
          <p:cNvSpPr txBox="1"/>
          <p:nvPr/>
        </p:nvSpPr>
        <p:spPr>
          <a:xfrm>
            <a:off x="566928" y="1634490"/>
            <a:ext cx="11057839" cy="2331720"/>
          </a:xfrm>
          <a:prstGeom prst="rect">
            <a:avLst/>
          </a:prstGeom>
          <a:noFill/>
        </p:spPr>
        <p:txBody>
          <a:bodyPr wrap="square" lIns="36576" tIns="0" rIns="36576" bIns="0" anchor="t">
            <a:spAutoFit/>
          </a:bodyPr>
          <a:lstStyle/>
          <a:p>
            <a:pPr algn="r" rtl="1">
              <a:lnSpc>
                <a:spcPct val="150000"/>
              </a:lnSpc>
            </a:pPr>
            <a:r>
              <a:rPr lang="ar-SA" sz="5400" b="0" i="0">
                <a:solidFill>
                  <a:srgbClr val="0A322E"/>
                </a:solidFill>
                <a:latin typeface="Traditional Arabic"/>
                <a:cs typeface="Traditional Arabic"/>
              </a:rPr>
              <a:t>فإنَّ الأرضَ لله يُورِثُها منْ يَشاءُ من عباده والعاقبة للمتقين</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4051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…the earth belongs to Allah; He gives it in inheritance to whomever He wills of His servants; and the outcome is for those who fear Him.</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5, p. 24</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Traditional Arabic"/>
              </a:rPr>
              <a:t>in the Prophet's ﷺ lifetime</a:t>
            </a:r>
          </a:p>
        </p:txBody>
      </p:sp>
      <p:sp>
        <p:nvSpPr>
          <p:cNvPr id="5" name="TextBox 4"/>
          <p:cNvSpPr txBox="1"/>
          <p:nvPr/>
        </p:nvSpPr>
        <p:spPr>
          <a:xfrm>
            <a:off x="566928" y="402336"/>
            <a:ext cx="11057839" cy="654282"/>
          </a:xfrm>
          <a:prstGeom prst="rect">
            <a:avLst/>
          </a:prstGeom>
          <a:noFill/>
        </p:spPr>
        <p:txBody>
          <a:bodyPr wrap="square" lIns="36576" tIns="0" rIns="36576" bIns="0" anchor="t">
            <a:spAutoFit/>
          </a:bodyPr>
          <a:lstStyle/>
          <a:p>
            <a:pPr algn="l">
              <a:lnSpc>
                <a:spcPct val="116000"/>
              </a:lnSpc>
            </a:pPr>
            <a:r>
              <a:rPr lang="en-US" sz="4000" b="1" i="0" dirty="0">
                <a:solidFill>
                  <a:srgbClr val="FAF7F0"/>
                </a:solidFill>
                <a:latin typeface="Georgia"/>
                <a:cs typeface="Georgia"/>
              </a:rPr>
              <a:t>Earlier: </a:t>
            </a:r>
            <a:r>
              <a:rPr sz="4000" b="1" i="0" dirty="0" err="1">
                <a:solidFill>
                  <a:srgbClr val="FAF7F0"/>
                </a:solidFill>
                <a:latin typeface="Georgia"/>
                <a:cs typeface="Georgia"/>
              </a:rPr>
              <a:t>Musaylima</a:t>
            </a:r>
            <a:r>
              <a:rPr sz="4000" b="1" i="0" dirty="0">
                <a:solidFill>
                  <a:srgbClr val="FAF7F0"/>
                </a:solidFill>
                <a:latin typeface="Georgia"/>
                <a:cs typeface="Georgia"/>
              </a:rPr>
              <a:t> at Medina</a:t>
            </a:r>
          </a:p>
        </p:txBody>
      </p:sp>
      <p:sp>
        <p:nvSpPr>
          <p:cNvPr id="6" name="TextBox 5"/>
          <p:cNvSpPr txBox="1"/>
          <p:nvPr/>
        </p:nvSpPr>
        <p:spPr>
          <a:xfrm>
            <a:off x="566928" y="2396490"/>
            <a:ext cx="11057839" cy="1303020"/>
          </a:xfrm>
          <a:prstGeom prst="rect">
            <a:avLst/>
          </a:prstGeom>
          <a:noFill/>
        </p:spPr>
        <p:txBody>
          <a:bodyPr wrap="square" lIns="36576" tIns="0" rIns="36576" bIns="0" anchor="t">
            <a:spAutoFit/>
          </a:bodyPr>
          <a:lstStyle/>
          <a:p>
            <a:pPr algn="r" rtl="1">
              <a:lnSpc>
                <a:spcPct val="150000"/>
              </a:lnSpc>
            </a:pPr>
            <a:r>
              <a:rPr lang="ar-SA" sz="5400" b="0" i="0">
                <a:solidFill>
                  <a:srgbClr val="0A322E"/>
                </a:solidFill>
                <a:latin typeface="Traditional Arabic"/>
                <a:cs typeface="Traditional Arabic"/>
              </a:rPr>
              <a:t>لو سألتني هذه القطعة ما أعطيتكها</a:t>
            </a:r>
          </a:p>
        </p:txBody>
      </p:sp>
      <p:sp>
        <p:nvSpPr>
          <p:cNvPr id="7" name="Rectangle 6"/>
          <p:cNvSpPr/>
          <p:nvPr/>
        </p:nvSpPr>
        <p:spPr>
          <a:xfrm>
            <a:off x="566928" y="38275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138422"/>
            <a:ext cx="11057839" cy="1136903"/>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If you asked me for this piece, I would not give it to you…</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5, p. 21 — Sahih al-Bukhari 4373</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44BBE4A-370A-47FE-62B4-FE100E889086}"/>
              </a:ext>
            </a:extLst>
          </p:cNvPr>
          <p:cNvPicPr>
            <a:picLocks noChangeAspect="1"/>
          </p:cNvPicPr>
          <p:nvPr/>
        </p:nvPicPr>
        <p:blipFill>
          <a:blip r:embed="rId2"/>
          <a:stretch>
            <a:fillRect/>
          </a:stretch>
        </p:blipFill>
        <p:spPr>
          <a:xfrm>
            <a:off x="0" y="712256"/>
            <a:ext cx="12192000" cy="5433488"/>
          </a:xfrm>
          <a:prstGeom prst="rect">
            <a:avLst/>
          </a:prstGeom>
        </p:spPr>
      </p:pic>
    </p:spTree>
    <p:extLst>
      <p:ext uri="{BB962C8B-B14F-4D97-AF65-F5344CB8AC3E}">
        <p14:creationId xmlns:p14="http://schemas.microsoft.com/office/powerpoint/2010/main" val="6381870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11–12 AH, al-Yamāma</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"A liar of Rabīʿa"</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فقال أشهد أنَّك كذّابٌ وأن محمدًا صادقٌ، ولكن كذّابَ رَبيعة أحبُّ إلينا من صادقِ مُضَر</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Traditional Arabic"/>
              </a:rPr>
              <a:t>He said: I bear witness that you are a liar and that Muḥammad ﷺ is truthful — but a liar of Rabīʿa is dearer to us than a truthful man of Muḍar.</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7, p. 37</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82880"/>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Sajāḥ comes down from the north</a:t>
            </a:r>
          </a:p>
        </p:txBody>
      </p:sp>
      <p:pic>
        <p:nvPicPr>
          <p:cNvPr id="5" name="Picture 4" descr="s04-01-sajah-step-03.jpg"/>
          <p:cNvPicPr>
            <a:picLocks noChangeAspect="1"/>
          </p:cNvPicPr>
          <p:nvPr/>
        </p:nvPicPr>
        <p:blipFill>
          <a:blip r:embed="rId3"/>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819479" y="1499616"/>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al-Jazīra</a:t>
            </a:r>
          </a:p>
        </p:txBody>
      </p:sp>
      <p:sp>
        <p:nvSpPr>
          <p:cNvPr id="8" name="TextBox 7"/>
          <p:cNvSpPr txBox="1"/>
          <p:nvPr/>
        </p:nvSpPr>
        <p:spPr>
          <a:xfrm>
            <a:off x="8819479" y="1920240"/>
            <a:ext cx="2805288" cy="1943100"/>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where she came from</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819479" y="3863340"/>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al-Yamāma</a:t>
            </a:r>
          </a:p>
        </p:txBody>
      </p:sp>
      <p:sp>
        <p:nvSpPr>
          <p:cNvPr id="11" name="TextBox 10"/>
          <p:cNvSpPr txBox="1"/>
          <p:nvPr/>
        </p:nvSpPr>
        <p:spPr>
          <a:xfrm>
            <a:off x="8819479" y="4283964"/>
            <a:ext cx="2805288" cy="1943100"/>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where she turned back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20031F0-87DC-076F-56C6-2DEF111BF12E}"/>
              </a:ext>
            </a:extLst>
          </p:cNvPr>
          <p:cNvPicPr>
            <a:picLocks noChangeAspect="1"/>
          </p:cNvPicPr>
          <p:nvPr/>
        </p:nvPicPr>
        <p:blipFill>
          <a:blip r:embed="rId2"/>
          <a:stretch>
            <a:fillRect/>
          </a:stretch>
        </p:blipFill>
        <p:spPr>
          <a:xfrm>
            <a:off x="0" y="531575"/>
            <a:ext cx="12192000" cy="5794850"/>
          </a:xfrm>
          <a:prstGeom prst="rect">
            <a:avLst/>
          </a:prstGeom>
        </p:spPr>
      </p:pic>
    </p:spTree>
    <p:extLst>
      <p:ext uri="{BB962C8B-B14F-4D97-AF65-F5344CB8AC3E}">
        <p14:creationId xmlns:p14="http://schemas.microsoft.com/office/powerpoint/2010/main" val="420793449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Sajāḥ — who she actually was</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إذ أقبلت سجاح … التغلبية من الجزيرة، وهي من نصارى العرب، وقد ادَّعتِ النبوَّة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…Sajāḥ … al-Taghlibiyya came forward from al-Jazīra — and she was of the Christians of the Arabs — having claimed prophethood.</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7, p. 28</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 AH, and afterwards</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What her claim was worth</a:t>
            </a:r>
          </a:p>
        </p:txBody>
      </p:sp>
      <p:sp>
        <p:nvSpPr>
          <p:cNvPr id="6" name="TextBox 5"/>
          <p:cNvSpPr txBox="1"/>
          <p:nvPr/>
        </p:nvSpPr>
        <p:spPr>
          <a:xfrm>
            <a:off x="566928" y="1882140"/>
            <a:ext cx="11057839" cy="2331720"/>
          </a:xfrm>
          <a:prstGeom prst="rect">
            <a:avLst/>
          </a:prstGeom>
          <a:noFill/>
        </p:spPr>
        <p:txBody>
          <a:bodyPr wrap="square" lIns="36576" tIns="0" rIns="36576" bIns="0" anchor="t">
            <a:spAutoFit/>
          </a:bodyPr>
          <a:lstStyle/>
          <a:p>
            <a:pPr algn="r" rtl="1">
              <a:lnSpc>
                <a:spcPct val="150000"/>
              </a:lnSpc>
            </a:pPr>
            <a:r>
              <a:rPr lang="ar-SA" sz="5400" b="0" i="0">
                <a:solidFill>
                  <a:srgbClr val="0A322E"/>
                </a:solidFill>
                <a:latin typeface="Traditional Arabic"/>
                <a:cs typeface="Traditional Arabic"/>
              </a:rPr>
              <a:t>فكرَّتْ راجعةً إلى الجزيرة بعدما قبضَتْ من مسيلمة نصفَ خراجِ أرضِهِ</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652772"/>
            <a:ext cx="11057839" cy="1136903"/>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…she went back to al-Jazīra after she had taken from Musaylima half the kharāj of his land…</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7, p. 30</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82880"/>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al-Yamāma before the army came</a:t>
            </a:r>
          </a:p>
        </p:txBody>
      </p:sp>
      <p:pic>
        <p:nvPicPr>
          <p:cNvPr id="5" name="Picture 4" descr="s04-02-al-yamama-before-step-02.jpg"/>
          <p:cNvPicPr>
            <a:picLocks noChangeAspect="1"/>
          </p:cNvPicPr>
          <p:nvPr/>
        </p:nvPicPr>
        <p:blipFill>
          <a:blip r:embed="rId3"/>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819479" y="1499616"/>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Ḥajr</a:t>
            </a:r>
          </a:p>
        </p:txBody>
      </p:sp>
      <p:sp>
        <p:nvSpPr>
          <p:cNvPr id="8" name="TextBox 7"/>
          <p:cNvSpPr txBox="1"/>
          <p:nvPr/>
        </p:nvSpPr>
        <p:spPr>
          <a:xfrm>
            <a:off x="8819479" y="1920240"/>
            <a:ext cx="2805288" cy="1943100"/>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the town</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819479" y="3863340"/>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Arabic Typesetting"/>
              </a:rPr>
              <a:t>Thumāma ؓ</a:t>
            </a:r>
          </a:p>
        </p:txBody>
      </p:sp>
      <p:sp>
        <p:nvSpPr>
          <p:cNvPr id="11" name="TextBox 10"/>
          <p:cNvSpPr txBox="1"/>
          <p:nvPr/>
        </p:nvSpPr>
        <p:spPr>
          <a:xfrm>
            <a:off x="8819479" y="4283964"/>
            <a:ext cx="2805288" cy="1943100"/>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of Banū Ḥanīfa itself</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Arabic Typesetting"/>
              </a:rPr>
              <a:t>11 AH, before Khālid ؓ arrived</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There were Muslims inside already</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فَخَافَ إِنْ هُوَ شُغِلَ بِهَا أَنْ يَغْلِبَ ثُمَامَةُ وَشُرَحْبِيلُ بْنُ حَسَنَةَ وَالْقَبَائِلُ التى حَوْلَهُمْ عَلَى حَجْرٍ، وَهِيَ الْيَمَامَةُ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"He feared that if he were occupied with her, Thumāma and Shuraḥbīl b. Ḥasana and the tribes around them would overcome Ḥajr — which is al-Yamāma."</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al-Kamil, vol. 2, p. 210</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2788920"/>
            <a:ext cx="10728655" cy="731520"/>
          </a:xfrm>
          <a:prstGeom prst="rect">
            <a:avLst/>
          </a:prstGeom>
          <a:noFill/>
        </p:spPr>
        <p:txBody>
          <a:bodyPr wrap="square" lIns="36576" tIns="0" rIns="36576" bIns="0" anchor="ctr">
            <a:spAutoFit/>
          </a:bodyPr>
          <a:lstStyle/>
          <a:p>
            <a:pPr algn="l">
              <a:lnSpc>
                <a:spcPct val="125000"/>
              </a:lnSpc>
            </a:pPr>
            <a:r>
              <a:rPr sz="4600" b="1" i="0">
                <a:solidFill>
                  <a:srgbClr val="0A322E"/>
                </a:solidFill>
                <a:latin typeface="Georgia"/>
                <a:cs typeface="Georgia"/>
              </a:rPr>
              <a:t>Part II</a:t>
            </a:r>
          </a:p>
        </p:txBody>
      </p:sp>
      <p:sp>
        <p:nvSpPr>
          <p:cNvPr id="5" name="TextBox 4"/>
          <p:cNvSpPr txBox="1"/>
          <p:nvPr/>
        </p:nvSpPr>
        <p:spPr>
          <a:xfrm>
            <a:off x="868680" y="3520440"/>
            <a:ext cx="10728655" cy="548640"/>
          </a:xfrm>
          <a:prstGeom prst="rect">
            <a:avLst/>
          </a:prstGeom>
          <a:noFill/>
        </p:spPr>
        <p:txBody>
          <a:bodyPr wrap="square" lIns="36576" tIns="0" rIns="36576" bIns="0" anchor="t">
            <a:spAutoFit/>
          </a:bodyPr>
          <a:lstStyle/>
          <a:p>
            <a:pPr algn="l">
              <a:lnSpc>
                <a:spcPct val="125000"/>
              </a:lnSpc>
            </a:pPr>
            <a:r>
              <a:rPr sz="2800" b="0" i="0">
                <a:solidFill>
                  <a:srgbClr val="5A6862"/>
                </a:solidFill>
                <a:latin typeface="Segoe UI"/>
                <a:cs typeface="Segoe UI"/>
              </a:rPr>
              <a:t>al-Buṭāḥ, and the reckoning at Medina (11 AH)</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9196E4C-6CA9-3B58-CF5B-6A3D77732732}"/>
              </a:ext>
            </a:extLst>
          </p:cNvPr>
          <p:cNvPicPr>
            <a:picLocks noChangeAspect="1"/>
          </p:cNvPicPr>
          <p:nvPr/>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57176833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After Buzākha</a:t>
            </a:r>
          </a:p>
        </p:txBody>
      </p:sp>
      <p:sp>
        <p:nvSpPr>
          <p:cNvPr id="6" name="card0"/>
          <p:cNvSpPr/>
          <p:nvPr/>
        </p:nvSpPr>
        <p:spPr>
          <a:xfrm>
            <a:off x="566928"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49808" y="1700784"/>
            <a:ext cx="3161690" cy="1097280"/>
          </a:xfrm>
          <a:prstGeom prst="rect">
            <a:avLst/>
          </a:prstGeom>
          <a:noFill/>
        </p:spPr>
        <p:txBody>
          <a:bodyPr wrap="square" lIns="36576" tIns="0" rIns="36576" bIns="0" anchor="t">
            <a:spAutoFit/>
          </a:bodyPr>
          <a:lstStyle/>
          <a:p>
            <a:pPr algn="l">
              <a:lnSpc>
                <a:spcPct val="125000"/>
              </a:lnSpc>
            </a:pPr>
            <a:r>
              <a:rPr sz="3200" b="1" i="0">
                <a:solidFill>
                  <a:srgbClr val="0A322E"/>
                </a:solidFill>
                <a:latin typeface="Georgia"/>
                <a:cs typeface="Georgia"/>
              </a:rPr>
              <a:t>The orders</a:t>
            </a:r>
          </a:p>
        </p:txBody>
      </p:sp>
      <p:sp>
        <p:nvSpPr>
          <p:cNvPr id="9" name="TextBox 8"/>
          <p:cNvSpPr txBox="1"/>
          <p:nvPr/>
        </p:nvSpPr>
        <p:spPr>
          <a:xfrm>
            <a:off x="749808" y="2807208"/>
            <a:ext cx="3161690" cy="2135265"/>
          </a:xfrm>
          <a:prstGeom prst="rect">
            <a:avLst/>
          </a:prstGeom>
          <a:noFill/>
        </p:spPr>
        <p:txBody>
          <a:bodyPr wrap="square" lIns="36576" tIns="0" rIns="36576" bIns="0" anchor="t">
            <a:spAutoFit/>
          </a:bodyPr>
          <a:lstStyle/>
          <a:p>
            <a:pPr algn="l">
              <a:lnSpc>
                <a:spcPct val="132000"/>
              </a:lnSpc>
            </a:pPr>
            <a:r>
              <a:rPr sz="2700" b="0" i="0" dirty="0">
                <a:solidFill>
                  <a:srgbClr val="1C2321"/>
                </a:solidFill>
                <a:latin typeface="Segoe UI"/>
                <a:cs typeface="Arabic Typesetting"/>
              </a:rPr>
              <a:t>Tied at </a:t>
            </a:r>
            <a:r>
              <a:rPr sz="2700" b="1" i="0" dirty="0" err="1">
                <a:solidFill>
                  <a:srgbClr val="1C2321"/>
                </a:solidFill>
                <a:latin typeface="Segoe UI"/>
                <a:cs typeface="Arabic Typesetting"/>
              </a:rPr>
              <a:t>Dhū</a:t>
            </a:r>
            <a:r>
              <a:rPr sz="2700" b="1" i="0" dirty="0">
                <a:solidFill>
                  <a:srgbClr val="1C2321"/>
                </a:solidFill>
                <a:latin typeface="Segoe UI"/>
                <a:cs typeface="Arabic Typesetting"/>
              </a:rPr>
              <a:t> al-</a:t>
            </a:r>
            <a:r>
              <a:rPr sz="2700" b="1" i="0" dirty="0" err="1">
                <a:solidFill>
                  <a:srgbClr val="1C2321"/>
                </a:solidFill>
                <a:latin typeface="Segoe UI"/>
                <a:cs typeface="Arabic Typesetting"/>
              </a:rPr>
              <a:t>Qaṣṣa</a:t>
            </a:r>
            <a:r>
              <a:rPr sz="2700" b="0" i="0" dirty="0">
                <a:solidFill>
                  <a:srgbClr val="1C2321"/>
                </a:solidFill>
                <a:latin typeface="Segoe UI"/>
                <a:cs typeface="Arabic Typesetting"/>
              </a:rPr>
              <a:t>: </a:t>
            </a:r>
            <a:r>
              <a:rPr sz="2700" b="0" i="0" dirty="0" err="1">
                <a:solidFill>
                  <a:srgbClr val="1C2321"/>
                </a:solidFill>
                <a:latin typeface="Segoe UI"/>
                <a:cs typeface="Arabic Typesetting"/>
              </a:rPr>
              <a:t>Ṭulayḥa</a:t>
            </a:r>
            <a:r>
              <a:rPr sz="2700" b="0" i="0" dirty="0">
                <a:solidFill>
                  <a:srgbClr val="1C2321"/>
                </a:solidFill>
                <a:latin typeface="Segoe UI"/>
                <a:cs typeface="Arabic Typesetting"/>
              </a:rPr>
              <a:t> first; when done, </a:t>
            </a:r>
            <a:r>
              <a:rPr sz="2700" b="0" i="0" dirty="0" err="1">
                <a:solidFill>
                  <a:srgbClr val="1C2321"/>
                </a:solidFill>
                <a:latin typeface="Segoe UI"/>
                <a:cs typeface="Arabic Typesetting"/>
              </a:rPr>
              <a:t>Mālik</a:t>
            </a:r>
            <a:r>
              <a:rPr sz="2700" b="0" i="0" dirty="0">
                <a:solidFill>
                  <a:srgbClr val="1C2321"/>
                </a:solidFill>
                <a:latin typeface="Segoe UI"/>
                <a:cs typeface="Arabic Typesetting"/>
              </a:rPr>
              <a:t> b. </a:t>
            </a:r>
            <a:r>
              <a:rPr sz="2700" b="0" i="0" dirty="0" err="1">
                <a:solidFill>
                  <a:srgbClr val="1C2321"/>
                </a:solidFill>
                <a:latin typeface="Segoe UI"/>
                <a:cs typeface="Arabic Typesetting"/>
              </a:rPr>
              <a:t>Nuwayra</a:t>
            </a:r>
            <a:r>
              <a:rPr lang="en-US" sz="2700" dirty="0">
                <a:solidFill>
                  <a:srgbClr val="1C2321"/>
                </a:solidFill>
                <a:latin typeface="Segoe UI"/>
                <a:cs typeface="Arabic Typesetting"/>
              </a:rPr>
              <a:t> </a:t>
            </a:r>
            <a:r>
              <a:rPr sz="2700" b="0" i="0" dirty="0">
                <a:solidFill>
                  <a:srgbClr val="1C2321"/>
                </a:solidFill>
                <a:latin typeface="Segoe UI"/>
                <a:cs typeface="Arabic Typesetting"/>
              </a:rPr>
              <a:t>at al-</a:t>
            </a:r>
            <a:r>
              <a:rPr sz="2700" b="0" i="0" dirty="0" err="1">
                <a:solidFill>
                  <a:srgbClr val="1C2321"/>
                </a:solidFill>
                <a:latin typeface="Segoe UI"/>
                <a:cs typeface="Arabic Typesetting"/>
              </a:rPr>
              <a:t>Buṭāḥ</a:t>
            </a:r>
            <a:endParaRPr sz="2700" b="0" i="0" dirty="0">
              <a:solidFill>
                <a:srgbClr val="1C2321"/>
              </a:solidFill>
              <a:latin typeface="Segoe UI"/>
              <a:cs typeface="Arabic Typesetting"/>
            </a:endParaRPr>
          </a:p>
        </p:txBody>
      </p:sp>
      <p:sp>
        <p:nvSpPr>
          <p:cNvPr id="10" name="card1"/>
          <p:cNvSpPr/>
          <p:nvPr/>
        </p:nvSpPr>
        <p:spPr>
          <a:xfrm>
            <a:off x="4332122"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15002" y="1700784"/>
            <a:ext cx="3161690" cy="1097280"/>
          </a:xfrm>
          <a:prstGeom prst="rect">
            <a:avLst/>
          </a:prstGeom>
          <a:noFill/>
        </p:spPr>
        <p:txBody>
          <a:bodyPr wrap="square" lIns="36576" tIns="0" rIns="36576" bIns="0" anchor="t">
            <a:spAutoFit/>
          </a:bodyPr>
          <a:lstStyle/>
          <a:p>
            <a:pPr algn="l">
              <a:lnSpc>
                <a:spcPct val="125000"/>
              </a:lnSpc>
            </a:pPr>
            <a:r>
              <a:rPr sz="3200" b="1" i="0">
                <a:solidFill>
                  <a:srgbClr val="0A322E"/>
                </a:solidFill>
                <a:latin typeface="Georgia"/>
                <a:cs typeface="Georgia"/>
              </a:rPr>
              <a:t>Buzākha</a:t>
            </a:r>
          </a:p>
        </p:txBody>
      </p:sp>
      <p:sp>
        <p:nvSpPr>
          <p:cNvPr id="13" name="TextBox 12"/>
          <p:cNvSpPr txBox="1"/>
          <p:nvPr/>
        </p:nvSpPr>
        <p:spPr>
          <a:xfrm>
            <a:off x="4515002" y="2807208"/>
            <a:ext cx="3161690" cy="2135265"/>
          </a:xfrm>
          <a:prstGeom prst="rect">
            <a:avLst/>
          </a:prstGeom>
          <a:noFill/>
        </p:spPr>
        <p:txBody>
          <a:bodyPr wrap="square" lIns="36576" tIns="0" rIns="36576" bIns="0" anchor="t">
            <a:spAutoFit/>
          </a:bodyPr>
          <a:lstStyle/>
          <a:p>
            <a:pPr algn="l">
              <a:lnSpc>
                <a:spcPct val="132000"/>
              </a:lnSpc>
            </a:pPr>
            <a:r>
              <a:rPr sz="2700" b="0" i="0" dirty="0">
                <a:solidFill>
                  <a:srgbClr val="1C2321"/>
                </a:solidFill>
                <a:latin typeface="Segoe UI"/>
                <a:cs typeface="Segoe UI"/>
              </a:rPr>
              <a:t>Done: </a:t>
            </a:r>
            <a:r>
              <a:rPr sz="2700" b="0" i="0" dirty="0" err="1">
                <a:solidFill>
                  <a:srgbClr val="1C2321"/>
                </a:solidFill>
                <a:latin typeface="Segoe UI"/>
                <a:cs typeface="Segoe UI"/>
              </a:rPr>
              <a:t>Ṭulayḥa</a:t>
            </a:r>
            <a:r>
              <a:rPr sz="2700" b="0" i="0" dirty="0">
                <a:solidFill>
                  <a:srgbClr val="1C2321"/>
                </a:solidFill>
                <a:latin typeface="Segoe UI"/>
                <a:cs typeface="Segoe UI"/>
              </a:rPr>
              <a:t> </a:t>
            </a:r>
            <a:r>
              <a:rPr lang="en-US" sz="2700" b="0" i="0" dirty="0">
                <a:solidFill>
                  <a:srgbClr val="1C2321"/>
                </a:solidFill>
                <a:latin typeface="Segoe UI"/>
                <a:cs typeface="Segoe UI"/>
              </a:rPr>
              <a:t>al Asadi flees</a:t>
            </a:r>
            <a:r>
              <a:rPr sz="2700" b="0" i="0" dirty="0">
                <a:solidFill>
                  <a:srgbClr val="1C2321"/>
                </a:solidFill>
                <a:latin typeface="Segoe UI"/>
                <a:cs typeface="Segoe UI"/>
              </a:rPr>
              <a:t>, and the tribes around him came back</a:t>
            </a:r>
          </a:p>
        </p:txBody>
      </p:sp>
      <p:sp>
        <p:nvSpPr>
          <p:cNvPr id="14" name="card2"/>
          <p:cNvSpPr/>
          <p:nvPr/>
        </p:nvSpPr>
        <p:spPr>
          <a:xfrm>
            <a:off x="8097316"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80196" y="1700784"/>
            <a:ext cx="3161690" cy="1097280"/>
          </a:xfrm>
          <a:prstGeom prst="rect">
            <a:avLst/>
          </a:prstGeom>
          <a:noFill/>
        </p:spPr>
        <p:txBody>
          <a:bodyPr wrap="square" lIns="36576" tIns="0" rIns="36576" bIns="0" anchor="t">
            <a:spAutoFit/>
          </a:bodyPr>
          <a:lstStyle/>
          <a:p>
            <a:pPr algn="l">
              <a:lnSpc>
                <a:spcPct val="125000"/>
              </a:lnSpc>
            </a:pPr>
            <a:r>
              <a:rPr sz="3200" b="1" i="0">
                <a:solidFill>
                  <a:srgbClr val="0A322E"/>
                </a:solidFill>
                <a:latin typeface="Georgia"/>
                <a:cs typeface="Georgia"/>
              </a:rPr>
              <a:t>al-Buṭāḥ</a:t>
            </a:r>
          </a:p>
        </p:txBody>
      </p:sp>
      <p:sp>
        <p:nvSpPr>
          <p:cNvPr id="17" name="TextBox 16"/>
          <p:cNvSpPr txBox="1"/>
          <p:nvPr/>
        </p:nvSpPr>
        <p:spPr>
          <a:xfrm>
            <a:off x="8280196" y="2807208"/>
            <a:ext cx="3161690" cy="2160720"/>
          </a:xfrm>
          <a:prstGeom prst="rect">
            <a:avLst/>
          </a:prstGeom>
          <a:noFill/>
        </p:spPr>
        <p:txBody>
          <a:bodyPr wrap="square" lIns="36576" tIns="0" rIns="36576" bIns="0" anchor="t">
            <a:spAutoFit/>
          </a:bodyPr>
          <a:lstStyle/>
          <a:p>
            <a:pPr algn="l">
              <a:lnSpc>
                <a:spcPct val="132000"/>
              </a:lnSpc>
            </a:pPr>
            <a:r>
              <a:rPr sz="2700" b="0" i="0" dirty="0">
                <a:solidFill>
                  <a:srgbClr val="1C2321"/>
                </a:solidFill>
                <a:latin typeface="Segoe UI"/>
                <a:cs typeface="Arabic Typesetting"/>
              </a:rPr>
              <a:t>Next in the orders: the </a:t>
            </a:r>
            <a:r>
              <a:rPr lang="en-US" sz="2700" b="1" i="0" dirty="0">
                <a:solidFill>
                  <a:srgbClr val="1C2321"/>
                </a:solidFill>
                <a:latin typeface="Segoe UI"/>
                <a:cs typeface="Arabic Typesetting"/>
              </a:rPr>
              <a:t>Banu </a:t>
            </a:r>
            <a:r>
              <a:rPr sz="2700" b="1" i="0" dirty="0" err="1">
                <a:solidFill>
                  <a:srgbClr val="1C2321"/>
                </a:solidFill>
                <a:latin typeface="Segoe UI"/>
                <a:cs typeface="Arabic Typesetting"/>
              </a:rPr>
              <a:t>Tamīm</a:t>
            </a:r>
            <a:r>
              <a:rPr sz="2700" b="0" i="0" dirty="0">
                <a:solidFill>
                  <a:srgbClr val="1C2321"/>
                </a:solidFill>
                <a:latin typeface="Segoe UI"/>
                <a:cs typeface="Arabic Typesetting"/>
              </a:rPr>
              <a:t>, and </a:t>
            </a:r>
            <a:r>
              <a:rPr sz="2700" b="1" i="0" dirty="0" err="1">
                <a:solidFill>
                  <a:srgbClr val="1C2321"/>
                </a:solidFill>
                <a:latin typeface="Segoe UI"/>
                <a:cs typeface="Arabic Typesetting"/>
              </a:rPr>
              <a:t>Mālik</a:t>
            </a:r>
            <a:r>
              <a:rPr sz="2700" b="1" i="0" dirty="0">
                <a:solidFill>
                  <a:srgbClr val="1C2321"/>
                </a:solidFill>
                <a:latin typeface="Segoe UI"/>
                <a:cs typeface="Arabic Typesetting"/>
              </a:rPr>
              <a:t> b. </a:t>
            </a:r>
            <a:r>
              <a:rPr sz="2700" b="1" i="0" dirty="0" err="1">
                <a:solidFill>
                  <a:srgbClr val="1C2321"/>
                </a:solidFill>
                <a:latin typeface="Segoe UI"/>
                <a:cs typeface="Arabic Typesetting"/>
              </a:rPr>
              <a:t>Nuwayra</a:t>
            </a:r>
            <a:endParaRPr sz="2700" b="0" i="0" dirty="0">
              <a:solidFill>
                <a:srgbClr val="1C2321"/>
              </a:solidFill>
              <a:latin typeface="Segoe UI"/>
              <a:cs typeface="Arabic Typesetting"/>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82880"/>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From Buzākha to al-Buṭāḥ</a:t>
            </a:r>
          </a:p>
        </p:txBody>
      </p:sp>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819479" y="1499616"/>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Buzākha</a:t>
            </a:r>
          </a:p>
        </p:txBody>
      </p:sp>
      <p:sp>
        <p:nvSpPr>
          <p:cNvPr id="8" name="TextBox 7"/>
          <p:cNvSpPr txBox="1"/>
          <p:nvPr/>
        </p:nvSpPr>
        <p:spPr>
          <a:xfrm>
            <a:off x="8819479" y="1920240"/>
            <a:ext cx="2805288" cy="1943100"/>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where evening 2 stopped</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819479" y="3863340"/>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al-Buṭāḥ</a:t>
            </a:r>
          </a:p>
        </p:txBody>
      </p:sp>
      <p:sp>
        <p:nvSpPr>
          <p:cNvPr id="11" name="TextBox 10"/>
          <p:cNvSpPr txBox="1"/>
          <p:nvPr/>
        </p:nvSpPr>
        <p:spPr>
          <a:xfrm>
            <a:off x="8819479" y="4283964"/>
            <a:ext cx="2805288" cy="1943100"/>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the third stop in the orders</a:t>
            </a:r>
          </a:p>
        </p:txBody>
      </p:sp>
      <p:pic>
        <p:nvPicPr>
          <p:cNvPr id="13" name="Picture 12">
            <a:extLst>
              <a:ext uri="{FF2B5EF4-FFF2-40B4-BE49-F238E27FC236}">
                <a16:creationId xmlns:a16="http://schemas.microsoft.com/office/drawing/2014/main" id="{F97EEA78-924B-127A-09E9-85CC4971662C}"/>
              </a:ext>
            </a:extLst>
          </p:cNvPr>
          <p:cNvPicPr>
            <a:picLocks noChangeAspect="1"/>
          </p:cNvPicPr>
          <p:nvPr/>
        </p:nvPicPr>
        <p:blipFill>
          <a:blip r:embed="rId3"/>
          <a:srcRect l="656" r="1"/>
          <a:stretch>
            <a:fillRect/>
          </a:stretch>
        </p:blipFill>
        <p:spPr>
          <a:xfrm>
            <a:off x="-42032" y="1499616"/>
            <a:ext cx="8397616" cy="475488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The Anṣār who would not march</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قَدْ عَهِدَ إِلَيَّ أَنْ أَمْضِيَ، وَأَنَا الْأَمِيرُ … فَأَنَا قَاصِدٌ إِلَى مَالِكٍ وَمَنْ مَعِي، وَلَسْتُ أُكْرِهُهُمْ.</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"He instructed me to go on, and I am the commander … So I am making for Mālik, with whoever is with me — and I do not compel them."</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al-Kamil, vol. 2, p. 212</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Arabic Typesetting"/>
              </a:rPr>
              <a:t>Mālik b. Nuwayra ؓ stands apart</a:t>
            </a:r>
          </a:p>
        </p:txBody>
      </p:sp>
      <p:sp>
        <p:nvSpPr>
          <p:cNvPr id="6" name="TextBox 5"/>
          <p:cNvSpPr txBox="1"/>
          <p:nvPr/>
        </p:nvSpPr>
        <p:spPr>
          <a:xfrm>
            <a:off x="566928" y="1634490"/>
            <a:ext cx="11057839" cy="2331720"/>
          </a:xfrm>
          <a:prstGeom prst="rect">
            <a:avLst/>
          </a:prstGeom>
          <a:noFill/>
        </p:spPr>
        <p:txBody>
          <a:bodyPr wrap="square" lIns="36576" tIns="0" rIns="36576" bIns="0" anchor="t">
            <a:spAutoFit/>
          </a:bodyPr>
          <a:lstStyle/>
          <a:p>
            <a:pPr algn="r" rtl="1">
              <a:lnSpc>
                <a:spcPct val="150000"/>
              </a:lnSpc>
            </a:pPr>
            <a:r>
              <a:rPr lang="ar-SA" sz="5400" b="0" i="0">
                <a:solidFill>
                  <a:srgbClr val="0A322E"/>
                </a:solidFill>
                <a:latin typeface="Traditional Arabic"/>
                <a:cs typeface="Traditional Arabic"/>
              </a:rPr>
              <a:t>إلَّا ما كانَ من مالك بن نويرة فإنّه متحيرٌ في أمره، مُتَنحٍّ عن الناس</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4051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 except for what was from Mālik b. Nuwayra, for he was perplexed about his own affair, keeping apart from the people."</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7, p. 30</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"Disperse, and enter into this matter"</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إِنَّا دُعِينَا إِلَى هَذَا الْأَمْرِ فَأَبْطَأْنَا عَنْهُ فَلَمْ نُفْلِحْ … فَتَفَرَّقُوا وَادْخُلُوا فِي هَذَا الْأَمْرِ</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…we were called to this matter and we were slow to it and did not prosper … Disperse, and enter into this matter.</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al-Kamil, vol. 2, pp. 212–213</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The patrol could not agree</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فشهد أبو قتادة - الحارث بن ربعي الأنصاري - أنهم أقاموا الصلاةَ، وقال آخرون: إنهم لم يُؤَذّنوا ولا صَلّوا</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…Abū Qatāda al-Anṣārī — al-Ḥārith b. Ribʿī — testified that they had established the prayer, and others said they had neither given the adhān nor prayed.</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7, p. 30</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 AH — the books disagree</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One night, four accounts</a:t>
            </a:r>
          </a:p>
        </p:txBody>
      </p:sp>
      <p:sp>
        <p:nvSpPr>
          <p:cNvPr id="6" name="card0"/>
          <p:cNvSpPr/>
          <p:nvPr/>
        </p:nvSpPr>
        <p:spPr>
          <a:xfrm>
            <a:off x="566928" y="2779075"/>
            <a:ext cx="5419191" cy="2684212"/>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2779075"/>
            <a:ext cx="5419191"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68096" y="2925379"/>
            <a:ext cx="5016855" cy="502920"/>
          </a:xfrm>
          <a:prstGeom prst="rect">
            <a:avLst/>
          </a:prstGeom>
          <a:noFill/>
        </p:spPr>
        <p:txBody>
          <a:bodyPr wrap="square" lIns="36576" tIns="0" rIns="36576" bIns="0" anchor="t">
            <a:spAutoFit/>
          </a:bodyPr>
          <a:lstStyle/>
          <a:p>
            <a:pPr algn="l">
              <a:lnSpc>
                <a:spcPct val="125000"/>
              </a:lnSpc>
            </a:pPr>
            <a:r>
              <a:rPr lang="en-US" sz="2800" b="1" i="0" dirty="0">
                <a:solidFill>
                  <a:srgbClr val="0A322E"/>
                </a:solidFill>
                <a:latin typeface="Georgia"/>
                <a:cs typeface="Georgia"/>
              </a:rPr>
              <a:t>1. </a:t>
            </a:r>
            <a:r>
              <a:rPr sz="2800" b="1" i="0" dirty="0">
                <a:solidFill>
                  <a:srgbClr val="0A322E"/>
                </a:solidFill>
                <a:latin typeface="Georgia"/>
                <a:cs typeface="Georgia"/>
              </a:rPr>
              <a:t>The cold night</a:t>
            </a:r>
          </a:p>
        </p:txBody>
      </p:sp>
      <p:sp>
        <p:nvSpPr>
          <p:cNvPr id="9" name="TextBox 8"/>
          <p:cNvSpPr txBox="1"/>
          <p:nvPr/>
        </p:nvSpPr>
        <p:spPr>
          <a:xfrm>
            <a:off x="768096" y="3437443"/>
            <a:ext cx="5016855" cy="1506695"/>
          </a:xfrm>
          <a:prstGeom prst="rect">
            <a:avLst/>
          </a:prstGeom>
          <a:noFill/>
        </p:spPr>
        <p:txBody>
          <a:bodyPr wrap="square" lIns="36576" tIns="0" rIns="36576" bIns="0" anchor="t">
            <a:spAutoFit/>
          </a:bodyPr>
          <a:lstStyle/>
          <a:p>
            <a:pPr algn="l">
              <a:lnSpc>
                <a:spcPct val="125000"/>
              </a:lnSpc>
            </a:pPr>
            <a:r>
              <a:rPr sz="2700" b="0" i="0" dirty="0">
                <a:solidFill>
                  <a:srgbClr val="1C2321"/>
                </a:solidFill>
                <a:latin typeface="Segoe UI"/>
                <a:cs typeface="Segoe UI"/>
              </a:rPr>
              <a:t>"</a:t>
            </a:r>
            <a:r>
              <a:rPr sz="2700" b="1" i="0" dirty="0">
                <a:solidFill>
                  <a:srgbClr val="1C2321"/>
                </a:solidFill>
                <a:latin typeface="Segoe UI"/>
                <a:cs typeface="Segoe UI"/>
              </a:rPr>
              <a:t>warm your prisoners</a:t>
            </a:r>
            <a:r>
              <a:rPr sz="2700" b="0" i="0" dirty="0">
                <a:solidFill>
                  <a:srgbClr val="1C2321"/>
                </a:solidFill>
                <a:latin typeface="Segoe UI"/>
                <a:cs typeface="Segoe UI"/>
              </a:rPr>
              <a:t>" taken as an order to kill. </a:t>
            </a:r>
            <a:r>
              <a:rPr lang="en-US" sz="2700" dirty="0">
                <a:solidFill>
                  <a:srgbClr val="1C2321"/>
                </a:solidFill>
                <a:latin typeface="Segoe UI"/>
                <a:cs typeface="Segoe UI"/>
              </a:rPr>
              <a:t>In </a:t>
            </a:r>
            <a:r>
              <a:rPr lang="en-US" sz="2700" dirty="0" err="1">
                <a:solidFill>
                  <a:srgbClr val="1C2321"/>
                </a:solidFill>
                <a:latin typeface="Segoe UI"/>
                <a:cs typeface="Segoe UI"/>
              </a:rPr>
              <a:t>banu</a:t>
            </a:r>
            <a:r>
              <a:rPr lang="en-US" sz="2700" dirty="0">
                <a:solidFill>
                  <a:srgbClr val="1C2321"/>
                </a:solidFill>
                <a:latin typeface="Segoe UI"/>
                <a:cs typeface="Segoe UI"/>
              </a:rPr>
              <a:t> </a:t>
            </a:r>
            <a:r>
              <a:rPr lang="en-US" sz="2700" dirty="0" err="1">
                <a:solidFill>
                  <a:srgbClr val="1C2321"/>
                </a:solidFill>
                <a:latin typeface="Segoe UI"/>
                <a:cs typeface="Segoe UI"/>
              </a:rPr>
              <a:t>kinana’s</a:t>
            </a:r>
            <a:r>
              <a:rPr lang="en-US" sz="2700" dirty="0">
                <a:solidFill>
                  <a:srgbClr val="1C2321"/>
                </a:solidFill>
                <a:latin typeface="Segoe UI"/>
                <a:cs typeface="Segoe UI"/>
              </a:rPr>
              <a:t> language it meant to kill.</a:t>
            </a:r>
            <a:endParaRPr sz="2700" b="0" i="0" dirty="0">
              <a:solidFill>
                <a:srgbClr val="1C2321"/>
              </a:solidFill>
              <a:latin typeface="Segoe UI"/>
              <a:cs typeface="Segoe UI"/>
            </a:endParaRPr>
          </a:p>
        </p:txBody>
      </p:sp>
      <p:sp>
        <p:nvSpPr>
          <p:cNvPr id="10" name="card1"/>
          <p:cNvSpPr/>
          <p:nvPr/>
        </p:nvSpPr>
        <p:spPr>
          <a:xfrm>
            <a:off x="6205575" y="2761491"/>
            <a:ext cx="5419191" cy="3006266"/>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205575" y="2761491"/>
            <a:ext cx="5419191"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06743" y="2907795"/>
            <a:ext cx="5016855" cy="502920"/>
          </a:xfrm>
          <a:prstGeom prst="rect">
            <a:avLst/>
          </a:prstGeom>
          <a:noFill/>
        </p:spPr>
        <p:txBody>
          <a:bodyPr wrap="square" lIns="36576" tIns="0" rIns="36576" bIns="0" anchor="t">
            <a:spAutoFit/>
          </a:bodyPr>
          <a:lstStyle/>
          <a:p>
            <a:pPr algn="l">
              <a:lnSpc>
                <a:spcPct val="125000"/>
              </a:lnSpc>
            </a:pPr>
            <a:r>
              <a:rPr lang="en-US" sz="2800" b="1" i="0" dirty="0">
                <a:solidFill>
                  <a:srgbClr val="0A322E"/>
                </a:solidFill>
                <a:latin typeface="Georgia"/>
                <a:cs typeface="Georgia"/>
              </a:rPr>
              <a:t>2. </a:t>
            </a:r>
            <a:r>
              <a:rPr sz="2800" b="1" i="0" dirty="0">
                <a:solidFill>
                  <a:srgbClr val="0A322E"/>
                </a:solidFill>
                <a:latin typeface="Georgia"/>
                <a:cs typeface="Georgia"/>
              </a:rPr>
              <a:t>Summoned</a:t>
            </a:r>
          </a:p>
        </p:txBody>
      </p:sp>
      <p:sp>
        <p:nvSpPr>
          <p:cNvPr id="13" name="TextBox 12"/>
          <p:cNvSpPr txBox="1"/>
          <p:nvPr/>
        </p:nvSpPr>
        <p:spPr>
          <a:xfrm>
            <a:off x="6406743" y="3419859"/>
            <a:ext cx="5016855" cy="1506695"/>
          </a:xfrm>
          <a:prstGeom prst="rect">
            <a:avLst/>
          </a:prstGeom>
          <a:noFill/>
        </p:spPr>
        <p:txBody>
          <a:bodyPr wrap="square" lIns="36576" tIns="0" rIns="36576" bIns="0" anchor="t">
            <a:spAutoFit/>
          </a:bodyPr>
          <a:lstStyle/>
          <a:p>
            <a:pPr algn="l">
              <a:lnSpc>
                <a:spcPct val="125000"/>
              </a:lnSpc>
            </a:pPr>
            <a:r>
              <a:rPr sz="2700" b="0" i="0" dirty="0">
                <a:solidFill>
                  <a:srgbClr val="1C2321"/>
                </a:solidFill>
                <a:latin typeface="Segoe UI"/>
                <a:cs typeface="Segoe UI"/>
              </a:rPr>
              <a:t>reproached over </a:t>
            </a:r>
            <a:r>
              <a:rPr sz="2700" b="0" i="0" dirty="0" err="1">
                <a:solidFill>
                  <a:srgbClr val="1C2321"/>
                </a:solidFill>
                <a:latin typeface="Segoe UI"/>
                <a:cs typeface="Segoe UI"/>
              </a:rPr>
              <a:t>Sajāḥ</a:t>
            </a:r>
            <a:r>
              <a:rPr sz="2700" b="0" i="0" dirty="0">
                <a:solidFill>
                  <a:srgbClr val="1C2321"/>
                </a:solidFill>
                <a:latin typeface="Segoe UI"/>
                <a:cs typeface="Segoe UI"/>
              </a:rPr>
              <a:t> and the </a:t>
            </a:r>
            <a:r>
              <a:rPr sz="2700" b="0" i="0" dirty="0" err="1">
                <a:solidFill>
                  <a:srgbClr val="1C2321"/>
                </a:solidFill>
                <a:latin typeface="Segoe UI"/>
                <a:cs typeface="Segoe UI"/>
              </a:rPr>
              <a:t>zakāt</a:t>
            </a:r>
            <a:r>
              <a:rPr sz="2700" b="0" i="0" dirty="0">
                <a:solidFill>
                  <a:srgbClr val="1C2321"/>
                </a:solidFill>
                <a:latin typeface="Segoe UI"/>
                <a:cs typeface="Segoe UI"/>
              </a:rPr>
              <a:t>, </a:t>
            </a:r>
            <a:r>
              <a:rPr lang="en-US" sz="2700" b="0" i="0" dirty="0">
                <a:solidFill>
                  <a:srgbClr val="1C2321"/>
                </a:solidFill>
                <a:latin typeface="Segoe UI"/>
                <a:cs typeface="Segoe UI"/>
              </a:rPr>
              <a:t>and the </a:t>
            </a:r>
            <a:r>
              <a:rPr lang="en-US" sz="2700" b="0" i="0" dirty="0" err="1">
                <a:solidFill>
                  <a:srgbClr val="1C2321"/>
                </a:solidFill>
                <a:latin typeface="Segoe UI"/>
                <a:cs typeface="Segoe UI"/>
              </a:rPr>
              <a:t>muslims</a:t>
            </a:r>
            <a:r>
              <a:rPr lang="en-US" sz="2700" b="0" i="0" dirty="0">
                <a:solidFill>
                  <a:srgbClr val="1C2321"/>
                </a:solidFill>
                <a:latin typeface="Segoe UI"/>
                <a:cs typeface="Segoe UI"/>
              </a:rPr>
              <a:t> of Rabah. </a:t>
            </a:r>
            <a:r>
              <a:rPr sz="2700" b="0" i="0" dirty="0">
                <a:solidFill>
                  <a:srgbClr val="1C2321"/>
                </a:solidFill>
                <a:latin typeface="Segoe UI"/>
                <a:cs typeface="Segoe UI"/>
              </a:rPr>
              <a:t>then an order to strike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82880"/>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Back to Medina</a:t>
            </a:r>
          </a:p>
        </p:txBody>
      </p:sp>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819479" y="1499616"/>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To Medina</a:t>
            </a:r>
          </a:p>
        </p:txBody>
      </p:sp>
      <p:sp>
        <p:nvSpPr>
          <p:cNvPr id="8" name="TextBox 7"/>
          <p:cNvSpPr txBox="1"/>
          <p:nvPr/>
        </p:nvSpPr>
        <p:spPr>
          <a:xfrm>
            <a:off x="8819479" y="1920240"/>
            <a:ext cx="2805288" cy="4306824"/>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Arabic Typesetting"/>
              </a:rPr>
              <a:t>Khālid ؓ is sent for</a:t>
            </a:r>
          </a:p>
        </p:txBody>
      </p:sp>
      <p:pic>
        <p:nvPicPr>
          <p:cNvPr id="10" name="Picture 9">
            <a:extLst>
              <a:ext uri="{FF2B5EF4-FFF2-40B4-BE49-F238E27FC236}">
                <a16:creationId xmlns:a16="http://schemas.microsoft.com/office/drawing/2014/main" id="{9B2F3F36-7E9D-1CCE-0A4D-1A5407B17D64}"/>
              </a:ext>
            </a:extLst>
          </p:cNvPr>
          <p:cNvPicPr>
            <a:picLocks noChangeAspect="1"/>
          </p:cNvPicPr>
          <p:nvPr/>
        </p:nvPicPr>
        <p:blipFill>
          <a:blip r:embed="rId3"/>
          <a:stretch>
            <a:fillRect/>
          </a:stretch>
        </p:blipFill>
        <p:spPr>
          <a:xfrm>
            <a:off x="319623" y="1641348"/>
            <a:ext cx="8152384" cy="4585716"/>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 AH, Medina</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"He interpreted, and he was mistaken"</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هِيهِ يَا عُمَرُ! تَأَوَّلَ فَأَخْطَأَ، فَارْفَعْ لِسَانَكَ عَنْ خَالِدٍ، فَإِنِّي لَا أَشِيمُ سَيْفًا سَلَّهُ اللَّهُ عَلَى الْكَافِرِينَ.</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"Enough, ʿUmar! He interpreted and was mistaken. Lift your tongue off Khālid — for I do not sheathe a sword Allah has drawn against the disbelievers."</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al-Kamil, vol. 2, p. 213</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the historian's own comment</a:t>
            </a:r>
          </a:p>
        </p:txBody>
      </p:sp>
      <p:sp>
        <p:nvSpPr>
          <p:cNvPr id="5" name="TextBox 4"/>
          <p:cNvSpPr txBox="1"/>
          <p:nvPr/>
        </p:nvSpPr>
        <p:spPr>
          <a:xfrm>
            <a:off x="566928" y="402336"/>
            <a:ext cx="11057839" cy="654282"/>
          </a:xfrm>
          <a:prstGeom prst="rect">
            <a:avLst/>
          </a:prstGeom>
          <a:noFill/>
        </p:spPr>
        <p:txBody>
          <a:bodyPr wrap="square" lIns="36576" tIns="0" rIns="36576" bIns="0" anchor="t">
            <a:spAutoFit/>
          </a:bodyPr>
          <a:lstStyle/>
          <a:p>
            <a:pPr algn="l">
              <a:lnSpc>
                <a:spcPct val="116000"/>
              </a:lnSpc>
            </a:pPr>
            <a:r>
              <a:rPr lang="en-US" sz="4000" b="1" i="0" dirty="0">
                <a:solidFill>
                  <a:srgbClr val="FAF7F0"/>
                </a:solidFill>
                <a:latin typeface="Georgia"/>
                <a:cs typeface="Georgia"/>
              </a:rPr>
              <a:t>Ibn Kathir</a:t>
            </a:r>
            <a:r>
              <a:rPr sz="4000" b="1" i="0" dirty="0">
                <a:solidFill>
                  <a:srgbClr val="FAF7F0"/>
                </a:solidFill>
                <a:latin typeface="Georgia"/>
                <a:cs typeface="Georgia"/>
              </a:rPr>
              <a:t>'s verdict</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واستمرَّ أبو بكر بخالدٍ على الإمرة، وإن كان قد اجتهد في قتلِ مالك بن نويرة وأخطأَ في قتله</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"Abū Bakr continued with Khālid in command, even though he had exercised his judgement in the killing of Mālik b. Nuwayra and was mistaken in killing him."</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7, p. 32</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Arabic Typesetting"/>
              </a:rPr>
              <a:t>ʿUmar's ؓ caliphate</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Arabic Typesetting"/>
              </a:rPr>
              <a:t>ʿUmar ؓ and Mutammim</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فَقَالَ مُتَمِّمٌ: … لَوْ كَانَ أَخِي صُرِعَ مَصْرَعَ أَخِيكَ لَمَا بَكَيْتُهُ. فَقَالَ عُمَرُ: مَا عَزَّانِي أَحَدٌ بِأَحْسَنَ</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Mutammim said: … had my brother fallen where your brother fell, I would not have wept for him. ʿUmar said: No one has ever consoled me better…</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al-Kamil, vol. 2, p. 214</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2788920"/>
            <a:ext cx="10728655" cy="731520"/>
          </a:xfrm>
          <a:prstGeom prst="rect">
            <a:avLst/>
          </a:prstGeom>
          <a:noFill/>
        </p:spPr>
        <p:txBody>
          <a:bodyPr wrap="square" lIns="36576" tIns="0" rIns="36576" bIns="0" anchor="ctr">
            <a:spAutoFit/>
          </a:bodyPr>
          <a:lstStyle/>
          <a:p>
            <a:pPr algn="l">
              <a:lnSpc>
                <a:spcPct val="125000"/>
              </a:lnSpc>
            </a:pPr>
            <a:r>
              <a:rPr sz="4600" b="1" i="0">
                <a:solidFill>
                  <a:srgbClr val="0A322E"/>
                </a:solidFill>
                <a:latin typeface="Georgia"/>
                <a:cs typeface="Georgia"/>
              </a:rPr>
              <a:t>Part III</a:t>
            </a:r>
          </a:p>
        </p:txBody>
      </p:sp>
      <p:sp>
        <p:nvSpPr>
          <p:cNvPr id="5" name="TextBox 4"/>
          <p:cNvSpPr txBox="1"/>
          <p:nvPr/>
        </p:nvSpPr>
        <p:spPr>
          <a:xfrm>
            <a:off x="868680" y="3520440"/>
            <a:ext cx="10728655" cy="548640"/>
          </a:xfrm>
          <a:prstGeom prst="rect">
            <a:avLst/>
          </a:prstGeom>
          <a:noFill/>
        </p:spPr>
        <p:txBody>
          <a:bodyPr wrap="square" lIns="36576" tIns="0" rIns="36576" bIns="0" anchor="t">
            <a:spAutoFit/>
          </a:bodyPr>
          <a:lstStyle/>
          <a:p>
            <a:pPr algn="l">
              <a:lnSpc>
                <a:spcPct val="125000"/>
              </a:lnSpc>
            </a:pPr>
            <a:r>
              <a:rPr sz="2800" b="0" i="0">
                <a:solidFill>
                  <a:srgbClr val="5A6862"/>
                </a:solidFill>
                <a:latin typeface="Segoe UI"/>
                <a:cs typeface="Segoe UI"/>
              </a:rPr>
              <a:t>The road to al-Yamāma (11–12 AH)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 AH, Medina</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Back to the mosque, 11 AH</a:t>
            </a:r>
          </a:p>
        </p:txBody>
      </p:sp>
      <p:sp>
        <p:nvSpPr>
          <p:cNvPr id="6" name="card0"/>
          <p:cNvSpPr/>
          <p:nvPr/>
        </p:nvSpPr>
        <p:spPr>
          <a:xfrm>
            <a:off x="566928"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49808" y="1700784"/>
            <a:ext cx="3161690" cy="1097280"/>
          </a:xfrm>
          <a:prstGeom prst="rect">
            <a:avLst/>
          </a:prstGeom>
          <a:noFill/>
        </p:spPr>
        <p:txBody>
          <a:bodyPr wrap="square" lIns="36576" tIns="0" rIns="36576" bIns="0" anchor="t">
            <a:spAutoFit/>
          </a:bodyPr>
          <a:lstStyle/>
          <a:p>
            <a:pPr algn="l">
              <a:lnSpc>
                <a:spcPct val="125000"/>
              </a:lnSpc>
            </a:pPr>
            <a:r>
              <a:rPr sz="3200" b="1" i="0">
                <a:solidFill>
                  <a:srgbClr val="0A322E"/>
                </a:solidFill>
                <a:latin typeface="Georgia"/>
                <a:cs typeface="Georgia"/>
              </a:rPr>
              <a:t>al-Buṭāḥ</a:t>
            </a:r>
          </a:p>
        </p:txBody>
      </p:sp>
      <p:sp>
        <p:nvSpPr>
          <p:cNvPr id="9" name="TextBox 8"/>
          <p:cNvSpPr txBox="1"/>
          <p:nvPr/>
        </p:nvSpPr>
        <p:spPr>
          <a:xfrm>
            <a:off x="749808" y="2807208"/>
            <a:ext cx="3161690" cy="1038298"/>
          </a:xfrm>
          <a:prstGeom prst="rect">
            <a:avLst/>
          </a:prstGeom>
          <a:noFill/>
        </p:spPr>
        <p:txBody>
          <a:bodyPr wrap="square" lIns="36576" tIns="0" rIns="36576" bIns="0" anchor="t">
            <a:spAutoFit/>
          </a:bodyPr>
          <a:lstStyle/>
          <a:p>
            <a:pPr algn="l">
              <a:lnSpc>
                <a:spcPct val="132000"/>
              </a:lnSpc>
            </a:pPr>
            <a:r>
              <a:rPr sz="2700" b="0" i="0" dirty="0" err="1">
                <a:solidFill>
                  <a:srgbClr val="1C2321"/>
                </a:solidFill>
                <a:latin typeface="Segoe UI"/>
                <a:cs typeface="Arabic Typesetting"/>
              </a:rPr>
              <a:t>Mālik</a:t>
            </a:r>
            <a:r>
              <a:rPr sz="2700" b="0" i="0" dirty="0">
                <a:solidFill>
                  <a:srgbClr val="1C2321"/>
                </a:solidFill>
                <a:latin typeface="Segoe UI"/>
                <a:cs typeface="Arabic Typesetting"/>
              </a:rPr>
              <a:t> b. </a:t>
            </a:r>
            <a:r>
              <a:rPr sz="2700" b="0" i="0" dirty="0" err="1">
                <a:solidFill>
                  <a:srgbClr val="1C2321"/>
                </a:solidFill>
                <a:latin typeface="Segoe UI"/>
                <a:cs typeface="Arabic Typesetting"/>
              </a:rPr>
              <a:t>Nuwayra</a:t>
            </a:r>
            <a:r>
              <a:rPr sz="2700" b="0" i="0" dirty="0">
                <a:solidFill>
                  <a:srgbClr val="1C2321"/>
                </a:solidFill>
                <a:latin typeface="Segoe UI"/>
                <a:cs typeface="Arabic Typesetting"/>
              </a:rPr>
              <a:t> ؓ killed</a:t>
            </a:r>
          </a:p>
        </p:txBody>
      </p:sp>
      <p:sp>
        <p:nvSpPr>
          <p:cNvPr id="10" name="card1"/>
          <p:cNvSpPr/>
          <p:nvPr/>
        </p:nvSpPr>
        <p:spPr>
          <a:xfrm>
            <a:off x="4332122"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15002" y="1700784"/>
            <a:ext cx="3161690" cy="1097280"/>
          </a:xfrm>
          <a:prstGeom prst="rect">
            <a:avLst/>
          </a:prstGeom>
          <a:noFill/>
        </p:spPr>
        <p:txBody>
          <a:bodyPr wrap="square" lIns="36576" tIns="0" rIns="36576" bIns="0" anchor="t">
            <a:spAutoFit/>
          </a:bodyPr>
          <a:lstStyle/>
          <a:p>
            <a:pPr algn="l">
              <a:lnSpc>
                <a:spcPct val="125000"/>
              </a:lnSpc>
            </a:pPr>
            <a:r>
              <a:rPr sz="3200" b="1" i="0">
                <a:solidFill>
                  <a:srgbClr val="0A322E"/>
                </a:solidFill>
                <a:latin typeface="Georgia"/>
                <a:cs typeface="Georgia"/>
              </a:rPr>
              <a:t>Medina</a:t>
            </a:r>
          </a:p>
        </p:txBody>
      </p:sp>
      <p:sp>
        <p:nvSpPr>
          <p:cNvPr id="13" name="TextBox 12"/>
          <p:cNvSpPr txBox="1"/>
          <p:nvPr/>
        </p:nvSpPr>
        <p:spPr>
          <a:xfrm>
            <a:off x="4515002" y="2807208"/>
            <a:ext cx="3161690" cy="2683748"/>
          </a:xfrm>
          <a:prstGeom prst="rect">
            <a:avLst/>
          </a:prstGeom>
          <a:noFill/>
        </p:spPr>
        <p:txBody>
          <a:bodyPr wrap="square" lIns="36576" tIns="0" rIns="36576" bIns="0" anchor="t">
            <a:spAutoFit/>
          </a:bodyPr>
          <a:lstStyle/>
          <a:p>
            <a:pPr algn="l">
              <a:lnSpc>
                <a:spcPct val="132000"/>
              </a:lnSpc>
            </a:pPr>
            <a:r>
              <a:rPr sz="2700" b="0" i="0" dirty="0" err="1">
                <a:solidFill>
                  <a:srgbClr val="1C2321"/>
                </a:solidFill>
                <a:latin typeface="Segoe UI"/>
                <a:cs typeface="Arabic Typesetting"/>
              </a:rPr>
              <a:t>ʿUmar</a:t>
            </a:r>
            <a:r>
              <a:rPr sz="2700" b="0" i="0" dirty="0">
                <a:solidFill>
                  <a:srgbClr val="1C2321"/>
                </a:solidFill>
                <a:latin typeface="Segoe UI"/>
                <a:cs typeface="Arabic Typesetting"/>
              </a:rPr>
              <a:t> ؓ objects in the mosque; </a:t>
            </a:r>
            <a:r>
              <a:rPr sz="2700" b="0" i="0" dirty="0" err="1">
                <a:solidFill>
                  <a:srgbClr val="1C2321"/>
                </a:solidFill>
                <a:latin typeface="Segoe UI"/>
                <a:cs typeface="Arabic Typesetting"/>
              </a:rPr>
              <a:t>Abū</a:t>
            </a:r>
            <a:r>
              <a:rPr sz="2700" b="0" i="0" dirty="0">
                <a:solidFill>
                  <a:srgbClr val="1C2321"/>
                </a:solidFill>
                <a:latin typeface="Segoe UI"/>
                <a:cs typeface="Arabic Typesetting"/>
              </a:rPr>
              <a:t> Bakr ؓ: he interpreted, and was mistaken</a:t>
            </a:r>
          </a:p>
        </p:txBody>
      </p:sp>
      <p:sp>
        <p:nvSpPr>
          <p:cNvPr id="14" name="card2"/>
          <p:cNvSpPr/>
          <p:nvPr/>
        </p:nvSpPr>
        <p:spPr>
          <a:xfrm>
            <a:off x="8097316"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80196" y="1700784"/>
            <a:ext cx="3161690" cy="1097280"/>
          </a:xfrm>
          <a:prstGeom prst="rect">
            <a:avLst/>
          </a:prstGeom>
          <a:noFill/>
        </p:spPr>
        <p:txBody>
          <a:bodyPr wrap="square" lIns="36576" tIns="0" rIns="36576" bIns="0" anchor="t">
            <a:spAutoFit/>
          </a:bodyPr>
          <a:lstStyle/>
          <a:p>
            <a:pPr algn="l">
              <a:lnSpc>
                <a:spcPct val="125000"/>
              </a:lnSpc>
            </a:pPr>
            <a:r>
              <a:rPr sz="3200" b="1" i="0">
                <a:solidFill>
                  <a:srgbClr val="0A322E"/>
                </a:solidFill>
                <a:latin typeface="Georgia"/>
                <a:cs typeface="Georgia"/>
              </a:rPr>
              <a:t>Next</a:t>
            </a:r>
          </a:p>
        </p:txBody>
      </p:sp>
      <p:sp>
        <p:nvSpPr>
          <p:cNvPr id="17" name="TextBox 16"/>
          <p:cNvSpPr txBox="1"/>
          <p:nvPr/>
        </p:nvSpPr>
        <p:spPr>
          <a:xfrm>
            <a:off x="8280196" y="2807208"/>
            <a:ext cx="3161690" cy="2135265"/>
          </a:xfrm>
          <a:prstGeom prst="rect">
            <a:avLst/>
          </a:prstGeom>
          <a:noFill/>
        </p:spPr>
        <p:txBody>
          <a:bodyPr wrap="square" lIns="36576" tIns="0" rIns="36576" bIns="0" anchor="t">
            <a:spAutoFit/>
          </a:bodyPr>
          <a:lstStyle/>
          <a:p>
            <a:pPr algn="l">
              <a:lnSpc>
                <a:spcPct val="132000"/>
              </a:lnSpc>
            </a:pPr>
            <a:r>
              <a:rPr sz="2700" b="0" i="0" dirty="0">
                <a:solidFill>
                  <a:srgbClr val="1C2321"/>
                </a:solidFill>
                <a:latin typeface="Segoe UI"/>
                <a:cs typeface="Segoe UI"/>
              </a:rPr>
              <a:t>One claimant still standing: </a:t>
            </a:r>
            <a:r>
              <a:rPr sz="2700" b="1" i="0" dirty="0" err="1">
                <a:solidFill>
                  <a:srgbClr val="1C2321"/>
                </a:solidFill>
                <a:latin typeface="Segoe UI"/>
                <a:cs typeface="Segoe UI"/>
              </a:rPr>
              <a:t>Musaylima</a:t>
            </a:r>
            <a:r>
              <a:rPr sz="2700" b="0" i="0" dirty="0">
                <a:solidFill>
                  <a:srgbClr val="1C2321"/>
                </a:solidFill>
                <a:latin typeface="Segoe UI"/>
                <a:cs typeface="Segoe UI"/>
              </a:rPr>
              <a:t>, at </a:t>
            </a:r>
            <a:r>
              <a:rPr sz="2700" b="1" i="0" dirty="0">
                <a:solidFill>
                  <a:srgbClr val="1C2321"/>
                </a:solidFill>
                <a:latin typeface="Segoe UI"/>
                <a:cs typeface="Segoe UI"/>
              </a:rPr>
              <a:t>al-</a:t>
            </a:r>
            <a:r>
              <a:rPr sz="2700" b="1" i="0" dirty="0" err="1">
                <a:solidFill>
                  <a:srgbClr val="1C2321"/>
                </a:solidFill>
                <a:latin typeface="Segoe UI"/>
                <a:cs typeface="Segoe UI"/>
              </a:rPr>
              <a:t>Yamāma</a:t>
            </a:r>
            <a:endParaRPr sz="2700" b="1" i="0" dirty="0">
              <a:solidFill>
                <a:srgbClr val="1C2321"/>
              </a:solidFill>
              <a:latin typeface="Segoe UI"/>
              <a:cs typeface="Segoe UI"/>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82880"/>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Out again, to al-Yamāma</a:t>
            </a:r>
          </a:p>
        </p:txBody>
      </p:sp>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819479" y="1499616"/>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To al-Yamāma</a:t>
            </a:r>
          </a:p>
        </p:txBody>
      </p:sp>
      <p:sp>
        <p:nvSpPr>
          <p:cNvPr id="8" name="TextBox 7"/>
          <p:cNvSpPr txBox="1"/>
          <p:nvPr/>
        </p:nvSpPr>
        <p:spPr>
          <a:xfrm>
            <a:off x="8819479" y="1920240"/>
            <a:ext cx="2805288" cy="4306824"/>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the army, and the reserve behind it</a:t>
            </a:r>
          </a:p>
        </p:txBody>
      </p:sp>
      <p:pic>
        <p:nvPicPr>
          <p:cNvPr id="10" name="Picture 9">
            <a:extLst>
              <a:ext uri="{FF2B5EF4-FFF2-40B4-BE49-F238E27FC236}">
                <a16:creationId xmlns:a16="http://schemas.microsoft.com/office/drawing/2014/main" id="{24FF1D7B-D8B5-6FDF-DD48-ADD11C02C85B}"/>
              </a:ext>
            </a:extLst>
          </p:cNvPr>
          <p:cNvPicPr>
            <a:picLocks noChangeAspect="1"/>
          </p:cNvPicPr>
          <p:nvPr/>
        </p:nvPicPr>
        <p:blipFill>
          <a:blip r:embed="rId3"/>
          <a:stretch>
            <a:fillRect/>
          </a:stretch>
        </p:blipFill>
        <p:spPr>
          <a:xfrm>
            <a:off x="35170" y="1577696"/>
            <a:ext cx="8355584" cy="4700016"/>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 AH, Medina</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Excused, and sent to al-Yamāma</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لما رضيَ الصدِّيقُ عن خالد بن الوليد وعذَرَهُ بما اعتذرَ به، بعثَه إلى قتالِ بني حنيفة باليمامة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When the Ṣiddīq was satisfied with Khālid b. al-Walīd and accepted the excuse he made, he sent him to fight Banū Ḥanīfa at al-Yamāma.</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7, p. 32</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Arabic Typesetting"/>
              </a:rPr>
              <a:t>11 AH, before Khālid ؓ arrived</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Meanwhile, at al-Yamāma</a:t>
            </a:r>
          </a:p>
        </p:txBody>
      </p:sp>
      <p:sp>
        <p:nvSpPr>
          <p:cNvPr id="6" name="card0"/>
          <p:cNvSpPr/>
          <p:nvPr/>
        </p:nvSpPr>
        <p:spPr>
          <a:xfrm>
            <a:off x="566928" y="1389888"/>
            <a:ext cx="3527450" cy="44805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49808" y="1700784"/>
            <a:ext cx="3161690" cy="1097280"/>
          </a:xfrm>
          <a:prstGeom prst="rect">
            <a:avLst/>
          </a:prstGeom>
          <a:noFill/>
        </p:spPr>
        <p:txBody>
          <a:bodyPr wrap="square" lIns="36576" tIns="0" rIns="36576" bIns="0" anchor="t">
            <a:spAutoFit/>
          </a:bodyPr>
          <a:lstStyle/>
          <a:p>
            <a:pPr algn="l">
              <a:lnSpc>
                <a:spcPct val="125000"/>
              </a:lnSpc>
            </a:pPr>
            <a:r>
              <a:rPr sz="3200" b="1" i="0">
                <a:solidFill>
                  <a:srgbClr val="0A322E"/>
                </a:solidFill>
                <a:latin typeface="Georgia"/>
                <a:cs typeface="Georgia"/>
              </a:rPr>
              <a:t>One banner</a:t>
            </a:r>
          </a:p>
        </p:txBody>
      </p:sp>
      <p:sp>
        <p:nvSpPr>
          <p:cNvPr id="9" name="TextBox 8"/>
          <p:cNvSpPr txBox="1"/>
          <p:nvPr/>
        </p:nvSpPr>
        <p:spPr>
          <a:xfrm>
            <a:off x="749808" y="2807208"/>
            <a:ext cx="3161690" cy="2135265"/>
          </a:xfrm>
          <a:prstGeom prst="rect">
            <a:avLst/>
          </a:prstGeom>
          <a:noFill/>
        </p:spPr>
        <p:txBody>
          <a:bodyPr wrap="square" lIns="36576" tIns="0" rIns="36576" bIns="0" anchor="t">
            <a:spAutoFit/>
          </a:bodyPr>
          <a:lstStyle/>
          <a:p>
            <a:pPr algn="l">
              <a:lnSpc>
                <a:spcPct val="132000"/>
              </a:lnSpc>
            </a:pPr>
            <a:r>
              <a:rPr sz="2700" b="0" i="0" dirty="0">
                <a:solidFill>
                  <a:srgbClr val="1C2321"/>
                </a:solidFill>
                <a:latin typeface="Segoe UI"/>
                <a:cs typeface="Arabic Typesetting"/>
              </a:rPr>
              <a:t>Of the eleven banners, </a:t>
            </a:r>
            <a:r>
              <a:rPr sz="2700" b="1" i="0" dirty="0" err="1">
                <a:solidFill>
                  <a:srgbClr val="1C2321"/>
                </a:solidFill>
                <a:latin typeface="Segoe UI"/>
                <a:cs typeface="Arabic Typesetting"/>
              </a:rPr>
              <a:t>ʿIkrima</a:t>
            </a:r>
            <a:r>
              <a:rPr sz="2700" b="1" i="0" dirty="0">
                <a:solidFill>
                  <a:srgbClr val="1C2321"/>
                </a:solidFill>
                <a:latin typeface="Segoe UI"/>
                <a:cs typeface="Arabic Typesetting"/>
              </a:rPr>
              <a:t> ؓ</a:t>
            </a:r>
            <a:r>
              <a:rPr sz="2700" b="0" i="0" dirty="0">
                <a:solidFill>
                  <a:srgbClr val="1C2321"/>
                </a:solidFill>
                <a:latin typeface="Segoe UI"/>
                <a:cs typeface="Arabic Typesetting"/>
              </a:rPr>
              <a:t> had the one sent against </a:t>
            </a:r>
            <a:r>
              <a:rPr sz="2700" b="1" i="0" dirty="0" err="1">
                <a:solidFill>
                  <a:srgbClr val="1C2321"/>
                </a:solidFill>
                <a:latin typeface="Segoe UI"/>
                <a:cs typeface="Arabic Typesetting"/>
              </a:rPr>
              <a:t>Musaylima</a:t>
            </a:r>
            <a:endParaRPr sz="2700" b="1" i="0" dirty="0">
              <a:solidFill>
                <a:srgbClr val="1C2321"/>
              </a:solidFill>
              <a:latin typeface="Segoe UI"/>
              <a:cs typeface="Arabic Typesetting"/>
            </a:endParaRPr>
          </a:p>
        </p:txBody>
      </p:sp>
      <p:sp>
        <p:nvSpPr>
          <p:cNvPr id="10" name="card1"/>
          <p:cNvSpPr/>
          <p:nvPr/>
        </p:nvSpPr>
        <p:spPr>
          <a:xfrm>
            <a:off x="4332122" y="1389888"/>
            <a:ext cx="3527450" cy="44805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15002" y="1700784"/>
            <a:ext cx="3161690" cy="1097280"/>
          </a:xfrm>
          <a:prstGeom prst="rect">
            <a:avLst/>
          </a:prstGeom>
          <a:noFill/>
        </p:spPr>
        <p:txBody>
          <a:bodyPr wrap="square" lIns="36576" tIns="0" rIns="36576" bIns="0" anchor="t">
            <a:spAutoFit/>
          </a:bodyPr>
          <a:lstStyle/>
          <a:p>
            <a:pPr algn="l">
              <a:lnSpc>
                <a:spcPct val="125000"/>
              </a:lnSpc>
            </a:pPr>
            <a:r>
              <a:rPr sz="3200" b="1" i="0">
                <a:solidFill>
                  <a:srgbClr val="0A322E"/>
                </a:solidFill>
                <a:latin typeface="Georgia"/>
                <a:cs typeface="Georgia"/>
              </a:rPr>
              <a:t>Behind him</a:t>
            </a:r>
          </a:p>
        </p:txBody>
      </p:sp>
      <p:sp>
        <p:nvSpPr>
          <p:cNvPr id="13" name="TextBox 12"/>
          <p:cNvSpPr txBox="1"/>
          <p:nvPr/>
        </p:nvSpPr>
        <p:spPr>
          <a:xfrm>
            <a:off x="4515002" y="2807208"/>
            <a:ext cx="3161690" cy="1586781"/>
          </a:xfrm>
          <a:prstGeom prst="rect">
            <a:avLst/>
          </a:prstGeom>
          <a:noFill/>
        </p:spPr>
        <p:txBody>
          <a:bodyPr wrap="square" lIns="36576" tIns="0" rIns="36576" bIns="0" anchor="t">
            <a:spAutoFit/>
          </a:bodyPr>
          <a:lstStyle/>
          <a:p>
            <a:pPr algn="l">
              <a:lnSpc>
                <a:spcPct val="132000"/>
              </a:lnSpc>
            </a:pPr>
            <a:r>
              <a:rPr sz="2700" b="1" i="0" dirty="0" err="1">
                <a:solidFill>
                  <a:srgbClr val="1C2321"/>
                </a:solidFill>
                <a:latin typeface="Segoe UI"/>
                <a:cs typeface="Arabic Typesetting"/>
              </a:rPr>
              <a:t>Shuraḥbīl</a:t>
            </a:r>
            <a:r>
              <a:rPr sz="2700" b="1" i="0" dirty="0">
                <a:solidFill>
                  <a:srgbClr val="1C2321"/>
                </a:solidFill>
                <a:latin typeface="Segoe UI"/>
                <a:cs typeface="Arabic Typesetting"/>
              </a:rPr>
              <a:t> b. </a:t>
            </a:r>
            <a:r>
              <a:rPr sz="2700" b="1" i="0" dirty="0" err="1">
                <a:solidFill>
                  <a:srgbClr val="1C2321"/>
                </a:solidFill>
                <a:latin typeface="Segoe UI"/>
                <a:cs typeface="Arabic Typesetting"/>
              </a:rPr>
              <a:t>Ḥasana</a:t>
            </a:r>
            <a:r>
              <a:rPr sz="2700" b="1" i="0" dirty="0">
                <a:solidFill>
                  <a:srgbClr val="1C2321"/>
                </a:solidFill>
                <a:latin typeface="Segoe UI"/>
                <a:cs typeface="Arabic Typesetting"/>
              </a:rPr>
              <a:t> ؓ</a:t>
            </a:r>
            <a:r>
              <a:rPr sz="2700" b="0" i="0" dirty="0">
                <a:solidFill>
                  <a:srgbClr val="1C2321"/>
                </a:solidFill>
                <a:latin typeface="Segoe UI"/>
                <a:cs typeface="Arabic Typesetting"/>
              </a:rPr>
              <a:t>, sent to follow him</a:t>
            </a:r>
          </a:p>
        </p:txBody>
      </p:sp>
      <p:sp>
        <p:nvSpPr>
          <p:cNvPr id="14" name="card2"/>
          <p:cNvSpPr/>
          <p:nvPr/>
        </p:nvSpPr>
        <p:spPr>
          <a:xfrm>
            <a:off x="8097316" y="1389888"/>
            <a:ext cx="3527450" cy="44805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80196" y="1700784"/>
            <a:ext cx="3161690" cy="1097280"/>
          </a:xfrm>
          <a:prstGeom prst="rect">
            <a:avLst/>
          </a:prstGeom>
          <a:noFill/>
        </p:spPr>
        <p:txBody>
          <a:bodyPr wrap="square" lIns="36576" tIns="0" rIns="36576" bIns="0" anchor="t">
            <a:spAutoFit/>
          </a:bodyPr>
          <a:lstStyle/>
          <a:p>
            <a:pPr algn="l">
              <a:lnSpc>
                <a:spcPct val="125000"/>
              </a:lnSpc>
            </a:pPr>
            <a:r>
              <a:rPr sz="3200" b="1" i="0">
                <a:solidFill>
                  <a:srgbClr val="0A322E"/>
                </a:solidFill>
                <a:latin typeface="Georgia"/>
                <a:cs typeface="Georgia"/>
              </a:rPr>
              <a:t>First there</a:t>
            </a:r>
          </a:p>
        </p:txBody>
      </p:sp>
      <p:sp>
        <p:nvSpPr>
          <p:cNvPr id="17" name="TextBox 16"/>
          <p:cNvSpPr txBox="1"/>
          <p:nvPr/>
        </p:nvSpPr>
        <p:spPr>
          <a:xfrm>
            <a:off x="8280196" y="2807208"/>
            <a:ext cx="3161690" cy="2135265"/>
          </a:xfrm>
          <a:prstGeom prst="rect">
            <a:avLst/>
          </a:prstGeom>
          <a:noFill/>
        </p:spPr>
        <p:txBody>
          <a:bodyPr wrap="square" lIns="36576" tIns="0" rIns="36576" bIns="0" anchor="t">
            <a:spAutoFit/>
          </a:bodyPr>
          <a:lstStyle/>
          <a:p>
            <a:pPr algn="l">
              <a:lnSpc>
                <a:spcPct val="132000"/>
              </a:lnSpc>
            </a:pPr>
            <a:r>
              <a:rPr sz="2700" b="0" i="0" dirty="0">
                <a:solidFill>
                  <a:srgbClr val="1C2321"/>
                </a:solidFill>
                <a:latin typeface="Segoe UI"/>
                <a:cs typeface="Arabic Typesetting"/>
              </a:rPr>
              <a:t>Both reached al-</a:t>
            </a:r>
            <a:r>
              <a:rPr sz="2700" b="0" i="0" dirty="0" err="1">
                <a:solidFill>
                  <a:srgbClr val="1C2321"/>
                </a:solidFill>
                <a:latin typeface="Segoe UI"/>
                <a:cs typeface="Arabic Typesetting"/>
              </a:rPr>
              <a:t>Yamāma</a:t>
            </a:r>
            <a:r>
              <a:rPr sz="2700" b="0" i="0" dirty="0">
                <a:solidFill>
                  <a:srgbClr val="1C2321"/>
                </a:solidFill>
                <a:latin typeface="Segoe UI"/>
                <a:cs typeface="Arabic Typesetting"/>
              </a:rPr>
              <a:t> before </a:t>
            </a:r>
            <a:r>
              <a:rPr sz="2700" b="0" i="0" dirty="0" err="1">
                <a:solidFill>
                  <a:srgbClr val="1C2321"/>
                </a:solidFill>
                <a:latin typeface="Segoe UI"/>
                <a:cs typeface="Arabic Typesetting"/>
              </a:rPr>
              <a:t>Khālid</a:t>
            </a:r>
            <a:r>
              <a:rPr sz="2700" b="0" i="0" dirty="0">
                <a:solidFill>
                  <a:srgbClr val="1C2321"/>
                </a:solidFill>
                <a:latin typeface="Segoe UI"/>
                <a:cs typeface="Arabic Typesetting"/>
              </a:rPr>
              <a:t> ؓ and the main army</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82880"/>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Two commanders sent ahead</a:t>
            </a:r>
          </a:p>
        </p:txBody>
      </p:sp>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819479" y="1499616"/>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Arabic Typesetting"/>
              </a:rPr>
              <a:t>ʿIkrima ؓ</a:t>
            </a:r>
          </a:p>
        </p:txBody>
      </p:sp>
      <p:sp>
        <p:nvSpPr>
          <p:cNvPr id="8" name="TextBox 7"/>
          <p:cNvSpPr txBox="1"/>
          <p:nvPr/>
        </p:nvSpPr>
        <p:spPr>
          <a:xfrm>
            <a:off x="8819479" y="1920240"/>
            <a:ext cx="2805288" cy="845296"/>
          </a:xfrm>
          <a:prstGeom prst="rect">
            <a:avLst/>
          </a:prstGeom>
          <a:noFill/>
        </p:spPr>
        <p:txBody>
          <a:bodyPr wrap="square" lIns="36576" tIns="0" rIns="36576" bIns="0" anchor="t">
            <a:spAutoFit/>
          </a:bodyPr>
          <a:lstStyle/>
          <a:p>
            <a:pPr algn="l">
              <a:lnSpc>
                <a:spcPct val="120000"/>
              </a:lnSpc>
            </a:pPr>
            <a:r>
              <a:rPr lang="en-US" sz="2400" b="0" i="0" dirty="0">
                <a:solidFill>
                  <a:srgbClr val="5A6862"/>
                </a:solidFill>
                <a:latin typeface="Segoe UI"/>
                <a:cs typeface="Segoe UI"/>
              </a:rPr>
              <a:t>Set back</a:t>
            </a:r>
            <a:r>
              <a:rPr sz="2400" b="0" i="0" dirty="0">
                <a:solidFill>
                  <a:srgbClr val="5A6862"/>
                </a:solidFill>
                <a:latin typeface="Segoe UI"/>
                <a:cs typeface="Segoe UI"/>
              </a:rPr>
              <a:t>, then sent on to Oman</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819479" y="3863340"/>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Arabic Typesetting"/>
              </a:rPr>
              <a:t>Shuraḥbīl ؓ</a:t>
            </a:r>
          </a:p>
        </p:txBody>
      </p:sp>
      <p:sp>
        <p:nvSpPr>
          <p:cNvPr id="11" name="TextBox 10"/>
          <p:cNvSpPr txBox="1"/>
          <p:nvPr/>
        </p:nvSpPr>
        <p:spPr>
          <a:xfrm>
            <a:off x="8819479" y="4283964"/>
            <a:ext cx="2805288" cy="1943100"/>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halted on the road</a:t>
            </a:r>
          </a:p>
        </p:txBody>
      </p:sp>
      <p:pic>
        <p:nvPicPr>
          <p:cNvPr id="13" name="Picture 12">
            <a:extLst>
              <a:ext uri="{FF2B5EF4-FFF2-40B4-BE49-F238E27FC236}">
                <a16:creationId xmlns:a16="http://schemas.microsoft.com/office/drawing/2014/main" id="{FC54C0E6-265B-D1E5-4D26-3E0EFC6294BE}"/>
              </a:ext>
            </a:extLst>
          </p:cNvPr>
          <p:cNvPicPr>
            <a:picLocks noChangeAspect="1"/>
          </p:cNvPicPr>
          <p:nvPr/>
        </p:nvPicPr>
        <p:blipFill>
          <a:blip r:embed="rId3"/>
          <a:stretch>
            <a:fillRect/>
          </a:stretch>
        </p:blipFill>
        <p:spPr>
          <a:xfrm>
            <a:off x="1" y="1617706"/>
            <a:ext cx="8472006" cy="4765503"/>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 AH, al-Yamāma</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Arabic Typesetting"/>
              </a:rPr>
              <a:t>ʿIkrima ؓ goes too early</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لَا أَرَيَنَّكَ وَلَا تَرَانِي، لَا تَرْجِعَنَّ فَتُوهِنَ النَّاسَ … فَقَاتِلْ أَهْلَ عُمَانَ وَمَهْرَةَ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Let me not see you and do not you see me. Do not come back and weaken the people … fight the people of ʿUmān and Mahra…</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al-Kamil, vol. 2, pp. 214–215</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 AH, al-Yamāma</a:t>
            </a:r>
          </a:p>
        </p:txBody>
      </p:sp>
      <p:sp>
        <p:nvSpPr>
          <p:cNvPr id="5" name="TextBox 4"/>
          <p:cNvSpPr txBox="1"/>
          <p:nvPr/>
        </p:nvSpPr>
        <p:spPr>
          <a:xfrm>
            <a:off x="566928" y="402336"/>
            <a:ext cx="11057839" cy="654282"/>
          </a:xfrm>
          <a:prstGeom prst="rect">
            <a:avLst/>
          </a:prstGeom>
          <a:noFill/>
        </p:spPr>
        <p:txBody>
          <a:bodyPr wrap="square" lIns="36576" tIns="0" rIns="36576" bIns="0" anchor="t">
            <a:spAutoFit/>
          </a:bodyPr>
          <a:lstStyle/>
          <a:p>
            <a:pPr algn="l">
              <a:lnSpc>
                <a:spcPct val="116000"/>
              </a:lnSpc>
            </a:pPr>
            <a:r>
              <a:rPr lang="en-US" sz="4000" b="1" i="0" dirty="0">
                <a:solidFill>
                  <a:srgbClr val="FAF7F0"/>
                </a:solidFill>
                <a:latin typeface="Georgia"/>
                <a:cs typeface="Georgia"/>
              </a:rPr>
              <a:t>Another premature attack</a:t>
            </a:r>
            <a:endParaRPr sz="4000" b="1" i="0" dirty="0">
              <a:solidFill>
                <a:srgbClr val="FAF7F0"/>
              </a:solidFill>
              <a:latin typeface="Georgia"/>
              <a:cs typeface="Georgia"/>
            </a:endParaRP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وَعَجَّلَ شُرَحْبِيلُ بْنُ حَسَنَةَ، وَبَادَرَ خَالِدًا بِقِتَالِ مُسَيْلِمَةَ، فَنُكِبَ، فَلَامَهُ خَالِدٌ.</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"Shuraḥbīl b. Ḥasana hurried, and got ahead of Khālid in fighting Musaylima, and was struck down; and Khālid reproached him."</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al-Kamil, vol. 2, p. 215</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82880"/>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ʿAqrabāʾ, and the ground behind it</a:t>
            </a:r>
          </a:p>
        </p:txBody>
      </p:sp>
      <p:pic>
        <p:nvPicPr>
          <p:cNvPr id="5" name="Picture 4" descr="s04-07-aqraba-step-02.jpg"/>
          <p:cNvPicPr>
            <a:picLocks noChangeAspect="1"/>
          </p:cNvPicPr>
          <p:nvPr/>
        </p:nvPicPr>
        <p:blipFill>
          <a:blip r:embed="rId3"/>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819479" y="1499616"/>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ʿAqrabāʾ</a:t>
            </a:r>
          </a:p>
        </p:txBody>
      </p:sp>
      <p:sp>
        <p:nvSpPr>
          <p:cNvPr id="8" name="TextBox 7"/>
          <p:cNvSpPr txBox="1"/>
          <p:nvPr/>
        </p:nvSpPr>
        <p:spPr>
          <a:xfrm>
            <a:off x="8819479" y="1920240"/>
            <a:ext cx="2805288" cy="1943100"/>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the enemy camp</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819479" y="3863340"/>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The farmland</a:t>
            </a:r>
          </a:p>
        </p:txBody>
      </p:sp>
      <p:sp>
        <p:nvSpPr>
          <p:cNvPr id="11" name="TextBox 10"/>
          <p:cNvSpPr txBox="1"/>
          <p:nvPr/>
        </p:nvSpPr>
        <p:spPr>
          <a:xfrm>
            <a:off x="8819479" y="4283964"/>
            <a:ext cx="2805288" cy="1943100"/>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behind their own line</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11–12 AH</a:t>
            </a:r>
          </a:p>
        </p:txBody>
      </p:sp>
      <p:sp>
        <p:nvSpPr>
          <p:cNvPr id="5" name="TextBox 4"/>
          <p:cNvSpPr txBox="1"/>
          <p:nvPr/>
        </p:nvSpPr>
        <p:spPr>
          <a:xfrm>
            <a:off x="566928" y="402336"/>
            <a:ext cx="11057839" cy="654282"/>
          </a:xfrm>
          <a:prstGeom prst="rect">
            <a:avLst/>
          </a:prstGeom>
          <a:noFill/>
        </p:spPr>
        <p:txBody>
          <a:bodyPr wrap="square" lIns="36576" tIns="0" rIns="36576" bIns="0" anchor="t">
            <a:spAutoFit/>
          </a:bodyPr>
          <a:lstStyle/>
          <a:p>
            <a:pPr algn="l">
              <a:lnSpc>
                <a:spcPct val="116000"/>
              </a:lnSpc>
            </a:pPr>
            <a:r>
              <a:rPr lang="en-US" sz="4000" b="1" i="0" dirty="0">
                <a:solidFill>
                  <a:srgbClr val="FAF7F0"/>
                </a:solidFill>
                <a:latin typeface="Georgia"/>
                <a:cs typeface="Georgia"/>
              </a:rPr>
              <a:t>Banu Hanifa</a:t>
            </a:r>
            <a:endParaRPr sz="4000" b="1" i="0" dirty="0">
              <a:solidFill>
                <a:srgbClr val="FAF7F0"/>
              </a:solidFill>
              <a:latin typeface="Georgia"/>
              <a:cs typeface="Georgia"/>
            </a:endParaRP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فلما سمع مسيلمةُ بقدوم خالدٍ عسكر بمكانٍ يقال له: (عقربا) في طرف اليمامة والريفُ وراءَ ظهورهم</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"When Musaylima heard of Khālid's coming, he encamped at a place called ʿAqrabāʾ, at the edge of al-Yamāma, with the cultivated country behind their backs."</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7, p. 32</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11–12 AH</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The tent and the prisoner</a:t>
            </a:r>
          </a:p>
        </p:txBody>
      </p:sp>
      <p:sp>
        <p:nvSpPr>
          <p:cNvPr id="6" name="TextBox 5"/>
          <p:cNvSpPr txBox="1"/>
          <p:nvPr/>
        </p:nvSpPr>
        <p:spPr>
          <a:xfrm>
            <a:off x="566928" y="207264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أيها الرجل إن كنتَ تريد بأهل اليمامة غدًا خيرًا أو شرًا فاستبق هذا الرجل</a:t>
            </a:r>
          </a:p>
        </p:txBody>
      </p:sp>
      <p:sp>
        <p:nvSpPr>
          <p:cNvPr id="7" name="Rectangle 6"/>
          <p:cNvSpPr/>
          <p:nvPr/>
        </p:nvSpPr>
        <p:spPr>
          <a:xfrm>
            <a:off x="566928" y="41513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462272"/>
            <a:ext cx="11057839" cy="1136903"/>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Man — if you intend anything tomorrow for the people of Yamāma, good or ill, keep this man alive…</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2788920"/>
            <a:ext cx="10728655" cy="731520"/>
          </a:xfrm>
          <a:prstGeom prst="rect">
            <a:avLst/>
          </a:prstGeom>
          <a:noFill/>
        </p:spPr>
        <p:txBody>
          <a:bodyPr wrap="square" lIns="36576" tIns="0" rIns="36576" bIns="0" anchor="ctr">
            <a:spAutoFit/>
          </a:bodyPr>
          <a:lstStyle/>
          <a:p>
            <a:pPr algn="l">
              <a:lnSpc>
                <a:spcPct val="125000"/>
              </a:lnSpc>
            </a:pPr>
            <a:r>
              <a:rPr sz="4600" b="1" i="0">
                <a:solidFill>
                  <a:srgbClr val="0A322E"/>
                </a:solidFill>
                <a:latin typeface="Georgia"/>
                <a:cs typeface="Georgia"/>
              </a:rPr>
              <a:t>Part IV</a:t>
            </a:r>
          </a:p>
        </p:txBody>
      </p:sp>
      <p:sp>
        <p:nvSpPr>
          <p:cNvPr id="5" name="TextBox 4"/>
          <p:cNvSpPr txBox="1"/>
          <p:nvPr/>
        </p:nvSpPr>
        <p:spPr>
          <a:xfrm>
            <a:off x="868680" y="3520440"/>
            <a:ext cx="10728655" cy="548640"/>
          </a:xfrm>
          <a:prstGeom prst="rect">
            <a:avLst/>
          </a:prstGeom>
          <a:noFill/>
        </p:spPr>
        <p:txBody>
          <a:bodyPr wrap="square" lIns="36576" tIns="0" rIns="36576" bIns="0" anchor="t">
            <a:spAutoFit/>
          </a:bodyPr>
          <a:lstStyle/>
          <a:p>
            <a:pPr algn="l">
              <a:lnSpc>
                <a:spcPct val="125000"/>
              </a:lnSpc>
            </a:pPr>
            <a:r>
              <a:rPr sz="2800" b="0" i="0">
                <a:solidFill>
                  <a:srgbClr val="5A6862"/>
                </a:solidFill>
                <a:latin typeface="Segoe UI"/>
                <a:cs typeface="Segoe UI"/>
              </a:rPr>
              <a:t>The day begins (11–12 AH)</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The night before ʿAqrabāʾ</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Where we are</a:t>
            </a:r>
          </a:p>
        </p:txBody>
      </p:sp>
      <p:sp>
        <p:nvSpPr>
          <p:cNvPr id="6" name="card0"/>
          <p:cNvSpPr/>
          <p:nvPr/>
        </p:nvSpPr>
        <p:spPr>
          <a:xfrm>
            <a:off x="566928"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49808" y="1700784"/>
            <a:ext cx="3161690" cy="1097280"/>
          </a:xfrm>
          <a:prstGeom prst="rect">
            <a:avLst/>
          </a:prstGeom>
          <a:noFill/>
        </p:spPr>
        <p:txBody>
          <a:bodyPr wrap="square" lIns="36576" tIns="0" rIns="36576" bIns="0" anchor="t">
            <a:spAutoFit/>
          </a:bodyPr>
          <a:lstStyle/>
          <a:p>
            <a:pPr algn="l">
              <a:lnSpc>
                <a:spcPct val="125000"/>
              </a:lnSpc>
            </a:pPr>
            <a:r>
              <a:rPr sz="3200" b="1" i="0">
                <a:solidFill>
                  <a:srgbClr val="0A322E"/>
                </a:solidFill>
                <a:latin typeface="Georgia"/>
                <a:cs typeface="Georgia"/>
              </a:rPr>
              <a:t>Medina</a:t>
            </a:r>
          </a:p>
        </p:txBody>
      </p:sp>
      <p:sp>
        <p:nvSpPr>
          <p:cNvPr id="9" name="TextBox 8"/>
          <p:cNvSpPr txBox="1"/>
          <p:nvPr/>
        </p:nvSpPr>
        <p:spPr>
          <a:xfrm>
            <a:off x="749808" y="2807208"/>
            <a:ext cx="3161690" cy="2135265"/>
          </a:xfrm>
          <a:prstGeom prst="rect">
            <a:avLst/>
          </a:prstGeom>
          <a:noFill/>
        </p:spPr>
        <p:txBody>
          <a:bodyPr wrap="square" lIns="36576" tIns="0" rIns="36576" bIns="0" anchor="t">
            <a:spAutoFit/>
          </a:bodyPr>
          <a:lstStyle/>
          <a:p>
            <a:pPr algn="l">
              <a:lnSpc>
                <a:spcPct val="132000"/>
              </a:lnSpc>
            </a:pPr>
            <a:r>
              <a:rPr sz="2700" b="0" i="0" dirty="0" err="1">
                <a:solidFill>
                  <a:srgbClr val="1C2321"/>
                </a:solidFill>
                <a:latin typeface="Segoe UI"/>
                <a:cs typeface="Arabic Typesetting"/>
              </a:rPr>
              <a:t>Khālid</a:t>
            </a:r>
            <a:r>
              <a:rPr sz="2700" b="0" i="0" dirty="0">
                <a:solidFill>
                  <a:srgbClr val="1C2321"/>
                </a:solidFill>
                <a:latin typeface="Segoe UI"/>
                <a:cs typeface="Arabic Typesetting"/>
              </a:rPr>
              <a:t> ؓ answered for al-</a:t>
            </a:r>
            <a:r>
              <a:rPr sz="2700" b="0" i="0" dirty="0" err="1">
                <a:solidFill>
                  <a:srgbClr val="1C2321"/>
                </a:solidFill>
                <a:latin typeface="Segoe UI"/>
                <a:cs typeface="Arabic Typesetting"/>
              </a:rPr>
              <a:t>Buṭāḥ</a:t>
            </a:r>
            <a:r>
              <a:rPr sz="2700" b="0" i="0" dirty="0">
                <a:solidFill>
                  <a:srgbClr val="1C2321"/>
                </a:solidFill>
                <a:latin typeface="Segoe UI"/>
                <a:cs typeface="Arabic Typesetting"/>
              </a:rPr>
              <a:t>, and was kept in command</a:t>
            </a:r>
          </a:p>
        </p:txBody>
      </p:sp>
      <p:sp>
        <p:nvSpPr>
          <p:cNvPr id="10" name="card1"/>
          <p:cNvSpPr/>
          <p:nvPr/>
        </p:nvSpPr>
        <p:spPr>
          <a:xfrm>
            <a:off x="4332122"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15002" y="1700784"/>
            <a:ext cx="3161690" cy="1097280"/>
          </a:xfrm>
          <a:prstGeom prst="rect">
            <a:avLst/>
          </a:prstGeom>
          <a:noFill/>
        </p:spPr>
        <p:txBody>
          <a:bodyPr wrap="square" lIns="36576" tIns="0" rIns="36576" bIns="0" anchor="t">
            <a:spAutoFit/>
          </a:bodyPr>
          <a:lstStyle/>
          <a:p>
            <a:pPr algn="l">
              <a:lnSpc>
                <a:spcPct val="125000"/>
              </a:lnSpc>
            </a:pPr>
            <a:r>
              <a:rPr sz="3200" b="1" i="0">
                <a:solidFill>
                  <a:srgbClr val="0A322E"/>
                </a:solidFill>
                <a:latin typeface="Georgia"/>
                <a:cs typeface="Georgia"/>
              </a:rPr>
              <a:t>The road</a:t>
            </a:r>
          </a:p>
        </p:txBody>
      </p:sp>
      <p:sp>
        <p:nvSpPr>
          <p:cNvPr id="13" name="TextBox 12"/>
          <p:cNvSpPr txBox="1"/>
          <p:nvPr/>
        </p:nvSpPr>
        <p:spPr>
          <a:xfrm>
            <a:off x="4515002" y="2807208"/>
            <a:ext cx="3161690" cy="2683748"/>
          </a:xfrm>
          <a:prstGeom prst="rect">
            <a:avLst/>
          </a:prstGeom>
          <a:noFill/>
        </p:spPr>
        <p:txBody>
          <a:bodyPr wrap="square" lIns="36576" tIns="0" rIns="36576" bIns="0" anchor="t">
            <a:spAutoFit/>
          </a:bodyPr>
          <a:lstStyle/>
          <a:p>
            <a:pPr algn="l">
              <a:lnSpc>
                <a:spcPct val="132000"/>
              </a:lnSpc>
            </a:pPr>
            <a:r>
              <a:rPr sz="2700" b="0" i="0" dirty="0" err="1">
                <a:solidFill>
                  <a:srgbClr val="1C2321"/>
                </a:solidFill>
                <a:latin typeface="Segoe UI"/>
                <a:cs typeface="Arabic Typesetting"/>
              </a:rPr>
              <a:t>ʿIkrima</a:t>
            </a:r>
            <a:r>
              <a:rPr sz="2700" b="0" i="0" dirty="0">
                <a:solidFill>
                  <a:srgbClr val="1C2321"/>
                </a:solidFill>
                <a:latin typeface="Segoe UI"/>
                <a:cs typeface="Arabic Typesetting"/>
              </a:rPr>
              <a:t> ؓ and </a:t>
            </a:r>
            <a:r>
              <a:rPr sz="2700" b="0" i="0" dirty="0" err="1">
                <a:solidFill>
                  <a:srgbClr val="1C2321"/>
                </a:solidFill>
                <a:latin typeface="Segoe UI"/>
                <a:cs typeface="Arabic Typesetting"/>
              </a:rPr>
              <a:t>Shuraḥbīl</a:t>
            </a:r>
            <a:r>
              <a:rPr sz="2700" b="0" i="0" dirty="0">
                <a:solidFill>
                  <a:srgbClr val="1C2321"/>
                </a:solidFill>
                <a:latin typeface="Segoe UI"/>
                <a:cs typeface="Arabic Typesetting"/>
              </a:rPr>
              <a:t> ؓ </a:t>
            </a:r>
            <a:r>
              <a:rPr lang="en-US" sz="2700" b="0" i="0" dirty="0">
                <a:solidFill>
                  <a:srgbClr val="1C2321"/>
                </a:solidFill>
                <a:latin typeface="Segoe UI"/>
                <a:cs typeface="Arabic Typesetting"/>
              </a:rPr>
              <a:t>face set back</a:t>
            </a:r>
            <a:r>
              <a:rPr sz="2700" b="0" i="0" dirty="0">
                <a:solidFill>
                  <a:srgbClr val="1C2321"/>
                </a:solidFill>
                <a:latin typeface="Segoe UI"/>
                <a:cs typeface="Arabic Typesetting"/>
              </a:rPr>
              <a:t> ahead of him; forty thousand at </a:t>
            </a:r>
            <a:r>
              <a:rPr sz="2700" b="1" i="0" dirty="0" err="1">
                <a:solidFill>
                  <a:srgbClr val="1C2321"/>
                </a:solidFill>
                <a:latin typeface="Segoe UI"/>
                <a:cs typeface="Arabic Typesetting"/>
              </a:rPr>
              <a:t>ʿAqrabāʾ</a:t>
            </a:r>
            <a:endParaRPr sz="2700" b="1" i="0" dirty="0">
              <a:solidFill>
                <a:srgbClr val="1C2321"/>
              </a:solidFill>
              <a:latin typeface="Segoe UI"/>
              <a:cs typeface="Arabic Typesetting"/>
            </a:endParaRPr>
          </a:p>
        </p:txBody>
      </p:sp>
      <p:sp>
        <p:nvSpPr>
          <p:cNvPr id="14" name="card2"/>
          <p:cNvSpPr/>
          <p:nvPr/>
        </p:nvSpPr>
        <p:spPr>
          <a:xfrm>
            <a:off x="8097316"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80196" y="1700784"/>
            <a:ext cx="3161690" cy="1097280"/>
          </a:xfrm>
          <a:prstGeom prst="rect">
            <a:avLst/>
          </a:prstGeom>
          <a:noFill/>
        </p:spPr>
        <p:txBody>
          <a:bodyPr wrap="square" lIns="36576" tIns="0" rIns="36576" bIns="0" anchor="t">
            <a:spAutoFit/>
          </a:bodyPr>
          <a:lstStyle/>
          <a:p>
            <a:pPr algn="l">
              <a:lnSpc>
                <a:spcPct val="125000"/>
              </a:lnSpc>
            </a:pPr>
            <a:r>
              <a:rPr sz="3200" b="1" i="0">
                <a:solidFill>
                  <a:srgbClr val="0A322E"/>
                </a:solidFill>
                <a:latin typeface="Georgia"/>
                <a:cs typeface="Georgia"/>
              </a:rPr>
              <a:t>The tent</a:t>
            </a:r>
          </a:p>
        </p:txBody>
      </p:sp>
      <p:sp>
        <p:nvSpPr>
          <p:cNvPr id="17" name="TextBox 16"/>
          <p:cNvSpPr txBox="1"/>
          <p:nvPr/>
        </p:nvSpPr>
        <p:spPr>
          <a:xfrm>
            <a:off x="8280196" y="2807208"/>
            <a:ext cx="3161690" cy="2214132"/>
          </a:xfrm>
          <a:prstGeom prst="rect">
            <a:avLst/>
          </a:prstGeom>
          <a:noFill/>
        </p:spPr>
        <p:txBody>
          <a:bodyPr wrap="square" lIns="36576" tIns="0" rIns="36576" bIns="0" anchor="t">
            <a:spAutoFit/>
          </a:bodyPr>
          <a:lstStyle/>
          <a:p>
            <a:pPr algn="l">
              <a:lnSpc>
                <a:spcPct val="132000"/>
              </a:lnSpc>
            </a:pPr>
            <a:r>
              <a:rPr sz="2700" b="0" i="0" dirty="0">
                <a:solidFill>
                  <a:srgbClr val="1C2321"/>
                </a:solidFill>
                <a:latin typeface="Segoe UI"/>
                <a:cs typeface="Arabic Typesetting"/>
              </a:rPr>
              <a:t>A prisoner in irons in </a:t>
            </a:r>
            <a:r>
              <a:rPr sz="2700" b="0" i="0" dirty="0" err="1">
                <a:solidFill>
                  <a:srgbClr val="1C2321"/>
                </a:solidFill>
                <a:latin typeface="Segoe UI"/>
                <a:cs typeface="Arabic Typesetting"/>
              </a:rPr>
              <a:t>Khālid's</a:t>
            </a:r>
            <a:r>
              <a:rPr sz="2700" b="0" i="0" dirty="0">
                <a:solidFill>
                  <a:srgbClr val="1C2321"/>
                </a:solidFill>
                <a:latin typeface="Segoe UI"/>
                <a:cs typeface="Arabic Typesetting"/>
              </a:rPr>
              <a:t> ؓ own tent: </a:t>
            </a:r>
            <a:r>
              <a:rPr sz="2700" b="1" i="0" dirty="0" err="1">
                <a:solidFill>
                  <a:srgbClr val="1C2321"/>
                </a:solidFill>
                <a:latin typeface="Segoe UI"/>
                <a:cs typeface="Arabic Typesetting"/>
              </a:rPr>
              <a:t>Mujjāʿa</a:t>
            </a:r>
            <a:r>
              <a:rPr sz="2700" b="0" i="0" dirty="0">
                <a:solidFill>
                  <a:srgbClr val="1C2321"/>
                </a:solidFill>
                <a:latin typeface="Segoe UI"/>
                <a:cs typeface="Arabic Typesetting"/>
              </a:rPr>
              <a:t> of </a:t>
            </a:r>
            <a:r>
              <a:rPr sz="2700" b="0" i="0" dirty="0" err="1">
                <a:solidFill>
                  <a:srgbClr val="1C2321"/>
                </a:solidFill>
                <a:latin typeface="Segoe UI"/>
                <a:cs typeface="Arabic Typesetting"/>
              </a:rPr>
              <a:t>Banū</a:t>
            </a:r>
            <a:r>
              <a:rPr sz="2700" b="0" i="0" dirty="0">
                <a:solidFill>
                  <a:srgbClr val="1C2321"/>
                </a:solidFill>
                <a:latin typeface="Segoe UI"/>
                <a:cs typeface="Arabic Typesetting"/>
              </a:rPr>
              <a:t> </a:t>
            </a:r>
            <a:r>
              <a:rPr sz="2700" b="0" i="0" dirty="0" err="1">
                <a:solidFill>
                  <a:srgbClr val="1C2321"/>
                </a:solidFill>
                <a:latin typeface="Segoe UI"/>
                <a:cs typeface="Arabic Typesetting"/>
              </a:rPr>
              <a:t>Ḥanīfa</a:t>
            </a:r>
            <a:endParaRPr sz="2700" b="0" i="0" dirty="0">
              <a:solidFill>
                <a:srgbClr val="1C2321"/>
              </a:solidFill>
              <a:latin typeface="Segoe UI"/>
              <a:cs typeface="Arabic Typesetting"/>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11–12 AH — the books disagree</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The order of battle</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ورايةُ المهاجرين مع سالم … ورايةُ الأنصار مع ثابت بن قيس … والعرب على راياتها</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The Muhājirūn's banner was with Sālim … the Anṣār's banner with Thābit b. Qays … and the Arabs each under their own banners.</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11–12 AH — attribution disputed</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"Today is the day of honour"</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اليوم يوم الغيرة، اليوم إن هُزمتم تُستنكح النساء سَبيّاتٍ … فقاتلوا عن أحسابكم، وامنعوا نساءكم.</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Today is the day of honour. Today, if you are routed, the women will be taken as captives … So fight for your own standing, and protect your women.</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654282"/>
          </a:xfrm>
          <a:prstGeom prst="rect">
            <a:avLst/>
          </a:prstGeom>
          <a:noFill/>
        </p:spPr>
        <p:txBody>
          <a:bodyPr wrap="square" lIns="36576" tIns="0" rIns="36576" bIns="0" anchor="t">
            <a:spAutoFit/>
          </a:bodyPr>
          <a:lstStyle/>
          <a:p>
            <a:pPr algn="l">
              <a:lnSpc>
                <a:spcPct val="116000"/>
              </a:lnSpc>
            </a:pPr>
            <a:r>
              <a:rPr sz="4000" b="1" i="0" dirty="0">
                <a:solidFill>
                  <a:srgbClr val="FAF7F0"/>
                </a:solidFill>
                <a:latin typeface="Georgia"/>
                <a:cs typeface="Georgia"/>
              </a:rPr>
              <a:t>The line breaks</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فكانت جولة … حتى دخلت بنو حنيفة خيمةَ خالد بن الوليد وهمّوا بقتل أم تميم، حتى أجارها مجاعة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There was a rout … Banū Ḥanīfa entered Khālid b. al-Walīd's own tent and were minded to kill Umm Tamīm — until Mujjāʿa gave her his protection…</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655500"/>
          </a:xfrm>
          <a:prstGeom prst="rect">
            <a:avLst/>
          </a:prstGeom>
          <a:noFill/>
        </p:spPr>
        <p:txBody>
          <a:bodyPr wrap="square" lIns="36576" tIns="0" rIns="36576" bIns="0" anchor="t">
            <a:spAutoFit/>
          </a:bodyPr>
          <a:lstStyle/>
          <a:p>
            <a:pPr algn="l">
              <a:lnSpc>
                <a:spcPct val="116000"/>
              </a:lnSpc>
            </a:pPr>
            <a:r>
              <a:rPr lang="en-US" sz="4000" b="1" i="0" dirty="0">
                <a:solidFill>
                  <a:srgbClr val="FAF7F0"/>
                </a:solidFill>
                <a:latin typeface="Georgia"/>
                <a:cs typeface="Georgia"/>
              </a:rPr>
              <a:t>al-</a:t>
            </a:r>
            <a:r>
              <a:rPr lang="en-US" sz="4000" b="1" i="0" dirty="0" err="1">
                <a:solidFill>
                  <a:srgbClr val="FAF7F0"/>
                </a:solidFill>
                <a:latin typeface="Georgia"/>
                <a:cs typeface="Georgia"/>
              </a:rPr>
              <a:t>Rajjāl</a:t>
            </a:r>
            <a:r>
              <a:rPr lang="en-US" sz="4000" b="1" i="0" dirty="0">
                <a:solidFill>
                  <a:srgbClr val="FAF7F0"/>
                </a:solidFill>
                <a:latin typeface="Georgia"/>
                <a:cs typeface="Georgia"/>
              </a:rPr>
              <a:t> b. </a:t>
            </a:r>
            <a:r>
              <a:rPr lang="en-US" sz="4000" b="1" i="0" dirty="0" err="1">
                <a:solidFill>
                  <a:srgbClr val="FAF7F0"/>
                </a:solidFill>
                <a:latin typeface="Georgia"/>
                <a:cs typeface="Georgia"/>
              </a:rPr>
              <a:t>ʿUnfuwa</a:t>
            </a:r>
            <a:endParaRPr sz="4000" b="1" i="0" dirty="0">
              <a:solidFill>
                <a:srgbClr val="FAF7F0"/>
              </a:solidFill>
              <a:latin typeface="Georgia"/>
              <a:cs typeface="Georgia"/>
            </a:endParaRPr>
          </a:p>
        </p:txBody>
      </p:sp>
      <p:sp>
        <p:nvSpPr>
          <p:cNvPr id="6" name="TextBox 5"/>
          <p:cNvSpPr txBox="1"/>
          <p:nvPr/>
        </p:nvSpPr>
        <p:spPr>
          <a:xfrm>
            <a:off x="566928" y="1882140"/>
            <a:ext cx="11057839" cy="2331720"/>
          </a:xfrm>
          <a:prstGeom prst="rect">
            <a:avLst/>
          </a:prstGeom>
          <a:noFill/>
        </p:spPr>
        <p:txBody>
          <a:bodyPr wrap="square" lIns="36576" tIns="0" rIns="36576" bIns="0" anchor="t">
            <a:spAutoFit/>
          </a:bodyPr>
          <a:lstStyle/>
          <a:p>
            <a:pPr algn="r" rtl="1">
              <a:lnSpc>
                <a:spcPct val="150000"/>
              </a:lnSpc>
            </a:pPr>
            <a:r>
              <a:rPr lang="ar-SA" sz="5400" b="0" i="0">
                <a:solidFill>
                  <a:srgbClr val="0A322E"/>
                </a:solidFill>
                <a:latin typeface="Traditional Arabic"/>
                <a:cs typeface="Traditional Arabic"/>
              </a:rPr>
              <a:t>فَكَانَ أَعْظَمَ فِتْنَةً عَلَى بَنِي حَنِيفَةَ مِنْ مُسَيْلِمَةَ … فَصَدَّقُوهُ وَاسْتَجَابُوا لَهُ</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652772"/>
            <a:ext cx="11057839" cy="1136903"/>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He was a greater fitna upon Banū Ḥanīfa than Musaylima … and they believed him and answered him.</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al-Kamil, vol. 2, p. 215</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"People of Sūrat al-Baqara"</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وجعلت الصحابة يتواصَون بينهم ويقولون: يا أصحاب سورةِ البقرةِ، بَطلَ السِّحْرُ اليوم</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"And the Companions began enjoining one another, saying: People of Sūrat al-Baqara — today the sorcery is undone."</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Arabic Typesetting"/>
              </a:rPr>
              <a:t>Thābit b. Qays ؓ puts on his shroud</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هَكَذَا عَنْ وُجُوْهِنَا نُقَارِعُ القَوْمَ … مَا هَكَذَا كُنَّا نُقَاتِلُ مَعَ رَسُوْلِ اللهِ ﷺ.</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Traditional Arabic"/>
              </a:rPr>
              <a:t>Get out of our faces so we can strike the enemy … This is not how we used to fight alongside the Messenger of Allah ﷺ.</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Siyar A'lam al-Nubala, vol. 1, p. 311 — Sahih al-Bukhari 2845</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Arabic Typesetting"/>
              </a:rPr>
              <a:t>Sālim ؓ with the Muhājirūn's banner</a:t>
            </a:r>
          </a:p>
        </p:txBody>
      </p:sp>
      <p:sp>
        <p:nvSpPr>
          <p:cNvPr id="5" name="TextBox 4"/>
          <p:cNvSpPr txBox="1"/>
          <p:nvPr/>
        </p:nvSpPr>
        <p:spPr>
          <a:xfrm>
            <a:off x="566928" y="402336"/>
            <a:ext cx="11057839" cy="654282"/>
          </a:xfrm>
          <a:prstGeom prst="rect">
            <a:avLst/>
          </a:prstGeom>
          <a:noFill/>
        </p:spPr>
        <p:txBody>
          <a:bodyPr wrap="square" lIns="36576" tIns="0" rIns="36576" bIns="0" anchor="t">
            <a:spAutoFit/>
          </a:bodyPr>
          <a:lstStyle/>
          <a:p>
            <a:pPr algn="l">
              <a:lnSpc>
                <a:spcPct val="116000"/>
              </a:lnSpc>
            </a:pPr>
            <a:r>
              <a:rPr sz="4000" b="1" i="0" dirty="0">
                <a:solidFill>
                  <a:srgbClr val="FAF7F0"/>
                </a:solidFill>
                <a:latin typeface="Georgia"/>
                <a:cs typeface="Georgia"/>
              </a:rPr>
              <a:t>"</a:t>
            </a:r>
            <a:r>
              <a:rPr lang="en-US" sz="4000" b="1" i="0" dirty="0">
                <a:solidFill>
                  <a:srgbClr val="FAF7F0"/>
                </a:solidFill>
                <a:latin typeface="Georgia"/>
                <a:cs typeface="Georgia"/>
              </a:rPr>
              <a:t>Salim mawla Abi Hudaifa R.A</a:t>
            </a:r>
            <a:r>
              <a:rPr sz="4000" b="1" i="0" dirty="0">
                <a:solidFill>
                  <a:srgbClr val="FAF7F0"/>
                </a:solidFill>
                <a:latin typeface="Georgia"/>
                <a:cs typeface="Georgia"/>
              </a:rPr>
              <a:t>"</a:t>
            </a:r>
          </a:p>
        </p:txBody>
      </p:sp>
      <p:sp>
        <p:nvSpPr>
          <p:cNvPr id="6" name="TextBox 5"/>
          <p:cNvSpPr txBox="1"/>
          <p:nvPr/>
        </p:nvSpPr>
        <p:spPr>
          <a:xfrm>
            <a:off x="566928" y="1882140"/>
            <a:ext cx="11057839" cy="2331720"/>
          </a:xfrm>
          <a:prstGeom prst="rect">
            <a:avLst/>
          </a:prstGeom>
          <a:noFill/>
        </p:spPr>
        <p:txBody>
          <a:bodyPr wrap="square" lIns="36576" tIns="0" rIns="36576" bIns="0" anchor="t">
            <a:spAutoFit/>
          </a:bodyPr>
          <a:lstStyle/>
          <a:p>
            <a:pPr algn="r" rtl="1">
              <a:lnSpc>
                <a:spcPct val="150000"/>
              </a:lnSpc>
            </a:pPr>
            <a:r>
              <a:rPr lang="ar-SA" sz="5400" b="0" i="0">
                <a:solidFill>
                  <a:srgbClr val="0A322E"/>
                </a:solidFill>
                <a:latin typeface="Traditional Arabic"/>
                <a:cs typeface="Traditional Arabic"/>
              </a:rPr>
              <a:t>أتخشى أن نؤتى من قبلك؟ فقال: بئس حامل القرآن أنا إذًا.</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652772"/>
            <a:ext cx="11057839" cy="1136903"/>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…Do you fear we shall be broken from your side? He said: A wretched bearer of the Qurʾān I should be, then.</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Arabic Typesetting"/>
              </a:rPr>
              <a:t>Zayd b. al-Khaṭṭāb ؓ — "I will not speak"</a:t>
            </a:r>
          </a:p>
        </p:txBody>
      </p:sp>
      <p:sp>
        <p:nvSpPr>
          <p:cNvPr id="6" name="TextBox 5"/>
          <p:cNvSpPr txBox="1"/>
          <p:nvPr/>
        </p:nvSpPr>
        <p:spPr>
          <a:xfrm>
            <a:off x="566928" y="1882140"/>
            <a:ext cx="11057839" cy="2331720"/>
          </a:xfrm>
          <a:prstGeom prst="rect">
            <a:avLst/>
          </a:prstGeom>
          <a:noFill/>
        </p:spPr>
        <p:txBody>
          <a:bodyPr wrap="square" lIns="36576" tIns="0" rIns="36576" bIns="0" anchor="t">
            <a:spAutoFit/>
          </a:bodyPr>
          <a:lstStyle/>
          <a:p>
            <a:pPr algn="r" rtl="1">
              <a:lnSpc>
                <a:spcPct val="150000"/>
              </a:lnSpc>
            </a:pPr>
            <a:r>
              <a:rPr lang="ar-SA" sz="5400" b="0" i="0">
                <a:solidFill>
                  <a:srgbClr val="0A322E"/>
                </a:solidFill>
                <a:latin typeface="Traditional Arabic"/>
                <a:cs typeface="Traditional Arabic"/>
              </a:rPr>
              <a:t>والله لا أتكلَّمُ حتى يهزمهم اللهُ أو ألقىَ اللهَ فأكلِّمه بحجَّتي</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652772"/>
            <a:ext cx="11057839" cy="1136903"/>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…By Allah, I will not speak until Allah routs them, or I meet Allah and speak to Him with my case.</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Arabic Typesetting"/>
              </a:rPr>
              <a:t>The other wing: Abū Ḥudhayfa ؓ</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"Adorn the Qurʾān with deeds"</a:t>
            </a:r>
          </a:p>
        </p:txBody>
      </p:sp>
      <p:sp>
        <p:nvSpPr>
          <p:cNvPr id="6" name="TextBox 5"/>
          <p:cNvSpPr txBox="1"/>
          <p:nvPr/>
        </p:nvSpPr>
        <p:spPr>
          <a:xfrm>
            <a:off x="566928" y="2644140"/>
            <a:ext cx="11057839" cy="1303020"/>
          </a:xfrm>
          <a:prstGeom prst="rect">
            <a:avLst/>
          </a:prstGeom>
          <a:noFill/>
        </p:spPr>
        <p:txBody>
          <a:bodyPr wrap="square" lIns="36576" tIns="0" rIns="36576" bIns="0" anchor="t">
            <a:spAutoFit/>
          </a:bodyPr>
          <a:lstStyle/>
          <a:p>
            <a:pPr algn="r" rtl="1">
              <a:lnSpc>
                <a:spcPct val="150000"/>
              </a:lnSpc>
            </a:pPr>
            <a:r>
              <a:rPr lang="ar-SA" sz="5400" b="0" i="0">
                <a:solidFill>
                  <a:srgbClr val="0A322E"/>
                </a:solidFill>
                <a:latin typeface="Traditional Arabic"/>
                <a:cs typeface="Traditional Arabic"/>
              </a:rPr>
              <a:t>يا أهلَ القرآنِ زيِّنوا القرآنَ بالفِعال</a:t>
            </a:r>
          </a:p>
        </p:txBody>
      </p:sp>
      <p:sp>
        <p:nvSpPr>
          <p:cNvPr id="7" name="Rectangle 6"/>
          <p:cNvSpPr/>
          <p:nvPr/>
        </p:nvSpPr>
        <p:spPr>
          <a:xfrm>
            <a:off x="566928" y="40751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386072"/>
            <a:ext cx="11057839" cy="6416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"People of the Qurʾān — adorn the Qurʾān with deeds."</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Arabic Typesetting"/>
              </a:rPr>
              <a:t>Khālid ؓ between the lines</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أنا ابن الوليد العَوْد، أنا ابن عامر وزيد … وجعل لا يبرز لهم أحدٌ إلا قتله</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I am the son of al-Walīd the seasoned; I am the son of ʿĀmir and Zayd … and no one came out against him but he killed him.</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82880"/>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The line re-formed</a:t>
            </a:r>
          </a:p>
        </p:txBody>
      </p:sp>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819479" y="1499616"/>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Clan by clan</a:t>
            </a:r>
          </a:p>
        </p:txBody>
      </p:sp>
      <p:sp>
        <p:nvSpPr>
          <p:cNvPr id="8" name="TextBox 7"/>
          <p:cNvSpPr txBox="1"/>
          <p:nvPr/>
        </p:nvSpPr>
        <p:spPr>
          <a:xfrm>
            <a:off x="8819479" y="1920240"/>
            <a:ext cx="2805288" cy="4306824"/>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Muhājirūn, Anṣār, the tribes</a:t>
            </a:r>
          </a:p>
        </p:txBody>
      </p:sp>
      <p:pic>
        <p:nvPicPr>
          <p:cNvPr id="12" name="Picture 11">
            <a:extLst>
              <a:ext uri="{FF2B5EF4-FFF2-40B4-BE49-F238E27FC236}">
                <a16:creationId xmlns:a16="http://schemas.microsoft.com/office/drawing/2014/main" id="{AAD199E0-8065-AF96-D755-D6338C7951EC}"/>
              </a:ext>
            </a:extLst>
          </p:cNvPr>
          <p:cNvPicPr>
            <a:picLocks noChangeAspect="1"/>
          </p:cNvPicPr>
          <p:nvPr/>
        </p:nvPicPr>
        <p:blipFill>
          <a:blip r:embed="rId3"/>
          <a:stretch>
            <a:fillRect/>
          </a:stretch>
        </p:blipFill>
        <p:spPr>
          <a:xfrm>
            <a:off x="0" y="1507355"/>
            <a:ext cx="8355584" cy="4700016"/>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Every clan under its own banner</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امْتَازُوا أَيُّهَا النَّاسُ لِنَعْلَمَ بَلَاءَ كُلِّ حَيٍّ … قَالَ بَعْضُهُمْ لِبَعْضٍ: الْيَوْمَ يُسْتَحَى مِنَ الْفِرَارِ.</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Separate out, people, so we may know what each clan is worth … they said to one another: Today, running is shameful.</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al-Kamil, vol. 2, p. 217</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82880"/>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Tonight on the Line</a:t>
            </a:r>
          </a:p>
        </p:txBody>
      </p:sp>
      <p:pic>
        <p:nvPicPr>
          <p:cNvPr id="5" name="Picture 4" descr="line_s04_stop_c.trim.png"/>
          <p:cNvPicPr>
            <a:picLocks noChangeAspect="1"/>
          </p:cNvPicPr>
          <p:nvPr/>
        </p:nvPicPr>
        <p:blipFill>
          <a:blip r:embed="rId3"/>
          <a:stretch>
            <a:fillRect/>
          </a:stretch>
        </p:blipFill>
        <p:spPr>
          <a:xfrm>
            <a:off x="1862354" y="1389888"/>
            <a:ext cx="8466986" cy="4956048"/>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82880"/>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Where we stand</a:t>
            </a:r>
          </a:p>
        </p:txBody>
      </p:sp>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819479" y="1499616"/>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ʿAqrabāʾ</a:t>
            </a:r>
          </a:p>
        </p:txBody>
      </p:sp>
      <p:sp>
        <p:nvSpPr>
          <p:cNvPr id="8" name="TextBox 7"/>
          <p:cNvSpPr txBox="1"/>
          <p:nvPr/>
        </p:nvSpPr>
        <p:spPr>
          <a:xfrm>
            <a:off x="8819479" y="1920240"/>
            <a:ext cx="2805288" cy="1943100"/>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the line re-formed</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819479" y="3863340"/>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Ḥajr</a:t>
            </a:r>
          </a:p>
        </p:txBody>
      </p:sp>
      <p:sp>
        <p:nvSpPr>
          <p:cNvPr id="11" name="TextBox 10"/>
          <p:cNvSpPr txBox="1"/>
          <p:nvPr/>
        </p:nvSpPr>
        <p:spPr>
          <a:xfrm>
            <a:off x="8819479" y="4283964"/>
            <a:ext cx="2805288" cy="1943100"/>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the town behind them</a:t>
            </a:r>
          </a:p>
        </p:txBody>
      </p:sp>
      <p:pic>
        <p:nvPicPr>
          <p:cNvPr id="15" name="Picture 14">
            <a:extLst>
              <a:ext uri="{FF2B5EF4-FFF2-40B4-BE49-F238E27FC236}">
                <a16:creationId xmlns:a16="http://schemas.microsoft.com/office/drawing/2014/main" id="{E245BB74-97D9-5A64-DCC8-0070CA9F5C6C}"/>
              </a:ext>
            </a:extLst>
          </p:cNvPr>
          <p:cNvPicPr>
            <a:picLocks noChangeAspect="1"/>
          </p:cNvPicPr>
          <p:nvPr/>
        </p:nvPicPr>
        <p:blipFill>
          <a:blip r:embed="rId3"/>
          <a:stretch>
            <a:fillRect/>
          </a:stretch>
        </p:blipFill>
        <p:spPr>
          <a:xfrm>
            <a:off x="0" y="1507355"/>
            <a:ext cx="8355584" cy="4700016"/>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82880"/>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77824" y="1499616"/>
            <a:ext cx="10746943" cy="477438"/>
          </a:xfrm>
          <a:prstGeom prst="rect">
            <a:avLst/>
          </a:prstGeom>
          <a:noFill/>
        </p:spPr>
        <p:txBody>
          <a:bodyPr wrap="square" lIns="36576" tIns="0" rIns="36576" bIns="0" anchor="t">
            <a:spAutoFit/>
          </a:bodyPr>
          <a:lstStyle/>
          <a:p>
            <a:pPr algn="l">
              <a:lnSpc>
                <a:spcPct val="122000"/>
              </a:lnSpc>
            </a:pPr>
            <a:r>
              <a:rPr lang="en-US" sz="2800" b="0" i="0" dirty="0" err="1">
                <a:solidFill>
                  <a:srgbClr val="1C2321"/>
                </a:solidFill>
                <a:latin typeface="Georgia"/>
                <a:cs typeface="Georgia"/>
              </a:rPr>
              <a:t>Musalyma</a:t>
            </a:r>
            <a:r>
              <a:rPr lang="en-US" sz="2800" b="0" i="0" dirty="0">
                <a:solidFill>
                  <a:srgbClr val="1C2321"/>
                </a:solidFill>
                <a:latin typeface="Georgia"/>
                <a:cs typeface="Georgia"/>
              </a:rPr>
              <a:t> asks for half of Arabia</a:t>
            </a:r>
            <a:endParaRPr sz="2800" b="0" i="0" dirty="0">
              <a:solidFill>
                <a:srgbClr val="1C2321"/>
              </a:solidFill>
              <a:latin typeface="Georgia"/>
              <a:cs typeface="Georgia"/>
            </a:endParaRPr>
          </a:p>
        </p:txBody>
      </p:sp>
      <p:sp>
        <p:nvSpPr>
          <p:cNvPr id="7" name="Rectangle 6"/>
          <p:cNvSpPr/>
          <p:nvPr/>
        </p:nvSpPr>
        <p:spPr>
          <a:xfrm>
            <a:off x="566928" y="2727198"/>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77824" y="2681478"/>
            <a:ext cx="10746943" cy="1003095"/>
          </a:xfrm>
          <a:prstGeom prst="rect">
            <a:avLst/>
          </a:prstGeom>
          <a:noFill/>
        </p:spPr>
        <p:txBody>
          <a:bodyPr wrap="square" lIns="36576" tIns="0" rIns="36576" bIns="0" anchor="t">
            <a:spAutoFit/>
          </a:bodyPr>
          <a:lstStyle/>
          <a:p>
            <a:pPr algn="l">
              <a:lnSpc>
                <a:spcPct val="122000"/>
              </a:lnSpc>
            </a:pPr>
            <a:r>
              <a:rPr lang="en-US" sz="2800" b="0" i="0" dirty="0">
                <a:solidFill>
                  <a:srgbClr val="1C2321"/>
                </a:solidFill>
                <a:latin typeface="Georgia"/>
                <a:cs typeface="Georgia"/>
              </a:rPr>
              <a:t>Abu Bakr R.A</a:t>
            </a:r>
            <a:r>
              <a:rPr sz="2800" b="0" i="0" dirty="0">
                <a:solidFill>
                  <a:srgbClr val="1C2321"/>
                </a:solidFill>
                <a:latin typeface="Georgia"/>
                <a:cs typeface="Georgia"/>
              </a:rPr>
              <a:t> </a:t>
            </a:r>
            <a:r>
              <a:rPr lang="en-US" sz="2800" b="0" i="0" dirty="0">
                <a:solidFill>
                  <a:srgbClr val="1C2321"/>
                </a:solidFill>
                <a:latin typeface="Georgia"/>
                <a:cs typeface="Georgia"/>
              </a:rPr>
              <a:t>accepted that Khalid R.A had erred</a:t>
            </a:r>
            <a:r>
              <a:rPr sz="2800" b="0" i="0" dirty="0">
                <a:solidFill>
                  <a:srgbClr val="1C2321"/>
                </a:solidFill>
                <a:latin typeface="Georgia"/>
                <a:cs typeface="Georgia"/>
              </a:rPr>
              <a:t>, paid </a:t>
            </a:r>
            <a:r>
              <a:rPr lang="en-US" sz="2800" b="0" i="0" dirty="0">
                <a:solidFill>
                  <a:srgbClr val="1C2321"/>
                </a:solidFill>
                <a:latin typeface="Georgia"/>
                <a:cs typeface="Georgia"/>
              </a:rPr>
              <a:t>blood money</a:t>
            </a:r>
            <a:r>
              <a:rPr sz="2800" b="0" i="0" dirty="0">
                <a:solidFill>
                  <a:srgbClr val="1C2321"/>
                </a:solidFill>
                <a:latin typeface="Georgia"/>
                <a:cs typeface="Georgia"/>
              </a:rPr>
              <a:t>, </a:t>
            </a:r>
            <a:r>
              <a:rPr lang="en-US" sz="2800" dirty="0">
                <a:solidFill>
                  <a:srgbClr val="1C2321"/>
                </a:solidFill>
                <a:latin typeface="Georgia"/>
                <a:cs typeface="Georgia"/>
              </a:rPr>
              <a:t>but didn’t remove him</a:t>
            </a:r>
            <a:endParaRPr sz="2800" b="0" i="0" dirty="0">
              <a:solidFill>
                <a:srgbClr val="1C2321"/>
              </a:solidFill>
              <a:latin typeface="Georgia"/>
              <a:cs typeface="Georgia"/>
            </a:endParaRPr>
          </a:p>
        </p:txBody>
      </p:sp>
      <p:sp>
        <p:nvSpPr>
          <p:cNvPr id="9" name="Rectangle 8"/>
          <p:cNvSpPr/>
          <p:nvPr/>
        </p:nvSpPr>
        <p:spPr>
          <a:xfrm>
            <a:off x="566928" y="3909060"/>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77824" y="3863340"/>
            <a:ext cx="10746943" cy="1181862"/>
          </a:xfrm>
          <a:prstGeom prst="rect">
            <a:avLst/>
          </a:prstGeom>
          <a:noFill/>
        </p:spPr>
        <p:txBody>
          <a:bodyPr wrap="square" lIns="36576" tIns="0" rIns="36576" bIns="0" anchor="t">
            <a:spAutoFit/>
          </a:bodyPr>
          <a:lstStyle/>
          <a:p>
            <a:pPr algn="l">
              <a:lnSpc>
                <a:spcPct val="122000"/>
              </a:lnSpc>
            </a:pPr>
            <a:r>
              <a:rPr sz="2800" b="0" i="0" dirty="0">
                <a:solidFill>
                  <a:srgbClr val="1C2321"/>
                </a:solidFill>
                <a:latin typeface="Georgia"/>
                <a:cs typeface="Georgia"/>
              </a:rPr>
              <a:t>When the line broke, what re-formed it was what the men had </a:t>
            </a:r>
            <a:r>
              <a:rPr sz="2800" b="0" i="0" dirty="0" err="1">
                <a:solidFill>
                  <a:srgbClr val="1C2321"/>
                </a:solidFill>
                <a:latin typeface="Georgia"/>
                <a:cs typeface="Georgia"/>
              </a:rPr>
              <a:t>memorised</a:t>
            </a:r>
            <a:r>
              <a:rPr sz="2800" b="0" i="0" dirty="0">
                <a:solidFill>
                  <a:srgbClr val="1C2321"/>
                </a:solidFill>
                <a:latin typeface="Georgia"/>
                <a:cs typeface="Georgia"/>
              </a:rPr>
              <a:t>.</a:t>
            </a:r>
          </a:p>
        </p:txBody>
      </p:sp>
      <p:sp>
        <p:nvSpPr>
          <p:cNvPr id="11" name="Rectangle 10"/>
          <p:cNvSpPr/>
          <p:nvPr/>
        </p:nvSpPr>
        <p:spPr>
          <a:xfrm>
            <a:off x="566928" y="509092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77824" y="5045202"/>
            <a:ext cx="10746943" cy="477438"/>
          </a:xfrm>
          <a:prstGeom prst="rect">
            <a:avLst/>
          </a:prstGeom>
          <a:noFill/>
        </p:spPr>
        <p:txBody>
          <a:bodyPr wrap="square" lIns="36576" tIns="0" rIns="36576" bIns="0" anchor="t">
            <a:spAutoFit/>
          </a:bodyPr>
          <a:lstStyle/>
          <a:p>
            <a:pPr algn="l">
              <a:lnSpc>
                <a:spcPct val="122000"/>
              </a:lnSpc>
            </a:pPr>
            <a:r>
              <a:rPr lang="en-US" sz="2800" b="0" i="0" dirty="0">
                <a:solidFill>
                  <a:srgbClr val="1C2321"/>
                </a:solidFill>
                <a:latin typeface="Georgia"/>
                <a:cs typeface="Georgia"/>
              </a:rPr>
              <a:t>Banu Hanifa go to the garden of death</a:t>
            </a:r>
            <a:endParaRPr sz="2800" b="0" i="0" dirty="0">
              <a:solidFill>
                <a:srgbClr val="1C2321"/>
              </a:solidFill>
              <a:latin typeface="Georgia"/>
              <a:cs typeface="Georgia"/>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2788920"/>
            <a:ext cx="10728655" cy="731520"/>
          </a:xfrm>
          <a:prstGeom prst="rect">
            <a:avLst/>
          </a:prstGeom>
          <a:noFill/>
        </p:spPr>
        <p:txBody>
          <a:bodyPr wrap="square" lIns="36576" tIns="0" rIns="36576" bIns="0" anchor="ctr">
            <a:spAutoFit/>
          </a:bodyPr>
          <a:lstStyle/>
          <a:p>
            <a:pPr algn="l">
              <a:lnSpc>
                <a:spcPct val="125000"/>
              </a:lnSpc>
            </a:pPr>
            <a:r>
              <a:rPr sz="4600" b="1" i="0">
                <a:solidFill>
                  <a:srgbClr val="0A322E"/>
                </a:solidFill>
                <a:latin typeface="Georgia"/>
                <a:cs typeface="Georgia"/>
              </a:rPr>
              <a:t>Part V</a:t>
            </a:r>
          </a:p>
        </p:txBody>
      </p:sp>
      <p:sp>
        <p:nvSpPr>
          <p:cNvPr id="5" name="TextBox 4"/>
          <p:cNvSpPr txBox="1"/>
          <p:nvPr/>
        </p:nvSpPr>
        <p:spPr>
          <a:xfrm>
            <a:off x="868680" y="3520440"/>
            <a:ext cx="10728655" cy="548640"/>
          </a:xfrm>
          <a:prstGeom prst="rect">
            <a:avLst/>
          </a:prstGeom>
          <a:noFill/>
        </p:spPr>
        <p:txBody>
          <a:bodyPr wrap="square" lIns="36576" tIns="0" rIns="36576" bIns="0" anchor="t">
            <a:spAutoFit/>
          </a:bodyPr>
          <a:lstStyle/>
          <a:p>
            <a:pPr algn="l">
              <a:lnSpc>
                <a:spcPct val="125000"/>
              </a:lnSpc>
            </a:pPr>
            <a:r>
              <a:rPr sz="2800" b="0" i="0">
                <a:solidFill>
                  <a:srgbClr val="5A6862"/>
                </a:solidFill>
                <a:latin typeface="Segoe UI"/>
                <a:cs typeface="Segoe UI"/>
              </a:rPr>
              <a:t>The day decided</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82880"/>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Into the garden</a:t>
            </a:r>
          </a:p>
        </p:txBody>
      </p:sp>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819479" y="1499616"/>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The garden</a:t>
            </a:r>
          </a:p>
        </p:txBody>
      </p:sp>
      <p:sp>
        <p:nvSpPr>
          <p:cNvPr id="8" name="TextBox 7"/>
          <p:cNvSpPr txBox="1"/>
          <p:nvPr/>
        </p:nvSpPr>
        <p:spPr>
          <a:xfrm>
            <a:off x="8819479" y="1920240"/>
            <a:ext cx="2805288" cy="4306824"/>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the gate shut behind them</a:t>
            </a:r>
          </a:p>
        </p:txBody>
      </p:sp>
      <p:pic>
        <p:nvPicPr>
          <p:cNvPr id="10" name="Picture 9">
            <a:extLst>
              <a:ext uri="{FF2B5EF4-FFF2-40B4-BE49-F238E27FC236}">
                <a16:creationId xmlns:a16="http://schemas.microsoft.com/office/drawing/2014/main" id="{3098DE3B-4133-05BD-4D2E-60272A07A317}"/>
              </a:ext>
            </a:extLst>
          </p:cNvPr>
          <p:cNvPicPr>
            <a:picLocks noChangeAspect="1"/>
          </p:cNvPicPr>
          <p:nvPr/>
        </p:nvPicPr>
        <p:blipFill>
          <a:blip r:embed="rId3"/>
          <a:stretch>
            <a:fillRect/>
          </a:stretch>
        </p:blipFill>
        <p:spPr>
          <a:xfrm>
            <a:off x="0" y="1419156"/>
            <a:ext cx="8481120" cy="4770630"/>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«The garden, the garden!»</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وَنَادَى الْمُحَكَّمُ: يَا بَنِي حَنِيفَةَ، الْحَدِيقَةَ الْحَدِيقَةَ! فَدَخَلُوهَا وَأَغْلَقُوا عَلَيْهِمْ بَابَهَا.</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"And al-Muḥakkam called out: Banū Ḥanīfa — the garden, the garden! So they went into it and barred its gate behind them."</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al-Kamil, vol. 2, p. 217</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Ḥadīqat al-Mawt — over the wall</a:t>
            </a:r>
          </a:p>
        </p:txBody>
      </p:sp>
      <p:sp>
        <p:nvSpPr>
          <p:cNvPr id="6" name="TextBox 5"/>
          <p:cNvSpPr txBox="1"/>
          <p:nvPr/>
        </p:nvSpPr>
        <p:spPr>
          <a:xfrm>
            <a:off x="566928" y="1653540"/>
            <a:ext cx="11057839" cy="27889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يَا مَعْشَرَ الْمُسْلِمِينَ، أَلْقُونِي عَلَيْهِمْ فِي الْحَدِيقَةِ. فَقَالُوا: لَا نَفْعَلُ، فَقَالَ: وَاللَّهِ لَتَطْرَحُنَّنِي عَلَيْهِمْ بِهَا! … وَقَاتَلَ عَلَى الْبَابِ وَفَتَحَهُ لِلْمُسْلِمِينَ.</a:t>
            </a:r>
          </a:p>
        </p:txBody>
      </p:sp>
      <p:sp>
        <p:nvSpPr>
          <p:cNvPr id="7" name="Rectangle 6"/>
          <p:cNvSpPr/>
          <p:nvPr/>
        </p:nvSpPr>
        <p:spPr>
          <a:xfrm>
            <a:off x="566928" y="45704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881372"/>
            <a:ext cx="11057839" cy="1136903"/>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"Company of Muslims — throw me over onto them into the garden. They said: we will not…"</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al-Kamil, vol. 2, p. 218</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82880"/>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The gate opens</a:t>
            </a:r>
          </a:p>
        </p:txBody>
      </p:sp>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819479" y="1499616"/>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Arabic Typesetting"/>
              </a:rPr>
              <a:t>al-Barāʾ ؓ</a:t>
            </a:r>
          </a:p>
        </p:txBody>
      </p:sp>
      <p:sp>
        <p:nvSpPr>
          <p:cNvPr id="8" name="TextBox 7"/>
          <p:cNvSpPr txBox="1"/>
          <p:nvPr/>
        </p:nvSpPr>
        <p:spPr>
          <a:xfrm>
            <a:off x="8819479" y="1920240"/>
            <a:ext cx="2805288" cy="1943100"/>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over the wall, and the gate</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819479" y="3863340"/>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al-Yamāma</a:t>
            </a:r>
          </a:p>
        </p:txBody>
      </p:sp>
      <p:sp>
        <p:nvSpPr>
          <p:cNvPr id="11" name="TextBox 10"/>
          <p:cNvSpPr txBox="1"/>
          <p:nvPr/>
        </p:nvSpPr>
        <p:spPr>
          <a:xfrm>
            <a:off x="8819479" y="4283964"/>
            <a:ext cx="2805288" cy="1943100"/>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taken</a:t>
            </a:r>
          </a:p>
        </p:txBody>
      </p:sp>
      <p:pic>
        <p:nvPicPr>
          <p:cNvPr id="15" name="Picture 14">
            <a:extLst>
              <a:ext uri="{FF2B5EF4-FFF2-40B4-BE49-F238E27FC236}">
                <a16:creationId xmlns:a16="http://schemas.microsoft.com/office/drawing/2014/main" id="{16B40627-37D3-210F-6AD6-2CEE58569150}"/>
              </a:ext>
            </a:extLst>
          </p:cNvPr>
          <p:cNvPicPr>
            <a:picLocks noChangeAspect="1"/>
          </p:cNvPicPr>
          <p:nvPr/>
        </p:nvPicPr>
        <p:blipFill>
          <a:blip r:embed="rId3"/>
          <a:stretch>
            <a:fillRect/>
          </a:stretch>
        </p:blipFill>
        <p:spPr>
          <a:xfrm>
            <a:off x="0" y="1564957"/>
            <a:ext cx="8472007" cy="4765504"/>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The death of Musaylima</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وَعَنْ وَحْشِيٍّ، قَالَ: لَمْ أَرَ قَطُّ أَصْبَرَ عَلَى الْمَوْتِ مِنْ أَصْحَابِ مُسَيْلِمَةَ، ثُمَّ ذَكَرَ أَنَّهُ شَارَكَ فِي قَتْلِ مُسَيْلِمَةَ.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"From Waḥshī: I never saw men more steadfast in the face of death than Musaylima's companions — then he mentioned that he had a share in killing Musaylima."</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Siyar A'lam al-Nubala, p. 48</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12 AH, the forts of al-Yamāma</a:t>
            </a:r>
          </a:p>
        </p:txBody>
      </p:sp>
      <p:sp>
        <p:nvSpPr>
          <p:cNvPr id="5" name="TextBox 4"/>
          <p:cNvSpPr txBox="1"/>
          <p:nvPr/>
        </p:nvSpPr>
        <p:spPr>
          <a:xfrm>
            <a:off x="566928" y="402336"/>
            <a:ext cx="11057839" cy="654282"/>
          </a:xfrm>
          <a:prstGeom prst="rect">
            <a:avLst/>
          </a:prstGeom>
          <a:noFill/>
        </p:spPr>
        <p:txBody>
          <a:bodyPr wrap="square" lIns="36576" tIns="0" rIns="36576" bIns="0" anchor="t">
            <a:spAutoFit/>
          </a:bodyPr>
          <a:lstStyle/>
          <a:p>
            <a:pPr algn="l">
              <a:lnSpc>
                <a:spcPct val="116000"/>
              </a:lnSpc>
            </a:pPr>
            <a:r>
              <a:rPr lang="en-US" sz="4000" b="1" i="0" dirty="0" err="1">
                <a:solidFill>
                  <a:srgbClr val="FAF7F0"/>
                </a:solidFill>
                <a:latin typeface="Georgia"/>
                <a:cs typeface="Georgia"/>
              </a:rPr>
              <a:t>Mujja’a</a:t>
            </a:r>
            <a:r>
              <a:rPr lang="en-US" sz="4000" b="1" i="0" dirty="0">
                <a:solidFill>
                  <a:srgbClr val="FAF7F0"/>
                </a:solidFill>
                <a:latin typeface="Georgia"/>
                <a:cs typeface="Georgia"/>
              </a:rPr>
              <a:t> and the treaty</a:t>
            </a:r>
            <a:endParaRPr sz="4000" b="1" i="0" dirty="0">
              <a:solidFill>
                <a:srgbClr val="FAF7F0"/>
              </a:solidFill>
              <a:latin typeface="Georgia"/>
              <a:cs typeface="Georgia"/>
            </a:endParaRP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وَوَصَلَ كِتَابُ أَبِي بَكْرٍ إِلَى خَالِدٍ أَنْ يَقْتُلَ كُلَّ مُحْتَلِمٍ … فَوَفَى لَهُمْ وَلَمْ يَغْدِرْ.</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And Abū Bakr's letter reached Khālid, ordering him to kill every man who had reached puberty … so he kept faith with them and did not betray them.</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al-Kamil, vol. 2, p. 219</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82880"/>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Tonight on the Line</a:t>
            </a:r>
          </a:p>
        </p:txBody>
      </p:sp>
      <p:pic>
        <p:nvPicPr>
          <p:cNvPr id="5" name="Picture 4" descr="line_s04_stop_d.trim.png"/>
          <p:cNvPicPr>
            <a:picLocks noChangeAspect="1"/>
          </p:cNvPicPr>
          <p:nvPr/>
        </p:nvPicPr>
        <p:blipFill>
          <a:blip r:embed="rId3"/>
          <a:stretch>
            <a:fillRect/>
          </a:stretch>
        </p:blipFill>
        <p:spPr>
          <a:xfrm>
            <a:off x="1862354" y="1389888"/>
            <a:ext cx="8466986" cy="4956048"/>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82880"/>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Where we stand</a:t>
            </a:r>
          </a:p>
        </p:txBody>
      </p:sp>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819479" y="1499616"/>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al-Yamāma</a:t>
            </a:r>
          </a:p>
        </p:txBody>
      </p:sp>
      <p:sp>
        <p:nvSpPr>
          <p:cNvPr id="8" name="TextBox 7"/>
          <p:cNvSpPr txBox="1"/>
          <p:nvPr/>
        </p:nvSpPr>
        <p:spPr>
          <a:xfrm>
            <a:off x="8819479" y="1920240"/>
            <a:ext cx="2805288" cy="1943100"/>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taken</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819479" y="3863340"/>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Ḥaḍramawt</a:t>
            </a:r>
          </a:p>
        </p:txBody>
      </p:sp>
      <p:sp>
        <p:nvSpPr>
          <p:cNvPr id="11" name="TextBox 10"/>
          <p:cNvSpPr txBox="1"/>
          <p:nvPr/>
        </p:nvSpPr>
        <p:spPr>
          <a:xfrm>
            <a:off x="8819479" y="4283964"/>
            <a:ext cx="2805288" cy="1943100"/>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the last front</a:t>
            </a:r>
          </a:p>
        </p:txBody>
      </p:sp>
      <p:pic>
        <p:nvPicPr>
          <p:cNvPr id="13" name="Picture 12">
            <a:extLst>
              <a:ext uri="{FF2B5EF4-FFF2-40B4-BE49-F238E27FC236}">
                <a16:creationId xmlns:a16="http://schemas.microsoft.com/office/drawing/2014/main" id="{B0F6EC7F-BCCB-C911-9AE8-7A6421AF84F7}"/>
              </a:ext>
            </a:extLst>
          </p:cNvPr>
          <p:cNvPicPr>
            <a:picLocks noChangeAspect="1"/>
          </p:cNvPicPr>
          <p:nvPr/>
        </p:nvPicPr>
        <p:blipFill>
          <a:blip r:embed="rId3"/>
          <a:stretch>
            <a:fillRect/>
          </a:stretch>
        </p:blipFill>
        <p:spPr>
          <a:xfrm>
            <a:off x="0" y="0"/>
            <a:ext cx="12192000" cy="6858000"/>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82880"/>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77824" y="1499616"/>
            <a:ext cx="10746943" cy="477438"/>
          </a:xfrm>
          <a:prstGeom prst="rect">
            <a:avLst/>
          </a:prstGeom>
          <a:noFill/>
        </p:spPr>
        <p:txBody>
          <a:bodyPr wrap="square" lIns="36576" tIns="0" rIns="36576" bIns="0" anchor="t">
            <a:spAutoFit/>
          </a:bodyPr>
          <a:lstStyle/>
          <a:p>
            <a:pPr algn="l">
              <a:lnSpc>
                <a:spcPct val="122000"/>
              </a:lnSpc>
            </a:pPr>
            <a:r>
              <a:rPr lang="en-US" sz="2800" b="0" i="0" dirty="0">
                <a:solidFill>
                  <a:srgbClr val="1C2321"/>
                </a:solidFill>
                <a:latin typeface="Georgia"/>
                <a:cs typeface="Georgia"/>
              </a:rPr>
              <a:t>Al </a:t>
            </a:r>
            <a:r>
              <a:rPr lang="en-US" sz="2800" b="0" i="0" dirty="0" err="1">
                <a:solidFill>
                  <a:srgbClr val="1C2321"/>
                </a:solidFill>
                <a:latin typeface="Georgia"/>
                <a:cs typeface="Georgia"/>
              </a:rPr>
              <a:t>Butah</a:t>
            </a:r>
            <a:r>
              <a:rPr lang="en-US" sz="2800" b="0" i="0" dirty="0">
                <a:solidFill>
                  <a:srgbClr val="1C2321"/>
                </a:solidFill>
                <a:latin typeface="Georgia"/>
                <a:cs typeface="Georgia"/>
              </a:rPr>
              <a:t> and Khalid R.A</a:t>
            </a:r>
            <a:endParaRPr sz="2800" b="0" i="0" dirty="0">
              <a:solidFill>
                <a:srgbClr val="1C2321"/>
              </a:solidFill>
              <a:latin typeface="Georgia"/>
              <a:cs typeface="Georgia"/>
            </a:endParaRPr>
          </a:p>
        </p:txBody>
      </p:sp>
      <p:sp>
        <p:nvSpPr>
          <p:cNvPr id="7" name="Rectangle 6"/>
          <p:cNvSpPr/>
          <p:nvPr/>
        </p:nvSpPr>
        <p:spPr>
          <a:xfrm>
            <a:off x="566928" y="2727198"/>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77824" y="2681478"/>
            <a:ext cx="10746943" cy="477438"/>
          </a:xfrm>
          <a:prstGeom prst="rect">
            <a:avLst/>
          </a:prstGeom>
          <a:noFill/>
        </p:spPr>
        <p:txBody>
          <a:bodyPr wrap="square" lIns="36576" tIns="0" rIns="36576" bIns="0" anchor="t">
            <a:spAutoFit/>
          </a:bodyPr>
          <a:lstStyle/>
          <a:p>
            <a:pPr algn="l">
              <a:lnSpc>
                <a:spcPct val="122000"/>
              </a:lnSpc>
            </a:pPr>
            <a:r>
              <a:rPr lang="en-US" sz="2800" b="0" i="0" dirty="0">
                <a:solidFill>
                  <a:srgbClr val="1C2321"/>
                </a:solidFill>
                <a:latin typeface="Georgia"/>
                <a:cs typeface="Georgia"/>
              </a:rPr>
              <a:t>Sajah and Banu Tamim</a:t>
            </a:r>
            <a:endParaRPr sz="2800" b="0" i="0" dirty="0">
              <a:solidFill>
                <a:srgbClr val="1C2321"/>
              </a:solidFill>
              <a:latin typeface="Georgia"/>
              <a:cs typeface="Georgia"/>
            </a:endParaRPr>
          </a:p>
        </p:txBody>
      </p:sp>
      <p:sp>
        <p:nvSpPr>
          <p:cNvPr id="9" name="Rectangle 8"/>
          <p:cNvSpPr/>
          <p:nvPr/>
        </p:nvSpPr>
        <p:spPr>
          <a:xfrm>
            <a:off x="566928" y="3909060"/>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77824" y="3863340"/>
            <a:ext cx="10746943" cy="477438"/>
          </a:xfrm>
          <a:prstGeom prst="rect">
            <a:avLst/>
          </a:prstGeom>
          <a:noFill/>
        </p:spPr>
        <p:txBody>
          <a:bodyPr wrap="square" lIns="36576" tIns="0" rIns="36576" bIns="0" anchor="t">
            <a:spAutoFit/>
          </a:bodyPr>
          <a:lstStyle/>
          <a:p>
            <a:pPr algn="l">
              <a:lnSpc>
                <a:spcPct val="122000"/>
              </a:lnSpc>
            </a:pPr>
            <a:r>
              <a:rPr lang="en-US" sz="2800" dirty="0" err="1">
                <a:solidFill>
                  <a:srgbClr val="1C2321"/>
                </a:solidFill>
                <a:latin typeface="Georgia"/>
                <a:cs typeface="Georgia"/>
              </a:rPr>
              <a:t>Musaylima</a:t>
            </a:r>
            <a:r>
              <a:rPr lang="en-US" sz="2800" dirty="0">
                <a:solidFill>
                  <a:srgbClr val="1C2321"/>
                </a:solidFill>
                <a:latin typeface="Georgia"/>
                <a:cs typeface="Georgia"/>
              </a:rPr>
              <a:t> </a:t>
            </a:r>
            <a:r>
              <a:rPr lang="en-US" sz="2800" dirty="0" err="1">
                <a:solidFill>
                  <a:srgbClr val="1C2321"/>
                </a:solidFill>
                <a:latin typeface="Georgia"/>
                <a:cs typeface="Georgia"/>
              </a:rPr>
              <a:t>Kazzab</a:t>
            </a:r>
            <a:r>
              <a:rPr lang="en-US" sz="2800" dirty="0">
                <a:solidFill>
                  <a:srgbClr val="1C2321"/>
                </a:solidFill>
                <a:latin typeface="Georgia"/>
                <a:cs typeface="Georgia"/>
              </a:rPr>
              <a:t> and Yamama</a:t>
            </a:r>
            <a:endParaRPr sz="2800" b="0" i="0" dirty="0">
              <a:solidFill>
                <a:srgbClr val="1C2321"/>
              </a:solidFill>
              <a:latin typeface="Georgia"/>
              <a:cs typeface="Georgia"/>
            </a:endParaRPr>
          </a:p>
        </p:txBody>
      </p:sp>
      <p:sp>
        <p:nvSpPr>
          <p:cNvPr id="11" name="Rectangle 10"/>
          <p:cNvSpPr/>
          <p:nvPr/>
        </p:nvSpPr>
        <p:spPr>
          <a:xfrm>
            <a:off x="566928" y="509092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77824" y="5045202"/>
            <a:ext cx="10746943" cy="477438"/>
          </a:xfrm>
          <a:prstGeom prst="rect">
            <a:avLst/>
          </a:prstGeom>
          <a:noFill/>
        </p:spPr>
        <p:txBody>
          <a:bodyPr wrap="square" lIns="36576" tIns="0" rIns="36576" bIns="0" anchor="t">
            <a:spAutoFit/>
          </a:bodyPr>
          <a:lstStyle/>
          <a:p>
            <a:pPr algn="l">
              <a:lnSpc>
                <a:spcPct val="122000"/>
              </a:lnSpc>
            </a:pPr>
            <a:r>
              <a:rPr lang="en-US" sz="2800" b="0" i="0" dirty="0">
                <a:solidFill>
                  <a:srgbClr val="1C2321"/>
                </a:solidFill>
                <a:latin typeface="Georgia"/>
                <a:cs typeface="Georgia"/>
              </a:rPr>
              <a:t>The agreement with </a:t>
            </a:r>
            <a:r>
              <a:rPr lang="en-US" sz="2800" b="0" i="0" dirty="0" err="1">
                <a:solidFill>
                  <a:srgbClr val="1C2321"/>
                </a:solidFill>
                <a:latin typeface="Georgia"/>
                <a:cs typeface="Georgia"/>
              </a:rPr>
              <a:t>mujja’a</a:t>
            </a:r>
            <a:endParaRPr sz="2800" b="0" i="0" dirty="0">
              <a:solidFill>
                <a:srgbClr val="1C2321"/>
              </a:solidFill>
              <a:latin typeface="Georgia"/>
              <a:cs typeface="Georgia"/>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12 AH, Rabīʿ I</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Arabic Typesetting"/>
              </a:rPr>
              <a:t>Zayd b. al-Khaṭṭāb ؓ and his brother</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وَكَانَ يَقُوْلُ: أَسْلَمَ قَبْلِي، وَاسْتُشْهِدَ قَبْلِي … وَكَانَ يَقُوْلُ: مَا هَبَّتِ الصَّبَا إِلاَّ وَأَنَا أَجِدُ رِيْحَ زَيْدٍ.</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"He used to say: He became Muslim before me and was martyred before me … And he used to say: The east wind never blows but I find in it the scent of Zayd."</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2788920"/>
            <a:ext cx="10728655" cy="731520"/>
          </a:xfrm>
          <a:prstGeom prst="rect">
            <a:avLst/>
          </a:prstGeom>
          <a:noFill/>
        </p:spPr>
        <p:txBody>
          <a:bodyPr wrap="square" lIns="36576" tIns="0" rIns="36576" bIns="0" anchor="ctr">
            <a:spAutoFit/>
          </a:bodyPr>
          <a:lstStyle/>
          <a:p>
            <a:pPr algn="l">
              <a:lnSpc>
                <a:spcPct val="125000"/>
              </a:lnSpc>
            </a:pPr>
            <a:r>
              <a:rPr sz="4600" b="1" i="0">
                <a:solidFill>
                  <a:srgbClr val="0A322E"/>
                </a:solidFill>
                <a:latin typeface="Georgia"/>
                <a:cs typeface="Georgia"/>
              </a:rPr>
              <a:t>Part VI</a:t>
            </a:r>
          </a:p>
        </p:txBody>
      </p:sp>
      <p:sp>
        <p:nvSpPr>
          <p:cNvPr id="5" name="TextBox 4"/>
          <p:cNvSpPr txBox="1"/>
          <p:nvPr/>
        </p:nvSpPr>
        <p:spPr>
          <a:xfrm>
            <a:off x="868680" y="3520440"/>
            <a:ext cx="10728655" cy="548640"/>
          </a:xfrm>
          <a:prstGeom prst="rect">
            <a:avLst/>
          </a:prstGeom>
          <a:noFill/>
        </p:spPr>
        <p:txBody>
          <a:bodyPr wrap="square" lIns="36576" tIns="0" rIns="36576" bIns="0" anchor="t">
            <a:spAutoFit/>
          </a:bodyPr>
          <a:lstStyle/>
          <a:p>
            <a:pPr algn="l">
              <a:lnSpc>
                <a:spcPct val="125000"/>
              </a:lnSpc>
            </a:pPr>
            <a:r>
              <a:rPr sz="2800" b="0" i="0">
                <a:solidFill>
                  <a:srgbClr val="5A6862"/>
                </a:solidFill>
                <a:latin typeface="Segoe UI"/>
                <a:cs typeface="Segoe UI"/>
              </a:rPr>
              <a:t>The dead of al-Yamāma</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The banner changed hands</a:t>
            </a:r>
          </a:p>
        </p:txBody>
      </p:sp>
      <p:sp>
        <p:nvSpPr>
          <p:cNvPr id="6" name="TextBox 5"/>
          <p:cNvSpPr txBox="1"/>
          <p:nvPr/>
        </p:nvSpPr>
        <p:spPr>
          <a:xfrm>
            <a:off x="566928" y="1882140"/>
            <a:ext cx="11057839" cy="2331720"/>
          </a:xfrm>
          <a:prstGeom prst="rect">
            <a:avLst/>
          </a:prstGeom>
          <a:noFill/>
        </p:spPr>
        <p:txBody>
          <a:bodyPr wrap="square" lIns="36576" tIns="0" rIns="36576" bIns="0" anchor="t">
            <a:spAutoFit/>
          </a:bodyPr>
          <a:lstStyle/>
          <a:p>
            <a:pPr algn="r" rtl="1">
              <a:lnSpc>
                <a:spcPct val="150000"/>
              </a:lnSpc>
            </a:pPr>
            <a:r>
              <a:rPr lang="ar-SA" sz="5400" b="0" i="0">
                <a:solidFill>
                  <a:srgbClr val="0A322E"/>
                </a:solidFill>
                <a:latin typeface="Traditional Arabic"/>
                <a:cs typeface="Traditional Arabic"/>
              </a:rPr>
              <a:t>… ثُمَّ قَاتَلَ حَتَّى قُتِلَ، فَوَقَعَتْ الرَّايَةُ، فَأَخَذَهَا سَالِمٌ مَوْلَى أَبِي حُذَيْفَةَ</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652772"/>
            <a:ext cx="11057839" cy="1136903"/>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…and then fought until he was killed. The banner fell — and Sālim, the freedman of Abū Ḥudhayfa, took it up.</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The men who did not come back</a:t>
            </a:r>
          </a:p>
        </p:txBody>
      </p:sp>
      <p:sp>
        <p:nvSpPr>
          <p:cNvPr id="6" name="card0"/>
          <p:cNvSpPr/>
          <p:nvPr/>
        </p:nvSpPr>
        <p:spPr>
          <a:xfrm>
            <a:off x="566928"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49808" y="1700784"/>
            <a:ext cx="3161690" cy="1097280"/>
          </a:xfrm>
          <a:prstGeom prst="rect">
            <a:avLst/>
          </a:prstGeom>
          <a:noFill/>
        </p:spPr>
        <p:txBody>
          <a:bodyPr wrap="square" lIns="36576" tIns="0" rIns="36576" bIns="0" anchor="t">
            <a:spAutoFit/>
          </a:bodyPr>
          <a:lstStyle/>
          <a:p>
            <a:pPr algn="l">
              <a:lnSpc>
                <a:spcPct val="125000"/>
              </a:lnSpc>
            </a:pPr>
            <a:r>
              <a:rPr sz="3200" b="1" i="0">
                <a:solidFill>
                  <a:srgbClr val="0A322E"/>
                </a:solidFill>
                <a:latin typeface="Georgia"/>
                <a:cs typeface="Georgia"/>
              </a:rPr>
              <a:t>At the line</a:t>
            </a:r>
          </a:p>
        </p:txBody>
      </p:sp>
      <p:sp>
        <p:nvSpPr>
          <p:cNvPr id="9" name="TextBox 8"/>
          <p:cNvSpPr txBox="1"/>
          <p:nvPr/>
        </p:nvSpPr>
        <p:spPr>
          <a:xfrm>
            <a:off x="749808" y="2807208"/>
            <a:ext cx="3161690" cy="2011680"/>
          </a:xfrm>
          <a:prstGeom prst="rect">
            <a:avLst/>
          </a:prstGeom>
          <a:noFill/>
        </p:spPr>
        <p:txBody>
          <a:bodyPr wrap="square" lIns="36576" tIns="0" rIns="36576" bIns="0" anchor="t">
            <a:spAutoFit/>
          </a:bodyPr>
          <a:lstStyle/>
          <a:p>
            <a:pPr algn="l">
              <a:lnSpc>
                <a:spcPct val="132000"/>
              </a:lnSpc>
            </a:pPr>
            <a:r>
              <a:rPr sz="2400" b="0" i="0">
                <a:solidFill>
                  <a:srgbClr val="1C2321"/>
                </a:solidFill>
                <a:latin typeface="Segoe UI"/>
                <a:cs typeface="Arabic Typesetting"/>
              </a:rPr>
              <a:t>Sālim ؓ carried the Muhājirūn's banner; Zayd ؓ and Abū Ḥudhayfa ؓ held the wings</a:t>
            </a:r>
          </a:p>
        </p:txBody>
      </p:sp>
      <p:sp>
        <p:nvSpPr>
          <p:cNvPr id="10" name="card1"/>
          <p:cNvSpPr/>
          <p:nvPr/>
        </p:nvSpPr>
        <p:spPr>
          <a:xfrm>
            <a:off x="4332122"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15002" y="1700784"/>
            <a:ext cx="3161690" cy="1097280"/>
          </a:xfrm>
          <a:prstGeom prst="rect">
            <a:avLst/>
          </a:prstGeom>
          <a:noFill/>
        </p:spPr>
        <p:txBody>
          <a:bodyPr wrap="square" lIns="36576" tIns="0" rIns="36576" bIns="0" anchor="t">
            <a:spAutoFit/>
          </a:bodyPr>
          <a:lstStyle/>
          <a:p>
            <a:pPr algn="l">
              <a:lnSpc>
                <a:spcPct val="125000"/>
              </a:lnSpc>
            </a:pPr>
            <a:r>
              <a:rPr sz="3200" b="1" i="0">
                <a:solidFill>
                  <a:srgbClr val="0A322E"/>
                </a:solidFill>
                <a:latin typeface="Georgia"/>
                <a:cs typeface="Georgia"/>
              </a:rPr>
              <a:t>All three</a:t>
            </a:r>
          </a:p>
        </p:txBody>
      </p:sp>
      <p:sp>
        <p:nvSpPr>
          <p:cNvPr id="13" name="TextBox 12"/>
          <p:cNvSpPr txBox="1"/>
          <p:nvPr/>
        </p:nvSpPr>
        <p:spPr>
          <a:xfrm>
            <a:off x="4515002" y="2807208"/>
            <a:ext cx="3161690" cy="2011680"/>
          </a:xfrm>
          <a:prstGeom prst="rect">
            <a:avLst/>
          </a:prstGeom>
          <a:noFill/>
        </p:spPr>
        <p:txBody>
          <a:bodyPr wrap="square" lIns="36576" tIns="0" rIns="36576" bIns="0" anchor="t">
            <a:spAutoFit/>
          </a:bodyPr>
          <a:lstStyle/>
          <a:p>
            <a:pPr algn="l">
              <a:lnSpc>
                <a:spcPct val="132000"/>
              </a:lnSpc>
            </a:pPr>
            <a:r>
              <a:rPr sz="2400" b="0" i="0">
                <a:solidFill>
                  <a:srgbClr val="1C2321"/>
                </a:solidFill>
                <a:latin typeface="Segoe UI"/>
                <a:cs typeface="Segoe UI"/>
              </a:rPr>
              <a:t>Killed on that field, on the same day</a:t>
            </a:r>
          </a:p>
        </p:txBody>
      </p:sp>
      <p:sp>
        <p:nvSpPr>
          <p:cNvPr id="14" name="card2"/>
          <p:cNvSpPr/>
          <p:nvPr/>
        </p:nvSpPr>
        <p:spPr>
          <a:xfrm>
            <a:off x="8097316"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80196" y="1700784"/>
            <a:ext cx="3161690" cy="1097280"/>
          </a:xfrm>
          <a:prstGeom prst="rect">
            <a:avLst/>
          </a:prstGeom>
          <a:noFill/>
        </p:spPr>
        <p:txBody>
          <a:bodyPr wrap="square" lIns="36576" tIns="0" rIns="36576" bIns="0" anchor="t">
            <a:spAutoFit/>
          </a:bodyPr>
          <a:lstStyle/>
          <a:p>
            <a:pPr algn="l">
              <a:lnSpc>
                <a:spcPct val="125000"/>
              </a:lnSpc>
            </a:pPr>
            <a:r>
              <a:rPr sz="3200" b="1" i="0">
                <a:solidFill>
                  <a:srgbClr val="0A322E"/>
                </a:solidFill>
                <a:latin typeface="Georgia"/>
                <a:cs typeface="Georgia"/>
              </a:rPr>
              <a:t>Still to tell</a:t>
            </a:r>
          </a:p>
        </p:txBody>
      </p:sp>
      <p:sp>
        <p:nvSpPr>
          <p:cNvPr id="17" name="TextBox 16"/>
          <p:cNvSpPr txBox="1"/>
          <p:nvPr/>
        </p:nvSpPr>
        <p:spPr>
          <a:xfrm>
            <a:off x="8280196" y="2807208"/>
            <a:ext cx="3161690" cy="2011680"/>
          </a:xfrm>
          <a:prstGeom prst="rect">
            <a:avLst/>
          </a:prstGeom>
          <a:noFill/>
        </p:spPr>
        <p:txBody>
          <a:bodyPr wrap="square" lIns="36576" tIns="0" rIns="36576" bIns="0" anchor="t">
            <a:spAutoFit/>
          </a:bodyPr>
          <a:lstStyle/>
          <a:p>
            <a:pPr algn="l">
              <a:lnSpc>
                <a:spcPct val="132000"/>
              </a:lnSpc>
            </a:pPr>
            <a:r>
              <a:rPr sz="2400" b="0" i="0">
                <a:solidFill>
                  <a:srgbClr val="1C2321"/>
                </a:solidFill>
                <a:latin typeface="Segoe UI"/>
                <a:cs typeface="Segoe UI"/>
              </a:rPr>
              <a:t>What happened at that banner, and the order it led to at Medina</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Traditional Arabic"/>
              </a:rPr>
              <a:t>In the Prophet's ﷺ lifetime</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Take the Qurʾān from four</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قال فيهم رسول الله ﷺ: "استقرئوا القرآنَ من أربعةٍ" فذكر منهم سالمًا مولى أبي حذيفة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Traditional Arabic"/>
              </a:rPr>
              <a:t>…of whom the Messenger of Allah ﷺ said: 'Take the Qurʾān from four' — and he mentioned Sālim, the freedman of Abū Ḥudhayfa.</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Two men who dug a pit</a:t>
            </a:r>
          </a:p>
        </p:txBody>
      </p:sp>
      <p:sp>
        <p:nvSpPr>
          <p:cNvPr id="6" name="TextBox 5"/>
          <p:cNvSpPr txBox="1"/>
          <p:nvPr/>
        </p:nvSpPr>
        <p:spPr>
          <a:xfrm>
            <a:off x="566928" y="1882140"/>
            <a:ext cx="11057839" cy="2331720"/>
          </a:xfrm>
          <a:prstGeom prst="rect">
            <a:avLst/>
          </a:prstGeom>
          <a:noFill/>
        </p:spPr>
        <p:txBody>
          <a:bodyPr wrap="square" lIns="36576" tIns="0" rIns="36576" bIns="0" anchor="t">
            <a:spAutoFit/>
          </a:bodyPr>
          <a:lstStyle/>
          <a:p>
            <a:pPr algn="r" rtl="1">
              <a:lnSpc>
                <a:spcPct val="150000"/>
              </a:lnSpc>
            </a:pPr>
            <a:r>
              <a:rPr lang="ar-SA" sz="5400" b="0" i="0">
                <a:solidFill>
                  <a:srgbClr val="0A322E"/>
                </a:solidFill>
                <a:latin typeface="Traditional Arabic"/>
                <a:cs typeface="Traditional Arabic"/>
              </a:rPr>
              <a:t>ما هكذا كنَّا نقاتلُ مع رسول الله ﷺ … فقاتلا حتى قُتلا</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652772"/>
            <a:ext cx="11057839" cy="1136903"/>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Traditional Arabic"/>
              </a:rPr>
              <a:t>This is not how we used to fight alongside the Messenger of Allah ﷺ … and fought until they were killed.</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7, p. 48</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The hand, and the verse</a:t>
            </a:r>
          </a:p>
        </p:txBody>
      </p:sp>
      <p:sp>
        <p:nvSpPr>
          <p:cNvPr id="6" name="TextBox 5"/>
          <p:cNvSpPr txBox="1"/>
          <p:nvPr/>
        </p:nvSpPr>
        <p:spPr>
          <a:xfrm>
            <a:off x="566928" y="1634490"/>
            <a:ext cx="11057839" cy="2331720"/>
          </a:xfrm>
          <a:prstGeom prst="rect">
            <a:avLst/>
          </a:prstGeom>
          <a:noFill/>
        </p:spPr>
        <p:txBody>
          <a:bodyPr wrap="square" lIns="36576" tIns="0" rIns="36576" bIns="0" anchor="t">
            <a:spAutoFit/>
          </a:bodyPr>
          <a:lstStyle/>
          <a:p>
            <a:pPr algn="r" rtl="1">
              <a:lnSpc>
                <a:spcPct val="150000"/>
              </a:lnSpc>
            </a:pPr>
            <a:r>
              <a:rPr lang="ar-SA" sz="5400" b="0" i="0">
                <a:solidFill>
                  <a:srgbClr val="0A322E"/>
                </a:solidFill>
                <a:latin typeface="Traditional Arabic"/>
                <a:cs typeface="Traditional Arabic"/>
              </a:rPr>
              <a:t>… فاحتضنها وهو يقول: ﴿وَمَا مُحَمَّدٌ إِلَّا رَسُولٌ قَدْ خَلَتْ مِنْ قَبْلِهِ الرُّسُلُ﴾</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4051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Traditional Arabic"/>
              </a:rPr>
              <a:t>…so he clasped it to his chest, saying: ﴾Muḥammad is no more than a Messenger; messengers have passed away before him﴿.</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"Lay me down between them"</a:t>
            </a:r>
          </a:p>
        </p:txBody>
      </p:sp>
      <p:sp>
        <p:nvSpPr>
          <p:cNvPr id="6" name="TextBox 5"/>
          <p:cNvSpPr txBox="1"/>
          <p:nvPr/>
        </p:nvSpPr>
        <p:spPr>
          <a:xfrm>
            <a:off x="566928" y="1634490"/>
            <a:ext cx="11057839" cy="2331720"/>
          </a:xfrm>
          <a:prstGeom prst="rect">
            <a:avLst/>
          </a:prstGeom>
          <a:noFill/>
        </p:spPr>
        <p:txBody>
          <a:bodyPr wrap="square" lIns="36576" tIns="0" rIns="36576" bIns="0" anchor="t">
            <a:spAutoFit/>
          </a:bodyPr>
          <a:lstStyle/>
          <a:p>
            <a:pPr algn="r" rtl="1">
              <a:lnSpc>
                <a:spcPct val="150000"/>
              </a:lnSpc>
            </a:pPr>
            <a:r>
              <a:rPr lang="ar-SA" sz="5400" b="0" i="0">
                <a:solidFill>
                  <a:srgbClr val="0A322E"/>
                </a:solidFill>
                <a:latin typeface="Traditional Arabic"/>
                <a:cs typeface="Traditional Arabic"/>
              </a:rPr>
              <a:t>ما فعل أبو حُذَيْفة؟ قالوا: قُتل … قال: فأضجعوني بينهما</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4051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What has become of Abū Ḥudhayfa? They said: He has been killed … He said: Then lay me down between the two of them.</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12 AH, after al-Yamāma</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It is said they were found together</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وَقِيْلَ: إِنَّ سَالِماً وُجِدَ هُوَ وَمَوْلاَهُ أَبُو حُذَيْفَةَ، رَأْسُ أَحَدِهِمَا عِنْدَ رِجْلَي الآخَرِ صَرِيْعَيْنِ</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And it is said: Sālim was found, he and his patron Abū Ḥudhayfa, the head of one of them at the feet of the other.</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Siyar A'lam al-Nubala, vol. 1, p. 169</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23 AH, Medina</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"Had Sālim been alive"</a:t>
            </a:r>
          </a:p>
        </p:txBody>
      </p:sp>
      <p:sp>
        <p:nvSpPr>
          <p:cNvPr id="6" name="TextBox 5"/>
          <p:cNvSpPr txBox="1"/>
          <p:nvPr/>
        </p:nvSpPr>
        <p:spPr>
          <a:xfrm>
            <a:off x="566928" y="1882140"/>
            <a:ext cx="11057839" cy="2331720"/>
          </a:xfrm>
          <a:prstGeom prst="rect">
            <a:avLst/>
          </a:prstGeom>
          <a:noFill/>
        </p:spPr>
        <p:txBody>
          <a:bodyPr wrap="square" lIns="36576" tIns="0" rIns="36576" bIns="0" anchor="t">
            <a:spAutoFit/>
          </a:bodyPr>
          <a:lstStyle/>
          <a:p>
            <a:pPr algn="r" rtl="1">
              <a:lnSpc>
                <a:spcPct val="150000"/>
              </a:lnSpc>
            </a:pPr>
            <a:r>
              <a:rPr lang="ar-SA" sz="5400" b="0" i="0">
                <a:solidFill>
                  <a:srgbClr val="0A322E"/>
                </a:solidFill>
                <a:latin typeface="Traditional Arabic"/>
                <a:cs typeface="Traditional Arabic"/>
              </a:rPr>
              <a:t>قال لما احتُضِر: لو كانَ سالمٌ حيًّا لما جعلتها شُورى</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652772"/>
            <a:ext cx="11057839" cy="1136903"/>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…when death was upon him: Had Sālim been alive I would not have made it a shūrā.</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After 12 AH</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The inheritance that was sent back</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وقد بعثَ عمرُ بميراثه إلى مولاته التي أعْتَقَتْه … فردَّتْه وقالتْ: إنّما أعْتَقَتْهُ سائبةٌ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ʿUmar sent his inheritance to the woman who had freed him … and she sent it back and said: I freed him only as sāʾiba.</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2788920"/>
            <a:ext cx="10728655" cy="731520"/>
          </a:xfrm>
          <a:prstGeom prst="rect">
            <a:avLst/>
          </a:prstGeom>
          <a:noFill/>
        </p:spPr>
        <p:txBody>
          <a:bodyPr wrap="square" lIns="36576" tIns="0" rIns="36576" bIns="0" anchor="ctr">
            <a:spAutoFit/>
          </a:bodyPr>
          <a:lstStyle/>
          <a:p>
            <a:pPr algn="l">
              <a:lnSpc>
                <a:spcPct val="125000"/>
              </a:lnSpc>
            </a:pPr>
            <a:r>
              <a:rPr sz="4600" b="1" i="0">
                <a:solidFill>
                  <a:srgbClr val="0A322E"/>
                </a:solidFill>
                <a:latin typeface="Georgia"/>
                <a:cs typeface="Georgia"/>
              </a:rPr>
              <a:t>Part VII</a:t>
            </a:r>
          </a:p>
        </p:txBody>
      </p:sp>
      <p:sp>
        <p:nvSpPr>
          <p:cNvPr id="5" name="TextBox 4"/>
          <p:cNvSpPr txBox="1"/>
          <p:nvPr/>
        </p:nvSpPr>
        <p:spPr>
          <a:xfrm>
            <a:off x="868680" y="3520440"/>
            <a:ext cx="10728655" cy="548640"/>
          </a:xfrm>
          <a:prstGeom prst="rect">
            <a:avLst/>
          </a:prstGeom>
          <a:noFill/>
        </p:spPr>
        <p:txBody>
          <a:bodyPr wrap="square" lIns="36576" tIns="0" rIns="36576" bIns="0" anchor="t">
            <a:spAutoFit/>
          </a:bodyPr>
          <a:lstStyle/>
          <a:p>
            <a:pPr algn="l">
              <a:lnSpc>
                <a:spcPct val="125000"/>
              </a:lnSpc>
            </a:pPr>
            <a:r>
              <a:rPr sz="2800" b="0" i="0">
                <a:solidFill>
                  <a:srgbClr val="5A6862"/>
                </a:solidFill>
                <a:latin typeface="Segoe UI"/>
                <a:cs typeface="Segoe UI"/>
              </a:rPr>
              <a:t>Who else was on that field</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12 AH, ʿAqrabāʾ</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The same field, the men beside them</a:t>
            </a:r>
          </a:p>
        </p:txBody>
      </p:sp>
      <p:sp>
        <p:nvSpPr>
          <p:cNvPr id="6" name="card0"/>
          <p:cNvSpPr/>
          <p:nvPr/>
        </p:nvSpPr>
        <p:spPr>
          <a:xfrm>
            <a:off x="566928"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49808" y="1700784"/>
            <a:ext cx="3161690" cy="1097280"/>
          </a:xfrm>
          <a:prstGeom prst="rect">
            <a:avLst/>
          </a:prstGeom>
          <a:noFill/>
        </p:spPr>
        <p:txBody>
          <a:bodyPr wrap="square" lIns="36576" tIns="0" rIns="36576" bIns="0" anchor="t">
            <a:spAutoFit/>
          </a:bodyPr>
          <a:lstStyle/>
          <a:p>
            <a:pPr algn="l">
              <a:lnSpc>
                <a:spcPct val="125000"/>
              </a:lnSpc>
            </a:pPr>
            <a:r>
              <a:rPr sz="3200" b="1" i="0">
                <a:solidFill>
                  <a:srgbClr val="0A322E"/>
                </a:solidFill>
                <a:latin typeface="Georgia"/>
                <a:cs typeface="Georgia"/>
              </a:rPr>
              <a:t>So far</a:t>
            </a:r>
          </a:p>
        </p:txBody>
      </p:sp>
      <p:sp>
        <p:nvSpPr>
          <p:cNvPr id="9" name="TextBox 8"/>
          <p:cNvSpPr txBox="1"/>
          <p:nvPr/>
        </p:nvSpPr>
        <p:spPr>
          <a:xfrm>
            <a:off x="749808" y="2807208"/>
            <a:ext cx="3161690" cy="2011680"/>
          </a:xfrm>
          <a:prstGeom prst="rect">
            <a:avLst/>
          </a:prstGeom>
          <a:noFill/>
        </p:spPr>
        <p:txBody>
          <a:bodyPr wrap="square" lIns="36576" tIns="0" rIns="36576" bIns="0" anchor="t">
            <a:spAutoFit/>
          </a:bodyPr>
          <a:lstStyle/>
          <a:p>
            <a:pPr algn="l">
              <a:lnSpc>
                <a:spcPct val="132000"/>
              </a:lnSpc>
            </a:pPr>
            <a:r>
              <a:rPr sz="2400" b="0" i="0">
                <a:solidFill>
                  <a:srgbClr val="1C2321"/>
                </a:solidFill>
                <a:latin typeface="Segoe UI"/>
                <a:cs typeface="Arabic Typesetting"/>
              </a:rPr>
              <a:t>The banner: Zayd ؓ, then Sālim ؓ, then the pit, then the two found together</a:t>
            </a:r>
          </a:p>
        </p:txBody>
      </p:sp>
      <p:sp>
        <p:nvSpPr>
          <p:cNvPr id="10" name="card1"/>
          <p:cNvSpPr/>
          <p:nvPr/>
        </p:nvSpPr>
        <p:spPr>
          <a:xfrm>
            <a:off x="4332122"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15002" y="1700784"/>
            <a:ext cx="3161690" cy="1097280"/>
          </a:xfrm>
          <a:prstGeom prst="rect">
            <a:avLst/>
          </a:prstGeom>
          <a:noFill/>
        </p:spPr>
        <p:txBody>
          <a:bodyPr wrap="square" lIns="36576" tIns="0" rIns="36576" bIns="0" anchor="t">
            <a:spAutoFit/>
          </a:bodyPr>
          <a:lstStyle/>
          <a:p>
            <a:pPr algn="l">
              <a:lnSpc>
                <a:spcPct val="125000"/>
              </a:lnSpc>
            </a:pPr>
            <a:r>
              <a:rPr sz="3200" b="1" i="0">
                <a:solidFill>
                  <a:srgbClr val="0A322E"/>
                </a:solidFill>
                <a:latin typeface="Georgia"/>
                <a:cs typeface="Georgia"/>
              </a:rPr>
              <a:t>Now</a:t>
            </a:r>
          </a:p>
        </p:txBody>
      </p:sp>
      <p:sp>
        <p:nvSpPr>
          <p:cNvPr id="13" name="TextBox 12"/>
          <p:cNvSpPr txBox="1"/>
          <p:nvPr/>
        </p:nvSpPr>
        <p:spPr>
          <a:xfrm>
            <a:off x="4515002" y="2807208"/>
            <a:ext cx="3161690" cy="2011680"/>
          </a:xfrm>
          <a:prstGeom prst="rect">
            <a:avLst/>
          </a:prstGeom>
          <a:noFill/>
        </p:spPr>
        <p:txBody>
          <a:bodyPr wrap="square" lIns="36576" tIns="0" rIns="36576" bIns="0" anchor="t">
            <a:spAutoFit/>
          </a:bodyPr>
          <a:lstStyle/>
          <a:p>
            <a:pPr algn="l">
              <a:lnSpc>
                <a:spcPct val="132000"/>
              </a:lnSpc>
            </a:pPr>
            <a:r>
              <a:rPr sz="2400" b="0" i="0">
                <a:solidFill>
                  <a:srgbClr val="1C2321"/>
                </a:solidFill>
                <a:latin typeface="Segoe UI"/>
                <a:cs typeface="Segoe UI"/>
              </a:rPr>
              <a:t>The rest of that line — the pairs, the chiefs, the households</a:t>
            </a:r>
          </a:p>
        </p:txBody>
      </p:sp>
      <p:sp>
        <p:nvSpPr>
          <p:cNvPr id="14" name="card2"/>
          <p:cNvSpPr/>
          <p:nvPr/>
        </p:nvSpPr>
        <p:spPr>
          <a:xfrm>
            <a:off x="8097316"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80196" y="1700784"/>
            <a:ext cx="3161690" cy="1097280"/>
          </a:xfrm>
          <a:prstGeom prst="rect">
            <a:avLst/>
          </a:prstGeom>
          <a:noFill/>
        </p:spPr>
        <p:txBody>
          <a:bodyPr wrap="square" lIns="36576" tIns="0" rIns="36576" bIns="0" anchor="t">
            <a:spAutoFit/>
          </a:bodyPr>
          <a:lstStyle/>
          <a:p>
            <a:pPr algn="l">
              <a:lnSpc>
                <a:spcPct val="125000"/>
              </a:lnSpc>
            </a:pPr>
            <a:r>
              <a:rPr sz="3200" b="1" i="0">
                <a:solidFill>
                  <a:srgbClr val="0A322E"/>
                </a:solidFill>
                <a:latin typeface="Georgia"/>
                <a:cs typeface="Georgia"/>
              </a:rPr>
              <a:t>Why it is told</a:t>
            </a:r>
          </a:p>
        </p:txBody>
      </p:sp>
      <p:sp>
        <p:nvSpPr>
          <p:cNvPr id="17" name="TextBox 16"/>
          <p:cNvSpPr txBox="1"/>
          <p:nvPr/>
        </p:nvSpPr>
        <p:spPr>
          <a:xfrm>
            <a:off x="8280196" y="2807208"/>
            <a:ext cx="3161690" cy="2011680"/>
          </a:xfrm>
          <a:prstGeom prst="rect">
            <a:avLst/>
          </a:prstGeom>
          <a:noFill/>
        </p:spPr>
        <p:txBody>
          <a:bodyPr wrap="square" lIns="36576" tIns="0" rIns="36576" bIns="0" anchor="t">
            <a:spAutoFit/>
          </a:bodyPr>
          <a:lstStyle/>
          <a:p>
            <a:pPr algn="l">
              <a:lnSpc>
                <a:spcPct val="132000"/>
              </a:lnSpc>
            </a:pPr>
            <a:r>
              <a:rPr sz="2400" b="0" i="0">
                <a:solidFill>
                  <a:srgbClr val="1C2321"/>
                </a:solidFill>
                <a:latin typeface="Segoe UI"/>
                <a:cs typeface="Segoe UI"/>
              </a:rPr>
              <a:t>The books name them one by one, and so do we</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Medina, and 12 AH</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Two brothers by appointment</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وقد آخى رسول الله ﷺ بينه وبين معن بن عديّ الأنصاري وقد قُتلا جميعًا باليمامة.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Traditional Arabic"/>
              </a:rPr>
              <a:t>"The Messenger of Allah ﷺ made him and Maʿn b. ʿAdī al-Anṣārī brothers, and the two of them were killed together at al-Yamāma."</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7, p. 49</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 AH Medina → 12 AH…</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«So that I may confirm him dead»</a:t>
            </a:r>
          </a:p>
        </p:txBody>
      </p:sp>
      <p:sp>
        <p:nvSpPr>
          <p:cNvPr id="6" name="TextBox 5"/>
          <p:cNvSpPr txBox="1"/>
          <p:nvPr/>
        </p:nvSpPr>
        <p:spPr>
          <a:xfrm>
            <a:off x="566928" y="1882140"/>
            <a:ext cx="11057839" cy="2331720"/>
          </a:xfrm>
          <a:prstGeom prst="rect">
            <a:avLst/>
          </a:prstGeom>
          <a:noFill/>
        </p:spPr>
        <p:txBody>
          <a:bodyPr wrap="square" lIns="36576" tIns="0" rIns="36576" bIns="0" anchor="t">
            <a:spAutoFit/>
          </a:bodyPr>
          <a:lstStyle/>
          <a:p>
            <a:pPr algn="r" rtl="1">
              <a:lnSpc>
                <a:spcPct val="150000"/>
              </a:lnSpc>
            </a:pPr>
            <a:r>
              <a:rPr lang="ar-SA" sz="5400" b="0" i="0">
                <a:solidFill>
                  <a:srgbClr val="0A322E"/>
                </a:solidFill>
                <a:latin typeface="Traditional Arabic"/>
                <a:cs typeface="Traditional Arabic"/>
              </a:rPr>
              <a:t>مَا أُحِبُّ أَنِّي مُتُّ قَبْلَهُ حَتَّى أُصَدِّقَهُ مَيْتاً، كَمَا صَدَّقْتُهُ حَيّاً</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652772"/>
            <a:ext cx="11057839" cy="1136903"/>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…do not wish that I had died before him — so that I may confirm him dead as I confirmed him alive.</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Siyar A'lam al-Nubala, vol. 1, p. 321</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12 AH, and after it at…</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Arabic Typesetting"/>
              </a:rPr>
              <a:t>The man who killed Zayd ؓ</a:t>
            </a:r>
          </a:p>
        </p:txBody>
      </p:sp>
      <p:sp>
        <p:nvSpPr>
          <p:cNvPr id="6" name="TextBox 5"/>
          <p:cNvSpPr txBox="1"/>
          <p:nvPr/>
        </p:nvSpPr>
        <p:spPr>
          <a:xfrm>
            <a:off x="566928" y="207264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وقال لعمر: يا أميرَ المؤمنين إن الله أكرم زيدًا بيدي ولم يُهنِّي على يده.</a:t>
            </a:r>
          </a:p>
        </p:txBody>
      </p:sp>
      <p:sp>
        <p:nvSpPr>
          <p:cNvPr id="7" name="Rectangle 6"/>
          <p:cNvSpPr/>
          <p:nvPr/>
        </p:nvSpPr>
        <p:spPr>
          <a:xfrm>
            <a:off x="566928" y="41513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462272"/>
            <a:ext cx="11057839" cy="1136903"/>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…said to ʿUmar: Commander of the Faithful — Allah honoured Zayd at my hand, and did not disgrace me at his.</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7, p. 49</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The arrow he pulled out</a:t>
            </a:r>
          </a:p>
        </p:txBody>
      </p:sp>
      <p:sp>
        <p:nvSpPr>
          <p:cNvPr id="6" name="TextBox 5"/>
          <p:cNvSpPr txBox="1"/>
          <p:nvPr/>
        </p:nvSpPr>
        <p:spPr>
          <a:xfrm>
            <a:off x="566928" y="1634490"/>
            <a:ext cx="11057839" cy="2331720"/>
          </a:xfrm>
          <a:prstGeom prst="rect">
            <a:avLst/>
          </a:prstGeom>
          <a:noFill/>
        </p:spPr>
        <p:txBody>
          <a:bodyPr wrap="square" lIns="36576" tIns="0" rIns="36576" bIns="0" anchor="t">
            <a:spAutoFit/>
          </a:bodyPr>
          <a:lstStyle/>
          <a:p>
            <a:pPr algn="r" rtl="1">
              <a:lnSpc>
                <a:spcPct val="150000"/>
              </a:lnSpc>
            </a:pPr>
            <a:r>
              <a:rPr lang="ar-SA" sz="5400" b="0" i="0">
                <a:solidFill>
                  <a:srgbClr val="0A322E"/>
                </a:solidFill>
                <a:latin typeface="Traditional Arabic"/>
                <a:cs typeface="Traditional Arabic"/>
              </a:rPr>
              <a:t>فنزعه، وتحزم وأخذ السيف وقاتل حتى قتل، فوجد به جراحات كثيرة.</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4051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…he pulled it out, bound himself up, took his sword and fought until he was killed — and many wounds were found on him.</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Siyar A'lam al-Nubala, p. 60</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The son of the head of the hypocrites</a:t>
            </a:r>
          </a:p>
        </p:txBody>
      </p:sp>
      <p:sp>
        <p:nvSpPr>
          <p:cNvPr id="6" name="TextBox 5"/>
          <p:cNvSpPr txBox="1"/>
          <p:nvPr/>
        </p:nvSpPr>
        <p:spPr>
          <a:xfrm>
            <a:off x="566928" y="1882140"/>
            <a:ext cx="11057839" cy="2331720"/>
          </a:xfrm>
          <a:prstGeom prst="rect">
            <a:avLst/>
          </a:prstGeom>
          <a:noFill/>
        </p:spPr>
        <p:txBody>
          <a:bodyPr wrap="square" lIns="36576" tIns="0" rIns="36576" bIns="0" anchor="t">
            <a:spAutoFit/>
          </a:bodyPr>
          <a:lstStyle/>
          <a:p>
            <a:pPr algn="r" rtl="1">
              <a:lnSpc>
                <a:spcPct val="150000"/>
              </a:lnSpc>
            </a:pPr>
            <a:r>
              <a:rPr lang="ar-SA" sz="5400" b="0" i="0">
                <a:solidFill>
                  <a:srgbClr val="0A322E"/>
                </a:solidFill>
                <a:latin typeface="Traditional Arabic"/>
                <a:cs typeface="Traditional Arabic"/>
              </a:rPr>
              <a:t>وكان أبوه رأسَ المنافقين، وكان أشدَّ الناس على أبيه</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652772"/>
            <a:ext cx="11057839" cy="1136903"/>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His father was the head of the hypocrites, and he was the hardest of all people on his father.</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7, p. 53</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Three generations, one morning</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لا أغيّرُ اسمًا سمانيه أبواي، فلم تزل الحزونة فينا … استُشهد يومَ اليمامة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I will not change a name my parents gave me. So the roughness never left us … He was martyred on the day of al-Yamāma.</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7, p. 49 — the naming report: Sahih al-Bukhari 6190</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11–12 AH</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The mother at al-Yamāma</a:t>
            </a:r>
          </a:p>
        </p:txBody>
      </p:sp>
      <p:sp>
        <p:nvSpPr>
          <p:cNvPr id="6" name="TextBox 5"/>
          <p:cNvSpPr txBox="1"/>
          <p:nvPr/>
        </p:nvSpPr>
        <p:spPr>
          <a:xfrm>
            <a:off x="566928" y="2396490"/>
            <a:ext cx="11057839" cy="1303020"/>
          </a:xfrm>
          <a:prstGeom prst="rect">
            <a:avLst/>
          </a:prstGeom>
          <a:noFill/>
        </p:spPr>
        <p:txBody>
          <a:bodyPr wrap="square" lIns="36576" tIns="0" rIns="36576" bIns="0" anchor="t">
            <a:spAutoFit/>
          </a:bodyPr>
          <a:lstStyle/>
          <a:p>
            <a:pPr algn="r" rtl="1">
              <a:lnSpc>
                <a:spcPct val="150000"/>
              </a:lnSpc>
            </a:pPr>
            <a:r>
              <a:rPr lang="ar-SA" sz="5400" b="0" i="0">
                <a:solidFill>
                  <a:srgbClr val="0A322E"/>
                </a:solidFill>
                <a:latin typeface="Traditional Arabic"/>
                <a:cs typeface="Traditional Arabic"/>
              </a:rPr>
              <a:t>أتشهدُ أني رسولُ اللَّه؟ فيقول: لا أسمع</a:t>
            </a:r>
          </a:p>
        </p:txBody>
      </p:sp>
      <p:sp>
        <p:nvSpPr>
          <p:cNvPr id="7" name="Rectangle 6"/>
          <p:cNvSpPr/>
          <p:nvPr/>
        </p:nvSpPr>
        <p:spPr>
          <a:xfrm>
            <a:off x="566928" y="38275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138422"/>
            <a:ext cx="11057839" cy="1136903"/>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Do you testify that I am the Messenger of Allah? And he would say: I do not hear.</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3, p. 428</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Her other son, and one of the four names</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وَابْنُهَا الآخَرُ عَبْدُ اللهِ بنُ زَيْدٍ المَازِنِيُّ … وَهُوَ الَّذِي قَتَلَ مُسَيْلِمَةَ الكَذَّابَ بِسَيْفِهِ.</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Her other son, ʿAbd Allāh b. Zayd al-Māzinī … and he is the one who killed Musaylima the liar with his sword.</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Siyar A'lam al-Nubala, vol. 2, p. 282</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12 AH, and al-Yarmūk after it</a:t>
            </a:r>
          </a:p>
        </p:txBody>
      </p:sp>
      <p:sp>
        <p:nvSpPr>
          <p:cNvPr id="5" name="TextBox 4"/>
          <p:cNvSpPr txBox="1"/>
          <p:nvPr/>
        </p:nvSpPr>
        <p:spPr>
          <a:xfrm>
            <a:off x="566928" y="402336"/>
            <a:ext cx="11057839" cy="1330960"/>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The father at al-Yamāma, the son at al-Yarmūk</a:t>
            </a:r>
          </a:p>
        </p:txBody>
      </p:sp>
      <p:sp>
        <p:nvSpPr>
          <p:cNvPr id="6" name="TextBox 5"/>
          <p:cNvSpPr txBox="1"/>
          <p:nvPr/>
        </p:nvSpPr>
        <p:spPr>
          <a:xfrm>
            <a:off x="566928" y="207264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بأنه سيقتل ويدفن، وأن ابنه يحرص على الشهادةِ فلا ينالُها عامَه ذلك</a:t>
            </a:r>
          </a:p>
        </p:txBody>
      </p:sp>
      <p:sp>
        <p:nvSpPr>
          <p:cNvPr id="7" name="Rectangle 6"/>
          <p:cNvSpPr/>
          <p:nvPr/>
        </p:nvSpPr>
        <p:spPr>
          <a:xfrm>
            <a:off x="566928" y="41513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462272"/>
            <a:ext cx="11057839" cy="1136903"/>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…that he would be killed and buried, and that his son would press for martyrdom and not attain it that year.</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7, p. 52</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2788920"/>
            <a:ext cx="10728655" cy="731520"/>
          </a:xfrm>
          <a:prstGeom prst="rect">
            <a:avLst/>
          </a:prstGeom>
          <a:noFill/>
        </p:spPr>
        <p:txBody>
          <a:bodyPr wrap="square" lIns="36576" tIns="0" rIns="36576" bIns="0" anchor="ctr">
            <a:spAutoFit/>
          </a:bodyPr>
          <a:lstStyle/>
          <a:p>
            <a:pPr algn="l">
              <a:lnSpc>
                <a:spcPct val="125000"/>
              </a:lnSpc>
            </a:pPr>
            <a:r>
              <a:rPr sz="4600" b="1" i="0">
                <a:solidFill>
                  <a:srgbClr val="0A322E"/>
                </a:solidFill>
                <a:latin typeface="Georgia"/>
                <a:cs typeface="Georgia"/>
              </a:rPr>
              <a:t>Part VIII</a:t>
            </a:r>
          </a:p>
        </p:txBody>
      </p:sp>
      <p:sp>
        <p:nvSpPr>
          <p:cNvPr id="5" name="TextBox 4"/>
          <p:cNvSpPr txBox="1"/>
          <p:nvPr/>
        </p:nvSpPr>
        <p:spPr>
          <a:xfrm>
            <a:off x="868680" y="3520440"/>
            <a:ext cx="10728655" cy="548640"/>
          </a:xfrm>
          <a:prstGeom prst="rect">
            <a:avLst/>
          </a:prstGeom>
          <a:noFill/>
        </p:spPr>
        <p:txBody>
          <a:bodyPr wrap="square" lIns="36576" tIns="0" rIns="36576" bIns="0" anchor="t">
            <a:spAutoFit/>
          </a:bodyPr>
          <a:lstStyle/>
          <a:p>
            <a:pPr algn="l">
              <a:lnSpc>
                <a:spcPct val="125000"/>
              </a:lnSpc>
            </a:pPr>
            <a:r>
              <a:rPr sz="2800" b="0" i="0">
                <a:solidFill>
                  <a:srgbClr val="5A6862"/>
                </a:solidFill>
                <a:latin typeface="Segoe UI"/>
                <a:cs typeface="Segoe UI"/>
              </a:rPr>
              <a:t>What was left</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After the battle</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And one man who lived</a:t>
            </a:r>
          </a:p>
        </p:txBody>
      </p:sp>
      <p:sp>
        <p:nvSpPr>
          <p:cNvPr id="6" name="card0"/>
          <p:cNvSpPr/>
          <p:nvPr/>
        </p:nvSpPr>
        <p:spPr>
          <a:xfrm>
            <a:off x="566928"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49808" y="1700784"/>
            <a:ext cx="3161690" cy="1097280"/>
          </a:xfrm>
          <a:prstGeom prst="rect">
            <a:avLst/>
          </a:prstGeom>
          <a:noFill/>
        </p:spPr>
        <p:txBody>
          <a:bodyPr wrap="square" lIns="36576" tIns="0" rIns="36576" bIns="0" anchor="t">
            <a:spAutoFit/>
          </a:bodyPr>
          <a:lstStyle/>
          <a:p>
            <a:pPr algn="l">
              <a:lnSpc>
                <a:spcPct val="125000"/>
              </a:lnSpc>
            </a:pPr>
            <a:r>
              <a:rPr sz="3200" b="1" i="0">
                <a:solidFill>
                  <a:srgbClr val="0A322E"/>
                </a:solidFill>
                <a:latin typeface="Georgia"/>
                <a:cs typeface="Georgia"/>
              </a:rPr>
              <a:t>The garden</a:t>
            </a:r>
          </a:p>
        </p:txBody>
      </p:sp>
      <p:sp>
        <p:nvSpPr>
          <p:cNvPr id="9" name="TextBox 8"/>
          <p:cNvSpPr txBox="1"/>
          <p:nvPr/>
        </p:nvSpPr>
        <p:spPr>
          <a:xfrm>
            <a:off x="749808" y="2807208"/>
            <a:ext cx="3161690" cy="2011680"/>
          </a:xfrm>
          <a:prstGeom prst="rect">
            <a:avLst/>
          </a:prstGeom>
          <a:noFill/>
        </p:spPr>
        <p:txBody>
          <a:bodyPr wrap="square" lIns="36576" tIns="0" rIns="36576" bIns="0" anchor="t">
            <a:spAutoFit/>
          </a:bodyPr>
          <a:lstStyle/>
          <a:p>
            <a:pPr algn="l">
              <a:lnSpc>
                <a:spcPct val="132000"/>
              </a:lnSpc>
            </a:pPr>
            <a:r>
              <a:rPr sz="2400" b="0" i="0">
                <a:solidFill>
                  <a:srgbClr val="1C2321"/>
                </a:solidFill>
                <a:latin typeface="Segoe UI"/>
                <a:cs typeface="Arabic Typesetting"/>
              </a:rPr>
              <a:t>The man who asked to be thrown over the wall was al-Barāʾ b. Mālik ؓ</a:t>
            </a:r>
          </a:p>
        </p:txBody>
      </p:sp>
      <p:sp>
        <p:nvSpPr>
          <p:cNvPr id="10" name="card1"/>
          <p:cNvSpPr/>
          <p:nvPr/>
        </p:nvSpPr>
        <p:spPr>
          <a:xfrm>
            <a:off x="4332122"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15002" y="1700784"/>
            <a:ext cx="3161690" cy="1097280"/>
          </a:xfrm>
          <a:prstGeom prst="rect">
            <a:avLst/>
          </a:prstGeom>
          <a:noFill/>
        </p:spPr>
        <p:txBody>
          <a:bodyPr wrap="square" lIns="36576" tIns="0" rIns="36576" bIns="0" anchor="t">
            <a:spAutoFit/>
          </a:bodyPr>
          <a:lstStyle/>
          <a:p>
            <a:pPr algn="l">
              <a:lnSpc>
                <a:spcPct val="125000"/>
              </a:lnSpc>
            </a:pPr>
            <a:r>
              <a:rPr sz="3200" b="1" i="0">
                <a:solidFill>
                  <a:srgbClr val="0A322E"/>
                </a:solidFill>
                <a:latin typeface="Georgia"/>
                <a:cs typeface="Georgia"/>
              </a:rPr>
              <a:t>He lived</a:t>
            </a:r>
          </a:p>
        </p:txBody>
      </p:sp>
      <p:sp>
        <p:nvSpPr>
          <p:cNvPr id="13" name="TextBox 12"/>
          <p:cNvSpPr txBox="1"/>
          <p:nvPr/>
        </p:nvSpPr>
        <p:spPr>
          <a:xfrm>
            <a:off x="4515002" y="2807208"/>
            <a:ext cx="3161690" cy="2011680"/>
          </a:xfrm>
          <a:prstGeom prst="rect">
            <a:avLst/>
          </a:prstGeom>
          <a:noFill/>
        </p:spPr>
        <p:txBody>
          <a:bodyPr wrap="square" lIns="36576" tIns="0" rIns="36576" bIns="0" anchor="t">
            <a:spAutoFit/>
          </a:bodyPr>
          <a:lstStyle/>
          <a:p>
            <a:pPr algn="l">
              <a:lnSpc>
                <a:spcPct val="132000"/>
              </a:lnSpc>
            </a:pPr>
            <a:r>
              <a:rPr sz="2400" b="0" i="0">
                <a:solidFill>
                  <a:srgbClr val="1C2321"/>
                </a:solidFill>
                <a:latin typeface="Segoe UI"/>
                <a:cs typeface="Arabic Typesetting"/>
              </a:rPr>
              <a:t>Eighty-odd wounds, and Khālid ؓ stayed a month treating them</a:t>
            </a:r>
          </a:p>
        </p:txBody>
      </p:sp>
      <p:sp>
        <p:nvSpPr>
          <p:cNvPr id="14" name="card2"/>
          <p:cNvSpPr/>
          <p:nvPr/>
        </p:nvSpPr>
        <p:spPr>
          <a:xfrm>
            <a:off x="8097316"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80196" y="1700784"/>
            <a:ext cx="3161690" cy="1097280"/>
          </a:xfrm>
          <a:prstGeom prst="rect">
            <a:avLst/>
          </a:prstGeom>
          <a:noFill/>
        </p:spPr>
        <p:txBody>
          <a:bodyPr wrap="square" lIns="36576" tIns="0" rIns="36576" bIns="0" anchor="t">
            <a:spAutoFit/>
          </a:bodyPr>
          <a:lstStyle/>
          <a:p>
            <a:pPr algn="l">
              <a:lnSpc>
                <a:spcPct val="125000"/>
              </a:lnSpc>
            </a:pPr>
            <a:r>
              <a:rPr sz="3200" b="1" i="0">
                <a:solidFill>
                  <a:srgbClr val="0A322E"/>
                </a:solidFill>
                <a:latin typeface="Georgia"/>
                <a:cs typeface="Georgia"/>
              </a:rPr>
              <a:t>What is left</a:t>
            </a:r>
          </a:p>
        </p:txBody>
      </p:sp>
      <p:sp>
        <p:nvSpPr>
          <p:cNvPr id="17" name="TextBox 16"/>
          <p:cNvSpPr txBox="1"/>
          <p:nvPr/>
        </p:nvSpPr>
        <p:spPr>
          <a:xfrm>
            <a:off x="8280196" y="2807208"/>
            <a:ext cx="3161690" cy="2011680"/>
          </a:xfrm>
          <a:prstGeom prst="rect">
            <a:avLst/>
          </a:prstGeom>
          <a:noFill/>
        </p:spPr>
        <p:txBody>
          <a:bodyPr wrap="square" lIns="36576" tIns="0" rIns="36576" bIns="0" anchor="t">
            <a:spAutoFit/>
          </a:bodyPr>
          <a:lstStyle/>
          <a:p>
            <a:pPr algn="l">
              <a:lnSpc>
                <a:spcPct val="132000"/>
              </a:lnSpc>
            </a:pPr>
            <a:r>
              <a:rPr sz="2400" b="0" i="0">
                <a:solidFill>
                  <a:srgbClr val="1C2321"/>
                </a:solidFill>
                <a:latin typeface="Segoe UI"/>
                <a:cs typeface="Segoe UI"/>
              </a:rPr>
              <a:t>What was said about him afterwards — and then the count</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Arabic Typesetting"/>
              </a:rPr>
              <a:t>ʿUmar's ؓ caliphate, 13–23 AH</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«Do not put al-Barāʾ over an army»</a:t>
            </a:r>
          </a:p>
        </p:txBody>
      </p:sp>
      <p:sp>
        <p:nvSpPr>
          <p:cNvPr id="6" name="TextBox 5"/>
          <p:cNvSpPr txBox="1"/>
          <p:nvPr/>
        </p:nvSpPr>
        <p:spPr>
          <a:xfrm>
            <a:off x="566928" y="1634490"/>
            <a:ext cx="11057839" cy="2331720"/>
          </a:xfrm>
          <a:prstGeom prst="rect">
            <a:avLst/>
          </a:prstGeom>
          <a:noFill/>
        </p:spPr>
        <p:txBody>
          <a:bodyPr wrap="square" lIns="36576" tIns="0" rIns="36576" bIns="0" anchor="t">
            <a:spAutoFit/>
          </a:bodyPr>
          <a:lstStyle/>
          <a:p>
            <a:pPr algn="r" rtl="1">
              <a:lnSpc>
                <a:spcPct val="150000"/>
              </a:lnSpc>
            </a:pPr>
            <a:r>
              <a:rPr lang="ar-SA" sz="5400" b="0" i="0">
                <a:solidFill>
                  <a:srgbClr val="0A322E"/>
                </a:solidFill>
                <a:latin typeface="Traditional Arabic"/>
                <a:cs typeface="Traditional Arabic"/>
              </a:rPr>
              <a:t>لاَ تَسْتَعْمِلُوا البَرَاءَ عَلَى جَيْشٍ، فَإِنَّهُ مَهْلَكَةٌ مِنَ المَهَالِكِ يَقْدَمُ بِهِم.</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4051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"Do not put al-Barāʾ in command of an army, for he is a destruction among destructions — he presses forward with them."</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Siyar A'lam al-Nubala, vol. 1, p. 196</a:t>
            </a: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Undated</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«Do you see me dying in my bed?»</a:t>
            </a:r>
          </a:p>
        </p:txBody>
      </p:sp>
      <p:sp>
        <p:nvSpPr>
          <p:cNvPr id="6" name="TextBox 5"/>
          <p:cNvSpPr txBox="1"/>
          <p:nvPr/>
        </p:nvSpPr>
        <p:spPr>
          <a:xfrm>
            <a:off x="566928" y="1882140"/>
            <a:ext cx="11057839" cy="2331720"/>
          </a:xfrm>
          <a:prstGeom prst="rect">
            <a:avLst/>
          </a:prstGeom>
          <a:noFill/>
        </p:spPr>
        <p:txBody>
          <a:bodyPr wrap="square" lIns="36576" tIns="0" rIns="36576" bIns="0" anchor="t">
            <a:spAutoFit/>
          </a:bodyPr>
          <a:lstStyle/>
          <a:p>
            <a:pPr algn="r" rtl="1">
              <a:lnSpc>
                <a:spcPct val="150000"/>
              </a:lnSpc>
            </a:pPr>
            <a:r>
              <a:rPr lang="ar-SA" sz="5400" b="0" i="0">
                <a:solidFill>
                  <a:srgbClr val="0A322E"/>
                </a:solidFill>
                <a:latin typeface="Traditional Arabic"/>
                <a:cs typeface="Traditional Arabic"/>
              </a:rPr>
              <a:t>أَترَانِي أَمُوْتُ عَلَى فِرَاشِي؟ وَاللهِ لَقَدْ قَتَلْتُ بِضْعاً وَتِسْعِيْنَ.</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652772"/>
            <a:ext cx="11057839" cy="1136903"/>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"Do you see me dying in my bed? By Allah, I have killed ninety-odd."</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Siyar A'lam al-Nubala, vol. 1, p. 198</a:t>
            </a: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12 AH, after the battle</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The number nobody can give</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وذلك بعد ما استَحَرّ القتلُ في القُرّاء يوم اليمامة كما ثبت به الحديث في صحيح البخاري.</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"…and that was after the killing had run hot among the reciters on the day of al-Yamāma, as the ḥadīth in Ṣaḥīḥ al-Bukhārī establishes."</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7, p. 79 — Sahih al-Bukhari 4986</a:t>
            </a: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12 AH, Medina</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Traditional Arabic"/>
              </a:rPr>
              <a:t>«A thing the Prophet ﷺ did not do»</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فَتَتَبَّعِ القُرْآنَ، فَاجْمَعْهُ. فَقُلْتُ: كَيْفَ تَفْعَلُوْنَ شَيْئاً لَمْ يَفْعَلْهُ رَسُوْلُ اللهِ … قَالَ: هُوَ -وَاللهِ- خَيْرٌ.</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Traditional Arabic"/>
              </a:rPr>
              <a:t>…so follow the Qurʾān up and gather it. I said: How do you do a thing the Messenger of Allah ﷺ did not do? … He said: By Allah, it is good.</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Siyar A'lam al-Nubala, vol. 2, p. 431</a:t>
            </a: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12 AH, Medina</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The Qurʾān was collected because of this</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أمرَ الصديق زيدَ بن ثابتٍ أن يجمعَ القرآن من اللِّخاف والعُسُب وصدور الرجال</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…al-Ṣiddīq ordered Zayd b. Thābit to gather the Qurʾān from the flat stones and the palm-stalks and the breasts of men.</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7, p. 79 — Sahih al-Bukhari 4986</a:t>
            </a: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82880"/>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Tonight on the Line</a:t>
            </a:r>
          </a:p>
        </p:txBody>
      </p:sp>
      <p:pic>
        <p:nvPicPr>
          <p:cNvPr id="5" name="Picture 4" descr="line_s04_stop_e.trim.png"/>
          <p:cNvPicPr>
            <a:picLocks noChangeAspect="1"/>
          </p:cNvPicPr>
          <p:nvPr/>
        </p:nvPicPr>
        <p:blipFill>
          <a:blip r:embed="rId3"/>
          <a:stretch>
            <a:fillRect/>
          </a:stretch>
        </p:blipFill>
        <p:spPr>
          <a:xfrm>
            <a:off x="1862354" y="1389888"/>
            <a:ext cx="8466986" cy="4956048"/>
          </a:xfrm>
          <a:prstGeom prst="rect">
            <a:avLst/>
          </a:prstGeom>
        </p:spPr>
      </p:pic>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82880"/>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Where we stand</a:t>
            </a:r>
          </a:p>
        </p:txBody>
      </p:sp>
      <p:pic>
        <p:nvPicPr>
          <p:cNvPr id="5" name="Picture 4" descr="s04-close-stop-d-step-01.jpg"/>
          <p:cNvPicPr>
            <a:picLocks noChangeAspect="1"/>
          </p:cNvPicPr>
          <p:nvPr/>
        </p:nvPicPr>
        <p:blipFill>
          <a:blip r:embed="rId3"/>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819479" y="1499616"/>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al-Yamāma</a:t>
            </a:r>
          </a:p>
        </p:txBody>
      </p:sp>
      <p:sp>
        <p:nvSpPr>
          <p:cNvPr id="8" name="TextBox 7"/>
          <p:cNvSpPr txBox="1"/>
          <p:nvPr/>
        </p:nvSpPr>
        <p:spPr>
          <a:xfrm>
            <a:off x="8819479" y="1920240"/>
            <a:ext cx="2805288" cy="1943100"/>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taken at last</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819479" y="3863340"/>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Ḥaḍramawt</a:t>
            </a:r>
          </a:p>
        </p:txBody>
      </p:sp>
      <p:sp>
        <p:nvSpPr>
          <p:cNvPr id="11" name="TextBox 10"/>
          <p:cNvSpPr txBox="1"/>
          <p:nvPr/>
        </p:nvSpPr>
        <p:spPr>
          <a:xfrm>
            <a:off x="8819479" y="4283964"/>
            <a:ext cx="2805288" cy="1943100"/>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the last front</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82880"/>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77824" y="1499616"/>
            <a:ext cx="10746943" cy="1181862"/>
          </a:xfrm>
          <a:prstGeom prst="rect">
            <a:avLst/>
          </a:prstGeom>
          <a:noFill/>
        </p:spPr>
        <p:txBody>
          <a:bodyPr wrap="square" lIns="36576" tIns="0" rIns="36576" bIns="0" anchor="t">
            <a:spAutoFit/>
          </a:bodyPr>
          <a:lstStyle/>
          <a:p>
            <a:pPr algn="l">
              <a:lnSpc>
                <a:spcPct val="122000"/>
              </a:lnSpc>
            </a:pPr>
            <a:r>
              <a:rPr sz="2800" b="0" i="0">
                <a:solidFill>
                  <a:srgbClr val="1C2321"/>
                </a:solidFill>
                <a:latin typeface="Georgia"/>
                <a:cs typeface="Georgia"/>
              </a:rPr>
              <a:t>When the line broke, what re-formed it was what the men had memorised.</a:t>
            </a:r>
          </a:p>
        </p:txBody>
      </p:sp>
      <p:sp>
        <p:nvSpPr>
          <p:cNvPr id="7" name="Rectangle 6"/>
          <p:cNvSpPr/>
          <p:nvPr/>
        </p:nvSpPr>
        <p:spPr>
          <a:xfrm>
            <a:off x="566928" y="2727198"/>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77824" y="2681478"/>
            <a:ext cx="10746943" cy="1181862"/>
          </a:xfrm>
          <a:prstGeom prst="rect">
            <a:avLst/>
          </a:prstGeom>
          <a:noFill/>
        </p:spPr>
        <p:txBody>
          <a:bodyPr wrap="square" lIns="36576" tIns="0" rIns="36576" bIns="0" anchor="t">
            <a:spAutoFit/>
          </a:bodyPr>
          <a:lstStyle/>
          <a:p>
            <a:pPr algn="l">
              <a:lnSpc>
                <a:spcPct val="122000"/>
              </a:lnSpc>
            </a:pPr>
            <a:r>
              <a:rPr sz="2800" b="0" i="0">
                <a:solidFill>
                  <a:srgbClr val="1C2321"/>
                </a:solidFill>
                <a:latin typeface="Georgia"/>
                <a:cs typeface="Georgia"/>
              </a:rPr>
              <a:t>One man asked to be thrown where nobody could follow him, and the whole army came in behind him through the gate he opened.</a:t>
            </a:r>
          </a:p>
        </p:txBody>
      </p:sp>
      <p:sp>
        <p:nvSpPr>
          <p:cNvPr id="9" name="Rectangle 8"/>
          <p:cNvSpPr/>
          <p:nvPr/>
        </p:nvSpPr>
        <p:spPr>
          <a:xfrm>
            <a:off x="566928" y="3909060"/>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77824" y="3863340"/>
            <a:ext cx="10746943" cy="1181862"/>
          </a:xfrm>
          <a:prstGeom prst="rect">
            <a:avLst/>
          </a:prstGeom>
          <a:noFill/>
        </p:spPr>
        <p:txBody>
          <a:bodyPr wrap="square" lIns="36576" tIns="0" rIns="36576" bIns="0" anchor="t">
            <a:spAutoFit/>
          </a:bodyPr>
          <a:lstStyle/>
          <a:p>
            <a:pPr algn="l">
              <a:lnSpc>
                <a:spcPct val="122000"/>
              </a:lnSpc>
            </a:pPr>
            <a:r>
              <a:rPr sz="2800" b="0" i="0">
                <a:solidFill>
                  <a:srgbClr val="1C2321"/>
                </a:solidFill>
                <a:latin typeface="Georgia"/>
                <a:cs typeface="Georgia"/>
              </a:rPr>
              <a:t>The verse that steadied Medina in the year eleven is the verse a man recited on the ground in the year twelve.</a:t>
            </a:r>
          </a:p>
        </p:txBody>
      </p:sp>
      <p:sp>
        <p:nvSpPr>
          <p:cNvPr id="11" name="Rectangle 10"/>
          <p:cNvSpPr/>
          <p:nvPr/>
        </p:nvSpPr>
        <p:spPr>
          <a:xfrm>
            <a:off x="566928" y="509092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77824" y="5045202"/>
            <a:ext cx="10746943" cy="1181862"/>
          </a:xfrm>
          <a:prstGeom prst="rect">
            <a:avLst/>
          </a:prstGeom>
          <a:noFill/>
        </p:spPr>
        <p:txBody>
          <a:bodyPr wrap="square" lIns="36576" tIns="0" rIns="36576" bIns="0" anchor="t">
            <a:spAutoFit/>
          </a:bodyPr>
          <a:lstStyle/>
          <a:p>
            <a:pPr algn="l">
              <a:lnSpc>
                <a:spcPct val="122000"/>
              </a:lnSpc>
            </a:pPr>
            <a:r>
              <a:rPr sz="2800" b="0" i="0">
                <a:solidFill>
                  <a:srgbClr val="1C2321"/>
                </a:solidFill>
                <a:latin typeface="Georgia"/>
                <a:cs typeface="Georgia"/>
              </a:rPr>
              <a:t>The mushaf the room reads from was gathered because of the men who were killed in the garden.</a:t>
            </a: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600200"/>
            <a:ext cx="11057839" cy="45720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lIns="36576" tIns="0" rIns="36576" bIns="0" anchor="t">
            <a:spAutoFit/>
          </a:bodyPr>
          <a:lstStyle/>
          <a:p>
            <a:pPr algn="l">
              <a:lnSpc>
                <a:spcPct val="128000"/>
              </a:lnSpc>
            </a:pPr>
            <a:r>
              <a:rPr sz="4600" b="0" i="0">
                <a:solidFill>
                  <a:srgbClr val="FFFFFF"/>
                </a:solidFill>
                <a:latin typeface="Georgia"/>
                <a:cs typeface="Georgia"/>
              </a:rPr>
              <a:t>One province on your map is still grey. The last front of the war is Ḥaḍramawt — and it begins with a quarrel over one she-camel.</a:t>
            </a: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2788920"/>
            <a:ext cx="10728655" cy="731520"/>
          </a:xfrm>
          <a:prstGeom prst="rect">
            <a:avLst/>
          </a:prstGeom>
          <a:noFill/>
        </p:spPr>
        <p:txBody>
          <a:bodyPr wrap="square" lIns="36576" tIns="0" rIns="36576" bIns="0" anchor="ctr">
            <a:spAutoFit/>
          </a:bodyPr>
          <a:lstStyle/>
          <a:p>
            <a:pPr algn="l">
              <a:lnSpc>
                <a:spcPct val="125000"/>
              </a:lnSpc>
            </a:pPr>
            <a:r>
              <a:rPr sz="4600" b="1" i="0">
                <a:solidFill>
                  <a:srgbClr val="0A322E"/>
                </a:solidFill>
                <a:latin typeface="Georgia"/>
                <a:cs typeface="Georgia"/>
              </a:rPr>
              <a:t>Part IX</a:t>
            </a:r>
          </a:p>
        </p:txBody>
      </p:sp>
      <p:sp>
        <p:nvSpPr>
          <p:cNvPr id="5" name="TextBox 4"/>
          <p:cNvSpPr txBox="1"/>
          <p:nvPr/>
        </p:nvSpPr>
        <p:spPr>
          <a:xfrm>
            <a:off x="868680" y="3520440"/>
            <a:ext cx="10728655" cy="548640"/>
          </a:xfrm>
          <a:prstGeom prst="rect">
            <a:avLst/>
          </a:prstGeom>
          <a:noFill/>
        </p:spPr>
        <p:txBody>
          <a:bodyPr wrap="square" lIns="36576" tIns="0" rIns="36576" bIns="0" anchor="t">
            <a:spAutoFit/>
          </a:bodyPr>
          <a:lstStyle/>
          <a:p>
            <a:pPr algn="l">
              <a:lnSpc>
                <a:spcPct val="125000"/>
              </a:lnSpc>
            </a:pPr>
            <a:r>
              <a:rPr sz="2800" b="0" i="0">
                <a:solidFill>
                  <a:srgbClr val="5A6862"/>
                </a:solidFill>
                <a:latin typeface="Segoe UI"/>
                <a:cs typeface="Arabic Typesetting"/>
              </a:rPr>
              <a:t>The house of Umm Sulaym ؓ</a:t>
            </a: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Before the Hijra, at Medina</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Where these men came from</a:t>
            </a:r>
          </a:p>
        </p:txBody>
      </p:sp>
      <p:sp>
        <p:nvSpPr>
          <p:cNvPr id="6" name="card0"/>
          <p:cNvSpPr/>
          <p:nvPr/>
        </p:nvSpPr>
        <p:spPr>
          <a:xfrm>
            <a:off x="566928"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49808" y="1700784"/>
            <a:ext cx="3161690" cy="1097280"/>
          </a:xfrm>
          <a:prstGeom prst="rect">
            <a:avLst/>
          </a:prstGeom>
          <a:noFill/>
        </p:spPr>
        <p:txBody>
          <a:bodyPr wrap="square" lIns="36576" tIns="0" rIns="36576" bIns="0" anchor="t">
            <a:spAutoFit/>
          </a:bodyPr>
          <a:lstStyle/>
          <a:p>
            <a:pPr algn="l">
              <a:lnSpc>
                <a:spcPct val="125000"/>
              </a:lnSpc>
            </a:pPr>
            <a:r>
              <a:rPr sz="3200" b="1" i="0">
                <a:solidFill>
                  <a:srgbClr val="0A322E"/>
                </a:solidFill>
                <a:latin typeface="Georgia"/>
                <a:cs typeface="Georgia"/>
              </a:rPr>
              <a:t>We have closed</a:t>
            </a:r>
          </a:p>
        </p:txBody>
      </p:sp>
      <p:sp>
        <p:nvSpPr>
          <p:cNvPr id="9" name="TextBox 8"/>
          <p:cNvSpPr txBox="1"/>
          <p:nvPr/>
        </p:nvSpPr>
        <p:spPr>
          <a:xfrm>
            <a:off x="749808" y="2807208"/>
            <a:ext cx="3161690" cy="2011680"/>
          </a:xfrm>
          <a:prstGeom prst="rect">
            <a:avLst/>
          </a:prstGeom>
          <a:noFill/>
        </p:spPr>
        <p:txBody>
          <a:bodyPr wrap="square" lIns="36576" tIns="0" rIns="36576" bIns="0" anchor="t">
            <a:spAutoFit/>
          </a:bodyPr>
          <a:lstStyle/>
          <a:p>
            <a:pPr algn="l">
              <a:lnSpc>
                <a:spcPct val="132000"/>
              </a:lnSpc>
            </a:pPr>
            <a:r>
              <a:rPr sz="2400" b="0" i="0">
                <a:solidFill>
                  <a:srgbClr val="1C2321"/>
                </a:solidFill>
                <a:latin typeface="Segoe UI"/>
                <a:cs typeface="Segoe UI"/>
              </a:rPr>
              <a:t>The evening's story ended at Medina, with the order to gather the Qurʾān</a:t>
            </a:r>
          </a:p>
        </p:txBody>
      </p:sp>
      <p:sp>
        <p:nvSpPr>
          <p:cNvPr id="10" name="card1"/>
          <p:cNvSpPr/>
          <p:nvPr/>
        </p:nvSpPr>
        <p:spPr>
          <a:xfrm>
            <a:off x="4332122"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15002" y="1700784"/>
            <a:ext cx="3161690" cy="1097280"/>
          </a:xfrm>
          <a:prstGeom prst="rect">
            <a:avLst/>
          </a:prstGeom>
          <a:noFill/>
        </p:spPr>
        <p:txBody>
          <a:bodyPr wrap="square" lIns="36576" tIns="0" rIns="36576" bIns="0" anchor="t">
            <a:spAutoFit/>
          </a:bodyPr>
          <a:lstStyle/>
          <a:p>
            <a:pPr algn="l">
              <a:lnSpc>
                <a:spcPct val="125000"/>
              </a:lnSpc>
            </a:pPr>
            <a:r>
              <a:rPr sz="3200" b="1" i="0">
                <a:solidFill>
                  <a:srgbClr val="0A322E"/>
                </a:solidFill>
                <a:latin typeface="Georgia"/>
                <a:cs typeface="Georgia"/>
              </a:rPr>
              <a:t>What follows is older</a:t>
            </a:r>
          </a:p>
        </p:txBody>
      </p:sp>
      <p:sp>
        <p:nvSpPr>
          <p:cNvPr id="13" name="TextBox 12"/>
          <p:cNvSpPr txBox="1"/>
          <p:nvPr/>
        </p:nvSpPr>
        <p:spPr>
          <a:xfrm>
            <a:off x="4515002" y="2807208"/>
            <a:ext cx="3161690" cy="2011680"/>
          </a:xfrm>
          <a:prstGeom prst="rect">
            <a:avLst/>
          </a:prstGeom>
          <a:noFill/>
        </p:spPr>
        <p:txBody>
          <a:bodyPr wrap="square" lIns="36576" tIns="0" rIns="36576" bIns="0" anchor="t">
            <a:spAutoFit/>
          </a:bodyPr>
          <a:lstStyle/>
          <a:p>
            <a:pPr algn="l">
              <a:lnSpc>
                <a:spcPct val="132000"/>
              </a:lnSpc>
            </a:pPr>
            <a:r>
              <a:rPr sz="2400" b="0" i="0">
                <a:solidFill>
                  <a:srgbClr val="1C2321"/>
                </a:solidFill>
                <a:latin typeface="Segoe UI"/>
                <a:cs typeface="Segoe UI"/>
              </a:rPr>
              <a:t>Mecca, Uḥud, Biʾr Maʿūna, Ḥunayn — years before tonight</a:t>
            </a:r>
          </a:p>
        </p:txBody>
      </p:sp>
      <p:sp>
        <p:nvSpPr>
          <p:cNvPr id="14" name="card2"/>
          <p:cNvSpPr/>
          <p:nvPr/>
        </p:nvSpPr>
        <p:spPr>
          <a:xfrm>
            <a:off x="8097316"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80196" y="1700784"/>
            <a:ext cx="3161690" cy="1097280"/>
          </a:xfrm>
          <a:prstGeom prst="rect">
            <a:avLst/>
          </a:prstGeom>
          <a:noFill/>
        </p:spPr>
        <p:txBody>
          <a:bodyPr wrap="square" lIns="36576" tIns="0" rIns="36576" bIns="0" anchor="t">
            <a:spAutoFit/>
          </a:bodyPr>
          <a:lstStyle/>
          <a:p>
            <a:pPr algn="l">
              <a:lnSpc>
                <a:spcPct val="125000"/>
              </a:lnSpc>
            </a:pPr>
            <a:r>
              <a:rPr sz="3200" b="1" i="0">
                <a:solidFill>
                  <a:srgbClr val="0A322E"/>
                </a:solidFill>
                <a:latin typeface="Georgia"/>
                <a:cs typeface="Georgia"/>
              </a:rPr>
              <a:t>Why</a:t>
            </a:r>
          </a:p>
        </p:txBody>
      </p:sp>
      <p:sp>
        <p:nvSpPr>
          <p:cNvPr id="17" name="TextBox 16"/>
          <p:cNvSpPr txBox="1"/>
          <p:nvPr/>
        </p:nvSpPr>
        <p:spPr>
          <a:xfrm>
            <a:off x="8280196" y="2807208"/>
            <a:ext cx="3161690" cy="2011680"/>
          </a:xfrm>
          <a:prstGeom prst="rect">
            <a:avLst/>
          </a:prstGeom>
          <a:noFill/>
        </p:spPr>
        <p:txBody>
          <a:bodyPr wrap="square" lIns="36576" tIns="0" rIns="36576" bIns="0" anchor="t">
            <a:spAutoFit/>
          </a:bodyPr>
          <a:lstStyle/>
          <a:p>
            <a:pPr algn="l">
              <a:lnSpc>
                <a:spcPct val="132000"/>
              </a:lnSpc>
            </a:pPr>
            <a:r>
              <a:rPr sz="2400" b="0" i="0">
                <a:solidFill>
                  <a:srgbClr val="1C2321"/>
                </a:solidFill>
                <a:latin typeface="Segoe UI"/>
                <a:cs typeface="Segoe UI"/>
              </a:rPr>
              <a:t>The men who held the line at ʿAqrabāʾ came out of these houses</a:t>
            </a: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Before the Hijra, at Medina</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The dower that was Islam</a:t>
            </a:r>
          </a:p>
        </p:txBody>
      </p:sp>
      <p:sp>
        <p:nvSpPr>
          <p:cNvPr id="6" name="TextBox 5"/>
          <p:cNvSpPr txBox="1"/>
          <p:nvPr/>
        </p:nvSpPr>
        <p:spPr>
          <a:xfrm>
            <a:off x="566928" y="1882140"/>
            <a:ext cx="11057839" cy="2331720"/>
          </a:xfrm>
          <a:prstGeom prst="rect">
            <a:avLst/>
          </a:prstGeom>
          <a:noFill/>
        </p:spPr>
        <p:txBody>
          <a:bodyPr wrap="square" lIns="36576" tIns="0" rIns="36576" bIns="0" anchor="t">
            <a:spAutoFit/>
          </a:bodyPr>
          <a:lstStyle/>
          <a:p>
            <a:pPr algn="r" rtl="1">
              <a:lnSpc>
                <a:spcPct val="150000"/>
              </a:lnSpc>
            </a:pPr>
            <a:r>
              <a:rPr lang="ar-SA" sz="5400" b="0" i="0">
                <a:solidFill>
                  <a:srgbClr val="0A322E"/>
                </a:solidFill>
                <a:latin typeface="Traditional Arabic"/>
                <a:cs typeface="Traditional Arabic"/>
              </a:rPr>
              <a:t>وَلَكِنَّكَ كَافِرٌ، فَإِنْ تُسْلِمْ فَذَلِكَ مَهْرِي، لاَ أَسْأَلُكَ غَيْرَهُ.</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652772"/>
            <a:ext cx="11057839" cy="1136903"/>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…but you are a disbeliever. If you accept Islam, that is my dower — I ask you for nothing else.</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Siyar A'lam al-Nubala, vol. 2, p. 29</a:t>
            </a: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 AH, soon after the Hijra</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The gift she had left</a:t>
            </a:r>
          </a:p>
        </p:txBody>
      </p:sp>
      <p:sp>
        <p:nvSpPr>
          <p:cNvPr id="6" name="TextBox 5"/>
          <p:cNvSpPr txBox="1"/>
          <p:nvPr/>
        </p:nvSpPr>
        <p:spPr>
          <a:xfrm>
            <a:off x="566928" y="1634490"/>
            <a:ext cx="11057839" cy="2331720"/>
          </a:xfrm>
          <a:prstGeom prst="rect">
            <a:avLst/>
          </a:prstGeom>
          <a:noFill/>
        </p:spPr>
        <p:txBody>
          <a:bodyPr wrap="square" lIns="36576" tIns="0" rIns="36576" bIns="0" anchor="t">
            <a:spAutoFit/>
          </a:bodyPr>
          <a:lstStyle/>
          <a:p>
            <a:pPr algn="r" rtl="1">
              <a:lnSpc>
                <a:spcPct val="150000"/>
              </a:lnSpc>
            </a:pPr>
            <a:r>
              <a:rPr lang="ar-SA" sz="5400" b="0" i="0">
                <a:solidFill>
                  <a:srgbClr val="0A322E"/>
                </a:solidFill>
                <a:latin typeface="Traditional Arabic"/>
                <a:cs typeface="Traditional Arabic"/>
              </a:rPr>
              <a:t>يَا رَسُوْلَ اللهِ! هَذَا أُنَيْسٌ ابْنِي، أَتَيْتُكَ بِهِ يَخْدُمُكَ، فَادْعُ اللهَ لَهُ.</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4051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"Messenger of Allah, this is Unays, my son. I have brought him to you to serve you — so pray to Allah for him."</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Siyar A'lam al-Nubala, vol. 3, p. 398</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1–11 AH</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Ten years, and not one rebuke</a:t>
            </a:r>
          </a:p>
        </p:txBody>
      </p:sp>
      <p:sp>
        <p:nvSpPr>
          <p:cNvPr id="6" name="TextBox 5"/>
          <p:cNvSpPr txBox="1"/>
          <p:nvPr/>
        </p:nvSpPr>
        <p:spPr>
          <a:xfrm>
            <a:off x="566928" y="1882140"/>
            <a:ext cx="11057839" cy="2331720"/>
          </a:xfrm>
          <a:prstGeom prst="rect">
            <a:avLst/>
          </a:prstGeom>
          <a:noFill/>
        </p:spPr>
        <p:txBody>
          <a:bodyPr wrap="square" lIns="36576" tIns="0" rIns="36576" bIns="0" anchor="t">
            <a:spAutoFit/>
          </a:bodyPr>
          <a:lstStyle/>
          <a:p>
            <a:pPr algn="r" rtl="1">
              <a:lnSpc>
                <a:spcPct val="150000"/>
              </a:lnSpc>
            </a:pPr>
            <a:r>
              <a:rPr lang="ar-SA" sz="5400" b="0" i="0">
                <a:solidFill>
                  <a:srgbClr val="0A322E"/>
                </a:solidFill>
                <a:latin typeface="Traditional Arabic"/>
                <a:cs typeface="Traditional Arabic"/>
              </a:rPr>
              <a:t>خدمته صلى الله عليه وسلم عشر سنين، فوالله ما قال لي: أف قط</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652772"/>
            <a:ext cx="11057839" cy="1136903"/>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Traditional Arabic"/>
              </a:rPr>
              <a:t>I served him ﷺ ten years, and by Allah he never said 'uff' to me once.</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Siyar A'lam al-Nubala 2, p. 386</a:t>
            </a: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Uḥud, 3 AH</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«I find the scent of Paradise»</a:t>
            </a:r>
          </a:p>
        </p:txBody>
      </p:sp>
      <p:sp>
        <p:nvSpPr>
          <p:cNvPr id="6" name="TextBox 5"/>
          <p:cNvSpPr txBox="1"/>
          <p:nvPr/>
        </p:nvSpPr>
        <p:spPr>
          <a:xfrm>
            <a:off x="566928" y="1882140"/>
            <a:ext cx="11057839" cy="2331720"/>
          </a:xfrm>
          <a:prstGeom prst="rect">
            <a:avLst/>
          </a:prstGeom>
          <a:noFill/>
        </p:spPr>
        <p:txBody>
          <a:bodyPr wrap="square" lIns="36576" tIns="0" rIns="36576" bIns="0" anchor="t">
            <a:spAutoFit/>
          </a:bodyPr>
          <a:lstStyle/>
          <a:p>
            <a:pPr algn="r" rtl="1">
              <a:lnSpc>
                <a:spcPct val="150000"/>
              </a:lnSpc>
            </a:pPr>
            <a:r>
              <a:rPr lang="ar-SA" sz="5400" b="0" i="0">
                <a:solidFill>
                  <a:srgbClr val="0A322E"/>
                </a:solidFill>
                <a:latin typeface="Traditional Arabic"/>
                <a:cs typeface="Traditional Arabic"/>
              </a:rPr>
              <a:t>يا أبا عمرو أين؟ واهًا لريح الجنة، أجده دون أحدٍ.</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652772"/>
            <a:ext cx="11057839" cy="1136903"/>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"Abū ʿAmr, where to? Ah, the scent of Paradise — I find it this side of Uḥud."</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4, p. 203</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Uḥud, 3 AH</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Known by his fingertips</a:t>
            </a:r>
          </a:p>
        </p:txBody>
      </p:sp>
      <p:sp>
        <p:nvSpPr>
          <p:cNvPr id="6" name="TextBox 5"/>
          <p:cNvSpPr txBox="1"/>
          <p:nvPr/>
        </p:nvSpPr>
        <p:spPr>
          <a:xfrm>
            <a:off x="566928" y="1882140"/>
            <a:ext cx="11057839" cy="2331720"/>
          </a:xfrm>
          <a:prstGeom prst="rect">
            <a:avLst/>
          </a:prstGeom>
          <a:noFill/>
        </p:spPr>
        <p:txBody>
          <a:bodyPr wrap="square" lIns="36576" tIns="0" rIns="36576" bIns="0" anchor="t">
            <a:spAutoFit/>
          </a:bodyPr>
          <a:lstStyle/>
          <a:p>
            <a:pPr algn="r" rtl="1">
              <a:lnSpc>
                <a:spcPct val="150000"/>
              </a:lnSpc>
            </a:pPr>
            <a:r>
              <a:rPr lang="ar-SA" sz="5400" b="0" i="0">
                <a:solidFill>
                  <a:srgbClr val="0A322E"/>
                </a:solidFill>
                <a:latin typeface="Traditional Arabic"/>
                <a:cs typeface="Traditional Arabic"/>
              </a:rPr>
              <a:t>﴿مِنَ الْمُؤْمِنِينَ رِجَالٌ صَدَقُوا مَا عَاهَدُوا اللَّهَ عَلَيْهِ﴾</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652772"/>
            <a:ext cx="11057839" cy="1136903"/>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Among the believers are men true to what they pledged to Allah.</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verse as quoted at al-Bidaya wa'l-Nihaya the reference, vol. 4, p. 203</a:t>
            </a: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Uḥud, 3 AH</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«What will you do with life after him?»</a:t>
            </a:r>
          </a:p>
        </p:txBody>
      </p:sp>
      <p:sp>
        <p:nvSpPr>
          <p:cNvPr id="6" name="TextBox 5"/>
          <p:cNvSpPr txBox="1"/>
          <p:nvPr/>
        </p:nvSpPr>
        <p:spPr>
          <a:xfrm>
            <a:off x="566928" y="207264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فما تصنعون بالحياة بعده؟! قوموا فموتوا على ما مات عليه رسول اللَّه ﷺ.</a:t>
            </a:r>
          </a:p>
        </p:txBody>
      </p:sp>
      <p:sp>
        <p:nvSpPr>
          <p:cNvPr id="7" name="Rectangle 6"/>
          <p:cNvSpPr/>
          <p:nvPr/>
        </p:nvSpPr>
        <p:spPr>
          <a:xfrm>
            <a:off x="566928" y="41513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462272"/>
            <a:ext cx="11057839" cy="1136903"/>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Traditional Arabic"/>
              </a:rPr>
              <a:t>"And what will you do with life after him? Rise, and die upon what the Messenger of Allah ﷺ died upon."</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4, p. 207</a:t>
            </a: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Uḥud, 3 AH</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The water-carriers at Uḥud</a:t>
            </a:r>
          </a:p>
        </p:txBody>
      </p:sp>
      <p:sp>
        <p:nvSpPr>
          <p:cNvPr id="6" name="TextBox 5"/>
          <p:cNvSpPr txBox="1"/>
          <p:nvPr/>
        </p:nvSpPr>
        <p:spPr>
          <a:xfrm>
            <a:off x="566928" y="2396490"/>
            <a:ext cx="11057839" cy="1303020"/>
          </a:xfrm>
          <a:prstGeom prst="rect">
            <a:avLst/>
          </a:prstGeom>
          <a:noFill/>
        </p:spPr>
        <p:txBody>
          <a:bodyPr wrap="square" lIns="36576" tIns="0" rIns="36576" bIns="0" anchor="t">
            <a:spAutoFit/>
          </a:bodyPr>
          <a:lstStyle/>
          <a:p>
            <a:pPr algn="r" rtl="1">
              <a:lnSpc>
                <a:spcPct val="150000"/>
              </a:lnSpc>
            </a:pPr>
            <a:r>
              <a:rPr lang="ar-SA" sz="5400" b="0" i="0">
                <a:solidFill>
                  <a:srgbClr val="0A322E"/>
                </a:solidFill>
                <a:latin typeface="Traditional Arabic"/>
                <a:cs typeface="Traditional Arabic"/>
              </a:rPr>
              <a:t>لاَ تُشْرِفْ، لاَ يُصِيْبُكَ سَهْمٌ، نَحْرِي دُوْنَ نَحْرِكَ.</a:t>
            </a:r>
          </a:p>
        </p:txBody>
      </p:sp>
      <p:sp>
        <p:nvSpPr>
          <p:cNvPr id="7" name="Rectangle 6"/>
          <p:cNvSpPr/>
          <p:nvPr/>
        </p:nvSpPr>
        <p:spPr>
          <a:xfrm>
            <a:off x="566928" y="38275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138422"/>
            <a:ext cx="11057839" cy="1136903"/>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…do not look out, lest an arrow strike you. My throat before your throat.</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Siyar A'lam al-Nubala, vol. 2, p. 31</a:t>
            </a: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Biʾr Maʿūna, 4 AH</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«I have won»</a:t>
            </a:r>
          </a:p>
        </p:txBody>
      </p:sp>
      <p:sp>
        <p:nvSpPr>
          <p:cNvPr id="6" name="TextBox 5"/>
          <p:cNvSpPr txBox="1"/>
          <p:nvPr/>
        </p:nvSpPr>
        <p:spPr>
          <a:xfrm>
            <a:off x="566928" y="2644140"/>
            <a:ext cx="11057839" cy="1303020"/>
          </a:xfrm>
          <a:prstGeom prst="rect">
            <a:avLst/>
          </a:prstGeom>
          <a:noFill/>
        </p:spPr>
        <p:txBody>
          <a:bodyPr wrap="square" lIns="36576" tIns="0" rIns="36576" bIns="0" anchor="t">
            <a:spAutoFit/>
          </a:bodyPr>
          <a:lstStyle/>
          <a:p>
            <a:pPr algn="r" rtl="1">
              <a:lnSpc>
                <a:spcPct val="150000"/>
              </a:lnSpc>
            </a:pPr>
            <a:r>
              <a:rPr lang="ar-SA" sz="5400" b="0" i="0">
                <a:solidFill>
                  <a:srgbClr val="0A322E"/>
                </a:solidFill>
                <a:latin typeface="Traditional Arabic"/>
                <a:cs typeface="Traditional Arabic"/>
              </a:rPr>
              <a:t>اللَّهُ أَكْبَرُ، فُزْتُ وَرَبِّ الكَعْبَةِ.</a:t>
            </a:r>
          </a:p>
        </p:txBody>
      </p:sp>
      <p:sp>
        <p:nvSpPr>
          <p:cNvPr id="7" name="Rectangle 6"/>
          <p:cNvSpPr/>
          <p:nvPr/>
        </p:nvSpPr>
        <p:spPr>
          <a:xfrm>
            <a:off x="566928" y="40751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386072"/>
            <a:ext cx="11057839" cy="6416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"Allāhu akbar — I have won, by the Lord of the Kaʿba."</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4, p. 255</a:t>
            </a: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After Biʾr Maʿūna, 4 AH</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Why he came to that house</a:t>
            </a:r>
          </a:p>
        </p:txBody>
      </p:sp>
      <p:sp>
        <p:nvSpPr>
          <p:cNvPr id="6" name="TextBox 5"/>
          <p:cNvSpPr txBox="1"/>
          <p:nvPr/>
        </p:nvSpPr>
        <p:spPr>
          <a:xfrm>
            <a:off x="566928" y="2396490"/>
            <a:ext cx="11057839" cy="1303020"/>
          </a:xfrm>
          <a:prstGeom prst="rect">
            <a:avLst/>
          </a:prstGeom>
          <a:noFill/>
        </p:spPr>
        <p:txBody>
          <a:bodyPr wrap="square" lIns="36576" tIns="0" rIns="36576" bIns="0" anchor="t">
            <a:spAutoFit/>
          </a:bodyPr>
          <a:lstStyle/>
          <a:p>
            <a:pPr algn="r" rtl="1">
              <a:lnSpc>
                <a:spcPct val="150000"/>
              </a:lnSpc>
            </a:pPr>
            <a:r>
              <a:rPr lang="ar-SA" sz="5400" b="0" i="0">
                <a:solidFill>
                  <a:srgbClr val="0A322E"/>
                </a:solidFill>
                <a:latin typeface="Traditional Arabic"/>
                <a:cs typeface="Traditional Arabic"/>
              </a:rPr>
              <a:t>إِنِّي أَرْحَمُهَا، قُتِلَ … أَخُوْهَا مَعِي</a:t>
            </a:r>
          </a:p>
        </p:txBody>
      </p:sp>
      <p:sp>
        <p:nvSpPr>
          <p:cNvPr id="7" name="Rectangle 6"/>
          <p:cNvSpPr/>
          <p:nvPr/>
        </p:nvSpPr>
        <p:spPr>
          <a:xfrm>
            <a:off x="566928" y="38275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138422"/>
            <a:ext cx="11057839" cy="1136903"/>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I have compassion for her — her brother was killed with me.</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Siyar A'lam al-Nubala, vol. 2, pp. 306–307</a:t>
            </a: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At Medina</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«It was a loan»</a:t>
            </a:r>
          </a:p>
        </p:txBody>
      </p:sp>
      <p:sp>
        <p:nvSpPr>
          <p:cNvPr id="6" name="TextBox 5"/>
          <p:cNvSpPr txBox="1"/>
          <p:nvPr/>
        </p:nvSpPr>
        <p:spPr>
          <a:xfrm>
            <a:off x="566928" y="2396490"/>
            <a:ext cx="11057839" cy="1303020"/>
          </a:xfrm>
          <a:prstGeom prst="rect">
            <a:avLst/>
          </a:prstGeom>
          <a:noFill/>
        </p:spPr>
        <p:txBody>
          <a:bodyPr wrap="square" lIns="36576" tIns="0" rIns="36576" bIns="0" anchor="t">
            <a:spAutoFit/>
          </a:bodyPr>
          <a:lstStyle/>
          <a:p>
            <a:pPr algn="r" rtl="1">
              <a:lnSpc>
                <a:spcPct val="150000"/>
              </a:lnSpc>
            </a:pPr>
            <a:r>
              <a:rPr lang="ar-SA" sz="5400" b="0" i="0">
                <a:solidFill>
                  <a:srgbClr val="0A322E"/>
                </a:solidFill>
                <a:latin typeface="Traditional Arabic"/>
                <a:cs typeface="Traditional Arabic"/>
              </a:rPr>
              <a:t>فَإِنَّ ابْنَكَ كَانَ عَارِيَّةً مِنَ اللهِ، فَقَبَضَهُ.</a:t>
            </a:r>
          </a:p>
        </p:txBody>
      </p:sp>
      <p:sp>
        <p:nvSpPr>
          <p:cNvPr id="7" name="Rectangle 6"/>
          <p:cNvSpPr/>
          <p:nvPr/>
        </p:nvSpPr>
        <p:spPr>
          <a:xfrm>
            <a:off x="566928" y="38275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138422"/>
            <a:ext cx="11057839" cy="1136903"/>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"Your son was a loan from Allah, and He has taken him back."</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Siyar A'lam al-Nubala, vol. 2, p. 310</a:t>
            </a: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At Medina</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Bayruḥāʾ</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إِنَّ أَحَبَّ أَمْوَالِي إِلَيَّ بَيْرُحَاءُ، وَإِنَّهَا صَدَقَةٌ للهِ … فَقَالَ: (بَخٍ! ذَلِكَ مَالٌ رَابِحٌ</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The dearest of my property to me is Bayruḥāʾ, and it is a ṣadaqa for Allah … He said: 'Bakhkh! That is profitable property.</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Siyar A'lam al-Nubala, vol. 2, p. 33</a:t>
            </a: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Ḥunayn, 8 AH</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The dagger at Ḥunayn</a:t>
            </a:r>
          </a:p>
        </p:txBody>
      </p:sp>
      <p:sp>
        <p:nvSpPr>
          <p:cNvPr id="6" name="TextBox 5"/>
          <p:cNvSpPr txBox="1"/>
          <p:nvPr/>
        </p:nvSpPr>
        <p:spPr>
          <a:xfrm>
            <a:off x="566928" y="1882140"/>
            <a:ext cx="11057839" cy="2331720"/>
          </a:xfrm>
          <a:prstGeom prst="rect">
            <a:avLst/>
          </a:prstGeom>
          <a:noFill/>
        </p:spPr>
        <p:txBody>
          <a:bodyPr wrap="square" lIns="36576" tIns="0" rIns="36576" bIns="0" anchor="t">
            <a:spAutoFit/>
          </a:bodyPr>
          <a:lstStyle/>
          <a:p>
            <a:pPr algn="r" rtl="1">
              <a:lnSpc>
                <a:spcPct val="150000"/>
              </a:lnSpc>
            </a:pPr>
            <a:r>
              <a:rPr lang="ar-SA" sz="5400" b="0" i="0">
                <a:solidFill>
                  <a:srgbClr val="0A322E"/>
                </a:solidFill>
                <a:latin typeface="Traditional Arabic"/>
                <a:cs typeface="Traditional Arabic"/>
              </a:rPr>
              <a:t>يَا رَسُوْلَ اللهِ! إِنْ دَنَا مِنِّي مُشْرِكٌ بَقَرْتُ بِهِ بَطْنَهُ.</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652772"/>
            <a:ext cx="11057839" cy="1136903"/>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"Messenger of Allah, if a mushrik comes near me I will open his belly with it."</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Siyar A'lam al-Nubala, vol. 2, p. 304</a:t>
            </a: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Traditional Arabic"/>
              </a:rPr>
              <a:t>In the Prophet's ﷺ lifetime</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Umm Ḥarām and the sea</a:t>
            </a:r>
          </a:p>
        </p:txBody>
      </p:sp>
      <p:sp>
        <p:nvSpPr>
          <p:cNvPr id="6" name="TextBox 5"/>
          <p:cNvSpPr txBox="1"/>
          <p:nvPr/>
        </p:nvSpPr>
        <p:spPr>
          <a:xfrm>
            <a:off x="566928" y="1882140"/>
            <a:ext cx="11057839" cy="2331720"/>
          </a:xfrm>
          <a:prstGeom prst="rect">
            <a:avLst/>
          </a:prstGeom>
          <a:noFill/>
        </p:spPr>
        <p:txBody>
          <a:bodyPr wrap="square" lIns="36576" tIns="0" rIns="36576" bIns="0" anchor="t">
            <a:spAutoFit/>
          </a:bodyPr>
          <a:lstStyle/>
          <a:p>
            <a:pPr algn="r" rtl="1">
              <a:lnSpc>
                <a:spcPct val="150000"/>
              </a:lnSpc>
            </a:pPr>
            <a:r>
              <a:rPr lang="ar-SA" sz="5400" b="0" i="0">
                <a:solidFill>
                  <a:srgbClr val="0A322E"/>
                </a:solidFill>
                <a:latin typeface="Traditional Arabic"/>
                <a:cs typeface="Traditional Arabic"/>
              </a:rPr>
              <a:t>عُرِضَ عَلَيَّ نَاسٌ مِنْ أُمَّتِي يَرْكَبُوْنَ ظَهْرَ هَذَا البَحْرِ كَالمُلُوْكِ … عَلَى الأَسِرَّةِ</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652772"/>
            <a:ext cx="11057839" cy="1136903"/>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People of my umma were shown to me riding the back of this sea like kings … upon thrones.</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Siyar A'lam al-Nubala, vol. 2, pp. 316–317</a:t>
            </a:r>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Tustar, 17–20 AH</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The oath at Tustar</a:t>
            </a:r>
          </a:p>
        </p:txBody>
      </p:sp>
      <p:sp>
        <p:nvSpPr>
          <p:cNvPr id="6" name="TextBox 5"/>
          <p:cNvSpPr txBox="1"/>
          <p:nvPr/>
        </p:nvSpPr>
        <p:spPr>
          <a:xfrm>
            <a:off x="566928" y="2644140"/>
            <a:ext cx="11057839" cy="1303020"/>
          </a:xfrm>
          <a:prstGeom prst="rect">
            <a:avLst/>
          </a:prstGeom>
          <a:noFill/>
        </p:spPr>
        <p:txBody>
          <a:bodyPr wrap="square" lIns="36576" tIns="0" rIns="36576" bIns="0" anchor="t">
            <a:spAutoFit/>
          </a:bodyPr>
          <a:lstStyle/>
          <a:p>
            <a:pPr algn="r" rtl="1">
              <a:lnSpc>
                <a:spcPct val="150000"/>
              </a:lnSpc>
            </a:pPr>
            <a:r>
              <a:rPr lang="ar-SA" sz="5400" b="0" i="0">
                <a:solidFill>
                  <a:srgbClr val="0A322E"/>
                </a:solidFill>
                <a:latin typeface="Traditional Arabic"/>
                <a:cs typeface="Traditional Arabic"/>
              </a:rPr>
              <a:t>اللَّهُمَّ اهْزِمْهُمْ لَنَا وَاسْتَشْهِدْنِي.</a:t>
            </a:r>
          </a:p>
        </p:txBody>
      </p:sp>
      <p:sp>
        <p:nvSpPr>
          <p:cNvPr id="7" name="Rectangle 6"/>
          <p:cNvSpPr/>
          <p:nvPr/>
        </p:nvSpPr>
        <p:spPr>
          <a:xfrm>
            <a:off x="566928" y="40751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386072"/>
            <a:ext cx="11057839" cy="6416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…O Allah, defeat them for us, and take me as a martyr.</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al-Kamil, vol. 2, p. 368</a:t>
            </a: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Tustar, the same morning</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The dawn prayer at Tustar</a:t>
            </a:r>
          </a:p>
        </p:txBody>
      </p:sp>
      <p:sp>
        <p:nvSpPr>
          <p:cNvPr id="6" name="TextBox 5"/>
          <p:cNvSpPr txBox="1"/>
          <p:nvPr/>
        </p:nvSpPr>
        <p:spPr>
          <a:xfrm>
            <a:off x="566928" y="207264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فما صلوا الصبح إلا بعد طلوع الشمس فما أحب أن لي بتلك الصلاة حمرَ النعم.</a:t>
            </a:r>
          </a:p>
        </p:txBody>
      </p:sp>
      <p:sp>
        <p:nvSpPr>
          <p:cNvPr id="7" name="Rectangle 6"/>
          <p:cNvSpPr/>
          <p:nvPr/>
        </p:nvSpPr>
        <p:spPr>
          <a:xfrm>
            <a:off x="566928" y="41513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462272"/>
            <a:ext cx="11057839" cy="1136903"/>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did not pray Ṣubḥ until after sunrise — and I would not wish red camels in exchange for that prayer.</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7, p. 198</a:t>
            </a:r>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Arabic Typesetting"/>
              </a:rPr>
              <a:t>The caliphate of ʿUthmān ؓ</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«Equip me»</a:t>
            </a:r>
          </a:p>
        </p:txBody>
      </p:sp>
      <p:sp>
        <p:nvSpPr>
          <p:cNvPr id="6" name="TextBox 5"/>
          <p:cNvSpPr txBox="1"/>
          <p:nvPr/>
        </p:nvSpPr>
        <p:spPr>
          <a:xfrm>
            <a:off x="566928" y="1882140"/>
            <a:ext cx="11057839" cy="2331720"/>
          </a:xfrm>
          <a:prstGeom prst="rect">
            <a:avLst/>
          </a:prstGeom>
          <a:noFill/>
        </p:spPr>
        <p:txBody>
          <a:bodyPr wrap="square" lIns="36576" tIns="0" rIns="36576" bIns="0" anchor="t">
            <a:spAutoFit/>
          </a:bodyPr>
          <a:lstStyle/>
          <a:p>
            <a:pPr algn="r" rtl="1">
              <a:lnSpc>
                <a:spcPct val="150000"/>
              </a:lnSpc>
            </a:pPr>
            <a:r>
              <a:rPr lang="ar-SA" sz="5400" b="0" i="0">
                <a:solidFill>
                  <a:srgbClr val="0A322E"/>
                </a:solidFill>
                <a:latin typeface="Traditional Arabic"/>
                <a:cs typeface="Traditional Arabic"/>
              </a:rPr>
              <a:t>اسْتَنْفَرَنَا اللهُ وَأَمَرَنَا، شُيُوْخَنَا وَشَبَابَنَا، جَهِّزُوْنِي.</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652772"/>
            <a:ext cx="11057839" cy="1136903"/>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"Allah has called us out and commanded us — our old and our young. Equip me."</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Siyar A'lam al-Nubala, vol. 2, p. 34</a:t>
            </a:r>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2788920"/>
            <a:ext cx="10728655" cy="731520"/>
          </a:xfrm>
          <a:prstGeom prst="rect">
            <a:avLst/>
          </a:prstGeom>
          <a:noFill/>
        </p:spPr>
        <p:txBody>
          <a:bodyPr wrap="square" lIns="36576" tIns="0" rIns="36576" bIns="0" anchor="ctr">
            <a:spAutoFit/>
          </a:bodyPr>
          <a:lstStyle/>
          <a:p>
            <a:pPr algn="l">
              <a:lnSpc>
                <a:spcPct val="125000"/>
              </a:lnSpc>
            </a:pPr>
            <a:r>
              <a:rPr sz="4600" b="1" i="0">
                <a:solidFill>
                  <a:srgbClr val="0A322E"/>
                </a:solidFill>
                <a:latin typeface="Georgia"/>
                <a:cs typeface="Georgia"/>
              </a:rPr>
              <a:t>Part X</a:t>
            </a:r>
          </a:p>
        </p:txBody>
      </p:sp>
      <p:sp>
        <p:nvSpPr>
          <p:cNvPr id="5" name="TextBox 4"/>
          <p:cNvSpPr txBox="1"/>
          <p:nvPr/>
        </p:nvSpPr>
        <p:spPr>
          <a:xfrm>
            <a:off x="868680" y="3520440"/>
            <a:ext cx="10728655" cy="548640"/>
          </a:xfrm>
          <a:prstGeom prst="rect">
            <a:avLst/>
          </a:prstGeom>
          <a:noFill/>
        </p:spPr>
        <p:txBody>
          <a:bodyPr wrap="square" lIns="36576" tIns="0" rIns="36576" bIns="0" anchor="t">
            <a:spAutoFit/>
          </a:bodyPr>
          <a:lstStyle/>
          <a:p>
            <a:pPr algn="l">
              <a:lnSpc>
                <a:spcPct val="125000"/>
              </a:lnSpc>
            </a:pPr>
            <a:r>
              <a:rPr sz="2800" b="0" i="0">
                <a:solidFill>
                  <a:srgbClr val="5A6862"/>
                </a:solidFill>
                <a:latin typeface="Segoe UI"/>
                <a:cs typeface="Arabic Typesetting"/>
              </a:rPr>
              <a:t>Abū Ḥudhayfa ؓ and Sālim ؓ, before the field</a:t>
            </a:r>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Mecca, before the house of al-Arqam</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The second house</a:t>
            </a:r>
          </a:p>
        </p:txBody>
      </p:sp>
      <p:sp>
        <p:nvSpPr>
          <p:cNvPr id="6" name="card0"/>
          <p:cNvSpPr/>
          <p:nvPr/>
        </p:nvSpPr>
        <p:spPr>
          <a:xfrm>
            <a:off x="566928" y="1389888"/>
            <a:ext cx="3527450" cy="44805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49808" y="1700784"/>
            <a:ext cx="3161690" cy="1097280"/>
          </a:xfrm>
          <a:prstGeom prst="rect">
            <a:avLst/>
          </a:prstGeom>
          <a:noFill/>
        </p:spPr>
        <p:txBody>
          <a:bodyPr wrap="square" lIns="36576" tIns="0" rIns="36576" bIns="0" anchor="t">
            <a:spAutoFit/>
          </a:bodyPr>
          <a:lstStyle/>
          <a:p>
            <a:pPr algn="l">
              <a:lnSpc>
                <a:spcPct val="125000"/>
              </a:lnSpc>
            </a:pPr>
            <a:r>
              <a:rPr sz="3200" b="1" i="0">
                <a:solidFill>
                  <a:srgbClr val="0A322E"/>
                </a:solidFill>
                <a:latin typeface="Georgia"/>
                <a:cs typeface="Georgia"/>
              </a:rPr>
              <a:t>That was one house</a:t>
            </a:r>
          </a:p>
        </p:txBody>
      </p:sp>
      <p:sp>
        <p:nvSpPr>
          <p:cNvPr id="9" name="TextBox 8"/>
          <p:cNvSpPr txBox="1"/>
          <p:nvPr/>
        </p:nvSpPr>
        <p:spPr>
          <a:xfrm>
            <a:off x="749808" y="2807208"/>
            <a:ext cx="3161690" cy="2011680"/>
          </a:xfrm>
          <a:prstGeom prst="rect">
            <a:avLst/>
          </a:prstGeom>
          <a:noFill/>
        </p:spPr>
        <p:txBody>
          <a:bodyPr wrap="square" lIns="36576" tIns="0" rIns="36576" bIns="0" anchor="t">
            <a:spAutoFit/>
          </a:bodyPr>
          <a:lstStyle/>
          <a:p>
            <a:pPr algn="l">
              <a:lnSpc>
                <a:spcPct val="132000"/>
              </a:lnSpc>
            </a:pPr>
            <a:r>
              <a:rPr sz="2400" b="0" i="0">
                <a:solidFill>
                  <a:srgbClr val="1C2321"/>
                </a:solidFill>
                <a:latin typeface="Segoe UI"/>
                <a:cs typeface="Arabic Typesetting"/>
              </a:rPr>
              <a:t>Umm Sulaym's ؓ — Anas ؓ, al-Barāʾ ؓ, and Abū Ṭalḥa ؓ</a:t>
            </a:r>
          </a:p>
        </p:txBody>
      </p:sp>
      <p:sp>
        <p:nvSpPr>
          <p:cNvPr id="10" name="card1"/>
          <p:cNvSpPr/>
          <p:nvPr/>
        </p:nvSpPr>
        <p:spPr>
          <a:xfrm>
            <a:off x="4332122" y="1389888"/>
            <a:ext cx="3527450" cy="44805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15002" y="1700784"/>
            <a:ext cx="3161690" cy="1097280"/>
          </a:xfrm>
          <a:prstGeom prst="rect">
            <a:avLst/>
          </a:prstGeom>
          <a:noFill/>
        </p:spPr>
        <p:txBody>
          <a:bodyPr wrap="square" lIns="36576" tIns="0" rIns="36576" bIns="0" anchor="t">
            <a:spAutoFit/>
          </a:bodyPr>
          <a:lstStyle/>
          <a:p>
            <a:pPr algn="l">
              <a:lnSpc>
                <a:spcPct val="125000"/>
              </a:lnSpc>
            </a:pPr>
            <a:r>
              <a:rPr sz="3200" b="1" i="0">
                <a:solidFill>
                  <a:srgbClr val="0A322E"/>
                </a:solidFill>
                <a:latin typeface="Georgia"/>
                <a:cs typeface="Georgia"/>
              </a:rPr>
              <a:t>This is another</a:t>
            </a:r>
          </a:p>
        </p:txBody>
      </p:sp>
      <p:sp>
        <p:nvSpPr>
          <p:cNvPr id="13" name="TextBox 12"/>
          <p:cNvSpPr txBox="1"/>
          <p:nvPr/>
        </p:nvSpPr>
        <p:spPr>
          <a:xfrm>
            <a:off x="4515002" y="2807208"/>
            <a:ext cx="3161690" cy="2011680"/>
          </a:xfrm>
          <a:prstGeom prst="rect">
            <a:avLst/>
          </a:prstGeom>
          <a:noFill/>
        </p:spPr>
        <p:txBody>
          <a:bodyPr wrap="square" lIns="36576" tIns="0" rIns="36576" bIns="0" anchor="t">
            <a:spAutoFit/>
          </a:bodyPr>
          <a:lstStyle/>
          <a:p>
            <a:pPr algn="l">
              <a:lnSpc>
                <a:spcPct val="132000"/>
              </a:lnSpc>
            </a:pPr>
            <a:r>
              <a:rPr sz="2400" b="0" i="0">
                <a:solidFill>
                  <a:srgbClr val="1C2321"/>
                </a:solidFill>
                <a:latin typeface="Segoe UI"/>
                <a:cs typeface="Segoe UI"/>
              </a:rPr>
              <a:t>A chief's son of Quraysh, and a freed slave of Persia</a:t>
            </a:r>
          </a:p>
        </p:txBody>
      </p:sp>
      <p:sp>
        <p:nvSpPr>
          <p:cNvPr id="14" name="card2"/>
          <p:cNvSpPr/>
          <p:nvPr/>
        </p:nvSpPr>
        <p:spPr>
          <a:xfrm>
            <a:off x="8097316" y="1389888"/>
            <a:ext cx="3527450" cy="44805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80196" y="1700784"/>
            <a:ext cx="3161690" cy="1097280"/>
          </a:xfrm>
          <a:prstGeom prst="rect">
            <a:avLst/>
          </a:prstGeom>
          <a:noFill/>
        </p:spPr>
        <p:txBody>
          <a:bodyPr wrap="square" lIns="36576" tIns="0" rIns="36576" bIns="0" anchor="t">
            <a:spAutoFit/>
          </a:bodyPr>
          <a:lstStyle/>
          <a:p>
            <a:pPr algn="l">
              <a:lnSpc>
                <a:spcPct val="125000"/>
              </a:lnSpc>
            </a:pPr>
            <a:r>
              <a:rPr sz="3200" b="1" i="0">
                <a:solidFill>
                  <a:srgbClr val="0A322E"/>
                </a:solidFill>
                <a:latin typeface="Georgia"/>
                <a:cs typeface="Georgia"/>
              </a:rPr>
              <a:t>Where they end</a:t>
            </a:r>
          </a:p>
        </p:txBody>
      </p:sp>
      <p:sp>
        <p:nvSpPr>
          <p:cNvPr id="17" name="TextBox 16"/>
          <p:cNvSpPr txBox="1"/>
          <p:nvPr/>
        </p:nvSpPr>
        <p:spPr>
          <a:xfrm>
            <a:off x="8280196" y="2807208"/>
            <a:ext cx="3161690" cy="2011680"/>
          </a:xfrm>
          <a:prstGeom prst="rect">
            <a:avLst/>
          </a:prstGeom>
          <a:noFill/>
        </p:spPr>
        <p:txBody>
          <a:bodyPr wrap="square" lIns="36576" tIns="0" rIns="36576" bIns="0" anchor="t">
            <a:spAutoFit/>
          </a:bodyPr>
          <a:lstStyle/>
          <a:p>
            <a:pPr algn="l">
              <a:lnSpc>
                <a:spcPct val="132000"/>
              </a:lnSpc>
            </a:pPr>
            <a:r>
              <a:rPr sz="2400" b="0" i="0">
                <a:solidFill>
                  <a:srgbClr val="1C2321"/>
                </a:solidFill>
                <a:latin typeface="Segoe UI"/>
                <a:cs typeface="Segoe UI"/>
              </a:rPr>
              <a:t>Both of them on the field you have already seen</a:t>
            </a:r>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Mecca, before the house of al-Arqam</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The son of the elder of the Jāhiliyya</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السَّيِّدُ الكَبِيْرُ، الشَّهِيْدُ، أَبُو حُذَيْفَةَ ابْنُ شَيْخِ الجَاهِلِيَّةِ: عُتْبَةَ بنِ رَبِيْعَةَ … البَدْرِيُّ</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The great chief, the martyr, Abū Ḥudhayfa — son of the elder of the Jāhiliyya, ʿUtba b. Rabīʿa — … the man of Badr.</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Siyar A'lam al-Nubala, vol. 1, p. 164</a:t>
            </a:r>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Mecca, before the Hijra</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The ship they hired for half a dinar</a:t>
            </a:r>
          </a:p>
        </p:txBody>
      </p:sp>
      <p:sp>
        <p:nvSpPr>
          <p:cNvPr id="6" name="TextBox 5"/>
          <p:cNvSpPr txBox="1"/>
          <p:nvPr/>
        </p:nvSpPr>
        <p:spPr>
          <a:xfrm>
            <a:off x="566928" y="207264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فاستأجروا سفينةً بنصف دينار إلى الحبشة … وأبو حُذيفة بن عتبة، وامرأته سهلة بنت سُهيل</a:t>
            </a:r>
          </a:p>
        </p:txBody>
      </p:sp>
      <p:sp>
        <p:nvSpPr>
          <p:cNvPr id="7" name="Rectangle 6"/>
          <p:cNvSpPr/>
          <p:nvPr/>
        </p:nvSpPr>
        <p:spPr>
          <a:xfrm>
            <a:off x="566928" y="41513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462272"/>
            <a:ext cx="11057839" cy="1136903"/>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So they hired a ship for half a dinar to Abyssinia … and Abū Ḥudhayfa b. ʿUtba and his wife Sahla bt. Suhayl</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3, p. 281</a:t>
            </a:r>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Before the Hijra</a:t>
            </a:r>
          </a:p>
        </p:txBody>
      </p:sp>
      <p:sp>
        <p:nvSpPr>
          <p:cNvPr id="5" name="TextBox 4"/>
          <p:cNvSpPr txBox="1"/>
          <p:nvPr/>
        </p:nvSpPr>
        <p:spPr>
          <a:xfrm>
            <a:off x="566928" y="402336"/>
            <a:ext cx="11057839" cy="1330960"/>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From Iṣṭakhr to the banner of the Muhājirūn</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مِنَ السَّابِقِيْنَ الأَوَّلِيْنَ، البَدْرِيِّيْنَ، المُقَرَّبِيْنَ، العَالِمِيْنَ … أَصْلُهُ مِنْ إِصْطَخْرَ</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"Of the first forerunners, of the men of Badr, of those brought near, of the learned … his origin is from Iṣṭakhr."</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Siyar A'lam al-Nubala, vol. 1, p. 167</a:t>
            </a:r>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Traditional Arabic"/>
              </a:rPr>
              <a:t>Before the Prophet ﷺ reached Medina</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The imām at Qubāʾ</a:t>
            </a:r>
          </a:p>
        </p:txBody>
      </p:sp>
      <p:sp>
        <p:nvSpPr>
          <p:cNvPr id="6" name="TextBox 5"/>
          <p:cNvSpPr txBox="1"/>
          <p:nvPr/>
        </p:nvSpPr>
        <p:spPr>
          <a:xfrm>
            <a:off x="566928" y="1634490"/>
            <a:ext cx="11057839" cy="2331720"/>
          </a:xfrm>
          <a:prstGeom prst="rect">
            <a:avLst/>
          </a:prstGeom>
          <a:noFill/>
        </p:spPr>
        <p:txBody>
          <a:bodyPr wrap="square" lIns="36576" tIns="0" rIns="36576" bIns="0" anchor="t">
            <a:spAutoFit/>
          </a:bodyPr>
          <a:lstStyle/>
          <a:p>
            <a:pPr algn="r" rtl="1">
              <a:lnSpc>
                <a:spcPct val="150000"/>
              </a:lnSpc>
            </a:pPr>
            <a:r>
              <a:rPr lang="ar-SA" sz="5400" b="0" i="0">
                <a:solidFill>
                  <a:srgbClr val="0A322E"/>
                </a:solidFill>
                <a:latin typeface="Traditional Arabic"/>
                <a:cs typeface="Traditional Arabic"/>
              </a:rPr>
              <a:t>فَأَمَّهُم سَالِمٌ مَوْلَى أَبِي حُذَيْفَةَ، لأَنَّهُ كَانَ … أَكْثَرَهُم قُرْآناً، فِيْهِم عُمَرُ</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4051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Sālim, the freedman of Abū Ḥudhayfa, led them in prayer, because he had the most Qurʾān of them — among them ʿUmar.</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Siyar A'lam al-Nubala, vol. 1, pp. 168–169</a:t>
            </a:r>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Badr, 2 AH</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Badr — the father and the brother</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فبارز عبيدة، وكان أسنّ القوم، عتبة، وبارز حمزة شيبة، وبارز عليٌّ الوليد بن عتبة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"ʿUbayda — and he was the oldest of them — faced ʿUtba; Ḥamza faced Shayba; and ʿAlī faced al-Walīd b. ʿUtba."</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4, p. 60</a:t>
            </a:r>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Badr, 2 AH</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Traditional Arabic"/>
              </a:rPr>
              <a:t>The face the Prophet ﷺ noticed at the well</a:t>
            </a:r>
          </a:p>
        </p:txBody>
      </p:sp>
      <p:sp>
        <p:nvSpPr>
          <p:cNvPr id="6" name="TextBox 5"/>
          <p:cNvSpPr txBox="1"/>
          <p:nvPr/>
        </p:nvSpPr>
        <p:spPr>
          <a:xfrm>
            <a:off x="566928" y="1634490"/>
            <a:ext cx="11057839" cy="2331720"/>
          </a:xfrm>
          <a:prstGeom prst="rect">
            <a:avLst/>
          </a:prstGeom>
          <a:noFill/>
        </p:spPr>
        <p:txBody>
          <a:bodyPr wrap="square" lIns="36576" tIns="0" rIns="36576" bIns="0" anchor="t">
            <a:spAutoFit/>
          </a:bodyPr>
          <a:lstStyle/>
          <a:p>
            <a:pPr algn="r" rtl="1">
              <a:lnSpc>
                <a:spcPct val="150000"/>
              </a:lnSpc>
            </a:pPr>
            <a:r>
              <a:rPr lang="ar-SA" sz="5400" b="0" i="0">
                <a:solidFill>
                  <a:srgbClr val="0A322E"/>
                </a:solidFill>
                <a:latin typeface="Traditional Arabic"/>
                <a:cs typeface="Traditional Arabic"/>
              </a:rPr>
              <a:t>لعلك قد دخلك من شأن أبيك شيء … ما شككت في أبي ولا في مصرعه</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4051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Perhaps something has entered you about the matter of your father? … I have not doubted my father nor where he fell.</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Siyar A'lam al-Nubala, p. 312</a:t>
            </a:r>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Badr, 2 AH</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The sentence he feared for ten years</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ولا أزالُ منها خائفًا إلّا أن تُكفّرها عنّي الشهادةُ، فقُتل يوم اليمامة شهيدًا</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…I shall not stop fearing it unless martyrdom wipes it away from me. And he was killed a martyr on the day of al-Yamāma.</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4, p. 77</a:t>
            </a:r>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At Medina</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The adoption undone</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وقد تَبنّاهُ أبو حُذَيْفة وزوَّجَهُ بابنةِ أخيه … فلما أنزل الله ﴿ادْعُوهُمْ لِآبَائِهِمْ﴾</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Traditional Arabic"/>
              </a:rPr>
              <a:t>Abū Ḥudhayfa had adopted him and married him to his brother's daughter … Then Allah sent down: ﴾Call them by their fathers﴿.</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At Medina</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He took his cloak and went out to listen</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فَإِذَا هُوَ سَالِمٌ مَوْلَى أَبِي حُذَيْفَةَ … (الحَمْدُ لِلِّهِ الَّذِي جَعَلَ فِي أُمَّتِي مِثْلَكَ)</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…and it was Sālim, the freedman of Abū Ḥudhayfa … 'Praise be to Allah, who has put the like of you in my ummah.'</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Siyar A'lam al-Nubala, vol. 1, p. 168</a:t>
            </a:r>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2788920"/>
            <a:ext cx="10728655" cy="731520"/>
          </a:xfrm>
          <a:prstGeom prst="rect">
            <a:avLst/>
          </a:prstGeom>
          <a:noFill/>
        </p:spPr>
        <p:txBody>
          <a:bodyPr wrap="square" lIns="36576" tIns="0" rIns="36576" bIns="0" anchor="ctr">
            <a:spAutoFit/>
          </a:bodyPr>
          <a:lstStyle/>
          <a:p>
            <a:pPr algn="l">
              <a:lnSpc>
                <a:spcPct val="125000"/>
              </a:lnSpc>
            </a:pPr>
            <a:r>
              <a:rPr sz="4600" b="1" i="0">
                <a:solidFill>
                  <a:srgbClr val="0A322E"/>
                </a:solidFill>
                <a:latin typeface="Georgia"/>
                <a:cs typeface="Georgia"/>
              </a:rPr>
              <a:t>Part XI</a:t>
            </a:r>
          </a:p>
        </p:txBody>
      </p:sp>
      <p:sp>
        <p:nvSpPr>
          <p:cNvPr id="5" name="TextBox 4"/>
          <p:cNvSpPr txBox="1"/>
          <p:nvPr/>
        </p:nvSpPr>
        <p:spPr>
          <a:xfrm>
            <a:off x="868680" y="3520440"/>
            <a:ext cx="10728655" cy="548640"/>
          </a:xfrm>
          <a:prstGeom prst="rect">
            <a:avLst/>
          </a:prstGeom>
          <a:noFill/>
        </p:spPr>
        <p:txBody>
          <a:bodyPr wrap="square" lIns="36576" tIns="0" rIns="36576" bIns="0" anchor="t">
            <a:spAutoFit/>
          </a:bodyPr>
          <a:lstStyle/>
          <a:p>
            <a:pPr algn="l">
              <a:lnSpc>
                <a:spcPct val="125000"/>
              </a:lnSpc>
            </a:pPr>
            <a:r>
              <a:rPr sz="2800" b="0" i="0">
                <a:solidFill>
                  <a:srgbClr val="5A6862"/>
                </a:solidFill>
                <a:latin typeface="Segoe UI"/>
                <a:cs typeface="Arabic Typesetting"/>
              </a:rPr>
              <a:t>Thābit b. Qays ؓ, before al-Yamāma</a:t>
            </a:r>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Medina, after al-Ḥujurāt</a:t>
            </a:r>
          </a:p>
        </p:txBody>
      </p:sp>
      <p:sp>
        <p:nvSpPr>
          <p:cNvPr id="5" name="TextBox 4"/>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«Are you not content to live praised?»</a:t>
            </a:r>
          </a:p>
        </p:txBody>
      </p:sp>
      <p:sp>
        <p:nvSpPr>
          <p:cNvPr id="6" name="TextBox 5"/>
          <p:cNvSpPr txBox="1"/>
          <p:nvPr/>
        </p:nvSpPr>
        <p:spPr>
          <a:xfrm>
            <a:off x="566928" y="207264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فَقَالَ: (يَا ثَابِتُ! أَمَا تَرْضَى أَنْ تَعِيْشَ حَمِيْداً، وَتُقْتَلَ شَهِيْداً، وَتَدْخُلَ الجَنَّةَ)</a:t>
            </a:r>
          </a:p>
        </p:txBody>
      </p:sp>
      <p:sp>
        <p:nvSpPr>
          <p:cNvPr id="7" name="Rectangle 6"/>
          <p:cNvSpPr/>
          <p:nvPr/>
        </p:nvSpPr>
        <p:spPr>
          <a:xfrm>
            <a:off x="566928" y="41513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462272"/>
            <a:ext cx="11057839" cy="1136903"/>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"He said: Thābit — are you not content to live praised, to be killed a martyr, and to enter the Garden?"</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Siyar A'lam al-Nubala, vol. 1, p. 310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136</TotalTime>
  <Words>48128</Words>
  <Application>Microsoft Office PowerPoint</Application>
  <PresentationFormat>Widescreen</PresentationFormat>
  <Paragraphs>3148</Paragraphs>
  <Slides>142</Slides>
  <Notes>127</Notes>
  <HiddenSlides>12</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142</vt:i4>
      </vt:variant>
    </vt:vector>
  </HeadingPairs>
  <TitlesOfParts>
    <vt:vector size="149" baseType="lpstr">
      <vt:lpstr>Aptos</vt:lpstr>
      <vt:lpstr>Arial</vt:lpstr>
      <vt:lpstr>Calibri</vt:lpstr>
      <vt:lpstr>Georgia</vt:lpstr>
      <vt:lpstr>Segoe UI</vt:lpstr>
      <vt:lpstr>Traditional Arabic</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Daniyal Yasin</cp:lastModifiedBy>
  <cp:revision>45</cp:revision>
  <dcterms:created xsi:type="dcterms:W3CDTF">2013-01-27T09:14:16Z</dcterms:created>
  <dcterms:modified xsi:type="dcterms:W3CDTF">2026-09-24T05:45:49Z</dcterms:modified>
  <cp:category/>
</cp:coreProperties>
</file>