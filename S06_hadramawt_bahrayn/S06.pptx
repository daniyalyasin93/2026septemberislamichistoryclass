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السلام علیکم — evening six.</a:t>
            </a:r>
          </a:p>
          <a:p/>
          <a:p>
            <a:r>
              <a:t>2. Tonight: Bahrayn, and then Ḥaḍramawt — the last two fronts.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Line, unchanged</a:t>
            </a:r>
          </a:p>
          <a:p/>
          <a:p>
            <a:r>
              <a:t>SAY</a:t>
            </a:r>
          </a:p>
          <a:p/>
          <a:p>
            <a:r>
              <a:t>1. Last week ended with Oman and Mahra settled.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map, unchanged</a:t>
            </a:r>
          </a:p>
          <a:p/>
          <a:p>
            <a:r>
              <a:t>SAY</a:t>
            </a:r>
          </a:p>
          <a:p/>
          <a:p>
            <a:r>
              <a:t>1. Tonight: Bahrayn — and then Ḥaḍramawt,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Arabia, as the year 12 opens.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Where we are on the Line</a:t>
            </a:r>
          </a:p>
          <a:p/>
          <a:p>
            <a:r>
              <a:t>2. Ibn Kathīr does not begin the year with a battle</a:t>
            </a:r>
          </a:p>
          <a:p/>
          <a:p>
            <a:r>
              <a:t>▶ CLICK 1 — The two fronts we have not told: Bahrayn, and Ḥaḍramawt.</a:t>
            </a:r>
          </a:p>
          <a:p/>
          <a:p>
            <a:r>
              <a:t>3. Right and left</a:t>
            </a:r>
          </a:p>
          <a:p/>
          <a:p>
            <a:r>
              <a:t>4. What it was for, in his words</a:t>
            </a:r>
          </a:p>
          <a:p/>
          <a:p>
            <a:r>
              <a:t>5. And what came of it</a:t>
            </a:r>
          </a:p>
          <a:p/>
          <a:p>
            <a:r>
              <a:t>6. Which fronts you already have</a:t>
            </a:r>
          </a:p>
          <a:p/>
          <a:p>
            <a:r>
              <a:t>7. Which two are still grey</a:t>
            </a:r>
          </a:p>
          <a:p/>
          <a:p>
            <a:r>
              <a:t>8. And one step back before we go there</a:t>
            </a:r>
          </a:p>
          <a:p/>
          <a:p>
            <a:r>
              <a:t>▶ NEXT SLIDE — the Arabic, and its lesson</a:t>
            </a:r>
          </a:p>
          <a:p/>
          <a:p>
            <a:r>
              <a:t>ASK — Before the map goes up: hands up if you thought these fronts were fought one after another.</a:t>
            </a:r>
          </a:p>
          <a:p/>
          <a:p>
            <a:r>
              <a:t>──────── DETAIL — only if you need it ────────</a:t>
            </a:r>
          </a:p>
          <a:p/>
          <a:p>
            <a:r>
              <a:t>1. Where we are on the Line — the year 12 opens. The map you are looking at is the one you walked out on last week.</a:t>
            </a:r>
          </a:p>
          <a:p>
            <a:r>
              <a:t>2. Ibn Kathīr does not begin the year with a battle — he begins it with a description of where everybody was.</a:t>
            </a:r>
          </a:p>
          <a:p>
            <a:r>
              <a:t>3. Right and left — the two direction words in the sentence you have just read out are the whole point: the armies were out in every direction at once, not taking their turn.</a:t>
            </a:r>
          </a:p>
          <a:p>
            <a:r>
              <a:t>4. What it was for, in his words — to lay down the foundations of Islam, and to fight the tyrants among men.</a:t>
            </a:r>
          </a:p>
          <a:p>
            <a:r>
              <a:t>5. And what came of it — the straying brought back, the truth returned to its place, the peninsula levelled, the furthest-off made as near as the nearest.</a:t>
            </a:r>
          </a:p>
          <a:p>
            <a:r>
              <a:t>6. Which fronts you already have — al-Yamāma, the Yemen, Oman, Mahra. They overlapped. They were not fought one after another and then reported in a queue.</a:t>
            </a:r>
          </a:p>
          <a:p>
            <a:r>
              <a:t>7. Which two are still grey — البحرين on the Gulf, and حضرموت on the south coast. That is tonight.</a:t>
            </a:r>
          </a:p>
          <a:p>
            <a:r>
              <a:t>8. And one step back before we go there — three things that were happening while you were watching al-Yamāma.</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Ibn Kathīr, opening his chapter on the year 12 · البدایہ والنہایہ ج۷ ص۶۱</a:t>
            </a:r>
          </a:p>
          <a:p/>
          <a:p>
            <a:r>
              <a:t>──────── BACKGROUND — for home, not for the lectern ────────</a:t>
            </a:r>
          </a:p>
          <a:p/>
          <a:p>
            <a:r>
              <a:t>One view, and the page hedges it — on the same page, immediately after the dating of اليمامة: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what there was</a:t>
            </a:r>
          </a:p>
          <a:p>
            <a:r>
              <a:t>&gt; of the engagements we have referred to, were only in the year 12." ⚠ The sentence opens with the hedge "and it has been said". Report it as one view, never as the</a:t>
            </a:r>
          </a:p>
          <a:p>
            <a:r>
              <a:t>book's own position. It matters for two reasons. It places Juwāthā — which is the البحرين front, tonight's first</a:t>
            </a:r>
          </a:p>
          <a:p>
            <a:r>
              <a:t>front — in the year 12. And it would put Oman and Mahra, which this room was given last week,</a:t>
            </a:r>
          </a:p>
          <a:p>
            <a:r>
              <a:t>a year later than the course placed them. The course follows the narrative sequence; Ibn Kathīr</a:t>
            </a:r>
          </a:p>
          <a:p>
            <a:r>
              <a:t>records this as an alternative and does not choose. If a slip asks why the dates differ, that is</a:t>
            </a:r>
          </a:p>
          <a:p>
            <a:r>
              <a:t>the answer: the book carries both and declines to pick.</a:t>
            </a:r>
          </a:p>
          <a:p>
            <a:r>
              <a:t>Ibn Kathīr's own unhedged body text, on the same page — this one carries no "it is said": &gt; وفيها كان قتلُ الملوك الأربعة: جَمْدٍ ومِخْوسٍ وأبْضَعة ومِشْرَحٍ</a:t>
            </a:r>
          </a:p>
          <a:p>
            <a:r>
              <a:t>&gt; — البدایہ والنہایہ ج7 ص61 · https://shamela.ws/book/30097/3207</a:t>
            </a:r>
          </a:p>
          <a:p>
            <a:r>
              <a:t>&gt; English: "And in it was the killing of the four kings: Jamd, Mikhwas, Abḍaʿa and Mishraḥ." The very next clause of the same sentence adds their sister: &gt; وأسروا أختهم العَمرَّدة</a:t>
            </a:r>
          </a:p>
          <a:p>
            <a:r>
              <a:t>&gt; — البدایہ والنہایہ ج7 ص61 · https://shamela.ws/book/30097/3207</a:t>
            </a:r>
          </a:p>
          <a:p>
            <a:r>
              <a:t>&gt; English: "…and they took their sister al-ʿAmarrada captive." So the four kings of Kinda, whom evening 4 gave the room, are placed by Ibn Kathīr in the year 12,</a:t>
            </a:r>
          </a:p>
          <a:p>
            <a:r>
              <a:t>in his own voice. ⚠ Spell the four names from the pool, not from this page. The pool prints</a:t>
            </a:r>
          </a:p>
          <a:p>
            <a:r>
              <a:t>Mikhwaṣ, Mishraḥ, Jamad, Abḍaʿa, al-ʿAmarrada ; this page's own footnote (6) sets out</a:t>
            </a:r>
          </a:p>
          <a:p>
            <a:r>
              <a:t>how the manuscripts and the printed edition differ over three of the four and calls both readings</a:t>
            </a:r>
          </a:p>
          <a:p>
            <a:r>
              <a:t>corrupt, which is why the transliteration in the blockquote above — which follows this page — is</a:t>
            </a:r>
          </a:p>
          <a:p>
            <a:r>
              <a:t>not quite the pool's. Two artifacts must not disagree on a name: use the pool's forms on the slide.</a:t>
            </a:r>
          </a:p>
          <a:p>
            <a:r>
              <a:t>⚠ The two blockquotes above are one sentence in the book, split here because a footnote marker «(6)»</a:t>
            </a:r>
          </a:p>
          <a:p>
            <a:r>
              <a:t>stands between them in the printed text. Read them as one line.</a:t>
            </a:r>
          </a:p>
          <a:p>
            <a:r>
              <a:t>⚠⚠ The words "and they were killed on the day of al-Nujayr" on ص61 are the EDITOR'S FOOTNOTE, not</a:t>
            </a:r>
          </a:p>
          <a:p>
            <a:r>
              <a:t>Ibn Kathīr's body text. The phrase sits inside footnote (6) of that page, where Tadmurī is quoting</a:t>
            </a:r>
          </a:p>
          <a:p>
            <a:r>
              <a:t>al-Fīrūzābādī's القاموس: &gt; فقتلوا يوم النُّجير</a:t>
            </a:r>
          </a:p>
          <a:p>
            <a:r>
              <a:t>&gt; — البدایہ والنہایہ ج7 ص61 — footnote (6), NOT the body text · https://shamela.ws/book/30097/3207</a:t>
            </a:r>
          </a:p>
          <a:p>
            <a:r>
              <a:t>&gt; English: "…so they were killed on the day of al-Nujayr." Do not cite ص61 for the link between the four kings and al-Nujayr. That link is carried on the</a:t>
            </a:r>
          </a:p>
          <a:p>
            <a:r>
              <a:t>pool's own al-Nujayr pages; cite those.</a:t>
            </a:r>
          </a:p>
          <a:p>
            <a:r>
              <a:t>اليمامة's date, on the same page, and it agrees with what the pool already says: &gt; وفد قال جماعةٌ من علماءَ السِّير والتواريخ: إنّ وقعة اليمامةِ كانت في ربيع الأول من هذه السنة، وقيل إنها كانت في أواخر [السنة] التي قبلها، والجَمْعُ بينَ القولين أنَّ ابتداءها كان في السنة الماضية، وانتهاءَها وقع في هذه السنة الآتية</a:t>
            </a:r>
          </a:p>
          <a:p>
            <a:r>
              <a:t>&gt; — البدایہ والنہایہ ج7 ص61 · https://shamela.ws/book/30097/3207</a:t>
            </a:r>
          </a:p>
          <a:p>
            <a:r>
              <a:t>&gt; English: "And a body of the scholars of sīra and of the histories have said that the affair of</a:t>
            </a:r>
          </a:p>
          <a:p>
            <a:r>
              <a:t>&gt; al-Yamāma was in Rabīʿ al-Awwal of this year; and it is said that it was in the latter part of the</a:t>
            </a:r>
          </a:p>
          <a:p>
            <a:r>
              <a:t>&gt; year before it. And the reconciling of the two views is that its beginning was in the year past and</a:t>
            </a:r>
          </a:p>
          <a:p>
            <a:r>
              <a:t>&gt; its ending fell in this year coming." ⚠ The cache file reads «وفد قال» where the sense plainly requires «وقد قال». Eyeball this one against</a:t>
            </a:r>
          </a:p>
          <a:p>
            <a:r>
              <a:t>the page image before it reaches a slide . Safer still: speak the sense and quote only the</a:t>
            </a:r>
          </a:p>
          <a:p>
            <a:r>
              <a:t>reconciliation clause.</a:t>
            </a:r>
          </a:p>
          <a:p>
            <a:r>
              <a:t>⚠ This is Ibn Kathīr reconciling it in his own voice on ص61, and it matches the pool's existing card</a:t>
            </a:r>
          </a:p>
          <a:p>
            <a:r>
              <a:t>(البدایہ ج7 ص35–36 + سیر الراشدون ص49: begun in 11, finished in 12). Second page, same answer — do not</a:t>
            </a:r>
          </a:p>
          <a:p>
            <a:r>
              <a:t>present it as a new finding.</a:t>
            </a:r>
          </a:p>
          <a:p>
            <a:r>
              <a:t>⚠ "Concurrent" means the FRONTS overlapped — not that every action did. The sentence licenses the</a:t>
            </a:r>
          </a:p>
          <a:p>
            <a:r>
              <a:t>shape of the evening and no more than that. Several individual commanders' own fronts were plainly</a:t>
            </a:r>
          </a:p>
          <a:p>
            <a:r>
              <a:t>sequential, and the books say so in terms: ʿIkrima ؓ went to Oman, then to Mahra, then on to join</a:t>
            </a:r>
          </a:p>
          <a:p>
            <a:r>
              <a:t>al-Muhājir ؓ, and Khālid ؓ went Buzākha, then al-Buṭāḥ, then al-Yamāma. So the honest claim is: the</a:t>
            </a:r>
          </a:p>
          <a:p>
            <a:r>
              <a:t>fronts ran alongside one another; each commander's own road ran in order. If a listener presses, that</a:t>
            </a:r>
          </a:p>
          <a:p>
            <a:r>
              <a:t>distinction is the answer, and it costs nothing to give.</a:t>
            </a:r>
          </a:p>
          <a:p>
            <a:r>
              <a:t>⚠ THE MONTHS INSIDE 11–12ھ ARE NOT FIXED BY THE BOOKS. Two months are dated on pages we hold —</a:t>
            </a:r>
          </a:p>
          <a:p>
            <a:r>
              <a:t>Usāma's ؓ march in ربيع الأول 11ھ, and this page's ربيع الأول for اليمامة, which is itself one view of</a:t>
            </a:r>
          </a:p>
          <a:p>
            <a:r>
              <a:t>two. Everything else is sequence, not calendar. So the order this course tells the fronts in is</a:t>
            </a:r>
          </a:p>
          <a:p>
            <a:r>
              <a:t>the course's order, built from the narrative order and the explicit "when you are done with X, go</a:t>
            </a:r>
          </a:p>
          <a:p>
            <a:r>
              <a:t>to Y" instructions — not a dated timetable in the books. Say that aloud on this slide. It is the</a:t>
            </a:r>
          </a:p>
          <a:p>
            <a:r>
              <a:t>sentence that licenses the whole evening, and it is also what keeps the course honest.</a:t>
            </a:r>
          </a:p>
          <a:p>
            <a:r>
              <a:t>⚠ Cross-reference — the pool's closing card already carries Ibn Kathīr's duration</a:t>
            </a:r>
          </a:p>
          <a:p>
            <a:r>
              <a:t>sentence: &gt; وعامة ما وقع من هذه الحروب كان في أواخر سنة إحدى عشرة وأوائل سنة ثنتي عشرة</a:t>
            </a:r>
          </a:p>
          <a:p>
            <a:r>
              <a:t>&gt; — البدایہ والنہایہ ج7 ص43 · https://shamela.ws/book/30097/3189</a:t>
            </a:r>
          </a:p>
          <a:p>
            <a:r>
              <a:t>&gt; English: "And the general run of these wars was in the last part of the year 11 and the first part</a:t>
            </a:r>
          </a:p>
          <a:p>
            <a:r>
              <a:t>&gt; of the year 12." This card and that one say the same thing from two pages and must not be made to disagree. RC80 is the</a:t>
            </a:r>
          </a:p>
          <a:p>
            <a:r>
              <a:t>opening frame; RC36 is the closing frame. If both are in the deck, RC80 states the shape and RC36</a:t>
            </a:r>
          </a:p>
          <a:p>
            <a:r>
              <a:t>states the duration — do not let RC80 also claim the duration.</a:t>
            </a:r>
          </a:p>
          <a:p>
            <a:r>
              <a:t>⚠ The quotation stops at «كالقريب الأدْنى». The printed text continues with a bracketed «[الأقرب]»,</a:t>
            </a:r>
          </a:p>
          <a:p>
            <a:r>
              <a:t>which footnote (2) marks as an addition from manuscript أ. It is left out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opening his chapter on the year 12</a:t>
            </a:r>
          </a:p>
          <a:p/>
          <a:p>
            <a:r>
              <a:t>LESSON — The book does not open the year with a battle. It opens it with a map — and on that map the armies are out in every direction at the same time.</a:t>
            </a:r>
          </a:p>
          <a:p/>
          <a:p>
            <a:r>
              <a:t>──────── DETAIL — only if you need it ────────</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البدایہ والنہایہ ج۷ ص۶۱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Bahrayn: the front that began first (11→12 AH).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Last week: ʿIkrima's ؓ journey east — Oman, then Mahra.</a:t>
            </a:r>
          </a:p>
          <a:p/>
          <a:p>
            <a:r>
              <a:t>2. Tonight we go back once: to Bahrayn, which began before any of them.</a:t>
            </a:r>
          </a:p>
          <a:p/>
          <a:p>
            <a:r>
              <a:t>3. Then forward, to Ḥaḍramawt — and we do not go back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Ibn al-Athīr: year 6 — “or, it is said, 8”. Say “before the conquest of Mecca”.</a:t>
            </a:r>
          </a:p>
          <a:p/>
          <a:p>
            <a:r>
              <a:t>SAY</a:t>
            </a:r>
          </a:p>
          <a:p/>
          <a:p>
            <a:r>
              <a:t>1. Bahrayn is the whole Gulf coast of Arabia — not the island.</a:t>
            </a:r>
          </a:p>
          <a:p/>
          <a:p>
            <a:r>
              <a:t>▶ CLICK 1 — The Prophet ﷺ sends al-ʿAlāʾ b. al-Ḥaḍramī ؓ to al-Mundhir b. Sāwā.</a:t>
            </a:r>
          </a:p>
          <a:p/>
          <a:p>
            <a:r>
              <a:t>2. al-Mundhir: of ʿAbd al-Qays, the ruler of Bahrayn.</a:t>
            </a:r>
          </a:p>
          <a:p/>
          <a:p>
            <a:r>
              <a:t>▶ CLICK 2 — Bahrayn comes under Islam; al-Mundhir ؓ holds it for him.</a:t>
            </a:r>
          </a:p>
          <a:p/>
          <a:p>
            <a:r>
              <a:t>3. Remember al-ʿAlāʾ ؓ. Abū Bakr ؓ sends him to Bahrayn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Name no king — three books give his name three ways.</a:t>
            </a:r>
          </a:p>
          <a:p/>
          <a:p>
            <a:r>
              <a:t>SAY</a:t>
            </a:r>
          </a:p>
          <a:p/>
          <a:p>
            <a:r>
              <a:t>1. Bahrayn was already Muslim</a:t>
            </a:r>
          </a:p>
          <a:p/>
          <a:p>
            <a:r>
              <a:t>▶ CLICK 1 — 11 AH. al-Mundhir ؓ dies, shortly after the Prophet ﷺ.</a:t>
            </a:r>
          </a:p>
          <a:p/>
          <a:p>
            <a:r>
              <a:t>2. Two deaths, close together</a:t>
            </a:r>
          </a:p>
          <a:p/>
          <a:p>
            <a:r>
              <a:t>▶ CLICK 2 — Rabīʿa turn — all of Bahrayn but al-Jārūd ؓ and those with him.</a:t>
            </a:r>
          </a:p>
          <a:p/>
          <a:p>
            <a:r>
              <a:t>3. Rabīʿa turn</a:t>
            </a:r>
          </a:p>
          <a:p/>
          <a:p>
            <a:r>
              <a:t>4. "We will restore the kingship"</a:t>
            </a:r>
          </a:p>
          <a:p/>
          <a:p>
            <a:r>
              <a:t>5. Name no king</a:t>
            </a:r>
          </a:p>
          <a:p/>
          <a:p>
            <a:r>
              <a:t>▶ CLICK 3 — al-Ḥuṭam b. Ḍubayʿa comes out, at the head of Bakr b. Wāʾil.</a:t>
            </a:r>
          </a:p>
          <a:p/>
          <a:p>
            <a:r>
              <a:t>6. al-Ḥuṭam b. Ḍubayʿa comes out</a:t>
            </a:r>
          </a:p>
          <a:p/>
          <a:p>
            <a:r>
              <a:t>7. Not all of them had ever been Muslim</a:t>
            </a:r>
          </a:p>
          <a:p/>
          <a:p>
            <a:r>
              <a:t>▶ NEXT SLIDE — the Arabic, and its lesson</a:t>
            </a:r>
          </a:p>
          <a:p/>
          <a:p>
            <a:r>
              <a:t>──────── DETAIL — only if you need it ────────</a:t>
            </a:r>
          </a:p>
          <a:p/>
          <a:p>
            <a:r>
              <a:t>1. Bahrayn was already Muslim — Under al-Mundhir b. Sāwā al-ʿAbdī ؓ, the Prophet's ﷺ own man there.</a:t>
            </a:r>
          </a:p>
          <a:p>
            <a:r>
              <a:t>2. Two deaths, close together — The Prophet ﷺ; and shortly after him, al-Mundhir ؓ.</a:t>
            </a:r>
          </a:p>
          <a:p>
            <a:r>
              <a:t>3. Rabīʿa turn — all but al-Jārūd ؓ — Rabīʿa in Bahrayn agreed on the ridda, except al-Jārūd ؓ and those who followed him.</a:t>
            </a:r>
          </a:p>
          <a:p>
            <a:r>
              <a:t>4. "We will restore the kingship" — In a son of al-Nuʿmān b. al-Mundhir's house: a monarchy brought back, not a false prophet followed.</a:t>
            </a:r>
          </a:p>
          <a:p>
            <a:r>
              <a:t>5. Name no king — Three books give his name three ways; say only "a king of the old royal house".</a:t>
            </a:r>
          </a:p>
          <a:p>
            <a:r>
              <a:t>6. al-Ḥuṭam b. Ḍubayʿa comes out — Of Banū Qays b. Thaʿlaba, at the head of Bakr b. Wāʾil.</a:t>
            </a:r>
          </a:p>
          <a:p>
            <a:r>
              <a:t>7. Not all of them had ever been Muslim — Men who had never been Muslims joined him: on this front the ridda was not all ridda.</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Ibn al-Athīr, on what Rabīʿa said · الکامل فی التاریخ ج۲ ص۲۲۲</a:t>
            </a:r>
          </a:p>
          <a:p/>
          <a:p>
            <a:r>
              <a:t>──────── BACKGROUND — for home, not for the lectern ────────</a:t>
            </a:r>
          </a:p>
          <a:p/>
          <a:p>
            <a:r>
              <a:t>The administration that was already there (البدایہ ج7 ص37):</a:t>
            </a:r>
          </a:p>
          <a:p>
            <a:r>
              <a:t>&gt; كان من خبرهم أنَّ رسولَ الله ﷺ كان قد بعثَ العلاءَ بن الحَضْرميّ إلى مَلِكِها، المُنْذر بن ساوى العَبْدي، وأسلم على يديه وأقام فيهم الإسلامَ والعدلَ، فلما توفي رسولُ الله ﷺ توفي المنذر بعدَه بقليل</a:t>
            </a:r>
          </a:p>
          <a:p>
            <a:r>
              <a:t>&gt; — البدایہ والنہایہ ج7 ص37 · https://shamela.ws/book/30097/3183</a:t>
            </a:r>
          </a:p>
          <a:p>
            <a:r>
              <a:t>&gt; English: "The account of them is that the Messenger of Allah ﷺ had sent al-ʿAlāʾ b. al-Ḥaḍramī to</a:t>
            </a:r>
          </a:p>
          <a:p>
            <a:r>
              <a:t>&gt; its king, al-Mundhir b. Sāwā al-ʿAbdī, and he accepted Islam at his hands and established Islam and</a:t>
            </a:r>
          </a:p>
          <a:p>
            <a:r>
              <a:t>&gt; justice among them. And when the Messenger of Allah ﷺ died, al-Mundhir died shortly after him." He was already ill when the news came (الکامل ج2 ص221):</a:t>
            </a:r>
          </a:p>
          <a:p>
            <a:r>
              <a:t>&gt; فَلَمَّا مَاتَ النَّبِيُّ - صَلَّى اللَّهُ عَلَيْهِ وَسَلَّمَ - كَانَ الْمُنْذِرُ بْنُ سَاوَى الْعَبْدِيُّ مَرِيضًا</a:t>
            </a:r>
          </a:p>
          <a:p>
            <a:r>
              <a:t>&gt; — الکامل فی التاریخ ج2 ص221 · https://shamela.ws/book/21712/912</a:t>
            </a:r>
          </a:p>
          <a:p>
            <a:r>
              <a:t>&gt; English: "And when the Prophet ﷺ died, al-Mundhir b. Sāwā al-ʿAbdī was ill." What became of the governor — and it is on the page (البدایہ ج7 ص37–38). ʿAmr b. al-ʿĀṣ ؓ was</a:t>
            </a:r>
          </a:p>
          <a:p>
            <a:r>
              <a:t>present with him in that final illness. Al-Mundhir asked him whether the Messenger of Allah ﷺ used to</a:t>
            </a:r>
          </a:p>
          <a:p>
            <a:r>
              <a:t>allow a sick man to assign anything out of his wealth; ʿAmr ؓ said yes, a third. He asked what to do</a:t>
            </a:r>
          </a:p>
          <a:p>
            <a:r>
              <a:t>with it, and ʿAmr ؓ offered him three ways — to give it to his relatives, or to the needy, or to make</a:t>
            </a:r>
          </a:p>
          <a:p>
            <a:r>
              <a:t>it a ṣadaqa after him, tied up and inalienable. He refused the third — he said he disliked making it</a:t>
            </a:r>
          </a:p>
          <a:p>
            <a:r>
              <a:t>like the</a:t>
            </a:r>
          </a:p>
          <a:p>
            <a:r>
              <a:t>dedicated animals of the Jāhiliyya: &gt; أن أجعله كالبَحيرةِ والسّائبة والوَصِيلةِ والحام</a:t>
            </a:r>
          </a:p>
          <a:p>
            <a:r>
              <a:t>&gt; — البدایہ والنہایہ ج7 ص38 · https://shamela.ws/book/30097/3184</a:t>
            </a:r>
          </a:p>
          <a:p>
            <a:r>
              <a:t>&gt; English: "...that I should make it like the baḥīra and the sāʾiba and the waṣīla and the ḥām." He gave it away outright instead, and died; and ʿAmr ؓ used to marvel at him. ⚠ This is a story about one man's scruple, not a ruling on waqf. Narrate it and move on; do not</a:t>
            </a:r>
          </a:p>
          <a:p>
            <a:r>
              <a:t>invite the room to draw a fiqh conclusion from it,</a:t>
            </a:r>
          </a:p>
          <a:p>
            <a:r>
              <a:t>and if a slip comes in asking, it goes to the later session. It is optional colour — the card works</a:t>
            </a:r>
          </a:p>
          <a:p>
            <a:r>
              <a:t>without it. ⚠⚠ NAME NO KING — and this is the reason, so that no rebuild can undo it. Our pages carry three</a:t>
            </a:r>
          </a:p>
          <a:p>
            <a:r>
              <a:t>different forms of this man's name, and one of our authorities argues with himself about whether the</a:t>
            </a:r>
          </a:p>
          <a:p>
            <a:r>
              <a:t>word is a name at all:</a:t>
            </a:r>
          </a:p>
          <a:p>
            <a:r>
              <a:t>- «الغرور», and the full form المنذر بن النعمان بن المنذر — البدایہ ج7 ص38 and الکامل ج2 ص222 (the two safe-list books agree on the patronymic; it is the لقب that moves);</a:t>
            </a:r>
          </a:p>
          <a:p>
            <a:r>
              <a:t>- «المعرور بن النعمان بن المنذر» — البدایہ ج7 ص19, inside محمد بن إسحاق's roster of the risings;</a:t>
            </a:r>
          </a:p>
          <a:p>
            <a:r>
              <a:t>- «المغرور بن سويد» — ابن خلدون ج2 ص504، ص505, where the same two pages also carry the other form and the remark that المغرور may be a name rather than a لقب. On stage: "they brought out a man of the old royal house and made him king." No name, no dynasty</a:t>
            </a:r>
          </a:p>
          <a:p>
            <a:r>
              <a:t>label. The word Lakhmid is modern scholarship and is on no page we hold [CONVENTIONAL-ESTIMATE];</a:t>
            </a:r>
          </a:p>
          <a:p>
            <a:r>
              <a:t>الحيرة reaches us here only through ابن خلدون, who is framing-only — so neither</a:t>
            </a:r>
          </a:p>
          <a:p>
            <a:r>
              <a:t>word goes on the slide face. Not for the slide face — the naming, for the speaker only. Daniyal should see exactly what he is</a:t>
            </a:r>
          </a:p>
          <a:p>
            <a:r>
              <a:t>withholding, and that it is not a disagreement about who the man was but about what he was called:</a:t>
            </a:r>
          </a:p>
          <a:p>
            <a:r>
              <a:t>&gt; نَرُدُّ الْمُلْكَ فِي الْمُنْذِرِ بْنِ النُّعْمَانِ بْنِ الْمُنْذِرِ، وَكَانَ يُسَمَّى الْغَرُورُ</a:t>
            </a:r>
          </a:p>
          <a:p>
            <a:r>
              <a:t>&gt; — الکامل فی التاریخ ج2 ص222 · https://shamela.ws/book/21712/913</a:t>
            </a:r>
          </a:p>
          <a:p>
            <a:r>
              <a:t>&gt; English: "We will restore the kingship in al-Mundhir b. al-Nuʿmān b. al-Mundhir — and he used to</a:t>
            </a:r>
          </a:p>
          <a:p>
            <a:r>
              <a:t>&gt; be called al-Gharūr." &gt; فلما مات المنذرُ ارتدَّ أهلُ البحرين وملَّكوا عليهم الغرور، وهو المنذر بن النعمان بن المنذر. وقال قائلهم: لو كان محمد نبيًا ما مات</a:t>
            </a:r>
          </a:p>
          <a:p>
            <a:r>
              <a:t>&gt; — البدایہ والنہایہ ج7 ص38 · https://shamela.ws/book/30097/3184</a:t>
            </a:r>
          </a:p>
          <a:p>
            <a:r>
              <a:t>&gt; English: "When al-Mundhir died, the people of Bahrayn apostatised and made al-Gharūr king over</a:t>
            </a:r>
          </a:p>
          <a:p>
            <a:r>
              <a:t>&gt; them — and he is al-Mundhir b. al-Nuʿmān b. al-Mundhir. And one of them said: if Muḥammad had been</a:t>
            </a:r>
          </a:p>
          <a:p>
            <a:r>
              <a:t>&gt; a prophet, he would not have died." ⚠ The slogan in that second quotation belongs to , where it is answered — do not spend</a:t>
            </a:r>
          </a:p>
          <a:p>
            <a:r>
              <a:t>it here. If it is spoken on this card it must not be spoken again later in the evening; pick one. &gt; وارتدَّتْ ربيعةُ مع المعرور بن النعمان بن المنذر</a:t>
            </a:r>
          </a:p>
          <a:p>
            <a:r>
              <a:t>&gt; — البدایہ والنہایہ ج7 ص19 · https://shamela.ws/book/30097/3165 (inside محمد بن إسحاق's roster)</a:t>
            </a:r>
          </a:p>
          <a:p>
            <a:r>
              <a:t>&gt; English: "And Rabīʿa apostatised with al-Maʿrūr b. al-Nuʿmān b. al-Mundhir." ابن خلدون, named as his reading only — never as what happened. He reads the</a:t>
            </a:r>
          </a:p>
          <a:p>
            <a:r>
              <a:t>programme as the restoration of a client throne, and his own pages carry both name-forms:</a:t>
            </a:r>
          </a:p>
          <a:p>
            <a:r>
              <a:t>&gt; ونصبوا المنذر بن النعمان بن المنذر وكان يسمّى المغرور، فأقاموه ملكا كما كان قومه بالحيرة</a:t>
            </a:r>
          </a:p>
          <a:p>
            <a:r>
              <a:t>&gt; — تاریخ ابن خلدون ج2 ص504 · https://shamela.ws/book/12320/1301</a:t>
            </a:r>
          </a:p>
          <a:p>
            <a:r>
              <a:t>&gt; English: "And they set up al-Mundhir b. al-Nuʿmān b. al-Mundhir, who used to be called</a:t>
            </a:r>
          </a:p>
          <a:p>
            <a:r>
              <a:t>&gt; al-Maghrūr, and established him as a king, as his people had been at al-Ḥīra." &gt; وأرسل إلى المغرور بن سويد أخي النعمان بن المنذر</a:t>
            </a:r>
          </a:p>
          <a:p>
            <a:r>
              <a:t>&gt; — تاریخ ابن خلدون ج2 ص504 · https://shamela.ws/book/12320/1301</a:t>
            </a:r>
          </a:p>
          <a:p>
            <a:r>
              <a:t>&gt; English: "And he sent to al-Maghrūr b. Suwayd, brother of al-Nuʿmān b. al-Mundhir." &gt; ويقال إن المغرور اسمه وليس هو بلقب</a:t>
            </a:r>
          </a:p>
          <a:p>
            <a:r>
              <a:t>&gt; — تاریخ ابن خلدون ج2 ص505 · https://shamela.ws/book/12320/1302</a:t>
            </a:r>
          </a:p>
          <a:p>
            <a:r>
              <a:t>&gt; English: "And it is said that al-Maghrūr is his name, and not a nickname." ⚠ No ؓ for al-Mundhir b. Sāwā on any artifact until a page is held. He accepted Islam in the</a:t>
            </a:r>
          </a:p>
          <a:p>
            <a:r>
              <a:t>Prophet's ﷺ lifetime and held his appointment, and he is conventionally counted a Companion — but</a:t>
            </a:r>
          </a:p>
          <a:p>
            <a:r>
              <a:t>no page in sources/ states his Companionship, and al-ʿAlāʾ ؓ was sent to him, so our pages do</a:t>
            </a:r>
          </a:p>
          <a:p>
            <a:r>
              <a:t>not even place him in the Prophet's ﷺ presence. [STANDARD] (to verify). Nothing printed may carry</a:t>
            </a:r>
          </a:p>
          <a:p>
            <a:r>
              <a:t>the honorific; whether Daniyal says it aloud from his own knowledge is his own call. A ترجمة page</a:t>
            </a:r>
          </a:p>
          <a:p>
            <a:r>
              <a:t>(سیر, or الإصابة, which is outside the safe list) would settle it in one fetch. ⚠ The pun at the end of this front is not this card's. The captured king's own later line — "I am</a:t>
            </a:r>
          </a:p>
          <a:p>
            <a:r>
              <a:t>the deceived one, not the deceiver" (الکامل ج2 ص222) — belongs to the night of the trenches, where he is taken in the pursuit and becomes</a:t>
            </a:r>
          </a:p>
          <a:p>
            <a:r>
              <a:t>a Muslim — before the flight to Dārīn, not at it; ; البدایہ ج7 ص40, الکامل ج2 ص224). And</a:t>
            </a:r>
          </a:p>
          <a:p>
            <a:r>
              <a:t>note the tension before anyone speaks it: it is a pun on the very name this card refuses to say. It</a:t>
            </a:r>
          </a:p>
          <a:p>
            <a:r>
              <a:t>is Daniyal's decision whether to speak it at all; if he does, it is spoken as the man's own words</a:t>
            </a:r>
          </a:p>
          <a:p>
            <a:r>
              <a:t>about himself, after his Islam, and never as our label for him. ⚠ It is not on as</a:t>
            </a:r>
          </a:p>
          <a:p>
            <a:r>
              <a:t>that card currently stands — if it is wanted, it has to be put there. ⚠ Dating. The rising itself is 11ھ: it begins at the Prophet's ﷺ death and the governor's death</a:t>
            </a:r>
          </a:p>
          <a:p>
            <a:r>
              <a:t>shortly after. But Ibn Kathīr records a dissent about the fighting that followed —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the events we</a:t>
            </a:r>
          </a:p>
          <a:p>
            <a:r>
              <a:t>&gt; have pointed to, were only in the year twelve." Do not let the Line put a hard 11ھ on the battles of this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what Rabīʿa said</a:t>
            </a:r>
          </a:p>
          <a:p/>
          <a:p>
            <a:r>
              <a:t>LESSON — The thing they wanted back on this front was not a religion. It was a throne.</a:t>
            </a:r>
          </a:p>
          <a:p/>
          <a:p>
            <a:r>
              <a:t>──────── DETAIL — only if you need it ────────</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What ʿAbd al-Qays were saying</a:t>
            </a:r>
          </a:p>
          <a:p/>
          <a:p>
            <a:r>
              <a:t>2. al-Jārūd b. al-Muʿallā ؓ</a:t>
            </a:r>
          </a:p>
          <a:p/>
          <a:p>
            <a:r>
              <a:t>3. He gathers them, and sets a condition</a:t>
            </a:r>
          </a:p>
          <a:p/>
          <a:p>
            <a:r>
              <a:t>4. Were there prophets before him?</a:t>
            </a:r>
          </a:p>
          <a:p/>
          <a:p>
            <a:r>
              <a:t>5. Do you know it, or only suppose it?</a:t>
            </a:r>
          </a:p>
          <a:p/>
          <a:p>
            <a:r>
              <a:t>6. And what became of them?</a:t>
            </a:r>
          </a:p>
          <a:p/>
          <a:p>
            <a:r>
              <a:t>7. "Then Muḥammad ﷺ died as they died"</a:t>
            </a:r>
          </a:p>
          <a:p/>
          <a:p>
            <a:r>
              <a:t>   ↑ read the Arabic on the slide</a:t>
            </a:r>
          </a:p>
          <a:p/>
          <a:p>
            <a:r>
              <a:t>8. They said it back to him</a:t>
            </a:r>
          </a:p>
          <a:p/>
          <a:p>
            <a:r>
              <a:t>9. He argued with nobody</a:t>
            </a:r>
          </a:p>
          <a:p/>
          <a:p>
            <a:r>
              <a:t>LESSON — Both sides in that region were arguing from the same fact, and the difference was one man who asked his questions in the right order.</a:t>
            </a:r>
          </a:p>
          <a:p/>
          <a:p>
            <a:r>
              <a:t>ASK — Before telling it: "Their slogan was: if he had been a prophet, he would not have died. How would you answer it?"</a:t>
            </a:r>
          </a:p>
          <a:p/>
          <a:p>
            <a:r>
              <a:t>──────── DETAIL — only if you need it ────────</a:t>
            </a:r>
          </a:p>
          <a:p/>
          <a:p>
            <a:r>
              <a:t>1. What ʿAbd al-Qays were saying — "If Muḥammad had been a prophet, he would not have died."</a:t>
            </a:r>
          </a:p>
          <a:p>
            <a:r>
              <a:t>2. al-Jārūd b. al-Muʿallā ؓ — Of ʿAbd al-Qays; he had come to the Prophet ﷺ and learned the dīn with him.</a:t>
            </a:r>
          </a:p>
          <a:p>
            <a:r>
              <a:t>3. He gathers them, and sets a condition — "Answer me if you know it, and do not answer me if you do not."</a:t>
            </a:r>
          </a:p>
          <a:p>
            <a:r>
              <a:t>4. Were there prophets before him? — They said: yes.</a:t>
            </a:r>
          </a:p>
          <a:p>
            <a:r>
              <a:t>5. Do you know it, or only suppose it? — They said: we know it.</a:t>
            </a:r>
          </a:p>
          <a:p>
            <a:r>
              <a:t>6. And what became of them? — They said: they died.</a:t>
            </a:r>
          </a:p>
          <a:p>
            <a:r>
              <a:t>7. "Then Muḥammad ﷺ died as they died" — And he bears witness aloud: no god but Allah, and Muḥammad is His servant and messenger.</a:t>
            </a:r>
          </a:p>
          <a:p>
            <a:r>
              <a:t>8. They said it back to him — And added: you are the best of us, and our chief. They held firm on their Islam.</a:t>
            </a:r>
          </a:p>
          <a:p>
            <a:r>
              <a:t>9. He argued with nobody — He asked them what they already knew, in order, and let them reach it themselves.</a:t>
            </a:r>
          </a:p>
          <a:p/>
          <a:p>
            <a:r>
              <a:t>فإنَّ محمدًا ﷺ ماتَ كما ماتوا، وإني أشهدُ أن لا إله إلا الله وأن محمدًا رسول الله</a:t>
            </a:r>
          </a:p>
          <a:p>
            <a:r>
              <a:t>"Muḥammad ﷺ has died just as they died — and I bear witness that there is no god but Allah and that Muḥammad is the Messenger of Allah."</a:t>
            </a:r>
          </a:p>
          <a:p>
            <a:r>
              <a:t>— al-Jārūd b. al-Muʿallā ؓ, to his people · البدایہ والنہایہ ج۷ ص۳۸</a:t>
            </a:r>
          </a:p>
          <a:p/>
          <a:p>
            <a:r>
              <a:t>──────── BACKGROUND — for home, not for the lectern ────────</a:t>
            </a:r>
          </a:p>
          <a:p/>
          <a:p>
            <a:r>
              <a:t>The slogan itself, on the same page: «وقال قائلهم: لو كان محمد نبيًا ما مات».</a:t>
            </a:r>
          </a:p>
          <a:p>
            <a:r>
              <a:t>And on the same page, the besieged at جُواثى put their message out in four lines of verse:</a:t>
            </a:r>
          </a:p>
          <a:p>
            <a:r>
              <a:t>«ألا أبلغْ أبا بَكْرٍ رَسولًا … وَفتيانَ المَدينةِ أجْمَعينا / فهَلْ لكُمُ إلى قومٍ كرامٍ … قُعود في جُواثا</a:t>
            </a:r>
          </a:p>
          <a:p>
            <a:r>
              <a:t>مُحصرينا». ⚠ The last word of the verse differs between البدایہ and الکامل; read it off a page</a:t>
            </a:r>
          </a:p>
          <a:p>
            <a:r>
              <a:t>image before printing it (logged in the campaign note). What became of him is on a page — in ʿUmar's ؓ time, on the sea expedition al-ʿAlāʾ ؓ sent out against Persia, where he commanded one of the corps:</a:t>
            </a:r>
          </a:p>
          <a:p>
            <a:r>
              <a:t>&gt; بِمَكَانٍ يُدْعَى طَاوُسَ فَقُتِلَ سَوَّارٌ وَالْجَارُودُ</a:t>
            </a:r>
          </a:p>
          <a:p>
            <a:r>
              <a:t>&gt; — الکامل فی التاریخ ج2 ص362 · https://shamela.ws/book/21712/1053</a:t>
            </a:r>
          </a:p>
          <a:p>
            <a:r>
              <a:t>&gt; English: “… at a place called Ṭāwūs; and Sawwār and al-Jārūd were killed.”</a:t>
            </a:r>
          </a:p>
          <a:p>
            <a:r>
              <a:t>Still no dates on any page we hold. Ibn Hishām's note, as Ibn Kathīr carries it, is that he had been a Christian before his Islam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“Came down at” — the page does not say he took them.</a:t>
            </a:r>
          </a:p>
          <a:p/>
          <a:p>
            <a:r>
              <a:t>⚠ The page does not say where al-Khaṭṭ is. The marker is approximate.</a:t>
            </a:r>
          </a:p>
          <a:p/>
          <a:p>
            <a:r>
              <a:t>SAY</a:t>
            </a:r>
          </a:p>
          <a:p/>
          <a:p>
            <a:r>
              <a:t>1. al-Ḥuṭam, with Bakr b. Wāʾil</a:t>
            </a:r>
          </a:p>
          <a:p/>
          <a:p>
            <a:r>
              <a:t>▶ CLICK 1 — al-Ḥuṭam comes down at al-Qaṭīf and at Hajar.</a:t>
            </a:r>
          </a:p>
          <a:p/>
          <a:p>
            <a:r>
              <a:t>2. He comes down at al-Qaṭīf and Hajar</a:t>
            </a:r>
          </a:p>
          <a:p/>
          <a:p>
            <a:r>
              <a:t>▶ CLICK 2 — al-Khaṭṭ is won over, with the Zuṭṭ and the Sabābija who live in it.</a:t>
            </a:r>
          </a:p>
          <a:p/>
          <a:p>
            <a:r>
              <a:t>3. al-Khaṭṭ is won over</a:t>
            </a:r>
          </a:p>
          <a:p/>
          <a:p>
            <a:r>
              <a:t>▶ CLICK 3 — He sends a force across the water, to Dārīn.</a:t>
            </a:r>
          </a:p>
          <a:p/>
          <a:p>
            <a:r>
              <a:t>4. He sends a force to Dārīn</a:t>
            </a:r>
          </a:p>
          <a:p/>
          <a:p>
            <a:r>
              <a:t>▶ CLICK 4 — And he sends to Juwāthā, and besieges the Muslims in it.</a:t>
            </a:r>
          </a:p>
          <a:p/>
          <a:p>
            <a:r>
              <a:t>5. And he besieges Juwāthā</a:t>
            </a:r>
          </a:p>
          <a:p/>
          <a:p>
            <a:r>
              <a:t>▶ NEXT SLIDE — the Arabic, and its lesson</a:t>
            </a:r>
          </a:p>
          <a:p/>
          <a:p>
            <a:r>
              <a:t>──────── DETAIL — only if you need it ────────</a:t>
            </a:r>
          </a:p>
          <a:p/>
          <a:p>
            <a:r>
              <a:t>1. al-Ḥuṭam, with Bakr b. Wāʾil — He is the man who does the fighting on this front.</a:t>
            </a:r>
          </a:p>
          <a:p>
            <a:r>
              <a:t>2. He comes down at al-Qaṭīf and Hajar — "Came down at" is the page's verb. It does not say he took them.</a:t>
            </a:r>
          </a:p>
          <a:p>
            <a:r>
              <a:t>3. al-Khaṭṭ is won over — A place the page names with the two peoples living in it, the Zuṭṭ and the Sabābija: drawn in, not marched on.</a:t>
            </a:r>
          </a:p>
          <a:p>
            <a:r>
              <a:t>4. He sends a force to Dārīn — Across the water. Remember that island: this front ends there.</a:t>
            </a:r>
          </a:p>
          <a:p>
            <a:r>
              <a:t>5. And he besieges Juwāthā — He sent to Juwāthā and shut the Muslims inside it.</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Ibn al-Athīr, on al-Ḥuṭam · الکامل فی التاریخ ج۲ ص۲۲۲</a:t>
            </a:r>
          </a:p>
          <a:p/>
          <a:p>
            <a:r>
              <a:t>──────── BACKGROUND — for home, not for the lectern ────────</a:t>
            </a:r>
          </a:p>
          <a:p/>
          <a:p>
            <a:r>
              <a:t>The ground, verbatim (الکامل ج2 ص222):</a:t>
            </a:r>
          </a:p>
          <a:p>
            <a:r>
              <a:t>&gt; حَتَّى نَزَلَ الْقَطِيفَ وَهَجَرَ، وَاسْتَغَوَوُا الْخَطَّ وَمَنْ بِهَا مِنَ الزُّطِّ وَالسَّبَابِجَةِ، وَبَعَثَ بَعْثًا إِلَى دَارِينَ، وَبَعَثَ إِلَى جُوَاثَا فَحَصَرَ الْمُسْلِمِينَ</a:t>
            </a:r>
          </a:p>
          <a:p>
            <a:r>
              <a:t>&gt; — الکامل فی التاریخ ج2 ص222 · https://shamela.ws/book/21712/913</a:t>
            </a:r>
          </a:p>
          <a:p>
            <a:r>
              <a:t>&gt; English: "...until he came down upon al-Qaṭīf and Hajar, and they drew in al-Khaṭṭ and those of</a:t>
            </a:r>
          </a:p>
          <a:p>
            <a:r>
              <a:t>&gt; the Zuṭṭ and the Sabābija who were there; and he sent a force to Dārīn, and he sent to Juwāthā and</a:t>
            </a:r>
          </a:p>
          <a:p>
            <a:r>
              <a:t>&gt; besieged the Muslims." الزُّطّ and السَّبابجة — exactly what we may say, and no more. الکامل ج2 ص222 gives two things only:</a:t>
            </a:r>
          </a:p>
          <a:p>
            <a:r>
              <a:t>they were at الخَطّ, and they were drawn in with the place. They are listed apart from the Arab</a:t>
            </a:r>
          </a:p>
          <a:p>
            <a:r>
              <a:t>tribes, which is why they are named at all. No page in sources/shamela/ glosses either name — the</a:t>
            </a:r>
          </a:p>
          <a:p>
            <a:r>
              <a:t>only other cached occurrence is ابن خلدون ج2 ص610 («الزطّ والسابحة», forty men on guard), a different</a:t>
            </a:r>
          </a:p>
          <a:p>
            <a:r>
              <a:t>event thirty years later, which identifies nothing. So: say they were two communities already settled</a:t>
            </a:r>
          </a:p>
          <a:p>
            <a:r>
              <a:t>on that coast who were brought in with it, and say that who they were is not in the books we read.</a:t>
            </a:r>
          </a:p>
          <a:p>
            <a:r>
              <a:t>⚠ Any identification beyond that needs معجم البلدان or a ترجمة fetched first. Do not supply one from</a:t>
            </a:r>
          </a:p>
          <a:p>
            <a:r>
              <a:t>general knowledge. ⚠ Two sieges, or one told twice? Record it; do not resolve it. The same page carries both:</a:t>
            </a:r>
          </a:p>
          <a:p>
            <a:r>
              <a:t>&gt; وَحَصَرَهُمْ أَصْحَابُ الْمُنْذِرِ بَعْدَهُ حَتَّى اسْتَنْقَذَهُمُ الْعَلَاءُ بْنُ الْحَضْرَمِيِّ</a:t>
            </a:r>
          </a:p>
          <a:p>
            <a:r>
              <a:t>&gt; — الکامل فی التاریخ ج2 ص222 · https://shamela.ws/book/21712/913</a:t>
            </a:r>
          </a:p>
          <a:p>
            <a:r>
              <a:t>&gt; English: "And al-Mundhir's own men besieged them after him, until al-ʿAlāʾ b. al-Ḥaḍramī</a:t>
            </a:r>
          </a:p>
          <a:p>
            <a:r>
              <a:t>&gt; delivered them." That sentence besieges عبد القيس and attributes it to the dead governor's own men; the sentence in</a:t>
            </a:r>
          </a:p>
          <a:p>
            <a:r>
              <a:t>this card's second quotation besieges جُواثى and attributes it to al-Ḥuṭam. جُواثى was a stronghold</a:t>
            </a:r>
          </a:p>
          <a:p>
            <a:r>
              <a:t>of عبد القيس (البدایہ ج7 ص38, ed. fn. quoting معجم البلدان), so these are plausibly one siege reported</a:t>
            </a:r>
          </a:p>
          <a:p>
            <a:r>
              <a:t>twice — but no page says so, and we do not say it either. On stage, tell one siege: the one at</a:t>
            </a:r>
          </a:p>
          <a:p>
            <a:r>
              <a:t>جُواثى. ⚠ — this card is the only place al-Ḥuṭam is introduced, and it must never be cut. His death is</a:t>
            </a:r>
          </a:p>
          <a:p>
            <a:r>
              <a:t>told on (the stirrup-leather, the severed foot, Qays b. ʿĀṣim's regret) and his</a:t>
            </a:r>
          </a:p>
          <a:p>
            <a:r>
              <a:t>embroidered cloak carries — and in the delivered series his name reaches a slide face for</a:t>
            </a:r>
          </a:p>
          <a:p>
            <a:r>
              <a:t>the first time on the last card of the block, after he is already dead. If this card is cut, a man</a:t>
            </a:r>
          </a:p>
          <a:p>
            <a:r>
              <a:t>the room has never met dies in front of it. ⚠ Dating: as — the rising is 11ھ; Ibn Kathīr records that some put the fighting of</a:t>
            </a:r>
          </a:p>
          <a:p>
            <a:r>
              <a:t>this front, جُواثى included, in 12ھ (البدایہ ج7 ص61).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al-Ḥuṭam</a:t>
            </a:r>
          </a:p>
          <a:p/>
          <a:p>
            <a:r>
              <a:t>LESSON — The word «ridda» names this whole front, and on this front it does not fit everyone inside it. Some of those men had never been Muslims to leave.</a:t>
            </a:r>
          </a:p>
          <a:p/>
          <a:p>
            <a:r>
              <a:t>──────── DETAIL — only if you need it ────────</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speak the fourth line of the verse — the two books differ.</a:t>
            </a:r>
          </a:p>
          <a:p/>
          <a:p>
            <a:r>
              <a:t>SAY</a:t>
            </a:r>
          </a:p>
          <a:p/>
          <a:p>
            <a:r>
              <a:t>1. One village did not break</a:t>
            </a:r>
          </a:p>
          <a:p/>
          <a:p>
            <a:r>
              <a:t>2. Shut in, and starving</a:t>
            </a:r>
          </a:p>
          <a:p/>
          <a:p>
            <a:r>
              <a:t>3. A man inside sends four lines</a:t>
            </a:r>
          </a:p>
          <a:p/>
          <a:p>
            <a:r>
              <a:t>4. Read the first two lines</a:t>
            </a:r>
          </a:p>
          <a:p/>
          <a:p>
            <a:r>
              <a:t>   ↑ read the Arabic on the slide</a:t>
            </a:r>
          </a:p>
          <a:p/>
          <a:p>
            <a:r>
              <a:t>5. Do not speak the fourth line</a:t>
            </a:r>
          </a:p>
          <a:p/>
          <a:p>
            <a:r>
              <a:t>6. "Until Allah relieved them"</a:t>
            </a:r>
          </a:p>
          <a:p/>
          <a:p>
            <a:r>
              <a:t>LESSON — The place that held out longest was one village, and its message out was four lines of verse.</a:t>
            </a:r>
          </a:p>
          <a:p/>
          <a:p>
            <a:r>
              <a:t>──────── DETAIL — only if you need it ────────</a:t>
            </a:r>
          </a:p>
          <a:p/>
          <a:p>
            <a:r>
              <a:t>1. One village did not break — Juwāthā: Ibn Kathīr says no other town in Bahrayn held.</a:t>
            </a:r>
          </a:p>
          <a:p>
            <a:r>
              <a:t>2. Shut in, and starving — off from food until the hunger became severe.</a:t>
            </a:r>
          </a:p>
          <a:p>
            <a:r>
              <a:t>3. A man inside sends four lines — ʿAbd Allāh b. Ḥadhf, one of the besieged.</a:t>
            </a:r>
          </a:p>
          <a:p>
            <a:r>
              <a:t>4. Read the first two lines — A message to Abū Bakr ؓ and all the young men of Medina.</a:t>
            </a:r>
          </a:p>
          <a:p>
            <a:r>
              <a:t>5. Do not speak the fourth line — The two books print a different word in it.</a:t>
            </a:r>
          </a:p>
          <a:p>
            <a:r>
              <a:t>6. "Until Allah relieved them" — Ibn Kathīr's own words for how the siege ended; he gives no terms.</a:t>
            </a:r>
          </a:p>
          <a:p/>
          <a:p>
            <a:r>
              <a:t>أَلَا أَبْلِغْ أَبَا بَكْرٍ رَسُولًا … وَفِتْيَانَ الْمَدِينَةِ أَجْمَعِينَا فَهَلْ لَكُمُ إِلَى قَوْمٍ كِرَامٍ … قُعُودٍ فِي جُوَاثَا مُحْصَرِينَا</a:t>
            </a:r>
          </a:p>
          <a:p>
            <a:r>
              <a:t>"Take a message to Abū Bakr, and to all the young men of Medina: have you any thought for a noble people, sitting besieged in Juwāthā?"</a:t>
            </a:r>
          </a:p>
          <a:p>
            <a:r>
              <a:t>— ʿAbd Allāh b. Ḥadhf, besieged in Juwāthā · الکامل ج۲ ص۲۲۲ (also البدایہ ج۷ ص۳۸)</a:t>
            </a:r>
          </a:p>
          <a:p/>
          <a:p>
            <a:r>
              <a:t>──────── BACKGROUND — for home, not for the lectern ────────</a:t>
            </a:r>
          </a:p>
          <a:p/>
          <a:p>
            <a:r>
              <a:t>⚠ The rising there was not all apostasy: الکامل ج2 ص222 notes that men who had never been Muslims</a:t>
            </a:r>
          </a:p>
          <a:p>
            <a:r>
              <a:t>joined al-Ḥuṭam — «مِمَّنْ لَمْ يَزَلْ مُشْرِكًا». And nearby, ʿAbd al-Qays held firm behind al-Jārūd ؓ.</a:t>
            </a:r>
          </a:p>
          <a:p>
            <a:r>
              <a:t>No honest map shades Bahrayn one colour. ⚠ The last hemistich of the verse differs between the two</a:t>
            </a:r>
          </a:p>
          <a:p>
            <a:r>
              <a:t>books (الصبر / النصر): read it off a page image before it reaches a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names who joined him, not his road. The road is drawn through their lands.</a:t>
            </a:r>
          </a:p>
          <a:p/>
          <a:p>
            <a:r>
              <a:t>SAY</a:t>
            </a:r>
          </a:p>
          <a:p/>
          <a:p>
            <a:r>
              <a:t>1. al-ʿAlāʾ b. al-Ḥaḍramī ؓ</a:t>
            </a:r>
          </a:p>
          <a:p/>
          <a:p>
            <a:r>
              <a:t>▶ CLICK 1 — al-ʿAlāʾ ؓ leaves Medina.</a:t>
            </a:r>
          </a:p>
          <a:p/>
          <a:p>
            <a:r>
              <a:t>2. Sixteen riders, and a letter</a:t>
            </a:r>
          </a:p>
          <a:p/>
          <a:p>
            <a:r>
              <a:t>▶ CLICK 2 — Thumāma ؓ joins, with Banū Ḥanīfa.</a:t>
            </a:r>
          </a:p>
          <a:p/>
          <a:p>
            <a:r>
              <a:t>3. Thumāma b. Uthāl ؓ joins</a:t>
            </a:r>
          </a:p>
          <a:p/>
          <a:p>
            <a:r>
              <a:t>▶ CLICK 3 — Qays b. ʿĀṣim joins, and other clans of Tamīm.</a:t>
            </a:r>
          </a:p>
          <a:p/>
          <a:p>
            <a:r>
              <a:t>4. Qays b. ʿĀṣim joins, and more</a:t>
            </a:r>
          </a:p>
          <a:p/>
          <a:p>
            <a:r>
              <a:t>▶ CLICK 4 — Into al-Dahnāʾ.</a:t>
            </a:r>
          </a:p>
          <a:p/>
          <a:p>
            <a:r>
              <a:t>5. Into al-Dahnāʾ</a:t>
            </a:r>
          </a:p>
          <a:p/>
          <a:p>
            <a:r>
              <a:t>6. Abū Hurayra ؓ was on this march</a:t>
            </a:r>
          </a:p>
          <a:p/>
          <a:p>
            <a:r>
              <a:t>▶ NEXT SLIDE — the Arabic, and its lesson</a:t>
            </a:r>
          </a:p>
          <a:p/>
          <a:p>
            <a:r>
              <a:t>ASK — line. notesfor reads everything after that line into</a:t>
            </a:r>
          </a:p>
          <a:p/>
          <a:p>
            <a:r>
              <a:t>──────── DETAIL — only if you need it ────────</a:t>
            </a:r>
          </a:p>
          <a:p/>
          <a:p>
            <a:r>
              <a:t>1. al-ʿAlāʾ b. al-Ḥaḍramī ؓ — The man the Prophet ﷺ had sent to Bahrayn; Abū Bakr ؓ sends him now.</a:t>
            </a:r>
          </a:p>
          <a:p>
            <a:r>
              <a:t>2. Sixteen riders, and a letter — Every Muslim he passes is to march out with him.</a:t>
            </a:r>
          </a:p>
          <a:p>
            <a:r>
              <a:t>3. Thumāma b. Uthāl ؓ joins — With the Muslims of Banū Ḥanīfa.</a:t>
            </a:r>
          </a:p>
          <a:p>
            <a:r>
              <a:t>4. Qays b. ʿĀṣim joins, and more — He had divided the ṣadaqa out among his own clans, and repented; now he brings ṣadaqa out to meet him. Then other clans of Tamīm — a force the size of his own.</a:t>
            </a:r>
          </a:p>
          <a:p>
            <a:r>
              <a:t>5. Into al-Dahnāʾ — He takes them into the sands, and camps in the middle of it.</a:t>
            </a:r>
          </a:p>
          <a:p>
            <a:r>
              <a:t>6. Abū Hurayra ؓ was on this march — He went back afterwards with a guide, to look at the place.</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al-Dhahabī, from Ibn Saʿd · سیر أعلام النبلاء ج۱ ص۲۶۴</a:t>
            </a:r>
          </a:p>
          <a:p/>
          <a:p>
            <a:r>
              <a:t>──────── BACKGROUND — for home, not for the lectern ────────</a:t>
            </a:r>
          </a:p>
          <a:p/>
          <a:p>
            <a:r>
              <a:t>BACKGROUND, which is where the lifted Arabic belongs: the beats are what he</a:t>
            </a:r>
          </a:p>
          <a:p>
            <a:r>
              <a:t>says aloud, this is what he reads at home. markdown</a:t>
            </a:r>
          </a:p>
          <a:p>
            <a:r>
              <a:t>Who he was, in one breath — and all three lines are on a page we hold: &gt; وَلاَّهُ رَسُوْلُ اللهِ -صَلَّى اللَّهُ عَلَيْهِ وَسَلَّمَ- البَحْرَيْنِ، ثُمَّ وَلِيَهَا لأَبِي بَكْرٍ، وَعُمَرَ.</a:t>
            </a:r>
          </a:p>
          <a:p>
            <a:r>
              <a:t>&gt; — سیر أعلام النبلاء ج1 ص263 · https://shamela.ws/book/10906/1689</a:t>
            </a:r>
          </a:p>
          <a:p>
            <a:r>
              <a:t>&gt; English: "The Messenger of Allah صلى الله عليه وسلم appointed him over Bahrayn; then he held it for Abū Bakr, and for ʿUmar."</a:t>
            </a:r>
          </a:p>
          <a:p>
            <a:r>
              <a:t>&gt; تُوُفِّيَ سَنَةَ: إِحْدَى وَعِشْرِيْنَ.</a:t>
            </a:r>
          </a:p>
          <a:p>
            <a:r>
              <a:t>&gt; — سیر أعلام النبلاء ج1 ص264 · https://shamela.ws/book/10906/1690</a:t>
            </a:r>
          </a:p>
          <a:p>
            <a:r>
              <a:t>&gt; English: "He died in the year twenty-one."</a:t>
            </a:r>
          </a:p>
          <a:p>
            <a:r>
              <a:t>&gt; وقد كان العلاء من ساداتِ الصحابةِ العلماءِ العُبَّادِ مجابي الدعوة</a:t>
            </a:r>
          </a:p>
          <a:p>
            <a:r>
              <a:t>&gt; — البدایہ والنہایہ ج7 ص39 · https://shamela.ws/book/30097/3185</a:t>
            </a:r>
          </a:p>
          <a:p>
            <a:r>
              <a:t>&gt; English: "al-ʿAlāʾ was among the chiefs of the Companions, the learned, the much-worshipping, whose supplication was answered."</a:t>
            </a:r>
          </a:p>
          <a:p>
            <a:r>
              <a:t>The three questions, the فجر, and the water — البدایہ's telling, which is fuller than the one the</a:t>
            </a:r>
          </a:p>
          <a:p>
            <a:r>
              <a:t>card carries: &gt; أيها الناسُ ألستم المسلمين؟ ألستُم في سبيل الله؟ ألستُم أنصارَ الله؟ قالوا: بلى، قال: فأبشروا فواللهِ لا يخذل اللهُ منْ كانَ في مثل حالكم</a:t>
            </a:r>
          </a:p>
          <a:p>
            <a:r>
              <a:t>&gt; — البدایہ والنہایہ ج7 ص39 · https://shamela.ws/book/30097/3185</a:t>
            </a:r>
          </a:p>
          <a:p>
            <a:r>
              <a:t>&gt; English: "O people — are you not the Muslims? Are you not in the path of Allāh? Are you not the helpers of Allāh? They said: yes. He said: then rejoice, for by Allāh, Allāh does not abandon men who are in a state like yours."</a:t>
            </a:r>
          </a:p>
          <a:p>
            <a:r>
              <a:t>&gt; ونُودي بصلاةِ الصبحِ، حين طلعَ الفجرُ فصلَّى بالناس، فلما قضى الصلاةَ جثا على رُكبتيه وجثا الناسُ، ونصبَ في الدعاء ورفع يديه وفعلَ الناسُ مثله حتى طلعتِ الشمسُ</a:t>
            </a:r>
          </a:p>
          <a:p>
            <a:r>
              <a:t>&gt; — البدایہ والنہایہ ج7 ص39 · https://shamela.ws/book/30097/3185</a:t>
            </a:r>
          </a:p>
          <a:p>
            <a:r>
              <a:t>&gt; English: "The call was given for the dawn prayer as the fajr broke, and he prayed with the people; and when he had finished the prayer he went down on his knees, and the people went down on theirs, and he set himself to supplicate and raised his hands, and the people did as he did, until the sun rose."</a:t>
            </a:r>
          </a:p>
          <a:p>
            <a:r>
              <a:t>&gt; فلما بلغَ الثالثةَ إذا قد خلق الله إلى جانبهم غديرًا عظيمًا من الماءَ القَراح</a:t>
            </a:r>
          </a:p>
          <a:p>
            <a:r>
              <a:t>&gt; — البدایہ والنہایہ ج7 ص39 · https://shamela.ws/book/30097/3185</a:t>
            </a:r>
          </a:p>
          <a:p>
            <a:r>
              <a:t>&gt; English: "And when he reached the third time — there, Allāh had created beside them a great pool of sweet, clear water."</a:t>
            </a:r>
          </a:p>
          <a:p>
            <a:r>
              <a:t>&gt; فما تعالى النهارُ حتى أقبلتِ الإبل من كلّ فجٍّ بما عليها، لم يفقدِ الناسُ من أمتعتهم سِلْكًا</a:t>
            </a:r>
          </a:p>
          <a:p>
            <a:r>
              <a:t>&gt; — البدایہ والنہایہ ج7 ص39 · https://shamela.ws/book/30097/3185</a:t>
            </a:r>
          </a:p>
          <a:p>
            <a:r>
              <a:t>&gt; English: "And the day had not grown high before the camels came in from every pass with their loads upon them; the people had not lost a thread of their baggage."</a:t>
            </a:r>
          </a:p>
          <a:p>
            <a:r>
              <a:t>And أبو هريرة ؓ was standing in it — the detail that puts a Companion the whole room knows inside</a:t>
            </a:r>
          </a:p>
          <a:p>
            <a:r>
              <a:t>the scene, and it is الکامل's, not البدایہ's: &gt; وَكَانَ أَبُو هُرَيْرَةَ فِيهِمْ، فَلَمَّا سَارُوا عَنْ ذَلِكَ الْمَكَانِ قَالَ لِمِنْجَابِ بْنِ رَاشِدٍ: كَيْفَ عِلْمُكَ بِمَوْضِعِ الْمَاءِ؟ قَالَ: عَارِفٌ بِهِ. فَقَالَ لَهُ: كُنْ مَعِي حَتَّى تُقِيمَنِي عَلَيْهِ</a:t>
            </a:r>
          </a:p>
          <a:p>
            <a:r>
              <a:t>&gt; — الکامل فی التاریخ ج2 ص223 · https://shamela.ws/book/21712/914</a:t>
            </a:r>
          </a:p>
          <a:p>
            <a:r>
              <a:t>&gt; English: "And Abū Hurayra was among them. When they had moved on from that place he said to Minjāb b. Rāshid: how well do you know where the water is? He said: I know it. He said to him: come with me until you set me over it."</a:t>
            </a:r>
          </a:p>
          <a:p>
            <a:r>
              <a:t>&gt; وَمَلَأْتُ إِدَاوَتِي ثُمَّ وَضَعْتُهَا عَلَى شَفِيرِ الْغَدِيرِ وَقُلْتُ: إِنْ كَانَ مَنَّا مِنَ الْمَنِّ عَرَفْتُهُ، وَإِنْ كَانَ عَيْنًا عَرَفْتُهُ، فَإِذَا مَنٌّ مِنَ الْمَنِّ. فَحَمِدَ اللَّهَ</a:t>
            </a:r>
          </a:p>
          <a:p>
            <a:r>
              <a:t>&gt; — الکامل فی التاریخ ج2 ص223 · https://shamela.ws/book/21712/914</a:t>
            </a:r>
          </a:p>
          <a:p>
            <a:r>
              <a:t>&gt; English: "… and I filled my water-skin, then set it on the lip of the pool and said: if it is a gift of the kind that is given, I shall know it; and if it is a spring, I shall know it — and it was a gift of the kind that is given. And he praised Allāh."</a:t>
            </a:r>
          </a:p>
          <a:p>
            <a:r>
              <a:t>⚠ This is a كرامہ narrative, and in البدایہ it comes through سيف بن عمر. The card's own standing</a:t>
            </a:r>
          </a:p>
          <a:p>
            <a:r>
              <a:t>instruction, kept: narrate it as what the book narrates; build no doctrinal point on it. Beat 9</a:t>
            </a:r>
          </a:p>
          <a:p>
            <a:r>
              <a:t>carries that to the lectern, which is the only place it was missing. ⚠ «Abū Hurayra ؓ was his muezzin» — on the page, but the page marks the chain very weak.</a:t>
            </a:r>
          </a:p>
          <a:p>
            <a:r>
              <a:t>سیر ج1 ص264 carries «بَعَثَنِي رَسُوْلُ اللهِ ﷺ مَعَ العَلاَءِ بنِ الحَضْرَمِيِّ، وَوَصَّاهُ بِي، فَكُنْتُ أُؤَذِّنُ لَهُ» — "The</a:t>
            </a:r>
          </a:p>
          <a:p>
            <a:r>
              <a:t>Messenger of Allah ﷺ sent me with al-ʿAlāʾ b. al-Ḥaḍramī and charged him concerning me, and I used to</a:t>
            </a:r>
          </a:p>
          <a:p>
            <a:r>
              <a:t>give the adhān for him" — and that same page's editorial note says of its isnād: &gt; وإسناده ضعيف جدا لان الواقدي</a:t>
            </a:r>
          </a:p>
          <a:p>
            <a:r>
              <a:t>&gt; — سیر أعلام النبلاء ج1 ص264 · https://shamela.ws/book/10906/1690</a:t>
            </a:r>
          </a:p>
          <a:p>
            <a:r>
              <a:t>&gt; English: "… and its isnād is very weak, because al-Wāqidī is discarded."</a:t>
            </a:r>
          </a:p>
          <a:p>
            <a:r>
              <a:t>Do not say it flatly. What is solid is الکامل's «وَكَانَ أَبُو هُرَيْرَةَ فِيهِمْ» — he was among them on</a:t>
            </a:r>
          </a:p>
          <a:p>
            <a:r>
              <a:t>that march — and that is what beat 8 says. ⚠ The books give no total for the force that reached Bahrayn. الکامل ج2 ص222 says only that the</a:t>
            </a:r>
          </a:p>
          <a:p>
            <a:r>
              <a:t>Rabāb came in «فِي مِثْلِ عُدَّتِهِ», in the like of his own number. There is no figure anywhere we hold.</a:t>
            </a:r>
          </a:p>
          <a:p>
            <a:r>
              <a:t>If a slip asks how many, say the books do not give one. ⚠ سیر compresses this campaign into two lines and its order is not the order we tell. Where</a:t>
            </a:r>
          </a:p>
          <a:p>
            <a:r>
              <a:t>الکامل and البدایہ have هَجَر, the pincer and a month of trenches, سیر ج1 ص264 has only: &gt; فَسَارَ العَلاَءُ فِيْمَنْ تَبِعَهُ، حَتَّى لَحِقَ بِحِصْنِ جُوَاثَى (3) ، فَقَاتَلَهُم، فَلَمْ يُفْلِتْ مِنْهُم أَحَدٌ. ثُمَّ أَتَى القَطِيْفَ وَبِهَا جَمْعٌ، فَقَاتَلَهُم، فَانْهَزَمُوا</a:t>
            </a:r>
          </a:p>
          <a:p>
            <a:r>
              <a:t>&gt; — سیر أعلام النبلاء ج1 ص264 · https://shamela.ws/book/10906/1690</a:t>
            </a:r>
          </a:p>
          <a:p>
            <a:r>
              <a:t>&gt; English: "So al-ʿAlāʾ marched with those who followed him, until he reached the fort of Juwāthā, and fought them, and not one of them escaped. Then he came to al-Qaṭīf, where there was a gathering, and fought them, and they were routed."</a:t>
            </a:r>
          </a:p>
          <a:p>
            <a:r>
              <a:t>Tell الکامل's and البدایہ's sequence — the march, هَجَر, the trench month, the night attack,</a:t>
            </a:r>
          </a:p>
          <a:p>
            <a:r>
              <a:t>دارين. سیر is a biographical summary, not a second battle, and its wording at جُواثى does not make</a:t>
            </a:r>
          </a:p>
          <a:p>
            <a:r>
              <a:t>clear whom he fought there. That ambiguity is not to be resolved from the platform. عبرت: The state had almost no soldiers to send; what it sent instead was a commander and a piece</a:t>
            </a:r>
          </a:p>
          <a:p>
            <a:r>
              <a:t>of writing.</a:t>
            </a:r>
          </a:p>
          <a:p>
            <a:r>
              <a:t>Hands-up? Before telling it: "You have sixteen men and a province in revolt. What do you send?"</a:t>
            </a:r>
          </a:p>
          <a:p>
            <a:r>
              <a:t>On the road: in the middle of the Dahnāʾ the camels bolted at night with the water, the food and</a:t>
            </a:r>
          </a:p>
          <a:p>
            <a:r>
              <a:t>the tents, and the men were left in open sand. He told them — «لَنْ تُرَاعُوا، أَنْتُمُ الْمُسْلِمُونَ،</a:t>
            </a:r>
          </a:p>
          <a:p>
            <a:r>
              <a:t>وَفِي سَبِيلِ اللَّهِ، وَأَنْصَارُ اللَّهِ، فَأَبْشِرُوا، فَوَاللَّهِ لَنْ تُخْذَلُوا» (الکامل ج2 ص223), and prayed</a:t>
            </a:r>
          </a:p>
          <a:p>
            <a:r>
              <a:t>with them until sunrise, and البدایہ ج7 ص39 says water appeared beside them and the camels came back</a:t>
            </a:r>
          </a:p>
          <a:p>
            <a:r>
              <a:t>with nothing missing. Narrate it as what the book narrates; do not build a doctrinal point on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al-Dhahabī, from Ibn Saʿd</a:t>
            </a:r>
          </a:p>
          <a:p/>
          <a:p>
            <a:r>
              <a:t>LESSON — The state had almost no soldiers to send; what it sent instead was a commander and a piece of writing.</a:t>
            </a:r>
          </a:p>
          <a:p/>
          <a:p>
            <a:r>
              <a:t>──────── DETAIL — only if you need it ────────</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سیر أعلام النبلاء ج۱ ص۲۶۴</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it comes through Sayf b. ʿUmar.</a:t>
            </a:r>
          </a:p>
          <a:p/>
          <a:p>
            <a:r>
              <a:t>SAY</a:t>
            </a:r>
          </a:p>
          <a:p/>
          <a:p>
            <a:r>
              <a:t>1. Night, in the middle of the sands</a:t>
            </a:r>
          </a:p>
          <a:p/>
          <a:p>
            <a:r>
              <a:t>2. Nothing left but their clothes</a:t>
            </a:r>
          </a:p>
          <a:p/>
          <a:p>
            <a:r>
              <a:t>3. He calls them together</a:t>
            </a:r>
          </a:p>
          <a:p/>
          <a:p>
            <a:r>
              <a:t>4. Three questions</a:t>
            </a:r>
          </a:p>
          <a:p/>
          <a:p>
            <a:r>
              <a:t>   ↑ read the Arabic on the slide</a:t>
            </a:r>
          </a:p>
          <a:p/>
          <a:p>
            <a:r>
              <a:t>5. They said: yes</a:t>
            </a:r>
          </a:p>
          <a:p/>
          <a:p>
            <a:r>
              <a:t>6. "Then rejoice"</a:t>
            </a:r>
          </a:p>
          <a:p/>
          <a:p>
            <a:r>
              <a:t>LESSON — He did not promise them water. He reminded them who they were.</a:t>
            </a:r>
          </a:p>
          <a:p/>
          <a:p>
            <a:r>
              <a:t>▶ NEXT SLIDE — the same words go on (3 slides in all)</a:t>
            </a:r>
          </a:p>
          <a:p/>
          <a:p>
            <a:r>
              <a:t>──────── DETAIL — only if you need it ────────</a:t>
            </a:r>
          </a:p>
          <a:p/>
          <a:p>
            <a:r>
              <a:t>1. Night, in the middle of the sands — The camels bolt with the food, the tents and the water; not one is caught.</a:t>
            </a:r>
          </a:p>
          <a:p>
            <a:r>
              <a:t>2. Nothing left but their clothes — The men begin making their bequests to one another.</a:t>
            </a:r>
          </a:p>
          <a:p>
            <a:r>
              <a:t>3. He calls them together — al-ʿAlāʾ ؓ has his caller summon the whole column.</a:t>
            </a:r>
          </a:p>
          <a:p>
            <a:r>
              <a:t>4. Three questions — Are you not the Muslims? Are you not in the path of Allah? Are you not the helpers of Allah?</a:t>
            </a:r>
          </a:p>
          <a:p>
            <a:r>
              <a:t>5. They said: yes — All of them.</a:t>
            </a:r>
          </a:p>
          <a:p>
            <a:r>
              <a:t>6. "Then rejoice" — "By Allah, Allah does not abandon those who are in a state like yours."</a:t>
            </a:r>
          </a:p>
          <a:p/>
          <a:p>
            <a:r>
              <a:t>أيها الناسُ ألستم المسلمين؟ ألستُم في سبيل الله؟ ألستُم أنصارَ الله؟ قالوا: بلى، قال: فأبشروا فواللهِ لا يخذل اللهُ منْ كانَ في مثل حالكم</a:t>
            </a:r>
          </a:p>
          <a:p>
            <a:r>
              <a:t>"O people — are you not the Muslims? Are you not in the path of Allah? Are you not the helpers of Allah?" They said: "Yes." He said: "Then rejoice — for by Allah, Allah does not abandon those who are in a state like yours."</a:t>
            </a:r>
          </a:p>
          <a:p>
            <a:r>
              <a:t>— al-ʿAlāʾ b. al-Ḥaḍramī ؓ, to the army · البدایہ والنہایہ ج۷ ص۳۹</a:t>
            </a:r>
          </a:p>
          <a:p/>
          <a:p>
            <a:r>
              <a:t>──────── BACKGROUND — for home, not for the lectern ────────</a:t>
            </a:r>
          </a:p>
          <a:p/>
          <a:p>
            <a:r>
              <a:t>⚠ Narrate it as the book narrates it. In ⁨البدایہ⁩ this account comes through Sayf b. ʿUmar; it is told,</a:t>
            </a:r>
          </a:p>
          <a:p>
            <a:r>
              <a:t>and no ruling or creed is built on it.</a:t>
            </a:r>
          </a:p>
          <a:p/>
          <a:p>
            <a:r>
              <a:t>──────── IMAGE BRIEF — paste into the image generator ────────</a:t>
            </a:r>
          </a:p>
          <a:p/>
          <a:p>
            <a:r>
              <a:t>Night in a sand desert. A scatter of pack-saddles, water-skins and folded tents left on the sand, and the tracks of many camels running off into the dark; a few camels far away, small, moving away from the viewer. A sky full of stars. Empty and still.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3).</a:t>
            </a:r>
          </a:p>
          <a:p/>
          <a:p>
            <a:r>
              <a:t>Each part: the Arabic, then its meaning.</a:t>
            </a:r>
          </a:p>
          <a:p/>
          <a:p>
            <a:r>
              <a:t>──────── DETAIL — only if you need it ────────</a:t>
            </a:r>
          </a:p>
          <a:p/>
          <a:p>
            <a:r>
              <a:t>ألستُم أنصارَ الله؟</a:t>
            </a:r>
          </a:p>
          <a:p>
            <a:r>
              <a:t>Are you not the helpers of Allah?</a:t>
            </a:r>
          </a:p>
          <a:p>
            <a:r>
              <a:t>قالوا: بلى</a:t>
            </a:r>
          </a:p>
          <a:p>
            <a:r>
              <a:t>They said: "Yes."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3 of 3).</a:t>
            </a:r>
          </a:p>
          <a:p/>
          <a:p>
            <a:r>
              <a:t>Each part: the Arabic, then its meaning.</a:t>
            </a:r>
          </a:p>
          <a:p/>
          <a:p>
            <a:r>
              <a:t>──────── DETAIL — only if you need it ────────</a:t>
            </a:r>
          </a:p>
          <a:p/>
          <a:p>
            <a:r>
              <a:t>قال: فأبشروا فواللهِ لا يخذل اللهُ منْ كانَ في مثل حالكم</a:t>
            </a:r>
          </a:p>
          <a:p>
            <a:r>
              <a:t>He said: Then rejoice — for by Allah, Allah does not abandon those who are in a state like yours.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build no ruling on it.</a:t>
            </a:r>
          </a:p>
          <a:p/>
          <a:p>
            <a:r>
              <a:t>SAY</a:t>
            </a:r>
          </a:p>
          <a:p/>
          <a:p>
            <a:r>
              <a:t>1. Fajr is called</a:t>
            </a:r>
          </a:p>
          <a:p/>
          <a:p>
            <a:r>
              <a:t>2. He kneels, and they kneel</a:t>
            </a:r>
          </a:p>
          <a:p/>
          <a:p>
            <a:r>
              <a:t>   ↑ read the Arabic on the slide</a:t>
            </a:r>
          </a:p>
          <a:p/>
          <a:p>
            <a:r>
              <a:t>3. The shimmer, again and again</a:t>
            </a:r>
          </a:p>
          <a:p/>
          <a:p>
            <a:r>
              <a:t>4. At the third time: water</a:t>
            </a:r>
          </a:p>
          <a:p/>
          <a:p>
            <a:r>
              <a:t>5. And the camels come back</a:t>
            </a:r>
          </a:p>
          <a:p/>
          <a:p>
            <a:r>
              <a:t>6. "Among the signs of Allah"</a:t>
            </a:r>
          </a:p>
          <a:p/>
          <a:p>
            <a:r>
              <a:t>7. Told as the book tells it</a:t>
            </a:r>
          </a:p>
          <a:p/>
          <a:p>
            <a:r>
              <a:t>LESSON — The first thing he did with an army that had lost everything was pray.</a:t>
            </a:r>
          </a:p>
          <a:p/>
          <a:p>
            <a:r>
              <a:t>──────── DETAIL — only if you need it ────────</a:t>
            </a:r>
          </a:p>
          <a:p/>
          <a:p>
            <a:r>
              <a:t>1. Fajr is called — At dawn he leads them in the prayer.</a:t>
            </a:r>
          </a:p>
          <a:p>
            <a:r>
              <a:t>2. He kneels, and they kneel — He raises his hands in duʿāʾ and the men do the same — until the sun is up.</a:t>
            </a:r>
          </a:p>
          <a:p>
            <a:r>
              <a:t>3. The shimmer, again and again — They watch the mirage on the sand while he keeps on in his duʿāʾ.</a:t>
            </a:r>
          </a:p>
          <a:p>
            <a:r>
              <a:t>4. At the third time: water — A great pool of pure water beside them; they walk to it, drink, and wash.</a:t>
            </a:r>
          </a:p>
          <a:p>
            <a:r>
              <a:t>5. And the camels come back — From every pass, with everything on them; not a thread was lost.</a:t>
            </a:r>
          </a:p>
          <a:p>
            <a:r>
              <a:t>6. "Among the signs of Allah" — Ibn Kathīr's own closing words for what the men saw on that expedition.</a:t>
            </a:r>
          </a:p>
          <a:p>
            <a:r>
              <a:t>7. Told as the book tells it — It comes through Sayf b. ʿUmar; narrate it, and build nothing on it.</a:t>
            </a:r>
          </a:p>
          <a:p/>
          <a:p>
            <a:r>
              <a:t>فلما قضى الصلاةَ جثا على رُكبتيه وجثا الناسُ، ونصبَ في الدعاء ورفع يديه وفعلَ الناسُ مثله حتى طلعتِ الشمس</a:t>
            </a:r>
          </a:p>
          <a:p>
            <a:r>
              <a:t>"When he had finished the prayer he went down on his knees, and the people went down on theirs; he set himself to supplication and raised his hands, and the people did as he did, until the sun rose."</a:t>
            </a:r>
          </a:p>
          <a:p>
            <a:r>
              <a:t>— Ibn Kathīr, on what al-ʿAlāʾ ؓ did at dawn · البدایہ والنہایہ ج۷ ص۳۹</a:t>
            </a:r>
          </a:p>
          <a:p/>
          <a:p>
            <a:r>
              <a:t>──────── BACKGROUND — for home, not for the lectern ────────</a:t>
            </a:r>
          </a:p>
          <a:p/>
          <a:p>
            <a:r>
              <a:t>What the book then narrates:</a:t>
            </a:r>
          </a:p>
          <a:p>
            <a:r>
              <a:t>&gt; فلما بلغَ الثالثةَ إذا قد خلق الله إلى جانبهم غديرًا عظيمًا من الماءَ القَراح، فمشى ومشى الناسُ إليه فشربوا واغتسلوا، فما تعالى النهارُ حتى أقبلتِ الإبل من كلّ فجٍّ بما عليها، لم يفقدِ الناسُ من أمتعتهم سِلْكًا</a:t>
            </a:r>
          </a:p>
          <a:p>
            <a:r>
              <a:t>&gt; — البدایہ والنہایہ ج7 ص39 · https://shamela.ws/book/30097/3185</a:t>
            </a:r>
          </a:p>
          <a:p>
            <a:r>
              <a:t>&gt; English: "When he reached the third time, Allah had created beside them a great pool of pure water.</a:t>
            </a:r>
          </a:p>
          <a:p>
            <a:r>
              <a:t>&gt; He walked to it, and the people walked to it, and they drank and washed; and the day was not high before</a:t>
            </a:r>
          </a:p>
          <a:p>
            <a:r>
              <a:t>&gt; the camels came from every pass with what was on them — the people did not lose a thread of their baggage." And Ibn Kathīr's closing line:</a:t>
            </a:r>
          </a:p>
          <a:p>
            <a:r>
              <a:t>&gt; فكان هذا مما عاينَ الناس من آيات الله بهذه السرية</a:t>
            </a:r>
          </a:p>
          <a:p>
            <a:r>
              <a:t>&gt; — البدایہ والنہایہ ج7 ص39 · https://shamela.ws/book/30097/3185</a:t>
            </a:r>
          </a:p>
          <a:p>
            <a:r>
              <a:t>&gt; English: "This was among the signs of Allah that the people saw with their own eyes on that expedition."</a:t>
            </a:r>
          </a:p>
          <a:p/>
          <a:p>
            <a:r>
              <a:t>──────── IMAGE BRIEF — paste into the image generator ────────</a:t>
            </a:r>
          </a:p>
          <a:p/>
          <a:p>
            <a:r>
              <a:t>First light over a sand desert. In the foreground a wide, still pool of clear water lying in a hollow between dunes, catching the dawn; in the distance a line of loaded camels walking back toward it from several directions.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Another telling, on another page. Do not join it to the dawn prayer.</a:t>
            </a:r>
          </a:p>
          <a:p/>
          <a:p>
            <a:r>
              <a:t>SAY</a:t>
            </a:r>
          </a:p>
          <a:p/>
          <a:p>
            <a:r>
              <a:t>1. In another telling</a:t>
            </a:r>
          </a:p>
          <a:p/>
          <a:p>
            <a:r>
              <a:t>2. Read the duʿāʾ</a:t>
            </a:r>
          </a:p>
          <a:p/>
          <a:p>
            <a:r>
              <a:t>   ↑ read the Arabic on the slide</a:t>
            </a:r>
          </a:p>
          <a:p/>
          <a:p>
            <a:r>
              <a:t>3. "We are Your servants, and in Your path"</a:t>
            </a:r>
          </a:p>
          <a:p/>
          <a:p>
            <a:r>
              <a:t>4. And at the sea</a:t>
            </a:r>
          </a:p>
          <a:p/>
          <a:p>
            <a:r>
              <a:t>5. Two tellings, not one</a:t>
            </a:r>
          </a:p>
          <a:p/>
          <a:p>
            <a:r>
              <a:t>LESSON — He said whose servants they were before he asked for anything.</a:t>
            </a:r>
          </a:p>
          <a:p/>
          <a:p>
            <a:r>
              <a:t>▶ NEXT SLIDE — the same words go on (2 slides in all)</a:t>
            </a:r>
          </a:p>
          <a:p/>
          <a:p>
            <a:r>
              <a:t>──────── DETAIL — only if you need it ────────</a:t>
            </a:r>
          </a:p>
          <a:p/>
          <a:p>
            <a:r>
              <a:t>1. In another telling — Sahm b. Minjāb tells this march in the first person; Ibn Kathīr carries it among the signs.</a:t>
            </a:r>
          </a:p>
          <a:p>
            <a:r>
              <a:t>2. Read the duʿāʾ — Slowly. Four names of Allah; then whose they are; then what they ask.</a:t>
            </a:r>
          </a:p>
          <a:p>
            <a:r>
              <a:t>3. "We are Your servants, and in Your path" — He says whose they are before he asks for anything.</a:t>
            </a:r>
          </a:p>
          <a:p>
            <a:r>
              <a:t>4. And at the sea — The same telling has one line for the crossing: "Make for us a way to Your enemy."</a:t>
            </a:r>
          </a:p>
          <a:p>
            <a:r>
              <a:t>5. Two tellings, not one — There: the dawn prayer, on their knees, a pool. Here: two rakʿas, and rain. Do not join them.</a:t>
            </a:r>
          </a:p>
          <a:p/>
          <a:p>
            <a:r>
              <a:t>وقال في الدعاء: يا عليمُ، يا حليمُ، ويا عليُّ، يا عظيمُ، إنا عبيدُك وفي سبيلك نقاتلُ عدوَّك، اسقنا غَيثًا نشربُ منه ونتوضَّأ، فإذا تركناه فلا تجعل لأحدٍ فيه نصيبًا غيرَنا. وقال في البحر: اجعل لنا سبيلًا إلى عدوِّك</a:t>
            </a:r>
          </a:p>
          <a:p>
            <a:r>
              <a:t>"And he said in the supplication: O All-Knowing, O Forbearing, O Most High, O Tremendous — we are Your servants, and in Your path we fight Your enemy; give us rain from which we may drink and make wuḍūʾ, and when we leave it, give no one a share in it but us. And he said at the sea: Make for us a way to Your enemy."</a:t>
            </a:r>
          </a:p>
          <a:p>
            <a:r>
              <a:t>— al-ʿAlāʾ b. al-Ḥaḍramī ؓ — in another telling, that of Sahm b. Minjāb · البدایہ والنہایہ ج۶ ص۲۳۱</a:t>
            </a:r>
          </a:p>
          <a:p/>
          <a:p>
            <a:r>
              <a:t>──────── BACKGROUND — for home, not for the lectern ────────</a:t>
            </a:r>
          </a:p>
          <a:p/>
          <a:p>
            <a:r>
              <a:t>⚠ Not the dawn telling. These words are on a different page, through a different chain (Sahm b. Minjāb, by</a:t>
            </a:r>
          </a:p>
          <a:p>
            <a:r>
              <a:t>way of Ibn Abī al-Dunyā and al-Bayhaqī). The page that describes the kneeling gives no words</a:t>
            </a:r>
          </a:p>
          <a:p>
            <a:r>
              <a:t>. ⚠ Eyeball the duʿāʾ against the page image before it is projected</a:t>
            </a:r>
          </a:p>
          <a:p>
            <a:r>
              <a:t>(CLAUDE.md ). ⚠ No honorific for Sahm b. Minjāb: no page we hold states his Companionship. ## Yemen I: al-Aswad al-ʿAnsī, from the Abnāʾ to the dawn adhān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اسقنا غَيثًا نشربُ منه ونتوضَّأ</a:t>
            </a:r>
          </a:p>
          <a:p>
            <a:r>
              <a:t>give us rain from which we may drink and make wuḍūʾ</a:t>
            </a:r>
          </a:p>
          <a:p>
            <a:r>
              <a:t>فإذا تركناه فلا تجعل لأحدٍ فيه نصيبًا غيرَنا</a:t>
            </a:r>
          </a:p>
          <a:p>
            <a:r>
              <a:t>and when we leave it, give no one a share in it but 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sides, no distances. Say “not to scale”.</a:t>
            </a:r>
          </a:p>
          <a:p/>
          <a:p>
            <a:r>
              <a:t>SAY</a:t>
            </a:r>
          </a:p>
          <a:p/>
          <a:p>
            <a:r>
              <a:t>▶ CLICK 1 — al-ʿAlāʾ ؓ comes out of al-Dahnāʾ and camps at Hajar.</a:t>
            </a:r>
          </a:p>
          <a:p/>
          <a:p>
            <a:r>
              <a:t>1. al-ʿAlāʾ ؓ camps at Hajar</a:t>
            </a:r>
          </a:p>
          <a:p/>
          <a:p>
            <a:r>
              <a:t>▶ CLICK 2 — He sends to al-Jārūd ؓ — and ʿAbd al-Qays come down on al-Ḥuṭam from their side.</a:t>
            </a:r>
          </a:p>
          <a:p/>
          <a:p>
            <a:r>
              <a:t>2. He sends for al-Jārūd ؓ</a:t>
            </a:r>
          </a:p>
          <a:p/>
          <a:p>
            <a:r>
              <a:t>▶ CLICK 3 — He comes down on him from the Hajar side. Every one gathers.</a:t>
            </a:r>
          </a:p>
          <a:p/>
          <a:p>
            <a:r>
              <a:t>3. And comes down on him himself</a:t>
            </a:r>
          </a:p>
          <a:p/>
          <a:p>
            <a:r>
              <a:t>4. Everyone gathers</a:t>
            </a:r>
          </a:p>
          <a:p/>
          <a:p>
            <a:r>
              <a:t>▶ CLICK 4 — Both sides dig trenches.</a:t>
            </a:r>
          </a:p>
          <a:p/>
          <a:p>
            <a:r>
              <a:t>5. Both sides dig trenches</a:t>
            </a:r>
          </a:p>
          <a:p/>
          <a:p>
            <a:r>
              <a:t>▶ CLICK 5 — A month. They fight by turns, and go back to their trenches.</a:t>
            </a:r>
          </a:p>
          <a:p/>
          <a:p>
            <a:r>
              <a:t>6. A month</a:t>
            </a:r>
          </a:p>
          <a:p/>
          <a:p>
            <a:r>
              <a:t>▶ NEXT SLIDE — the Arabic, and its lesson</a:t>
            </a:r>
          </a:p>
          <a:p/>
          <a:p>
            <a:r>
              <a:t>ASK — line.</a:t>
            </a:r>
          </a:p>
          <a:p/>
          <a:p>
            <a:r>
              <a:t>──────── DETAIL — only if you need it ────────</a:t>
            </a:r>
          </a:p>
          <a:p/>
          <a:p>
            <a:r>
              <a:t>1. al-ʿAlāʾ ؓ camps at Hajar — Out of al-Dahnāʾ, the army comes down at Hajar itself.</a:t>
            </a:r>
          </a:p>
          <a:p>
            <a:r>
              <a:t>2. He sends for al-Jārūd ؓ — To bring ʿAbd al-Qays down on al-Ḥuṭam from their own side.</a:t>
            </a:r>
          </a:p>
          <a:p>
            <a:r>
              <a:t>3. And comes down on him himself — From the side next to Hajar.</a:t>
            </a:r>
          </a:p>
          <a:p>
            <a:r>
              <a:t>4. Everyone gathers — All of them to al-Ḥuṭam, except the men of Dārīn; all the Muslims to al-ʿAlāʾ ؓ.</a:t>
            </a:r>
          </a:p>
          <a:p>
            <a:r>
              <a:t>5. Both sides dig trenches — The Muslims round themselves, and the enemy round theirs.</a:t>
            </a:r>
          </a:p>
          <a:p>
            <a:r>
              <a:t>6. A month — They fight by turns and go back to their trenches; a month of it.</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Ibn al-Athīr, on the trench month · الکامل فی التاریخ ج۲ ص۲۲۳</a:t>
            </a:r>
          </a:p>
          <a:p/>
          <a:p>
            <a:r>
              <a:t>──────── BACKGROUND — for home, not for the lectern ────────</a:t>
            </a:r>
          </a:p>
          <a:p/>
          <a:p>
            <a:r>
              <a:t>⚠ AND DELETE its existing sub-note The chief's death, and the regret — البدایہ ج7 ص39: …. now carries that whole scene, with الکامل's name for the man who cut the leg and the</a:t>
            </a:r>
          </a:p>
          <a:p>
            <a:r>
              <a:t>sequence settled. Two artifacts must not tell it twice (CLAUDE.md ). markdown</a:t>
            </a:r>
          </a:p>
          <a:p>
            <a:r>
              <a:t>The dispositions — this is the beat that was on no card, and it is what makes pay off</a:t>
            </a:r>
          </a:p>
          <a:p>
            <a:r>
              <a:t>militarily: &gt; ثُمَّ سَارُوا فَنَزَلُوا بِهَجَرَ، وَأَرْسَلَ الْعَلَاءُ إِلَى الْجَارُودِ يَأْمُرُهُ أَنْ يَنْزِلَ بِعَبْدِ الْقَيْسِ عَلَى الْحُطَمِ مِمَّا يَلِيهِ، وَسَارَ هُوَ فِيمَنْ مَعَهُ حَتَّى نَزَلَ عَلَيْهِ مِمَّا يَلِي هَجَرَ</a:t>
            </a:r>
          </a:p>
          <a:p>
            <a:r>
              <a:t>&gt; — الکامل فی التاریخ ج2 ص223 · https://shamela.ws/book/21712/914</a:t>
            </a:r>
          </a:p>
          <a:p>
            <a:r>
              <a:t>&gt; English: "Then they marched on and camped at Hajar. And al-ʿAlāʾ sent to al-Jārūd, ordering him to come down with ʿAbd al-Qays upon al-Ḥuṭam from his own side, while he himself marched with those who were with him until he camped against him on the Hajar side."</a:t>
            </a:r>
          </a:p>
          <a:p>
            <a:r>
              <a:t>⚠ Beat 2 only works if the room has met al-Jārūd ؓ. He is — Al-Jārūd ؓ asks his</a:t>
            </a:r>
          </a:p>
          <a:p>
            <a:r>
              <a:t>tribe five questions — and that card is CORE. If is cut from the running order, beat</a:t>
            </a:r>
          </a:p>
          <a:p>
            <a:r>
              <a:t>2 must carry his notice in one breath : al-Jārūd b. al-Muʿallā ؓ of ʿAbd al-Qays, the man who</a:t>
            </a:r>
          </a:p>
          <a:p>
            <a:r>
              <a:t>held his own tribe to Islam when the rest of Bahrayn went. Why دارين still needs an operation after this battle is won: &gt; فَاجْتَمَعَ الْمُشْرِكُونَ كُلُّهُمْ إِلَى الْحُطَمِ إِلَّا أَهْلَ دَارِينَ</a:t>
            </a:r>
          </a:p>
          <a:p>
            <a:r>
              <a:t>&gt; — الکامل فی التاریخ ج2 ص223 · https://shamela.ws/book/21712/914</a:t>
            </a:r>
          </a:p>
          <a:p>
            <a:r>
              <a:t>&gt; English: "And all the mushrikūn gathered to al-Ḥuṭam — except the people of Dārīn."</a:t>
            </a:r>
          </a:p>
          <a:p>
            <a:r>
              <a:t>The month, in الکامل's own words: &gt; وَخَنْدَقَ الْمُسْلِمُونَ عَلَى أَنْفُسِهِمْ وَالْمُشْرِكُونَ، وَكَانُوا يَتَرَاوَحُونَ الْقِتَالَ وَيَرْجِعُونَ إِلَى خَنْدَقِهِمْ، فَكَانُوا كَذَلِكَ شَهْرًا</a:t>
            </a:r>
          </a:p>
          <a:p>
            <a:r>
              <a:t>&gt; — الکامل فی التاریخ ج2 ص223 · https://shamela.ws/book/21712/914</a:t>
            </a:r>
          </a:p>
          <a:p>
            <a:r>
              <a:t>&gt; English: "The Muslims dug a trench about themselves, and so did the mushrikūn; and they would take turns at the fighting and go back to their trench — and they were like that for a month."</a:t>
            </a:r>
          </a:p>
          <a:p>
            <a:r>
              <a:t>And why a volunteer was asked for at all — the sentence that explains the whole scene, and it was</a:t>
            </a:r>
          </a:p>
          <a:p>
            <a:r>
              <a:t>on no card: &gt; سَمِعَ الْمُسْلِمُونَ ضَوْضَاءَ هَزِيمَةٍ أَوْ قِتَالٍ، فَقَالَ الْعَلَاءُ: مَنْ يَأْتِينَا بِخَبَرِ الْقَوْمِ؟</a:t>
            </a:r>
          </a:p>
          <a:p>
            <a:r>
              <a:t>&gt; — الکامل فی التاریخ ج2 ص223 · https://shamela.ws/book/21712/914</a:t>
            </a:r>
          </a:p>
          <a:p>
            <a:r>
              <a:t>&gt; English: "The Muslims heard a commotion — of a rout, or of a battle. So al-ʿAlāʾ said: who will bring us news of these people?"</a:t>
            </a:r>
          </a:p>
          <a:p>
            <a:r>
              <a:t>⚠⚠ WHY THE ENEMY CAMP WAS DRUNK: NO PAGE WE HOLD SAYS. Neither book gives an occasion — no feast,</a:t>
            </a:r>
          </a:p>
          <a:p>
            <a:r>
              <a:t>no festival, no reason at all. البدایہ ج7 ص39 carries only: &gt; فوجدهم سُكارى لا يعقلون من الشراب، فرجعَ إليه فأخبره</a:t>
            </a:r>
          </a:p>
          <a:p>
            <a:r>
              <a:t>&gt; — البدایہ والنہایہ ج7 ص39 · https://shamela.ws/book/30097/3185</a:t>
            </a:r>
          </a:p>
          <a:p>
            <a:r>
              <a:t>&gt; English: "… and he found them drunk, past understanding from the drink; and he went back to him and told him."</a:t>
            </a:r>
          </a:p>
          <a:p>
            <a:r>
              <a:t>What the pages do supply is the setting, not the cause — a month of trench stalemate, quoted</a:t>
            </a:r>
          </a:p>
          <a:p>
            <a:r>
              <a:t>above. Give the setting and supply no reason the books withhold. Beat 7 puts that at the lectern</a:t>
            </a:r>
          </a:p>
          <a:p>
            <a:r>
              <a:t>in the words he needs, because he will say it aloud. What the night took — both books, and they agree: &gt; وَاسْتَوْلَى الْمُسْلِمُونَ عَلَى الْعَسْكَرِ، وَلَمْ يُفْلِتْ رَجُلٌ إِلَّا بِمَا عَلَيْهِ</a:t>
            </a:r>
          </a:p>
          <a:p>
            <a:r>
              <a:t>&gt; — الکامل فی التاریخ ج2 ص224 · https://shamela.ws/book/21712/915</a:t>
            </a:r>
          </a:p>
          <a:p>
            <a:r>
              <a:t>&gt; English: "And the Muslims took possession of the camp, and not a man got away with anything but what was on him."</a:t>
            </a:r>
          </a:p>
          <a:p>
            <a:r>
              <a:t>&gt; واستولى على جميعِ أموالهم وحواصلهم وأثقالهم، فكانت غنيمةً عظيمةً جسيمةً</a:t>
            </a:r>
          </a:p>
          <a:p>
            <a:r>
              <a:t>&gt; — البدایہ والنہایہ ج7 ص39 · https://shamela.ws/book/30097/3185</a:t>
            </a:r>
          </a:p>
          <a:p>
            <a:r>
              <a:t>&gt; English: "And he took possession of all their wealth, their stores and their baggage — and it was an immense, massive spoil." عبرت: A month of trenches was decided by one night on which one side could not think.</a:t>
            </a:r>
          </a:p>
          <a:p>
            <a:r>
              <a:t>Hands-up? no</a:t>
            </a:r>
          </a:p>
          <a:p>
            <a:r>
              <a:t>The chief's death, and the regret — البدایہ ج7 ص39: al-Ḥuṭam woke in confusion, his stirrup-leather</a:t>
            </a:r>
          </a:p>
          <a:p>
            <a:r>
              <a:t>parted, a man offered to fix it and cut his foot off; he lay asking every passer-by to finish him, and</a:t>
            </a:r>
          </a:p>
          <a:p>
            <a:r>
              <a:t>when Qays b. ʿĀṣim finally did and then saw the leg, he said: «واسوأتاه، لو أعلمُ ما به لم</a:t>
            </a:r>
          </a:p>
          <a:p>
            <a:r>
              <a:t>أحرِّكْهُ» — "What a shameful thing; had I known his state I would not have touched him."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trench month</a:t>
            </a:r>
          </a:p>
          <a:p/>
          <a:p>
            <a:r>
              <a:t>LESSON — A month of trenches was decided by one night on which one side could not think.</a:t>
            </a:r>
          </a:p>
          <a:p/>
          <a:p>
            <a:r>
              <a:t>──────── DETAIL — only if you need it ────────</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why they were drinking. No page does.</a:t>
            </a:r>
          </a:p>
          <a:p/>
          <a:p>
            <a:r>
              <a:t>SAY</a:t>
            </a:r>
          </a:p>
          <a:p/>
          <a:p>
            <a:r>
              <a:t>1. A noise in the night</a:t>
            </a:r>
          </a:p>
          <a:p/>
          <a:p>
            <a:r>
              <a:t>▶ CLICK 1 — A noise in the night. ʿAbd Allāh b. Ḥadhf goes to find out.</a:t>
            </a:r>
          </a:p>
          <a:p/>
          <a:p>
            <a:r>
              <a:t>2. ʿAbd Allāh b. Ḥadhf goes</a:t>
            </a:r>
          </a:p>
          <a:p/>
          <a:p>
            <a:r>
              <a:t>▶ CLICK 2 — They seize him at their trench — and he calls for his uncle.</a:t>
            </a:r>
          </a:p>
          <a:p/>
          <a:p>
            <a:r>
              <a:t>3. He calls for his uncle</a:t>
            </a:r>
          </a:p>
          <a:p/>
          <a:p>
            <a:r>
              <a:t>4. "A poor sort of sister's son"</a:t>
            </a:r>
          </a:p>
          <a:p/>
          <a:p>
            <a:r>
              <a:t>5. "Feed me</a:t>
            </a:r>
          </a:p>
          <a:p/>
          <a:p>
            <a:r>
              <a:t>6. Said to a man overcome by drink</a:t>
            </a:r>
          </a:p>
          <a:p/>
          <a:p>
            <a:r>
              <a:t>▶ CLICK 3 — Fed, mounted, and let through. He tells al-ʿAlāʾ ؓ: they are drunk.</a:t>
            </a:r>
          </a:p>
          <a:p/>
          <a:p>
            <a:r>
              <a:t>7. He comes back: they are drunk</a:t>
            </a:r>
          </a:p>
          <a:p/>
          <a:p>
            <a:r>
              <a:t>8. Why they were drinking: no page says</a:t>
            </a:r>
          </a:p>
          <a:p/>
          <a:p>
            <a:r>
              <a:t>9. One man or two?</a:t>
            </a:r>
          </a:p>
          <a:p/>
          <a:p>
            <a:r>
              <a:t>▶ NEXT SLIDE — the Arabic, and its lesson</a:t>
            </a:r>
          </a:p>
          <a:p/>
          <a:p>
            <a:r>
              <a:t>──────── DETAIL — only if you need it ────────</a:t>
            </a:r>
          </a:p>
          <a:p/>
          <a:p>
            <a:r>
              <a:t>1. A noise in the night — Like a rout, or like a battle; al-ʿAlāʾ ؓ asks who will find out.</a:t>
            </a:r>
          </a:p>
          <a:p>
            <a:r>
              <a:t>2. ʿAbd Allāh b. Ḥadhf goes — He comes near their trench, and they take him.</a:t>
            </a:r>
          </a:p>
          <a:p>
            <a:r>
              <a:t>3. He calls for his uncle — His mother was of ʿIjl: "Yā Abjarāh!" — and Abjar b. Bujayr comes, and knows him.</a:t>
            </a:r>
          </a:p>
          <a:p>
            <a:r>
              <a:t>4. "A poor sort of sister's son" — "…coming to your uncles tonight."</a:t>
            </a:r>
          </a:p>
          <a:p>
            <a:r>
              <a:t>5. "Feed me — I am dying of hunger" — He is fed; he asks for a mount, and is given one.</a:t>
            </a:r>
          </a:p>
          <a:p>
            <a:r>
              <a:t>6. Said to a man overcome by drink — The book's own explanation of why he was let go.</a:t>
            </a:r>
          </a:p>
          <a:p>
            <a:r>
              <a:t>7. He comes back: they are drunk — He enters the Muslims' camp and tells them.</a:t>
            </a:r>
          </a:p>
          <a:p>
            <a:r>
              <a:t>8. Why they were drinking: no page says — Give the month of stalemate as the setting; supply no reason.</a:t>
            </a:r>
          </a:p>
          <a:p>
            <a:r>
              <a:t>9. One man or two? — The books name an ʿAbd Allāh b. Ḥadhf inside Juwāthā and here, and do not say if he is the same.</a:t>
            </a:r>
          </a:p>
          <a:p/>
          <a:p>
            <a:r>
              <a:t>وَاللَّهِ إِنِّي لَأَظُنُّكَ بِئْسَ ابْنُ أُخْتٍ أَتَيْتَ اللَّيْلَةَ أَخْوَالَكَ</a:t>
            </a:r>
          </a:p>
          <a:p>
            <a:r>
              <a:t>"By Allāh, I think you a poor sort of sister's-son, coming to your uncles tonight."</a:t>
            </a:r>
          </a:p>
          <a:p>
            <a:r>
              <a:t>— Abjar b. Bujayr, to his sister's son · الکامل فی التاریخ ج۲ ص۲۲۳</a:t>
            </a:r>
          </a:p>
          <a:p/>
          <a:p>
            <a:r>
              <a:t>──────── BACKGROUND — for home, not for the lectern ────────</a:t>
            </a:r>
          </a:p>
          <a:p/>
          <a:p>
            <a:r>
              <a:t>The shout, and the uncle who answered it: &gt; فَجَعَلَ يُنَادِي: يَا أَبْجَرَاهُ! فَجَاءَ أَبْجَرُ بْنُ بُجَيْرٍ فَعَرَفَهُ</a:t>
            </a:r>
          </a:p>
          <a:p>
            <a:r>
              <a:t>&gt; — الکامل فی التاریخ ج2 ص223 · https://shamela.ws/book/21712/914</a:t>
            </a:r>
          </a:p>
          <a:p>
            <a:r>
              <a:t>&gt; English: "So he began to call out: O Abjar! And Abjar b. Bujayr came, and recognised him."</a:t>
            </a:r>
          </a:p>
          <a:p>
            <a:r>
              <a:t>&gt; وَكَانَتْ أُمُّهُ عِجْلِيَّةً</a:t>
            </a:r>
          </a:p>
          <a:p>
            <a:r>
              <a:t>&gt; — الکامل فی التاریخ ج2 ص223 · https://shamela.ws/book/21712/914</a:t>
            </a:r>
          </a:p>
          <a:p>
            <a:r>
              <a:t>&gt; English: "And his mother was a woman of ʿIjl."</a:t>
            </a:r>
          </a:p>
          <a:p>
            <a:r>
              <a:t>What he answered when he was asked his business: &gt; عَلَامَ أُقْبِلُ وَحَوْلِي عَسَاكِرُ مِنْ عِجْلٍ وَتَيْمِ اللَّاتِ وَغَيْرِهِمَا؟</a:t>
            </a:r>
          </a:p>
          <a:p>
            <a:r>
              <a:t>&gt; — الکامل فی التاریخ ج2 ص223 · https://shamela.ws/book/21712/914</a:t>
            </a:r>
          </a:p>
          <a:p>
            <a:r>
              <a:t>&gt; English: "What am I to come to, with armies of ʿIjl and Taym al-Lāt and others round about me?"</a:t>
            </a:r>
          </a:p>
          <a:p>
            <a:r>
              <a:t>Food before freedom: &gt; دَعْنِي مِنْ هَذَا وَأَطْعِمْنِي؛ فَقَدْ مُتُّ جُوعًا</a:t>
            </a:r>
          </a:p>
          <a:p>
            <a:r>
              <a:t>&gt; — الکامل فی التاریخ ج2 ص223 · https://shamela.ws/book/21712/914</a:t>
            </a:r>
          </a:p>
          <a:p>
            <a:r>
              <a:t>&gt; English: "Let me alone about that, and feed me — I am dying of hunger."</a:t>
            </a:r>
          </a:p>
          <a:p>
            <a:r>
              <a:t>And الکامل's one clause, which explains the whole scene: &gt; يَقُولُ هَذَا لِرَجُلٍ قَدْ غَلَبَ عَلَيْهِ السُّكْرُ، فَحَمَلَهُ عَلَى بَعِيرٍ وَزَوَّدَهُ وَجَوَّزَهُ</a:t>
            </a:r>
          </a:p>
          <a:p>
            <a:r>
              <a:t>&gt; — الکامل فی التاریخ ج2 ص223 · https://shamela.ws/book/21712/914</a:t>
            </a:r>
          </a:p>
          <a:p>
            <a:r>
              <a:t>&gt; English: "He was saying this to a man whom drink had got the better of — so he mounted him on a camel, provisioned him, and let him through."</a:t>
            </a:r>
          </a:p>
          <a:p>
            <a:r>
              <a:t>And the uncle got away: &gt; فَأَمَّا أَبْجَرُ فَأَفْلَتَ</a:t>
            </a:r>
          </a:p>
          <a:p>
            <a:r>
              <a:t>&gt; — الکامل فی التاریخ ج2 ص224 · https://shamela.ws/book/21712/915</a:t>
            </a:r>
          </a:p>
          <a:p>
            <a:r>
              <a:t>&gt; English: "As for Abjar, he escaped."</a:t>
            </a:r>
          </a:p>
          <a:p>
            <a:r>
              <a:t>⚠⚠ ʿAbdullāh b. Ḥadhf — one man or two? The books do not say. Raised by Daniyal, 2026-09-06, and</a:t>
            </a:r>
          </a:p>
          <a:p>
            <a:r>
              <a:t>it is a real ambiguity rather than a slip in one book. The same name stands in two places. Inside</a:t>
            </a:r>
          </a:p>
          <a:p>
            <a:r>
              <a:t>جُواثى, among the besieged, as the man who put out the four lines of verse: &gt; وقد قال رجل منهم يقال له عبد الله بن حذف، أحد بني بكر بن كلاب، وقد اشتد عليه الجوع</a:t>
            </a:r>
          </a:p>
          <a:p>
            <a:r>
              <a:t>&gt; — البدایہ والنہایہ ج7 ص38 · https://shamela.ws/book/30097/3184</a:t>
            </a:r>
          </a:p>
          <a:p>
            <a:r>
              <a:t>&gt; English: "And a man of theirs called ʿAbdullāh b. Ḥadhf, one of Banū Bakr b. Kilāb, upon whom the hunger had grown severe, said …"</a:t>
            </a:r>
          </a:p>
          <a:p>
            <a:r>
              <a:t>And in al-ʿAlāʾ's ؓ camp at هَجَر, as the volunteer scout — البدایہ ج7 ص39 and الکامل ج2 ص223, the</a:t>
            </a:r>
          </a:p>
          <a:p>
            <a:r>
              <a:t>latter adding the عِجْلي mother. If it is one man the sequence is coherent, and hunger appears in both</a:t>
            </a:r>
          </a:p>
          <a:p>
            <a:r>
              <a:t>scenes. But no page joins them, and البدایہ gives a كلابي paternal line where الکامل gives an</a:t>
            </a:r>
          </a:p>
          <a:p>
            <a:r>
              <a:t>عِجْلي maternal one — which is not a contradiction, and is not a confirmation either. Do not assert</a:t>
            </a:r>
          </a:p>
          <a:p>
            <a:r>
              <a:t>from the platform that they are the same man. ⚠ This whole card is الکامل's. البدایہ ج7 ص39 has the night in one sentence: he went in among</a:t>
            </a:r>
          </a:p>
          <a:p>
            <a:r>
              <a:t>them, found them drunk, came back and told him. The uncle, the mother, the words, the food and the</a:t>
            </a:r>
          </a:p>
          <a:p>
            <a:r>
              <a:t>camel are in الکامل ج2 ص223 and nowhere else we hold. Attribute it that way if asked. ⚠ The second quotation rests on a doubtful word. al-Ṭabarī (corroboration only; vol. 3 p. 308, as read in ) reads the verb as uqtalu — "why am I to be killed, with the troops of ʿIjl all round me?" — which is what the scene needs. Read it off a page image before it is spoken. ⚠ No honorific for either man. No page we hold states the Companionship of ʿAbdullāh b. Ḥadhf or</a:t>
            </a:r>
          </a:p>
          <a:p>
            <a:r>
              <a:t>of Abjar b. Bujayr. Say both names plain.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Abjar b. Bujayr, to his sister's son</a:t>
            </a:r>
          </a:p>
          <a:p/>
          <a:p>
            <a:r>
              <a:t>LESSON — This war ran straight through families. The man who let him go knew exactly who he was, said so out loud, and let him go because he was his sister's son.</a:t>
            </a:r>
          </a:p>
          <a:p/>
          <a:p>
            <a:r>
              <a:t>──────── DETAIL — only if you need it ────────</a:t>
            </a:r>
          </a:p>
          <a:p/>
          <a:p>
            <a:r>
              <a:t>وَاللَّهِ إِنِّي لَأَظُنُّكَ بِئْسَ ابْنُ أُخْتٍ أَتَيْتَ اللَّيْلَةَ أَخْوَالَكَ</a:t>
            </a:r>
          </a:p>
          <a:p>
            <a:r>
              <a:t>"By Allāh, I think you a poor sort of sister's-son, coming to your uncles tonight."</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use Ibn Khaldūn on who killed him.</a:t>
            </a:r>
          </a:p>
          <a:p/>
          <a:p>
            <a:r>
              <a:t>SAY</a:t>
            </a:r>
          </a:p>
          <a:p/>
          <a:p>
            <a:r>
              <a:t>▶ CLICK 1 — The Muslims go out at them, over the trench.</a:t>
            </a:r>
          </a:p>
          <a:p/>
          <a:p>
            <a:r>
              <a:t>1. The Muslims go in</a:t>
            </a:r>
          </a:p>
          <a:p/>
          <a:p>
            <a:r>
              <a:t>2. al-Ḥuṭam wakes in confusion</a:t>
            </a:r>
          </a:p>
          <a:p/>
          <a:p>
            <a:r>
              <a:t>3. A man in the dark</a:t>
            </a:r>
          </a:p>
          <a:p/>
          <a:p>
            <a:r>
              <a:t>4. "Finish me"</a:t>
            </a:r>
          </a:p>
          <a:p/>
          <a:p>
            <a:r>
              <a:t>▶ CLICK 2 — al-Ḥuṭam is killed. The camp is taken.</a:t>
            </a:r>
          </a:p>
          <a:p/>
          <a:p>
            <a:r>
              <a:t>5. Qays b. ʿĀṣim does</a:t>
            </a:r>
          </a:p>
          <a:p/>
          <a:p>
            <a:r>
              <a:t>6. "What a shameful thing"</a:t>
            </a:r>
          </a:p>
          <a:p/>
          <a:p>
            <a:r>
              <a:t>7. The man they had made king</a:t>
            </a:r>
          </a:p>
          <a:p/>
          <a:p>
            <a:r>
              <a:t>8. Do not use Ibn Khaldūn here</a:t>
            </a:r>
          </a:p>
          <a:p/>
          <a:p>
            <a:r>
              <a:t>▶ NEXT SLIDE — the Arabic, and its lesson</a:t>
            </a:r>
          </a:p>
          <a:p/>
          <a:p>
            <a:r>
              <a:t>──────── DETAIL — only if you need it ────────</a:t>
            </a:r>
          </a:p>
          <a:p/>
          <a:p>
            <a:r>
              <a:t>1. The Muslims go in — al-ʿAlāʾ ؓ mounts at once, and they fall on the camp.</a:t>
            </a:r>
          </a:p>
          <a:p>
            <a:r>
              <a:t>2. al-Ḥuṭam wakes in confusion — He mounts; his stirrup-leather parts; he calls out for someone to set his foot.</a:t>
            </a:r>
          </a:p>
          <a:p>
            <a:r>
              <a:t>3. A man in the dark — "I will; lift your foot" — and strikes it off. Ibn al-Athīr names him: ʿAfīf b. al-Mundhir.</a:t>
            </a:r>
          </a:p>
          <a:p>
            <a:r>
              <a:t>4. "Finish me" — He asks every man who passes; each one refuses.</a:t>
            </a:r>
          </a:p>
          <a:p>
            <a:r>
              <a:t>5. Qays b. ʿĀṣim does — The same Qays who joined the column on the road.</a:t>
            </a:r>
          </a:p>
          <a:p>
            <a:r>
              <a:t>6. "What a shameful thing" — Then he sees the leg: "had I known his condition, I would not have touched him."</a:t>
            </a:r>
          </a:p>
          <a:p>
            <a:r>
              <a:t>7. The man they had made king — ʿAfīf b. al-Mundhir takes him in the pursuit, that same night, and he accepts Islam. Ibn al-Athīr tells it here — before Dārīn.</a:t>
            </a:r>
          </a:p>
          <a:p>
            <a:r>
              <a:t>8. Do not use Ibn Khaldūn here — He gives three different killers on his own pages.</a:t>
            </a:r>
          </a:p>
          <a:p/>
          <a:p>
            <a:r>
              <a:t>واسوأتاه، لو أعلمُ ما به لم أحرِّكْهُ</a:t>
            </a:r>
          </a:p>
          <a:p>
            <a:r>
              <a:t>"What a shameful thing — had I known his condition, I would not have touched him."</a:t>
            </a:r>
          </a:p>
          <a:p>
            <a:r>
              <a:t>— Qays b. ʿĀṣim, standing over al-Ḥuṭam · البدایہ والنہایہ ج۷ ص۳۹</a:t>
            </a:r>
          </a:p>
          <a:p/>
          <a:p>
            <a:r>
              <a:t>──────── BACKGROUND — for home, not for the lectern ────────</a:t>
            </a:r>
          </a:p>
          <a:p/>
          <a:p>
            <a:r>
              <a:t>The stirrup, the foot, and the long wait — البدایہ ج7 ص39, whole: &gt; فركبَ جوادَهُ فانقطع ركابُه فجعلَ يقولُ: منْ يُصْلح لي ركابي؟ فجاءَ رجلٌ من المسلمين في الليل فقال: أنا أصلحُها لك، ارفع رجلك، فلما رفعها ضربه بالسيف فقطعها مع قدمه</a:t>
            </a:r>
          </a:p>
          <a:p>
            <a:r>
              <a:t>&gt; — البدایہ والنہایہ ج7 ص39 · https://shamela.ws/book/30097/3185</a:t>
            </a:r>
          </a:p>
          <a:p>
            <a:r>
              <a:t>&gt; English: "So he mounted his horse, and his stirrup-leather parted, and he began saying: who will set my stirrup right for me? A man of the Muslims came in the night and said: I will set it right for you — lift your foot. And when he lifted it he struck it with the sword and cut it off, with his foot."</a:t>
            </a:r>
          </a:p>
          <a:p>
            <a:r>
              <a:t>&gt; فوقعَ صريعًا كلما مرَّ به أحدٌ يسأله أن يقتلَه فيأبى، حتى مرَّ به قيسُ بن عاصم فقال له: أنا الحطم فاقتلني فقتله</a:t>
            </a:r>
          </a:p>
          <a:p>
            <a:r>
              <a:t>&gt; — البدایہ والنہایہ ج7 ص39 · https://shamela.ws/book/30097/3185</a:t>
            </a:r>
          </a:p>
          <a:p>
            <a:r>
              <a:t>&gt; English: "So he fell stricken; and every time anyone passed him he would ask him to kill him, and the man would refuse — until Qays b. ʿĀṣim passed him, and he said to him: I am al-Ḥuṭam, kill me. So he killed him."</a:t>
            </a:r>
          </a:p>
          <a:p>
            <a:r>
              <a:t>الکامل names the man who cut the leg, and settles the sequence — the cut first, then the killing: &gt; فَأَمَّا أَبْجَرُ فَأَفْلَتَ، وَأَمَّا الْحُطَمُ فَقُتِلَ، قَتَلَهُ قَيْسُ بْنُ عَاصِمٍ بَعْدَ أَنْ قَطَعَ عَفِيفُ بْنُ الْمُنْذِرِ التَّيْمِيُّ رِجْلَهُ</a:t>
            </a:r>
          </a:p>
          <a:p>
            <a:r>
              <a:t>&gt; — الکامل فی التاریخ ج2 ص224 · https://shamela.ws/book/21712/915</a:t>
            </a:r>
          </a:p>
          <a:p>
            <a:r>
              <a:t>&gt; English: "As for Abjar, he escaped; and as for al-Ḥuṭam, he was killed — Qays b. ʿĀṣim killed him, after ʿAfīf b. al-Mundhir al-Taymī had cut off his leg."</a:t>
            </a:r>
          </a:p>
          <a:p>
            <a:r>
              <a:t>Who Qays b. ʿĀṣim is, in one line from the page — he is already named in , and this is</a:t>
            </a:r>
          </a:p>
          <a:p>
            <a:r>
              <a:t>the line to use for him, because it is the one thing the books say he did: &gt; وَلَحِقَ بِهِ أَيْضًا قَيْسُ بْنُ عَاصِمٍ الْمِنْقَرِيُّ، وَأَعْطَاهُ بَدَلَ مَا كَانَ قُسِمَ مِنَ الصَّدَقَةِ بَعْدَ مَوْتِ النَّبِيِّ - صَلَّى اللَّهُ عَلَيْهِ وَسَلَّمَ -</a:t>
            </a:r>
          </a:p>
          <a:p>
            <a:r>
              <a:t>&gt; — الکامل فی التاریخ ج2 ص222 · https://shamela.ws/book/21712/913</a:t>
            </a:r>
          </a:p>
          <a:p>
            <a:r>
              <a:t>&gt; English: "And Qays b. ʿĀṣim al-Minqarī also caught up with him, and gave him the replacement for what had been divided of the ṣadaqa after the death of the Prophet صلى الله عليه وسلم."</a:t>
            </a:r>
          </a:p>
          <a:p>
            <a:r>
              <a:t>⚠ No honorific for Qays b. ʿĀṣim, and none for ʿAfīf b. al-Mundhir. No page we hold states the</a:t>
            </a:r>
          </a:p>
          <a:p>
            <a:r>
              <a:t>Companionship of either man, and 's rule is the rule. This is a gap worth closing — Qays b.</a:t>
            </a:r>
          </a:p>
          <a:p>
            <a:r>
              <a:t>ʿĀṣim al-Minqarī may well be a Companion in the biographical literature; until a page we hold says so</a:t>
            </a:r>
          </a:p>
          <a:p>
            <a:r>
              <a:t>he is named plain. To verify. ⚠⚠ DO NOT USE ابن خلدون FOR THIS DEATH. It is the clearest worked example in the whole pool of why</a:t>
            </a:r>
          </a:p>
          <a:p>
            <a:r>
              <a:t>; and Jābir b. Buḥayr caught him and struck him and cut his tendon, and he died."</a:t>
            </a:r>
          </a:p>
          <a:p>
            <a:r>
              <a:t>and one page later, inside al-ʿAlāʾ's ؓ own despatch to Abū Bakr ؓ, on ج2 ص506: &gt; وكتب العلاء إلى أبي بكر بهزيمة أهل الخندق وقتل الخطم قتله زيد وسميفع</a:t>
            </a:r>
          </a:p>
          <a:p>
            <a:r>
              <a:t>&gt; — تاریخ ابن خلدون ج2 ص506 · https://shamela.ws/book/12320/1303</a:t>
            </a:r>
          </a:p>
          <a:p>
            <a:r>
              <a:t>&gt; English: "And al-ʿAlāʾ wrote to Abū Bakr with the rout of the people of the trench and the killing of al-Khuṭam — Zayd and Sumayfaʿ killed him."</a:t>
            </a:r>
          </a:p>
          <a:p>
            <a:r>
              <a:t>— and the editor's footnote to that very line records yet another copy reading «مسمع». Three</a:t>
            </a:r>
          </a:p>
          <a:p>
            <a:r>
              <a:t>readings, two pages, one book. He also mis-names the father, and then the man: ج2 ص504 has</a:t>
            </a:r>
          </a:p>
          <a:p>
            <a:r>
              <a:t>«الحطم بن ربيعة» where الکامل ج2 ص222 and البدایہ ج7 ص39 have الحُطَم بن ضُبَيعة, and ج2 ص506 spells</a:t>
            </a:r>
          </a:p>
          <a:p>
            <a:r>
              <a:t>the name «الخطم» against «الحطم» on his own previous page. &gt; ⚠ CORRECTION, and it changes a page citation. ), not ص504, and</a:t>
            </a:r>
          </a:p>
          <a:p>
            <a:r>
              <a:t>&gt; «قتله زيد وسميفع» is on ج2 ص506 (index 1303). ص504 (index 1301) carries only the rising and the</a:t>
            </a:r>
          </a:p>
          <a:p>
            <a:r>
              <a:t>&gt; father's name «بن ربيعة». The pages cited on this card are the checked ones. ⚠ البدایہ does not name the man who cut the foot — only «رجلٌ من المسلمين», a man of the Muslims.</a:t>
            </a:r>
          </a:p>
          <a:p>
            <a:r>
              <a:t>The name عفيف بن المنذر التيمي is الکامل's alone. Say it as الکامل's if asked. ⚠ Where this death sits in the running order. It ends the هَجَر fighting, so it is told before</a:t>
            </a:r>
          </a:p>
          <a:p>
            <a:r>
              <a:t>دارين and never after it: in the survivors take ship, and the man they had been following</a:t>
            </a:r>
          </a:p>
          <a:p>
            <a:r>
              <a:t>is already dead. The خميصة that was his belongs to the Thumāma ؓ card, which is later still — do not</a:t>
            </a:r>
          </a:p>
          <a:p>
            <a:r>
              <a:t>reach forward to it 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Qays b. ʿĀṣim, standing over al-Ḥuṭam</a:t>
            </a:r>
          </a:p>
          <a:p/>
          <a:p>
            <a:r>
              <a:t>LESSON — He asked every man who passed to kill him and they refused; the one who finally did it was sorry the moment he saw the state he was already in. The book kept the regret, not the kill.</a:t>
            </a:r>
          </a:p>
          <a:p/>
          <a:p>
            <a:r>
              <a:t>──────── DETAIL — only if you need it ────────</a:t>
            </a:r>
          </a:p>
          <a:p/>
          <a:p>
            <a:r>
              <a:t>واسوأتاه، لو أعلمُ ما به لم أحرِّكْهُ</a:t>
            </a:r>
          </a:p>
          <a:p>
            <a:r>
              <a:t>"What a shameful thing — had I known his condition, I would not have touched him."</a:t>
            </a:r>
          </a:p>
          <a:p>
            <a:r>
              <a:t>— البدایہ والنہایہ ج۷ ص۳۹</a:t>
            </a:r>
          </a:p>
          <a:p/>
          <a:p>
            <a:r>
              <a:t>──────── IMAGE BRIEF — paste into the image generator ────────</a:t>
            </a:r>
          </a:p>
          <a:p/>
          <a:p>
            <a:r>
              <a:t>OPTIONAL — a background image, if you want one:</a:t>
            </a:r>
          </a:p>
          <a:p>
            <a:r>
              <a:t>A saddled Arabian horse standing alone at night in a camp, head turned, with one stirrup-leather broken and hanging loose from the saddle. A low tent edge and a dying fire behind it.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says “on every road” — name no place for either man.</a:t>
            </a:r>
          </a:p>
          <a:p/>
          <a:p>
            <a:r>
              <a:t>SAY</a:t>
            </a:r>
          </a:p>
          <a:p/>
          <a:p>
            <a:r>
              <a:t>1. Dārīn had never come to Hajar</a:t>
            </a:r>
          </a:p>
          <a:p/>
          <a:p>
            <a:r>
              <a:t>▶ CLICK 1 — The bulk of the beaten take ship for Dārīn. The rest go home.</a:t>
            </a:r>
          </a:p>
          <a:p/>
          <a:p>
            <a:r>
              <a:t>2. The beaten take ship</a:t>
            </a:r>
          </a:p>
          <a:p/>
          <a:p>
            <a:r>
              <a:t>▶ CLICK 2 — al-ʿAlāʾ ؓ writes to the Muslims of Bakr b. Wāʾil: sit in wait on every road.</a:t>
            </a:r>
          </a:p>
          <a:p/>
          <a:p>
            <a:r>
              <a:t>3. He closes the land first</a:t>
            </a:r>
          </a:p>
          <a:p/>
          <a:p>
            <a:r>
              <a:t>4. ʿUtayba b. al-Nahhās, al-Muthannā b. Ḥāritha</a:t>
            </a:r>
          </a:p>
          <a:p/>
          <a:p>
            <a:r>
              <a:t>5. They did it, and sent word</a:t>
            </a:r>
          </a:p>
          <a:p/>
          <a:p>
            <a:r>
              <a:t>▶ NEXT SLIDE — the Arabic, and its lesson</a:t>
            </a:r>
          </a:p>
          <a:p/>
          <a:p>
            <a:r>
              <a:t>──────── DETAIL — only if you need it ────────</a:t>
            </a:r>
          </a:p>
          <a:p/>
          <a:p>
            <a:r>
              <a:t>1. Dārīn had never come to Hajar — Every one of them gathered to al-Ḥuṭam except the people of Dārīn.</a:t>
            </a:r>
          </a:p>
          <a:p>
            <a:r>
              <a:t>2. The beaten take ship — Most of the routed go by sea to Dārīn; the rest go home to their own country.</a:t>
            </a:r>
          </a:p>
          <a:p>
            <a:r>
              <a:t>3. He closes the land first — al-ʿAlāʾ ؓ writes to the Muslims of Bakr b. Wāʾil: sit in wait on every road.</a:t>
            </a:r>
          </a:p>
          <a:p>
            <a:r>
              <a:t>4. ʿUtayba b. al-Nahhās, al-Muthannā b. Ḥāritha — The two he names. al-Muthannā is a name the Iraq evenings will need.</a:t>
            </a:r>
          </a:p>
          <a:p>
            <a:r>
              <a:t>5. They did it, and sent word — Only then does he turn to the sea.</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Ibn al-Athīr, on the letter al-ʿAlāʾ ؓ wrote · الکامل فی التاریخ ج۲ ص۲۲۴</a:t>
            </a:r>
          </a:p>
          <a:p/>
          <a:p>
            <a:r>
              <a:t>──────── BACKGROUND — for home, not for the lectern ────────</a:t>
            </a:r>
          </a:p>
          <a:p/>
          <a:p>
            <a:r>
              <a:t>⚠ No page says where each of them sat. The map places them on the roads inland; say "on every road", as</a:t>
            </a:r>
          </a:p>
          <a:p>
            <a:r>
              <a:t>the page does, and name no place for either man. ⚠ No honorific for either on the pages we hold.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letter al-ʿAlāʾ ؓ wrote</a:t>
            </a:r>
          </a:p>
          <a:p/>
          <a:p>
            <a:r>
              <a:t>LESSON — He closed the roads behind the enemy before he opened one in front of himself.</a:t>
            </a:r>
          </a:p>
          <a:p/>
          <a:p>
            <a:r>
              <a:t>▶ NEXT SLIDE — the same words go on (2 slides in all)</a:t>
            </a:r>
          </a:p>
          <a:p/>
          <a:p>
            <a:r>
              <a:t>──────── DETAIL — only if you need it ────────</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يَأْمُرُهُمْ بِالْقُعُودِ لِلْمُنْهَزِمِينَ وَالْمُرْتَدِّينَ بِكُلِّ طَرِيق</a:t>
            </a:r>
          </a:p>
          <a:p>
            <a:r>
              <a:t>ordering them to sit in wait for the routed and the apostates on every road.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same men who were at al-Dahnāʾ</a:t>
            </a:r>
          </a:p>
          <a:p/>
          <a:p>
            <a:r>
              <a:t>2. "His signs on land"</a:t>
            </a:r>
          </a:p>
          <a:p/>
          <a:p>
            <a:r>
              <a:t>   ↑ read the Arabic on the slide</a:t>
            </a:r>
          </a:p>
          <a:p/>
          <a:p>
            <a:r>
              <a:t>3. "Rise against your enemy"</a:t>
            </a:r>
          </a:p>
          <a:p/>
          <a:p>
            <a:r>
              <a:t>LESSON — What they had seen in the desert was the reason he gave them for the sea.</a:t>
            </a:r>
          </a:p>
          <a:p/>
          <a:p>
            <a:r>
              <a:t>▶ NEXT SLIDE — the same words go on (2 slides in all)</a:t>
            </a:r>
          </a:p>
          <a:p/>
          <a:p>
            <a:r>
              <a:t>──────── DETAIL — only if you need it ────────</a:t>
            </a:r>
          </a:p>
          <a:p/>
          <a:p>
            <a:r>
              <a:t>1. The same men who were at al-Dahnāʾ — He is speaking to the army that lost its camels and found the water.</a:t>
            </a:r>
          </a:p>
          <a:p>
            <a:r>
              <a:t>2. "His signs on land" — "Allah has shown you His signs on land, so that you may take heed by them at sea."</a:t>
            </a:r>
          </a:p>
          <a:p>
            <a:r>
              <a:t>3. "Rise against your enemy" — "…and take the sea in your stride."</a:t>
            </a:r>
          </a:p>
          <a:p/>
          <a:p>
            <a:r>
              <a:t>قَدْ أَرَاكُمُ اللَّهُ مِنْ آيَاتِهِ فِي الْبَرِّ لِتَعْتَبِرُوا بِهَا فِي الْبَحْرِ، فَانْهَضُوا إِلَى عَدُوِّكُمْ وَاسْتَعْرِضُوا الْبَحْر</a:t>
            </a:r>
          </a:p>
          <a:p>
            <a:r>
              <a:t>"Allah has shown you His signs on land so that you may take heed by them at sea. So rise against your enemy, and take the sea in your stride."</a:t>
            </a:r>
          </a:p>
          <a:p>
            <a:r>
              <a:t>— al-ʿAlāʾ b. al-Ḥaḍramī ؓ, to the army at the shore ·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فَانْهَضُوا إِلَى عَدُوِّكُمْ وَاسْتَعْرِضُوا الْبَحْر</a:t>
            </a:r>
          </a:p>
          <a:p>
            <a:r>
              <a:t>So rise against your enemy, and take the sea in your stride.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Read the duʿāʾ slowly. It is the whole slide.</a:t>
            </a:r>
          </a:p>
          <a:p/>
          <a:p>
            <a:r>
              <a:t>SAY</a:t>
            </a:r>
          </a:p>
          <a:p/>
          <a:p>
            <a:r>
              <a:t>1. The shore, and no time for ships</a:t>
            </a:r>
          </a:p>
          <a:p/>
          <a:p>
            <a:r>
              <a:t>2. He rides in first</a:t>
            </a:r>
          </a:p>
          <a:p/>
          <a:p>
            <a:r>
              <a:t>3. Read the duʿāʾ</a:t>
            </a:r>
          </a:p>
          <a:p/>
          <a:p>
            <a:r>
              <a:t>   ↑ read the Arabic on the slide</a:t>
            </a:r>
          </a:p>
          <a:p/>
          <a:p>
            <a:r>
              <a:t>4. He orders the army to say it</a:t>
            </a:r>
          </a:p>
          <a:p/>
          <a:p>
            <a:r>
              <a:t>LESSON — He asked first, and he went in first.</a:t>
            </a:r>
          </a:p>
          <a:p/>
          <a:p>
            <a:r>
              <a:t>▶ NEXT SLIDE — the same words go on (2 slides in all)</a:t>
            </a:r>
          </a:p>
          <a:p/>
          <a:p>
            <a:r>
              <a:t>──────── DETAIL — only if you need it ────────</a:t>
            </a:r>
          </a:p>
          <a:p/>
          <a:p>
            <a:r>
              <a:t>1. The shore, and no time for ships — By ship the crossing is a day and a night; the enemy would be gone.</a:t>
            </a:r>
          </a:p>
          <a:p>
            <a:r>
              <a:t>2. He rides in first — On his horse, saying the duʿāʾ aloud.</a:t>
            </a:r>
          </a:p>
          <a:p>
            <a:r>
              <a:t>3. Read the duʿāʾ — Slowly; it is the whole of the slide.</a:t>
            </a:r>
          </a:p>
          <a:p>
            <a:r>
              <a:t>4. He orders the army to say it — And to ride in after him; and they did.</a:t>
            </a:r>
          </a:p>
          <a:p/>
          <a:p>
            <a:r>
              <a:t>يا أرحمَ الراحمين، يا حكيمُ يا كريمُ، يا أحدُ يا صمدُ، يا حيُّ يا مُحيي، يا قيّومُ، يا ذا الجلال والإكرام، لا إله إلا أنت يا ربَّنا</a:t>
            </a:r>
          </a:p>
          <a:p>
            <a:r>
              <a:t>"O Most Merciful of the merciful; O Wise, O Generous; O One, O Eternal; O Living, O Giver of life; O Sustainer; O Lord of majesty and honour — there is no god but You, our Lord."</a:t>
            </a:r>
          </a:p>
          <a:p>
            <a:r>
              <a:t>— al-ʿAlāʾ b. al-Ḥaḍramī ؓ, riding into the sea · البدایہ والنہایہ ج۷ ص۴۰</a:t>
            </a:r>
          </a:p>
          <a:p/>
          <a:p>
            <a:r>
              <a:t>──────── BACKGROUND — for home, not for the lectern ────────</a:t>
            </a:r>
          </a:p>
          <a:p/>
          <a:p>
            <a:r>
              <a:t>What they walked on, as the book describes it:</a:t>
            </a:r>
          </a:p>
          <a:p>
            <a:r>
              <a:t>&gt; يمشون على مثل رملةٍ دمثةٍ فوقها ماء لا يغمر أخفاف الإبل، ولا يصلُ إلى ركبِ الخيل</a:t>
            </a:r>
          </a:p>
          <a:p>
            <a:r>
              <a:t>&gt; — البدایہ والنہایہ ج7 ص40 · https://shamela.ws/book/30097/3186</a:t>
            </a:r>
          </a:p>
          <a:p>
            <a:r>
              <a:t>&gt; English: "…walking on something like soft sand with water over it — not covering the camels' pads, nor</a:t>
            </a:r>
          </a:p>
          <a:p>
            <a:r>
              <a:t>&gt; reaching the horses' knees." ⚠ Eyeball the duʿāʾ against the page image before it is projected (CLAUDE.md ). ⚠ Narrated as the</a:t>
            </a:r>
          </a:p>
          <a:p>
            <a:r>
              <a:t>book narrates it; no ruling is built on it.</a:t>
            </a:r>
          </a:p>
          <a:p/>
          <a:p>
            <a:r>
              <a:t>──────── IMAGE BRIEF — paste into the image generator ────────</a:t>
            </a:r>
          </a:p>
          <a:p/>
          <a:p>
            <a:r>
              <a:t>A shallow, calm sea at dawn seen from a low sandy shore; the water is glassy and only ankle-deep far out, with a flat low island on the horizon. Hoof-prints lead from the sand into the water.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يا قيّومُ، يا ذا الجلال والإكرام</a:t>
            </a:r>
          </a:p>
          <a:p>
            <a:r>
              <a:t>O Sustainer; O Lord of majesty and honour</a:t>
            </a:r>
          </a:p>
          <a:p>
            <a:r>
              <a:t>لا إله إلا أنت يا ربَّنا</a:t>
            </a:r>
          </a:p>
          <a:p>
            <a:r>
              <a:t>there is no god but You, our Lord.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strait, forded — not a sea that parted. Say what the page says.</a:t>
            </a:r>
          </a:p>
          <a:p/>
          <a:p>
            <a:r>
              <a:t>⚠ The island is drawn large, and off the shore. A diagram.</a:t>
            </a:r>
          </a:p>
          <a:p/>
          <a:p>
            <a:r>
              <a:t>SAY</a:t>
            </a:r>
          </a:p>
          <a:p/>
          <a:p>
            <a:r>
              <a:t>▶ CLICK 1 — al-ʿAlāʾ ؓ comes down to the shore.</a:t>
            </a:r>
          </a:p>
          <a:p/>
          <a:p>
            <a:r>
              <a:t>1. al-ʿAlāʾ ؓ comes down to the shore</a:t>
            </a:r>
          </a:p>
          <a:p/>
          <a:p>
            <a:r>
              <a:t>▶ CLICK 2 — Into the water, on horseback — he fords the strait.</a:t>
            </a:r>
          </a:p>
          <a:p/>
          <a:p>
            <a:r>
              <a:t>2. Into the water, on horseback</a:t>
            </a:r>
          </a:p>
          <a:p/>
          <a:p>
            <a:r>
              <a:t>3. "Like soft sand with water over it"</a:t>
            </a:r>
          </a:p>
          <a:p/>
          <a:p>
            <a:r>
              <a:t>▶ CLICK 3 — Dārīn falls. He is back the same day.</a:t>
            </a:r>
          </a:p>
          <a:p/>
          <a:p>
            <a:r>
              <a:t>4. Dārīn falls</a:t>
            </a:r>
          </a:p>
          <a:p/>
          <a:p>
            <a:r>
              <a:t>5. Nothing lost in the sea</a:t>
            </a:r>
          </a:p>
          <a:p/>
          <a:p>
            <a:r>
              <a:t>6. "Islam settled there"</a:t>
            </a:r>
          </a:p>
          <a:p/>
          <a:p>
            <a:r>
              <a:t>▶ NEXT SLIDE — the Arabic, and its lesson</a:t>
            </a:r>
          </a:p>
          <a:p/>
          <a:p>
            <a:r>
              <a:t>──────── DETAIL — only if you need it ────────</a:t>
            </a:r>
          </a:p>
          <a:p/>
          <a:p>
            <a:r>
              <a:t>1. al-ʿAlāʾ ؓ comes down to the shore — With the whole army.</a:t>
            </a:r>
          </a:p>
          <a:p>
            <a:r>
              <a:t>2. Into the water, on horseback — He fords the strait, by Allah's leave.</a:t>
            </a:r>
          </a:p>
          <a:p>
            <a:r>
              <a:t>3. "Like soft sand with water over it" — Ibn Kathīr: not covering the camels' pads, nor reaching the horses' knees. Ibn al-Athīr: covering the pads. Give no depth. By ship: a day and a night.</a:t>
            </a:r>
          </a:p>
          <a:p>
            <a:r>
              <a:t>4. Dārīn falls — He fights them and overcomes them, and is back the same day.</a:t>
            </a:r>
          </a:p>
          <a:p>
            <a:r>
              <a:t>5. Nothing lost in the sea — But one man's nosebag — and al-ʿAlāʾ ؓ went back and brought it.</a:t>
            </a:r>
          </a:p>
          <a:p>
            <a:r>
              <a:t>6. "Islam settled there" — The sentence the chapter closes on.</a:t>
            </a:r>
          </a:p>
          <a:p/>
          <a:p>
            <a:r>
              <a:t>وَضَرَبَ الْإِسْلَامُ فِيهَا بِجِرَانِهِ.</a:t>
            </a:r>
          </a:p>
          <a:p>
            <a:r>
              <a:t>"And Islam settled its neck to the ground there."</a:t>
            </a:r>
          </a:p>
          <a:p>
            <a:r>
              <a:t>— Ibn al-Athīr, closing the chapter · الکامل فی التاریخ ج۲ ص۲۲۴</a:t>
            </a:r>
          </a:p>
          <a:p/>
          <a:p>
            <a:r>
              <a:t>──────── BACKGROUND — for home, not for the lectern ────────</a:t>
            </a:r>
          </a:p>
          <a:p/>
          <a:p>
            <a:r>
              <a:t>The two books do not give the water the same depth (⁨الکامل⁩ has it covering the camels' pads; ) — ⁨البدایہ⁩'s words: «يمشون على مثل رملةٍ دمثةٍ فوقها ماء لا يغمر أخفاف</a:t>
            </a:r>
          </a:p>
          <a:p>
            <a:r>
              <a:t>الإبل» (البدایہ ج7 ص40), out and back in a single day, with nothing lost in the water except one</a:t>
            </a:r>
          </a:p>
          <a:p>
            <a:r>
              <a:t>man's horse-fodder, which al-ʿAlāʾ ؓ went back and brought him. البدایہ ج7 ص40 prints the duʿāʾ they</a:t>
            </a:r>
          </a:p>
          <a:p>
            <a:r>
              <a:t>said going in. And afterwards: «وَضَرَبَ الْإِسْلَامُ فِيهَا بِجِرَانِهِ» (الکامل ج2 ص224).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closing the chapter</a:t>
            </a:r>
          </a:p>
          <a:p/>
          <a:p>
            <a:r>
              <a:t>LESSON — He closed the roads behind the enemy before he opened one in front of himself.</a:t>
            </a:r>
          </a:p>
          <a:p/>
          <a:p>
            <a:r>
              <a:t>──────── DETAIL — only if you need it ────────</a:t>
            </a:r>
          </a:p>
          <a:p/>
          <a:p>
            <a:r>
              <a:t>وَضَرَبَ الْإِسْلَامُ فِيهَا بِجِرَانِهِ.</a:t>
            </a:r>
          </a:p>
          <a:p>
            <a:r>
              <a:t>"And Islam settled its neck to the ground there."</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monk of Hajar, with the army</a:t>
            </a:r>
          </a:p>
          <a:p/>
          <a:p>
            <a:r>
              <a:t>2. He became a Muslim, and was asked why</a:t>
            </a:r>
          </a:p>
          <a:p/>
          <a:p>
            <a:r>
              <a:t>3. "Three things"</a:t>
            </a:r>
          </a:p>
          <a:p/>
          <a:p>
            <a:r>
              <a:t>   ↑ read the Arabic on the slide</a:t>
            </a:r>
          </a:p>
          <a:p/>
          <a:p>
            <a:r>
              <a:t>4. Water in the sands; the sea laid flat</a:t>
            </a:r>
          </a:p>
          <a:p/>
          <a:p>
            <a:r>
              <a:t>5. He could repeat the duʿāʾ</a:t>
            </a:r>
          </a:p>
          <a:p/>
          <a:p>
            <a:r>
              <a:t>6. "Men are not helped like that…"</a:t>
            </a:r>
          </a:p>
          <a:p/>
          <a:p>
            <a:r>
              <a:t>7. How it reached us</a:t>
            </a:r>
          </a:p>
          <a:p/>
          <a:p>
            <a:r>
              <a:t>LESSON — The strongest witness for what happened on this front is the one man in it who had no reason to take their side.</a:t>
            </a:r>
          </a:p>
          <a:p/>
          <a:p>
            <a:r>
              <a:t>ASK — Before beat 3: "Hands up — who has been wondering, while I have been telling all this, how anybody knows that it happened?"</a:t>
            </a:r>
          </a:p>
          <a:p/>
          <a:p>
            <a:r>
              <a:t>──────── DETAIL — only if you need it ────────</a:t>
            </a:r>
          </a:p>
          <a:p/>
          <a:p>
            <a:r>
              <a:t>1. A monk of Hajar, with the army — He was with the Muslims through all of it.</a:t>
            </a:r>
          </a:p>
          <a:p>
            <a:r>
              <a:t>2. He became a Muslim, and was asked why — A man explaining himself afterwards.</a:t>
            </a:r>
          </a:p>
          <a:p>
            <a:r>
              <a:t>3. "Three things" — He feared what Allah would do to him had he seen them and not believed.</a:t>
            </a:r>
          </a:p>
          <a:p>
            <a:r>
              <a:t>4. Water in the sands; the sea laid flat — And a duʿāʾ he heard in the camp before dawn.</a:t>
            </a:r>
          </a:p>
          <a:p>
            <a:r>
              <a:t>5. He could repeat the duʿāʾ — The book prints the words he says he heard.</a:t>
            </a:r>
          </a:p>
          <a:p>
            <a:r>
              <a:t>6. "Men are not helped like that…" — "…unless they are on the truth."</a:t>
            </a:r>
          </a:p>
          <a:p>
            <a:r>
              <a:t>7. How it reached us — The Companions used to hear it from him afterwards.</a:t>
            </a:r>
          </a:p>
          <a:p/>
          <a:p>
            <a:r>
              <a:t>ثَلَاثَةُ أَشْيَاءَ خَشِيتُ أَنْ يَمْسَخَنِي اللَّهُ بَعْدَهَا: فَيْضٌ فِي الرِّمَالِ، وَتَمْهِيدُ أَثْبَاجِ الْبَحْرِ، وَدُعَاءٌ سَمِعْتُهُ فِي عَسْكَرِهِمْ فِي الْهَوَاءِ سَحَرًا</a:t>
            </a:r>
          </a:p>
          <a:p>
            <a:r>
              <a:t>"Three things, after which I feared Allah would transform me: water welling up in the sands, the levelling of the sea's swells, and a supplication I heard in their camp, in the air, before dawn."</a:t>
            </a:r>
          </a:p>
          <a:p>
            <a:r>
              <a:t>— A monk of Hajar, asked why he became a Muslim · الکامل فی التاریخ ج۲ ص۲۲۴</a:t>
            </a:r>
          </a:p>
          <a:p/>
          <a:p>
            <a:r>
              <a:t>──────── BACKGROUND — for home, not for the lectern ────────</a:t>
            </a:r>
          </a:p>
          <a:p/>
          <a:p>
            <a:r>
              <a:t>How the question was put to him, in the words that open the report:</a:t>
            </a:r>
          </a:p>
          <a:p>
            <a:r>
              <a:t>&gt; وَكَانَ مَعَ الْمُسْلِمِينَ رَاهِبٌ مِنْ أَهْلِ هَجَرَ، فَأَسْلَمَ، فَقِيلَ لَهُ: مَا حَمَلَكَ عَلَى الْإِسْلَامِ؟</a:t>
            </a:r>
          </a:p>
          <a:p>
            <a:r>
              <a:t>&gt; — الکامل فی التاریخ ج2 ص224 · https://shamela.ws/book/21712/915</a:t>
            </a:r>
          </a:p>
          <a:p>
            <a:r>
              <a:t>&gt; English: "And there was with the Muslims a monk of the people of Hajar, and he became a Muslim. It</a:t>
            </a:r>
          </a:p>
          <a:p>
            <a:r>
              <a:t>&gt; was said to him: what brought you to Islam?" How the account reached us — the line ⁨الکامل⁩ ends the chapter on:</a:t>
            </a:r>
          </a:p>
          <a:p>
            <a:r>
              <a:t>&gt; فَعَلِمْتُ أَنَّ الْقَوْمَ لَمْ يُعَانُوا بِالْمَلَائِكَةِ إِلَّا وَهُمْ عَلَى حَقٍّ، فَكَانَ أَصْحَابُ النَّبِيِّ - صَلَّى اللَّهُ عَلَيْهِ وَسَلَّمَ - يَسْمَعُونَ هَذَا مِنْهُ بَعْدُ.</a:t>
            </a:r>
          </a:p>
          <a:p>
            <a:r>
              <a:t>&gt; — الکامل فی التاریخ ج2 ص225 · https://shamela.ws/book/21712/916</a:t>
            </a:r>
          </a:p>
          <a:p>
            <a:r>
              <a:t>&gt; English: "So I knew that these people would not be helped by the angels unless they were upon the</a:t>
            </a:r>
          </a:p>
          <a:p>
            <a:r>
              <a:t>&gt; truth. And the Companions of the Prophet ﷺ used to hear this from him afterwards." What ⁨البدایہ⁩ has instead, and whose report it is:</a:t>
            </a:r>
          </a:p>
          <a:p>
            <a:r>
              <a:t>&gt; أنه كان مع المسلمين في هذه المواقف والمشاهد التي رَأوْها من أمر العلاءَ، وما أجرى الله على يديه من الكرامات، رجل من أهل هَجَر راهب فأسلم حينئذ</a:t>
            </a:r>
          </a:p>
          <a:p>
            <a:r>
              <a:t>&gt; — البدایہ والنہایہ ج7 ص40 · https://shamela.ws/book/30097/3186</a:t>
            </a:r>
          </a:p>
          <a:p>
            <a:r>
              <a:t>&gt; English: "...that there was with the Muslims, in these scenes and sights which they saw of al-ʿAlāʾ's</a:t>
            </a:r>
          </a:p>
          <a:p>
            <a:r>
              <a:t>&gt; affair and of what Allah brought about by his hands, a man of the people of Hajar, a monk, who became a</a:t>
            </a:r>
          </a:p>
          <a:p>
            <a:r>
              <a:t>&gt; Muslim then and there." Ibn Kathīr gives this on the authority of ⁨سيف بن عمر التميمي⁩, and says so on the page. His version is</a:t>
            </a:r>
          </a:p>
          <a:p>
            <a:r>
              <a:t>also shorter: his man gives one reason — that he feared being transformed, from the signs he had</a:t>
            </a:r>
          </a:p>
          <a:p>
            <a:r>
              <a:t>seen — and then the supplication he heard at ⁨سحر⁩. The three-item list is ⁨الکامل⁩'s form. If the card</a:t>
            </a:r>
          </a:p>
          <a:p>
            <a:r>
              <a:t>says "three", cite ⁨الکامل ج2 ص224⁩ for it, never ⁨البدایہ⁩. What the three refer to — the water in the sands is the night at ⁨الدَّهْناء⁩, where the camels bolted</a:t>
            </a:r>
          </a:p>
          <a:p>
            <a:r>
              <a:t>with everything on them and water was found beside the men by morning (⁨البدایہ ج7 ص39⁩; ⁨الکامل ج2 ص223⁩);</a:t>
            </a:r>
          </a:p>
          <a:p>
            <a:r>
              <a:t>the levelling of the sea is the ⁨دارين⁩ crossing of RC27. ⚠ The page lists the three without naming</a:t>
            </a:r>
          </a:p>
          <a:p>
            <a:r>
              <a:t>either episode. It is ⁨البدایہ ج7 ص40⁩ that places this man at them. Say it the way the pages do — he</a:t>
            </a:r>
          </a:p>
          <a:p>
            <a:r>
              <a:t>had been with them for all of it — and do not assert a one-to-one match the page does not make. ⚠ MONK IS ESTABLISHED. BISHOP IS NOT. Both pages say ⁨راهب⁩, a monk: the ⁨الکامل⁩ report opens with it</a:t>
            </a:r>
          </a:p>
          <a:p>
            <a:r>
              <a:t>(quoted above), and ⁨البدایہ ج7 ص40⁩ has «⁨رجل من أهل هَجَر راهب⁩». So the monk of Hajar is exactly what the</a:t>
            </a:r>
          </a:p>
          <a:p>
            <a:r>
              <a:t>books support, and it is a plain factual descriptor from the source, not a coined title (CLAUDE.md ).</a:t>
            </a:r>
          </a:p>
          <a:p>
            <a:r>
              <a:t>Do not upgrade him to a bishop, do not name him, and do not state what community he came from — no</a:t>
            </a:r>
          </a:p>
          <a:p>
            <a:r>
              <a:t>page we hold gives any of the three. ⚠ NO HONORIFIC. No page we hold states that he ever saw the Prophet ﷺ, so he gets no ؓ. He became a</a:t>
            </a:r>
          </a:p>
          <a:p>
            <a:r>
              <a:t>Muslim in 12ھ, after the Prophet ﷺ had died. If a slip asks whether he was a Companion: the books do not</a:t>
            </a:r>
          </a:p>
          <a:p>
            <a:r>
              <a:t>say, and neither do we. ⚠ THIS IS A ⁨كرامہ⁩-ADJACENT REPORT AND ⁨البدایہ⁩ FRAMES IT AS ONE — «⁨وما أجرى الله على يديه من⁩</a:t>
            </a:r>
          </a:p>
          <a:p>
            <a:r>
              <a:t>⁨الكرامات⁩» (البدایہ ج7 ص40). Narrate it as the book narrates it. Do not build a doctrinal point on it,</a:t>
            </a:r>
          </a:p>
          <a:p>
            <a:r>
              <a:t>do not defend it from the platform, and do not soften it either. If challenged: this is what the book</a:t>
            </a:r>
          </a:p>
          <a:p>
            <a:r>
              <a:t>records, with the name of the man it records it from, and we are reading a book. ⚠ Eyeball every Arabic line on this card against the page image before it reaches a slide</a:t>
            </a:r>
          </a:p>
          <a:p>
            <a:r>
              <a:t>(CLAUDE.md ). ⁨البدایہ⁩'s text here is lightly vocalised and ⁨الکامل⁩'s is fully vocalised, so the two</a:t>
            </a:r>
          </a:p>
          <a:p>
            <a:r>
              <a:t>will not look alike on screen even where they agree. ⚠ ADD TO , ⁨دارين⁩ or ⁨العلاء ؓ⁩ — and this is its best entry in the whole part: an</a:t>
            </a:r>
          </a:p>
          <a:p>
            <a:r>
              <a:t>eyewitness from outside the community, explaining himself, with the chain stated on the page. It is also</a:t>
            </a:r>
          </a:p>
          <a:p>
            <a:r>
              <a:t>the licence for the one source remark this evening is allowed — at the moment a</a:t>
            </a:r>
          </a:p>
          <a:p>
            <a:r>
              <a:t>listener asks "how do we know that?", inside the story. Not a methodology slot, and not a recurring one. ⚠ — the row this card answers. No new proper name walks on stage here: the man is unnamed, and</a:t>
            </a:r>
          </a:p>
          <a:p>
            <a:r>
              <a:t>al-ʿAlāʾ ؓ, ⁨هَجَر⁩, ⁨الدَّهْناء⁩ and ⁨دارين⁩ are all already on earlier cards of the same block. Answer the</a:t>
            </a:r>
          </a:p>
          <a:p>
            <a:r>
              <a:t>runsheet row "the monk of Hajar — no notice needed; the books do not name him".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Skip this slide if the room is heavy.</a:t>
            </a:r>
          </a:p>
          <a:p/>
          <a:p>
            <a:r>
              <a:t>SAY</a:t>
            </a:r>
          </a:p>
          <a:p/>
          <a:p>
            <a:r>
              <a:t>1. Thumāma b. Uthāl ؓ again</a:t>
            </a:r>
          </a:p>
          <a:p/>
          <a:p>
            <a:r>
              <a:t>2. He had joined al-ʿAlāʾ ؓ on the road</a:t>
            </a:r>
          </a:p>
          <a:p/>
          <a:p>
            <a:r>
              <a:t>3. A cloak from the spoils</a:t>
            </a:r>
          </a:p>
          <a:p/>
          <a:p>
            <a:r>
              <a:t>4. al-Ḥuṭam's tribe saw it on him</a:t>
            </a:r>
          </a:p>
          <a:p/>
          <a:p>
            <a:r>
              <a:t>5. "You killed al-Ḥuṭam"</a:t>
            </a:r>
          </a:p>
          <a:p/>
          <a:p>
            <a:r>
              <a:t>   ↑ read the Arabic on the slide</a:t>
            </a:r>
          </a:p>
          <a:p/>
          <a:p>
            <a:r>
              <a:t>6. Tell it plainly, and move on</a:t>
            </a:r>
          </a:p>
          <a:p/>
          <a:p>
            <a:r>
              <a:t>LESSON — He survived the war and was killed for a piece of cloth by men who had already surrendered.</a:t>
            </a:r>
          </a:p>
          <a:p/>
          <a:p>
            <a:r>
              <a:t>──────── DETAIL — only if you need it ────────</a:t>
            </a:r>
          </a:p>
          <a:p/>
          <a:p>
            <a:r>
              <a:t>1. Thumāma b. Uthāl ؓ again — The room met him on evening 4, of Banū Ḥanīfa itself.</a:t>
            </a:r>
          </a:p>
          <a:p>
            <a:r>
              <a:t>2. He had joined al-ʿAlāʾ ؓ on the road — With the Muslims of Banū Ḥanīfa.</a:t>
            </a:r>
          </a:p>
          <a:p>
            <a:r>
              <a:t>3. A cloak from the spoils — An embroidered one; it had been al-Ḥuṭam's.</a:t>
            </a:r>
          </a:p>
          <a:p>
            <a:r>
              <a:t>4. al-Ḥuṭam's tribe saw it on him — Banū Qays b. Thaʿlaba, on the road home from Dārīn.</a:t>
            </a:r>
          </a:p>
          <a:p>
            <a:r>
              <a:t>5. "You killed al-Ḥuṭam" — "I did not; I came by it out of the spoils." They fell on him and killed him.</a:t>
            </a:r>
          </a:p>
          <a:p>
            <a:r>
              <a:t>6. Tell it plainly, and move on — Two sentences; skip it if the room is heavy.</a:t>
            </a:r>
          </a:p>
          <a:p/>
          <a:p>
            <a:r>
              <a:t>فَقَالُوا لَهُ: أَنْتَ قَتَلْتَ الْحُطَمَ! فَقَالَ: لَمْ أَقْتُلْهُ، وَلَكِنِّي اشْتَرَيْتُهَا مِنَ الْمَغْنَمِ. فَوَثَبُوا عَلَيْهِ فَقَتَلُوهُ.</a:t>
            </a:r>
          </a:p>
          <a:p>
            <a:r>
              <a:t>"They said to him: You killed al-Ḥuṭam! He said: I did not kill him — I bought it from the spoils. So they fell on him and killed him."</a:t>
            </a:r>
          </a:p>
          <a:p>
            <a:r>
              <a:t>— Banū Qays b. Thaʿlaba, and Thumāma ؓ · الکامل فی التاریخ ج۲ ص۲۲۴</a:t>
            </a:r>
          </a:p>
          <a:p/>
          <a:p>
            <a:r>
              <a:t>──────── BACKGROUND — for home, not for the lectern ────────</a:t>
            </a:r>
          </a:p>
          <a:p/>
          <a:p>
            <a:r>
              <a:t>⚠ This is not in البدایہ. Cite الکامل ج2 ص224 (and ابن خلدون ج2 ص506)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a:t>
            </a:r>
          </a:p>
          <a:p/>
          <a:p>
            <a:r>
              <a:t>1. Bahrayn is told: Juwāthā, al-Dahnāʾ, the trench, the sea.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a:t>
            </a:r>
          </a:p>
          <a:p/>
          <a:p>
            <a:r>
              <a:t>1. One patch on this map is still grey: Ḥaḍramawt.</a:t>
            </a:r>
          </a:p>
          <a:p/>
          <a:p>
            <a:r>
              <a:t>⏱ Past 0:36 here — close here.</a:t>
            </a:r>
          </a:p>
          <a:p/>
          <a:p>
            <a:r>
              <a:t>CARRY ON — “One front is left. It began with a quarrel about camels.”</a:t>
            </a:r>
          </a:p>
          <a:p/>
          <a:p>
            <a:r>
              <a:t>──────── DETAIL — only if you need it ────────</a:t>
            </a:r>
          </a:p>
          <a:p/>
          <a:p>
            <a:r>
              <a:t>OUT OF TIME — this is your ending. Stay on this map, and say:</a:t>
            </a:r>
          </a:p>
          <a:p/>
          <a:p>
            <a:r>
              <a:t>“One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before any of it (10 AH).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One step back — and this is the only one tonight.</a:t>
            </a:r>
          </a:p>
          <a:p/>
          <a:p>
            <a:r>
              <a:t>2. Two years before the Prophet ﷺ died: the delegation of Kinda, at Medina.</a:t>
            </a:r>
          </a:p>
          <a:p/>
          <a:p>
            <a:r>
              <a:t>3. At its head, al-Ashʿath b. Qays. The last front is his.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p>
            <a:r>
              <a:t>──────── DETAIL — only if you need it ────────</a:t>
            </a:r>
          </a:p>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comes to Medina</a:t>
            </a:r>
          </a:p>
          <a:p/>
          <a:p>
            <a:r>
              <a:t>2. How they came in</a:t>
            </a:r>
          </a:p>
          <a:p/>
          <a:p>
            <a:r>
              <a:t>3. "What is this silk on your necks?"</a:t>
            </a:r>
          </a:p>
          <a:p/>
          <a:p>
            <a:r>
              <a:t>4. Then the claim of kinship</a:t>
            </a:r>
          </a:p>
          <a:p/>
          <a:p>
            <a:r>
              <a:t>5. The Prophet ﷺ smiled, and refused it</a:t>
            </a:r>
          </a:p>
          <a:p/>
          <a:p>
            <a:r>
              <a:t>   ↑ read the Arabic on the slide</a:t>
            </a:r>
          </a:p>
          <a:p/>
          <a:p>
            <a:r>
              <a:t>6. And al-Ashʿath closed it himself</a:t>
            </a:r>
          </a:p>
          <a:p/>
          <a:p>
            <a:r>
              <a:t>LESSON — They offered him a royal ancestry as a gift, and he declined it with a smile.</a:t>
            </a:r>
          </a:p>
          <a:p/>
          <a:p>
            <a:r>
              <a:t>──────── DETAIL — only if you need it ────────</a:t>
            </a:r>
          </a:p>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6. And al-Ashʿath closed it himself — Any man I hear say it again gets eighty lashes.</a:t>
            </a:r>
          </a:p>
          <a:p/>
          <a:p>
            <a:r>
              <a:t>لا، نحن بنو النَّضْر بن كنانة، لا نَقْفُو أمَّنا، ولا ننتفي من أبينا</a:t>
            </a:r>
          </a:p>
          <a:p>
            <a:r>
              <a:t>"No. We are the sons of al-Naḍr b. Kināna. We do not trace ourselves through our mother, and we do not disown our father."</a:t>
            </a:r>
          </a:p>
          <a:p>
            <a:r>
              <a:t>— The Prophet ﷺ, to the delegation of Kinda · البدایہ والنہایہ ج۵ ص۵۶</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Ḥaḍramawt: the last front (11→12 AH).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Who Ziyād b. Labīd ؓ is</a:t>
            </a:r>
          </a:p>
          <a:p/>
          <a:p>
            <a:r>
              <a:t>▶ CLICK 1 — The arrangement: ṣadaqa carried both ways.</a:t>
            </a:r>
          </a:p>
          <a:p/>
          <a:p>
            <a:r>
              <a:t>2. An arrangement from the Prophet's ﷺ lifetime</a:t>
            </a:r>
          </a:p>
          <a:p/>
          <a:p>
            <a:r>
              <a:t>3. Banū Walīʿa have no camels</a:t>
            </a:r>
          </a:p>
          <a:p/>
          <a:p>
            <a:r>
              <a:t>4. Ḥaḍramawt promises to look into it</a:t>
            </a:r>
          </a:p>
          <a:p/>
          <a:p>
            <a:r>
              <a:t>5. After the Prophet ﷺ died</a:t>
            </a:r>
          </a:p>
          <a:p/>
          <a:p>
            <a:r>
              <a:t>▶ CLICK 2 — 'Carry it yourselves' — and it was not carried.</a:t>
            </a:r>
          </a:p>
          <a:p/>
          <a:p>
            <a:r>
              <a:t>6. Ḥaḍramawt's answer</a:t>
            </a:r>
          </a:p>
          <a:p/>
          <a:p>
            <a:r>
              <a:t>7. Kinda turns on the governor</a:t>
            </a:r>
          </a:p>
          <a:p/>
          <a:p>
            <a:r>
              <a:t>8. Home with nothing settled</a:t>
            </a:r>
          </a:p>
          <a:p/>
          <a:p>
            <a:r>
              <a:t>9. Ziyād ؓ does nothing yet</a:t>
            </a:r>
          </a:p>
          <a:p/>
          <a:p>
            <a:r>
              <a:t>▶ NEXT SLIDE — the Arabic, and its lesson</a:t>
            </a:r>
          </a:p>
          <a:p/>
          <a:p>
            <a:r>
              <a:t>──────── DETAIL — only if you need it ────────</a:t>
            </a:r>
          </a:p>
          <a:p/>
          <a:p>
            <a:r>
              <a:t>1. Who Ziyād b. Labīd ؓ is — Of the Anṣār, of Banū Bayāḍa of the Khazraj; the Prophet's ﷺ own appointee over Ḥaḍramawt, and he held the post through the whole war.</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Banū Walīʿa, to the men of Ḥaḍramawt · الکامل فی التاریخ ج۲ ص۲۳۰</a:t>
            </a:r>
          </a:p>
          <a:p/>
          <a:p>
            <a:r>
              <a:t>──────── BACKGROUND — for home, not for the lectern ────────</a:t>
            </a:r>
          </a:p>
          <a:p/>
          <a:p>
            <a:r>
              <a:t>Ziyād b. Labīd ؓ, page-cited, for the one breath: of the Anṣār, of بنو بَيَاضة of the</a:t>
            </a:r>
          </a:p>
          <a:p>
            <a:r>
              <a:t>خزرج (البدایہ ج3 ص466 — see ); the Prophet's ﷺ appointee over حضرموت</a:t>
            </a:r>
          </a:p>
          <a:p>
            <a:r>
              <a:t>(البدایہ ج7 ص41); and he held that post through the whole ردة and ran the campaign there</a:t>
            </a:r>
          </a:p>
          <a:p>
            <a:r>
              <a:t>(الکامل ج2 ص229–232 — where ج2 ص229 spells him زياد بن أبي لبيد الأنصاري and the following pages</a:t>
            </a:r>
          </a:p>
          <a:p>
            <a:r>
              <a:t>زياد بن لبيد). The room last heard his name in one clause of on evening 3.</a:t>
            </a:r>
          </a:p>
          <a:p>
            <a:r>
              <a:t>Also on the page: &gt;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ج2 ص230 · https://shamela.ws/book/21712/921</a:t>
            </a:r>
          </a:p>
          <a:p>
            <a:r>
              <a:t>&gt; English: "Some of Banū Walīʿa of Kinda said to Ḥaḍramawt: We have no mounts — if you see fit, send</a:t>
            </a:r>
          </a:p>
          <a:p>
            <a:r>
              <a:t>&gt; it to us on mounts. They said: We shall look into it; if you have no mounts, we will do it." &gt;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ج2 ص230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 Ziyād's ؓ waiting: «وَأَمْسَكَ عَنْهُمْ زِيَادٌ انْتِظَارًا لِلْمُهَاجِرِ» (ج2 ص230). ⚠ الکامل only — the</a:t>
            </a:r>
          </a:p>
          <a:p>
            <a:r>
              <a:t>Ḥaḍramawt campaign is not in البدایہ. Follow with (the she-camel called Shadhra).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Banū Walīʿa, to the men of Ḥaḍramawt</a:t>
            </a:r>
          </a:p>
          <a:p/>
          <a:p>
            <a:r>
              <a:t>LESSON — A small promise made in the Prophet's ﷺ lifetime was tested the day after he died, and the province went to war over the answer.</a:t>
            </a:r>
          </a:p>
          <a:p/>
          <a:p>
            <a:r>
              <a:t>──────── DETAIL — only if you need it ────────</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young she-camel is branded</a:t>
            </a:r>
          </a:p>
          <a:p/>
          <a:p>
            <a:r>
              <a:t>2. She was not his to give</a:t>
            </a:r>
          </a:p>
          <a:p/>
          <a:p>
            <a:r>
              <a:t>3. The brothers ask for her back</a:t>
            </a:r>
          </a:p>
          <a:p/>
          <a:p>
            <a:r>
              <a:t>4. Ziyād ؓ refuses</a:t>
            </a:r>
          </a:p>
          <a:p/>
          <a:p>
            <a:r>
              <a:t>5. A third man, Ḥāritha, rides up</a:t>
            </a:r>
          </a:p>
          <a:p/>
          <a:p>
            <a:r>
              <a:t>6. Ḥāritha unties her</a:t>
            </a:r>
          </a:p>
          <a:p/>
          <a:p>
            <a:r>
              <a:t>   ↑ read the Arabic on the slide</a:t>
            </a:r>
          </a:p>
          <a:p/>
          <a:p>
            <a:r>
              <a:t>LESSON — A province went to war over one animal, a naming mistake and a public insult, and every part of that is on one page.</a:t>
            </a:r>
          </a:p>
          <a:p/>
          <a:p>
            <a:r>
              <a:t>──────── DETAIL — only if you need it ────────</a:t>
            </a:r>
          </a:p>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p>
            <a:r>
              <a:t>فَقَالَ حَارِثَةُ: ذَاكَ إِذَا كُنْتَ يَهُودِيًّا، وَأَطْلَقَ عِقَالَهَا وَبَعَثَهَا وَقَامَ دُونَهَا.</a:t>
            </a:r>
          </a:p>
          <a:p>
            <a:r>
              <a:t>"Ḥāritha said: That would be so if you were a Jew — and he untied her hobble and drove her off and stood in front of her."</a:t>
            </a:r>
          </a:p>
          <a:p>
            <a:r>
              <a:t>— Ḥāritha b. Surāqa, to Ziyād b. Labīd ؓ · الکامل فی التاریخ ج۲ ص۲۳۰</a:t>
            </a:r>
          </a:p>
          <a:p/>
          <a:p>
            <a:r>
              <a:t>──────── BACKGROUND — for home, not for the lectern ────────</a:t>
            </a:r>
          </a:p>
          <a:p/>
          <a:p>
            <a:r>
              <a:t>⚠ البدایہ carries no Ḥaḍramawt campaign at all. Cite الکامل ج2 ص229–232,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ج2 ص230).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al-Basūs: say only “an old war that had started the same way”.</a:t>
            </a:r>
          </a:p>
          <a:p/>
          <a:p>
            <a:r>
              <a:t>SAY</a:t>
            </a:r>
          </a:p>
          <a:p/>
          <a:p>
            <a:r>
              <a:t>1. A warning spoken over the camel</a:t>
            </a:r>
          </a:p>
          <a:p/>
          <a:p>
            <a:r>
              <a:t>2. Al-ʿAddāʾ calls out to his clan</a:t>
            </a:r>
          </a:p>
          <a:p/>
          <a:p>
            <a:r>
              <a:t>3. Ḥāritha b. Surāqa unties her</a:t>
            </a:r>
          </a:p>
          <a:p/>
          <a:p>
            <a:r>
              <a:t>4. Ziyād ؓ takes her back</a:t>
            </a:r>
          </a:p>
          <a:p/>
          <a:p>
            <a:r>
              <a:t>▶ CLICK 1 — Two great camps face each other.</a:t>
            </a:r>
          </a:p>
          <a:p/>
          <a:p>
            <a:r>
              <a:t>5. Two great camps face each other</a:t>
            </a:r>
          </a:p>
          <a:p/>
          <a:p>
            <a:r>
              <a:t>6. Two demands, two refusals</a:t>
            </a:r>
          </a:p>
          <a:p/>
          <a:p>
            <a:r>
              <a:t>▶ CLICK 2 — A strike by night.</a:t>
            </a:r>
          </a:p>
          <a:p/>
          <a:p>
            <a:r>
              <a:t>7. A strike by night</a:t>
            </a:r>
          </a:p>
          <a:p/>
          <a:p>
            <a:r>
              <a:t>▶ CLICK 3 — Kinda roused: no ṣadaqa.</a:t>
            </a:r>
          </a:p>
          <a:p/>
          <a:p>
            <a:r>
              <a:t>8. The freed men rouse Kinda</a:t>
            </a:r>
          </a:p>
          <a:p/>
          <a:p>
            <a:r>
              <a:t>9. Al-Ḥuṣayn b. Numayr steps between</a:t>
            </a:r>
          </a:p>
          <a:p/>
          <a:p>
            <a:r>
              <a:t>▶ NEXT SLIDE — the Arabic, and its lesson</a:t>
            </a:r>
          </a:p>
          <a:p/>
          <a:p>
            <a:r>
              <a:t>──────── DETAIL — only if you need it ────────</a:t>
            </a:r>
          </a:p>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al-ʿAddāʾ, calling to his clan · الکامل فی التاریخ ج۲ ص۲۳۰</a:t>
            </a:r>
          </a:p>
          <a:p/>
          <a:p>
            <a:r>
              <a:t>──────── BACKGROUND — for home, not for the lectern ────────</a:t>
            </a:r>
          </a:p>
          <a:p/>
          <a:p>
            <a:r>
              <a:t>Also on the page: &gt; فَلَجَأَ فِي أَخْذِهَا، فَقَالَ لَهَا: لَا تَكُونَنَّ شَذْرَةً عَلَيْكُمْ كَالْبَسُوسِ. فَنَادَى الْعَدَّاءُ: يَا آلَ عَمْرٍو، أُضَامُ وَأُضْطَهَدُ! إِنَّ الذَّلِيلَ مَنْ أُكِلَ فِي دَارِهِ!</a:t>
            </a:r>
          </a:p>
          <a:p>
            <a:r>
              <a:t>&gt; — الکامل فی التاریخ ج2 ص230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 &gt;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ج2 ص230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 ⚠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(ج2 ص231).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al-ʿAddāʾ, calling to his clan</a:t>
            </a:r>
          </a:p>
          <a:p/>
          <a:p>
            <a:r>
              <a:t>LESSON — Once the quarrel became a matter of honour, being right about the camel no longer decided anything. ⚠ البسوس needs a gloss, and we do not have one on a page we hold. The warning only works if the room</a:t>
            </a:r>
          </a:p>
          <a:p/>
          <a:p>
            <a:r>
              <a:t>──────── DETAIL — only if you need it ────────</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Each chief takes his own pasture as a stronghold.</a:t>
            </a:r>
          </a:p>
          <a:p/>
          <a:p>
            <a:r>
              <a:t>1. Banū Muʿāwiya withhold the ṣadaqa</a:t>
            </a:r>
          </a:p>
          <a:p/>
          <a:p>
            <a:r>
              <a:t>2. Except one man and his son</a:t>
            </a:r>
          </a:p>
          <a:p/>
          <a:p>
            <a:r>
              <a:t>3. They tell their clan why</a:t>
            </a:r>
          </a:p>
          <a:p/>
          <a:p>
            <a:r>
              <a:t>▶ CLICK 2 — One man and his son walk out, to Ziyād's ؓ camp.</a:t>
            </a:r>
          </a:p>
          <a:p/>
          <a:p>
            <a:r>
              <a:t>4. They move to Ziyād's ؓ camp</a:t>
            </a:r>
          </a:p>
          <a:p/>
          <a:p>
            <a:r>
              <a:t>5. Their advice: strike tonight</a:t>
            </a:r>
          </a:p>
          <a:p/>
          <a:p>
            <a:r>
              <a:t>6. The danger in waiting</a:t>
            </a:r>
          </a:p>
          <a:p/>
          <a:p>
            <a:r>
              <a:t>▶ NEXT SLIDE — the Arabic, and its lesson</a:t>
            </a:r>
          </a:p>
          <a:p/>
          <a:p>
            <a:r>
              <a:t>──────── DETAIL — only if you need it ────────</a:t>
            </a:r>
          </a:p>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Shuraḥbīl b. al-Simṭ and his son, to their clan · الکامل فی التاریخ ج۲ ص۲۳۱</a:t>
            </a:r>
          </a:p>
          <a:p/>
          <a:p>
            <a:r>
              <a:t>──────── BACKGROUND — for home, not for the lectern ────────</a:t>
            </a:r>
          </a:p>
          <a:p/>
          <a:p>
            <a:r>
              <a:t>⚠ Quote only to «وَالْقَبِيحِ!» — the next clause reads against the sense. It was his son, not his</a:t>
            </a:r>
          </a:p>
          <a:p>
            <a:r>
              <a:t>father («وَابْنَهُ») — this corrects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Shuraḥbīl b. al-Simṭ and his son, to their clan</a:t>
            </a:r>
          </a:p>
          <a:p/>
          <a:p>
            <a:r>
              <a:t>LESSON — He used his tribe's own code of honour — never change sides — as the reason not to follow his tribe.</a:t>
            </a:r>
          </a:p>
          <a:p/>
          <a:p>
            <a:r>
              <a:t>▶ NEXT SLIDE — the same words go on (2 slides in all)</a:t>
            </a:r>
          </a:p>
          <a:p/>
          <a:p>
            <a:r>
              <a:t>──────── DETAIL — only if you need it ────────</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فَيَتَكَرَّمُونَ أَنْ يَنْتَقِلُوا إِلَى أَوْضَحَ مِنْهَا مَخَافَةَ الْعَارِ</a:t>
            </a:r>
          </a:p>
          <a:p>
            <a:r>
              <a:t>and think it beneath them to move even to a clearer one, for fear of the disgrace</a:t>
            </a:r>
          </a:p>
          <a:p>
            <a:r>
              <a:t>فَكَيْفَ الِانْتِقَالُ مِنَ الْأَمْرِ الْحَسَنِ الْجَمِيلِ وَالْحَقِّ إِلَى الْبَاطِلِ وَالْقَبِيحِ!</a:t>
            </a:r>
          </a:p>
          <a:p>
            <a:r>
              <a:t>so how much worse to move from what is good, fair and true to what is false and ugly!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source ties the old kingship to the ridda. Imply nothing.</a:t>
            </a:r>
          </a:p>
          <a:p/>
          <a:p>
            <a:r>
              <a:t>SAY</a:t>
            </a:r>
          </a:p>
          <a:p/>
          <a:p>
            <a:r>
              <a:t>▶ CLICK 1 — They ring the pastures in the dark — from five sides.</a:t>
            </a:r>
          </a:p>
          <a:p/>
          <a:p>
            <a:r>
              <a:t>1. Ziyād ؓ agrees to a night attack</a:t>
            </a:r>
          </a:p>
          <a:p/>
          <a:p>
            <a:r>
              <a:t>2. Round their fires</a:t>
            </a:r>
          </a:p>
          <a:p/>
          <a:p>
            <a:r>
              <a:t>3. From five directions at once</a:t>
            </a:r>
          </a:p>
          <a:p/>
          <a:p>
            <a:r>
              <a:t>▶ CLICK 2 — The four kings are killed.</a:t>
            </a:r>
          </a:p>
          <a:p/>
          <a:p>
            <a:r>
              <a:t>4. The four kings are killed</a:t>
            </a:r>
          </a:p>
          <a:p/>
          <a:p>
            <a:r>
              <a:t>5. Four, or four and a sister</a:t>
            </a:r>
          </a:p>
          <a:p/>
          <a:p>
            <a:r>
              <a:t>6. Many killed, the rest run</a:t>
            </a:r>
          </a:p>
          <a:p/>
          <a:p>
            <a:r>
              <a:t>▶ NEXT SLIDE — the Arabic, and its lesson</a:t>
            </a:r>
          </a:p>
          <a:p/>
          <a:p>
            <a:r>
              <a:t>──────── DETAIL — only if you need it ────────</a:t>
            </a:r>
          </a:p>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Ibn al-Athīr, on that night · الکامل فی التاریخ ج۲ ص۲۳۱</a:t>
            </a:r>
          </a:p>
          <a:p/>
          <a:p>
            <a:r>
              <a:t>──────── BACKGROUND — for home, not for the lectern ────────</a:t>
            </a:r>
          </a:p>
          <a:p/>
          <a:p>
            <a:r>
              <a:t>Also on the page: &gt;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ج2 ص231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 Al-Dhahabī, from Ibn Isḥāq — four, and no sister: &gt; أن زيادا بيتهم فقتل ملوكا أربعة: جمدا، ومخوصا ومشرحا، وأبضعة.</a:t>
            </a:r>
          </a:p>
          <a:p>
            <a:r>
              <a:t>&gt; — سیر أعلام النبلاء، ج الراشدون ص62 · https://shamela.ws/book/10906/1210</a:t>
            </a:r>
          </a:p>
          <a:p>
            <a:r>
              <a:t>&gt; English: "…that Ziyād fell on them by night and killed four kings: Jamad, Mikhwaṣ, Mishraḥ and</a:t>
            </a:r>
          </a:p>
          <a:p>
            <a:r>
              <a:t>&gt; Abḍaʿa." Record both counts side by side; do not choose. The origin of the Prophet's ﷺ curse is the</a:t>
            </a:r>
          </a:p>
          <a:p>
            <a:r>
              <a:t>Kinda-delegation note; do not explain it from the floor. Ibn Khaldūn adds that the captive women</a:t>
            </a:r>
          </a:p>
          <a:p>
            <a:r>
              <a:t>cried out as they passed (ج2 ص492)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that night</a:t>
            </a:r>
          </a:p>
          <a:p/>
          <a:p>
            <a:r>
              <a:t>LESSON — The night attack ended the four kings and brought the fifth man into the war.</a:t>
            </a:r>
          </a:p>
          <a:p/>
          <a:p>
            <a:r>
              <a:t>──────── DETAIL — only if you need it ────────</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The column turns for home.</a:t>
            </a:r>
          </a:p>
          <a:p/>
          <a:p>
            <a:r>
              <a:t>1. The column turns for home</a:t>
            </a:r>
          </a:p>
          <a:p/>
          <a:p>
            <a:r>
              <a:t>▶ CLICK 2 — Its road passes one man: al-Ashʿath b. Qays.</a:t>
            </a:r>
          </a:p>
          <a:p/>
          <a:p>
            <a:r>
              <a:t>2. And its road passes one man</a:t>
            </a:r>
          </a:p>
          <a:p/>
          <a:p>
            <a:r>
              <a:t>3. Who he is</a:t>
            </a:r>
          </a:p>
          <a:p/>
          <a:p>
            <a:r>
              <a:t>4. The room has met him before</a:t>
            </a:r>
          </a:p>
          <a:p/>
          <a:p>
            <a:r>
              <a:t>▶ CLICK 3 — He takes the captives back.</a:t>
            </a:r>
          </a:p>
          <a:p/>
          <a:p>
            <a:r>
              <a:t>5. He rises with his people</a:t>
            </a:r>
          </a:p>
          <a:p/>
          <a:p>
            <a:r>
              <a:t>6. And gathers everyone he can</a:t>
            </a:r>
          </a:p>
          <a:p/>
          <a:p>
            <a:r>
              <a:t>▶ NEXT SLIDE — the Arabic, and its lesson</a:t>
            </a:r>
          </a:p>
          <a:p/>
          <a:p>
            <a:r>
              <a:t>──────── DETAIL — only if you need it ────────</a:t>
            </a:r>
          </a:p>
          <a:p/>
          <a:p>
            <a:r>
              <a:t>1. The column turns for home — Ziyād ؓ with the property and the captives of the four kings.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5. He rises with his people — And takes the captives back out of the column.</a:t>
            </a:r>
          </a:p>
          <a:p>
            <a:r>
              <a:t>6. And gathers everyone he can — From here, this war is his.</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Ibn al-Athīr, on al-Ashʿath · الکامل فی التاریخ ج۲ ص۲۳۱</a:t>
            </a:r>
          </a:p>
          <a:p/>
          <a:p>
            <a:r>
              <a:t>──────── BACKGROUND — for home, not for the lectern ────────</a:t>
            </a:r>
          </a:p>
          <a:p/>
          <a:p>
            <a:r>
              <a:t>Who he is, page-cited: he led the Kinda delegation to Medina ; and Ibn al-Athīr's "four kings" are of بنو عمرو بن معاوية, a different branch</a:t>
            </a:r>
          </a:p>
          <a:p>
            <a:r>
              <a:t>of Kinda from his . No source ties the old Kinda kingship to this ردة — say nothing</a:t>
            </a:r>
          </a:p>
          <a:p>
            <a:r>
              <a:t>that implies it .</a:t>
            </a:r>
          </a:p>
          <a:p>
            <a:r>
              <a:t>⚠ This card exists because sits in an optional block. Without it, al-Ashʿath walks</a:t>
            </a:r>
          </a:p>
          <a:p>
            <a:r>
              <a:t>onto the stage as a bare name and then carries seven cards. If the Kinda flashback is cut, this card</a:t>
            </a:r>
          </a:p>
          <a:p>
            <a:r>
              <a:t>is not cut.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al-Ashʿath</a:t>
            </a:r>
          </a:p>
          <a:p/>
          <a:p>
            <a:r>
              <a:t>LESSON — The man who had brought his tribe to the Prophet ﷺ himself is the man who now raises it against Medina — and that is not a contradiction the books explain.</a:t>
            </a:r>
          </a:p>
          <a:p/>
          <a:p>
            <a:r>
              <a:t>──────── DETAIL — only if you need it ────────</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hurry</a:t>
            </a:r>
          </a:p>
          <a:p/>
          <a:p>
            <a:r>
              <a:t>▶ CLICK 1 — al-Muhājir ؓ rides ahead with the fastest men.</a:t>
            </a:r>
          </a:p>
          <a:p/>
          <a:p>
            <a:r>
              <a:t>2. Al-Muhājir ؓ rides ahead</a:t>
            </a:r>
          </a:p>
          <a:p/>
          <a:p>
            <a:r>
              <a:t>▶ CLICK 2 — Maḥjar al-Zurqān: Kinda breaks, and runs.</a:t>
            </a:r>
          </a:p>
          <a:p/>
          <a:p>
            <a:r>
              <a:t>3. The battle at Maḥjar al-Zurqān</a:t>
            </a:r>
          </a:p>
          <a:p/>
          <a:p>
            <a:r>
              <a:t>▶ CLICK 3 — Kinda run for al-Nujayr. ʿIkrima ؓ brings up the main body.</a:t>
            </a:r>
          </a:p>
          <a:p/>
          <a:p>
            <a:r>
              <a:t>4. A fort already repaired</a:t>
            </a:r>
          </a:p>
          <a:p/>
          <a:p>
            <a:r>
              <a:t>▶ NEXT SLIDE — the Arabic, and its lesson</a:t>
            </a:r>
          </a:p>
          <a:p/>
          <a:p>
            <a:r>
              <a:t>──────── DETAIL — only if you need it ────────</a:t>
            </a:r>
          </a:p>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p>
            <a:r>
              <a:t>فَرَجَعُوا إِلَى حِصْنِهِمْ، وَخَشَعَتْ نُفُوسُهُمْ وَخَافُوا الْقَتْلَ</a:t>
            </a:r>
          </a:p>
          <a:p>
            <a:r>
              <a:t>"They went back into their fort; their spirits sank, and they feared death."</a:t>
            </a:r>
          </a:p>
          <a:p>
            <a:r>
              <a:t>— Ibn al-Athīr, on al-Nujayr · الکامل فی التاریخ ج۲ ص۲۳۱</a:t>
            </a:r>
          </a:p>
          <a:p/>
          <a:p>
            <a:r>
              <a:t>──────── BACKGROUND — for home, not for the lectern ────────</a:t>
            </a:r>
          </a:p>
          <a:p/>
          <a:p>
            <a:r>
              <a:t>Also on the page: &gt; وَكَتَبَ زِيَادٌ إِلَى الْمُهَاجِرِ يَسْتَحِثُّهُ، فَلَقِيَهُ الْكِتَابُ بِالطَّرِيقِ فَاسْتَخْلَفَ عَلَى الْجُنْدِ عِكْرِمَةَ بْنَ أَبِي جَهْلٍ، وَتَعَجَّلَ فِي سَرَعَانِ النَّاسِ</a:t>
            </a:r>
          </a:p>
          <a:p>
            <a:r>
              <a:t>&gt; — الکامل فی التاریخ ج2 ص231 · https://shamela.ws/book/21712/922</a:t>
            </a:r>
          </a:p>
          <a:p>
            <a:r>
              <a:t>&gt; English: "Ziyād wrote to al-Muhājir urging him on; the letter met him on the road, and he left</a:t>
            </a:r>
          </a:p>
          <a:p>
            <a:r>
              <a:t>&gt; ʿIkrima b. Abī Jahl in charge of the army and hurried ahead with the quickest of the men." &gt; فَانْهَزَمَتْ كِنْدَةُ وَقُتِلَتْ، وَخَرَجُوا هُرَّابًا فَالْتَجَئُوا إِلَى النُّجَيْرِ، وَقَدْ رَمُّوهُ وَأَصْلَحُوهُ.</a:t>
            </a:r>
          </a:p>
          <a:p>
            <a:r>
              <a:t>&gt; — الکامل فی التاریخ ج2 ص231 · https://shamela.ws/book/21712/922</a:t>
            </a:r>
          </a:p>
          <a:p>
            <a:r>
              <a:t>&gt; English: "Kinda was routed and cut down; they fled and took refuge in al-Nujayr — which they had</a:t>
            </a:r>
          </a:p>
          <a:p>
            <a:r>
              <a:t>&gt; already repaired and put in order." Where the letter met him: الکامل says only «بالطريق»; Ibn Khaldūn says «بالمفازة بين مأرب وحضرموت»</a:t>
            </a:r>
          </a:p>
          <a:p>
            <a:r>
              <a:t>(ج2 ص494) — his detail, not for the map as fact. Pairs with 's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al-Nujayr</a:t>
            </a:r>
          </a:p>
          <a:p/>
          <a:p>
            <a:r>
              <a:t>LESSON — They had prepared the place to retreat to before they fought, and it became the place they could not leave.</a:t>
            </a:r>
          </a:p>
          <a:p/>
          <a:p>
            <a:r>
              <a:t>──────── DETAIL — only if you need it ────────</a:t>
            </a:r>
          </a:p>
          <a:p/>
          <a:p>
            <a:r>
              <a:t>فَرَجَعُوا إِلَى حِصْنِهِمْ، وَخَشَعَتْ نُفُوسُهُمْ وَخَافُوا الْقَتْلَ</a:t>
            </a:r>
          </a:p>
          <a:p>
            <a:r>
              <a:t>"They went back into their fort; their spirits sank, and they feared death."</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no side to any commander. Say “not to scale”.</a:t>
            </a:r>
          </a:p>
          <a:p/>
          <a:p>
            <a:r>
              <a:t>SAY</a:t>
            </a:r>
          </a:p>
          <a:p/>
          <a:p>
            <a:r>
              <a:t>1. Kinda are inside al-Nujayr — the fort they had already repaired.</a:t>
            </a:r>
          </a:p>
          <a:p/>
          <a:p>
            <a:r>
              <a:t>▶ CLICK 1 — al-Muhājir ؓ comes down on them, with Ziyād ؓ. The Muslims besiege the fort.</a:t>
            </a:r>
          </a:p>
          <a:p/>
          <a:p>
            <a:r>
              <a:t>▶ CLICK 2 — ʿIkrima ؓ arrives with the main body. The siege grows hard.</a:t>
            </a:r>
          </a:p>
          <a:p/>
          <a:p>
            <a:r>
              <a:t>▶ CLICK 3 — Raiding parties spread out through the country, after the rest.</a:t>
            </a:r>
          </a:p>
          <a:p/>
          <a:p>
            <a:r>
              <a:t>▶ CLICK 4 — Those inside come out and fight. Many are killed — and they go back in.</a:t>
            </a:r>
          </a:p>
          <a:p/>
          <a:p>
            <a:r>
              <a:t>2. Their spirits sank, and they feared death. Next: what al-Ashʿath did.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“11 or 12 AH” — the books differ.</a:t>
            </a:r>
          </a:p>
          <a:p/>
          <a:p>
            <a:r>
              <a:t>SAY</a:t>
            </a:r>
          </a:p>
          <a:p/>
          <a:p>
            <a:r>
              <a:t>1. Al-Ashʿath comes out with nine men</a:t>
            </a:r>
          </a:p>
          <a:p/>
          <a:p>
            <a:r>
              <a:t>2. A guarantee in return for the gate</a:t>
            </a:r>
          </a:p>
          <a:p/>
          <a:p>
            <a:r>
              <a:t>3. Write whatever you want</a:t>
            </a:r>
          </a:p>
          <a:p/>
          <a:p>
            <a:r>
              <a:t>4. Jaḥdam and the knife</a:t>
            </a:r>
          </a:p>
          <a:p/>
          <a:p>
            <a:r>
              <a:t>5. He forgets himself</a:t>
            </a:r>
          </a:p>
          <a:p/>
          <a:p>
            <a:r>
              <a:t>   ↑ read the Arabic on the slide</a:t>
            </a:r>
          </a:p>
          <a:p/>
          <a:p>
            <a:r>
              <a:t>6. The gate is opened</a:t>
            </a:r>
          </a:p>
          <a:p/>
          <a:p>
            <a:r>
              <a:t>7. The document comes out</a:t>
            </a:r>
          </a:p>
          <a:p/>
          <a:p>
            <a:r>
              <a:t>8. Al-Muhājir ؓ has him bound</a:t>
            </a:r>
          </a:p>
          <a:p/>
          <a:p>
            <a:r>
              <a:t>9. Sent to Abū Bakr ؓ with the captives</a:t>
            </a:r>
          </a:p>
          <a:p/>
          <a:p>
            <a:r>
              <a:t>LESSON — The decision about al-Ashʿath was not taken in anger at the gate; it was sent to the man whose job it was.</a:t>
            </a:r>
          </a:p>
          <a:p/>
          <a:p>
            <a:r>
              <a:t>──────── DETAIL — only if you need it ────────</a:t>
            </a:r>
          </a:p>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Ibn al-Athīr, on the writing · الکامل فی التاریخ ج۲ ص۲۳۲</a:t>
            </a:r>
          </a:p>
          <a:p/>
          <a:p>
            <a:r>
              <a:t>──────── BACKGROUND — for home, not for the lectern ────────</a:t>
            </a:r>
          </a:p>
          <a:p/>
          <a:p>
            <a:r>
              <a:t>Also on the page: &gt;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ج2 ص232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 &gt;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ج2 ص232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 Pairs with ,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a:t>
            </a:r>
          </a:p>
          <a:p/>
          <a:p>
            <a:r>
              <a:t>1. Ḥaḍramawt is told: from a she-camel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a:t>
            </a:r>
          </a:p>
          <a:p/>
          <a:p>
            <a:r>
              <a:t>1. Every front is settled. al-Ashʿath goes to Medina, in bonds.</a:t>
            </a:r>
          </a:p>
          <a:p/>
          <a:p>
            <a:r>
              <a:t>⏱ Past 0:40 here — close here.</a:t>
            </a:r>
          </a:p>
          <a:p/>
          <a:p>
            <a:r>
              <a:t>CARRY ON — “He had left his own name off the paper. Now he stands before Abū Bakr ؓ.”</a:t>
            </a:r>
          </a:p>
          <a:p/>
          <a:p>
            <a:r>
              <a:t>──────── DETAIL — only if you need it ────────</a:t>
            </a:r>
          </a:p>
          <a:p/>
          <a:p>
            <a:r>
              <a:t>OUT OF TIME — this is your ending. Stay on this map, and say:</a:t>
            </a:r>
          </a:p>
          <a:p/>
          <a:p>
            <a:r>
              <a:t>“al-Ashʿath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and after (12 AH →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Al-Ashʿath before Abū Bakr ؓ</a:t>
            </a:r>
          </a:p>
          <a:p/>
          <a:p>
            <a:r>
              <a:t>2. Abū Bakr ؓ gives the answer</a:t>
            </a:r>
          </a:p>
          <a:p/>
          <a:p>
            <a:r>
              <a:t>3. Al-Ashʿath argues the law</a:t>
            </a:r>
          </a:p>
          <a:p/>
          <a:p>
            <a:r>
              <a:t>4. Abū Bakr ؓ answers on the law</a:t>
            </a:r>
          </a:p>
          <a:p/>
          <a:p>
            <a:r>
              <a:t>   ↑ read the Arabic on the slide</a:t>
            </a:r>
          </a:p>
          <a:p/>
          <a:p>
            <a:r>
              <a:t>5. Fearing death, he stops arguing</a:t>
            </a:r>
          </a:p>
          <a:p/>
          <a:p>
            <a:r>
              <a:t>6. Give me back my wife</a:t>
            </a:r>
          </a:p>
          <a:p/>
          <a:p>
            <a:r>
              <a:t>7. The best man in my country</a:t>
            </a:r>
          </a:p>
          <a:p/>
          <a:p>
            <a:r>
              <a:t>8. Abū Bakr ؓ spares him</a:t>
            </a:r>
          </a:p>
          <a:p/>
          <a:p>
            <a:r>
              <a:t>9. Al-Dhahabī's shorter version</a:t>
            </a:r>
          </a:p>
          <a:p/>
          <a:p>
            <a:r>
              <a:t>10. Ten, or seventy</a:t>
            </a:r>
          </a:p>
          <a:p/>
          <a:p>
            <a:r>
              <a:t>LESSON — He won his life only after he stopped arguing that he was owed it.</a:t>
            </a:r>
          </a:p>
          <a:p/>
          <a:p>
            <a:r>
              <a:t>──────── DETAIL — only if you need it ────────</a:t>
            </a:r>
          </a:p>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Abū Bakr ؓ, to al-Ashʿath · الکامل فی التاریخ ج۲ ص۲۳۲</a:t>
            </a:r>
          </a:p>
          <a:p/>
          <a:p>
            <a:r>
              <a:t>──────── BACKGROUND — for home, not for the lectern ────────</a:t>
            </a:r>
          </a:p>
          <a:p/>
          <a:p>
            <a:r>
              <a:t>Also on the page: &gt;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ج2 ص232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 &gt; فَلَمَّا خَشِيَ الْقَتْلَ قَالَ: أَوَتَحْتَسِبُ فِيَّ خَيْرًا، فَتُطْلِقُ إِسَارِيْ وَتُقِيلُنِي عَثْرَتِي، وَتَفْعَلُ بِي مِثْلَ مَا فَعَلْتَ بِأَمْثَالِي، وَتَرُدُّ عَلَيَّ زَوْجَتِي؟</a:t>
            </a:r>
          </a:p>
          <a:p>
            <a:r>
              <a:t>&gt; — الکامل فی التاریخ ج2 ص232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 &gt; فَإِنْ فَعَلْتَ ذَلِكَ تَجِدُنِي خَيْرَ أَهْلِ بِلَادِي لِدِينِ اللَّهِ. فَحَقَنَ دَمَهُ وَرَدَّ عَلَيْهِ أَهْلَهُ</a:t>
            </a:r>
          </a:p>
          <a:p>
            <a:r>
              <a:t>&gt; — الکامل فی التاریخ ج2 ص232 · https://shamela.ws/book/21712/923</a:t>
            </a:r>
          </a:p>
          <a:p>
            <a:r>
              <a:t>&gt; English: "If you do that, you will find me the best of the people of my country for the religion</a:t>
            </a:r>
          </a:p>
          <a:p>
            <a:r>
              <a:t>&gt; of Allah. So he spared his blood and gave him back his family." Al-Dhahabī's shorter version (al-Nakhaʿī, via Abū ʿUbayd's al-Amwāl) — a variant, kept beside</a:t>
            </a:r>
          </a:p>
          <a:p>
            <a:r>
              <a:t>the first, not in place of it: &gt; فَأُتِيَ بِهِ الصِّدِّيْقَ، فَقَالَ: إِنَّا قَاتِلُوْكَ، لاَ أَمَانَ لَكَ. فَقَالَ: تَمُنُّ عَلَيَّ وَأُسْلِمُ؟ قَالَ: فَفَعَلَ، وَزَوَّجَهُ أُخْتَهُ.</a:t>
            </a:r>
          </a:p>
          <a:p>
            <a:r>
              <a:t>&gt; — سیر أعلام النبلاء ج2 ص39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 ⚠ Her name differs: Umm Farwa in الکامل, Farwa bint Abī Quḥāfa in سیر ج2 ص39,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(the wedding feast in the camel market), which tells</a:t>
            </a:r>
          </a:p>
          <a:p>
            <a:r>
              <a:t>al-Dhahabī's version in its narrative.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name Abū Bakr's ؓ sister — the books differ.</a:t>
            </a:r>
          </a:p>
          <a:p/>
          <a:p>
            <a:r>
              <a:t>SAY</a:t>
            </a:r>
          </a:p>
          <a:p/>
          <a:p>
            <a:r>
              <a:t>1. Safe conduct, but not for himself</a:t>
            </a:r>
          </a:p>
          <a:p/>
          <a:p>
            <a:r>
              <a:t>2. Brought captive to Abū Bakr ؓ</a:t>
            </a:r>
          </a:p>
          <a:p/>
          <a:p>
            <a:r>
              <a:t>3. He asks for favour</a:t>
            </a:r>
          </a:p>
          <a:p/>
          <a:p>
            <a:r>
              <a:t>4. Released, and married into the family</a:t>
            </a:r>
          </a:p>
          <a:p/>
          <a:p>
            <a:r>
              <a:t>5. A sword in the camel market</a:t>
            </a:r>
          </a:p>
          <a:p/>
          <a:p>
            <a:r>
              <a:t>6. Medina thinks he has turned again</a:t>
            </a:r>
          </a:p>
          <a:p/>
          <a:p>
            <a:r>
              <a:t>7. He throws the sword down</a:t>
            </a:r>
          </a:p>
          <a:p/>
          <a:p>
            <a:r>
              <a:t>   ↑ read the Arabic on the slide</a:t>
            </a:r>
          </a:p>
          <a:p/>
          <a:p>
            <a:r>
              <a:t>LESSON — A man newly forgiven will sometimes announce it in the loudest and least convenient way available to him.</a:t>
            </a:r>
          </a:p>
          <a:p/>
          <a:p>
            <a:r>
              <a:t>▶ NEXT SLIDE — the same words go on (2 slides in all)</a:t>
            </a:r>
          </a:p>
          <a:p/>
          <a:p>
            <a:r>
              <a:t>──────── DETAIL — only if you need it ────────</a:t>
            </a:r>
          </a:p>
          <a:p/>
          <a:p>
            <a:r>
              <a:t>1. Safe conduct, but not for himself — Besieged, he took safe conduct for seventy men, al-Dhahabī says, and not for himself.</a:t>
            </a:r>
          </a:p>
          <a:p>
            <a:r>
              <a:t>2. Brought captive to Abū Bakr ؓ — We are going to kill you, Abū Bakr ؓ told him plainly; you have no safe conduct.</a:t>
            </a:r>
          </a:p>
          <a:p>
            <a:r>
              <a:t>3. He asks for favour — Will you show me favour, he asked, and I become Muslim?</a:t>
            </a:r>
          </a:p>
          <a:p>
            <a:r>
              <a:t>4. Released, and married into the family — Abū Bakr ؓ showed him favour, loosed his bonds, and married his own sister to him.</a:t>
            </a:r>
          </a:p>
          <a:p>
            <a:r>
              <a:t>5. A sword in the camel market — He drew his sword, walked into the camel market of Medina, and began hamstringing every camel and bull he saw.</a:t>
            </a:r>
          </a:p>
          <a:p>
            <a:r>
              <a:t>6. Medina thinks he has turned again — The people shouted that he had apostatised again.</a:t>
            </a:r>
          </a:p>
          <a:p>
            <a:r>
              <a:t>7. He throws the sword down — Then he threw the sword down and explained himself.</a:t>
            </a:r>
          </a:p>
          <a:p/>
          <a:p>
            <a:r>
              <a:t>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al-Ashʿath ؓ, in the market at Medina · سیر أعلام النبلاء ج۲ ص۳۹</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يَا أَهْلَ المَدِيْنَةِ، انْحَرُوا، وَكُلُوا! وَيَا أَهْلَ الإِبِلِ تَعَالَوْا خُذُوا شَرْوَاهَا!</a:t>
            </a:r>
          </a:p>
          <a:p>
            <a:r>
              <a:t>People of Medina — slaughter and eat! And owners of the camels, come and take the like of them!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look ahead, and say so</a:t>
            </a:r>
          </a:p>
          <a:p/>
          <a:p>
            <a:r>
              <a:t>2. Three men of this evening go north</a:t>
            </a:r>
          </a:p>
          <a:p/>
          <a:p>
            <a:r>
              <a:t>3. Sent to call Rustam to Islam</a:t>
            </a:r>
          </a:p>
          <a:p/>
          <a:p>
            <a:r>
              <a:t>4. Qays commands the left wing</a:t>
            </a:r>
          </a:p>
          <a:p/>
          <a:p>
            <a:r>
              <a:t>5. An eye each at the Yarmūk</a:t>
            </a:r>
          </a:p>
          <a:p/>
          <a:p>
            <a:r>
              <a:t>6. Side by side at Nahāwand</a:t>
            </a:r>
          </a:p>
          <a:p/>
          <a:p>
            <a:r>
              <a:t>7. What Jābir ؓ swore</a:t>
            </a:r>
          </a:p>
          <a:p/>
          <a:p>
            <a:r>
              <a:t>8. Three men were suspected</a:t>
            </a:r>
          </a:p>
          <a:p/>
          <a:p>
            <a:r>
              <a:t>9. They looked into the three</a:t>
            </a:r>
          </a:p>
          <a:p/>
          <a:p>
            <a:r>
              <a:t>   ↑ read the Arabic on the slide</a:t>
            </a:r>
          </a:p>
          <a:p/>
          <a:p>
            <a:r>
              <a:t>10. Who the three were</a:t>
            </a:r>
          </a:p>
          <a:p/>
          <a:p>
            <a:r>
              <a:t>11. Two books on Qays</a:t>
            </a:r>
          </a:p>
          <a:p/>
          <a:p>
            <a:r>
              <a:t>LESSON — The army kept watching the men who had once turned, and the watching found nothing; both of those facts are in the record.</a:t>
            </a:r>
          </a:p>
          <a:p/>
          <a:p>
            <a:r>
              <a:t>▶ NEXT SLIDE — the same words go on (2 slides in all)</a:t>
            </a:r>
          </a:p>
          <a:p/>
          <a:p>
            <a:r>
              <a:t>──────── DETAIL — only if you need it ────────</a:t>
            </a:r>
          </a:p>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Jābir b. ʿAbd Allāh ؓ, of the army at al-Qādisiyya · البدایہ والنہایہ ج۷ ص۲۴۳</a:t>
            </a:r>
          </a:p>
          <a:p/>
          <a:p>
            <a:r>
              <a:t>──────── BACKGROUND — for home, not for the lectern ────────</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(«إِنَّ هَذَا لَمْ يَرْتَدَّ، وَإِنِّي ارْتَدَدْتُ»). Hand-off: al-Ashʿath's later house</a:t>
            </a:r>
          </a:p>
          <a:p>
            <a:r>
              <a:t>is the third sister note.</a:t>
            </a:r>
          </a:p>
          <a:p>
            <a:r>
              <a:t>Also on the page: &gt;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ج7 ص133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 &gt; وعلى الميسرة قيس بن مكشوح، وكان قيس والمغيرة بن شعبة قد قدما على سعد مددًا من عند أبي عبيدة من الشام بعدما شهدا وقعة اليرموك.</a:t>
            </a:r>
          </a:p>
          <a:p>
            <a:r>
              <a:t>&gt; — البدایہ والنہایہ ج7 ص139 · https://shamela.ws/book/30097/3285</a:t>
            </a:r>
          </a:p>
          <a:p>
            <a:r>
              <a:t>&gt; English: "And over the left wing, Qays b. Makshūḥ. Qays and al-Mughīra b. Shuʿba had come to Saʿd as</a:t>
            </a:r>
          </a:p>
          <a:p>
            <a:r>
              <a:t>&gt; reinforcements from Abū ʿUbayda in Syria, after they had fought at the Yarmūk." &gt;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ج7 ص243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 Al-Dhahabī's whole notice on Qays b. Makshūḥ — it does not mention the ridda at all: &gt; الأَمِيْرُ، أَبُو حَسَّانٍ المُرَادِيُّ، مِنْ وُجُوْهِ العَرَبِ المَوْصُوْفِيْنَ بِالشَّجَاعَةِ. وَكَانَ مِمَّنْ أَعَانَ عَلَى قَتْلِ الأَسْوَدِ العَنْسِيِّ، وَقُلِعَتْ عَيْنُهُ يَوْمَ اليَرْمُوْكِ.</a:t>
            </a:r>
          </a:p>
          <a:p>
            <a:r>
              <a:t>&gt; — سیر أعلام النبلاء ج3 ص520 · https://shamela.ws/book/10906/3128</a:t>
            </a:r>
          </a:p>
          <a:p>
            <a:r>
              <a:t>&gt; English: "The commander, Abū Ḥassān al-Murādī, one of the notable Arabs known for courage. He was</a:t>
            </a:r>
          </a:p>
          <a:p>
            <a:r>
              <a:t>&gt; among those who helped kill al-Aswad al-ʿAnsī, and his eye was put out on the day of the Yarmūk." ⚠ The same notice goes on to say Qays was killed at Ṣiffīn among ʿAlī's ؓ commanders — that clause</a:t>
            </a:r>
          </a:p>
          <a:p>
            <a:r>
              <a:t>is not quoted here and does not go into this session. The books differ on Qays: «ارتدّ عن الإسلام»</a:t>
            </a:r>
          </a:p>
          <a:p>
            <a:r>
              <a:t>(البدایہ ج7 ص42) against a notice that is silent on it (سیر ج3 ص520). Record both; decide nothing. ## Kinda: the kingdom before Islam, and the house of al-Ashʿath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طُلَيْحة بن خوَيْلد الأسدي، وعَمْرو بن معدي كرب، وقيس بن المكشوح.</a:t>
            </a:r>
          </a:p>
          <a:p>
            <a:r>
              <a:t>Ṭulayḥa b. Khuwaylid al-Asadī, ʿAmr b. Maʿdī Karib, and Qays b. al-Makshūḥ.</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He steps back at a funeral</a:t>
            </a:r>
          </a:p>
          <a:p/>
          <a:p>
            <a:r>
              <a:t>2. Somebody asks him why</a:t>
            </a:r>
          </a:p>
          <a:p/>
          <a:p>
            <a:r>
              <a:t>   ↑ read the Arabic on the slide</a:t>
            </a:r>
          </a:p>
          <a:p/>
          <a:p>
            <a:r>
              <a:t>3. Said in public, years afterwards</a:t>
            </a:r>
          </a:p>
          <a:p/>
          <a:p>
            <a:r>
              <a:t>LESSON — A man who will say the worst thing about himself out loud has taken its power away from everybody else.</a:t>
            </a:r>
          </a:p>
          <a:p/>
          <a:p>
            <a:r>
              <a:t>──────── DETAIL — only if you need it ────────</a:t>
            </a:r>
          </a:p>
          <a:p/>
          <a:p>
            <a:r>
              <a:t>1. He steps back at a funeral — At a funeral, al-Ashʿath ؓ stepped back and put Jarīr b. ʿAbd Allāh ؓ forward to lead the prayer.</a:t>
            </a:r>
          </a:p>
          <a:p>
            <a:r>
              <a:t>2. Somebody asks him why — He gave the reason in six words.</a:t>
            </a:r>
          </a:p>
          <a:p>
            <a:r>
              <a:t>3. Said in public, years afterwards — Forgiven, married into al-Ṣiddīq's ؓ family, made a commander, and he still said it of himself.</a:t>
            </a:r>
          </a:p>
          <a:p/>
          <a:p>
            <a:r>
              <a:t>إِنَّ هَذَا لَمْ يَرْتَدَّ، وَإِنِّي ارْتَدَدْتُ.</a:t>
            </a:r>
          </a:p>
          <a:p>
            <a:r>
              <a:t>"This man did not apostatise. And I did."</a:t>
            </a:r>
          </a:p>
          <a:p>
            <a:r>
              <a:t>— al-Ashʿath ؓ, of Jarīr b. ʿAbd Allāh ؓ · سیر أعلام النبلاء ج۲ ص۴۰</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a:t>
            </a:r>
          </a:p>
          <a:p/>
          <a:p>
            <a:r>
              <a:t>1. The last two fronts are told — and al-Ashʿath ؓ, who came back.</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a:t>
            </a:r>
          </a:p>
          <a:p/>
          <a:p>
            <a:r>
              <a:t>1. The peninsula is one colour.</a:t>
            </a:r>
          </a:p>
          <a:p/>
          <a:p>
            <a:r>
              <a:t>⏱ Past 0:40 here — close here. This is the natural end.</a:t>
            </a:r>
          </a:p>
          <a:p/>
          <a:p>
            <a:r>
              <a:t>CARRY ON — “The fighting is over. Now: what do the books say the whole of it was?”</a:t>
            </a:r>
          </a:p>
          <a:p/>
          <a:p>
            <a:r>
              <a:t>──────── DETAIL — only if you need it ────────</a:t>
            </a:r>
          </a:p>
          <a:p/>
          <a:p>
            <a:r>
              <a:t>OUT OF TIME — this is your ending. Stay on this map, and say:</a:t>
            </a:r>
          </a:p>
          <a:p/>
          <a:p>
            <a:r>
              <a:t>“Two years after the Prophet ﷺ died, all of Arabia was on one side. Next week: what the books say the whole of it was.”</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Najrān, the Azd: who did not break away (11 AH).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So far tonight, every slide has been a front.</a:t>
            </a:r>
          </a:p>
          <a:p/>
          <a:p>
            <a:r>
              <a:t>2. Now the same months, from the side: who did not break at all.</a:t>
            </a:r>
          </a:p>
          <a:p/>
          <a:p>
            <a:r>
              <a:t>3. Some of them are the people you would least expect.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Muslim for only two years</a:t>
            </a:r>
          </a:p>
          <a:p/>
          <a:p>
            <a:r>
              <a:t>2. They did not flee, they did not turn</a:t>
            </a:r>
          </a:p>
          <a:p/>
          <a:p>
            <a:r>
              <a:t>   ↑ read the Arabic on the slide</a:t>
            </a:r>
          </a:p>
          <a:p/>
          <a:p>
            <a:r>
              <a:t>3. One young man stood among them</a:t>
            </a:r>
          </a:p>
          <a:p/>
          <a:p>
            <a:r>
              <a:t>4. Three caliphs left him there</a:t>
            </a:r>
          </a:p>
          <a:p/>
          <a:p>
            <a:r>
              <a:t>5. So it was not about how long</a:t>
            </a:r>
          </a:p>
          <a:p/>
          <a:p>
            <a:r>
              <a:t>LESSON — The newest Muslims in the peninsula held, and what was standing among them was a man the Prophet ﷺ had chosen and Abū Bakr ؓ left exactly where he was.</a:t>
            </a:r>
          </a:p>
          <a:p/>
          <a:p>
            <a:r>
              <a:t>ASK — Before beat 1: "Who do you think held firmer that year — the oldest Muslims in Arabia, or the newest?" newest?"</a:t>
            </a:r>
          </a:p>
          <a:p/>
          <a:p>
            <a:r>
              <a:t>──────── DETAIL — only if you need it ────────</a:t>
            </a:r>
          </a:p>
          <a:p/>
          <a:p>
            <a:r>
              <a:t>1. Thaqīf: Muslim for only two years — They came into Islam in the year 9, two years before all this.</a:t>
            </a:r>
          </a:p>
          <a:p>
            <a:r>
              <a:t>2. They did not flee, they did not turn — Ibn Kathīr's own words; read them off the slide.</a:t>
            </a:r>
          </a:p>
          <a:p>
            <a:r>
              <a:t>3. One young man stood among them — ʿUthmān b. Abī al-ʿĀṣ ؓ, whom the Prophet ﷺ put over them for his intelligence and his eagerness for good — the youngest man in the delegation.</a:t>
            </a:r>
          </a:p>
          <a:p>
            <a:r>
              <a:t>4. Three caliphs left him there — Abū Bakr ؓ confirmed him over al-Ṭāʾif, and ʿUmar ؓ after him.</a:t>
            </a:r>
          </a:p>
          <a:p>
            <a:r>
              <a:t>5. So it was not about how long — Tribes inside Islam far longer broke; the newest Muslims in the peninsula held.</a:t>
            </a:r>
          </a:p>
          <a:p/>
          <a:p>
            <a:r>
              <a:t>وقد كانت ثقيفُ بالطائف ثَبَتوا على الإسلام، لم يفرُّوا ولا ارتدّوا</a:t>
            </a:r>
          </a:p>
          <a:p>
            <a:r>
              <a:t>"Thaqīf at Ṭāʾif had stood firm upon Islam: they did not flee and they did not apostatise."</a:t>
            </a:r>
          </a:p>
          <a:p>
            <a:r>
              <a:t>— Ibn Kathīr, on Thaqīf · البدایہ والنہایہ ج۷ ص۹</a:t>
            </a:r>
          </a:p>
          <a:p/>
          <a:p>
            <a:r>
              <a:t>──────── BACKGROUND — for home, not for the lectern ────────</a:t>
            </a:r>
          </a:p>
          <a:p/>
          <a:p>
            <a:r>
              <a:t>The man, from سیر أعلام النبلاء ج2 ص374 (https://shamela.ws/book/10906/2354), الذہبی رحمہ اللہ</a:t>
            </a:r>
          </a:p>
          <a:p>
            <a:r>
              <a:t>on عثمان بن أبي العاص ؓ الثقفي الطائفي:</a:t>
            </a:r>
          </a:p>
          <a:p>
            <a:r>
              <a:t>&gt; قَدِمَ فِي وَفْدِ ثَقِيْفٍ عَلَى النَّبِيِّ ﷺ فِي سَنَةِ تِسْعٍ، فَأَسْلَمُوا، وَأَمَّرَهُ عَلَيْهِم لِمَا رَأَى مِنْ عَقْلِهِ وَحِرْصِهِ عَلَى الخَيْرِ وَالدِّيْنِ، وَكَانَ أَصْغَرَ الوَفْدِ سِنّاً. ثُمَّ أَقَرَّهُ أَبُو بَكْرٍ عَلَى الطَّائِفِ، ثُمَّ عُمَرُ</a:t>
            </a:r>
          </a:p>
          <a:p>
            <a:r>
              <a:t>&gt; English: "He came in the delegation of Thaqīf to the Prophet ﷺ in the year 9, and they became</a:t>
            </a:r>
          </a:p>
          <a:p>
            <a:r>
              <a:t>&gt; Muslim; and he put him in command over them for what he saw of his intelligence and his eagerness</a:t>
            </a:r>
          </a:p>
          <a:p>
            <a:r>
              <a:t>&gt; for good and for religion — and he was the youngest of the delegation in years. Then Abū Bakr</a:t>
            </a:r>
          </a:p>
          <a:p>
            <a:r>
              <a:t>&gt; confirmed him over Ṭāʾif, and then ʿUmar." ⚠ The famous line often attributed to عثمان بن أبي العاص ؓ — that Thaqīf were the last to enter</a:t>
            </a:r>
          </a:p>
          <a:p>
            <a:r>
              <a:t>Islam and would not be the first to leave it — could not be found on any page fetched in this pass.</a:t>
            </a:r>
          </a:p>
          <a:p>
            <a:r>
              <a:t>It is not at سیر ج2 ص374–375 and not at البدایہ ج7 ص9. Do not use it. (to verify)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Not everyone in Arabia was Muslim</a:t>
            </a:r>
          </a:p>
          <a:p/>
          <a:p>
            <a:r>
              <a:t>2. Najrān held the Prophet's ﷺ covenant</a:t>
            </a:r>
          </a:p>
          <a:p/>
          <a:p>
            <a:r>
              <a:t>3. They sent to renew it</a:t>
            </a:r>
          </a:p>
          <a:p/>
          <a:p>
            <a:r>
              <a:t>4. Abū Bakr ؓ wrote it down</a:t>
            </a:r>
          </a:p>
          <a:p/>
          <a:p>
            <a:r>
              <a:t>   ↑ read the Arabic on the slide</a:t>
            </a:r>
          </a:p>
          <a:p/>
          <a:p>
            <a:r>
              <a:t>5. No date and no names on the page</a:t>
            </a:r>
          </a:p>
          <a:p/>
          <a:p>
            <a:r>
              <a:t>6. Ibn Kathīr names them again</a:t>
            </a:r>
          </a:p>
          <a:p/>
          <a:p>
            <a:r>
              <a:t>LESSON — The war ended with the peninsula in two conditions, not one — and the book names the second condition with a community that never left.</a:t>
            </a:r>
          </a:p>
          <a:p/>
          <a:p>
            <a:r>
              <a:t>──────── DETAIL — only if you need it ────────</a:t>
            </a:r>
          </a:p>
          <a:p/>
          <a:p>
            <a:r>
              <a:t>1. Not everyone in Arabia was Muslim — And not every community that was not Muslim rose.</a:t>
            </a:r>
          </a:p>
          <a:p>
            <a:r>
              <a:t>2. Najrān held the Prophet's ﷺ covenant — A Christian community, under a covenant he ﷺ had given them himself.</a:t>
            </a:r>
          </a:p>
          <a:p>
            <a:r>
              <a:t>3. They sent to renew it — While Muslim tribes were breaking theirs, Najrān sent a delegation to Medina to renew its own.</a:t>
            </a:r>
          </a:p>
          <a:p>
            <a:r>
              <a:t>4. Abū Bakr ؓ wrote it down — He wrote them a document to that effect.</a:t>
            </a:r>
          </a:p>
          <a:p>
            <a:r>
              <a:t>5. No date and no names on the page — Ibn al-Athīr gives one sentence; supply nothing more.</a:t>
            </a:r>
          </a:p>
          <a:p>
            <a:r>
              <a:t>6. Ibn Kathīr names them again — When he sums the war up, the peninsula ends in obedience or covenant, "like the people of Najrān".</a:t>
            </a:r>
          </a:p>
          <a:p/>
          <a:p>
            <a:r>
              <a:t>أَرْسَلُوا وَفْدًا لِيُجَدِّدُوا عَهْدَهُمْ مَعَ أَبِي بَكْرٍ، فَكَتَبَ بِذَلِكَ كِتَابًا</a:t>
            </a:r>
          </a:p>
          <a:p>
            <a:r>
              <a:t>"They sent a delegation to renew their covenant with Abū Bakr, and he wrote a document to that effect."</a:t>
            </a:r>
          </a:p>
          <a:p>
            <a:r>
              <a:t>— Ibn al-Athīr, on Najrān · الکامل فی التاریخ ج۲ ص۲۲۷</a:t>
            </a:r>
          </a:p>
          <a:p/>
          <a:p>
            <a:r>
              <a:t>──────── BACKGROUND — for home, not for the lectern ────────</a:t>
            </a:r>
          </a:p>
          <a:p/>
          <a:p>
            <a:r>
              <a:t>⚠ Do not open the Najrān delegation of the Prophet's ﷺ lifetime, or the ⁨مباهلة⁩. That is a different</a:t>
            </a:r>
          </a:p>
          <a:p>
            <a:r>
              <a:t>subject and a different evening; tonight Najrān is one line in a campaign chapter.</a:t>
            </a:r>
          </a:p>
          <a:p>
            <a:r>
              <a:t>⚠ Single-source. ⁨البدایہ⁩ carries Najrān in RC36's summing-up but not this delegation. Say</a:t>
            </a:r>
          </a:p>
          <a:p>
            <a:r>
              <a:t>"Ibn al-Athīr records…".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Banū Tamīm: not one answer</a:t>
            </a:r>
          </a:p>
          <a:p/>
          <a:p>
            <a:r>
              <a:t>   ↑ read the Arabic on the slide</a:t>
            </a:r>
          </a:p>
          <a:p/>
          <a:p>
            <a:r>
              <a:t>2. Some withheld the zakāt</a:t>
            </a:r>
          </a:p>
          <a:p/>
          <a:p>
            <a:r>
              <a:t>3. Some sent it to Abū Bakr ؓ</a:t>
            </a:r>
          </a:p>
          <a:p/>
          <a:p>
            <a:r>
              <a:t>4. Some waited</a:t>
            </a:r>
          </a:p>
          <a:p/>
          <a:p>
            <a:r>
              <a:t>5. The tribe of al-Buṭāḥ</a:t>
            </a:r>
          </a:p>
          <a:p/>
          <a:p>
            <a:r>
              <a:t>6. No tribe is one colour</a:t>
            </a:r>
          </a:p>
          <a:p/>
          <a:p>
            <a:r>
              <a:t>LESSON — The honest map has three colours inside one tribe, and the sentence that licenses it is the book's own.</a:t>
            </a:r>
          </a:p>
          <a:p/>
          <a:p>
            <a:r>
              <a:t>ASK — Before showing it: "One tribe. How many different answers can it give at the same moment?"</a:t>
            </a:r>
          </a:p>
          <a:p/>
          <a:p>
            <a:r>
              <a:t>▶ NEXT SLIDE — the same words go on (2 slides in all)</a:t>
            </a:r>
          </a:p>
          <a:p/>
          <a:p>
            <a:r>
              <a:t>──────── DETAIL — only if you need it ────────</a:t>
            </a:r>
          </a:p>
          <a:p/>
          <a:p>
            <a:r>
              <a:t>1. Banū Tamīm: not one answer — The book stops its own narrative to say what they did, and it is three things.</a:t>
            </a:r>
          </a:p>
          <a:p>
            <a:r>
              <a:t>2. Some withheld the zakāt — Some of them turned.</a:t>
            </a:r>
          </a:p>
          <a:p>
            <a:r>
              <a:t>3. Some sent it to Abū Bakr ؓ — The ṣadaqa money went in to Medina.</a:t>
            </a:r>
          </a:p>
          <a:p>
            <a:r>
              <a:t>4. Some waited — They held back to see how the matter would go.</a:t>
            </a:r>
          </a:p>
          <a:p>
            <a:r>
              <a:t>5. The tribe of al-Buṭāḥ — The room met Banū Tamīm on evening 4; this is that tribe, counted honestly.</a:t>
            </a:r>
          </a:p>
          <a:p>
            <a:r>
              <a:t>6. No tribe is one colour — A map that shades Banū Tamīm a single colour is contradicted by the book it is drawn from.</a:t>
            </a:r>
          </a:p>
          <a:p/>
          <a:p>
            <a:r>
              <a:t>كانت بنو تميم قد اختلفتْ أراؤُهم أيام الرِّدَّة، فمنهم من ارتدَّ ومنعَ الزكاة، ومنهم منْ بعثَ بأموالِ الصَّدقات إلى الصدِّيق، ومنهم من توقف لينظر في أمره.</a:t>
            </a:r>
          </a:p>
          <a:p>
            <a:r>
              <a:t>"The views of Banū Tamīm differed in the days of the ridda: some of them apostatised and withheld the zakāt; some of them sent the ṣadaqa monies to al-Ṣiddīq; and some of them held back to see how the matter would go."</a:t>
            </a:r>
          </a:p>
          <a:p>
            <a:r>
              <a:t>— Ibn Kathīr, on Banū Tamīm · البدایہ والنہایہ ج۷ ص۲۸</a:t>
            </a:r>
          </a:p>
          <a:p/>
          <a:p>
            <a:r>
              <a:t>──────── BACKGROUND — for home, not for the lectern ────────</a:t>
            </a:r>
          </a:p>
          <a:p/>
          <a:p>
            <a:r>
              <a:t>Cross-reference: , and adds only the collectors' names 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فمنهم من ارتدَّ ومنعَ الزكاة</a:t>
            </a:r>
          </a:p>
          <a:p>
            <a:r>
              <a:t>some of them apostatised and withheld the zakāt</a:t>
            </a:r>
          </a:p>
          <a:p>
            <a:r>
              <a:t>ومنهم منْ بعثَ بأموالِ الصَّدقات إلى الصدِّيق</a:t>
            </a:r>
          </a:p>
          <a:p>
            <a:r>
              <a:t>some of them sent the ṣadaqa monies to al-Ṣiddīq</a:t>
            </a:r>
          </a:p>
          <a:p>
            <a:r>
              <a:t>ومنهم من توقف لينظر في أمره.</a:t>
            </a:r>
          </a:p>
          <a:p>
            <a:r>
              <a:t>and some of them held back to see how the matter would go.</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other side, in its own words</a:t>
            </a:r>
          </a:p>
          <a:p/>
          <a:p>
            <a:r>
              <a:t>2. "What is this rule of Abū Bakr?"</a:t>
            </a:r>
          </a:p>
          <a:p/>
          <a:p>
            <a:r>
              <a:t>   ↑ read the Arabic on the slide</a:t>
            </a:r>
          </a:p>
          <a:p/>
          <a:p>
            <a:r>
              <a:t>3. The longer version</a:t>
            </a:r>
          </a:p>
          <a:p/>
          <a:p>
            <a:r>
              <a:t>4. Not the prayer, not the Prophet ﷺ</a:t>
            </a:r>
          </a:p>
          <a:p/>
          <a:p>
            <a:r>
              <a:t>5. Only: who is obeyed now</a:t>
            </a:r>
          </a:p>
          <a:p/>
          <a:p>
            <a:r>
              <a:t>LESSON — The refusal stated itself in the language of who should rule, and the answer it was given was in the language of what is owed.</a:t>
            </a:r>
          </a:p>
          <a:p/>
          <a:p>
            <a:r>
              <a:t>──────── DETAIL — only if you need it ────────</a:t>
            </a:r>
          </a:p>
          <a:p/>
          <a:p>
            <a:r>
              <a:t>1. The other side, in its own words — The book twice prints a verse from the men who refused.</a:t>
            </a:r>
          </a:p>
          <a:p>
            <a:r>
              <a:t>2. "What is this rule of Abū Bakr?" — "We obeyed the Messenger of Allah while he was among us — so what is this about the rule of Abū Bakr?"</a:t>
            </a:r>
          </a:p>
          <a:p>
            <a:r>
              <a:t>3. The longer version — At ⁨ج7 ص20⁩ it asks whether it is to be left to Bakr after him, and calls that a thing that breaks the back.</a:t>
            </a:r>
          </a:p>
          <a:p>
            <a:r>
              <a:t>4. Not the prayer, not the Prophet ﷺ — Nothing in the lines denies either.</a:t>
            </a:r>
          </a:p>
          <a:p>
            <a:r>
              <a:t>5. Only: who is obeyed now — That is what the verse objects to. Say it and stop; it is not a verdict on anyone.</a:t>
            </a:r>
          </a:p>
          <a:p/>
          <a:p>
            <a:r>
              <a:t>أطعنَا رسولَ اللهِ إذْ كانَ بَيْننا … فواعَجَبًا ما بَالُ مُلْكِ أبي بَكْرِ</a:t>
            </a:r>
          </a:p>
          <a:p>
            <a:r>
              <a:t>"We obeyed the Messenger of Allah while he was among us — so how strange: what is this about the rule of Abū Bakr?"</a:t>
            </a:r>
          </a:p>
          <a:p>
            <a:r>
              <a:t>— A verse of the tribes that refused, as Ibn Kathīr records it · البدایہ والنہایہ ج۷ ص۱۸ (and again ج۷ ص۲۰ · </a:t>
            </a:r>
          </a:p>
          <a:p/>
          <a:p>
            <a:r>
              <a:t>──────── BACKGROUND — for home, not for the lectern ────────</a:t>
            </a:r>
          </a:p>
          <a:p/>
          <a:p>
            <a:r>
              <a:t>The four-line version at ج7 ص20 (https://shamela.ws/book/30097/3166) adds:</a:t>
            </a:r>
          </a:p>
          <a:p>
            <a:r>
              <a:t>«أيورثنا بَكْرًا إذا ماتَ بعدَه … وتِلكَ لَعمرُ الله قاصِمَةُ الظَّهرِ» — "Is he to leave us to Bakr as</a:t>
            </a:r>
          </a:p>
          <a:p>
            <a:r>
              <a:t>an inheritance when he dies? That, by God's life, breaks the back."</a:t>
            </a:r>
          </a:p>
          <a:p>
            <a:r>
              <a:t>⚠ Say whose words these are before reading them. They are a rebel's verse, printed by the book as</a:t>
            </a:r>
          </a:p>
          <a:p>
            <a:r>
              <a:t>the objection that was being made against the caliphate — not as a description of it. Pair this card</a:t>
            </a:r>
          </a:p>
          <a:p>
            <a:r>
              <a:t>with and so the room hears the objection and the answer in the same minute, and do not</a:t>
            </a:r>
          </a:p>
          <a:p>
            <a:r>
              <a:t>leave the verse standing alone at the end of a block.</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One tribe, two ends of the map</a:t>
            </a:r>
          </a:p>
          <a:p/>
          <a:p>
            <a:r>
              <a:t>2. The Anṣār are of al-Azd</a:t>
            </a:r>
          </a:p>
          <a:p/>
          <a:p>
            <a:r>
              <a:t>3. In Oman: behind Laqīṭ</a:t>
            </a:r>
          </a:p>
          <a:p/>
          <a:p>
            <a:r>
              <a:t>   ↑ read the Arabic on the slide</a:t>
            </a:r>
          </a:p>
          <a:p/>
          <a:p>
            <a:r>
              <a:t>4. At al-Yamāma: under Thābit b. Qays ؓ</a:t>
            </a:r>
          </a:p>
          <a:p/>
          <a:p>
            <a:r>
              <a:t>5. Same descent, opposite choices</a:t>
            </a:r>
          </a:p>
          <a:p/>
          <a:p>
            <a:r>
              <a:t>6. About that year only</a:t>
            </a:r>
          </a:p>
          <a:p/>
          <a:p>
            <a:r>
              <a:t>LESSON — Descent explains the vocabulary people used that year. It does not predict where any of them stood.</a:t>
            </a:r>
          </a:p>
          <a:p/>
          <a:p>
            <a:r>
              <a:t>ASK — Before telling it: "The Anṣār of Medina, and the tribe that rose in Oman — how are the two related?"</a:t>
            </a:r>
          </a:p>
          <a:p/>
          <a:p>
            <a:r>
              <a:t>──────── DETAIL — only if you need it ────────</a:t>
            </a:r>
          </a:p>
          <a:p/>
          <a:p>
            <a:r>
              <a:t>1. One tribe, two ends of the map — The fact that stops a genealogy from turning into a theory.</a:t>
            </a:r>
          </a:p>
          <a:p>
            <a:r>
              <a:t>2. The Anṣār are of al-Azd — And so are the Azd of Oman.</a:t>
            </a:r>
          </a:p>
          <a:p>
            <a:r>
              <a:t>3. In Oman: behind Laqīṭ — The Azd of Oman rose behind Laqīṭ b. Mālik al-Azdī, whom the room met last week.</a:t>
            </a:r>
          </a:p>
          <a:p>
            <a:r>
              <a:t>4. At al-Yamāma: under Thābit b. Qays ؓ — The Azd of Medina carried the Anṣār's banner; he dug his feet in to his shins and died standing.</a:t>
            </a:r>
          </a:p>
          <a:p>
            <a:r>
              <a:t>5. Same descent, opposite choices — In the same year.</a:t>
            </a:r>
          </a:p>
          <a:p>
            <a:r>
              <a:t>6. About that year only — It says nothing about anyone alive; do not let it.</a:t>
            </a:r>
          </a:p>
          <a:p/>
          <a:p>
            <a:r>
              <a:t>فنبغَ فيهم رجلٌ يقالَ له: ذو التاج لَقيطُ بن مالك الأَزدي، وكان يُسَمَّى في الجاهلية الجُلَنْدَى، فادّعى النُّبوَّة أيضًا</a:t>
            </a:r>
          </a:p>
          <a:p>
            <a:r>
              <a:t>"There arose among them a man called Dhū al-Tāj, Laqīṭ b. Mālik al-Azdī — who used to be called al-Julandā in the Jāhiliyya — and he too claimed prophethood."</a:t>
            </a:r>
          </a:p>
          <a:p>
            <a:r>
              <a:t>— Ibn Kathīr, on Oman · البدایہ والنہایہ ج۷ ص۴۱</a:t>
            </a:r>
          </a:p>
          <a:p/>
          <a:p>
            <a:r>
              <a:t>──────── BACKGROUND — for home, not for the lectern ────────</a:t>
            </a:r>
          </a:p>
          <a:p/>
          <a:p>
            <a:r>
              <a:t>This عبرت line is the safest and truest thing the speaker can say about the whole عدنان/قحطان</a:t>
            </a:r>
          </a:p>
          <a:p>
            <a:r>
              <a:t>strand, and it is what keeps the fault-line slides from becoming an ethnic theory. If only one</a:t>
            </a:r>
          </a:p>
          <a:p>
            <a:r>
              <a:t>sentence of survives the cut, keep this one.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12 AH: Ibn Kathīr and Ibn Masʿūd ؓ on the whole war.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Kathīr stops and sums up</a:t>
            </a:r>
          </a:p>
          <a:p/>
          <a:p>
            <a:r>
              <a:t>2. No region untouched</a:t>
            </a:r>
          </a:p>
          <a:p/>
          <a:p>
            <a:r>
              <a:t>   ↑ read the Arabic on the slide</a:t>
            </a:r>
          </a:p>
          <a:p/>
          <a:p>
            <a:r>
              <a:t>3. Armies sent to support believers</a:t>
            </a:r>
          </a:p>
          <a:p/>
          <a:p>
            <a:r>
              <a:t>4. The fifth went to Medina</a:t>
            </a:r>
          </a:p>
          <a:p/>
          <a:p>
            <a:r>
              <a:t>5. Obedience, or covenant</a:t>
            </a:r>
          </a:p>
          <a:p/>
          <a:p>
            <a:r>
              <a:t>6. The end of 11, the start of 12</a:t>
            </a:r>
          </a:p>
          <a:p/>
          <a:p>
            <a:r>
              <a:t>LESSON — The armies were sent to hold up people who were already standing, and the whole thing was over in a little more than a year.</a:t>
            </a:r>
          </a:p>
          <a:p/>
          <a:p>
            <a:r>
              <a:t>──────── DETAIL — only if you need it ────────</a:t>
            </a:r>
          </a:p>
          <a:p/>
          <a:p>
            <a:r>
              <a:t>1. Ibn Kathīr stops and sums up — At the end of his own account; this comes after Ḥaḍramawt, never before it.</a:t>
            </a:r>
          </a:p>
          <a:p>
            <a:r>
              <a:t>2. No region untouched — There was no part of Arabia in which some people did not turn.</a:t>
            </a:r>
          </a:p>
          <a:p>
            <a:r>
              <a:t>3. Armies sent to support believers — Abū Bakr ؓ sent commanders to help whichever believers were already standing in each region — not to subdue it.</a:t>
            </a:r>
          </a:p>
          <a:p>
            <a:r>
              <a:t>4. The fifth went to Medina — And was spent among the people.</a:t>
            </a:r>
          </a:p>
          <a:p>
            <a:r>
              <a:t>5. Obedience, or covenant — Until nobody was left but people in obedience and people under a covenant, "like the people of Najrān".</a:t>
            </a:r>
          </a:p>
          <a:p>
            <a:r>
              <a:t>6. The end of 11, the start of 12 — His own words for how long it took: two years, not a generation.</a:t>
            </a:r>
          </a:p>
          <a:p/>
          <a:p>
            <a:r>
              <a:t>ما من ناحية من جزيرة العرب إلا وحصلَ في أهلها ردَّةٌ لبعض الناس، فبعثَ الصدِّيقُ إليهم جيوشًا وأمراء يكونون عونًا لمن في تلك الناحية من المؤمنين … ولم يزل الأمر كذلك حتى لم يبق بجزيرة العرب إلَّا أهل طاعة للّه ولرسوله، وأهل ذمة من الصديق، كأهل نجران وما جرى مجراهم ولله الحمد. وعامة ما وقع من هذه الحروب كان في أواخر سنة إحدى عشرة وأوائل سنة ثنتي عشرة.</a:t>
            </a:r>
          </a:p>
          <a:p>
            <a:r>
              <a:t>"There was no region of the Arabian peninsula in which apostasy did not occur among some of its people; so al-Ṣiddīq sent them armies and commanders to be a support to whichever believers were in that region … And matters continued so until there remained in the peninsula none but people obedient to Allah and His Messenger, and people under al-Ṣiddīq's protection, such as the people of Najrān. The general run of these wars was in the last part of the year 11 and the first part of the year 12."</a:t>
            </a:r>
          </a:p>
          <a:p>
            <a:r>
              <a:t>— Ibn Kathīr, summing up the war · البدایہ والنہایہ ج۷ ص۴۳</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isnād is given. Narrate it as what the book carries.</a:t>
            </a:r>
          </a:p>
          <a:p/>
          <a:p>
            <a:r>
              <a:t>SAY</a:t>
            </a:r>
          </a:p>
          <a:p/>
          <a:p>
            <a:r>
              <a:t>1. Ibn al-Athīr opens with a verdict</a:t>
            </a:r>
          </a:p>
          <a:p/>
          <a:p>
            <a:r>
              <a:t>2. ʿAbd Allāh b. Masʿūd ؓ is speaking</a:t>
            </a:r>
          </a:p>
          <a:p/>
          <a:p>
            <a:r>
              <a:t>3. "We nearly perished"</a:t>
            </a:r>
          </a:p>
          <a:p/>
          <a:p>
            <a:r>
              <a:t>   ↑ read the Arabic on the slide</a:t>
            </a:r>
          </a:p>
          <a:p/>
          <a:p>
            <a:r>
              <a:t>4. They had agreed not to fight</a:t>
            </a:r>
          </a:p>
          <a:p/>
          <a:p>
            <a:r>
              <a:t>5. To live quietly and worship</a:t>
            </a:r>
          </a:p>
          <a:p/>
          <a:p>
            <a:r>
              <a:t>6. The consensus went the other way</a:t>
            </a:r>
          </a:p>
          <a:p/>
          <a:p>
            <a:r>
              <a:t>7. Then Allah resolved Abū Bakr ؓ</a:t>
            </a:r>
          </a:p>
          <a:p/>
          <a:p>
            <a:r>
              <a:t>8. The two terms of evening 2</a:t>
            </a:r>
          </a:p>
          <a:p/>
          <a:p>
            <a:r>
              <a:t>LESSON — A Companion, looking back, says plainly that the right answer was not the one they had all agreed on.</a:t>
            </a:r>
          </a:p>
          <a:p/>
          <a:p>
            <a:r>
              <a:t>ASK — Before beat 4: "He says they had already agreed on something. What do you think they had agreed?"</a:t>
            </a:r>
          </a:p>
          <a:p/>
          <a:p>
            <a:r>
              <a:t>──────── DETAIL — only if you need it ────────</a:t>
            </a:r>
          </a:p>
          <a:p/>
          <a:p>
            <a:r>
              <a:t>1. Ibn al-Athīr opens with a verdict — Before any event of the Ridda, he quotes a Companion looking back.</a:t>
            </a:r>
          </a:p>
          <a:p>
            <a:r>
              <a:t>2. ʿAbd Allāh b. Masʿūd ؓ is speaking — The room knows him; no introduction.</a:t>
            </a:r>
          </a:p>
          <a:p>
            <a:r>
              <a:t>3. "We nearly perished" — "We stood, after the Messenger of Allah ﷺ, in a position in which we nearly perished — had Allah not favoured us with Abū Bakr."</a:t>
            </a:r>
          </a:p>
          <a:p>
            <a:r>
              <a:t>4. They had agreed not to fight — Over a young she-camel: a bint makhāḍ and a bint labūn.</a:t>
            </a:r>
          </a:p>
          <a:p>
            <a:r>
              <a:t>5. To live quietly and worship — To live off the Arab settlements and worship Allah until certainty came.</a:t>
            </a:r>
          </a:p>
          <a:p>
            <a:r>
              <a:t>6. The consensus went the other way — Say it plainly; a Companion is the one who records it.</a:t>
            </a:r>
          </a:p>
          <a:p>
            <a:r>
              <a:t>7. Then Allah resolved Abū Bakr ؓ — "Then Allah resolved for Abū Bakr to fight them."</a:t>
            </a:r>
          </a:p>
          <a:p>
            <a:r>
              <a:t>8. The two terms of evening 2 — He accepted nothing but the humiliating terms or the war that drives out; the loop closes on the words it opened with.</a:t>
            </a:r>
          </a:p>
          <a:p/>
          <a:p>
            <a:r>
              <a:t>لَقَدْ قُمْنَا بَعْدَ رَسُولِ اللَّهِ - صَلَّى اللَّهُ عَلَيْهِ وَسَلَّمَ - مَقَامًا كِدْنَا نَهْلِكُ فِيهِ، لَوْلَا أَنَّ اللَّهَ مَنَّ عَلَيْنَا بِأَبِي بَكْرٍ، أَجْمَعْنَا عَلَى أَنْ لَا نُقَاتِلَ عَلَى ابْنَةِ مَخَاضٍ وَابْنَةِ لَبُونٍ، وَأَنْ نَأْكُلَ قُرًى عَرَبِيَّةً، وَنَعْبُدَ اللَّهَ حَتَّى يَأْتِيَنَا الْيَقِين</a:t>
            </a:r>
          </a:p>
          <a:p>
            <a:r>
              <a:t>"We stood, after the Messenger of Allah ﷺ, in a position in which we nearly perished, had Allah not favoured us with Abū Bakr. We had agreed not to fight over a bint makhāḍ or a bint labūn, and to live off the Arab settlements, and to worship Allah until certainty came to us."</a:t>
            </a:r>
          </a:p>
          <a:p>
            <a:r>
              <a:t>— ʿAbd Allāh b. Masʿūd ؓ · الکامل فی التاریخ ج۲ ص۲۰۱</a:t>
            </a:r>
          </a:p>
          <a:p/>
          <a:p>
            <a:r>
              <a:t>──────── BACKGROUND — for home, not for the lectern ────────</a:t>
            </a:r>
          </a:p>
          <a:p/>
          <a:p>
            <a:r>
              <a:t>⚠ Ibn al-Athīr prints this at the head of the chapter with no isnād. Narrate it as what the book</a:t>
            </a:r>
          </a:p>
          <a:p>
            <a:r>
              <a:t>carries — "Ibn al-Athīr opens his account by quoting Ibn Masʿūd ؓ" — and build no ruling on it.</a:t>
            </a:r>
          </a:p>
          <a:p>
            <a:r>
              <a:t>⚠ This is not a ⁨مشاجرات⁩ card. It is a Companion praising Abū Bakr ؓ for a decision, and nothing in it</a:t>
            </a:r>
          </a:p>
          <a:p>
            <a:r>
              <a:t>judges anyone. Keep it there.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difference of judgement, not a dispute. Do not adjudicate.</a:t>
            </a:r>
          </a:p>
          <a:p/>
          <a:p>
            <a:r>
              <a:t>SAY</a:t>
            </a:r>
          </a:p>
          <a:p/>
          <a:p>
            <a:r>
              <a:t>1. Whom Abū Bakr ؓ would not appoint</a:t>
            </a:r>
          </a:p>
          <a:p/>
          <a:p>
            <a:r>
              <a:t>2. Not the men of Badr</a:t>
            </a:r>
          </a:p>
          <a:p/>
          <a:p>
            <a:r>
              <a:t>3. His reason</a:t>
            </a:r>
          </a:p>
          <a:p/>
          <a:p>
            <a:r>
              <a:t>   ↑ read the Arabic on the slide</a:t>
            </a:r>
          </a:p>
          <a:p/>
          <a:p>
            <a:r>
              <a:t>4. ʿUmar ؓ saw it differently</a:t>
            </a:r>
          </a:p>
          <a:p/>
          <a:p>
            <a:r>
              <a:t>5. Both views, on one page</a:t>
            </a:r>
          </a:p>
          <a:p/>
          <a:p>
            <a:r>
              <a:t>6. A difference of judgement, not a dispute</a:t>
            </a:r>
          </a:p>
          <a:p/>
          <a:p>
            <a:r>
              <a:t>LESSON — Two men who agreed about the war disagreed about who should run it, and the book records both without making a quarrel of it.</a:t>
            </a:r>
          </a:p>
          <a:p/>
          <a:p>
            <a:r>
              <a:t>▶ NEXT SLIDE — the same words go on (2 slides in all)</a:t>
            </a:r>
          </a:p>
          <a:p/>
          <a:p>
            <a:r>
              <a:t>──────── DETAIL — only if you need it ────────</a:t>
            </a:r>
          </a:p>
          <a:p/>
          <a:p>
            <a:r>
              <a:t>1. Whom Abū Bakr ؓ would not appoint — He had a policy about who did not get commands.</a:t>
            </a:r>
          </a:p>
          <a:p>
            <a:r>
              <a:t>2. Not the men of Badr — "I leave them so they may meet Allah with their good deeds."</a:t>
            </a:r>
          </a:p>
          <a:p>
            <a:r>
              <a:t>3. His reason — Allah wards off harm through such men more than He gives victory through them.</a:t>
            </a:r>
          </a:p>
          <a:p>
            <a:r>
              <a:t>4. ʿUmar ؓ saw it differently — The book records, on the same page, that he held they should be employed.</a:t>
            </a:r>
          </a:p>
          <a:p>
            <a:r>
              <a:t>5. Both views, on one page — Two men who agreed about the war disagreed about who should run it.</a:t>
            </a:r>
          </a:p>
          <a:p>
            <a:r>
              <a:t>6. A difference of judgement, not a dispute — Do not dress it as one, and do not adjudicate it.</a:t>
            </a:r>
          </a:p>
          <a:p/>
          <a:p>
            <a:r>
              <a:t>لَا أَسْتَعْمِلُ أَهْلَ بَدْرٍ، أَدَعُهُمْ حَتَّى يَلْقَوُا اللَّهَ بِصَالِحِ أَعْمَالِهِمْ، فَإِنَّ اللَّهَ يَدْفَعُ بِهِمْ وَبِالصَّالِحِينَ أَكْثَرَ مِمَّا يَنْتَصِرُ بِهِمْ. وَكَانَ عُمَرُ يَرَى اسْتِعْمَالَهُمْ عَلَى الْجُنْدِ وَغَيْرِهِ.</a:t>
            </a:r>
          </a:p>
          <a:p>
            <a:r>
              <a:t>"I do not put the men of Badr into office. I leave them so they may meet Allah with their good deeds — for Allah wards off by them and by the righteous more than He gives victory through them. And ʿUmar held that they should be employed over the troops and otherwise."</a:t>
            </a:r>
          </a:p>
          <a:p>
            <a:r>
              <a:t>— Abū Bakr ؓ — and, beside it, ʿUmar's ؓ view · الکامل فی التاریخ ج۲ ص۲۱۵</a:t>
            </a:r>
          </a:p>
          <a:p/>
          <a:p>
            <a:r>
              <a:t>──────── BACKGROUND — for home, not for the lectern ────────</a:t>
            </a:r>
          </a:p>
          <a:p/>
          <a:p>
            <a:r>
              <a:t>This is the safest possible demonstration of how the sources handle disagreement — a real</a:t>
            </a:r>
          </a:p>
          <a:p>
            <a:r>
              <a:t>difference of judgement between the first two caliphs, recorded plainly,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وَكَانَ عُمَرُ يَرَى اسْتِعْمَالَهُمْ عَلَى الْجُنْدِ وَغَيْرِهِ.</a:t>
            </a:r>
          </a:p>
          <a:p>
            <a:r>
              <a:t>And ʿUmar held that they should be employed over the troops and otherwise.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eleven banners, read back</a:t>
            </a:r>
          </a:p>
          <a:p/>
          <a:p>
            <a:r>
              <a:t>2. One sitting at Dhū al-Qaṣṣa</a:t>
            </a:r>
          </a:p>
          <a:p/>
          <a:p>
            <a:r>
              <a:t>3. Round the map, by name</a:t>
            </a:r>
          </a:p>
          <a:p/>
          <a:p>
            <a:r>
              <a:t>4. The books differ on the count</a:t>
            </a:r>
          </a:p>
          <a:p/>
          <a:p>
            <a:r>
              <a:t>5. Khālid b. Saʿīd ؓ: no battle on any page</a:t>
            </a:r>
          </a:p>
          <a:p/>
          <a:p>
            <a:r>
              <a:t>6. Ordered in one sitting</a:t>
            </a:r>
          </a:p>
          <a:p/>
          <a:p>
            <a:r>
              <a:t>LESSON — The whole war was ordered in one sitting, by a man who had just been turned back from leading it himself.</a:t>
            </a:r>
          </a:p>
          <a:p/>
          <a:p>
            <a:r>
              <a:t>ASK — Before the table: "Medina is one town. How many armies would you send out at once?"</a:t>
            </a:r>
          </a:p>
          <a:p/>
          <a:p>
            <a:r>
              <a:t>──────── DETAIL — only if you need it ────────</a:t>
            </a:r>
          </a:p>
          <a:p/>
          <a:p>
            <a:r>
              <a:t>1. The eleven banners, read back — A recap: the room saw this on evening 2; tonight every sector is settled.</a:t>
            </a:r>
          </a:p>
          <a:p>
            <a:r>
              <a:t>2. One sitting at Dhū al-Qaṣṣa — A day's ride from Medina: eleven banners tied, each commander given a region.</a:t>
            </a:r>
          </a:p>
          <a:p>
            <a:r>
              <a:t>3. Round the map, by name — Name them now that the room has met almost all of them.</a:t>
            </a:r>
          </a:p>
          <a:p>
            <a:r>
              <a:t>4. The books differ on the count — One of them folds two commands into one; say that and pick no number.</a:t>
            </a:r>
          </a:p>
          <a:p>
            <a:r>
              <a:t>5. Khālid b. Saʿīd ؓ: no battle on any page — He has the Syrian marches on the roster and nothing narrated of him there; say so aloud.</a:t>
            </a:r>
          </a:p>
          <a:p>
            <a:r>
              <a:t>6. Ordered in one sitting — By a man who had just been turned back from leading it himself.</a:t>
            </a:r>
          </a:p>
          <a:p/>
          <a:p>
            <a:r>
              <a:t>──────── IMAGE BRIEF — paste into the image generator ────────</a:t>
            </a:r>
          </a:p>
          <a:p/>
          <a:p>
            <a:r>
              <a:t>Eleven plain cloth banners on spear-shafts, planted upright in a row on open stony ground at first light, each a different muted colour, stirring slightly in the wind; a low line of dark hills behind. Nothing else on the ground.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Years later: ʿUmar ؓ as caliph</a:t>
            </a:r>
          </a:p>
          <a:p/>
          <a:p>
            <a:r>
              <a:t>2. "Shameful for Arabs to own Arabs"</a:t>
            </a:r>
          </a:p>
          <a:p/>
          <a:p>
            <a:r>
              <a:t>   ↑ read the Arabic on the slide</a:t>
            </a:r>
          </a:p>
          <a:p/>
          <a:p>
            <a:r>
              <a:t>3. A ransom price</a:t>
            </a:r>
          </a:p>
          <a:p/>
          <a:p>
            <a:r>
              <a:t>4. Lighter for Ḥanīfa and Kinda</a:t>
            </a:r>
          </a:p>
          <a:p/>
          <a:p>
            <a:r>
              <a:t>5. The women were found</a:t>
            </a:r>
          </a:p>
          <a:p/>
          <a:p>
            <a:r>
              <a:t>6. The state bought them back</a:t>
            </a:r>
          </a:p>
          <a:p/>
          <a:p>
            <a:r>
              <a:t>LESSON — The war's last act was the state buying back the people its own victory had taken.</a:t>
            </a:r>
          </a:p>
          <a:p/>
          <a:p>
            <a:r>
              <a:t>──────── DETAIL — only if you need it ────────</a:t>
            </a:r>
          </a:p>
          <a:p/>
          <a:p>
            <a:r>
              <a:t>1. Years later: ʿUmar ؓ as caliph — A look ahead, and say so; the page does not fix the year.</a:t>
            </a:r>
          </a:p>
          <a:p>
            <a:r>
              <a:t>2. "Shameful for Arabs to own Arabs" — He said it was a shameful thing for Arabs to own one another.</a:t>
            </a:r>
          </a:p>
          <a:p>
            <a:r>
              <a:t>3. A ransom price — He consulted, and set it: six or seven camels a head.</a:t>
            </a:r>
          </a:p>
          <a:p>
            <a:r>
              <a:t>4. Lighter for Ḥanīfa and Kinda — Because so many of their men had been killed — the two names of these evenings.</a:t>
            </a:r>
          </a:p>
          <a:p>
            <a:r>
              <a:t>5. The women were found — Sought out wherever they had been taken.</a:t>
            </a:r>
          </a:p>
          <a:p>
            <a:r>
              <a:t>6. The state bought them back — The war's last act was buying back the people its own victory had taken.</a:t>
            </a:r>
          </a:p>
          <a:p/>
          <a:p>
            <a:r>
              <a:t>إِنَّهُ لَقَبِيحٌ بِالْعَرَبِ أَنْ يَمْلِكَ بَعْضُهُمْ بَعْضًا</a:t>
            </a:r>
          </a:p>
          <a:p>
            <a:r>
              <a:t>"It is a shameful thing for the Arabs that some of them should own others."</a:t>
            </a:r>
          </a:p>
          <a:p>
            <a:r>
              <a:t>— ʿUmar ؓ, as caliph · الکامل فی التاریخ ج۲ ص۲۳۲ (the ransom terms run on to ج۲ ص۲۳۳</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Line</a:t>
            </a:r>
          </a:p>
          <a:p/>
          <a:p>
            <a:r>
              <a:t>SAY</a:t>
            </a:r>
          </a:p>
          <a:p/>
          <a:p>
            <a:r>
              <a:t>1. Both fronts — and then the whole war, seen from its end.</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map</a:t>
            </a:r>
          </a:p>
          <a:p/>
          <a:p>
            <a:r>
              <a:t>SAY</a:t>
            </a:r>
          </a:p>
          <a:p/>
          <a:p>
            <a:r>
              <a:t>1. Eleven banners left one sitting. Every sector is this colour now.</a:t>
            </a:r>
          </a:p>
          <a:p/>
          <a:p>
            <a:r>
              <a:t>⏱ Past 0:52 here — close here. This is the last checkpoint built.</a:t>
            </a:r>
          </a:p>
          <a:p/>
          <a:p>
            <a:r>
              <a:t>CARRY ON — “One question is left: why did it not break again?”</a:t>
            </a:r>
          </a:p>
          <a:p/>
          <a:p>
            <a:r>
              <a:t>──────── DETAIL — only if you need it ────────</a:t>
            </a:r>
          </a:p>
          <a:p/>
          <a:p>
            <a:r>
              <a:t>OUT OF TIME — this is your ending. Stay on this map, and say:</a:t>
            </a:r>
          </a:p>
          <a:p/>
          <a:p>
            <a:r>
              <a:t>“There were two empires on the other side of that desert. Next week: did either of them know?”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Khaldūn: why Arabia did not break again.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his name, and “as he reads it”. He never wrote this about the Ridda.</a:t>
            </a:r>
          </a:p>
          <a:p/>
          <a:p>
            <a:r>
              <a:t>SAY</a:t>
            </a:r>
          </a:p>
          <a:p/>
          <a:p>
            <a:r>
              <a:t>1. Ibn Khaldūn: a reader, not a witness</a:t>
            </a:r>
          </a:p>
          <a:p/>
          <a:p>
            <a:r>
              <a:t>2. His question</a:t>
            </a:r>
          </a:p>
          <a:p/>
          <a:p>
            <a:r>
              <a:t>3. Not more men</a:t>
            </a:r>
          </a:p>
          <a:p/>
          <a:p>
            <a:r>
              <a:t>4. The call removes rivalry</a:t>
            </a:r>
          </a:p>
          <a:p/>
          <a:p>
            <a:r>
              <a:t>   ↑ read the Arabic on the slide</a:t>
            </a:r>
          </a:p>
          <a:p/>
          <a:p>
            <a:r>
              <a:t>5. One direction</a:t>
            </a:r>
          </a:p>
          <a:p/>
          <a:p>
            <a:r>
              <a:t>6. "As Ibn Khaldūn reads it"</a:t>
            </a:r>
          </a:p>
          <a:p/>
          <a:p>
            <a:r>
              <a:t>LESSON — What changed in Arabia was not how many men there were, but which way they were all facing.</a:t>
            </a:r>
          </a:p>
          <a:p/>
          <a:p>
            <a:r>
              <a:t>ASK — Before beat 3: "What would you need, to turn that map into one army? More men?" Take two answers, then read him. had changed?"</a:t>
            </a:r>
          </a:p>
          <a:p/>
          <a:p>
            <a:r>
              <a:t>──────── DETAIL — only if you need it ────────</a:t>
            </a:r>
          </a:p>
          <a:p/>
          <a:p>
            <a:r>
              <a:t>1. Ibn Khaldūn: a reader, not a witness — رحمہ اللہ; he wrote seven centuries after these events, and his book asks why peoples rise and fall.</a:t>
            </a:r>
          </a:p>
          <a:p>
            <a:r>
              <a:t>2. His question — How does a peninsula that has just fragmented move against two empires within two years?</a:t>
            </a:r>
          </a:p>
          <a:p>
            <a:r>
              <a:t>3. Not more men — His answer multiplies nobody's numbers.</a:t>
            </a:r>
          </a:p>
          <a:p>
            <a:r>
              <a:t>4. The call removes rivalry — A religious call takes away the envy among people bound by kin, and points them all one way.</a:t>
            </a:r>
          </a:p>
          <a:p>
            <a:r>
              <a:t>5. One direction — Then nothing stands in front of them: the object is equal in every eye, and they will die for it.</a:t>
            </a:r>
          </a:p>
          <a:p>
            <a:r>
              <a:t>6. "As Ibn Khaldūn reads it" — He never wrote this about the Ridda; joining his chapter to the year 11 is this course's doing, not his.</a:t>
            </a:r>
          </a:p>
          <a:p/>
          <a:p>
            <a:r>
              <a:t>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a:p>
            <a:r>
              <a:t>"The reason for it … is that the religious colouring takes away the rivalry and mutual envy that are in people of عصبية, and makes their direction single, towards the truth. Then, once clear sight in their affair is theirs, nothing stands in their way — because the direction is one, the object is equal in all their eyes, and they will die for it."</a:t>
            </a:r>
          </a:p>
          <a:p>
            <a:r>
              <a:t>— Ibn Khaldūn — as he reads it · تاریخ ابن خلدون ج۱ ص۱۹۸</a:t>
            </a:r>
          </a:p>
          <a:p/>
          <a:p>
            <a:r>
              <a:t>──────── BACKGROUND — for home, not for the lectern ────────</a:t>
            </a:r>
          </a:p>
          <a:p/>
          <a:p>
            <a:r>
              <a:t>⚠ The slide must carry his name and the words "as he reads it". He never wrote this about the</a:t>
            </a:r>
          </a:p>
          <a:p>
            <a:r>
              <a:t>ridda; joining his chapter to the year eleven is our doing .</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Bahrayn: Juwāthā, al-Dahnāʾ, the trench, the sea.</a:t>
            </a:r>
          </a:p>
          <a:p/>
          <a:p>
            <a:r>
              <a:t>2. Kinda, two years earlier — then Ḥaḍramawt, to al-Nujayr.</a:t>
            </a:r>
          </a:p>
          <a:p/>
          <a:p>
            <a:r>
              <a:t>3. Medina: al-Ashʿath, in bonds — and pardoned.</a:t>
            </a:r>
          </a:p>
          <a:p/>
          <a:p>
            <a:r>
              <a:t>4. And the whole war — Ibn Kathīr, and Ibn Masʿūd ؓ.</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two patches here were grey.</a:t>
            </a:r>
          </a:p>
          <a:p/>
          <a:p>
            <a:r>
              <a:t>▶ CLICK 1 — Bahrayn — held again.</a:t>
            </a:r>
          </a:p>
          <a:p/>
          <a:p>
            <a:r>
              <a:t>▶ CLICK 2 — Ḥaḍramawt — the last front, taken.</a:t>
            </a:r>
          </a:p>
          <a:p/>
          <a:p>
            <a:r>
              <a:t>▶ CLICK 3 — The peninsula, in one colour.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Bahrayn</a:t>
            </a:r>
          </a:p>
          <a:p/>
          <a:p>
            <a:r>
              <a:t>2. al-Dahnāʾ</a:t>
            </a:r>
          </a:p>
          <a:p/>
          <a:p>
            <a:r>
              <a:t>3. Ḥaḍramawt</a:t>
            </a:r>
          </a:p>
          <a:p/>
          <a:p>
            <a:r>
              <a:t>4. al-Ashʿath ؓ</a:t>
            </a:r>
          </a:p>
          <a:p/>
          <a:p>
            <a:r>
              <a:t>5. Ibn Masʿūd ؓ, on the war</a:t>
            </a:r>
          </a:p>
          <a:p/>
          <a:p>
            <a:r>
              <a:t>──────── DETAIL — only if you need it ────────</a:t>
            </a:r>
          </a:p>
          <a:p/>
          <a:p>
            <a:r>
              <a:t>1. Bahrayn — He closed the roads behind the enemy before he opened one in front of himself.</a:t>
            </a:r>
          </a:p>
          <a:p>
            <a:r>
              <a:t>2. al-Dahnāʾ — He did not promise them water. He reminded them who they were.</a:t>
            </a:r>
          </a:p>
          <a:p>
            <a:r>
              <a:t>3. Ḥaḍramawt — The decision about al-Ashʿath was not taken in anger at the gate; it was sent to the man whose job it was.</a:t>
            </a:r>
          </a:p>
          <a:p>
            <a:r>
              <a:t>4. al-Ashʿath ؓ — A man who will say the worst thing about himself out loud has taken its power away from everybody else.</a:t>
            </a:r>
          </a:p>
          <a:p>
            <a:r>
              <a:t>5. Ibn Masʿūd ؓ, on the war — A Companion, looking back, says plainly that the right answer was not the one they had all agreed 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STOP HERE — ask it, and pause. Then a loud السلام علیکم — and the dua.</a:t>
            </a:r>
          </a:p>
          <a:p/>
          <a:p>
            <a:r>
              <a:t>IF YOU CARRY ON — ask it, and go straight on: Part IX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Persia and Rome: the other side of the desert (12 AH).</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zones are outlines. No page we hold gives either empire's borders.</a:t>
            </a:r>
          </a:p>
          <a:p/>
          <a:p>
            <a:r>
              <a:t>SAY</a:t>
            </a:r>
          </a:p>
          <a:p/>
          <a:p>
            <a:r>
              <a:t>1. All of Arabia is one colour. Now look past it.</a:t>
            </a:r>
          </a:p>
          <a:p/>
          <a:p>
            <a:r>
              <a:t>▶ CLICK 1 — Persia. You know how its king died: by his own son.</a:t>
            </a:r>
          </a:p>
          <a:p/>
          <a:p>
            <a:r>
              <a:t>▶ CLICK 2 — Rome. Its emperor is Heraclius, and Syria is his.</a:t>
            </a:r>
          </a:p>
          <a:p/>
          <a:p>
            <a:r>
              <a:t>2. What our books say of each, and what each was told.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the names as the page's. Do not reconcile them with other histories.</a:t>
            </a:r>
          </a:p>
          <a:p/>
          <a:p>
            <a:r>
              <a:t>⚠ Stop before Rustam and al-Qādisiyya — later evenings.</a:t>
            </a:r>
          </a:p>
          <a:p/>
          <a:p>
            <a:r>
              <a:t>SAY</a:t>
            </a:r>
          </a:p>
          <a:p/>
          <a:p>
            <a:r>
              <a:t>1. You know how Kisrā died</a:t>
            </a:r>
          </a:p>
          <a:p/>
          <a:p>
            <a:r>
              <a:t>2. The books name the son</a:t>
            </a:r>
          </a:p>
          <a:p/>
          <a:p>
            <a:r>
              <a:t>3. What Shīrā did to his own house</a:t>
            </a:r>
          </a:p>
          <a:p/>
          <a:p>
            <a:r>
              <a:t>4. So Persia had to search for a king</a:t>
            </a:r>
          </a:p>
          <a:p/>
          <a:p>
            <a:r>
              <a:t>5. One boy had been got away</a:t>
            </a:r>
          </a:p>
          <a:p/>
          <a:p>
            <a:r>
              <a:t>   ↑ read the Arabic on the slide</a:t>
            </a:r>
          </a:p>
          <a:p/>
          <a:p>
            <a:r>
              <a:t>6. That is the house the letter went to</a:t>
            </a:r>
          </a:p>
          <a:p/>
          <a:p>
            <a:r>
              <a:t>7. Ibn al-Athīr tells the search a year on</a:t>
            </a:r>
          </a:p>
          <a:p/>
          <a:p>
            <a:r>
              <a:t>LESSON — The throne they were about to face had been emptied by its own family.</a:t>
            </a:r>
          </a:p>
          <a:p/>
          <a:p>
            <a:r>
              <a:t>▶ NEXT SLIDE — the same words go on (2 slides in all)</a:t>
            </a:r>
          </a:p>
          <a:p/>
          <a:p>
            <a:r>
              <a:t>──────── DETAIL — only if you need it ────────</a:t>
            </a:r>
          </a:p>
          <a:p/>
          <a:p>
            <a:r>
              <a:t>1. You know how Kisrā died — Evening 3: “my Lord has killed your lord tonight” — by his own son.</a:t>
            </a:r>
          </a:p>
          <a:p>
            <a:r>
              <a:t>2. The books name the son — Shīrā.</a:t>
            </a:r>
          </a:p>
          <a:p>
            <a:r>
              <a:t>3. What Shīrā did to his own house — He gathered its women, and killed the males. Ibn al-Athīr says it in passing.</a:t>
            </a:r>
          </a:p>
          <a:p>
            <a:r>
              <a:t>4. So Persia had to search for a king — Its great men sent for the women of Kisrā's house, to find one male of the line.</a:t>
            </a:r>
          </a:p>
          <a:p>
            <a:r>
              <a:t>5. One boy had been got away — Yazdagird. His mother had sent him to her brothers. They made him king, at twenty-one.</a:t>
            </a:r>
          </a:p>
          <a:p>
            <a:r>
              <a:t>6. That is the house the letter went to — Khālid's ؓ letter was sent on “to Shīrā son of Kisrā, and Ardashīr son of Shīrā”.</a:t>
            </a:r>
          </a:p>
          <a:p>
            <a:r>
              <a:t>7. Ibn al-Athīr tells the search a year on — Under year 13. The killing it looks back to is older.</a:t>
            </a:r>
          </a:p>
          <a:p/>
          <a:p>
            <a:r>
              <a:t>لَمْ يَبْقَ إِلَّا غُلَامٌ يُدْعَى يَزْدَجِرْدَ مِنْ وَلَدِ شَهْرَيَارَ بْنِ كِسْرَى، وَأُمُّهُ مِنْ أَهْلِ بَادُورَيَا. فَأَرْسَلُوا إِلَيْهَا وَطَلَبُوهُ مِنْهَا، وَكَانَتْ قَدْ أَنْزَلَتْهُ أَيَّامَ شِيرَى حِينَ جَمَعَهُنَّ فَقَتَلَ الذُّكُورَ، وَأَرْسَلَتْهُ إِلَى أَخْوَالِهِ، فَلَمَّا سَأَلُوهَا عَنْهُ دَلَّتْهُمْ عَلَيْهِ، فَجَاءُوا بِهِ فَمَلَّكُوهُ وَهُوَ ابْنُ إِحْدَى وَعِشْرِينَ سَنَة</a:t>
            </a:r>
          </a:p>
          <a:p>
            <a:r>
              <a:t>“None is left but a boy called Yazdagird, of the line of Shahriyār son of Kisrā; his mother is of the people of Bādūrayā.” So they sent to her and asked her for him. She had got him away in the days of Shīrā — when he gathered them and killed the males — and had sent him to his mother's brothers. When they asked her about him she led them to him; and they brought him and made him king, at twenty-one.</a:t>
            </a:r>
          </a:p>
          <a:p>
            <a:r>
              <a:t>— Ibn al-Athīr, on how Persia found its last king · الکامل فی التاریخ ج۲ ص۲۸۴</a:t>
            </a:r>
          </a:p>
          <a:p/>
          <a:p>
            <a:r>
              <a:t>──────── BACKGROUND — for home, not for the lectern ────────</a:t>
            </a:r>
          </a:p>
          <a:p/>
          <a:p>
            <a:r>
              <a:t>Who the letter was sent on to:</a:t>
            </a:r>
          </a:p>
          <a:p>
            <a:r>
              <a:t>&gt; فكتب إليه خالدٌ فبعث هرمزُ بكتابِ خالدٍ إلى شيرَى بن كسرى، وأردشير بن شيرَى</a:t>
            </a:r>
          </a:p>
          <a:p>
            <a:r>
              <a:t>&gt; — البدایہ والنہایہ ج7 ص64 · https://shamela.ws/book/30097/3210</a:t>
            </a:r>
          </a:p>
          <a:p>
            <a:r>
              <a:t>&gt; English: “So Khālid wrote to him; and Hurmuz sent Khālid's letter on to Shīrā son of Kisrā, and Ardashīr son of Shīrā.” ⚠ Say the names as the page's, and do not reconcile them. General histories put Shīrā's death within months of</a:t>
            </a:r>
          </a:p>
          <a:p>
            <a:r>
              <a:t>his father's [CONVENTIONAL-ESTIMATE]; Ibn Kathīr's page, following Sayf, has the letter sent on to him in year 12.</a:t>
            </a:r>
          </a:p>
          <a:p>
            <a:r>
              <a:t>⚠ Narrate and stop. This is Persian court history told by Muslim historians. Rustam, the Bridge and</a:t>
            </a:r>
          </a:p>
          <a:p>
            <a:r>
              <a:t>al-Qādisiyya are later evenings — the page names Rustam and al-Fayrūzān; the slide does not.</a:t>
            </a:r>
          </a:p>
          <a:p>
            <a:r>
              <a:t>⚠ No dates for Shīrā, Ardashīr or Yazdagird are on any page we hold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وَكَانَتْ قَدْ أَنْزَلَتْهُ أَيَّامَ شِيرَى حِينَ جَمَعَهُنَّ فَقَتَلَ الذُّكُورَ، وَأَرْسَلَتْهُ إِلَى أَخْوَالِهِ</a:t>
            </a:r>
          </a:p>
          <a:p>
            <a:r>
              <a:t>She had got him away in the days of Shīrā — when he gathered them and killed the males — and had sent him to his mother's brothers.</a:t>
            </a:r>
          </a:p>
          <a:p>
            <a:r>
              <a:t>فَلَمَّا سَأَلُوهَا عَنْهُ دَلَّتْهُمْ عَلَيْهِ، فَجَاءُوا بِهِ فَمَلَّكُوهُ وَهُوَ ابْنُ إِحْدَى وَعِشْرِينَ سَنَة</a:t>
            </a:r>
          </a:p>
          <a:p>
            <a:r>
              <a:t>When they asked her about him she led them to him; and they brought him and made him king, at twenty-one.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Iraq and Syria: two letters leave, and what each empire heard (12–13 AH).</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Muḥarram 12 is al-Madāʾinī's date — say whose it is.</a:t>
            </a:r>
          </a:p>
          <a:p/>
          <a:p>
            <a:r>
              <a:t>SAY</a:t>
            </a:r>
          </a:p>
          <a:p/>
          <a:p>
            <a:r>
              <a:t>1. Khālid ؓ has just finished al-Yamāma</a:t>
            </a:r>
          </a:p>
          <a:p/>
          <a:p>
            <a:r>
              <a:t>▶ CLICK 1 — Khālid ؓ leaves al-Yamāma for the lower end of Iraq.</a:t>
            </a:r>
          </a:p>
          <a:p/>
          <a:p>
            <a:r>
              <a:t>2. Not “conquer Iraq”</a:t>
            </a:r>
          </a:p>
          <a:p/>
          <a:p>
            <a:r>
              <a:t>3. Call them first</a:t>
            </a:r>
          </a:p>
          <a:p/>
          <a:p>
            <a:r>
              <a:t>4. Then the jizya; then the sword</a:t>
            </a:r>
          </a:p>
          <a:p/>
          <a:p>
            <a:r>
              <a:t>5. Compel no one to march</a:t>
            </a:r>
          </a:p>
          <a:p/>
          <a:p>
            <a:r>
              <a:t>6. And use no man who turned</a:t>
            </a:r>
          </a:p>
          <a:p/>
          <a:p>
            <a:r>
              <a:t>7. Whose date it is</a:t>
            </a:r>
          </a:p>
          <a:p/>
          <a:p>
            <a:r>
              <a:t>▶ NEXT SLIDE — the Arabic, and its lesson</a:t>
            </a:r>
          </a:p>
          <a:p/>
          <a:p>
            <a:r>
              <a:t>──────── DETAIL — only if you need it ────────</a:t>
            </a:r>
          </a:p>
          <a:p/>
          <a:p>
            <a:r>
              <a:t>1. Khālid ؓ has just finished al-Yamāma — And a letter comes from Abū Bakr ؓ, in Medina.</a:t>
            </a:r>
          </a:p>
          <a:p>
            <a:r>
              <a:t>2. Not “conquer Iraq” — Come at Iraq from its lower end.</a:t>
            </a:r>
          </a:p>
          <a:p>
            <a:r>
              <a:t>3. Call them first — If they answer, they are Muslims: what is yours is theirs.</a:t>
            </a:r>
          </a:p>
          <a:p>
            <a:r>
              <a:t>4. Then the jizya; then the sword — In that order, as the order gives it.</a:t>
            </a:r>
          </a:p>
          <a:p>
            <a:r>
              <a:t>5. Compel no one to march — The first restraint: no man is forced to go.</a:t>
            </a:r>
          </a:p>
          <a:p>
            <a:r>
              <a:t>6. And use no man who turned — The second: nobody who apostatised, even if he has come back.</a:t>
            </a:r>
          </a:p>
          <a:p>
            <a:r>
              <a:t>7. Whose date it is — Muḥarram of year 12 is al-Madāʾinī's, by his chain. Ibn Kathīr reports it.</a:t>
            </a:r>
          </a:p>
          <a:p/>
          <a:p>
            <a: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a:p>
            <a:r>
              <a:t>"…that he should win the people over and call them to God; if they answered, well, and if not, take the jizya from them; and if they refused that, fight them. And he ordered him not to compel anyone to march with him, and not to make use of any man who had apostatised from Islam, even if he had returned to it."</a:t>
            </a:r>
          </a:p>
          <a:p>
            <a:r>
              <a:t>— Ibn Kathīr, on what Abū Bakr ؓ ordered Khālid ؓ · البدایہ والنہایہ ج۷ ص۶۲</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on what Abū Bakr ؓ ordered Khālid ؓ</a:t>
            </a:r>
          </a:p>
          <a:p/>
          <a:p>
            <a:r>
              <a:t>LESSON — A state that has just won a civil war and still refuses to conscript the defeated is telling you what it thinks it is for.</a:t>
            </a:r>
          </a:p>
          <a:p/>
          <a:p>
            <a:r>
              <a:t>▶ NEXT SLIDE — the same words go on (2 slides in all)</a:t>
            </a:r>
          </a:p>
          <a:p/>
          <a:p>
            <a:r>
              <a:t>──────── DETAIL — only if you need it ────────</a:t>
            </a:r>
          </a:p>
          <a:p/>
          <a:p>
            <a: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a:p>
            <a:r>
              <a:t>"…that he should win the people over and call them to God; if they answered, well, and if not, take the jizya from them; and if they refused that, fight them. And he ordered him not to compel anyone to march with him, and not to make use of any man who had apostatised from Islam, even if he had returned to it."</a:t>
            </a:r>
          </a:p>
          <a:p>
            <a:r>
              <a:t>— البدایہ والنہایہ ج۷ ص۶۲</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وأمره أن لا يُكْرِه أحدًا على المسير معه</a:t>
            </a:r>
          </a:p>
          <a:p>
            <a:r>
              <a:t>And he ordered him not to compel anyone to march with him</a:t>
            </a:r>
          </a:p>
          <a:p>
            <a:r>
              <a:t>ولا يستعينُ بمنِ ارتدّ عن الإسلام وإن كان [قد] عاد إليه</a:t>
            </a:r>
          </a:p>
          <a:p>
            <a:r>
              <a:t>and not to make use of any man who had apostatised from Islam, even if he had returned to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provinces are given, not taken. Nothing is taken tonight.</a:t>
            </a:r>
          </a:p>
          <a:p/>
          <a:p>
            <a:r>
              <a:t>SAY</a:t>
            </a:r>
          </a:p>
          <a:p/>
          <a:p>
            <a:r>
              <a:t>1. Arabia is finished; he turns to Syria</a:t>
            </a:r>
          </a:p>
          <a:p/>
          <a:p>
            <a:r>
              <a:t>2. Not one army</a:t>
            </a:r>
          </a:p>
          <a:p/>
          <a:p>
            <a:r>
              <a:t>3. The four</a:t>
            </a:r>
          </a:p>
          <a:p/>
          <a:p>
            <a:r>
              <a:t>▶ CLICK 1 — Four commanders, four separate roads — toward Syria.</a:t>
            </a:r>
          </a:p>
          <a:p/>
          <a:p>
            <a:r>
              <a:t>4. Four separate roads</a:t>
            </a:r>
          </a:p>
          <a:p/>
          <a:p>
            <a:r>
              <a:t>5. On foot, beside the riders</a:t>
            </a:r>
          </a:p>
          <a:p/>
          <a:p>
            <a:r>
              <a:t>6. He was following a verse</a:t>
            </a:r>
          </a:p>
          <a:p/>
          <a:p>
            <a:r>
              <a:t>7. Nothing is taken tonight</a:t>
            </a:r>
          </a:p>
          <a:p/>
          <a:p>
            <a:r>
              <a:t>▶ NEXT SLIDE — the Arabic, and its lesson</a:t>
            </a:r>
          </a:p>
          <a:p/>
          <a:p>
            <a:r>
              <a:t>──────── DETAIL — only if you need it ────────</a:t>
            </a:r>
          </a:p>
          <a:p/>
          <a:p>
            <a:r>
              <a:t>1. Arabia is finished; he turns to Syria — Early in year 13.</a:t>
            </a:r>
          </a:p>
          <a:p>
            <a:r>
              <a:t>2. Not one army — Four commanders, each given a province before it is taken.</a:t>
            </a:r>
          </a:p>
          <a:p>
            <a:r>
              <a:t>3. The four — Yazīd b. Abī Sufyān ؓ Damascus; Abū ʿUbayda ؓ Ḥimṣ; ʿAmr b. al-ʿĀṣ ؓ Palestine; Shuraḥbīl b. Ḥasana ؓ Jordan.</a:t>
            </a:r>
          </a:p>
          <a:p>
            <a:r>
              <a:t>4. Four separate roads — He orders each of them to take a different one.</a:t>
            </a:r>
          </a:p>
          <a:p>
            <a:r>
              <a:t>5. On foot, beside the riders — He walks out of Medina beside each of them, giving his instructions.</a:t>
            </a:r>
          </a:p>
          <a:p>
            <a:r>
              <a:t>6. He was following a verse — Ibn Kathīr: Yaʿqūb's words to his sons — do not enter by one gate.</a:t>
            </a:r>
          </a:p>
          <a:p>
            <a:r>
              <a:t>7. Nothing is taken tonight — The provinces are named. Their taking belongs to later evenings.</a:t>
            </a:r>
          </a:p>
          <a:p/>
          <a:p>
            <a:r>
              <a:t>﴿وَقَالَ يَابَنِيَّ لَا تَدْخُلُوا … مِنْ بَابٍ وَاحِدٍ وَادْخُلُوا مِنْ أَبْوَابٍ مُتَفَرِّقَةٍ …﴾ [يوسف: ٦٧]</a:t>
            </a:r>
          </a:p>
          <a:p>
            <a:r>
              <a:t>"O my sons, do not enter by one gate; enter by separate gates."</a:t>
            </a:r>
          </a:p>
          <a:p>
            <a:r>
              <a:t>— Yaʿqūb, peace be upon him, to his sons — Sūrat Yūsuf 67 · البدایہ والنہایہ ج۷ ص۸۳–۸۴</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Yaʿqūb, peace be upon him, to his sons — Sūrat Yūsuf 67</a:t>
            </a:r>
          </a:p>
          <a:p/>
          <a:p>
            <a:r>
              <a:t>LESSON — A plan is safer when it is not one plan.</a:t>
            </a:r>
          </a:p>
          <a:p/>
          <a:p>
            <a:r>
              <a:t>──────── DETAIL — only if you need it ────────</a:t>
            </a:r>
          </a:p>
          <a:p/>
          <a:p>
            <a:r>
              <a:t>﴿وَقَالَ يَابَنِيَّ لَا تَدْخُلُوا … مِنْ بَابٍ وَاحِدٍ وَادْخُلُوا مِنْ أَبْوَابٍ مُتَفَرِّقَةٍ …﴾ [يوسف: ٦٧]</a:t>
            </a:r>
          </a:p>
          <a:p>
            <a:r>
              <a:t>"O my sons, do not enter by one gate; enter by separate gates."</a:t>
            </a:r>
          </a:p>
          <a:p>
            <a:r>
              <a:t>— البدایہ والنہایہ ج۷ ص۸۳–۸۴</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Abū Sufyān's ؓ son, Muʿāwiya's ؓ brother — say it plainly; nothing of what came later.</a:t>
            </a:r>
          </a:p>
          <a:p/>
          <a:p>
            <a:r>
              <a:t>SAY</a:t>
            </a:r>
          </a:p>
          <a:p/>
          <a:p>
            <a:r>
              <a:t>1. Yazīd b. Abī Sufyān ؓ</a:t>
            </a:r>
          </a:p>
          <a:p/>
          <a:p>
            <a:r>
              <a:t>2. Abū Bakr ؓ walks him out</a:t>
            </a:r>
          </a:p>
          <a:p/>
          <a:p>
            <a:r>
              <a:t>3. Not a speech about victory</a:t>
            </a:r>
          </a:p>
          <a:p/>
          <a:p>
            <a:r>
              <a:t>4. “I have put you in office to test you”</a:t>
            </a:r>
          </a:p>
          <a:p/>
          <a:p>
            <a:r>
              <a:t>5. “Beware the arrogance of the Jāhiliyya”</a:t>
            </a:r>
          </a:p>
          <a:p/>
          <a:p>
            <a:r>
              <a:t>   ↑ read the Arabic on the slide</a:t>
            </a:r>
          </a:p>
          <a:p/>
          <a:p>
            <a:r>
              <a:t>6. Ibn al-Athīr's verdict</a:t>
            </a:r>
          </a:p>
          <a:p/>
          <a:p>
            <a:r>
              <a:t>LESSON — An appointment is a trial, not a reward, and saying so at the start is what makes the dismissal fair later.</a:t>
            </a:r>
          </a:p>
          <a:p/>
          <a:p>
            <a:r>
              <a:t>▶ NEXT SLIDE — the same words go on (2 slides in all)</a:t>
            </a:r>
          </a:p>
          <a:p/>
          <a:p>
            <a:r>
              <a:t>──────── DETAIL — only if you need it ────────</a:t>
            </a:r>
          </a:p>
          <a:p/>
          <a:p>
            <a:r>
              <a:t>1. Yazīd b. Abī Sufyān ؓ — Abū Sufyān's ؓ son and Muʿāwiya's ؓ brother: the house on last evening's family tree. He has the largest column.</a:t>
            </a:r>
          </a:p>
          <a:p>
            <a:r>
              <a:t>2. Abū Bakr ؓ walks him out — On foot, beside his horse.</a:t>
            </a:r>
          </a:p>
          <a:p>
            <a:r>
              <a:t>3. Not a speech about victory — A job description.</a:t>
            </a:r>
          </a:p>
          <a:p>
            <a:r>
              <a:t>4. “I have put you in office to test you” — Do well, and I extend your post; do badly, and I dismiss you.</a:t>
            </a:r>
          </a:p>
          <a:p>
            <a:r>
              <a:t>5. “Beware the arrogance of the Jāhiliyya” — God hates it, and hates those who carry it.</a:t>
            </a:r>
          </a:p>
          <a:p>
            <a:r>
              <a:t>6. Ibn al-Athīr's verdict — One of the best charges ever given to a man in office.</a:t>
            </a:r>
          </a:p>
          <a:p/>
          <a:p>
            <a:r>
              <a:t>إِنِّي قَدْ وَلَّيْتُكَ لِأَبْلُوَكَ وَأُجَرِّبَكَ وَأُخَرِّجَكَ، فَإِنْ أَحْسَنْتَ رَدَدْتُكَ إِلَى عَمَلِكَ وَزِدْتُكَ، وَإِنْ أَسَأْتَ عَزَلْتُك … فَإِيَّاكَ وَعُبِّيَّةَ الْجَاهِلِيَّةِ، فَإِنَّ اللَّهَ يُبْغِضُهَا وَيُبْغِضُ أَهْلَهَا</a:t>
            </a:r>
          </a:p>
          <a:p>
            <a:r>
              <a:t>"I have put you in office to test you, to try you and to bring you out. If you do well I will return you to your post and add to it; and if you do badly I will dismiss you … And beware the arrogance of the Jāhiliyya — God hates it, and hates those who carry it."</a:t>
            </a:r>
          </a:p>
          <a:p>
            <a:r>
              <a:t>— Abū Bakr ؓ, to Yazīd b. Abī Sufyān ؓ ·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 فَإِيَّاكَ وَعُبِّيَّةَ الْجَاهِلِيَّةِ، فَإِنَّ اللَّهَ يُبْغِضُهَا وَيُبْغِضُ أَهْلَهَا</a:t>
            </a:r>
          </a:p>
          <a:p>
            <a:r>
              <a:t>… And beware the arrogance of the Jāhiliyya — God hates it, and hates those who carry it.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to ʿAmr b. al-ʿĀṣ ؓ</a:t>
            </a:r>
          </a:p>
          <a:p/>
          <a:p>
            <a:r>
              <a:t>2. And leaves him free</a:t>
            </a:r>
          </a:p>
          <a:p/>
          <a:p>
            <a:r>
              <a:t>3. He answers in one sentence</a:t>
            </a:r>
          </a:p>
          <a:p/>
          <a:p>
            <a:r>
              <a:t>   ↑ read the Arabic on the slide</a:t>
            </a:r>
          </a:p>
          <a:p/>
          <a:p>
            <a:r>
              <a:t>4. “Shoot the hardest”</a:t>
            </a:r>
          </a:p>
          <a:p/>
          <a:p>
            <a:r>
              <a:t>LESSON — A man who lets himself be aimed by someone else has settled the question of who he is working for.</a:t>
            </a:r>
          </a:p>
          <a:p/>
          <a:p>
            <a:r>
              <a:t>▶ NEXT SLIDE — the same words go on (2 slides in all)</a:t>
            </a:r>
          </a:p>
          <a:p/>
          <a:p>
            <a:r>
              <a:t>──────── DETAIL — only if you need it ────────</a:t>
            </a:r>
          </a:p>
          <a:p/>
          <a:p>
            <a:r>
              <a:t>1. A letter to ʿAmr b. al-ʿĀṣ ؓ — Abū Bakr ؓ offers him the Syrian command.</a:t>
            </a:r>
          </a:p>
          <a:p>
            <a:r>
              <a:t>2. And leaves him free — He may keep the post he already has, if he prefers it.</a:t>
            </a:r>
          </a:p>
          <a:p>
            <a:r>
              <a:t>3. He answers in one sentence — Read it.</a:t>
            </a:r>
          </a:p>
          <a:p>
            <a:r>
              <a:t>4. “Shoot the hardest” — He asks to be sent where it is hardest.</a:t>
            </a:r>
          </a:p>
          <a:p/>
          <a:p>
            <a:r>
              <a:t>إِنِّي سَهْمٌ مِنْ سِهَامِ الْإِسْلَامِ، وَأَنْتَ بَعْدَ اللَّهِ الرَّامِي بِهَا وَالْجَامِعُ لَهَا، فَانْظُرْ أَشَدَّهَا وَأَخْشَاهَا وَأَفْضَلَهَا فَارْمِ بِه</a:t>
            </a:r>
          </a:p>
          <a:p>
            <a:r>
              <a:t>"I am one arrow of the arrows of Islam, and you — after God — are the one who shoots them and the one who gathers them. So look for the hardest of them, and the most feared, and the best, and shoot it."</a:t>
            </a:r>
          </a:p>
          <a:p>
            <a:r>
              <a:t>— ʿAmr b. al-ʿĀṣ ؓ, to Abū Bakr ؓ ·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فَانْظُرْ أَشَدَّهَا وَأَخْشَاهَا وَأَفْضَلَهَا فَارْمِ بِه</a:t>
            </a:r>
          </a:p>
          <a:p>
            <a:r>
              <a:t>So look for the hardest of them, and the most feared, and the best, and shoot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he had taken al-Ḥīra. The page says its people chose the jizya.</a:t>
            </a:r>
          </a:p>
          <a:p/>
          <a:p>
            <a:r>
              <a:t>SAY</a:t>
            </a:r>
          </a:p>
          <a:p/>
          <a:p>
            <a:r>
              <a:t>1. Khālid ؓ is in lower Iraq</a:t>
            </a:r>
          </a:p>
          <a:p/>
          <a:p>
            <a:r>
              <a:t>▶ CLICK 1 — A letter goes to al-Madāʾin — not an army.</a:t>
            </a:r>
          </a:p>
          <a:p/>
          <a:p>
            <a:r>
              <a:t>2. He does not march on al-Madāʾin</a:t>
            </a:r>
          </a:p>
          <a:p/>
          <a:p>
            <a:r>
              <a:t>3. How we have the letter</a:t>
            </a:r>
          </a:p>
          <a:p/>
          <a:p>
            <a:r>
              <a:t>4. What he says of Persia</a:t>
            </a:r>
          </a:p>
          <a:p/>
          <a:p>
            <a:r>
              <a:t>5. One offer, one alternative</a:t>
            </a:r>
          </a:p>
          <a:p/>
          <a:p>
            <a:r>
              <a:t>6. “A people who love death as you love life”</a:t>
            </a:r>
          </a:p>
          <a:p/>
          <a:p>
            <a:r>
              <a:t>7. They were left marvelling</a:t>
            </a:r>
          </a:p>
          <a:p/>
          <a:p>
            <a:r>
              <a:t>▶ NEXT SLIDE — the Arabic, and its lesson</a:t>
            </a:r>
          </a:p>
          <a:p/>
          <a:p>
            <a:r>
              <a:t>ASK — Ask the room: how far is Medina from the Persian capital? Then tell them a letter went, before an army did.</a:t>
            </a:r>
          </a:p>
          <a:p/>
          <a:p>
            <a:r>
              <a:t>──────── DETAIL — only if you need it ────────</a:t>
            </a:r>
          </a:p>
          <a:p/>
          <a:p>
            <a:r>
              <a:t>1. Khālid ؓ is in lower Iraq — The first people he met there chose the jizya.</a:t>
            </a:r>
          </a:p>
          <a:p>
            <a:r>
              <a:t>2. He does not march on al-Madāʾin — He writes to it: to Kisrā's commanders, his marzubāns and his ministers.</a:t>
            </a:r>
          </a:p>
          <a:p>
            <a:r>
              <a:t>3. How we have the letter — al-Shaʿbī: the family of Buqayla read it out to him.</a:t>
            </a:r>
          </a:p>
          <a:p>
            <a:r>
              <a:t>4. What he says of Persia — “Praise be to Allah, who has broken up your company, taken away your kingship and weakened your scheming.”</a:t>
            </a:r>
          </a:p>
          <a:p>
            <a:r>
              <a:t>5. One offer, one alternative — Islam; or hostages, and a covenant of protection.</a:t>
            </a:r>
          </a:p>
          <a:p>
            <a:r>
              <a:t>6. “A people who love death as you love life” — Read the line.</a:t>
            </a:r>
          </a:p>
          <a:p>
            <a:r>
              <a:t>7. They were left marvelling — Ibn Kathīr's own last words on it.</a:t>
            </a:r>
          </a:p>
          <a:p/>
          <a:p>
            <a:r>
              <a:t>فابعثوا إليَّ بالرُّهن واعتقدوا مني الذِّمة، و (إلا) فوالذي لا إله غيره لأبعثن إليكم قومًا يحبّون الموتَ كما تحبّون أنتم الحياة</a:t>
            </a:r>
          </a:p>
          <a:p>
            <a:r>
              <a:t>"…so send me hostages and take a covenant of protection from me. Otherwise — by Him beside whom there is no god — I shall send against you a people who love death as you love life."</a:t>
            </a:r>
          </a:p>
          <a:p>
            <a:r>
              <a:t>— Khālid b. al-Walīd ؓ, to the marzubāns of Persia · البدایہ والنہایہ ج۷ ص۶۴</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Khālid b. al-Walīd ؓ, to the marzubāns of Persia</a:t>
            </a:r>
          </a:p>
          <a:p/>
          <a:p>
            <a:r>
              <a:t>LESSON — A man who has made peace with his own death is very difficult to bargain with.</a:t>
            </a:r>
          </a:p>
          <a:p/>
          <a:p>
            <a:r>
              <a:t>──────── DETAIL — only if you need it ────────</a:t>
            </a:r>
          </a:p>
          <a:p/>
          <a:p>
            <a:r>
              <a:t>فابعثوا إليَّ بالرُّهن واعتقدوا مني الذِّمة، و (إلا) فوالذي لا إله غيره لأبعثن إليكم قومًا يحبّون الموتَ كما تحبّون أنتم الحياة</a:t>
            </a:r>
          </a:p>
          <a:p>
            <a:r>
              <a:t>"…so send me hostages and take a covenant of protection from me. Otherwise — by Him beside whom there is no god — I shall send against you a people who love death as you love life."</a:t>
            </a:r>
          </a:p>
          <a:p>
            <a:r>
              <a:t>— البدایہ والنہایہ ج۷ ص۶۴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Muslim historian's report of a Roman council. Narrate it as the book's.</a:t>
            </a:r>
          </a:p>
          <a:p/>
          <a:p>
            <a:r>
              <a:t>⚠ Stop at “they refused”. The armies are the next evening.</a:t>
            </a:r>
          </a:p>
          <a:p/>
          <a:p>
            <a:r>
              <a:t>SAY</a:t>
            </a:r>
          </a:p>
          <a:p/>
          <a:p>
            <a:r>
              <a:t>1. The four columns are on the road</a:t>
            </a:r>
          </a:p>
          <a:p/>
          <a:p>
            <a:r>
              <a:t>2. “They feared greatly”</a:t>
            </a:r>
          </a:p>
          <a:p/>
          <a:p>
            <a:r>
              <a:t>3. Where he was</a:t>
            </a:r>
          </a:p>
          <a:p/>
          <a:p>
            <a:r>
              <a:t>4. Read what he said</a:t>
            </a:r>
          </a:p>
          <a:p/>
          <a:p>
            <a:r>
              <a:t>   ↑ read the Arabic on the slide</a:t>
            </a:r>
          </a:p>
          <a:p/>
          <a:p>
            <a:r>
              <a:t>5. His advice: make peace</a:t>
            </a:r>
          </a:p>
          <a:p/>
          <a:p>
            <a:r>
              <a:t>6. “Refuse, and they will take Syria”</a:t>
            </a:r>
          </a:p>
          <a:p/>
          <a:p>
            <a:r>
              <a:t>7. They refused</a:t>
            </a:r>
          </a:p>
          <a:p/>
          <a:p>
            <a:r>
              <a:t>8. Stop here</a:t>
            </a:r>
          </a:p>
          <a:p/>
          <a:p>
            <a:r>
              <a:t>LESSON — He saw it, and said it, and was not listened to.</a:t>
            </a:r>
          </a:p>
          <a:p/>
          <a:p>
            <a:r>
              <a:t>ASK — Before the name is said: who do you think spoke these words?</a:t>
            </a:r>
          </a:p>
          <a:p/>
          <a:p>
            <a:r>
              <a:t>▶ NEXT SLIDE — the same words go on (2 slides in all)</a:t>
            </a:r>
          </a:p>
          <a:p/>
          <a:p>
            <a:r>
              <a:t>──────── DETAIL — only if you need it ────────</a:t>
            </a:r>
          </a:p>
          <a:p/>
          <a:p>
            <a:r>
              <a:t>1. The four columns are on the road — And the Romans hear of it.</a:t>
            </a:r>
          </a:p>
          <a:p>
            <a:r>
              <a:t>2. “They feared greatly” — And they wrote to Heraclius, the emperor of the Romans.</a:t>
            </a:r>
          </a:p>
          <a:p>
            <a:r>
              <a:t>3. Where he was — At Ḥimṣ, it is said; or on pilgrimage that year at Bayt al-Maqdis. Ibn al-Athīr: in Jerusalem.</a:t>
            </a:r>
          </a:p>
          <a:p>
            <a:r>
              <a:t>4. Read what he said — “The people of a new religion; no one has the strength to face them.”</a:t>
            </a:r>
          </a:p>
          <a:p>
            <a:r>
              <a:t>5. His advice: make peace — Half the revenue of Syria, and the mountains remain yours.</a:t>
            </a:r>
          </a:p>
          <a:p>
            <a:r>
              <a:t>6. “Refuse, and they will take Syria” — And press you hard in your mountains as well.</a:t>
            </a:r>
          </a:p>
          <a:p>
            <a:r>
              <a:t>7. They refused — “They snorted at that”, the page says. He went to Ḥimṣ, and ordered the armies out.</a:t>
            </a:r>
          </a:p>
          <a:p>
            <a:r>
              <a:t>8. Stop here — What the armies did is the next evening.</a:t>
            </a:r>
          </a:p>
          <a:p/>
          <a:p>
            <a:r>
              <a:t>ويْحكم إن (هؤلاء) أهلُ دينٍ جديد، وإنهم لا قبلَ لأحدٍ بهم، فأطيعوني وصالحوهم بما تصالحونهم على نصفِ خراج الشام ويبقى لكم جبالُ الروم، وإن أنتم أبيتم ذلك أخذوا منكم الشام وضيقوا عليكم جبال الروم</a:t>
            </a:r>
          </a:p>
          <a:p>
            <a:r>
              <a:t>“Woe to you — these are the people of a new religion, and no one has the strength to face them. So obey me, and make peace with them — on half the revenue of Syria, and the mountains of the Romans remain yours. If you refuse that, they will take Syria from you, and press you hard in the mountains of the Romans.”</a:t>
            </a:r>
          </a:p>
          <a:p>
            <a:r>
              <a:t>— Heraclius, to the Romans — as Ibn Kathīr reports it · البدایہ والنہایہ ج۷ ص۸۶</a:t>
            </a:r>
          </a:p>
          <a:p/>
          <a:p>
            <a:r>
              <a:t>──────── BACKGROUND — for home, not for the lectern ────────</a:t>
            </a:r>
          </a:p>
          <a:p/>
          <a:p>
            <a:r>
              <a:t>The same, as Ibn al-Athīr has it:</a:t>
            </a:r>
          </a:p>
          <a:p>
            <a:r>
              <a:t>&gt; فَبَلَغَ الرُّومُ ذَلِكَ فَكَتَبُوا إِلَى هِرَقْلَ، وَكَانَ بِالْقُدْسِ، فَقَالَ: أَرَى أَنْ تُصَالِحُوا الْمُسْلِمِينَ، فَوَاللَّهِ لَأَنْ تُصَالِحُوهُمْ عَلَى نِصْفِ مَا يَحْصُلُ مِنَ الشَّامِ وَيَبْقَى لَكُمْ نَصِفُهُ مَعَ بِلَادِ الرُّومِ - أَحَبُّ إِلَيْكُمْ مِنْ أَنْ يَغْلِبُوكُمْ عَلَى الشَّامِ وَنِصْفِ بِلَادِ الرُّومِ. فَتَفَرَّقُوا عَنْهُ وَعَصَوْه</a:t>
            </a:r>
          </a:p>
          <a:p>
            <a:r>
              <a:t>&gt; — الکامل فی التاریخ ج2 ص251 · https://shamela.ws/book/21712/942</a:t>
            </a:r>
          </a:p>
          <a:p>
            <a:r>
              <a:t>&gt; English: “Word of that reached the Romans, and they wrote to Heraclius — he was in Jerusalem. He said: I think you should make peace with the Muslims. By God, to make peace with them for half of what Syria yields, and keep half of it along with the land of the Romans, is dearer to you than that they overcome you for Syria and half the land of the Romans. And they scattered from him, and disobeyed him.” Where he was, and what they did with his advice:</a:t>
            </a:r>
          </a:p>
          <a:p>
            <a:r>
              <a:t>&gt; فيقال: إنه كان يومئذ بحمص، ويقال: [بل] كان حج عامه ذلك إلى بيت المقدس</a:t>
            </a:r>
          </a:p>
          <a:p>
            <a:r>
              <a:t>&gt; — البدایہ والنہایہ ج7 ص86 · https://shamela.ws/book/30097/3232</a:t>
            </a:r>
          </a:p>
          <a:p>
            <a:r>
              <a:t>&gt; English: “It is said that he was at Ḥimṣ that day; and it is said: rather, he had made pilgrimage that year to Bayt al-Maqdis.” &gt; فنخروا من ذلك نخرةَ حُمُرِ الوَحْش</a:t>
            </a:r>
          </a:p>
          <a:p>
            <a:r>
              <a:t>&gt; — البدایہ والنہایہ ج7 ص86 · https://shamela.ws/book/30097/3232</a:t>
            </a:r>
          </a:p>
          <a:p>
            <a:r>
              <a:t>&gt; English: “And they snorted at that, the snort of wild asses.” ⚠ A Muslim historian's report of a Roman council — Ibn Kathīr marks it as Sayf's telling, with others. Narrate</a:t>
            </a:r>
          </a:p>
          <a:p>
            <a:r>
              <a:t>it as what the book carries; build nothing on its wording.</a:t>
            </a:r>
          </a:p>
          <a:p>
            <a:r>
              <a:t>⚠ Stop at “they refused”. The deployments that follow on the same page — ninety thousand against ʿAmr ؓ, and the</a:t>
            </a:r>
          </a:p>
          <a:p>
            <a:r>
              <a:t>rest — are and the next evening.</a:t>
            </a:r>
          </a:p>
          <a:p>
            <a:r>
              <a:t>⚠ Heraclius is new to the room. One breath: the emperor of the Romans. No dates for him are on a page we hold. ## القادسية, the embassy to رستم, and المدائن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فأطيعوني وصالحوهم بما تصالحونهم على نصفِ خراج الشام ويبقى لكم جبالُ الروم</a:t>
            </a:r>
          </a:p>
          <a:p>
            <a:r>
              <a:t>So obey me, and make peace with them — on half the revenue of Syria, and the mountains of the Romans remain yours.</a:t>
            </a:r>
          </a:p>
          <a:p>
            <a:r>
              <a:t>وإن أنتم أبيتم ذلك أخذوا منكم الشام وضيقوا عليكم جبال الروم</a:t>
            </a:r>
          </a:p>
          <a:p>
            <a:r>
              <a:t>If you refuse that, they will take Syria from you, and press you hard in the mountains of the Romans.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The Ridda, whole: every front, one colour.</a:t>
            </a:r>
          </a:p>
          <a:p/>
          <a:p>
            <a:r>
              <a:t>2. Muḥarram of year 12 — the order to Iraq.</a:t>
            </a:r>
          </a:p>
          <a:p/>
          <a:p>
            <a:r>
              <a:t>3. Early in year 13 — four commanders, four roads.</a:t>
            </a:r>
          </a:p>
          <a:p/>
          <a:p>
            <a:r>
              <a:t>4. And nothing taken yet.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the map ended at Arabia's edge.</a:t>
            </a:r>
          </a:p>
          <a:p/>
          <a:p>
            <a:r>
              <a:t>2. East: one commander, and one letter.</a:t>
            </a:r>
          </a:p>
          <a:p/>
          <a:p>
            <a:r>
              <a:t>3. North: four commanders, on four roads.</a:t>
            </a:r>
          </a:p>
          <a:p/>
          <a:p>
            <a:r>
              <a:t>4. Not a town has been taken.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Persia</a:t>
            </a:r>
          </a:p>
          <a:p/>
          <a:p>
            <a:r>
              <a:t>2. Iraq</a:t>
            </a:r>
          </a:p>
          <a:p/>
          <a:p>
            <a:r>
              <a:t>3. Syria</a:t>
            </a:r>
          </a:p>
          <a:p/>
          <a:p>
            <a:r>
              <a:t>4. Yazīd ؓ</a:t>
            </a:r>
          </a:p>
          <a:p/>
          <a:p>
            <a:r>
              <a:t>5. Rome</a:t>
            </a:r>
          </a:p>
          <a:p/>
          <a:p>
            <a:r>
              <a:t>──────── DETAIL — only if you need it ────────</a:t>
            </a:r>
          </a:p>
          <a:p/>
          <a:p>
            <a:r>
              <a:t>1. Persia — The throne they were about to face had been emptied by its own family.</a:t>
            </a:r>
          </a:p>
          <a:p>
            <a:r>
              <a:t>2. Iraq — A state that has just won a civil war and still refuses to conscript the defeated is telling you what it thinks it is for.</a:t>
            </a:r>
          </a:p>
          <a:p>
            <a:r>
              <a:t>3. Syria — A plan is safer when it is not one plan.</a:t>
            </a:r>
          </a:p>
          <a:p>
            <a:r>
              <a:t>4. Yazīd ؓ — An appointment is a trial, not a reward, and saying so at the start is what makes the dismissal fair later.</a:t>
            </a:r>
          </a:p>
          <a:p>
            <a:r>
              <a:t>5. Rome — He saw it, and said it, and was not listened to.</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27.png"/><Relationship Id="rId13" Type="http://schemas.openxmlformats.org/officeDocument/2006/relationships/image" Target="../media/image28.png"/><Relationship Id="rId14" Type="http://schemas.openxmlformats.org/officeDocument/2006/relationships/image" Target="../media/image29.png"/><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4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56.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59.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53.png"/><Relationship Id="rId10" Type="http://schemas.openxmlformats.org/officeDocument/2006/relationships/image" Target="../media/image61.png"/><Relationship Id="rId11" Type="http://schemas.openxmlformats.org/officeDocument/2006/relationships/image" Target="../media/image68.png"/><Relationship Id="rId12" Type="http://schemas.openxmlformats.org/officeDocument/2006/relationships/image" Target="../media/image69.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image" Target="../media/image101.png"/><Relationship Id="rId8" Type="http://schemas.openxmlformats.org/officeDocument/2006/relationships/image" Target="../media/image102.png"/><Relationship Id="rId9" Type="http://schemas.openxmlformats.org/officeDocument/2006/relationships/image" Target="../media/image103.png"/><Relationship Id="rId10" Type="http://schemas.openxmlformats.org/officeDocument/2006/relationships/image" Target="../media/image95.png"/><Relationship Id="rId11" Type="http://schemas.openxmlformats.org/officeDocument/2006/relationships/image" Target="../media/image104.png"/><Relationship Id="rId12" Type="http://schemas.openxmlformats.org/officeDocument/2006/relationships/image" Target="../media/image105.png"/><Relationship Id="rId1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99.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112.png"/><Relationship Id="rId10" Type="http://schemas.openxmlformats.org/officeDocument/2006/relationships/image" Target="../media/image103.png"/><Relationship Id="rId11" Type="http://schemas.openxmlformats.org/officeDocument/2006/relationships/image" Target="../media/image113.png"/><Relationship Id="rId12" Type="http://schemas.openxmlformats.org/officeDocument/2006/relationships/image" Target="../media/image105.png"/><Relationship Id="rId13" Type="http://schemas.openxmlformats.org/officeDocument/2006/relationships/image" Target="../media/image114.png"/><Relationship Id="rId1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07.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8.png"/><Relationship Id="rId8" Type="http://schemas.openxmlformats.org/officeDocument/2006/relationships/image" Target="../media/image119.png"/><Relationship Id="rId9" Type="http://schemas.openxmlformats.org/officeDocument/2006/relationships/image" Target="../media/image108.png"/><Relationship Id="rId10" Type="http://schemas.openxmlformats.org/officeDocument/2006/relationships/image" Target="../media/image109.png"/><Relationship Id="rId11" Type="http://schemas.openxmlformats.org/officeDocument/2006/relationships/image" Target="../media/image110.png"/><Relationship Id="rId12" Type="http://schemas.openxmlformats.org/officeDocument/2006/relationships/image" Target="../media/image111.png"/><Relationship Id="rId13" Type="http://schemas.openxmlformats.org/officeDocument/2006/relationships/image" Target="../media/image112.png"/><Relationship Id="rId14" Type="http://schemas.openxmlformats.org/officeDocument/2006/relationships/image" Target="../media/image120.png"/><Relationship Id="rId15" Type="http://schemas.openxmlformats.org/officeDocument/2006/relationships/image" Target="../media/image113.png"/><Relationship Id="rId16" Type="http://schemas.openxmlformats.org/officeDocument/2006/relationships/image" Target="../media/image121.png"/><Relationship Id="rId1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0.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jpg"/><Relationship Id="rId3" Type="http://schemas.openxmlformats.org/officeDocument/2006/relationships/image" Target="../media/image128.png"/><Relationship Id="rId4" Type="http://schemas.openxmlformats.org/officeDocument/2006/relationships/image" Target="../media/image123.png"/><Relationship Id="rId5" Type="http://schemas.openxmlformats.org/officeDocument/2006/relationships/image" Target="../media/image129.png"/><Relationship Id="rId6" Type="http://schemas.openxmlformats.org/officeDocument/2006/relationships/image" Target="../media/image130.png"/><Relationship Id="rId7" Type="http://schemas.openxmlformats.org/officeDocument/2006/relationships/image" Target="../media/image131.png"/><Relationship Id="rId8" Type="http://schemas.openxmlformats.org/officeDocument/2006/relationships/image" Target="../media/image132.png"/><Relationship Id="rId9" Type="http://schemas.openxmlformats.org/officeDocument/2006/relationships/image" Target="../media/image133.png"/><Relationship Id="rId10" Type="http://schemas.openxmlformats.org/officeDocument/2006/relationships/image" Target="../media/image134.png"/><Relationship Id="rId11" Type="http://schemas.openxmlformats.org/officeDocument/2006/relationships/image" Target="../media/image135.png"/><Relationship Id="rId12" Type="http://schemas.openxmlformats.org/officeDocument/2006/relationships/image" Target="../media/image102.png"/><Relationship Id="rId13" Type="http://schemas.openxmlformats.org/officeDocument/2006/relationships/image" Target="../media/image125.png"/><Relationship Id="rId14" Type="http://schemas.openxmlformats.org/officeDocument/2006/relationships/image" Target="../media/image136.png"/><Relationship Id="rId15" Type="http://schemas.openxmlformats.org/officeDocument/2006/relationships/image" Target="../media/image137.png"/><Relationship Id="rId16" Type="http://schemas.openxmlformats.org/officeDocument/2006/relationships/image" Target="../media/image138.png"/><Relationship Id="rId17" Type="http://schemas.openxmlformats.org/officeDocument/2006/relationships/image" Target="../media/image139.png"/><Relationship Id="rId18" Type="http://schemas.openxmlformats.org/officeDocument/2006/relationships/image" Target="../media/image140.png"/><Relationship Id="rId19" Type="http://schemas.openxmlformats.org/officeDocument/2006/relationships/image" Target="../media/image141.png"/><Relationship Id="rId20" Type="http://schemas.openxmlformats.org/officeDocument/2006/relationships/image" Target="../media/image126.png"/><Relationship Id="rId21" Type="http://schemas.openxmlformats.org/officeDocument/2006/relationships/image" Target="../media/image142.png"/><Relationship Id="rId2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jpg"/><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image" Target="../media/image147.png"/><Relationship Id="rId7" Type="http://schemas.openxmlformats.org/officeDocument/2006/relationships/image" Target="../media/image148.png"/><Relationship Id="rId8" Type="http://schemas.openxmlformats.org/officeDocument/2006/relationships/image" Target="../media/image149.png"/><Relationship Id="rId9" Type="http://schemas.openxmlformats.org/officeDocument/2006/relationships/image" Target="../media/image150.png"/><Relationship Id="rId10" Type="http://schemas.openxmlformats.org/officeDocument/2006/relationships/image" Target="../media/image151.png"/><Relationship Id="rId11" Type="http://schemas.openxmlformats.org/officeDocument/2006/relationships/image" Target="../media/image152.png"/><Relationship Id="rId12" Type="http://schemas.openxmlformats.org/officeDocument/2006/relationships/image" Target="../media/image153.png"/><Relationship Id="rId13" Type="http://schemas.openxmlformats.org/officeDocument/2006/relationships/image" Target="../media/image154.png"/><Relationship Id="rId14" Type="http://schemas.openxmlformats.org/officeDocument/2006/relationships/image" Target="../media/image155.png"/><Relationship Id="rId15" Type="http://schemas.openxmlformats.org/officeDocument/2006/relationships/image" Target="../media/image156.png"/><Relationship Id="rId16" Type="http://schemas.openxmlformats.org/officeDocument/2006/relationships/image" Target="../media/image157.png"/><Relationship Id="rId1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0.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3.jpg"/><Relationship Id="rId3" Type="http://schemas.openxmlformats.org/officeDocument/2006/relationships/image" Target="../media/image164.png"/><Relationship Id="rId4" Type="http://schemas.openxmlformats.org/officeDocument/2006/relationships/image" Target="../media/image165.png"/><Relationship Id="rId5" Type="http://schemas.openxmlformats.org/officeDocument/2006/relationships/image" Target="../media/image166.png"/><Relationship Id="rId6" Type="http://schemas.openxmlformats.org/officeDocument/2006/relationships/image" Target="../media/image167.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168.png"/><Relationship Id="rId10" Type="http://schemas.openxmlformats.org/officeDocument/2006/relationships/image" Target="../media/image169.png"/><Relationship Id="rId11" Type="http://schemas.openxmlformats.org/officeDocument/2006/relationships/image" Target="../media/image170.png"/><Relationship Id="rId1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jp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jpg"/><Relationship Id="rId3" Type="http://schemas.openxmlformats.org/officeDocument/2006/relationships/image" Target="../media/image174.png"/><Relationship Id="rId4" Type="http://schemas.openxmlformats.org/officeDocument/2006/relationships/image" Target="../media/image175.png"/><Relationship Id="rId5" Type="http://schemas.openxmlformats.org/officeDocument/2006/relationships/image" Target="../media/image173.png"/><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jpg"/><Relationship Id="rId3" Type="http://schemas.openxmlformats.org/officeDocument/2006/relationships/image" Target="../media/image174.png"/><Relationship Id="rId4" Type="http://schemas.openxmlformats.org/officeDocument/2006/relationships/image" Target="../media/image177.png"/><Relationship Id="rId5" Type="http://schemas.openxmlformats.org/officeDocument/2006/relationships/image" Target="../media/image178.png"/><Relationship Id="rId6" Type="http://schemas.openxmlformats.org/officeDocument/2006/relationships/image" Target="../media/image179.png"/><Relationship Id="rId7" Type="http://schemas.openxmlformats.org/officeDocument/2006/relationships/image" Target="../media/image180.png"/><Relationship Id="rId8" Type="http://schemas.openxmlformats.org/officeDocument/2006/relationships/image" Target="../media/image181.png"/><Relationship Id="rId9"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jp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image" Target="../media/image180.png"/><Relationship Id="rId7" Type="http://schemas.openxmlformats.org/officeDocument/2006/relationships/image" Target="../media/image182.png"/><Relationship Id="rId8" Type="http://schemas.openxmlformats.org/officeDocument/2006/relationships/image" Target="../media/image181.png"/><Relationship Id="rId9" Type="http://schemas.openxmlformats.org/officeDocument/2006/relationships/image" Target="../media/image183.png"/><Relationship Id="rId10"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4.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6</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Bahrayn and Ḥaḍramawt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11–12 AH — the last two fronts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cp2_line.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cp2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settled by ʿIkrima ؓ and Ḥudhayfa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Arabia, as the year 12 opens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pic>
        <p:nvPicPr>
          <p:cNvPr id="6" name="map" descr="s06-arabia-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pic>
        <p:nvPicPr>
          <p:cNvPr id="13" name="map label not yet told" descr="s06-arabia-r1-2-l_s06_17.png"/>
          <p:cNvPicPr>
            <a:picLocks noChangeAspect="1"/>
          </p:cNvPicPr>
          <p:nvPr/>
        </p:nvPicPr>
        <p:blipFill>
          <a:blip r:embed="rId3"/>
          <a:stretch>
            <a:fillRect/>
          </a:stretch>
        </p:blipFill>
        <p:spPr>
          <a:xfrm>
            <a:off x="4912888" y="2025514"/>
            <a:ext cx="1556160" cy="338646"/>
          </a:xfrm>
          <a:prstGeom prst="rect">
            <a:avLst/>
          </a:prstGeom>
        </p:spPr>
      </p:pic>
      <p:pic>
        <p:nvPicPr>
          <p:cNvPr id="14" name="map label not yet told" descr="s06-arabia-r1-2-l_s06_18.png"/>
          <p:cNvPicPr>
            <a:picLocks noChangeAspect="1"/>
          </p:cNvPicPr>
          <p:nvPr/>
        </p:nvPicPr>
        <p:blipFill>
          <a:blip r:embed="rId4"/>
          <a:stretch>
            <a:fillRect/>
          </a:stretch>
        </p:blipFill>
        <p:spPr>
          <a:xfrm>
            <a:off x="4074336" y="5331347"/>
            <a:ext cx="1556160"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sp>
        <p:nvSpPr>
          <p:cNvPr id="6" name="part-ar"/>
          <p:cNvSpPr txBox="1"/>
          <p:nvPr/>
        </p:nvSpPr>
        <p:spPr>
          <a:xfrm>
            <a:off x="566928" y="202768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استُهلَّت هذه السنة، وجيوشُ الصديق وأُمراؤه الذين بعثهم لقتال أهل الرّدّة</a:t>
            </a:r>
          </a:p>
        </p:txBody>
      </p:sp>
      <p:sp>
        <p:nvSpPr>
          <p:cNvPr id="7" name="part-en"/>
          <p:cNvSpPr txBox="1"/>
          <p:nvPr/>
        </p:nvSpPr>
        <p:spPr>
          <a:xfrm>
            <a:off x="566928" y="2826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This year began while al-Ṣiddīq's armies and his commanders, whom he had sent to fight the people of the ridda</a:t>
            </a:r>
          </a:p>
        </p:txBody>
      </p:sp>
      <p:sp>
        <p:nvSpPr>
          <p:cNvPr id="8" name="part-ar"/>
          <p:cNvSpPr txBox="1"/>
          <p:nvPr/>
        </p:nvSpPr>
        <p:spPr>
          <a:xfrm>
            <a:off x="566928" y="3885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جَوّالون في البلاد يمينًا وشمالًا</a:t>
            </a:r>
          </a:p>
        </p:txBody>
      </p:sp>
      <p:sp>
        <p:nvSpPr>
          <p:cNvPr id="9" name="part-en"/>
          <p:cNvSpPr txBox="1"/>
          <p:nvPr/>
        </p:nvSpPr>
        <p:spPr>
          <a:xfrm>
            <a:off x="566928" y="4684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were roving the land right and left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opening his chapter on the year 12</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Bahrayn: the front that began first (11→12 AH)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Gulf coast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From ʿIkrima's ؓ journey, to Bahrayn</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ʿIkrima's ؓ journey: Oman, then Mahra</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 the front that began before them</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the last front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Bahrayn, in the Prophet's ﷺ lifetime</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al-Mundhir b. Sāwā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holds Bahrayn for the Prophet ﷺ</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chief town</a:t>
            </a:r>
          </a:p>
        </p:txBody>
      </p:sp>
      <p:pic>
        <p:nvPicPr>
          <p:cNvPr id="13" name="map territory t_006" descr="s06-bahrayn-r1-3-t_006.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09" descr="s06-bahrayn-r1-3-t_009.png"/>
          <p:cNvPicPr>
            <a:picLocks noChangeAspect="1"/>
          </p:cNvPicPr>
          <p:nvPr/>
        </p:nvPicPr>
        <p:blipFill>
          <a:blip r:embed="rId4"/>
          <a:stretch>
            <a:fillRect/>
          </a:stretch>
        </p:blipFill>
        <p:spPr>
          <a:xfrm>
            <a:off x="5582118" y="2807626"/>
            <a:ext cx="1209451" cy="1544065"/>
          </a:xfrm>
          <a:prstGeom prst="rect">
            <a:avLst/>
          </a:prstGeom>
        </p:spPr>
      </p:pic>
      <p:pic>
        <p:nvPicPr>
          <p:cNvPr id="15" name="map arrow a_007" descr="s06-bahrayn-r1-3-a_007.png"/>
          <p:cNvPicPr>
            <a:picLocks noChangeAspect="1"/>
          </p:cNvPicPr>
          <p:nvPr/>
        </p:nvPicPr>
        <p:blipFill>
          <a:blip r:embed="rId5"/>
          <a:stretch>
            <a:fillRect/>
          </a:stretch>
        </p:blipFill>
        <p:spPr>
          <a:xfrm>
            <a:off x="1619150" y="3787281"/>
            <a:ext cx="4640260" cy="653103"/>
          </a:xfrm>
          <a:prstGeom prst="rect">
            <a:avLst/>
          </a:prstGeom>
        </p:spPr>
      </p:pic>
      <p:pic>
        <p:nvPicPr>
          <p:cNvPr id="16" name="map army al-Mundhir ؓ" descr="s06-bahrayn-r1-3-a_010.png"/>
          <p:cNvPicPr>
            <a:picLocks noChangeAspect="1"/>
          </p:cNvPicPr>
          <p:nvPr/>
        </p:nvPicPr>
        <p:blipFill>
          <a:blip r:embed="rId6"/>
          <a:stretch>
            <a:fillRect/>
          </a:stretch>
        </p:blipFill>
        <p:spPr>
          <a:xfrm>
            <a:off x="4425076" y="2787468"/>
            <a:ext cx="2539847" cy="854678"/>
          </a:xfrm>
          <a:prstGeom prst="rect">
            <a:avLst/>
          </a:prstGeom>
        </p:spPr>
      </p:pic>
      <p:pic>
        <p:nvPicPr>
          <p:cNvPr id="17" name="map label sent by the Prophet ﷺ" descr="s06-bahrayn-r1-3-l_008.png"/>
          <p:cNvPicPr>
            <a:picLocks noChangeAspect="1"/>
          </p:cNvPicPr>
          <p:nvPr/>
        </p:nvPicPr>
        <p:blipFill>
          <a:blip r:embed="rId7"/>
          <a:stretch>
            <a:fillRect/>
          </a:stretch>
        </p:blipFill>
        <p:spPr>
          <a:xfrm>
            <a:off x="2723782" y="3158367"/>
            <a:ext cx="2846241" cy="34267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1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600"/>
                                        <p:tgtEl>
                                          <p:spTgt spid="16"/>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holds ʿAbd al-Qays to Islam</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leads Bakr b. Wāʾil out</a:t>
            </a:r>
          </a:p>
        </p:txBody>
      </p:sp>
      <p:pic>
        <p:nvPicPr>
          <p:cNvPr id="13" name="map territory t_009" descr="s06-bahrayn-r1-3-t_009.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12" descr="s06-bahrayn-r3-6-t_012.png"/>
          <p:cNvPicPr>
            <a:picLocks noChangeAspect="1"/>
          </p:cNvPicPr>
          <p:nvPr/>
        </p:nvPicPr>
        <p:blipFill>
          <a:blip r:embed="rId4"/>
          <a:stretch>
            <a:fillRect/>
          </a:stretch>
        </p:blipFill>
        <p:spPr>
          <a:xfrm>
            <a:off x="5582118" y="2807626"/>
            <a:ext cx="1209451" cy="1544065"/>
          </a:xfrm>
          <a:prstGeom prst="rect">
            <a:avLst/>
          </a:prstGeom>
        </p:spPr>
      </p:pic>
      <p:pic>
        <p:nvPicPr>
          <p:cNvPr id="15" name="map army al-Mundhir ؓ" descr="s06-bahrayn-r1-3-a_010.png"/>
          <p:cNvPicPr>
            <a:picLocks noChangeAspect="1"/>
          </p:cNvPicPr>
          <p:nvPr/>
        </p:nvPicPr>
        <p:blipFill>
          <a:blip r:embed="rId5"/>
          <a:stretch>
            <a:fillRect/>
          </a:stretch>
        </p:blipFill>
        <p:spPr>
          <a:xfrm>
            <a:off x="4425076" y="2787468"/>
            <a:ext cx="2539847" cy="854678"/>
          </a:xfrm>
          <a:prstGeom prst="rect">
            <a:avLst/>
          </a:prstGeom>
        </p:spPr>
      </p:pic>
      <p:pic>
        <p:nvPicPr>
          <p:cNvPr id="16" name="map army al-Jārūd ؓ" descr="s06-bahrayn-r3-6-a_013.png"/>
          <p:cNvPicPr>
            <a:picLocks noChangeAspect="1"/>
          </p:cNvPicPr>
          <p:nvPr/>
        </p:nvPicPr>
        <p:blipFill>
          <a:blip r:embed="rId6"/>
          <a:stretch>
            <a:fillRect/>
          </a:stretch>
        </p:blipFill>
        <p:spPr>
          <a:xfrm>
            <a:off x="6122340" y="3577643"/>
            <a:ext cx="2027846" cy="850647"/>
          </a:xfrm>
          <a:prstGeom prst="rect">
            <a:avLst/>
          </a:prstGeom>
        </p:spPr>
      </p:pic>
      <p:pic>
        <p:nvPicPr>
          <p:cNvPr id="17" name="map army al-Ḥuṭam" descr="s06-bahrayn-r3-6-a_015.png"/>
          <p:cNvPicPr>
            <a:picLocks noChangeAspect="1"/>
          </p:cNvPicPr>
          <p:nvPr/>
        </p:nvPicPr>
        <p:blipFill>
          <a:blip r:embed="rId7"/>
          <a:stretch>
            <a:fillRect/>
          </a:stretch>
        </p:blipFill>
        <p:spPr>
          <a:xfrm>
            <a:off x="5283787" y="1690900"/>
            <a:ext cx="2019783" cy="826458"/>
          </a:xfrm>
          <a:prstGeom prst="rect">
            <a:avLst/>
          </a:prstGeom>
        </p:spPr>
      </p:pic>
      <p:pic>
        <p:nvPicPr>
          <p:cNvPr id="18" name="map label al-Mundhir ؓ dies" descr="s06-bahrayn-r3-6-l_011.png"/>
          <p:cNvPicPr>
            <a:picLocks noChangeAspect="1"/>
          </p:cNvPicPr>
          <p:nvPr/>
        </p:nvPicPr>
        <p:blipFill>
          <a:blip r:embed="rId8"/>
          <a:stretch>
            <a:fillRect/>
          </a:stretch>
        </p:blipFill>
        <p:spPr>
          <a:xfrm>
            <a:off x="5650654" y="3355910"/>
            <a:ext cx="2233453" cy="330583"/>
          </a:xfrm>
          <a:prstGeom prst="rect">
            <a:avLst/>
          </a:prstGeom>
        </p:spPr>
      </p:pic>
      <p:pic>
        <p:nvPicPr>
          <p:cNvPr id="19" name="map label Rabīʿa turn" descr="s06-bahrayn-r3-6-l_014.png"/>
          <p:cNvPicPr>
            <a:picLocks noChangeAspect="1"/>
          </p:cNvPicPr>
          <p:nvPr/>
        </p:nvPicPr>
        <p:blipFill>
          <a:blip r:embed="rId9"/>
          <a:stretch>
            <a:fillRect/>
          </a:stretch>
        </p:blipFill>
        <p:spPr>
          <a:xfrm>
            <a:off x="6291663" y="3049516"/>
            <a:ext cx="1564223" cy="2942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xit" presetSubtype="0" fill="hold" grpId="0" nodeType="clickEffect">
                                  <p:stCondLst>
                                    <p:cond delay="0"/>
                                  </p:stCondLst>
                                  <p:childTnLst>
                                    <p:animEffect transition="out" filter="fade">
                                      <p:cBhvr>
                                        <p:cTn id="3" dur="600"/>
                                        <p:tgtEl>
                                          <p:spTgt spid="15"/>
                                        </p:tgtEl>
                                      </p:cBhvr>
                                    </p:animEffect>
                                    <p:set>
                                      <p:cBhvr>
                                        <p:cTn id="4" dur="1" fill="hold">
                                          <p:stCondLst>
                                            <p:cond delay="599"/>
                                          </p:stCondLst>
                                        </p:cTn>
                                        <p:tgtEl>
                                          <p:spTgt spid="1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00"/>
                                        <p:tgtEl>
                                          <p:spTgt spid="16"/>
                                        </p:tgtEl>
                                      </p:cBhvr>
                                    </p:animEffect>
                                  </p:childTnLst>
                                </p:cTn>
                              </p:par>
                              <p:par>
                                <p:cTn id="22" presetID="10" presetClass="exit" presetSubtype="0" fill="hold" grpId="0" nodeType="withEffect">
                                  <p:stCondLst>
                                    <p:cond delay="0"/>
                                  </p:stCondLst>
                                  <p:childTnLst>
                                    <p:animEffect transition="out" filter="fade">
                                      <p:cBhvr>
                                        <p:cTn id="20" dur="600"/>
                                        <p:tgtEl>
                                          <p:spTgt spid="18"/>
                                        </p:tgtEl>
                                      </p:cBhvr>
                                    </p:animEffect>
                                    <p:set>
                                      <p:cBhvr>
                                        <p:cTn id="21" dur="1" fill="hold">
                                          <p:stCondLst>
                                            <p:cond delay="599"/>
                                          </p:stCondLst>
                                        </p:cTn>
                                        <p:tgtEl>
                                          <p:spTgt spid="18"/>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6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600"/>
                                        <p:tgtEl>
                                          <p:spTgt spid="17"/>
                                        </p:tgtEl>
                                      </p:cBhvr>
                                    </p:animEffect>
                                  </p:childTnLst>
                                </p:cTn>
                              </p:par>
                              <p:par>
                                <p:cTn id="33" presetID="10" presetClass="exit" presetSubtype="0" fill="hold" grpId="0" nodeType="withEffect">
                                  <p:stCondLst>
                                    <p:cond delay="0"/>
                                  </p:stCondLst>
                                  <p:childTnLst>
                                    <p:animEffect transition="out" filter="fade">
                                      <p:cBhvr>
                                        <p:cTn id="31" dur="600"/>
                                        <p:tgtEl>
                                          <p:spTgt spid="19"/>
                                        </p:tgtEl>
                                      </p:cBhvr>
                                    </p:animEffect>
                                    <p:set>
                                      <p:cBhvr>
                                        <p:cTn id="32" dur="1" fill="hold">
                                          <p:stCondLst>
                                            <p:cond delay="5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وَاجْتَمَعَتْ رَبِيعَةُ بِالْبَحْرَيْنِ عَلَى الرِّدَّةِ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Rabīʿa in Bahrayn agreed together upon the ridda</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إِلَّا الْجَارُودُ وَمَنْ تَبِعَهُ</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except al-Jārūd and those who followed him</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وَقَالُوا: نَرُدُّ الْمُلْكَ</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said: we will restore the kingship.</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what Rabīʿa said</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b. al-Muʿallā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ʿAbd al-Qays were saying: had he been a prophet, he would not have died.</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محمدًا ﷺ ماتَ كما ماتوا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Traditional Arabic"/>
              </a:rPr>
              <a:t>Muḥammad ﷺ has died just as they died</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وإني أشهدُ أن لا إله إلا الله وأن محمدًا رسول الله</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I bear witness that there is no god but Allah and that Muḥammad is the Messenger of Allah.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al-Jārūd b. al-Muʿallā ؓ, to his people</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pic>
        <p:nvPicPr>
          <p:cNvPr id="6" name="map" descr="s06-bahrayn-coast-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comes down at al-Qaṭīf and Hajar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Juwāthā</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besieged by al-Ḥuṭam's men</a:t>
            </a:r>
          </a:p>
        </p:txBody>
      </p:sp>
      <p:pic>
        <p:nvPicPr>
          <p:cNvPr id="13" name="map territory t_010" descr="s06-bahrayn-coast-r1-5-t_010.png"/>
          <p:cNvPicPr>
            <a:picLocks noChangeAspect="1"/>
          </p:cNvPicPr>
          <p:nvPr/>
        </p:nvPicPr>
        <p:blipFill>
          <a:blip r:embed="rId3"/>
          <a:stretch>
            <a:fillRect/>
          </a:stretch>
        </p:blipFill>
        <p:spPr>
          <a:xfrm>
            <a:off x="4525864" y="3319627"/>
            <a:ext cx="451528" cy="512000"/>
          </a:xfrm>
          <a:prstGeom prst="rect">
            <a:avLst/>
          </a:prstGeom>
        </p:spPr>
      </p:pic>
      <p:pic>
        <p:nvPicPr>
          <p:cNvPr id="14" name="map territory t_014" descr="s06-bahrayn-coast-r1-5-t_014.png"/>
          <p:cNvPicPr>
            <a:picLocks noChangeAspect="1"/>
          </p:cNvPicPr>
          <p:nvPr/>
        </p:nvPicPr>
        <p:blipFill>
          <a:blip r:embed="rId4"/>
          <a:stretch>
            <a:fillRect/>
          </a:stretch>
        </p:blipFill>
        <p:spPr>
          <a:xfrm>
            <a:off x="3945328" y="4686306"/>
            <a:ext cx="290268" cy="294299"/>
          </a:xfrm>
          <a:prstGeom prst="rect">
            <a:avLst/>
          </a:prstGeom>
        </p:spPr>
      </p:pic>
      <p:pic>
        <p:nvPicPr>
          <p:cNvPr id="15" name="map arrow a_008" descr="s06-bahrayn-coast-r1-5-a_008.png"/>
          <p:cNvPicPr>
            <a:picLocks noChangeAspect="1"/>
          </p:cNvPicPr>
          <p:nvPr/>
        </p:nvPicPr>
        <p:blipFill>
          <a:blip r:embed="rId5"/>
          <a:stretch>
            <a:fillRect/>
          </a:stretch>
        </p:blipFill>
        <p:spPr>
          <a:xfrm>
            <a:off x="3501862" y="2025514"/>
            <a:ext cx="890962" cy="2164916"/>
          </a:xfrm>
          <a:prstGeom prst="rect">
            <a:avLst/>
          </a:prstGeom>
        </p:spPr>
      </p:pic>
      <p:pic>
        <p:nvPicPr>
          <p:cNvPr id="16" name="map arrow a_012" descr="s06-bahrayn-coast-r1-5-a_012.png"/>
          <p:cNvPicPr>
            <a:picLocks noChangeAspect="1"/>
          </p:cNvPicPr>
          <p:nvPr/>
        </p:nvPicPr>
        <p:blipFill>
          <a:blip r:embed="rId6"/>
          <a:stretch>
            <a:fillRect/>
          </a:stretch>
        </p:blipFill>
        <p:spPr>
          <a:xfrm>
            <a:off x="4493612" y="2944697"/>
            <a:ext cx="1044159" cy="342677"/>
          </a:xfrm>
          <a:prstGeom prst="rect">
            <a:avLst/>
          </a:prstGeom>
        </p:spPr>
      </p:pic>
      <p:pic>
        <p:nvPicPr>
          <p:cNvPr id="17" name="map arrow a_015" descr="s06-bahrayn-coast-r1-5-a_015.png"/>
          <p:cNvPicPr>
            <a:picLocks noChangeAspect="1"/>
          </p:cNvPicPr>
          <p:nvPr/>
        </p:nvPicPr>
        <p:blipFill>
          <a:blip r:embed="rId7"/>
          <a:stretch>
            <a:fillRect/>
          </a:stretch>
        </p:blipFill>
        <p:spPr>
          <a:xfrm>
            <a:off x="4154966" y="4645991"/>
            <a:ext cx="270110" cy="258016"/>
          </a:xfrm>
          <a:prstGeom prst="rect">
            <a:avLst/>
          </a:prstGeom>
        </p:spPr>
      </p:pic>
      <p:pic>
        <p:nvPicPr>
          <p:cNvPr id="18" name="map arrow a_016" descr="s06-bahrayn-coast-r1-5-a_016.png"/>
          <p:cNvPicPr>
            <a:picLocks noChangeAspect="1"/>
          </p:cNvPicPr>
          <p:nvPr/>
        </p:nvPicPr>
        <p:blipFill>
          <a:blip r:embed="rId8"/>
          <a:stretch>
            <a:fillRect/>
          </a:stretch>
        </p:blipFill>
        <p:spPr>
          <a:xfrm>
            <a:off x="3892918" y="4504888"/>
            <a:ext cx="258016" cy="274142"/>
          </a:xfrm>
          <a:prstGeom prst="rect">
            <a:avLst/>
          </a:prstGeom>
        </p:spPr>
      </p:pic>
      <p:pic>
        <p:nvPicPr>
          <p:cNvPr id="19" name="map arrow a_017" descr="s06-bahrayn-coast-r1-5-a_017.png"/>
          <p:cNvPicPr>
            <a:picLocks noChangeAspect="1"/>
          </p:cNvPicPr>
          <p:nvPr/>
        </p:nvPicPr>
        <p:blipFill>
          <a:blip r:embed="rId9"/>
          <a:stretch>
            <a:fillRect/>
          </a:stretch>
        </p:blipFill>
        <p:spPr>
          <a:xfrm>
            <a:off x="3751815" y="4779031"/>
            <a:ext cx="274142" cy="258016"/>
          </a:xfrm>
          <a:prstGeom prst="rect">
            <a:avLst/>
          </a:prstGeom>
        </p:spPr>
      </p:pic>
      <p:pic>
        <p:nvPicPr>
          <p:cNvPr id="20" name="map arrow a_018" descr="s06-bahrayn-coast-r1-5-a_018.png"/>
          <p:cNvPicPr>
            <a:picLocks noChangeAspect="1"/>
          </p:cNvPicPr>
          <p:nvPr/>
        </p:nvPicPr>
        <p:blipFill>
          <a:blip r:embed="rId10"/>
          <a:stretch>
            <a:fillRect/>
          </a:stretch>
        </p:blipFill>
        <p:spPr>
          <a:xfrm>
            <a:off x="4025958" y="4904007"/>
            <a:ext cx="262047" cy="274142"/>
          </a:xfrm>
          <a:prstGeom prst="rect">
            <a:avLst/>
          </a:prstGeom>
        </p:spPr>
      </p:pic>
      <p:pic>
        <p:nvPicPr>
          <p:cNvPr id="21" name="map army al-Ḥuṭam" descr="s06-bahrayn-coast-r1-5-a_009.png"/>
          <p:cNvPicPr>
            <a:picLocks noChangeAspect="1"/>
          </p:cNvPicPr>
          <p:nvPr/>
        </p:nvPicPr>
        <p:blipFill>
          <a:blip r:embed="rId11"/>
          <a:stretch>
            <a:fillRect/>
          </a:stretch>
        </p:blipFill>
        <p:spPr>
          <a:xfrm>
            <a:off x="3421232" y="3384131"/>
            <a:ext cx="2023814" cy="854678"/>
          </a:xfrm>
          <a:prstGeom prst="rect">
            <a:avLst/>
          </a:prstGeom>
        </p:spPr>
      </p:pic>
      <p:pic>
        <p:nvPicPr>
          <p:cNvPr id="22" name="map army al-Ḥuṭam's force" descr="s06-bahrayn-coast-r1-5-a_013.png"/>
          <p:cNvPicPr>
            <a:picLocks noChangeAspect="1"/>
          </p:cNvPicPr>
          <p:nvPr/>
        </p:nvPicPr>
        <p:blipFill>
          <a:blip r:embed="rId12"/>
          <a:stretch>
            <a:fillRect/>
          </a:stretch>
        </p:blipFill>
        <p:spPr>
          <a:xfrm>
            <a:off x="5142684" y="2275467"/>
            <a:ext cx="2826084" cy="850647"/>
          </a:xfrm>
          <a:prstGeom prst="rect">
            <a:avLst/>
          </a:prstGeom>
        </p:spPr>
      </p:pic>
      <p:pic>
        <p:nvPicPr>
          <p:cNvPr id="23" name="map label al-Khaṭṭ is won over" descr="s06-bahrayn-coast-r1-5-l_011.png"/>
          <p:cNvPicPr>
            <a:picLocks noChangeAspect="1"/>
          </p:cNvPicPr>
          <p:nvPr/>
        </p:nvPicPr>
        <p:blipFill>
          <a:blip r:embed="rId13"/>
          <a:stretch>
            <a:fillRect/>
          </a:stretch>
        </p:blipFill>
        <p:spPr>
          <a:xfrm>
            <a:off x="4493612" y="3049516"/>
            <a:ext cx="2656760" cy="330583"/>
          </a:xfrm>
          <a:prstGeom prst="rect">
            <a:avLst/>
          </a:prstGeom>
        </p:spPr>
      </p:pic>
      <p:pic>
        <p:nvPicPr>
          <p:cNvPr id="24" name="map label Juwāthā, besieged" descr="s06-bahrayn-coast-r1-5-l_019.png"/>
          <p:cNvPicPr>
            <a:picLocks noChangeAspect="1"/>
          </p:cNvPicPr>
          <p:nvPr/>
        </p:nvPicPr>
        <p:blipFill>
          <a:blip r:embed="rId14"/>
          <a:stretch>
            <a:fillRect/>
          </a:stretch>
        </p:blipFill>
        <p:spPr>
          <a:xfrm>
            <a:off x="2046489" y="5484544"/>
            <a:ext cx="247534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1"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up)">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155 -0.2977 L 0.0427 -0.1754 L 0.0194 -0.0771 L 0.0000 0.0000 L 0 0 E" pathEditMode="relative" rAng="0" ptsTypes="">
                                      <p:cBhvr>
                                        <p:cTn id="8" dur="1600" fill="hold"/>
                                        <p:tgtEl>
                                          <p:spTgt spid="21"/>
                                        </p:tgtEl>
                                        <p:attrNameLst>
                                          <p:attrName>ppt_x</p:attrName>
                                          <p:attrName>ppt_y</p:attrName>
                                        </p:attrNameLst>
                                      </p:cBhvr>
                                    </p:animMotion>
                                  </p:childTnLst>
                                </p:cTn>
                              </p:par>
                            </p:childTnLst>
                          </p:cTn>
                        </p:par>
                      </p:childTnLst>
                    </p:cTn>
                  </p:par>
                  <p:par>
                    <p:cTn id="18" fill="hold">
                      <p:stCondLst>
                        <p:cond delay="indefinite"/>
                      </p:stCondLst>
                      <p:childTnLst>
                        <p:par>
                          <p:cTn id="19"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6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600"/>
                                        <p:tgtEl>
                                          <p:spTgt spid="23"/>
                                        </p:tgtEl>
                                      </p:cBhvr>
                                    </p:animEffect>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1600"/>
                                        <p:tgtEl>
                                          <p:spTgt spid="16"/>
                                        </p:tgtEl>
                                      </p:cBhvr>
                                    </p:animEffect>
                                  </p:childTnLst>
                                </p:cTn>
                              </p:par>
                              <p:par>
                                <p:cTn id="24" presetID="1"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par>
                                <p:cTn id="26" presetID="0" presetClass="path" presetSubtype="0" fill="hold" grpId="0" nodeType="withEffect">
                                  <p:stCondLst>
                                    <p:cond delay="0"/>
                                  </p:stCondLst>
                                  <p:childTnLst>
                                    <p:animMotion origin="layout" path="M -0.0764 0.0186 L -0.0401 0.0292 L 0.0000 0.0000 L 0 0 E" pathEditMode="relative" rAng="0" ptsTypes="">
                                      <p:cBhvr>
                                        <p:cTn id="25" dur="1600" fill="hold"/>
                                        <p:tgtEl>
                                          <p:spTgt spid="22"/>
                                        </p:tgtEl>
                                        <p:attrNameLst>
                                          <p:attrName>ppt_x</p:attrName>
                                          <p:attrName>ppt_y</p:attrName>
                                        </p:attrNameLst>
                                      </p:cBhvr>
                                    </p:animMotion>
                                  </p:childTnLst>
                                </p:cTn>
                              </p:par>
                              <p:par>
                                <p:cTn id="29" presetID="10" presetClass="exit" presetSubtype="0" fill="hold" grpId="0" nodeType="withEffect">
                                  <p:stCondLst>
                                    <p:cond delay="0"/>
                                  </p:stCondLst>
                                  <p:childTnLst>
                                    <p:animEffect transition="out" filter="fade">
                                      <p:cBhvr>
                                        <p:cTn id="27" dur="600"/>
                                        <p:tgtEl>
                                          <p:spTgt spid="23"/>
                                        </p:tgtEl>
                                      </p:cBhvr>
                                    </p:animEffect>
                                    <p:set>
                                      <p:cBhvr>
                                        <p:cTn id="28" dur="1" fill="hold">
                                          <p:stCondLst>
                                            <p:cond delay="599"/>
                                          </p:stCondLst>
                                        </p:cTn>
                                        <p:tgtEl>
                                          <p:spTgt spid="23"/>
                                        </p:tgtEl>
                                        <p:attrNameLst>
                                          <p:attrName>style.visibility</p:attrName>
                                        </p:attrNameLst>
                                      </p:cBhvr>
                                      <p:to>
                                        <p:strVal val="hidden"/>
                                      </p:to>
                                    </p:set>
                                  </p:childTnLst>
                                </p:cTn>
                              </p:par>
                            </p:childTnLst>
                          </p:cTn>
                        </p:par>
                      </p:childTnLst>
                    </p:cTn>
                  </p:par>
                  <p:par>
                    <p:cTn id="50" fill="hold">
                      <p:stCondLst>
                        <p:cond delay="indefinite"/>
                      </p:stCondLst>
                      <p:childTnLst>
                        <p:par>
                          <p:cTn id="51" fill="hold">
                            <p:stCondLst>
                              <p:cond delay="0"/>
                            </p:stCondLst>
                            <p:childTnLst>
                              <p:par>
                                <p:cTn id="34" presetID="10"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22" presetClass="entr" presetSubtype="2"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right)">
                                      <p:cBhvr>
                                        <p:cTn id="36" dur="1600"/>
                                        <p:tgtEl>
                                          <p:spTgt spid="17"/>
                                        </p:tgtEl>
                                      </p:cBhvr>
                                    </p:animEffect>
                                  </p:childTnLst>
                                </p:cTn>
                              </p:par>
                              <p:par>
                                <p:cTn id="40" presetID="22" presetClass="entr" presetSubtype="1"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wipe(up)">
                                      <p:cBhvr>
                                        <p:cTn id="39" dur="1600"/>
                                        <p:tgtEl>
                                          <p:spTgt spid="18"/>
                                        </p:tgtEl>
                                      </p:cBhvr>
                                    </p:animEffect>
                                  </p:childTnLst>
                                </p:cTn>
                              </p:par>
                              <p:par>
                                <p:cTn id="43" presetID="22" presetClass="entr" presetSubtype="8"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1600"/>
                                        <p:tgtEl>
                                          <p:spTgt spid="19"/>
                                        </p:tgtEl>
                                      </p:cBhvr>
                                    </p:animEffect>
                                  </p:childTnLst>
                                </p:cTn>
                              </p:par>
                              <p:par>
                                <p:cTn id="46" presetID="22" presetClass="entr" presetSubtype="4"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wipe(down)">
                                      <p:cBhvr>
                                        <p:cTn id="45" dur="1600"/>
                                        <p:tgtEl>
                                          <p:spTgt spid="20"/>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وَخَرَجَ الْحُطَمُ بْنُ ضُبَيْعَةَ أَخُو بَنِي قَيْسِ بْنِ ثَعْلَبَةَ فِي بَكْرِ بْنِ وَائِلٍ</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al-Ḥuṭam b. Ḍubayʿa, of Banū Qays b. Thaʿlaba, went out at the head of Bakr b. Wāʾil</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فَاجْتَمَعَ إِلَيْهِ مِنْ غَيْرِ الْمُرْتَدِّينَ مِمَّنْ لَمْ يَزَلْ مُشْرِكًا</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there gathered to him, besides the apostates, men who had never ceased to be idolaters.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al-Ḥuṭam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Juwāthā</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Juwāthā — besieged, and starving.</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أَلَا أَبْلِغْ أَبَا بَكْرٍ رَسُولًا … وَفِتْيَانَ الْمَدِينَةِ أَجْمَعِينَا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Take a message to Abū Bakr, and to all the young men of Medina:</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فَهَلْ لَكُمُ إِلَى قَوْمٍ كِرَامٍ … قُعُودٍ فِي جُوَاثَا مُحْصَرِينَا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have you any thought for a noble people, sitting besieged in Juwāthā?</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ʿAbd Allāh b. Ḥadhf, besieged in Juwāthā</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pic>
        <p:nvPicPr>
          <p:cNvPr id="6" name="map" descr="s06-bahrayn-r6-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sixteen riders, then an army</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al-Dahnāʾ</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 camps in the middle of it</a:t>
            </a:r>
          </a:p>
        </p:txBody>
      </p:sp>
      <p:pic>
        <p:nvPicPr>
          <p:cNvPr id="13" name="map arrow a_017" descr="s06-bahrayn-r6-10-a_017.png"/>
          <p:cNvPicPr>
            <a:picLocks noChangeAspect="1"/>
          </p:cNvPicPr>
          <p:nvPr/>
        </p:nvPicPr>
        <p:blipFill>
          <a:blip r:embed="rId3"/>
          <a:stretch>
            <a:fillRect/>
          </a:stretch>
        </p:blipFill>
        <p:spPr>
          <a:xfrm>
            <a:off x="2195655" y="4662117"/>
            <a:ext cx="2253610" cy="415244"/>
          </a:xfrm>
          <a:prstGeom prst="rect">
            <a:avLst/>
          </a:prstGeom>
        </p:spPr>
      </p:pic>
      <p:pic>
        <p:nvPicPr>
          <p:cNvPr id="14" name="map arrow a_019" descr="s06-bahrayn-r6-10-a_019.png"/>
          <p:cNvPicPr>
            <a:picLocks noChangeAspect="1"/>
          </p:cNvPicPr>
          <p:nvPr/>
        </p:nvPicPr>
        <p:blipFill>
          <a:blip r:embed="rId4"/>
          <a:stretch>
            <a:fillRect/>
          </a:stretch>
        </p:blipFill>
        <p:spPr>
          <a:xfrm>
            <a:off x="4328320" y="4416195"/>
            <a:ext cx="713576" cy="503937"/>
          </a:xfrm>
          <a:prstGeom prst="rect">
            <a:avLst/>
          </a:prstGeom>
        </p:spPr>
      </p:pic>
      <p:pic>
        <p:nvPicPr>
          <p:cNvPr id="15" name="map arrow a_021" descr="s06-bahrayn-r6-10-a_021.png"/>
          <p:cNvPicPr>
            <a:picLocks noChangeAspect="1"/>
          </p:cNvPicPr>
          <p:nvPr/>
        </p:nvPicPr>
        <p:blipFill>
          <a:blip r:embed="rId5"/>
          <a:stretch>
            <a:fillRect/>
          </a:stretch>
        </p:blipFill>
        <p:spPr>
          <a:xfrm>
            <a:off x="4908857" y="3267217"/>
            <a:ext cx="463622" cy="1273954"/>
          </a:xfrm>
          <a:prstGeom prst="rect">
            <a:avLst/>
          </a:prstGeom>
        </p:spPr>
      </p:pic>
      <p:pic>
        <p:nvPicPr>
          <p:cNvPr id="16" name="map army al-ʿAlāʾ ؓ" descr="s06-bahrayn-r6-10-a_016.png"/>
          <p:cNvPicPr>
            <a:picLocks noChangeAspect="1"/>
          </p:cNvPicPr>
          <p:nvPr/>
        </p:nvPicPr>
        <p:blipFill>
          <a:blip r:embed="rId6"/>
          <a:stretch>
            <a:fillRect/>
          </a:stretch>
        </p:blipFill>
        <p:spPr>
          <a:xfrm>
            <a:off x="1921513" y="4258967"/>
            <a:ext cx="2265705" cy="850647"/>
          </a:xfrm>
          <a:prstGeom prst="rect">
            <a:avLst/>
          </a:prstGeom>
        </p:spPr>
      </p:pic>
      <p:pic>
        <p:nvPicPr>
          <p:cNvPr id="17" name="map army al-ʿAlāʾ ؓ" descr="s06-bahrayn-r6-10-a_018.png"/>
          <p:cNvPicPr>
            <a:picLocks noChangeAspect="1"/>
          </p:cNvPicPr>
          <p:nvPr/>
        </p:nvPicPr>
        <p:blipFill>
          <a:blip r:embed="rId7"/>
          <a:stretch>
            <a:fillRect/>
          </a:stretch>
        </p:blipFill>
        <p:spPr>
          <a:xfrm>
            <a:off x="3679248" y="4101738"/>
            <a:ext cx="1435215" cy="1552128"/>
          </a:xfrm>
          <a:prstGeom prst="rect">
            <a:avLst/>
          </a:prstGeom>
        </p:spPr>
      </p:pic>
      <p:pic>
        <p:nvPicPr>
          <p:cNvPr id="18" name="map army al-ʿAlāʾ ؓ" descr="s06-bahrayn-r6-10-a_020.png"/>
          <p:cNvPicPr>
            <a:picLocks noChangeAspect="1"/>
          </p:cNvPicPr>
          <p:nvPr/>
        </p:nvPicPr>
        <p:blipFill>
          <a:blip r:embed="rId8"/>
          <a:stretch>
            <a:fillRect/>
          </a:stretch>
        </p:blipFill>
        <p:spPr>
          <a:xfrm>
            <a:off x="2743939" y="3734871"/>
            <a:ext cx="2789800" cy="850647"/>
          </a:xfrm>
          <a:prstGeom prst="rect">
            <a:avLst/>
          </a:prstGeom>
        </p:spPr>
      </p:pic>
      <p:pic>
        <p:nvPicPr>
          <p:cNvPr id="19" name="map army al-ʿAlāʾ ؓ" descr="s06-bahrayn-r6-10-a_022.png"/>
          <p:cNvPicPr>
            <a:picLocks noChangeAspect="1"/>
          </p:cNvPicPr>
          <p:nvPr/>
        </p:nvPicPr>
        <p:blipFill>
          <a:blip r:embed="rId9"/>
          <a:stretch>
            <a:fillRect/>
          </a:stretch>
        </p:blipFill>
        <p:spPr>
          <a:xfrm>
            <a:off x="4916920" y="2577830"/>
            <a:ext cx="2201200" cy="8828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1600"/>
                                        <p:tgtEl>
                                          <p:spTgt spid="13"/>
                                        </p:tgtEl>
                                      </p:cBhvr>
                                    </p:animEffect>
                                  </p:childTnLst>
                                </p:cTn>
                              </p:par>
                              <p:par>
                                <p:cTn id="13" presetID="10" presetClass="exit" presetSubtype="0" fill="hold" grpId="0" nodeType="withEffect">
                                  <p:stCondLst>
                                    <p:cond delay="0"/>
                                  </p:stCondLst>
                                  <p:childTnLst>
                                    <p:animEffect transition="out" filter="fade">
                                      <p:cBhvr>
                                        <p:cTn id="11" dur="600"/>
                                        <p:tgtEl>
                                          <p:spTgt spid="16"/>
                                        </p:tgtEl>
                                      </p:cBhvr>
                                    </p:animEffect>
                                    <p:set>
                                      <p:cBhvr>
                                        <p:cTn id="12" dur="1" fill="hold">
                                          <p:stCondLst>
                                            <p:cond delay="59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7" presetID="0" presetClass="path" presetSubtype="0" fill="hold" grpId="0" nodeType="withEffect">
                                  <p:stCondLst>
                                    <p:cond delay="0"/>
                                  </p:stCondLst>
                                  <p:childTnLst>
                                    <p:animMotion origin="layout" path="M -0.1751 0.0229 L -0.0894 -0.0076 L 0.0000 0.0000 L 0 0 E" pathEditMode="relative" rAng="0" ptsTypes="">
                                      <p:cBhvr>
                                        <p:cTn id="16" dur="1600" fill="hold"/>
                                        <p:tgtEl>
                                          <p:spTgt spid="17"/>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9" presetID="0" presetClass="path" presetSubtype="0" fill="hold" grpId="0" nodeType="withEffect">
                                  <p:stCondLst>
                                    <p:cond delay="0"/>
                                  </p:stCondLst>
                                  <p:childTnLst>
                                    <p:animMotion origin="layout" path="M -0.0484 0.0535 L -0.0223 0.0382 L 0.0000 0.0000 L 0 0 E" pathEditMode="relative" rAng="0" ptsTypes="">
                                      <p:cBhvr>
                                        <p:cTn id="28" dur="1600" fill="hold"/>
                                        <p:tgtEl>
                                          <p:spTgt spid="18"/>
                                        </p:tgtEl>
                                        <p:attrNameLst>
                                          <p:attrName>ppt_x</p:attrName>
                                          <p:attrName>ppt_y</p:attrName>
                                        </p:attrNameLst>
                                      </p:cBhvr>
                                    </p:animMotion>
                                  </p:childTnLst>
                                </p:cTn>
                              </p:par>
                            </p:childTnLst>
                          </p:cTn>
                        </p:par>
                      </p:childTnLst>
                    </p:cTn>
                  </p:par>
                  <p:par>
                    <p:cTn id="42" fill="hold">
                      <p:stCondLst>
                        <p:cond delay="indefinite"/>
                      </p:stCondLst>
                      <p:childTnLst>
                        <p:par>
                          <p:cTn id="43" fill="hold">
                            <p:stCondLst>
                              <p:cond delay="0"/>
                            </p:stCondLst>
                            <p:childTnLst>
                              <p:par>
                                <p:cTn id="34" presetID="22" presetClass="entr" presetSubtype="4"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down)">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8"/>
                                        </p:tgtEl>
                                      </p:cBhvr>
                                    </p:animEffect>
                                    <p:set>
                                      <p:cBhvr>
                                        <p:cTn id="36" dur="1" fill="hold">
                                          <p:stCondLst>
                                            <p:cond delay="599"/>
                                          </p:stCondLst>
                                        </p:cTn>
                                        <p:tgtEl>
                                          <p:spTgt spid="18"/>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223 0.1682 L -0.0112 0.0841 L 0.0000 0.0000 L 0 0 E" pathEditMode="relative" rAng="0" ptsTypes="">
                                      <p:cBhvr>
                                        <p:cTn id="40" dur="16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فَخَرَجَ مِنَ المَدِيْنَةِ فِي سِتَّةَ عَشَرَ رَاكِباً</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He left Medina with sixteen riders</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وَكَتَبَ لَهُ كِتَاباً:</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he wrote him a letter:</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أَنْ يَنْفِرَ مَعَهُ كُلُّ مَنْ مَرَّ بِهِ مِنَ المُسْلِمِيْنَ إِلَى عَدُوِّهِم.</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that every Muslim he passed should march out with him against their enemy.</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al-Dhahabī, from Ibn Saʿd</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Night, in the sands. The camels have bolted with all they had.</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أيها الناسُ ألستم المسلمين؟</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people — are you not the Muslims?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ألستُم في سبيل الله؟</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Are you not in the path of Allah?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ألستُم أنصارَ الله؟</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Are you not the helpers of Allah?</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قالوا: بلى</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They said: "Yes."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 فأبشروا فواللهِ لا يخذل اللهُ منْ كانَ في مثل حالكم</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Then rejoice — for by Allah, Allah does not abandon those who are in a state like yours.</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dawn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prayer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Dawn. An army with nothing left but its clothes.</a:t>
            </a:r>
          </a:p>
        </p:txBody>
      </p:sp>
      <p:sp>
        <p:nvSpPr>
          <p:cNvPr id="7" name="part-ar"/>
          <p:cNvSpPr txBox="1"/>
          <p:nvPr/>
        </p:nvSpPr>
        <p:spPr>
          <a:xfrm>
            <a:off x="566928" y="212597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فلما قضى الصلاةَ جثا على رُكبتيه وجثا الناسُ</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When he had finished the prayer he went down on his knees, and the people went down on theirs</a:t>
            </a:r>
          </a:p>
        </p:txBody>
      </p:sp>
      <p:sp>
        <p:nvSpPr>
          <p:cNvPr id="9" name="part-ar"/>
          <p:cNvSpPr txBox="1"/>
          <p:nvPr/>
        </p:nvSpPr>
        <p:spPr>
          <a:xfrm>
            <a:off x="566928" y="388162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ونصبَ في الدعاء ورفع يديه وفعلَ الناسُ مثله حتى طلعتِ الشمس</a:t>
            </a:r>
          </a:p>
        </p:txBody>
      </p:sp>
      <p:sp>
        <p:nvSpPr>
          <p:cNvPr id="10" name="part-en"/>
          <p:cNvSpPr txBox="1"/>
          <p:nvPr/>
        </p:nvSpPr>
        <p:spPr>
          <a:xfrm>
            <a:off x="566928" y="46802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he set himself to supplication and raised his hands, and the people did as he did, until the sun rose.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al-ʿAlāʾ ؓ did at dawn</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عليمُ، يا حليمُ، ويا عليُّ، يا عظيمُ</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All-Knowing, O Forbearing, O Most High, O Tremendous</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إنا عبيدُك وفي سبيلك نقاتلُ عدوَّك</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are Your servants, and in Your path we fight Your enemy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اسقنا غَيثًا نشربُ منه ونتوضَّأ</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give us rain from which we may drink and make wuḍūʾ</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فإذا تركناه فلا تجعل لأحدٍ فيه نصيبًا غيرَنا</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when we leave it, give no one a share in it but us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pic>
        <p:nvPicPr>
          <p:cNvPr id="6" name="map" descr="s06-bahrayn-hajar-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camps at Hajar; comes down from that side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ʿAbd al-Qays down from theirs</a:t>
            </a:r>
          </a:p>
        </p:txBody>
      </p:sp>
      <p:pic>
        <p:nvPicPr>
          <p:cNvPr id="13" name="map territory t_005" descr="s06-bahrayn-hajar-r1-6-t_005.png"/>
          <p:cNvPicPr>
            <a:picLocks noChangeAspect="1"/>
          </p:cNvPicPr>
          <p:nvPr/>
        </p:nvPicPr>
        <p:blipFill>
          <a:blip r:embed="rId3"/>
          <a:stretch>
            <a:fillRect/>
          </a:stretch>
        </p:blipFill>
        <p:spPr>
          <a:xfrm>
            <a:off x="6920577" y="2892287"/>
            <a:ext cx="790174" cy="790174"/>
          </a:xfrm>
          <a:prstGeom prst="rect">
            <a:avLst/>
          </a:prstGeom>
        </p:spPr>
      </p:pic>
      <p:pic>
        <p:nvPicPr>
          <p:cNvPr id="14" name="map territory t_020" descr="s06-bahrayn-hajar-r1-6-t_020.png"/>
          <p:cNvPicPr>
            <a:picLocks noChangeAspect="1"/>
          </p:cNvPicPr>
          <p:nvPr/>
        </p:nvPicPr>
        <p:blipFill>
          <a:blip r:embed="rId4"/>
          <a:stretch>
            <a:fillRect/>
          </a:stretch>
        </p:blipFill>
        <p:spPr>
          <a:xfrm>
            <a:off x="3784067" y="2960823"/>
            <a:ext cx="241890" cy="2104444"/>
          </a:xfrm>
          <a:prstGeom prst="rect">
            <a:avLst/>
          </a:prstGeom>
        </p:spPr>
      </p:pic>
      <p:pic>
        <p:nvPicPr>
          <p:cNvPr id="15" name="map territory t_021" descr="s06-bahrayn-hajar-r1-6-t_021.png"/>
          <p:cNvPicPr>
            <a:picLocks noChangeAspect="1"/>
          </p:cNvPicPr>
          <p:nvPr/>
        </p:nvPicPr>
        <p:blipFill>
          <a:blip r:embed="rId5"/>
          <a:stretch>
            <a:fillRect/>
          </a:stretch>
        </p:blipFill>
        <p:spPr>
          <a:xfrm>
            <a:off x="4364604" y="2960823"/>
            <a:ext cx="241890" cy="2104444"/>
          </a:xfrm>
          <a:prstGeom prst="rect">
            <a:avLst/>
          </a:prstGeom>
        </p:spPr>
      </p:pic>
      <p:pic>
        <p:nvPicPr>
          <p:cNvPr id="16" name="map arrow a_006" descr="s06-bahrayn-hajar-r1-6-a_006.png"/>
          <p:cNvPicPr>
            <a:picLocks noChangeAspect="1"/>
          </p:cNvPicPr>
          <p:nvPr/>
        </p:nvPicPr>
        <p:blipFill>
          <a:blip r:embed="rId6"/>
          <a:stretch>
            <a:fillRect/>
          </a:stretch>
        </p:blipFill>
        <p:spPr>
          <a:xfrm>
            <a:off x="7597870" y="2743122"/>
            <a:ext cx="487811" cy="382992"/>
          </a:xfrm>
          <a:prstGeom prst="rect">
            <a:avLst/>
          </a:prstGeom>
        </p:spPr>
      </p:pic>
      <p:pic>
        <p:nvPicPr>
          <p:cNvPr id="17" name="map arrow a_007" descr="s06-bahrayn-hajar-r1-6-a_007.png"/>
          <p:cNvPicPr>
            <a:picLocks noChangeAspect="1"/>
          </p:cNvPicPr>
          <p:nvPr/>
        </p:nvPicPr>
        <p:blipFill>
          <a:blip r:embed="rId7"/>
          <a:stretch>
            <a:fillRect/>
          </a:stretch>
        </p:blipFill>
        <p:spPr>
          <a:xfrm>
            <a:off x="6763349" y="2525421"/>
            <a:ext cx="382992" cy="491843"/>
          </a:xfrm>
          <a:prstGeom prst="rect">
            <a:avLst/>
          </a:prstGeom>
        </p:spPr>
      </p:pic>
      <p:pic>
        <p:nvPicPr>
          <p:cNvPr id="18" name="map arrow a_008" descr="s06-bahrayn-hajar-r1-6-a_008.png"/>
          <p:cNvPicPr>
            <a:picLocks noChangeAspect="1"/>
          </p:cNvPicPr>
          <p:nvPr/>
        </p:nvPicPr>
        <p:blipFill>
          <a:blip r:embed="rId8"/>
          <a:stretch>
            <a:fillRect/>
          </a:stretch>
        </p:blipFill>
        <p:spPr>
          <a:xfrm>
            <a:off x="6545647" y="3464761"/>
            <a:ext cx="487811" cy="382992"/>
          </a:xfrm>
          <a:prstGeom prst="rect">
            <a:avLst/>
          </a:prstGeom>
        </p:spPr>
      </p:pic>
      <p:pic>
        <p:nvPicPr>
          <p:cNvPr id="19" name="map arrow a_009" descr="s06-bahrayn-hajar-r1-6-a_009.png"/>
          <p:cNvPicPr>
            <a:picLocks noChangeAspect="1"/>
          </p:cNvPicPr>
          <p:nvPr/>
        </p:nvPicPr>
        <p:blipFill>
          <a:blip r:embed="rId9"/>
          <a:stretch>
            <a:fillRect/>
          </a:stretch>
        </p:blipFill>
        <p:spPr>
          <a:xfrm>
            <a:off x="7484988" y="3573611"/>
            <a:ext cx="382992" cy="491843"/>
          </a:xfrm>
          <a:prstGeom prst="rect">
            <a:avLst/>
          </a:prstGeom>
        </p:spPr>
      </p:pic>
      <p:pic>
        <p:nvPicPr>
          <p:cNvPr id="20" name="map arrow a_012" descr="s06-bahrayn-hajar-r1-6-a_012.png"/>
          <p:cNvPicPr>
            <a:picLocks noChangeAspect="1"/>
          </p:cNvPicPr>
          <p:nvPr/>
        </p:nvPicPr>
        <p:blipFill>
          <a:blip r:embed="rId10"/>
          <a:stretch>
            <a:fillRect/>
          </a:stretch>
        </p:blipFill>
        <p:spPr>
          <a:xfrm>
            <a:off x="651589" y="4343628"/>
            <a:ext cx="1644853" cy="765985"/>
          </a:xfrm>
          <a:prstGeom prst="rect">
            <a:avLst/>
          </a:prstGeom>
        </p:spPr>
      </p:pic>
      <p:pic>
        <p:nvPicPr>
          <p:cNvPr id="21" name="map arrow a_014" descr="s06-bahrayn-hajar-r1-6-a_014.png"/>
          <p:cNvPicPr>
            <a:picLocks noChangeAspect="1"/>
          </p:cNvPicPr>
          <p:nvPr/>
        </p:nvPicPr>
        <p:blipFill>
          <a:blip r:embed="rId11"/>
          <a:stretch>
            <a:fillRect/>
          </a:stretch>
        </p:blipFill>
        <p:spPr>
          <a:xfrm>
            <a:off x="2183560" y="4315408"/>
            <a:ext cx="4874087" cy="673260"/>
          </a:xfrm>
          <a:prstGeom prst="rect">
            <a:avLst/>
          </a:prstGeom>
        </p:spPr>
      </p:pic>
      <p:pic>
        <p:nvPicPr>
          <p:cNvPr id="22" name="map arrow a_015" descr="s06-bahrayn-hajar-r1-6-a_015.png"/>
          <p:cNvPicPr>
            <a:picLocks noChangeAspect="1"/>
          </p:cNvPicPr>
          <p:nvPr/>
        </p:nvPicPr>
        <p:blipFill>
          <a:blip r:embed="rId12"/>
          <a:stretch>
            <a:fillRect/>
          </a:stretch>
        </p:blipFill>
        <p:spPr>
          <a:xfrm>
            <a:off x="6118308" y="4154148"/>
            <a:ext cx="947403" cy="806300"/>
          </a:xfrm>
          <a:prstGeom prst="rect">
            <a:avLst/>
          </a:prstGeom>
        </p:spPr>
      </p:pic>
      <p:pic>
        <p:nvPicPr>
          <p:cNvPr id="23" name="map arrow a_017" descr="s06-bahrayn-hajar-r1-6-a_017.png"/>
          <p:cNvPicPr>
            <a:picLocks noChangeAspect="1"/>
          </p:cNvPicPr>
          <p:nvPr/>
        </p:nvPicPr>
        <p:blipFill>
          <a:blip r:embed="rId13"/>
          <a:stretch>
            <a:fillRect/>
          </a:stretch>
        </p:blipFill>
        <p:spPr>
          <a:xfrm>
            <a:off x="2171466" y="3892100"/>
            <a:ext cx="1088505" cy="588599"/>
          </a:xfrm>
          <a:prstGeom prst="rect">
            <a:avLst/>
          </a:prstGeom>
        </p:spPr>
      </p:pic>
      <p:pic>
        <p:nvPicPr>
          <p:cNvPr id="24" name="map army al-Jārūd ؓ" descr="s06-bahrayn-hajar-r1-6-a_011.png"/>
          <p:cNvPicPr>
            <a:picLocks noChangeAspect="1"/>
          </p:cNvPicPr>
          <p:nvPr/>
        </p:nvPicPr>
        <p:blipFill>
          <a:blip r:embed="rId14"/>
          <a:stretch>
            <a:fillRect/>
          </a:stretch>
        </p:blipFill>
        <p:spPr>
          <a:xfrm>
            <a:off x="6380356" y="3791312"/>
            <a:ext cx="1257829" cy="1209450"/>
          </a:xfrm>
          <a:prstGeom prst="rect">
            <a:avLst/>
          </a:prstGeom>
        </p:spPr>
      </p:pic>
      <p:pic>
        <p:nvPicPr>
          <p:cNvPr id="25" name="map army al-ʿAlāʾ ؓ" descr="s06-bahrayn-hajar-r1-6-a_013.png"/>
          <p:cNvPicPr>
            <a:picLocks noChangeAspect="1"/>
          </p:cNvPicPr>
          <p:nvPr/>
        </p:nvPicPr>
        <p:blipFill>
          <a:blip r:embed="rId15"/>
          <a:stretch>
            <a:fillRect/>
          </a:stretch>
        </p:blipFill>
        <p:spPr>
          <a:xfrm>
            <a:off x="1901355" y="3662304"/>
            <a:ext cx="1878680" cy="854678"/>
          </a:xfrm>
          <a:prstGeom prst="rect">
            <a:avLst/>
          </a:prstGeom>
        </p:spPr>
      </p:pic>
      <p:pic>
        <p:nvPicPr>
          <p:cNvPr id="26" name="map army al-Jārūd ؓ" descr="s06-bahrayn-hajar-r1-6-a_016.png"/>
          <p:cNvPicPr>
            <a:picLocks noChangeAspect="1"/>
          </p:cNvPicPr>
          <p:nvPr/>
        </p:nvPicPr>
        <p:blipFill>
          <a:blip r:embed="rId16"/>
          <a:stretch>
            <a:fillRect/>
          </a:stretch>
        </p:blipFill>
        <p:spPr>
          <a:xfrm>
            <a:off x="5844166" y="3468792"/>
            <a:ext cx="2152822" cy="878867"/>
          </a:xfrm>
          <a:prstGeom prst="rect">
            <a:avLst/>
          </a:prstGeom>
        </p:spPr>
      </p:pic>
      <p:pic>
        <p:nvPicPr>
          <p:cNvPr id="27" name="map army al-ʿAlāʾ ؓ" descr="s06-bahrayn-hajar-r1-6-a_018.png"/>
          <p:cNvPicPr>
            <a:picLocks noChangeAspect="1"/>
          </p:cNvPicPr>
          <p:nvPr/>
        </p:nvPicPr>
        <p:blipFill>
          <a:blip r:embed="rId17"/>
          <a:stretch>
            <a:fillRect/>
          </a:stretch>
        </p:blipFill>
        <p:spPr>
          <a:xfrm>
            <a:off x="2441577" y="3226902"/>
            <a:ext cx="1527939" cy="1527939"/>
          </a:xfrm>
          <a:prstGeom prst="rect">
            <a:avLst/>
          </a:prstGeom>
        </p:spPr>
      </p:pic>
      <p:pic>
        <p:nvPicPr>
          <p:cNvPr id="28" name="map label every one gathers" descr="s06-bahrayn-hajar-r1-6-l_019.png"/>
          <p:cNvPicPr>
            <a:picLocks noChangeAspect="1"/>
          </p:cNvPicPr>
          <p:nvPr/>
        </p:nvPicPr>
        <p:blipFill>
          <a:blip r:embed="rId18"/>
          <a:stretch>
            <a:fillRect/>
          </a:stretch>
        </p:blipFill>
        <p:spPr>
          <a:xfrm>
            <a:off x="3989674" y="2698775"/>
            <a:ext cx="2362461" cy="338646"/>
          </a:xfrm>
          <a:prstGeom prst="rect">
            <a:avLst/>
          </a:prstGeom>
        </p:spPr>
      </p:pic>
      <p:pic>
        <p:nvPicPr>
          <p:cNvPr id="29" name="map label trenches" descr="s06-bahrayn-hajar-r1-6-l_022.png"/>
          <p:cNvPicPr>
            <a:picLocks noChangeAspect="1"/>
          </p:cNvPicPr>
          <p:nvPr/>
        </p:nvPicPr>
        <p:blipFill>
          <a:blip r:embed="rId19"/>
          <a:stretch>
            <a:fillRect/>
          </a:stretch>
        </p:blipFill>
        <p:spPr>
          <a:xfrm>
            <a:off x="3630870" y="2468980"/>
            <a:ext cx="1221545" cy="290268"/>
          </a:xfrm>
          <a:prstGeom prst="rect">
            <a:avLst/>
          </a:prstGeom>
        </p:spPr>
      </p:pic>
      <p:pic>
        <p:nvPicPr>
          <p:cNvPr id="30" name="map label a month" descr="s06-bahrayn-hajar-r1-6-l_023.png"/>
          <p:cNvPicPr>
            <a:picLocks noChangeAspect="1"/>
          </p:cNvPicPr>
          <p:nvPr/>
        </p:nvPicPr>
        <p:blipFill>
          <a:blip r:embed="rId20"/>
          <a:stretch>
            <a:fillRect/>
          </a:stretch>
        </p:blipFill>
        <p:spPr>
          <a:xfrm>
            <a:off x="3445421" y="2473011"/>
            <a:ext cx="1406994" cy="3346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20"/>
                                        </p:tgtEl>
                                        <p:attrNameLst>
                                          <p:attrName>style.visibility</p:attrName>
                                        </p:attrNameLst>
                                      </p:cBhvr>
                                      <p:to>
                                        <p:strVal val="visible"/>
                                      </p:to>
                                    </p:set>
                                    <p:animEffect transition="in" filter="wipe(left)">
                                      <p:cBhvr>
                                        <p:cTn id="4" dur="1600"/>
                                        <p:tgtEl>
                                          <p:spTgt spid="20"/>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250 0.0917 L -0.0615 0.0635 L 0.0000 0.0000 L 0 0 E" pathEditMode="relative" rAng="0" ptsTypes="">
                                      <p:cBhvr>
                                        <p:cTn id="8" dur="1600" fill="hold"/>
                                        <p:tgtEl>
                                          <p:spTgt spid="25"/>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wipe(left)">
                                      <p:cBhvr>
                                        <p:cTn id="13" dur="1600"/>
                                        <p:tgtEl>
                                          <p:spTgt spid="21"/>
                                        </p:tgtEl>
                                      </p:cBhvr>
                                    </p:animEffect>
                                  </p:childTnLst>
                                </p:cTn>
                              </p:par>
                              <p:par>
                                <p:cTn id="17" presetID="22" presetClass="entr" presetSubtype="2"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right)">
                                      <p:cBhvr>
                                        <p:cTn id="16" dur="1600"/>
                                        <p:tgtEl>
                                          <p:spTgt spid="22"/>
                                        </p:tgtEl>
                                      </p:cBhvr>
                                    </p:animEffect>
                                  </p:childTnLst>
                                </p:cTn>
                              </p:par>
                              <p:par>
                                <p:cTn id="20" presetID="10" presetClass="exit" presetSubtype="0" fill="hold" grpId="0" nodeType="withEffect">
                                  <p:stCondLst>
                                    <p:cond delay="0"/>
                                  </p:stCondLst>
                                  <p:childTnLst>
                                    <p:animEffect transition="out" filter="fade">
                                      <p:cBhvr>
                                        <p:cTn id="18" dur="600"/>
                                        <p:tgtEl>
                                          <p:spTgt spid="24"/>
                                        </p:tgtEl>
                                      </p:cBhvr>
                                    </p:animEffect>
                                    <p:set>
                                      <p:cBhvr>
                                        <p:cTn id="19" dur="1" fill="hold">
                                          <p:stCondLst>
                                            <p:cond delay="599"/>
                                          </p:stCondLst>
                                        </p:cTn>
                                        <p:tgtEl>
                                          <p:spTgt spid="24"/>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0675 0.0988 L 0.0357 0.0564 L 0.0000 0.0000 L 0 0 E" pathEditMode="relative" rAng="0" ptsTypes="">
                                      <p:cBhvr>
                                        <p:cTn id="23" dur="1600" fill="hold"/>
                                        <p:tgtEl>
                                          <p:spTgt spid="26"/>
                                        </p:tgtEl>
                                        <p:attrNameLst>
                                          <p:attrName>ppt_x</p:attrName>
                                          <p:attrName>ppt_y</p:attrName>
                                        </p:attrNameLst>
                                      </p:cBhvr>
                                    </p:animMotion>
                                  </p:childTnLst>
                                </p:cTn>
                              </p:par>
                            </p:childTnLst>
                          </p:cTn>
                        </p:par>
                      </p:childTnLst>
                    </p:cTn>
                  </p:par>
                  <p:par>
                    <p:cTn id="67" fill="hold">
                      <p:stCondLst>
                        <p:cond delay="indefinite"/>
                      </p:stCondLst>
                      <p:childTnLst>
                        <p:par>
                          <p:cTn id="68" fill="hold">
                            <p:stCondLst>
                              <p:cond delay="0"/>
                            </p:stCondLst>
                            <p:childTnLst>
                              <p:par>
                                <p:cTn id="29" presetID="10" presetClass="exit" presetSubtype="0" fill="hold" grpId="0" nodeType="clickEffect">
                                  <p:stCondLst>
                                    <p:cond delay="0"/>
                                  </p:stCondLst>
                                  <p:childTnLst>
                                    <p:animEffect transition="out" filter="fade">
                                      <p:cBhvr>
                                        <p:cTn id="27" dur="600"/>
                                        <p:tgtEl>
                                          <p:spTgt spid="13"/>
                                        </p:tgtEl>
                                      </p:cBhvr>
                                    </p:animEffect>
                                    <p:set>
                                      <p:cBhvr>
                                        <p:cTn id="28" dur="1" fill="hold">
                                          <p:stCondLst>
                                            <p:cond delay="599"/>
                                          </p:stCondLst>
                                        </p:cTn>
                                        <p:tgtEl>
                                          <p:spTgt spid="13"/>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0" dur="600"/>
                                        <p:tgtEl>
                                          <p:spTgt spid="16"/>
                                        </p:tgtEl>
                                      </p:cBhvr>
                                    </p:animEffect>
                                    <p:set>
                                      <p:cBhvr>
                                        <p:cTn id="31" dur="1" fill="hold">
                                          <p:stCondLst>
                                            <p:cond delay="599"/>
                                          </p:stCondLst>
                                        </p:cTn>
                                        <p:tgtEl>
                                          <p:spTgt spid="16"/>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7"/>
                                        </p:tgtEl>
                                      </p:cBhvr>
                                    </p:animEffect>
                                    <p:set>
                                      <p:cBhvr>
                                        <p:cTn id="34" dur="1" fill="hold">
                                          <p:stCondLst>
                                            <p:cond delay="599"/>
                                          </p:stCondLst>
                                        </p:cTn>
                                        <p:tgtEl>
                                          <p:spTgt spid="17"/>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18"/>
                                        </p:tgtEl>
                                      </p:cBhvr>
                                    </p:animEffect>
                                    <p:set>
                                      <p:cBhvr>
                                        <p:cTn id="37" dur="1" fill="hold">
                                          <p:stCondLst>
                                            <p:cond delay="599"/>
                                          </p:stCondLst>
                                        </p:cTn>
                                        <p:tgtEl>
                                          <p:spTgt spid="18"/>
                                        </p:tgtEl>
                                        <p:attrNameLst>
                                          <p:attrName>style.visibility</p:attrName>
                                        </p:attrNameLst>
                                      </p:cBhvr>
                                      <p:to>
                                        <p:strVal val="hidden"/>
                                      </p:to>
                                    </p:se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5" dur="600"/>
                                        <p:tgtEl>
                                          <p:spTgt spid="21"/>
                                        </p:tgtEl>
                                      </p:cBhvr>
                                    </p:animEffect>
                                    <p:set>
                                      <p:cBhvr>
                                        <p:cTn id="46" dur="1" fill="hold">
                                          <p:stCondLst>
                                            <p:cond delay="599"/>
                                          </p:stCondLst>
                                        </p:cTn>
                                        <p:tgtEl>
                                          <p:spTgt spid="21"/>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48" dur="600"/>
                                        <p:tgtEl>
                                          <p:spTgt spid="22"/>
                                        </p:tgtEl>
                                      </p:cBhvr>
                                    </p:animEffect>
                                    <p:set>
                                      <p:cBhvr>
                                        <p:cTn id="49" dur="1" fill="hold">
                                          <p:stCondLst>
                                            <p:cond delay="599"/>
                                          </p:stCondLst>
                                        </p:cTn>
                                        <p:tgtEl>
                                          <p:spTgt spid="22"/>
                                        </p:tgtEl>
                                        <p:attrNameLst>
                                          <p:attrName>style.visibility</p:attrName>
                                        </p:attrNameLst>
                                      </p:cBhvr>
                                      <p:to>
                                        <p:strVal val="hidden"/>
                                      </p:to>
                                    </p:set>
                                  </p:childTnLst>
                                </p:cTn>
                              </p:par>
                              <p:par>
                                <p:cTn id="53" presetID="22" presetClass="entr" presetSubtype="8"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1600"/>
                                        <p:tgtEl>
                                          <p:spTgt spid="23"/>
                                        </p:tgtEl>
                                      </p:cBhvr>
                                    </p:animEffect>
                                  </p:childTnLst>
                                </p:cTn>
                              </p:par>
                              <p:par>
                                <p:cTn id="56" presetID="10" presetClass="exit" presetSubtype="0" fill="hold" grpId="0" nodeType="withEffect">
                                  <p:stCondLst>
                                    <p:cond delay="0"/>
                                  </p:stCondLst>
                                  <p:childTnLst>
                                    <p:animEffect transition="out" filter="fade">
                                      <p:cBhvr>
                                        <p:cTn id="54" dur="600"/>
                                        <p:tgtEl>
                                          <p:spTgt spid="25"/>
                                        </p:tgtEl>
                                      </p:cBhvr>
                                    </p:animEffect>
                                    <p:set>
                                      <p:cBhvr>
                                        <p:cTn id="55" dur="1" fill="hold">
                                          <p:stCondLst>
                                            <p:cond delay="599"/>
                                          </p:stCondLst>
                                        </p:cTn>
                                        <p:tgtEl>
                                          <p:spTgt spid="25"/>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26"/>
                                        </p:tgtEl>
                                      </p:cBhvr>
                                    </p:animEffect>
                                    <p:set>
                                      <p:cBhvr>
                                        <p:cTn id="58" dur="1" fill="hold">
                                          <p:stCondLst>
                                            <p:cond delay="599"/>
                                          </p:stCondLst>
                                        </p:cTn>
                                        <p:tgtEl>
                                          <p:spTgt spid="26"/>
                                        </p:tgtEl>
                                        <p:attrNameLst>
                                          <p:attrName>style.visibility</p:attrName>
                                        </p:attrNameLst>
                                      </p:cBhvr>
                                      <p:to>
                                        <p:strVal val="hidden"/>
                                      </p:to>
                                    </p:set>
                                  </p:childTnLst>
                                </p:cTn>
                              </p:par>
                              <p:par>
                                <p:cTn id="61" presetID="1" presetClass="entr" presetSubtype="0" fill="hold" grpId="0" nodeType="with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par>
                                <p:cTn id="63" presetID="0" presetClass="path" presetSubtype="0" fill="hold" grpId="0" nodeType="withEffect">
                                  <p:stCondLst>
                                    <p:cond delay="0"/>
                                  </p:stCondLst>
                                  <p:childTnLst>
                                    <p:animMotion origin="layout" path="M -0.0794 0.0635 L -0.0377 0.0282 L 0.0000 0.0000 L 0 0 E" pathEditMode="relative" rAng="0" ptsTypes="">
                                      <p:cBhvr>
                                        <p:cTn id="62" dur="1600" fill="hold"/>
                                        <p:tgtEl>
                                          <p:spTgt spid="27"/>
                                        </p:tgtEl>
                                        <p:attrNameLst>
                                          <p:attrName>ppt_x</p:attrName>
                                          <p:attrName>ppt_y</p:attrName>
                                        </p:attrNameLst>
                                      </p:cBhvr>
                                    </p:animMotion>
                                  </p:childTnLst>
                                </p:cTn>
                              </p:par>
                              <p:par>
                                <p:cTn id="66"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600"/>
                                        <p:tgtEl>
                                          <p:spTgt spid="28"/>
                                        </p:tgtEl>
                                      </p:cBhvr>
                                    </p:animEffect>
                                  </p:childTnLst>
                                </p:cTn>
                              </p:par>
                            </p:childTnLst>
                          </p:cTn>
                        </p:par>
                      </p:childTnLst>
                    </p:cTn>
                  </p:par>
                  <p:par>
                    <p:cTn id="81" fill="hold">
                      <p:stCondLst>
                        <p:cond delay="indefinite"/>
                      </p:stCondLst>
                      <p:childTnLst>
                        <p:par>
                          <p:cTn id="82"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600"/>
                                        <p:tgtEl>
                                          <p:spTgt spid="14"/>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600"/>
                                        <p:tgtEl>
                                          <p:spTgt spid="15"/>
                                        </p:tgtEl>
                                      </p:cBhvr>
                                    </p:animEffect>
                                  </p:childTnLst>
                                </p:cTn>
                              </p:par>
                              <p:par>
                                <p:cTn id="77" presetID="10" presetClass="exit" presetSubtype="0" fill="hold" grpId="0" nodeType="withEffect">
                                  <p:stCondLst>
                                    <p:cond delay="0"/>
                                  </p:stCondLst>
                                  <p:childTnLst>
                                    <p:animEffect transition="out" filter="fade">
                                      <p:cBhvr>
                                        <p:cTn id="75" dur="600"/>
                                        <p:tgtEl>
                                          <p:spTgt spid="28"/>
                                        </p:tgtEl>
                                      </p:cBhvr>
                                    </p:animEffect>
                                    <p:set>
                                      <p:cBhvr>
                                        <p:cTn id="76" dur="1" fill="hold">
                                          <p:stCondLst>
                                            <p:cond delay="599"/>
                                          </p:stCondLst>
                                        </p:cTn>
                                        <p:tgtEl>
                                          <p:spTgt spid="28"/>
                                        </p:tgtEl>
                                        <p:attrNameLst>
                                          <p:attrName>style.visibility</p:attrName>
                                        </p:attrNameLst>
                                      </p:cBhvr>
                                      <p:to>
                                        <p:strVal val="hidden"/>
                                      </p:to>
                                    </p:set>
                                  </p:childTnLst>
                                </p:cTn>
                              </p:par>
                              <p:par>
                                <p:cTn id="80" presetID="10"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600"/>
                                        <p:tgtEl>
                                          <p:spTgt spid="29"/>
                                        </p:tgtEl>
                                      </p:cBhvr>
                                    </p:animEffect>
                                  </p:childTnLst>
                                </p:cTn>
                              </p:par>
                            </p:childTnLst>
                          </p:cTn>
                        </p:par>
                      </p:childTnLst>
                    </p:cTn>
                  </p:par>
                  <p:par>
                    <p:cTn id="89" fill="hold">
                      <p:stCondLst>
                        <p:cond delay="indefinite"/>
                      </p:stCondLst>
                      <p:childTnLst>
                        <p:par>
                          <p:cTn id="90" fill="hold">
                            <p:stCondLst>
                              <p:cond delay="0"/>
                            </p:stCondLst>
                            <p:childTnLst>
                              <p:par>
                                <p:cTn id="85" presetID="10" presetClass="exit" presetSubtype="0" fill="hold" grpId="0" nodeType="clickEffect">
                                  <p:stCondLst>
                                    <p:cond delay="0"/>
                                  </p:stCondLst>
                                  <p:childTnLst>
                                    <p:animEffect transition="out" filter="fade">
                                      <p:cBhvr>
                                        <p:cTn id="83" dur="600"/>
                                        <p:tgtEl>
                                          <p:spTgt spid="29"/>
                                        </p:tgtEl>
                                      </p:cBhvr>
                                    </p:animEffect>
                                    <p:set>
                                      <p:cBhvr>
                                        <p:cTn id="84" dur="1" fill="hold">
                                          <p:stCondLst>
                                            <p:cond delay="599"/>
                                          </p:stCondLst>
                                        </p:cTn>
                                        <p:tgtEl>
                                          <p:spTgt spid="29"/>
                                        </p:tgtEl>
                                        <p:attrNameLst>
                                          <p:attrName>style.visibility</p:attrName>
                                        </p:attrNameLst>
                                      </p:cBhvr>
                                      <p:to>
                                        <p:strVal val="hidden"/>
                                      </p:to>
                                    </p:set>
                                  </p:childTnLst>
                                </p:cTn>
                              </p:par>
                              <p:par>
                                <p:cTn id="88"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وَخَنْدَقَ الْمُسْلِمُونَ عَلَى أَنْفُسِهِمْ وَالْمُشْرِكُونَ</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 Muslims dug a trench round themselves, and so did the mushrikūn</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وَكَانُوا يَتَرَاوَحُونَ الْقِتَالَ وَيَرْجِعُونَ إِلَى خَنْدَقِهِمْ</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would fight by turns and go back to their trench</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فَكَانُوا كَذَلِكَ شَهْرًا</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went on like that for a month.</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trench month</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pic>
        <p:nvPicPr>
          <p:cNvPr id="6" name="map" descr="s06-bahrayn-hajar-r6-9-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Ibn Ḥadhf</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seized by al-Ḥuṭam's men; freed by his uncle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camp is drunk</a:t>
            </a:r>
          </a:p>
        </p:txBody>
      </p:sp>
      <p:pic>
        <p:nvPicPr>
          <p:cNvPr id="13" name="map arrow a_017" descr="s06-bahrayn-hajar-r1-6-a_017.png"/>
          <p:cNvPicPr>
            <a:picLocks noChangeAspect="1"/>
          </p:cNvPicPr>
          <p:nvPr/>
        </p:nvPicPr>
        <p:blipFill>
          <a:blip r:embed="rId3"/>
          <a:stretch>
            <a:fillRect/>
          </a:stretch>
        </p:blipFill>
        <p:spPr>
          <a:xfrm>
            <a:off x="2171466" y="3892100"/>
            <a:ext cx="1088505" cy="588599"/>
          </a:xfrm>
          <a:prstGeom prst="rect">
            <a:avLst/>
          </a:prstGeom>
        </p:spPr>
      </p:pic>
      <p:pic>
        <p:nvPicPr>
          <p:cNvPr id="14" name="map arrow a_024" descr="s06-bahrayn-hajar-r6-9-a_024.png"/>
          <p:cNvPicPr>
            <a:picLocks noChangeAspect="1"/>
          </p:cNvPicPr>
          <p:nvPr/>
        </p:nvPicPr>
        <p:blipFill>
          <a:blip r:embed="rId4"/>
          <a:stretch>
            <a:fillRect/>
          </a:stretch>
        </p:blipFill>
        <p:spPr>
          <a:xfrm>
            <a:off x="3409138" y="3101925"/>
            <a:ext cx="939340" cy="33461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my Ibn Ḥadhf" descr="s06-bahrayn-hajar-r6-9-a_025.png"/>
          <p:cNvPicPr>
            <a:picLocks noChangeAspect="1"/>
          </p:cNvPicPr>
          <p:nvPr/>
        </p:nvPicPr>
        <p:blipFill>
          <a:blip r:embed="rId6"/>
          <a:stretch>
            <a:fillRect/>
          </a:stretch>
        </p:blipFill>
        <p:spPr>
          <a:xfrm>
            <a:off x="3957422" y="2549610"/>
            <a:ext cx="2136696" cy="854678"/>
          </a:xfrm>
          <a:prstGeom prst="rect">
            <a:avLst/>
          </a:prstGeom>
        </p:spPr>
      </p:pic>
      <p:pic>
        <p:nvPicPr>
          <p:cNvPr id="17" name="map army Ibn Ḥadhf" descr="s06-bahrayn-hajar-r6-9-a_029.png"/>
          <p:cNvPicPr>
            <a:picLocks noChangeAspect="1"/>
          </p:cNvPicPr>
          <p:nvPr/>
        </p:nvPicPr>
        <p:blipFill>
          <a:blip r:embed="rId7"/>
          <a:stretch>
            <a:fillRect/>
          </a:stretch>
        </p:blipFill>
        <p:spPr>
          <a:xfrm>
            <a:off x="2542364" y="2085987"/>
            <a:ext cx="1660979" cy="1173167"/>
          </a:xfrm>
          <a:prstGeom prst="rect">
            <a:avLst/>
          </a:prstGeom>
        </p:spPr>
      </p:pic>
      <p:pic>
        <p:nvPicPr>
          <p:cNvPr id="18" name="map label a month" descr="s06-bahrayn-hajar-r1-6-l_023.png"/>
          <p:cNvPicPr>
            <a:picLocks noChangeAspect="1"/>
          </p:cNvPicPr>
          <p:nvPr/>
        </p:nvPicPr>
        <p:blipFill>
          <a:blip r:embed="rId8"/>
          <a:stretch>
            <a:fillRect/>
          </a:stretch>
        </p:blipFill>
        <p:spPr>
          <a:xfrm>
            <a:off x="3445421" y="2473011"/>
            <a:ext cx="1406994" cy="334614"/>
          </a:xfrm>
          <a:prstGeom prst="rect">
            <a:avLst/>
          </a:prstGeom>
        </p:spPr>
      </p:pic>
      <p:pic>
        <p:nvPicPr>
          <p:cNvPr id="19" name="map label a noise in the night" descr="s06-bahrayn-hajar-r6-9-l_026.png"/>
          <p:cNvPicPr>
            <a:picLocks noChangeAspect="1"/>
          </p:cNvPicPr>
          <p:nvPr/>
        </p:nvPicPr>
        <p:blipFill>
          <a:blip r:embed="rId9"/>
          <a:stretch>
            <a:fillRect/>
          </a:stretch>
        </p:blipFill>
        <p:spPr>
          <a:xfrm>
            <a:off x="4110619" y="2235152"/>
            <a:ext cx="2547910" cy="338646"/>
          </a:xfrm>
          <a:prstGeom prst="rect">
            <a:avLst/>
          </a:prstGeom>
        </p:spPr>
      </p:pic>
      <p:pic>
        <p:nvPicPr>
          <p:cNvPr id="20" name="map label seized — he calls for his uncle" descr="s06-bahrayn-hajar-r6-9-l_027.png"/>
          <p:cNvPicPr>
            <a:picLocks noChangeAspect="1"/>
          </p:cNvPicPr>
          <p:nvPr/>
        </p:nvPicPr>
        <p:blipFill>
          <a:blip r:embed="rId10"/>
          <a:stretch>
            <a:fillRect/>
          </a:stretch>
        </p:blipFill>
        <p:spPr>
          <a:xfrm>
            <a:off x="3485736" y="2235152"/>
            <a:ext cx="389443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675 0.0000 L -0.0317 -0.0056 L 0.0000 0.0000 L 0 0 E" pathEditMode="relative" rAng="0" ptsTypes="">
                                      <p:cBhvr>
                                        <p:cTn id="11" dur="1600" fill="hold"/>
                                        <p:tgtEl>
                                          <p:spTgt spid="16"/>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18"/>
                                        </p:tgtEl>
                                      </p:cBhvr>
                                    </p:animEffect>
                                    <p:set>
                                      <p:cBhvr>
                                        <p:cTn id="14" dur="1" fill="hold">
                                          <p:stCondLst>
                                            <p:cond delay="599"/>
                                          </p:stCondLst>
                                        </p:cTn>
                                        <p:tgtEl>
                                          <p:spTgt spid="18"/>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600"/>
                                        <p:tgtEl>
                                          <p:spTgt spid="19"/>
                                        </p:tgtEl>
                                      </p:cBhvr>
                                    </p:animEffect>
                                  </p:childTnLst>
                                </p:cTn>
                              </p:par>
                            </p:childTnLst>
                          </p:cTn>
                        </p:par>
                      </p:childTnLst>
                    </p:cTn>
                  </p:par>
                  <p:par>
                    <p:cTn id="30" fill="hold">
                      <p:stCondLst>
                        <p:cond delay="indefinite"/>
                      </p:stCondLst>
                      <p:childTnLst>
                        <p:par>
                          <p:cTn id="31" fill="hold">
                            <p:stCondLst>
                              <p:cond delay="0"/>
                            </p:stCondLst>
                            <p:childTnLst>
                              <p:par>
                                <p:cTn id="23" presetID="10" presetClass="exit" presetSubtype="0" fill="hold" grpId="0" nodeType="clickEffect">
                                  <p:stCondLst>
                                    <p:cond delay="0"/>
                                  </p:stCondLst>
                                  <p:childTnLst>
                                    <p:animEffect transition="out" filter="fade">
                                      <p:cBhvr>
                                        <p:cTn id="21" dur="600"/>
                                        <p:tgtEl>
                                          <p:spTgt spid="14"/>
                                        </p:tgtEl>
                                      </p:cBhvr>
                                    </p:animEffect>
                                    <p:set>
                                      <p:cBhvr>
                                        <p:cTn id="22" dur="1" fill="hold">
                                          <p:stCondLst>
                                            <p:cond delay="599"/>
                                          </p:stCondLst>
                                        </p:cTn>
                                        <p:tgtEl>
                                          <p:spTgt spid="14"/>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19"/>
                                        </p:tgtEl>
                                      </p:cBhvr>
                                    </p:animEffect>
                                    <p:set>
                                      <p:cBhvr>
                                        <p:cTn id="25" dur="1" fill="hold">
                                          <p:stCondLst>
                                            <p:cond delay="599"/>
                                          </p:stCondLst>
                                        </p:cTn>
                                        <p:tgtEl>
                                          <p:spTgt spid="19"/>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600"/>
                                        <p:tgtEl>
                                          <p:spTgt spid="20"/>
                                        </p:tgtEl>
                                      </p:cBhvr>
                                    </p:animEffect>
                                  </p:childTnLst>
                                </p:cTn>
                              </p:par>
                            </p:childTnLst>
                          </p:cTn>
                        </p:par>
                      </p:childTnLst>
                    </p:cTn>
                  </p:par>
                  <p:par>
                    <p:cTn id="45" fill="hold">
                      <p:stCondLst>
                        <p:cond delay="indefinite"/>
                      </p:stCondLst>
                      <p:childTnLst>
                        <p:par>
                          <p:cTn id="46" fill="hold">
                            <p:stCondLst>
                              <p:cond delay="0"/>
                            </p:stCondLst>
                            <p:childTnLst>
                              <p:par>
                                <p:cTn id="34" presetID="22" presetClass="entr" presetSubtype="2"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right)">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754 0.0212 L 0.0397 -0.0071 L 0.0000 0.0000 L 0 0 E" pathEditMode="relative" rAng="0" ptsTypes="">
                                      <p:cBhvr>
                                        <p:cTn id="40" dur="1600" fill="hold"/>
                                        <p:tgtEl>
                                          <p:spTgt spid="17"/>
                                        </p:tgtEl>
                                        <p:attrNameLst>
                                          <p:attrName>ppt_x</p:attrName>
                                          <p:attrName>ppt_y</p:attrName>
                                        </p:attrNameLst>
                                      </p:cBhvr>
                                    </p:animMotion>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إِنِّي لَأَظُنُّكَ بِئْسَ ابْنُ أُخْتٍ أَتَيْتَ اللَّيْلَةَ أَخْوَالَكَ</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Allāh, I think you a poor sort of sister's-son, coming to your uncles tonight."</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Abjar b. Bujayr, to his sister's son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pic>
        <p:nvPicPr>
          <p:cNvPr id="6" name="map" descr="s06-bahrayn-hajar-r9-11-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out at them, over the trench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by Qays b. ʿĀṣim</a:t>
            </a:r>
          </a:p>
        </p:txBody>
      </p:sp>
      <p:pic>
        <p:nvPicPr>
          <p:cNvPr id="13" name="map territory t_020" descr="s06-bahrayn-hajar-r1-6-t_020.png"/>
          <p:cNvPicPr>
            <a:picLocks noChangeAspect="1"/>
          </p:cNvPicPr>
          <p:nvPr/>
        </p:nvPicPr>
        <p:blipFill>
          <a:blip r:embed="rId3"/>
          <a:stretch>
            <a:fillRect/>
          </a:stretch>
        </p:blipFill>
        <p:spPr>
          <a:xfrm>
            <a:off x="3784067" y="2960823"/>
            <a:ext cx="241890" cy="2104444"/>
          </a:xfrm>
          <a:prstGeom prst="rect">
            <a:avLst/>
          </a:prstGeom>
        </p:spPr>
      </p:pic>
      <p:pic>
        <p:nvPicPr>
          <p:cNvPr id="14" name="map territory t_021" descr="s06-bahrayn-hajar-r1-6-t_021.png"/>
          <p:cNvPicPr>
            <a:picLocks noChangeAspect="1"/>
          </p:cNvPicPr>
          <p:nvPr/>
        </p:nvPicPr>
        <p:blipFill>
          <a:blip r:embed="rId4"/>
          <a:stretch>
            <a:fillRect/>
          </a:stretch>
        </p:blipFill>
        <p:spPr>
          <a:xfrm>
            <a:off x="4364604" y="2960823"/>
            <a:ext cx="241890" cy="210444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row a_030" descr="s06-bahrayn-hajar-r9-11-a_030.png"/>
          <p:cNvPicPr>
            <a:picLocks noChangeAspect="1"/>
          </p:cNvPicPr>
          <p:nvPr/>
        </p:nvPicPr>
        <p:blipFill>
          <a:blip r:embed="rId6"/>
          <a:stretch>
            <a:fillRect/>
          </a:stretch>
        </p:blipFill>
        <p:spPr>
          <a:xfrm>
            <a:off x="3143058" y="3896132"/>
            <a:ext cx="1495687" cy="330583"/>
          </a:xfrm>
          <a:prstGeom prst="rect">
            <a:avLst/>
          </a:prstGeom>
        </p:spPr>
      </p:pic>
      <p:pic>
        <p:nvPicPr>
          <p:cNvPr id="17" name="map battle b_032" descr="s06-bahrayn-hajar-r9-11-b_032.png"/>
          <p:cNvPicPr>
            <a:picLocks noChangeAspect="1"/>
          </p:cNvPicPr>
          <p:nvPr/>
        </p:nvPicPr>
        <p:blipFill>
          <a:blip r:embed="rId7"/>
          <a:stretch>
            <a:fillRect/>
          </a:stretch>
        </p:blipFill>
        <p:spPr>
          <a:xfrm>
            <a:off x="5340228" y="3214808"/>
            <a:ext cx="854678" cy="774048"/>
          </a:xfrm>
          <a:prstGeom prst="rect">
            <a:avLst/>
          </a:prstGeom>
        </p:spPr>
      </p:pic>
      <p:pic>
        <p:nvPicPr>
          <p:cNvPr id="18" name="map army al-Ḥuṭam" descr="s06-bahrayn-hajar-r9-11-a_010.png"/>
          <p:cNvPicPr>
            <a:picLocks noChangeAspect="1"/>
          </p:cNvPicPr>
          <p:nvPr/>
        </p:nvPicPr>
        <p:blipFill>
          <a:blip r:embed="rId8"/>
          <a:stretch>
            <a:fillRect/>
          </a:stretch>
        </p:blipFill>
        <p:spPr>
          <a:xfrm>
            <a:off x="4646809" y="3226902"/>
            <a:ext cx="1136884" cy="1326364"/>
          </a:xfrm>
          <a:prstGeom prst="rect">
            <a:avLst/>
          </a:prstGeom>
        </p:spPr>
      </p:pic>
      <p:pic>
        <p:nvPicPr>
          <p:cNvPr id="19" name="map army al-ʿAlāʾ ؓ" descr="s06-bahrayn-hajar-r1-6-a_018.png"/>
          <p:cNvPicPr>
            <a:picLocks noChangeAspect="1"/>
          </p:cNvPicPr>
          <p:nvPr/>
        </p:nvPicPr>
        <p:blipFill>
          <a:blip r:embed="rId9"/>
          <a:stretch>
            <a:fillRect/>
          </a:stretch>
        </p:blipFill>
        <p:spPr>
          <a:xfrm>
            <a:off x="2441577" y="3226902"/>
            <a:ext cx="1527939" cy="1527939"/>
          </a:xfrm>
          <a:prstGeom prst="rect">
            <a:avLst/>
          </a:prstGeom>
        </p:spPr>
      </p:pic>
      <p:pic>
        <p:nvPicPr>
          <p:cNvPr id="20" name="map army Ibn Ḥadhf" descr="s06-bahrayn-hajar-r6-9-a_029.png"/>
          <p:cNvPicPr>
            <a:picLocks noChangeAspect="1"/>
          </p:cNvPicPr>
          <p:nvPr/>
        </p:nvPicPr>
        <p:blipFill>
          <a:blip r:embed="rId10"/>
          <a:stretch>
            <a:fillRect/>
          </a:stretch>
        </p:blipFill>
        <p:spPr>
          <a:xfrm>
            <a:off x="2542364" y="2085987"/>
            <a:ext cx="1660979" cy="1173167"/>
          </a:xfrm>
          <a:prstGeom prst="rect">
            <a:avLst/>
          </a:prstGeom>
        </p:spPr>
      </p:pic>
      <p:pic>
        <p:nvPicPr>
          <p:cNvPr id="21" name="map army al-ʿAlāʾ ؓ" descr="s06-bahrayn-hajar-r9-11-a_031.png"/>
          <p:cNvPicPr>
            <a:picLocks noChangeAspect="1"/>
          </p:cNvPicPr>
          <p:nvPr/>
        </p:nvPicPr>
        <p:blipFill>
          <a:blip r:embed="rId11"/>
          <a:stretch>
            <a:fillRect/>
          </a:stretch>
        </p:blipFill>
        <p:spPr>
          <a:xfrm>
            <a:off x="4106588" y="2920508"/>
            <a:ext cx="1028033" cy="1209450"/>
          </a:xfrm>
          <a:prstGeom prst="rect">
            <a:avLst/>
          </a:prstGeom>
        </p:spPr>
      </p:pic>
      <p:pic>
        <p:nvPicPr>
          <p:cNvPr id="22" name="map label al-Ḥuṭam killed" descr="s06-bahrayn-hajar-r9-11-l_033.png"/>
          <p:cNvPicPr>
            <a:picLocks noChangeAspect="1"/>
          </p:cNvPicPr>
          <p:nvPr/>
        </p:nvPicPr>
        <p:blipFill>
          <a:blip r:embed="rId12"/>
          <a:stretch>
            <a:fillRect/>
          </a:stretch>
        </p:blipFill>
        <p:spPr>
          <a:xfrm>
            <a:off x="5005613" y="3742934"/>
            <a:ext cx="2088318"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8" fill="hold">
                      <p:stCondLst>
                        <p:cond delay="indefinite"/>
                      </p:stCondLst>
                      <p:childTnLst>
                        <p:par>
                          <p:cTn id="2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22" presetClass="entr" presetSubtype="8"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left)">
                                      <p:cBhvr>
                                        <p:cTn id="13" dur="1600"/>
                                        <p:tgtEl>
                                          <p:spTgt spid="16"/>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1131 -0.0071 L -0.0556 0.0141 L 0.0000 0.0000 L 0 0 E" pathEditMode="relative" rAng="0" ptsTypes="">
                                      <p:cBhvr>
                                        <p:cTn id="26" dur="1600" fill="hold"/>
                                        <p:tgtEl>
                                          <p:spTgt spid="21"/>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32" presetID="10" presetClass="exit" presetSubtype="0" fill="hold" grpId="0" nodeType="clickEffect">
                                  <p:stCondLst>
                                    <p:cond delay="0"/>
                                  </p:stCondLst>
                                  <p:childTnLst>
                                    <p:animEffect transition="out" filter="fade">
                                      <p:cBhvr>
                                        <p:cTn id="30" dur="600"/>
                                        <p:tgtEl>
                                          <p:spTgt spid="17"/>
                                        </p:tgtEl>
                                      </p:cBhvr>
                                    </p:animEffect>
                                    <p:set>
                                      <p:cBhvr>
                                        <p:cTn id="31" dur="1" fill="hold">
                                          <p:stCondLst>
                                            <p:cond delay="599"/>
                                          </p:stCondLst>
                                        </p:cTn>
                                        <p:tgtEl>
                                          <p:spTgt spid="17"/>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8"/>
                                        </p:tgtEl>
                                      </p:cBhvr>
                                    </p:animEffect>
                                    <p:set>
                                      <p:cBhvr>
                                        <p:cTn id="34" dur="1" fill="hold">
                                          <p:stCondLst>
                                            <p:cond delay="599"/>
                                          </p:stCondLst>
                                        </p:cTn>
                                        <p:tgtEl>
                                          <p:spTgt spid="18"/>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al-Ḥuṭam mounts in the dark; his stirrup-leather parts.</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ʿAfīf b. al-Mundhir offers to set it right.</a:t>
            </a:r>
          </a:p>
        </p:txBody>
      </p:sp>
      <p:sp>
        <p:nvSpPr>
          <p:cNvPr id="8" name="TextBox 7"/>
          <p:cNvSpPr txBox="1"/>
          <p:nvPr/>
        </p:nvSpPr>
        <p:spPr>
          <a:xfrm>
            <a:off x="566928" y="26159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واسوأتاه، لو أعلمُ ما به لم أحرِّكْهُ</a:t>
            </a:r>
          </a:p>
        </p:txBody>
      </p:sp>
      <p:sp>
        <p:nvSpPr>
          <p:cNvPr id="9" name="Rectangle 8"/>
          <p:cNvSpPr/>
          <p:nvPr/>
        </p:nvSpPr>
        <p:spPr>
          <a:xfrm>
            <a:off x="566928" y="40469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3578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 shameful thing — had I known his condition, I would not have touched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Qays b. ʿĀṣim, standing over al-Ḥuṭam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pic>
        <p:nvPicPr>
          <p:cNvPr id="6" name="map" descr="s06-bahrayn-flight-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beaten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 ship for Dārīn; the rest go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ʿUtayba b. al-Nahhās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and al-Muthannā b. Ḥāritha shut the roads</a:t>
            </a:r>
          </a:p>
        </p:txBody>
      </p:sp>
      <p:pic>
        <p:nvPicPr>
          <p:cNvPr id="13" name="map arrow a_007" descr="s06-bahrayn-flight-r1-3-a_007.png"/>
          <p:cNvPicPr>
            <a:picLocks noChangeAspect="1"/>
          </p:cNvPicPr>
          <p:nvPr/>
        </p:nvPicPr>
        <p:blipFill>
          <a:blip r:embed="rId3"/>
          <a:stretch>
            <a:fillRect/>
          </a:stretch>
        </p:blipFill>
        <p:spPr>
          <a:xfrm>
            <a:off x="4727439" y="2956791"/>
            <a:ext cx="899025" cy="1338458"/>
          </a:xfrm>
          <a:prstGeom prst="rect">
            <a:avLst/>
          </a:prstGeom>
        </p:spPr>
      </p:pic>
      <p:pic>
        <p:nvPicPr>
          <p:cNvPr id="14" name="map arrow a_009" descr="s06-bahrayn-flight-r1-3-a_009.png"/>
          <p:cNvPicPr>
            <a:picLocks noChangeAspect="1"/>
          </p:cNvPicPr>
          <p:nvPr/>
        </p:nvPicPr>
        <p:blipFill>
          <a:blip r:embed="rId4"/>
          <a:stretch>
            <a:fillRect/>
          </a:stretch>
        </p:blipFill>
        <p:spPr>
          <a:xfrm>
            <a:off x="2610900" y="3408320"/>
            <a:ext cx="1177199" cy="975623"/>
          </a:xfrm>
          <a:prstGeom prst="rect">
            <a:avLst/>
          </a:prstGeom>
        </p:spPr>
      </p:pic>
      <p:pic>
        <p:nvPicPr>
          <p:cNvPr id="15" name="map army the beaten" descr="s06-bahrayn-flight-r1-3-a_008.png"/>
          <p:cNvPicPr>
            <a:picLocks noChangeAspect="1"/>
          </p:cNvPicPr>
          <p:nvPr/>
        </p:nvPicPr>
        <p:blipFill>
          <a:blip r:embed="rId5"/>
          <a:stretch>
            <a:fillRect/>
          </a:stretch>
        </p:blipFill>
        <p:spPr>
          <a:xfrm>
            <a:off x="5142684" y="2275467"/>
            <a:ext cx="2152822" cy="878867"/>
          </a:xfrm>
          <a:prstGeom prst="rect">
            <a:avLst/>
          </a:prstGeom>
        </p:spPr>
      </p:pic>
      <p:pic>
        <p:nvPicPr>
          <p:cNvPr id="16" name="map army the rest" descr="s06-bahrayn-flight-r1-3-a_010.png"/>
          <p:cNvPicPr>
            <a:picLocks noChangeAspect="1"/>
          </p:cNvPicPr>
          <p:nvPr/>
        </p:nvPicPr>
        <p:blipFill>
          <a:blip r:embed="rId6"/>
          <a:stretch>
            <a:fillRect/>
          </a:stretch>
        </p:blipFill>
        <p:spPr>
          <a:xfrm>
            <a:off x="2332726" y="2731027"/>
            <a:ext cx="2068161" cy="878867"/>
          </a:xfrm>
          <a:prstGeom prst="rect">
            <a:avLst/>
          </a:prstGeom>
        </p:spPr>
      </p:pic>
      <p:pic>
        <p:nvPicPr>
          <p:cNvPr id="17" name="map army ʿUtayba" descr="s06-bahrayn-flight-r1-3-a_011.png"/>
          <p:cNvPicPr>
            <a:picLocks noChangeAspect="1"/>
          </p:cNvPicPr>
          <p:nvPr/>
        </p:nvPicPr>
        <p:blipFill>
          <a:blip r:embed="rId7"/>
          <a:stretch>
            <a:fillRect/>
          </a:stretch>
        </p:blipFill>
        <p:spPr>
          <a:xfrm>
            <a:off x="1828788" y="1815876"/>
            <a:ext cx="1846428" cy="854678"/>
          </a:xfrm>
          <a:prstGeom prst="rect">
            <a:avLst/>
          </a:prstGeom>
        </p:spPr>
      </p:pic>
      <p:pic>
        <p:nvPicPr>
          <p:cNvPr id="18" name="map army al-Muthannā" descr="s06-bahrayn-flight-r1-3-a_012.png"/>
          <p:cNvPicPr>
            <a:picLocks noChangeAspect="1"/>
          </p:cNvPicPr>
          <p:nvPr/>
        </p:nvPicPr>
        <p:blipFill>
          <a:blip r:embed="rId8"/>
          <a:stretch>
            <a:fillRect/>
          </a:stretch>
        </p:blipFill>
        <p:spPr>
          <a:xfrm>
            <a:off x="1393386" y="3823564"/>
            <a:ext cx="1548097" cy="1290080"/>
          </a:xfrm>
          <a:prstGeom prst="rect">
            <a:avLst/>
          </a:prstGeom>
        </p:spPr>
      </p:pic>
      <p:pic>
        <p:nvPicPr>
          <p:cNvPr id="19" name="map label the roads are shut" descr="s06-bahrayn-flight-r1-3-l_013.png"/>
          <p:cNvPicPr>
            <a:picLocks noChangeAspect="1"/>
          </p:cNvPicPr>
          <p:nvPr/>
        </p:nvPicPr>
        <p:blipFill>
          <a:blip r:embed="rId9"/>
          <a:stretch>
            <a:fillRect/>
          </a:stretch>
        </p:blipFill>
        <p:spPr>
          <a:xfrm>
            <a:off x="1119243" y="5371662"/>
            <a:ext cx="2439059"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22" presetClass="entr" presetSubtype="2"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570 0.1781 L -0.0181 0.1302 L -0.0052 0.0664 L 0.0000 0.0000 L 0 0 E" pathEditMode="relative" rAng="0" ptsTypes="">
                                      <p:cBhvr>
                                        <p:cTn id="11" dur="1600" fill="hold"/>
                                        <p:tgtEl>
                                          <p:spTgt spid="15"/>
                                        </p:tgtEl>
                                        <p:attrNameLst>
                                          <p:attrName>ppt_x</p:attrName>
                                          <p:attrName>ppt_y</p:attrName>
                                        </p:attrNameLst>
                                      </p:cBhvr>
                                    </p:animMotion>
                                  </p:childTnLst>
                                </p:cTn>
                              </p:par>
                              <p:par>
                                <p:cTn id="14" presetID="1" presetClass="entr" presetSubtype="0" fill="hold" grpId="0" nodeType="withEffect">
                                  <p:stCondLst>
                                    <p:cond delay="0"/>
                                  </p:stCondLst>
                                  <p:childTnLst>
                                    <p:set>
                                      <p:cBhvr>
                                        <p:cTn id="13" dur="1" fill="hold">
                                          <p:stCondLst>
                                            <p:cond delay="0"/>
                                          </p:stCondLst>
                                        </p:cTn>
                                        <p:tgtEl>
                                          <p:spTgt spid="16"/>
                                        </p:tgtEl>
                                        <p:attrNameLst>
                                          <p:attrName>style.visibility</p:attrName>
                                        </p:attrNameLst>
                                      </p:cBhvr>
                                      <p:to>
                                        <p:strVal val="visible"/>
                                      </p:to>
                                    </p:set>
                                  </p:childTnLst>
                                </p:cTn>
                              </p:par>
                              <p:par>
                                <p:cTn id="16" presetID="0" presetClass="path" presetSubtype="0" fill="hold" grpId="0" nodeType="withEffect">
                                  <p:stCondLst>
                                    <p:cond delay="0"/>
                                  </p:stCondLst>
                                  <p:childTnLst>
                                    <p:animMotion origin="layout" path="M 0.0868 0.1249 L 0.0440 0.0585 L 0.0000 0.0000 L 0 0 E" pathEditMode="relative" rAng="0" ptsTypes="">
                                      <p:cBhvr>
                                        <p:cTn id="15" dur="1600" fill="hold"/>
                                        <p:tgtEl>
                                          <p:spTgt spid="16"/>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600"/>
                                        <p:tgtEl>
                                          <p:spTgt spid="17"/>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600"/>
                                        <p:tgtEl>
                                          <p:spTgt spid="18"/>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فَكَتَبَ الْعَلَاءُ إِلَى مَنْ ثَبَتَ عَلَى إِسْلَامِهِ مِنْ بَكْرِ بْنِ وَائِلٍ</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al-ʿAlāʾ wrote to those of Bakr b. Wāʾil who had held firm on their Islam</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مِنْهُمْ عُتَيْبَةُ بْنُ النَّهَّاسِ وَالْمُثَنَّى بْنُ حَارِثَةَ وَغَيْرُهُمَا</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among them ʿUtayba b. al-Nahhās and al-Muthannā b. Ḥāritha and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يَأْمُرُهُمْ بِالْقُعُودِ لِلْمُنْهَزِمِينَ وَالْمُرْتَدِّينَ بِكُلِّ طَرِيق</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ordering them to sit in wait for the routed and the apostates on every road.</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shore opposite Dārīn. The same men who were at al-Dahnāʾ.</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قَدْ أَرَاكُمُ اللَّهُ مِنْ آيَاتِهِ فِي الْبَرِّ</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Allah has shown you His signs on land</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لِتَعْتَبِرُوا بِهَا فِي الْبَحْرِ</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that you may take heed by them at sea.</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part-ar"/>
          <p:cNvSpPr txBox="1"/>
          <p:nvPr/>
        </p:nvSpPr>
        <p:spPr>
          <a:xfrm>
            <a:off x="566928" y="290220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فَانْهَضُوا إِلَى عَدُوِّكُمْ وَاسْتَعْرِضُوا الْبَحْر</a:t>
            </a:r>
          </a:p>
        </p:txBody>
      </p:sp>
      <p:sp>
        <p:nvSpPr>
          <p:cNvPr id="7" name="part-en"/>
          <p:cNvSpPr txBox="1"/>
          <p:nvPr/>
        </p:nvSpPr>
        <p:spPr>
          <a:xfrm>
            <a:off x="566928" y="3776980"/>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rise against your enemy, and take the sea in your stride.</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By ship, a day and a night. He rides his horse into the sea.</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أرحمَ الراحمين، يا حكيمُ يا كريمُ</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Most Merciful of the merciful; O Wise, O Generous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أحدُ يا صمدُ، يا حيُّ يا مُحيي</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One, O Eternal; O Living, O Giver of life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قيّومُ، يا ذا الجلال والإكرام</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Sustainer; O Lord of majesty and honour</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إله إلا أنت يا ربَّنا</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there is no god but You, our Lord.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pic>
        <p:nvPicPr>
          <p:cNvPr id="6" name="map" descr="s06-bahrayn-darin-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fords the strait, on horseback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Dārīn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al-ʿAlāʾ ؓ, the same day</a:t>
            </a:r>
          </a:p>
        </p:txBody>
      </p:sp>
      <p:pic>
        <p:nvPicPr>
          <p:cNvPr id="13" name="map territory t_003" descr="s06-bahrayn-darin-r1-4-t_003.png"/>
          <p:cNvPicPr>
            <a:picLocks noChangeAspect="1"/>
          </p:cNvPicPr>
          <p:nvPr/>
        </p:nvPicPr>
        <p:blipFill>
          <a:blip r:embed="rId3"/>
          <a:stretch>
            <a:fillRect/>
          </a:stretch>
        </p:blipFill>
        <p:spPr>
          <a:xfrm>
            <a:off x="4013863" y="2763279"/>
            <a:ext cx="1540034" cy="1588412"/>
          </a:xfrm>
          <a:prstGeom prst="rect">
            <a:avLst/>
          </a:prstGeom>
        </p:spPr>
      </p:pic>
      <p:pic>
        <p:nvPicPr>
          <p:cNvPr id="14" name="map territory t_012" descr="s06-bahrayn-darin-r1-4-t_012.png"/>
          <p:cNvPicPr>
            <a:picLocks noChangeAspect="1"/>
          </p:cNvPicPr>
          <p:nvPr/>
        </p:nvPicPr>
        <p:blipFill>
          <a:blip r:embed="rId4"/>
          <a:stretch>
            <a:fillRect/>
          </a:stretch>
        </p:blipFill>
        <p:spPr>
          <a:xfrm>
            <a:off x="4013863" y="2763279"/>
            <a:ext cx="1540034" cy="1588412"/>
          </a:xfrm>
          <a:prstGeom prst="rect">
            <a:avLst/>
          </a:prstGeom>
        </p:spPr>
      </p:pic>
      <p:pic>
        <p:nvPicPr>
          <p:cNvPr id="15" name="map arrow a_007" descr="s06-bahrayn-darin-r1-4-a_007.png"/>
          <p:cNvPicPr>
            <a:picLocks noChangeAspect="1"/>
          </p:cNvPicPr>
          <p:nvPr/>
        </p:nvPicPr>
        <p:blipFill>
          <a:blip r:embed="rId5"/>
          <a:stretch>
            <a:fillRect/>
          </a:stretch>
        </p:blipFill>
        <p:spPr>
          <a:xfrm>
            <a:off x="2086804" y="4976574"/>
            <a:ext cx="620851" cy="1040127"/>
          </a:xfrm>
          <a:prstGeom prst="rect">
            <a:avLst/>
          </a:prstGeom>
        </p:spPr>
      </p:pic>
      <p:pic>
        <p:nvPicPr>
          <p:cNvPr id="16" name="map arrow a_009" descr="s06-bahrayn-darin-r1-4-a_009.png"/>
          <p:cNvPicPr>
            <a:picLocks noChangeAspect="1"/>
          </p:cNvPicPr>
          <p:nvPr/>
        </p:nvPicPr>
        <p:blipFill>
          <a:blip r:embed="rId6"/>
          <a:stretch>
            <a:fillRect/>
          </a:stretch>
        </p:blipFill>
        <p:spPr>
          <a:xfrm>
            <a:off x="2590742" y="4206557"/>
            <a:ext cx="1636790" cy="886930"/>
          </a:xfrm>
          <a:prstGeom prst="rect">
            <a:avLst/>
          </a:prstGeom>
        </p:spPr>
      </p:pic>
      <p:pic>
        <p:nvPicPr>
          <p:cNvPr id="17" name="map battle b_013" descr="s06-bahrayn-darin-r1-4-b_013.png"/>
          <p:cNvPicPr>
            <a:picLocks noChangeAspect="1"/>
          </p:cNvPicPr>
          <p:nvPr/>
        </p:nvPicPr>
        <p:blipFill>
          <a:blip r:embed="rId7"/>
          <a:stretch>
            <a:fillRect/>
          </a:stretch>
        </p:blipFill>
        <p:spPr>
          <a:xfrm>
            <a:off x="4779849" y="2593956"/>
            <a:ext cx="854678" cy="770017"/>
          </a:xfrm>
          <a:prstGeom prst="rect">
            <a:avLst/>
          </a:prstGeom>
        </p:spPr>
      </p:pic>
      <p:pic>
        <p:nvPicPr>
          <p:cNvPr id="18" name="map army the men of Dārīn" descr="s06-bahrayn-darin-r1-4-a_006.png"/>
          <p:cNvPicPr>
            <a:picLocks noChangeAspect="1"/>
          </p:cNvPicPr>
          <p:nvPr/>
        </p:nvPicPr>
        <p:blipFill>
          <a:blip r:embed="rId8"/>
          <a:stretch>
            <a:fillRect/>
          </a:stretch>
        </p:blipFill>
        <p:spPr>
          <a:xfrm>
            <a:off x="4791943" y="2287562"/>
            <a:ext cx="2882525" cy="850647"/>
          </a:xfrm>
          <a:prstGeom prst="rect">
            <a:avLst/>
          </a:prstGeom>
        </p:spPr>
      </p:pic>
      <p:pic>
        <p:nvPicPr>
          <p:cNvPr id="19" name="map army al-ʿAlāʾ ؓ" descr="s06-bahrayn-darin-r1-4-a_008.png"/>
          <p:cNvPicPr>
            <a:picLocks noChangeAspect="1"/>
          </p:cNvPicPr>
          <p:nvPr/>
        </p:nvPicPr>
        <p:blipFill>
          <a:blip r:embed="rId9"/>
          <a:stretch>
            <a:fillRect/>
          </a:stretch>
        </p:blipFill>
        <p:spPr>
          <a:xfrm>
            <a:off x="2312569" y="4291219"/>
            <a:ext cx="1878680" cy="854678"/>
          </a:xfrm>
          <a:prstGeom prst="rect">
            <a:avLst/>
          </a:prstGeom>
        </p:spPr>
      </p:pic>
      <p:pic>
        <p:nvPicPr>
          <p:cNvPr id="20" name="map army al-ʿAlāʾ ؓ" descr="s06-bahrayn-darin-r1-4-a_010.png"/>
          <p:cNvPicPr>
            <a:picLocks noChangeAspect="1"/>
          </p:cNvPicPr>
          <p:nvPr/>
        </p:nvPicPr>
        <p:blipFill>
          <a:blip r:embed="rId10"/>
          <a:stretch>
            <a:fillRect/>
          </a:stretch>
        </p:blipFill>
        <p:spPr>
          <a:xfrm>
            <a:off x="3832445" y="3529265"/>
            <a:ext cx="1878680" cy="854678"/>
          </a:xfrm>
          <a:prstGeom prst="rect">
            <a:avLst/>
          </a:prstGeom>
        </p:spPr>
      </p:pic>
      <p:pic>
        <p:nvPicPr>
          <p:cNvPr id="21" name="map label for ships: a day and a night" descr="s06-bahrayn-darin-r1-4-l_011.png"/>
          <p:cNvPicPr>
            <a:picLocks noChangeAspect="1"/>
          </p:cNvPicPr>
          <p:nvPr/>
        </p:nvPicPr>
        <p:blipFill>
          <a:blip r:embed="rId11"/>
          <a:stretch>
            <a:fillRect/>
          </a:stretch>
        </p:blipFill>
        <p:spPr>
          <a:xfrm>
            <a:off x="4300100" y="4904007"/>
            <a:ext cx="3575943" cy="338646"/>
          </a:xfrm>
          <a:prstGeom prst="rect">
            <a:avLst/>
          </a:prstGeom>
        </p:spPr>
      </p:pic>
      <p:pic>
        <p:nvPicPr>
          <p:cNvPr id="22" name="map label Dārīn falls" descr="s06-bahrayn-darin-r1-4-l_014.png"/>
          <p:cNvPicPr>
            <a:picLocks noChangeAspect="1"/>
          </p:cNvPicPr>
          <p:nvPr/>
        </p:nvPicPr>
        <p:blipFill>
          <a:blip r:embed="rId12"/>
          <a:stretch>
            <a:fillRect/>
          </a:stretch>
        </p:blipFill>
        <p:spPr>
          <a:xfrm>
            <a:off x="5763536" y="3513139"/>
            <a:ext cx="145537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397 0.1340 L -0.0278 0.0635 L 0.0000 0.0000 L 0 0 E" pathEditMode="relative" rAng="0" ptsTypes="">
                                      <p:cBhvr>
                                        <p:cTn id="8" dur="1600" fill="hold"/>
                                        <p:tgtEl>
                                          <p:spTgt spid="19"/>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14" presetID="10" presetClass="exit" presetSubtype="0" fill="hold" grpId="0" nodeType="clickEffect">
                                  <p:stCondLst>
                                    <p:cond delay="0"/>
                                  </p:stCondLst>
                                  <p:childTnLst>
                                    <p:animEffect transition="out" filter="fade">
                                      <p:cBhvr>
                                        <p:cTn id="12" dur="600"/>
                                        <p:tgtEl>
                                          <p:spTgt spid="15"/>
                                        </p:tgtEl>
                                      </p:cBhvr>
                                    </p:animEffect>
                                    <p:set>
                                      <p:cBhvr>
                                        <p:cTn id="13" dur="1" fill="hold">
                                          <p:stCondLst>
                                            <p:cond delay="599"/>
                                          </p:stCondLst>
                                        </p:cTn>
                                        <p:tgtEl>
                                          <p:spTgt spid="15"/>
                                        </p:tgtEl>
                                        <p:attrNameLst>
                                          <p:attrName>style.visibility</p:attrName>
                                        </p:attrNameLst>
                                      </p:cBhvr>
                                      <p:to>
                                        <p:strVal val="hidden"/>
                                      </p:to>
                                    </p:set>
                                  </p:childTnLst>
                                </p:cTn>
                              </p:par>
                              <p:par>
                                <p:cTn id="17" presetID="22" presetClass="entr" presetSubtype="8"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left)">
                                      <p:cBhvr>
                                        <p:cTn id="16" dur="1600"/>
                                        <p:tgtEl>
                                          <p:spTgt spid="16"/>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1247 0.1110 L -0.0731 0.0757 L -0.0255 0.0263 L 0.0000 0.0000 L 0 0 E" pathEditMode="relative" rAng="0" ptsTypes="">
                                      <p:cBhvr>
                                        <p:cTn id="23" dur="1600" fill="hold"/>
                                        <p:tgtEl>
                                          <p:spTgt spid="20"/>
                                        </p:tgtEl>
                                        <p:attrNameLst>
                                          <p:attrName>ppt_x</p:attrName>
                                          <p:attrName>ppt_y</p:attrName>
                                        </p:attrNameLst>
                                      </p:cBhvr>
                                    </p:animMotion>
                                  </p:childTnLst>
                                </p:cTn>
                              </p:par>
                              <p:par>
                                <p:cTn id="27"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600"/>
                                        <p:tgtEl>
                                          <p:spTgt spid="21"/>
                                        </p:tgtEl>
                                      </p:cBhvr>
                                    </p:animEffect>
                                  </p:childTnLst>
                                </p:cTn>
                              </p:par>
                            </p:childTnLst>
                          </p:cTn>
                        </p:par>
                      </p:childTnLst>
                    </p:cTn>
                  </p:par>
                  <p:par>
                    <p:cTn id="48" fill="hold">
                      <p:stCondLst>
                        <p:cond delay="indefinite"/>
                      </p:stCondLst>
                      <p:childTnLst>
                        <p:par>
                          <p:cTn id="49" fill="hold">
                            <p:stCondLst>
                              <p:cond delay="0"/>
                            </p:stCondLst>
                            <p:childTnLst>
                              <p:par>
                                <p:cTn id="32" presetID="10" presetClass="exit" presetSubtype="0" fill="hold" grpId="0" nodeType="clickEffect">
                                  <p:stCondLst>
                                    <p:cond delay="0"/>
                                  </p:stCondLst>
                                  <p:childTnLst>
                                    <p:animEffect transition="out" filter="fade">
                                      <p:cBhvr>
                                        <p:cTn id="30" dur="600"/>
                                        <p:tgtEl>
                                          <p:spTgt spid="13"/>
                                        </p:tgtEl>
                                      </p:cBhvr>
                                    </p:animEffect>
                                    <p:set>
                                      <p:cBhvr>
                                        <p:cTn id="31" dur="1" fill="hold">
                                          <p:stCondLst>
                                            <p:cond delay="599"/>
                                          </p:stCondLst>
                                        </p:cTn>
                                        <p:tgtEl>
                                          <p:spTgt spid="13"/>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8"/>
                                        </p:tgtEl>
                                      </p:cBhvr>
                                    </p:animEffect>
                                    <p:set>
                                      <p:cBhvr>
                                        <p:cTn id="40" dur="1" fill="hold">
                                          <p:stCondLst>
                                            <p:cond delay="599"/>
                                          </p:stCondLst>
                                        </p:cTn>
                                        <p:tgtEl>
                                          <p:spTgt spid="18"/>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1"/>
                                        </p:tgtEl>
                                      </p:cBhvr>
                                    </p:animEffect>
                                    <p:set>
                                      <p:cBhvr>
                                        <p:cTn id="43" dur="1" fill="hold">
                                          <p:stCondLst>
                                            <p:cond delay="599"/>
                                          </p:stCondLst>
                                        </p:cTn>
                                        <p:tgtEl>
                                          <p:spTgt spid="21"/>
                                        </p:tgtEl>
                                        <p:attrNameLst>
                                          <p:attrName>style.visibility</p:attrName>
                                        </p:attrNameLst>
                                      </p:cBhvr>
                                      <p:to>
                                        <p:strVal val="hidden"/>
                                      </p:to>
                                    </p:set>
                                  </p:childTnLst>
                                </p:cTn>
                              </p:par>
                              <p:par>
                                <p:cTn id="47"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sp>
        <p:nvSpPr>
          <p:cNvPr id="6" name="TextBox 5"/>
          <p:cNvSpPr txBox="1"/>
          <p:nvPr/>
        </p:nvSpPr>
        <p:spPr>
          <a:xfrm>
            <a:off x="566928" y="24063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وَضَرَبَ الْإِسْلَامُ فِيهَا بِجِرَانِهِ.</a:t>
            </a:r>
          </a:p>
        </p:txBody>
      </p:sp>
      <p:sp>
        <p:nvSpPr>
          <p:cNvPr id="7" name="Rectangle 6"/>
          <p:cNvSpPr/>
          <p:nvPr/>
        </p:nvSpPr>
        <p:spPr>
          <a:xfrm>
            <a:off x="566928" y="38374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483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Islam settled its neck to the ground there."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closing the chapter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monk of Hajar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He had been with the army through all of it.</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ثَلَاثَةُ أَشْيَاءَ خَشِيتُ أَنْ يَمْسَخَنِي اللَّهُ بَعْدَهَا:</a:t>
            </a:r>
          </a:p>
        </p:txBody>
      </p:sp>
      <p:sp>
        <p:nvSpPr>
          <p:cNvPr id="8" name="part-en"/>
          <p:cNvSpPr txBox="1"/>
          <p:nvPr/>
        </p:nvSpPr>
        <p:spPr>
          <a:xfrm>
            <a:off x="566928" y="3122676"/>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Three things, after which I feared Allah would transform me:</a:t>
            </a:r>
          </a:p>
        </p:txBody>
      </p:sp>
      <p:sp>
        <p:nvSpPr>
          <p:cNvPr id="9" name="part-ar"/>
          <p:cNvSpPr txBox="1"/>
          <p:nvPr/>
        </p:nvSpPr>
        <p:spPr>
          <a:xfrm>
            <a:off x="566928" y="368350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فَيْضٌ فِي الرِّمَالِ، وَتَمْهِيدُ أَثْبَاجِ الْبَحْرِ، وَدُعَاءٌ سَمِعْتُهُ فِي عَسْكَرِهِمْ فِي الْهَوَاءِ سَحَرًا</a:t>
            </a:r>
          </a:p>
        </p:txBody>
      </p:sp>
      <p:sp>
        <p:nvSpPr>
          <p:cNvPr id="10" name="part-en"/>
          <p:cNvSpPr txBox="1"/>
          <p:nvPr/>
        </p:nvSpPr>
        <p:spPr>
          <a:xfrm>
            <a:off x="566928" y="4405884"/>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water welling up in the sands, the levelling of the sea's swells, and a supplication I heard in their camp, in the air, before dawn.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monk of Hajar, asked why he became a Muslim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road from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the road home, wearing a cloak from the spoils. It had been al-Ḥuṭam's.</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فَقَالُوا لَهُ: أَنْتَ قَتَلْتَ الْحُطَمَ! فَقَالَ: لَمْ أَقْتُلْهُ، وَلَكِنِّي اشْتَرَيْتُهَا مِنَ الْمَغْنَمِ.</a:t>
            </a:r>
          </a:p>
        </p:txBody>
      </p:sp>
      <p:sp>
        <p:nvSpPr>
          <p:cNvPr id="8" name="part-en"/>
          <p:cNvSpPr txBox="1"/>
          <p:nvPr/>
        </p:nvSpPr>
        <p:spPr>
          <a:xfrm>
            <a:off x="566928" y="3122676"/>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said to him: You killed al-Ḥuṭam! He said: I did not kill him — I bought it from the spoils.</a:t>
            </a:r>
          </a:p>
        </p:txBody>
      </p:sp>
      <p:sp>
        <p:nvSpPr>
          <p:cNvPr id="9" name="part-ar"/>
          <p:cNvSpPr txBox="1"/>
          <p:nvPr/>
        </p:nvSpPr>
        <p:spPr>
          <a:xfrm>
            <a:off x="566928" y="407974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فَوَثَبُوا عَلَيْهِ فَقَتَلُوهُ.</a:t>
            </a:r>
          </a:p>
        </p:txBody>
      </p:sp>
      <p:sp>
        <p:nvSpPr>
          <p:cNvPr id="10" name="part-en"/>
          <p:cNvSpPr txBox="1"/>
          <p:nvPr/>
        </p:nvSpPr>
        <p:spPr>
          <a:xfrm>
            <a:off x="566928" y="4802124"/>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they fell on him and killed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Banū Qays b. Thaʿlaba, and Thumāma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1.trim.png"/>
          <p:cNvPicPr>
            <a:picLocks noChangeAspect="1"/>
          </p:cNvPicPr>
          <p:nvPr/>
        </p:nvPicPr>
        <p:blipFill>
          <a:blip r:embed="rId2"/>
          <a:stretch>
            <a:fillRect/>
          </a:stretch>
        </p:blipFill>
        <p:spPr>
          <a:xfrm>
            <a:off x="566928" y="2821112"/>
            <a:ext cx="11057839" cy="20936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Kinda, before any of it (10 AH)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two years earlier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Two years earlier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delegation of Kinda comes to Medina</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its head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al-Ashʿath b. Qays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again, to Ḥaḍramawt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delegation of Kinda, in silk. al-Ashʿath claims a shared royal ancestor.</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نحن بنو النَّضْر بن كنانة</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No. We are the sons of al-Naḍr b. Kināna.</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نَقْفُو أمَّنا، ولا ننتفي من أبينا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do not trace ourselves through our mother, and we do not disown our father.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Traditional Arabic"/>
              </a:rPr>
              <a:t>— The Prophet ﷺ, to the delegation of Kinda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the last front (11→12 AH)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a_006" descr="s06-kinda-r1-3-a_006.png"/>
          <p:cNvPicPr>
            <a:picLocks noChangeAspect="1"/>
          </p:cNvPicPr>
          <p:nvPr/>
        </p:nvPicPr>
        <p:blipFill>
          <a:blip r:embed="rId3"/>
          <a:stretch>
            <a:fillRect/>
          </a:stretch>
        </p:blipFill>
        <p:spPr>
          <a:xfrm>
            <a:off x="3018082" y="2424633"/>
            <a:ext cx="3059911" cy="487811"/>
          </a:xfrm>
          <a:prstGeom prst="rect">
            <a:avLst/>
          </a:prstGeom>
        </p:spPr>
      </p:pic>
      <p:pic>
        <p:nvPicPr>
          <p:cNvPr id="14" name="map arrow a_007" descr="s06-kinda-r1-3-a_007.png"/>
          <p:cNvPicPr>
            <a:picLocks noChangeAspect="1"/>
          </p:cNvPicPr>
          <p:nvPr/>
        </p:nvPicPr>
        <p:blipFill>
          <a:blip r:embed="rId4"/>
          <a:stretch>
            <a:fillRect/>
          </a:stretch>
        </p:blipFill>
        <p:spPr>
          <a:xfrm>
            <a:off x="3022113" y="3976762"/>
            <a:ext cx="3063942" cy="520063"/>
          </a:xfrm>
          <a:prstGeom prst="rect">
            <a:avLst/>
          </a:prstGeom>
        </p:spPr>
      </p:pic>
      <p:pic>
        <p:nvPicPr>
          <p:cNvPr id="15" name="map label ṣadaqa, both ways" descr="s06-kinda-r1-3-l_008.png"/>
          <p:cNvPicPr>
            <a:picLocks noChangeAspect="1"/>
          </p:cNvPicPr>
          <p:nvPr/>
        </p:nvPicPr>
        <p:blipFill>
          <a:blip r:embed="rId5"/>
          <a:stretch>
            <a:fillRect/>
          </a:stretch>
        </p:blipFill>
        <p:spPr>
          <a:xfrm>
            <a:off x="3094680" y="3630052"/>
            <a:ext cx="2414870" cy="338646"/>
          </a:xfrm>
          <a:prstGeom prst="rect">
            <a:avLst/>
          </a:prstGeom>
        </p:spPr>
      </p:pic>
      <p:pic>
        <p:nvPicPr>
          <p:cNvPr id="16" name="map label not carried" descr="s06-kinda-r1-3-l_009.png"/>
          <p:cNvPicPr>
            <a:picLocks noChangeAspect="1"/>
          </p:cNvPicPr>
          <p:nvPr/>
        </p:nvPicPr>
        <p:blipFill>
          <a:blip r:embed="rId6"/>
          <a:stretch>
            <a:fillRect/>
          </a:stretch>
        </p:blipFill>
        <p:spPr>
          <a:xfrm>
            <a:off x="3255940" y="3279312"/>
            <a:ext cx="153600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sp>
        <p:nvSpPr>
          <p:cNvPr id="6" name="part-ar"/>
          <p:cNvSpPr txBox="1"/>
          <p:nvPr/>
        </p:nvSpPr>
        <p:spPr>
          <a:xfrm>
            <a:off x="566928" y="1646681"/>
            <a:ext cx="11057839" cy="1560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قَالَتْ بَنُو وَلَيْعَةَ: أَبْلِغُونَا كَمَا وَعَدْتُمْ رَسُولَ اللَّهِ - صَلَّى اللَّهُ عَلَيْهِ وَسَلَّمَ -!</a:t>
            </a:r>
          </a:p>
        </p:txBody>
      </p:sp>
      <p:sp>
        <p:nvSpPr>
          <p:cNvPr id="7" name="part-en"/>
          <p:cNvSpPr txBox="1"/>
          <p:nvPr/>
        </p:nvSpPr>
        <p:spPr>
          <a:xfrm>
            <a:off x="566928" y="3207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Traditional Arabic"/>
              </a:rPr>
              <a:t>Banū Walīʿa said: Deliver it to us, as you promised the Messenger of Allah ﷺ!</a:t>
            </a:r>
          </a:p>
        </p:txBody>
      </p:sp>
      <p:sp>
        <p:nvSpPr>
          <p:cNvPr id="8" name="part-ar"/>
          <p:cNvSpPr txBox="1"/>
          <p:nvPr/>
        </p:nvSpPr>
        <p:spPr>
          <a:xfrm>
            <a:off x="566928" y="4266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فَقَالُوا: إِنْ لَكُمْ ظَهْرًا فَاحْتَمِلُوا</a:t>
            </a:r>
          </a:p>
        </p:txBody>
      </p:sp>
      <p:sp>
        <p:nvSpPr>
          <p:cNvPr id="9" name="part-en"/>
          <p:cNvSpPr txBox="1"/>
          <p:nvPr/>
        </p:nvSpPr>
        <p:spPr>
          <a:xfrm>
            <a:off x="566928" y="5065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They said: You do have mounts — carry it yourselves.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Banū Walīʿa, to the men of Ḥaḍramawt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 and Shadhra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she-camel, branded for the ṣadaqa by mistake. Ziyād ؓ will not give her back.</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فَقَالَ حَارِثَةُ: ذَاكَ إِذَا كُنْتَ يَهُودِيًّا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Ḥāritha said: That would be so if you were a Jew</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وَأَطْلَقَ عِقَالَهَا وَبَعَثَهَا وَقَامَ دُونَهَا.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untied her hobble and drove her off and stood in front of her.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Ḥāritha b. Surāqa, to Ziyād b. Labīd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pic>
        <p:nvPicPr>
          <p:cNvPr id="6" name="map" descr="s06-kinda-r3-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 come out for Ḥāritha</a:t>
            </a:r>
          </a:p>
        </p:txBody>
      </p:sp>
      <p:pic>
        <p:nvPicPr>
          <p:cNvPr id="13" name="map territory t_003" descr="s06-kinda-r3-6-t_003.png"/>
          <p:cNvPicPr>
            <a:picLocks noChangeAspect="1"/>
          </p:cNvPicPr>
          <p:nvPr/>
        </p:nvPicPr>
        <p:blipFill>
          <a:blip r:embed="rId3"/>
          <a:stretch>
            <a:fillRect/>
          </a:stretch>
        </p:blipFill>
        <p:spPr>
          <a:xfrm>
            <a:off x="1675591" y="2190806"/>
            <a:ext cx="2684981" cy="3221170"/>
          </a:xfrm>
          <a:prstGeom prst="rect">
            <a:avLst/>
          </a:prstGeom>
        </p:spPr>
      </p:pic>
      <p:pic>
        <p:nvPicPr>
          <p:cNvPr id="14" name="map territory t_015" descr="s06-kinda-r3-6-t_015.png"/>
          <p:cNvPicPr>
            <a:picLocks noChangeAspect="1"/>
          </p:cNvPicPr>
          <p:nvPr/>
        </p:nvPicPr>
        <p:blipFill>
          <a:blip r:embed="rId4"/>
          <a:stretch>
            <a:fillRect/>
          </a:stretch>
        </p:blipFill>
        <p:spPr>
          <a:xfrm>
            <a:off x="1675591" y="2190806"/>
            <a:ext cx="2684981" cy="3221170"/>
          </a:xfrm>
          <a:prstGeom prst="rect">
            <a:avLst/>
          </a:prstGeom>
        </p:spPr>
      </p:pic>
      <p:pic>
        <p:nvPicPr>
          <p:cNvPr id="15" name="map arrow a_010" descr="s06-kinda-r3-6-a_010.png"/>
          <p:cNvPicPr>
            <a:picLocks noChangeAspect="1"/>
          </p:cNvPicPr>
          <p:nvPr/>
        </p:nvPicPr>
        <p:blipFill>
          <a:blip r:embed="rId5"/>
          <a:stretch>
            <a:fillRect/>
          </a:stretch>
        </p:blipFill>
        <p:spPr>
          <a:xfrm>
            <a:off x="4888699" y="3682462"/>
            <a:ext cx="1088505" cy="721638"/>
          </a:xfrm>
          <a:prstGeom prst="rect">
            <a:avLst/>
          </a:prstGeom>
        </p:spPr>
      </p:pic>
      <p:pic>
        <p:nvPicPr>
          <p:cNvPr id="16" name="map arrow a_013" descr="s06-kinda-r3-6-a_013.png"/>
          <p:cNvPicPr>
            <a:picLocks noChangeAspect="1"/>
          </p:cNvPicPr>
          <p:nvPr/>
        </p:nvPicPr>
        <p:blipFill>
          <a:blip r:embed="rId6"/>
          <a:stretch>
            <a:fillRect/>
          </a:stretch>
        </p:blipFill>
        <p:spPr>
          <a:xfrm>
            <a:off x="3606681" y="3303501"/>
            <a:ext cx="1120758" cy="419276"/>
          </a:xfrm>
          <a:prstGeom prst="rect">
            <a:avLst/>
          </a:prstGeom>
        </p:spPr>
      </p:pic>
      <p:pic>
        <p:nvPicPr>
          <p:cNvPr id="17" name="map army Ziyād b. Labīd ؓ" descr="s06-kinda-r3-6-a_005.png"/>
          <p:cNvPicPr>
            <a:picLocks noChangeAspect="1"/>
          </p:cNvPicPr>
          <p:nvPr/>
        </p:nvPicPr>
        <p:blipFill>
          <a:blip r:embed="rId7"/>
          <a:stretch>
            <a:fillRect/>
          </a:stretch>
        </p:blipFill>
        <p:spPr>
          <a:xfrm>
            <a:off x="5037865" y="3234965"/>
            <a:ext cx="1785956" cy="1209450"/>
          </a:xfrm>
          <a:prstGeom prst="rect">
            <a:avLst/>
          </a:prstGeom>
        </p:spPr>
      </p:pic>
      <p:pic>
        <p:nvPicPr>
          <p:cNvPr id="18" name="map army Ziyād b. Labīd ؓ" descr="s06-kinda-r3-6-a_011.png"/>
          <p:cNvPicPr>
            <a:picLocks noChangeAspect="1"/>
          </p:cNvPicPr>
          <p:nvPr/>
        </p:nvPicPr>
        <p:blipFill>
          <a:blip r:embed="rId8"/>
          <a:stretch>
            <a:fillRect/>
          </a:stretch>
        </p:blipFill>
        <p:spPr>
          <a:xfrm>
            <a:off x="4610526" y="3001138"/>
            <a:ext cx="2664823" cy="850647"/>
          </a:xfrm>
          <a:prstGeom prst="rect">
            <a:avLst/>
          </a:prstGeom>
        </p:spPr>
      </p:pic>
      <p:pic>
        <p:nvPicPr>
          <p:cNvPr id="19" name="map army Banū Muʿāwiya" descr="s06-kinda-r3-6-a_012.png"/>
          <p:cNvPicPr>
            <a:picLocks noChangeAspect="1"/>
          </p:cNvPicPr>
          <p:nvPr/>
        </p:nvPicPr>
        <p:blipFill>
          <a:blip r:embed="rId9"/>
          <a:stretch>
            <a:fillRect/>
          </a:stretch>
        </p:blipFill>
        <p:spPr>
          <a:xfrm>
            <a:off x="865259" y="2803594"/>
            <a:ext cx="2930903" cy="850647"/>
          </a:xfrm>
          <a:prstGeom prst="rect">
            <a:avLst/>
          </a:prstGeom>
        </p:spPr>
      </p:pic>
      <p:pic>
        <p:nvPicPr>
          <p:cNvPr id="20" name="map label not carried" descr="s06-kinda-r1-3-l_009.png"/>
          <p:cNvPicPr>
            <a:picLocks noChangeAspect="1"/>
          </p:cNvPicPr>
          <p:nvPr/>
        </p:nvPicPr>
        <p:blipFill>
          <a:blip r:embed="rId10"/>
          <a:stretch>
            <a:fillRect/>
          </a:stretch>
        </p:blipFill>
        <p:spPr>
          <a:xfrm>
            <a:off x="3255940" y="3279312"/>
            <a:ext cx="1536002" cy="290268"/>
          </a:xfrm>
          <a:prstGeom prst="rect">
            <a:avLst/>
          </a:prstGeom>
        </p:spPr>
      </p:pic>
      <p:pic>
        <p:nvPicPr>
          <p:cNvPr id="21" name="map label by night" descr="s06-kinda-r3-6-l_014.png"/>
          <p:cNvPicPr>
            <a:picLocks noChangeAspect="1"/>
          </p:cNvPicPr>
          <p:nvPr/>
        </p:nvPicPr>
        <p:blipFill>
          <a:blip r:embed="rId11"/>
          <a:stretch>
            <a:fillRect/>
          </a:stretch>
        </p:blipFill>
        <p:spPr>
          <a:xfrm>
            <a:off x="3522020" y="2468980"/>
            <a:ext cx="1153010" cy="338646"/>
          </a:xfrm>
          <a:prstGeom prst="rect">
            <a:avLst/>
          </a:prstGeom>
        </p:spPr>
      </p:pic>
      <p:pic>
        <p:nvPicPr>
          <p:cNvPr id="22" name="map label no ṣadaqa" descr="s06-kinda-r3-6-l_016.png"/>
          <p:cNvPicPr>
            <a:picLocks noChangeAspect="1"/>
          </p:cNvPicPr>
          <p:nvPr/>
        </p:nvPicPr>
        <p:blipFill>
          <a:blip r:embed="rId12"/>
          <a:stretch>
            <a:fillRect/>
          </a:stretch>
        </p:blipFill>
        <p:spPr>
          <a:xfrm>
            <a:off x="1885229" y="4323471"/>
            <a:ext cx="1382805"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right)">
                                      <p:cBhvr>
                                        <p:cTn id="4" dur="1600"/>
                                        <p:tgtEl>
                                          <p:spTgt spid="15"/>
                                        </p:tgtEl>
                                      </p:cBhvr>
                                    </p:animEffect>
                                  </p:childTnLst>
                                </p:cTn>
                              </p:par>
                              <p:par>
                                <p:cTn id="8" presetID="10" presetClass="exit" presetSubtype="0" fill="hold" grpId="0" nodeType="withEffect">
                                  <p:stCondLst>
                                    <p:cond delay="0"/>
                                  </p:stCondLst>
                                  <p:childTnLst>
                                    <p:animEffect transition="out" filter="fade">
                                      <p:cBhvr>
                                        <p:cTn id="6" dur="600"/>
                                        <p:tgtEl>
                                          <p:spTgt spid="17"/>
                                        </p:tgtEl>
                                      </p:cBhvr>
                                    </p:animEffect>
                                    <p:set>
                                      <p:cBhvr>
                                        <p:cTn id="7" dur="1" fill="hold">
                                          <p:stCondLst>
                                            <p:cond delay="599"/>
                                          </p:stCondLst>
                                        </p:cTn>
                                        <p:tgtEl>
                                          <p:spTgt spid="17"/>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792 0.0860 L 0.0419 0.0478 L 0.0000 0.0000 L 0 0 E" pathEditMode="relative" rAng="0" ptsTypes="">
                                      <p:cBhvr>
                                        <p:cTn id="11" dur="1600" fill="hold"/>
                                        <p:tgtEl>
                                          <p:spTgt spid="18"/>
                                        </p:tgtEl>
                                        <p:attrNameLst>
                                          <p:attrName>ppt_x</p:attrName>
                                          <p:attrName>ppt_y</p:attrName>
                                        </p:attrNameLst>
                                      </p:cBhvr>
                                    </p:animMotion>
                                  </p:childTnLst>
                                </p:cTn>
                              </p:par>
                              <p:par>
                                <p:cTn id="15" presetID="10"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600"/>
                                        <p:tgtEl>
                                          <p:spTgt spid="19"/>
                                        </p:tgtEl>
                                      </p:cBhvr>
                                    </p:animEffect>
                                  </p:childTnLst>
                                </p:cTn>
                              </p:par>
                              <p:par>
                                <p:cTn id="18" presetID="10" presetClass="exit" presetSubtype="0" fill="hold" grpId="0" nodeType="withEffect">
                                  <p:stCondLst>
                                    <p:cond delay="0"/>
                                  </p:stCondLst>
                                  <p:childTnLst>
                                    <p:animEffect transition="out" filter="fade">
                                      <p:cBhvr>
                                        <p:cTn id="16" dur="600"/>
                                        <p:tgtEl>
                                          <p:spTgt spid="20"/>
                                        </p:tgtEl>
                                      </p:cBhvr>
                                    </p:animEffect>
                                    <p:set>
                                      <p:cBhvr>
                                        <p:cTn id="17" dur="1" fill="hold">
                                          <p:stCondLst>
                                            <p:cond delay="599"/>
                                          </p:stCondLst>
                                        </p:cTn>
                                        <p:tgtEl>
                                          <p:spTgt spid="2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3" presetID="22" presetClass="entr" presetSubtype="2"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right)">
                                      <p:cBhvr>
                                        <p:cTn id="22" dur="1600"/>
                                        <p:tgtEl>
                                          <p:spTgt spid="16"/>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par>
                    <p:cTn id="44" fill="hold">
                      <p:stCondLst>
                        <p:cond delay="indefinite"/>
                      </p:stCondLst>
                      <p:childTnLst>
                        <p:par>
                          <p:cTn id="45" fill="hold">
                            <p:stCondLst>
                              <p:cond delay="0"/>
                            </p:stCondLst>
                            <p:childTnLst>
                              <p:par>
                                <p:cTn id="31" presetID="10" presetClass="exit" presetSubtype="0" fill="hold" grpId="0" nodeType="clickEffect">
                                  <p:stCondLst>
                                    <p:cond delay="0"/>
                                  </p:stCondLst>
                                  <p:childTnLst>
                                    <p:animEffect transition="out" filter="fade">
                                      <p:cBhvr>
                                        <p:cTn id="29" dur="600"/>
                                        <p:tgtEl>
                                          <p:spTgt spid="13"/>
                                        </p:tgtEl>
                                      </p:cBhvr>
                                    </p:animEffect>
                                    <p:set>
                                      <p:cBhvr>
                                        <p:cTn id="30" dur="1" fill="hold">
                                          <p:stCondLst>
                                            <p:cond delay="599"/>
                                          </p:stCondLst>
                                        </p:cTn>
                                        <p:tgtEl>
                                          <p:spTgt spid="13"/>
                                        </p:tgtEl>
                                        <p:attrNameLst>
                                          <p:attrName>style.visibility</p:attrName>
                                        </p:attrNameLst>
                                      </p:cBhvr>
                                      <p:to>
                                        <p:strVal val="hidden"/>
                                      </p:to>
                                    </p:set>
                                  </p:childTnLst>
                                </p:cTn>
                              </p:par>
                              <p:par>
                                <p:cTn id="34"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21"/>
                                        </p:tgtEl>
                                      </p:cBhvr>
                                    </p:animEffect>
                                    <p:set>
                                      <p:cBhvr>
                                        <p:cTn id="39" dur="1" fill="hold">
                                          <p:stCondLst>
                                            <p:cond delay="599"/>
                                          </p:stCondLst>
                                        </p:cTn>
                                        <p:tgtEl>
                                          <p:spTgt spid="21"/>
                                        </p:tgtEl>
                                        <p:attrNameLst>
                                          <p:attrName>style.visibility</p:attrName>
                                        </p:attrNameLst>
                                      </p:cBhvr>
                                      <p:to>
                                        <p:strVal val="hidden"/>
                                      </p:to>
                                    </p:set>
                                  </p:childTnLst>
                                </p:cTn>
                              </p:par>
                              <p:par>
                                <p:cTn id="43"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فَنَادَى الْعَدَّاءُ: يَا آلَ عَمْرٍو، أُضَامُ وَأُضْطَهَدُ!</a:t>
            </a:r>
          </a:p>
        </p:txBody>
      </p:sp>
      <p:sp>
        <p:nvSpPr>
          <p:cNvPr id="7" name="part-en"/>
          <p:cNvSpPr txBox="1"/>
          <p:nvPr/>
        </p:nvSpPr>
        <p:spPr>
          <a:xfrm>
            <a:off x="566928" y="27310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Al-ʿAddāʾ called out: O family of ʿAmr — am I to be wronged and trampled?</a:t>
            </a:r>
          </a:p>
        </p:txBody>
      </p:sp>
      <p:sp>
        <p:nvSpPr>
          <p:cNvPr id="8" name="part-ar"/>
          <p:cNvSpPr txBox="1"/>
          <p:nvPr/>
        </p:nvSpPr>
        <p:spPr>
          <a:xfrm>
            <a:off x="566928" y="39481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 الذَّلِيلَ مَنْ أُكِلَ فِي دَارِهِ!</a:t>
            </a:r>
          </a:p>
        </p:txBody>
      </p:sp>
      <p:sp>
        <p:nvSpPr>
          <p:cNvPr id="9" name="part-en"/>
          <p:cNvSpPr txBox="1"/>
          <p:nvPr/>
        </p:nvSpPr>
        <p:spPr>
          <a:xfrm>
            <a:off x="566928" y="48229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 humbled man is the one who is devoured in his own home!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al-ʿAddāʾ, calling to his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 holds his own pasture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 and his son</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go over to Ziyād ؓ</a:t>
            </a:r>
          </a:p>
        </p:txBody>
      </p:sp>
      <p:pic>
        <p:nvPicPr>
          <p:cNvPr id="13" name="map arrow a_010" descr="s06-kinda-r3-6-a_010.png"/>
          <p:cNvPicPr>
            <a:picLocks noChangeAspect="1"/>
          </p:cNvPicPr>
          <p:nvPr/>
        </p:nvPicPr>
        <p:blipFill>
          <a:blip r:embed="rId3"/>
          <a:stretch>
            <a:fillRect/>
          </a:stretch>
        </p:blipFill>
        <p:spPr>
          <a:xfrm>
            <a:off x="4888699" y="3682462"/>
            <a:ext cx="1088505" cy="721638"/>
          </a:xfrm>
          <a:prstGeom prst="rect">
            <a:avLst/>
          </a:prstGeom>
        </p:spPr>
      </p:pic>
      <p:pic>
        <p:nvPicPr>
          <p:cNvPr id="14" name="map arrow a_023" descr="s06-kinda-r6-8-a_023.png"/>
          <p:cNvPicPr>
            <a:picLocks noChangeAspect="1"/>
          </p:cNvPicPr>
          <p:nvPr/>
        </p:nvPicPr>
        <p:blipFill>
          <a:blip r:embed="rId4"/>
          <a:stretch>
            <a:fillRect/>
          </a:stretch>
        </p:blipFill>
        <p:spPr>
          <a:xfrm>
            <a:off x="3445421" y="2888256"/>
            <a:ext cx="935308" cy="330583"/>
          </a:xfrm>
          <a:prstGeom prst="rect">
            <a:avLst/>
          </a:prstGeom>
        </p:spPr>
      </p:pic>
      <p:pic>
        <p:nvPicPr>
          <p:cNvPr id="15" name="map settlement s_017" descr="s06-kinda-r6-8-s_017.png"/>
          <p:cNvPicPr>
            <a:picLocks noChangeAspect="1"/>
          </p:cNvPicPr>
          <p:nvPr/>
        </p:nvPicPr>
        <p:blipFill>
          <a:blip r:embed="rId5"/>
          <a:stretch>
            <a:fillRect/>
          </a:stretch>
        </p:blipFill>
        <p:spPr>
          <a:xfrm>
            <a:off x="2284348" y="2868098"/>
            <a:ext cx="330583" cy="330583"/>
          </a:xfrm>
          <a:prstGeom prst="rect">
            <a:avLst/>
          </a:prstGeom>
        </p:spPr>
      </p:pic>
      <p:pic>
        <p:nvPicPr>
          <p:cNvPr id="16" name="map settlement s_018" descr="s06-kinda-r6-8-s_018.png"/>
          <p:cNvPicPr>
            <a:picLocks noChangeAspect="1"/>
          </p:cNvPicPr>
          <p:nvPr/>
        </p:nvPicPr>
        <p:blipFill>
          <a:blip r:embed="rId6"/>
          <a:stretch>
            <a:fillRect/>
          </a:stretch>
        </p:blipFill>
        <p:spPr>
          <a:xfrm>
            <a:off x="2796349" y="2581862"/>
            <a:ext cx="330583" cy="326551"/>
          </a:xfrm>
          <a:prstGeom prst="rect">
            <a:avLst/>
          </a:prstGeom>
        </p:spPr>
      </p:pic>
      <p:pic>
        <p:nvPicPr>
          <p:cNvPr id="17" name="map settlement s_019" descr="s06-kinda-r6-8-s_019.png"/>
          <p:cNvPicPr>
            <a:picLocks noChangeAspect="1"/>
          </p:cNvPicPr>
          <p:nvPr/>
        </p:nvPicPr>
        <p:blipFill>
          <a:blip r:embed="rId7"/>
          <a:stretch>
            <a:fillRect/>
          </a:stretch>
        </p:blipFill>
        <p:spPr>
          <a:xfrm>
            <a:off x="3340602" y="2843909"/>
            <a:ext cx="330583" cy="326551"/>
          </a:xfrm>
          <a:prstGeom prst="rect">
            <a:avLst/>
          </a:prstGeom>
        </p:spPr>
      </p:pic>
      <p:pic>
        <p:nvPicPr>
          <p:cNvPr id="18" name="map settlement s_020" descr="s06-kinda-r6-8-s_020.png"/>
          <p:cNvPicPr>
            <a:picLocks noChangeAspect="1"/>
          </p:cNvPicPr>
          <p:nvPr/>
        </p:nvPicPr>
        <p:blipFill>
          <a:blip r:embed="rId8"/>
          <a:stretch>
            <a:fillRect/>
          </a:stretch>
        </p:blipFill>
        <p:spPr>
          <a:xfrm>
            <a:off x="2477860" y="3497013"/>
            <a:ext cx="330583" cy="330583"/>
          </a:xfrm>
          <a:prstGeom prst="rect">
            <a:avLst/>
          </a:prstGeom>
        </p:spPr>
      </p:pic>
      <p:pic>
        <p:nvPicPr>
          <p:cNvPr id="19" name="map settlement s_021" descr="s06-kinda-r6-8-s_021.png"/>
          <p:cNvPicPr>
            <a:picLocks noChangeAspect="1"/>
          </p:cNvPicPr>
          <p:nvPr/>
        </p:nvPicPr>
        <p:blipFill>
          <a:blip r:embed="rId9"/>
          <a:stretch>
            <a:fillRect/>
          </a:stretch>
        </p:blipFill>
        <p:spPr>
          <a:xfrm>
            <a:off x="3114838" y="3444603"/>
            <a:ext cx="330583" cy="330583"/>
          </a:xfrm>
          <a:prstGeom prst="rect">
            <a:avLst/>
          </a:prstGeom>
        </p:spPr>
      </p:pic>
      <p:pic>
        <p:nvPicPr>
          <p:cNvPr id="20" name="map army Banū Muʿāwiya" descr="s06-kinda-r3-6-a_012.png"/>
          <p:cNvPicPr>
            <a:picLocks noChangeAspect="1"/>
          </p:cNvPicPr>
          <p:nvPr/>
        </p:nvPicPr>
        <p:blipFill>
          <a:blip r:embed="rId10"/>
          <a:stretch>
            <a:fillRect/>
          </a:stretch>
        </p:blipFill>
        <p:spPr>
          <a:xfrm>
            <a:off x="865259" y="2803594"/>
            <a:ext cx="2930903" cy="850647"/>
          </a:xfrm>
          <a:prstGeom prst="rect">
            <a:avLst/>
          </a:prstGeom>
        </p:spPr>
      </p:pic>
      <p:pic>
        <p:nvPicPr>
          <p:cNvPr id="21" name="map army Shuraḥbīl and his son" descr="s06-kinda-r6-8-a_024.png"/>
          <p:cNvPicPr>
            <a:picLocks noChangeAspect="1"/>
          </p:cNvPicPr>
          <p:nvPr/>
        </p:nvPicPr>
        <p:blipFill>
          <a:blip r:embed="rId11"/>
          <a:stretch>
            <a:fillRect/>
          </a:stretch>
        </p:blipFill>
        <p:spPr>
          <a:xfrm>
            <a:off x="3985643" y="2384318"/>
            <a:ext cx="3414683" cy="850647"/>
          </a:xfrm>
          <a:prstGeom prst="rect">
            <a:avLst/>
          </a:prstGeom>
        </p:spPr>
      </p:pic>
      <p:pic>
        <p:nvPicPr>
          <p:cNvPr id="22" name="map label no ṣadaqa" descr="s06-kinda-r3-6-l_016.png"/>
          <p:cNvPicPr>
            <a:picLocks noChangeAspect="1"/>
          </p:cNvPicPr>
          <p:nvPr/>
        </p:nvPicPr>
        <p:blipFill>
          <a:blip r:embed="rId12"/>
          <a:stretch>
            <a:fillRect/>
          </a:stretch>
        </p:blipFill>
        <p:spPr>
          <a:xfrm>
            <a:off x="1885229" y="4323471"/>
            <a:ext cx="1382805" cy="338646"/>
          </a:xfrm>
          <a:prstGeom prst="rect">
            <a:avLst/>
          </a:prstGeom>
        </p:spPr>
      </p:pic>
      <p:pic>
        <p:nvPicPr>
          <p:cNvPr id="23" name="map label their pastures, as strongholds" descr="s06-kinda-r6-8-l_022.png"/>
          <p:cNvPicPr>
            <a:picLocks noChangeAspect="1"/>
          </p:cNvPicPr>
          <p:nvPr/>
        </p:nvPicPr>
        <p:blipFill>
          <a:blip r:embed="rId13"/>
          <a:stretch>
            <a:fillRect/>
          </a:stretch>
        </p:blipFill>
        <p:spPr>
          <a:xfrm>
            <a:off x="913637" y="4440384"/>
            <a:ext cx="395087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600"/>
                                        <p:tgtEl>
                                          <p:spTgt spid="19"/>
                                        </p:tgtEl>
                                      </p:cBhvr>
                                    </p:animEffec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22"/>
                                        </p:tgtEl>
                                      </p:cBhvr>
                                    </p:animEffect>
                                    <p:set>
                                      <p:cBhvr>
                                        <p:cTn id="25" dur="1" fill="hold">
                                          <p:stCondLst>
                                            <p:cond delay="599"/>
                                          </p:stCondLst>
                                        </p:cTn>
                                        <p:tgtEl>
                                          <p:spTgt spid="22"/>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600"/>
                                        <p:tgtEl>
                                          <p:spTgt spid="23"/>
                                        </p:tgtEl>
                                      </p:cBhvr>
                                    </p:animEffect>
                                  </p:childTnLst>
                                </p:cTn>
                              </p:par>
                            </p:childTnLst>
                          </p:cTn>
                        </p:par>
                      </p:childTnLst>
                    </p:cTn>
                  </p:par>
                  <p:par>
                    <p:cTn id="42" fill="hold">
                      <p:stCondLst>
                        <p:cond delay="indefinite"/>
                      </p:stCondLst>
                      <p:childTnLst>
                        <p:par>
                          <p:cTn id="43"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600"/>
                                        <p:tgtEl>
                                          <p:spTgt spid="14"/>
                                        </p:tgtEl>
                                      </p:cBhvr>
                                    </p:animEffect>
                                  </p:childTnLst>
                                </p:cTn>
                              </p:par>
                              <p:par>
                                <p:cTn id="36" presetID="1"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childTnLst>
                                </p:cTn>
                              </p:par>
                              <p:par>
                                <p:cTn id="38" presetID="0" presetClass="path" presetSubtype="0" fill="hold" grpId="0" nodeType="withEffect">
                                  <p:stCondLst>
                                    <p:cond delay="0"/>
                                  </p:stCondLst>
                                  <p:childTnLst>
                                    <p:animMotion origin="layout" path="M -0.0670 -0.0191 L -0.0326 -0.0191 L 0.0000 0.0000 L 0 0 E" pathEditMode="relative" rAng="0" ptsTypes="">
                                      <p:cBhvr>
                                        <p:cTn id="37" dur="1600" fill="hold"/>
                                        <p:tgtEl>
                                          <p:spTgt spid="21"/>
                                        </p:tgtEl>
                                        <p:attrNameLst>
                                          <p:attrName>ppt_x</p:attrName>
                                          <p:attrName>ppt_y</p:attrName>
                                        </p:attrNameLst>
                                      </p:cBhvr>
                                    </p:animMotion>
                                  </p:childTnLst>
                                </p:cTn>
                              </p:par>
                              <p:par>
                                <p:cTn id="41" presetID="10" presetClass="exit" presetSubtype="0" fill="hold" grpId="0" nodeType="withEffect">
                                  <p:stCondLst>
                                    <p:cond delay="0"/>
                                  </p:stCondLst>
                                  <p:childTnLst>
                                    <p:animEffect transition="out" filter="fade">
                                      <p:cBhvr>
                                        <p:cTn id="39" dur="600"/>
                                        <p:tgtEl>
                                          <p:spTgt spid="23"/>
                                        </p:tgtEl>
                                      </p:cBhvr>
                                    </p:animEffect>
                                    <p:set>
                                      <p:cBhvr>
                                        <p:cTn id="40" dur="1" fill="hold">
                                          <p:stCondLst>
                                            <p:cond delay="599"/>
                                          </p:stCondLst>
                                        </p:cTn>
                                        <p:tgtEl>
                                          <p:spTgt spid="2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إِنَّهُ لَقَبِيحٌ بِالْأَحْرَارِ التَّنَقُّلُ</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It is an ugly thing in free men to change sides.</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 الْكِرَامَ لَيَلْزَمُونَ الشُّبْهَةَ</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Men of honour will stay with a doubtful position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part-ar"/>
          <p:cNvSpPr txBox="1"/>
          <p:nvPr/>
        </p:nvSpPr>
        <p:spPr>
          <a:xfrm>
            <a:off x="566928" y="181305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فَيَتَكَرَّمُونَ أَنْ يَنْتَقِلُوا إِلَى أَوْضَحَ مِنْهَا مَخَافَةَ الْعَارِ</a:t>
            </a:r>
          </a:p>
        </p:txBody>
      </p:sp>
      <p:sp>
        <p:nvSpPr>
          <p:cNvPr id="7" name="part-en"/>
          <p:cNvSpPr txBox="1"/>
          <p:nvPr/>
        </p:nvSpPr>
        <p:spPr>
          <a:xfrm>
            <a:off x="566928" y="261162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think it beneath them to move even to a clearer one, for fear of the disgrace</a:t>
            </a:r>
          </a:p>
        </p:txBody>
      </p:sp>
      <p:sp>
        <p:nvSpPr>
          <p:cNvPr id="8" name="part-ar"/>
          <p:cNvSpPr txBox="1"/>
          <p:nvPr/>
        </p:nvSpPr>
        <p:spPr>
          <a:xfrm>
            <a:off x="566928" y="367131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فَكَيْفَ الِانْتِقَالُ مِنَ الْأَمْرِ الْحَسَنِ الْجَمِيلِ وَالْحَقِّ إِلَى الْبَاطِلِ وَالْقَبِيحِ!</a:t>
            </a:r>
          </a:p>
        </p:txBody>
      </p:sp>
      <p:sp>
        <p:nvSpPr>
          <p:cNvPr id="9" name="part-en"/>
          <p:cNvSpPr txBox="1"/>
          <p:nvPr/>
        </p:nvSpPr>
        <p:spPr>
          <a:xfrm>
            <a:off x="566928" y="4469891"/>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so how much worse to move from what is good, fair and true to what is false and ugly!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at night, from five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killed by Ziyād's ؓ men, at their fires</a:t>
            </a:r>
          </a:p>
        </p:txBody>
      </p:sp>
      <p:pic>
        <p:nvPicPr>
          <p:cNvPr id="13" name="map arrow a_023" descr="s06-kinda-r6-8-a_023.png"/>
          <p:cNvPicPr>
            <a:picLocks noChangeAspect="1"/>
          </p:cNvPicPr>
          <p:nvPr/>
        </p:nvPicPr>
        <p:blipFill>
          <a:blip r:embed="rId3"/>
          <a:stretch>
            <a:fillRect/>
          </a:stretch>
        </p:blipFill>
        <p:spPr>
          <a:xfrm>
            <a:off x="3445421" y="2888256"/>
            <a:ext cx="935308" cy="330583"/>
          </a:xfrm>
          <a:prstGeom prst="rect">
            <a:avLst/>
          </a:prstGeom>
        </p:spPr>
      </p:pic>
      <p:pic>
        <p:nvPicPr>
          <p:cNvPr id="14" name="map arrow a_025" descr="s06-kinda-r8-10-a_025.png"/>
          <p:cNvPicPr>
            <a:picLocks noChangeAspect="1"/>
          </p:cNvPicPr>
          <p:nvPr/>
        </p:nvPicPr>
        <p:blipFill>
          <a:blip r:embed="rId4"/>
          <a:stretch>
            <a:fillRect/>
          </a:stretch>
        </p:blipFill>
        <p:spPr>
          <a:xfrm>
            <a:off x="2816507" y="2400444"/>
            <a:ext cx="286236" cy="745828"/>
          </a:xfrm>
          <a:prstGeom prst="rect">
            <a:avLst/>
          </a:prstGeom>
        </p:spPr>
      </p:pic>
      <p:pic>
        <p:nvPicPr>
          <p:cNvPr id="15" name="map arrow a_026" descr="s06-kinda-r8-10-a_026.png"/>
          <p:cNvPicPr>
            <a:picLocks noChangeAspect="1"/>
          </p:cNvPicPr>
          <p:nvPr/>
        </p:nvPicPr>
        <p:blipFill>
          <a:blip r:embed="rId5"/>
          <a:stretch>
            <a:fillRect/>
          </a:stretch>
        </p:blipFill>
        <p:spPr>
          <a:xfrm>
            <a:off x="3050334" y="2940665"/>
            <a:ext cx="790174" cy="342677"/>
          </a:xfrm>
          <a:prstGeom prst="rect">
            <a:avLst/>
          </a:prstGeom>
        </p:spPr>
      </p:pic>
      <p:pic>
        <p:nvPicPr>
          <p:cNvPr id="16" name="map arrow a_027" descr="s06-kinda-r8-10-a_027.png"/>
          <p:cNvPicPr>
            <a:picLocks noChangeAspect="1"/>
          </p:cNvPicPr>
          <p:nvPr/>
        </p:nvPicPr>
        <p:blipFill>
          <a:blip r:embed="rId6"/>
          <a:stretch>
            <a:fillRect/>
          </a:stretch>
        </p:blipFill>
        <p:spPr>
          <a:xfrm>
            <a:off x="3001956" y="3279312"/>
            <a:ext cx="592631" cy="661166"/>
          </a:xfrm>
          <a:prstGeom prst="rect">
            <a:avLst/>
          </a:prstGeom>
        </p:spPr>
      </p:pic>
      <p:pic>
        <p:nvPicPr>
          <p:cNvPr id="17" name="map arrow a_028" descr="s06-kinda-r8-10-a_028.png"/>
          <p:cNvPicPr>
            <a:picLocks noChangeAspect="1"/>
          </p:cNvPicPr>
          <p:nvPr/>
        </p:nvPicPr>
        <p:blipFill>
          <a:blip r:embed="rId7"/>
          <a:stretch>
            <a:fillRect/>
          </a:stretch>
        </p:blipFill>
        <p:spPr>
          <a:xfrm>
            <a:off x="2328695" y="3279312"/>
            <a:ext cx="592631" cy="661166"/>
          </a:xfrm>
          <a:prstGeom prst="rect">
            <a:avLst/>
          </a:prstGeom>
        </p:spPr>
      </p:pic>
      <p:pic>
        <p:nvPicPr>
          <p:cNvPr id="18" name="map arrow a_029" descr="s06-kinda-r8-10-a_029.png"/>
          <p:cNvPicPr>
            <a:picLocks noChangeAspect="1"/>
          </p:cNvPicPr>
          <p:nvPr/>
        </p:nvPicPr>
        <p:blipFill>
          <a:blip r:embed="rId8"/>
          <a:stretch>
            <a:fillRect/>
          </a:stretch>
        </p:blipFill>
        <p:spPr>
          <a:xfrm>
            <a:off x="2058584" y="2964854"/>
            <a:ext cx="814363" cy="326551"/>
          </a:xfrm>
          <a:prstGeom prst="rect">
            <a:avLst/>
          </a:prstGeom>
        </p:spPr>
      </p:pic>
      <p:pic>
        <p:nvPicPr>
          <p:cNvPr id="19" name="map settlement s_017" descr="s06-kinda-r6-8-s_017.png"/>
          <p:cNvPicPr>
            <a:picLocks noChangeAspect="1"/>
          </p:cNvPicPr>
          <p:nvPr/>
        </p:nvPicPr>
        <p:blipFill>
          <a:blip r:embed="rId9"/>
          <a:stretch>
            <a:fillRect/>
          </a:stretch>
        </p:blipFill>
        <p:spPr>
          <a:xfrm>
            <a:off x="2284348" y="2868098"/>
            <a:ext cx="330583" cy="330583"/>
          </a:xfrm>
          <a:prstGeom prst="rect">
            <a:avLst/>
          </a:prstGeom>
        </p:spPr>
      </p:pic>
      <p:pic>
        <p:nvPicPr>
          <p:cNvPr id="20" name="map settlement s_018" descr="s06-kinda-r6-8-s_018.png"/>
          <p:cNvPicPr>
            <a:picLocks noChangeAspect="1"/>
          </p:cNvPicPr>
          <p:nvPr/>
        </p:nvPicPr>
        <p:blipFill>
          <a:blip r:embed="rId10"/>
          <a:stretch>
            <a:fillRect/>
          </a:stretch>
        </p:blipFill>
        <p:spPr>
          <a:xfrm>
            <a:off x="2796349" y="2581862"/>
            <a:ext cx="330583" cy="326551"/>
          </a:xfrm>
          <a:prstGeom prst="rect">
            <a:avLst/>
          </a:prstGeom>
        </p:spPr>
      </p:pic>
      <p:pic>
        <p:nvPicPr>
          <p:cNvPr id="21" name="map settlement s_019" descr="s06-kinda-r6-8-s_019.png"/>
          <p:cNvPicPr>
            <a:picLocks noChangeAspect="1"/>
          </p:cNvPicPr>
          <p:nvPr/>
        </p:nvPicPr>
        <p:blipFill>
          <a:blip r:embed="rId11"/>
          <a:stretch>
            <a:fillRect/>
          </a:stretch>
        </p:blipFill>
        <p:spPr>
          <a:xfrm>
            <a:off x="3340602" y="2843909"/>
            <a:ext cx="330583" cy="326551"/>
          </a:xfrm>
          <a:prstGeom prst="rect">
            <a:avLst/>
          </a:prstGeom>
        </p:spPr>
      </p:pic>
      <p:pic>
        <p:nvPicPr>
          <p:cNvPr id="22" name="map settlement s_020" descr="s06-kinda-r6-8-s_020.png"/>
          <p:cNvPicPr>
            <a:picLocks noChangeAspect="1"/>
          </p:cNvPicPr>
          <p:nvPr/>
        </p:nvPicPr>
        <p:blipFill>
          <a:blip r:embed="rId12"/>
          <a:stretch>
            <a:fillRect/>
          </a:stretch>
        </p:blipFill>
        <p:spPr>
          <a:xfrm>
            <a:off x="2477860" y="3497013"/>
            <a:ext cx="330583" cy="330583"/>
          </a:xfrm>
          <a:prstGeom prst="rect">
            <a:avLst/>
          </a:prstGeom>
        </p:spPr>
      </p:pic>
      <p:pic>
        <p:nvPicPr>
          <p:cNvPr id="23" name="map settlement s_021" descr="s06-kinda-r6-8-s_021.png"/>
          <p:cNvPicPr>
            <a:picLocks noChangeAspect="1"/>
          </p:cNvPicPr>
          <p:nvPr/>
        </p:nvPicPr>
        <p:blipFill>
          <a:blip r:embed="rId13"/>
          <a:stretch>
            <a:fillRect/>
          </a:stretch>
        </p:blipFill>
        <p:spPr>
          <a:xfrm>
            <a:off x="3114838" y="3444603"/>
            <a:ext cx="330583" cy="330583"/>
          </a:xfrm>
          <a:prstGeom prst="rect">
            <a:avLst/>
          </a:prstGeom>
        </p:spPr>
      </p:pic>
      <p:pic>
        <p:nvPicPr>
          <p:cNvPr id="24" name="map battle the four kings" descr="s06-kinda-r8-10-b_031.png"/>
          <p:cNvPicPr>
            <a:picLocks noChangeAspect="1"/>
          </p:cNvPicPr>
          <p:nvPr/>
        </p:nvPicPr>
        <p:blipFill>
          <a:blip r:embed="rId14"/>
          <a:stretch>
            <a:fillRect/>
          </a:stretch>
        </p:blipFill>
        <p:spPr>
          <a:xfrm>
            <a:off x="929763" y="2827783"/>
            <a:ext cx="2459217" cy="770017"/>
          </a:xfrm>
          <a:prstGeom prst="rect">
            <a:avLst/>
          </a:prstGeom>
        </p:spPr>
      </p:pic>
      <p:pic>
        <p:nvPicPr>
          <p:cNvPr id="25" name="map army Shuraḥbīl and his son" descr="s06-kinda-r6-8-a_024.png"/>
          <p:cNvPicPr>
            <a:picLocks noChangeAspect="1"/>
          </p:cNvPicPr>
          <p:nvPr/>
        </p:nvPicPr>
        <p:blipFill>
          <a:blip r:embed="rId15"/>
          <a:stretch>
            <a:fillRect/>
          </a:stretch>
        </p:blipFill>
        <p:spPr>
          <a:xfrm>
            <a:off x="3985643" y="2384318"/>
            <a:ext cx="3414683" cy="850647"/>
          </a:xfrm>
          <a:prstGeom prst="rect">
            <a:avLst/>
          </a:prstGeom>
        </p:spPr>
      </p:pic>
      <p:pic>
        <p:nvPicPr>
          <p:cNvPr id="26" name="map label from five sides" descr="s06-kinda-r8-10-l_030.png"/>
          <p:cNvPicPr>
            <a:picLocks noChangeAspect="1"/>
          </p:cNvPicPr>
          <p:nvPr/>
        </p:nvPicPr>
        <p:blipFill>
          <a:blip r:embed="rId16"/>
          <a:stretch>
            <a:fillRect/>
          </a:stretch>
        </p:blipFill>
        <p:spPr>
          <a:xfrm>
            <a:off x="1994080" y="4440384"/>
            <a:ext cx="1999625"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sp>
        <p:nvSpPr>
          <p:cNvPr id="6" name="part-ar"/>
          <p:cNvSpPr txBox="1"/>
          <p:nvPr/>
        </p:nvSpPr>
        <p:spPr>
          <a:xfrm>
            <a:off x="566928" y="2027682"/>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فَوَجَدُوهُمْ جُلُوسًا حَوْلَ نِيرَانِهِمْ</a:t>
            </a:r>
          </a:p>
        </p:txBody>
      </p:sp>
      <p:sp>
        <p:nvSpPr>
          <p:cNvPr id="7" name="part-en"/>
          <p:cNvSpPr txBox="1"/>
          <p:nvPr/>
        </p:nvSpPr>
        <p:spPr>
          <a:xfrm>
            <a:off x="566928" y="2826258"/>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They found them sitting round their fires</a:t>
            </a:r>
          </a:p>
        </p:txBody>
      </p:sp>
      <p:sp>
        <p:nvSpPr>
          <p:cNvPr id="8" name="part-ar"/>
          <p:cNvSpPr txBox="1"/>
          <p:nvPr/>
        </p:nvSpPr>
        <p:spPr>
          <a:xfrm>
            <a:off x="566928" y="3456686"/>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فَأَكَبُّوا عَلَى بَنِي عَمْرِو بْنِ مُعَاوِيَةَ، وَفِيهِمُ الْعَدَدُ وَالشَّوْكَةُ - مِنْ خَمْسَةِ أَوْجُهٍ</a:t>
            </a:r>
          </a:p>
        </p:txBody>
      </p:sp>
      <p:sp>
        <p:nvSpPr>
          <p:cNvPr id="9" name="part-en"/>
          <p:cNvSpPr txBox="1"/>
          <p:nvPr/>
        </p:nvSpPr>
        <p:spPr>
          <a:xfrm>
            <a:off x="566928" y="4255262"/>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fell on Banū ʿAmr b. Muʿāwiya — who had the numbers and the strength — from five directions.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that night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captives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on the road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rises, and takes them back</a:t>
            </a:r>
          </a:p>
        </p:txBody>
      </p:sp>
      <p:pic>
        <p:nvPicPr>
          <p:cNvPr id="13" name="map arrow a_032" descr="s06-kinda-r10-13-a_032.png"/>
          <p:cNvPicPr>
            <a:picLocks noChangeAspect="1"/>
          </p:cNvPicPr>
          <p:nvPr/>
        </p:nvPicPr>
        <p:blipFill>
          <a:blip r:embed="rId3"/>
          <a:stretch>
            <a:fillRect/>
          </a:stretch>
        </p:blipFill>
        <p:spPr>
          <a:xfrm>
            <a:off x="3066460" y="3416383"/>
            <a:ext cx="1068348" cy="903056"/>
          </a:xfrm>
          <a:prstGeom prst="rect">
            <a:avLst/>
          </a:prstGeom>
        </p:spPr>
      </p:pic>
      <p:pic>
        <p:nvPicPr>
          <p:cNvPr id="14" name="map arrow a_035" descr="s06-kinda-r10-13-a_035.png"/>
          <p:cNvPicPr>
            <a:picLocks noChangeAspect="1"/>
          </p:cNvPicPr>
          <p:nvPr/>
        </p:nvPicPr>
        <p:blipFill>
          <a:blip r:embed="rId4"/>
          <a:stretch>
            <a:fillRect/>
          </a:stretch>
        </p:blipFill>
        <p:spPr>
          <a:xfrm>
            <a:off x="4070304" y="4234778"/>
            <a:ext cx="411213" cy="479748"/>
          </a:xfrm>
          <a:prstGeom prst="rect">
            <a:avLst/>
          </a:prstGeom>
        </p:spPr>
      </p:pic>
      <p:pic>
        <p:nvPicPr>
          <p:cNvPr id="15" name="map battle the four kings" descr="s06-kinda-r8-10-b_031.png"/>
          <p:cNvPicPr>
            <a:picLocks noChangeAspect="1"/>
          </p:cNvPicPr>
          <p:nvPr/>
        </p:nvPicPr>
        <p:blipFill>
          <a:blip r:embed="rId5"/>
          <a:stretch>
            <a:fillRect/>
          </a:stretch>
        </p:blipFill>
        <p:spPr>
          <a:xfrm>
            <a:off x="929763" y="2827783"/>
            <a:ext cx="2459217" cy="770017"/>
          </a:xfrm>
          <a:prstGeom prst="rect">
            <a:avLst/>
          </a:prstGeom>
        </p:spPr>
      </p:pic>
      <p:pic>
        <p:nvPicPr>
          <p:cNvPr id="16" name="map army the column" descr="s06-kinda-r10-13-a_033.png"/>
          <p:cNvPicPr>
            <a:picLocks noChangeAspect="1"/>
          </p:cNvPicPr>
          <p:nvPr/>
        </p:nvPicPr>
        <p:blipFill>
          <a:blip r:embed="rId6"/>
          <a:stretch>
            <a:fillRect/>
          </a:stretch>
        </p:blipFill>
        <p:spPr>
          <a:xfrm>
            <a:off x="1340976" y="3509107"/>
            <a:ext cx="3285675" cy="882899"/>
          </a:xfrm>
          <a:prstGeom prst="rect">
            <a:avLst/>
          </a:prstGeom>
        </p:spPr>
      </p:pic>
      <p:pic>
        <p:nvPicPr>
          <p:cNvPr id="17" name="map army al-Ashʿath b. Qays" descr="s06-kinda-r10-13-a_034.png"/>
          <p:cNvPicPr>
            <a:picLocks noChangeAspect="1"/>
          </p:cNvPicPr>
          <p:nvPr/>
        </p:nvPicPr>
        <p:blipFill>
          <a:blip r:embed="rId7"/>
          <a:stretch>
            <a:fillRect/>
          </a:stretch>
        </p:blipFill>
        <p:spPr>
          <a:xfrm>
            <a:off x="1804599" y="4085612"/>
            <a:ext cx="3205045" cy="854678"/>
          </a:xfrm>
          <a:prstGeom prst="rect">
            <a:avLst/>
          </a:prstGeom>
        </p:spPr>
      </p:pic>
      <p:pic>
        <p:nvPicPr>
          <p:cNvPr id="18" name="map label the captives taken back" descr="s06-kinda-r10-13-l_036.png"/>
          <p:cNvPicPr>
            <a:picLocks noChangeAspect="1"/>
          </p:cNvPicPr>
          <p:nvPr/>
        </p:nvPicPr>
        <p:blipFill>
          <a:blip r:embed="rId8"/>
          <a:stretch>
            <a:fillRect/>
          </a:stretch>
        </p:blipFill>
        <p:spPr>
          <a:xfrm>
            <a:off x="1433701" y="3742934"/>
            <a:ext cx="3100226"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8" presetID="10" presetClass="exit" presetSubtype="0" fill="hold" grpId="0" nodeType="withEffect">
                                  <p:stCondLst>
                                    <p:cond delay="0"/>
                                  </p:stCondLst>
                                  <p:childTnLst>
                                    <p:animEffect transition="out" filter="fade">
                                      <p:cBhvr>
                                        <p:cTn id="6" dur="600"/>
                                        <p:tgtEl>
                                          <p:spTgt spid="15"/>
                                        </p:tgtEl>
                                      </p:cBhvr>
                                    </p:animEffect>
                                    <p:set>
                                      <p:cBhvr>
                                        <p:cTn id="7" dur="1" fill="hold">
                                          <p:stCondLst>
                                            <p:cond delay="599"/>
                                          </p:stCondLst>
                                        </p:cTn>
                                        <p:tgtEl>
                                          <p:spTgt spid="15"/>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773 -0.1128 L -0.0354 -0.0497 L 0.0000 0.0000 L 0 0 E" pathEditMode="relative" rAng="0" ptsTypes="">
                                      <p:cBhvr>
                                        <p:cTn id="11" dur="1600" fill="hold"/>
                                        <p:tgtEl>
                                          <p:spTgt spid="16"/>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17" presetID="10" presetClass="exit" presetSubtype="0" fill="hold" grpId="0" nodeType="clickEffect">
                                  <p:stCondLst>
                                    <p:cond delay="0"/>
                                  </p:stCondLst>
                                  <p:childTnLst>
                                    <p:animEffect transition="out" filter="fade">
                                      <p:cBhvr>
                                        <p:cTn id="15" dur="600"/>
                                        <p:tgtEl>
                                          <p:spTgt spid="13"/>
                                        </p:tgtEl>
                                      </p:cBhvr>
                                    </p:animEffect>
                                    <p:set>
                                      <p:cBhvr>
                                        <p:cTn id="16" dur="1" fill="hold">
                                          <p:stCondLst>
                                            <p:cond delay="599"/>
                                          </p:stCondLst>
                                        </p:cTn>
                                        <p:tgtEl>
                                          <p:spTgt spid="13"/>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600"/>
                                        <p:tgtEl>
                                          <p:spTgt spid="17"/>
                                        </p:tgtEl>
                                      </p:cBhvr>
                                    </p:animEffect>
                                  </p:childTnLst>
                                </p:cTn>
                              </p:par>
                            </p:childTnLst>
                          </p:cTn>
                        </p:par>
                      </p:childTnLst>
                    </p:cTn>
                  </p:par>
                  <p:par>
                    <p:cTn id="32" fill="hold">
                      <p:stCondLst>
                        <p:cond delay="indefinite"/>
                      </p:stCondLst>
                      <p:childTnLst>
                        <p:par>
                          <p:cTn id="33" fill="hold">
                            <p:stCondLst>
                              <p:cond delay="0"/>
                            </p:stCondLst>
                            <p:childTnLst>
                              <p:par>
                                <p:cTn id="25" presetID="22" presetClass="entr" presetSubtype="4"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1600"/>
                                        <p:tgtEl>
                                          <p:spTgt spid="14"/>
                                        </p:tgtEl>
                                      </p:cBhvr>
                                    </p:animEffect>
                                  </p:childTnLst>
                                </p:cTn>
                              </p:par>
                              <p:par>
                                <p:cTn id="28" presetID="10" presetClass="exit" presetSubtype="0" fill="hold" grpId="0" nodeType="withEffect">
                                  <p:stCondLst>
                                    <p:cond delay="0"/>
                                  </p:stCondLst>
                                  <p:childTnLst>
                                    <p:animEffect transition="out" filter="fade">
                                      <p:cBhvr>
                                        <p:cTn id="26" dur="600"/>
                                        <p:tgtEl>
                                          <p:spTgt spid="16"/>
                                        </p:tgtEl>
                                      </p:cBhvr>
                                    </p:animEffect>
                                    <p:set>
                                      <p:cBhvr>
                                        <p:cTn id="27" dur="1" fill="hold">
                                          <p:stCondLst>
                                            <p:cond delay="599"/>
                                          </p:stCondLst>
                                        </p:cTn>
                                        <p:tgtEl>
                                          <p:spTgt spid="16"/>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وَعَادَ زِيَادُ بْنُ لَبِيدٍ بِالْأَمْوَالِ وَالسَّبْيِ</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Ziyād b. Labīd returned with the property and the captives</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وَاجْتَازُوا بِالْأَشْعَثِ</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passed by al-Ashʿath</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فَثَارَ فِي قَوْمِهِ، فَاسْتَنْقَذَهُمْ وَجَمَعَ الْجُمُوعَ.</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he rose with his people, recovered them, and gathered the gatherings.</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al-Ashʿath</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pic>
        <p:nvPicPr>
          <p:cNvPr id="6" name="map" descr="s06-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45" descr="s06-kinda-r13-16-t_045.png"/>
          <p:cNvPicPr>
            <a:picLocks noChangeAspect="1"/>
          </p:cNvPicPr>
          <p:nvPr/>
        </p:nvPicPr>
        <p:blipFill>
          <a:blip r:embed="rId3"/>
          <a:stretch>
            <a:fillRect/>
          </a:stretch>
        </p:blipFill>
        <p:spPr>
          <a:xfrm>
            <a:off x="3646996" y="3505076"/>
            <a:ext cx="1173167" cy="1173167"/>
          </a:xfrm>
          <a:prstGeom prst="rect">
            <a:avLst/>
          </a:prstGeom>
        </p:spPr>
      </p:pic>
      <p:pic>
        <p:nvPicPr>
          <p:cNvPr id="17" name="map arrow a_035" descr="s06-kinda-r10-13-a_035.png"/>
          <p:cNvPicPr>
            <a:picLocks noChangeAspect="1"/>
          </p:cNvPicPr>
          <p:nvPr/>
        </p:nvPicPr>
        <p:blipFill>
          <a:blip r:embed="rId4"/>
          <a:stretch>
            <a:fillRect/>
          </a:stretch>
        </p:blipFill>
        <p:spPr>
          <a:xfrm>
            <a:off x="4070304" y="4234778"/>
            <a:ext cx="411213" cy="479748"/>
          </a:xfrm>
          <a:prstGeom prst="rect">
            <a:avLst/>
          </a:prstGeom>
        </p:spPr>
      </p:pic>
      <p:pic>
        <p:nvPicPr>
          <p:cNvPr id="18" name="map arrow a_037" descr="s06-kinda-r13-16-a_037.png"/>
          <p:cNvPicPr>
            <a:picLocks noChangeAspect="1"/>
          </p:cNvPicPr>
          <p:nvPr/>
        </p:nvPicPr>
        <p:blipFill>
          <a:blip r:embed="rId5"/>
          <a:stretch>
            <a:fillRect/>
          </a:stretch>
        </p:blipFill>
        <p:spPr>
          <a:xfrm>
            <a:off x="566928" y="4504888"/>
            <a:ext cx="5269175" cy="943371"/>
          </a:xfrm>
          <a:prstGeom prst="rect">
            <a:avLst/>
          </a:prstGeom>
        </p:spPr>
      </p:pic>
      <p:pic>
        <p:nvPicPr>
          <p:cNvPr id="19" name="map arrow a_041" descr="s06-kinda-r13-16-a_041.png"/>
          <p:cNvPicPr>
            <a:picLocks noChangeAspect="1"/>
          </p:cNvPicPr>
          <p:nvPr/>
        </p:nvPicPr>
        <p:blipFill>
          <a:blip r:embed="rId6"/>
          <a:stretch>
            <a:fillRect/>
          </a:stretch>
        </p:blipFill>
        <p:spPr>
          <a:xfrm>
            <a:off x="3187405" y="4496825"/>
            <a:ext cx="2652729" cy="479748"/>
          </a:xfrm>
          <a:prstGeom prst="rect">
            <a:avLst/>
          </a:prstGeom>
        </p:spPr>
      </p:pic>
      <p:pic>
        <p:nvPicPr>
          <p:cNvPr id="20" name="map arrow a_046" descr="s06-kinda-r13-16-a_046.png"/>
          <p:cNvPicPr>
            <a:picLocks noChangeAspect="1"/>
          </p:cNvPicPr>
          <p:nvPr/>
        </p:nvPicPr>
        <p:blipFill>
          <a:blip r:embed="rId7"/>
          <a:stretch>
            <a:fillRect/>
          </a:stretch>
        </p:blipFill>
        <p:spPr>
          <a:xfrm>
            <a:off x="2272254" y="3779218"/>
            <a:ext cx="2245547" cy="822426"/>
          </a:xfrm>
          <a:prstGeom prst="rect">
            <a:avLst/>
          </a:prstGeom>
        </p:spPr>
      </p:pic>
      <p:pic>
        <p:nvPicPr>
          <p:cNvPr id="21" name="map arrow a_048" descr="s06-kinda-r13-16-a_048.png"/>
          <p:cNvPicPr>
            <a:picLocks noChangeAspect="1"/>
          </p:cNvPicPr>
          <p:nvPr/>
        </p:nvPicPr>
        <p:blipFill>
          <a:blip r:embed="rId8"/>
          <a:stretch>
            <a:fillRect/>
          </a:stretch>
        </p:blipFill>
        <p:spPr>
          <a:xfrm>
            <a:off x="3183373" y="4541172"/>
            <a:ext cx="1709357" cy="399118"/>
          </a:xfrm>
          <a:prstGeom prst="rect">
            <a:avLst/>
          </a:prstGeom>
        </p:spPr>
      </p:pic>
      <p:pic>
        <p:nvPicPr>
          <p:cNvPr id="22" name="map arrow a_050" descr="s06-kinda-r13-16-a_050.png"/>
          <p:cNvPicPr>
            <a:picLocks noChangeAspect="1"/>
          </p:cNvPicPr>
          <p:nvPr/>
        </p:nvPicPr>
        <p:blipFill>
          <a:blip r:embed="rId9"/>
          <a:stretch>
            <a:fillRect/>
          </a:stretch>
        </p:blipFill>
        <p:spPr>
          <a:xfrm>
            <a:off x="566928" y="4500857"/>
            <a:ext cx="2624508" cy="882899"/>
          </a:xfrm>
          <a:prstGeom prst="rect">
            <a:avLst/>
          </a:prstGeom>
        </p:spPr>
      </p:pic>
      <p:pic>
        <p:nvPicPr>
          <p:cNvPr id="23" name="map settlement al-Nujayr" descr="s06-kinda-r13-16-s_044.png"/>
          <p:cNvPicPr>
            <a:picLocks noChangeAspect="1"/>
          </p:cNvPicPr>
          <p:nvPr/>
        </p:nvPicPr>
        <p:blipFill>
          <a:blip r:embed="rId10"/>
          <a:stretch>
            <a:fillRect/>
          </a:stretch>
        </p:blipFill>
        <p:spPr>
          <a:xfrm>
            <a:off x="3538146" y="3984825"/>
            <a:ext cx="1124789" cy="669229"/>
          </a:xfrm>
          <a:prstGeom prst="rect">
            <a:avLst/>
          </a:prstGeom>
        </p:spPr>
      </p:pic>
      <p:pic>
        <p:nvPicPr>
          <p:cNvPr id="24" name="map battle Maḥjar al-Zurqān" descr="s06-kinda-r13-16-b_043.png"/>
          <p:cNvPicPr>
            <a:picLocks noChangeAspect="1"/>
          </p:cNvPicPr>
          <p:nvPr/>
        </p:nvPicPr>
        <p:blipFill>
          <a:blip r:embed="rId11"/>
          <a:stretch>
            <a:fillRect/>
          </a:stretch>
        </p:blipFill>
        <p:spPr>
          <a:xfrm>
            <a:off x="1635276" y="4662117"/>
            <a:ext cx="2084287" cy="1056253"/>
          </a:xfrm>
          <a:prstGeom prst="rect">
            <a:avLst/>
          </a:prstGeom>
        </p:spPr>
      </p:pic>
      <p:pic>
        <p:nvPicPr>
          <p:cNvPr id="25" name="map army Ziyād b. Labīd ؓ" descr="s06-kinda-r3-6-a_011.png"/>
          <p:cNvPicPr>
            <a:picLocks noChangeAspect="1"/>
          </p:cNvPicPr>
          <p:nvPr/>
        </p:nvPicPr>
        <p:blipFill>
          <a:blip r:embed="rId12"/>
          <a:stretch>
            <a:fillRect/>
          </a:stretch>
        </p:blipFill>
        <p:spPr>
          <a:xfrm>
            <a:off x="4610526" y="3001138"/>
            <a:ext cx="2664823" cy="850647"/>
          </a:xfrm>
          <a:prstGeom prst="rect">
            <a:avLst/>
          </a:prstGeom>
        </p:spPr>
      </p:pic>
      <p:pic>
        <p:nvPicPr>
          <p:cNvPr id="26" name="map army al-Ashʿath b. Qays" descr="s06-kinda-r10-13-a_034.png"/>
          <p:cNvPicPr>
            <a:picLocks noChangeAspect="1"/>
          </p:cNvPicPr>
          <p:nvPr/>
        </p:nvPicPr>
        <p:blipFill>
          <a:blip r:embed="rId13"/>
          <a:stretch>
            <a:fillRect/>
          </a:stretch>
        </p:blipFill>
        <p:spPr>
          <a:xfrm>
            <a:off x="1804599" y="4085612"/>
            <a:ext cx="3205045" cy="854678"/>
          </a:xfrm>
          <a:prstGeom prst="rect">
            <a:avLst/>
          </a:prstGeom>
        </p:spPr>
      </p:pic>
      <p:pic>
        <p:nvPicPr>
          <p:cNvPr id="27" name="map army al-Muhājir ؓ" descr="s06-kinda-r13-16-a_038.png"/>
          <p:cNvPicPr>
            <a:picLocks noChangeAspect="1"/>
          </p:cNvPicPr>
          <p:nvPr/>
        </p:nvPicPr>
        <p:blipFill>
          <a:blip r:embed="rId14"/>
          <a:stretch>
            <a:fillRect/>
          </a:stretch>
        </p:blipFill>
        <p:spPr>
          <a:xfrm>
            <a:off x="5441015" y="3823564"/>
            <a:ext cx="2277799" cy="854678"/>
          </a:xfrm>
          <a:prstGeom prst="rect">
            <a:avLst/>
          </a:prstGeom>
        </p:spPr>
      </p:pic>
      <p:pic>
        <p:nvPicPr>
          <p:cNvPr id="28" name="map army Kinda" descr="s06-kinda-r13-16-a_040.png"/>
          <p:cNvPicPr>
            <a:picLocks noChangeAspect="1"/>
          </p:cNvPicPr>
          <p:nvPr/>
        </p:nvPicPr>
        <p:blipFill>
          <a:blip r:embed="rId15"/>
          <a:stretch>
            <a:fillRect/>
          </a:stretch>
        </p:blipFill>
        <p:spPr>
          <a:xfrm>
            <a:off x="1014424" y="3787281"/>
            <a:ext cx="1874649" cy="850647"/>
          </a:xfrm>
          <a:prstGeom prst="rect">
            <a:avLst/>
          </a:prstGeom>
        </p:spPr>
      </p:pic>
      <p:pic>
        <p:nvPicPr>
          <p:cNvPr id="29" name="map army al-Muhājir ؓ" descr="s06-kinda-r13-16-a_042.png"/>
          <p:cNvPicPr>
            <a:picLocks noChangeAspect="1"/>
          </p:cNvPicPr>
          <p:nvPr/>
        </p:nvPicPr>
        <p:blipFill>
          <a:blip r:embed="rId16"/>
          <a:stretch>
            <a:fillRect/>
          </a:stretch>
        </p:blipFill>
        <p:spPr>
          <a:xfrm>
            <a:off x="2909231" y="4049329"/>
            <a:ext cx="2277799" cy="878867"/>
          </a:xfrm>
          <a:prstGeom prst="rect">
            <a:avLst/>
          </a:prstGeom>
        </p:spPr>
      </p:pic>
      <p:pic>
        <p:nvPicPr>
          <p:cNvPr id="30" name="map army Kinda" descr="s06-kinda-r13-16-a_047.png"/>
          <p:cNvPicPr>
            <a:picLocks noChangeAspect="1"/>
          </p:cNvPicPr>
          <p:nvPr/>
        </p:nvPicPr>
        <p:blipFill>
          <a:blip r:embed="rId17"/>
          <a:stretch>
            <a:fillRect/>
          </a:stretch>
        </p:blipFill>
        <p:spPr>
          <a:xfrm>
            <a:off x="4122714" y="3170461"/>
            <a:ext cx="1665011" cy="850647"/>
          </a:xfrm>
          <a:prstGeom prst="rect">
            <a:avLst/>
          </a:prstGeom>
        </p:spPr>
      </p:pic>
      <p:pic>
        <p:nvPicPr>
          <p:cNvPr id="31" name="map army al-Muhājir ؓ" descr="s06-kinda-r13-16-a_049.png"/>
          <p:cNvPicPr>
            <a:picLocks noChangeAspect="1"/>
          </p:cNvPicPr>
          <p:nvPr/>
        </p:nvPicPr>
        <p:blipFill>
          <a:blip r:embed="rId18"/>
          <a:stretch>
            <a:fillRect/>
          </a:stretch>
        </p:blipFill>
        <p:spPr>
          <a:xfrm>
            <a:off x="4497644" y="3875974"/>
            <a:ext cx="2277799" cy="854678"/>
          </a:xfrm>
          <a:prstGeom prst="rect">
            <a:avLst/>
          </a:prstGeom>
        </p:spPr>
      </p:pic>
      <p:pic>
        <p:nvPicPr>
          <p:cNvPr id="32" name="map army ʿIkrima ؓ" descr="s06-kinda-r13-16-a_051.png"/>
          <p:cNvPicPr>
            <a:picLocks noChangeAspect="1"/>
          </p:cNvPicPr>
          <p:nvPr/>
        </p:nvPicPr>
        <p:blipFill>
          <a:blip r:embed="rId19"/>
          <a:stretch>
            <a:fillRect/>
          </a:stretch>
        </p:blipFill>
        <p:spPr>
          <a:xfrm>
            <a:off x="2651215" y="3468792"/>
            <a:ext cx="1032064" cy="1209450"/>
          </a:xfrm>
          <a:prstGeom prst="rect">
            <a:avLst/>
          </a:prstGeom>
        </p:spPr>
      </p:pic>
      <p:pic>
        <p:nvPicPr>
          <p:cNvPr id="33" name="map label the captives taken back" descr="s06-kinda-r10-13-l_036.png"/>
          <p:cNvPicPr>
            <a:picLocks noChangeAspect="1"/>
          </p:cNvPicPr>
          <p:nvPr/>
        </p:nvPicPr>
        <p:blipFill>
          <a:blip r:embed="rId20"/>
          <a:stretch>
            <a:fillRect/>
          </a:stretch>
        </p:blipFill>
        <p:spPr>
          <a:xfrm>
            <a:off x="1433701" y="3742934"/>
            <a:ext cx="3100226" cy="338646"/>
          </a:xfrm>
          <a:prstGeom prst="rect">
            <a:avLst/>
          </a:prstGeom>
        </p:spPr>
      </p:pic>
      <p:pic>
        <p:nvPicPr>
          <p:cNvPr id="34" name="map label from Ṣanʿāʾ" descr="s06-kinda-r13-16-l_039.png"/>
          <p:cNvPicPr>
            <a:picLocks noChangeAspect="1"/>
          </p:cNvPicPr>
          <p:nvPr/>
        </p:nvPicPr>
        <p:blipFill>
          <a:blip r:embed="rId21"/>
          <a:stretch>
            <a:fillRect/>
          </a:stretch>
        </p:blipFill>
        <p:spPr>
          <a:xfrm>
            <a:off x="1187779" y="3976762"/>
            <a:ext cx="1576317"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4265 0.0325 L -0.2961 0.0841 L -0.1192 0.1090 L 0.0000 0.0000 L 0 0 E" pathEditMode="relative" rAng="0" ptsTypes="">
                                      <p:cBhvr>
                                        <p:cTn id="11" dur="1600" fill="hold"/>
                                        <p:tgtEl>
                                          <p:spTgt spid="27"/>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33"/>
                                        </p:tgtEl>
                                      </p:cBhvr>
                                    </p:animEffect>
                                    <p:set>
                                      <p:cBhvr>
                                        <p:cTn id="14" dur="1" fill="hold">
                                          <p:stCondLst>
                                            <p:cond delay="599"/>
                                          </p:stCondLst>
                                        </p:cTn>
                                        <p:tgtEl>
                                          <p:spTgt spid="33"/>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600"/>
                                        <p:tgtEl>
                                          <p:spTgt spid="34"/>
                                        </p:tgtEl>
                                      </p:cBhvr>
                                    </p:animEffect>
                                  </p:childTnLst>
                                </p:cTn>
                              </p:par>
                            </p:childTnLst>
                          </p:cTn>
                        </p:par>
                      </p:childTnLst>
                    </p:cTn>
                  </p:par>
                  <p:par>
                    <p:cTn id="49" fill="hold">
                      <p:stCondLst>
                        <p:cond delay="indefinite"/>
                      </p:stCondLst>
                      <p:childTnLst>
                        <p:par>
                          <p:cTn id="50" fill="hold">
                            <p:stCondLst>
                              <p:cond delay="0"/>
                            </p:stCondLst>
                            <p:childTnLst>
                              <p:par>
                                <p:cTn id="23" presetID="10" presetClass="exit" presetSubtype="0" fill="hold" grpId="0" nodeType="clickEffect">
                                  <p:stCondLst>
                                    <p:cond delay="0"/>
                                  </p:stCondLst>
                                  <p:childTnLst>
                                    <p:animEffect transition="out" filter="fade">
                                      <p:cBhvr>
                                        <p:cTn id="21" dur="600"/>
                                        <p:tgtEl>
                                          <p:spTgt spid="18"/>
                                        </p:tgtEl>
                                      </p:cBhvr>
                                    </p:animEffect>
                                    <p:set>
                                      <p:cBhvr>
                                        <p:cTn id="22" dur="1" fill="hold">
                                          <p:stCondLst>
                                            <p:cond delay="599"/>
                                          </p:stCondLst>
                                        </p:cTn>
                                        <p:tgtEl>
                                          <p:spTgt spid="18"/>
                                        </p:tgtEl>
                                        <p:attrNameLst>
                                          <p:attrName>style.visibility</p:attrName>
                                        </p:attrNameLst>
                                      </p:cBhvr>
                                      <p:to>
                                        <p:strVal val="hidden"/>
                                      </p:to>
                                    </p:set>
                                  </p:childTnLst>
                                </p:cTn>
                              </p:par>
                              <p:par>
                                <p:cTn id="26" presetID="22" presetClass="entr" presetSubtype="2"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600"/>
                                        <p:tgtEl>
                                          <p:spTgt spid="24"/>
                                        </p:tgtEl>
                                      </p:cBhvr>
                                    </p:animEffect>
                                  </p:childTnLst>
                                </p:cTn>
                              </p:par>
                              <p:par>
                                <p:cTn id="32" presetID="10" presetClass="exit" presetSubtype="0" fill="hold" grpId="0" nodeType="withEffect">
                                  <p:stCondLst>
                                    <p:cond delay="0"/>
                                  </p:stCondLst>
                                  <p:childTnLst>
                                    <p:animEffect transition="out" filter="fade">
                                      <p:cBhvr>
                                        <p:cTn id="30" dur="600"/>
                                        <p:tgtEl>
                                          <p:spTgt spid="25"/>
                                        </p:tgtEl>
                                      </p:cBhvr>
                                    </p:animEffect>
                                    <p:set>
                                      <p:cBhvr>
                                        <p:cTn id="31" dur="1" fill="hold">
                                          <p:stCondLst>
                                            <p:cond delay="599"/>
                                          </p:stCondLst>
                                        </p:cTn>
                                        <p:tgtEl>
                                          <p:spTgt spid="25"/>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26"/>
                                        </p:tgtEl>
                                      </p:cBhvr>
                                    </p:animEffect>
                                    <p:set>
                                      <p:cBhvr>
                                        <p:cTn id="34" dur="1" fill="hold">
                                          <p:stCondLst>
                                            <p:cond delay="599"/>
                                          </p:stCondLst>
                                        </p:cTn>
                                        <p:tgtEl>
                                          <p:spTgt spid="26"/>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27"/>
                                        </p:tgtEl>
                                      </p:cBhvr>
                                    </p:animEffect>
                                    <p:set>
                                      <p:cBhvr>
                                        <p:cTn id="37" dur="1" fill="hold">
                                          <p:stCondLst>
                                            <p:cond delay="599"/>
                                          </p:stCondLst>
                                        </p:cTn>
                                        <p:tgtEl>
                                          <p:spTgt spid="27"/>
                                        </p:tgtEl>
                                        <p:attrNameLst>
                                          <p:attrName>style.visibility</p:attrName>
                                        </p:attrNameLst>
                                      </p:cBhvr>
                                      <p:to>
                                        <p:strVal val="hidden"/>
                                      </p:to>
                                    </p:set>
                                  </p:childTnLst>
                                </p:cTn>
                              </p:par>
                              <p:par>
                                <p:cTn id="41"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600"/>
                                        <p:tgtEl>
                                          <p:spTgt spid="28"/>
                                        </p:tgtEl>
                                      </p:cBhvr>
                                    </p:animEffect>
                                  </p:childTnLst>
                                </p:cTn>
                              </p:par>
                              <p:par>
                                <p:cTn id="43" presetID="1"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5" presetID="0" presetClass="path" presetSubtype="0" fill="hold" grpId="0" nodeType="withEffect">
                                  <p:stCondLst>
                                    <p:cond delay="0"/>
                                  </p:stCondLst>
                                  <p:childTnLst>
                                    <p:animMotion origin="layout" path="M 0.2077 -0.0325 L 0.1164 0.0096 L 0.0000 0.0000 L 0 0 E" pathEditMode="relative" rAng="0" ptsTypes="">
                                      <p:cBhvr>
                                        <p:cTn id="44" dur="1600" fill="hold"/>
                                        <p:tgtEl>
                                          <p:spTgt spid="29"/>
                                        </p:tgtEl>
                                        <p:attrNameLst>
                                          <p:attrName>ppt_x</p:attrName>
                                          <p:attrName>ppt_y</p:attrName>
                                        </p:attrNameLst>
                                      </p:cBhvr>
                                    </p:animMotion>
                                  </p:childTnLst>
                                </p:cTn>
                              </p:par>
                              <p:par>
                                <p:cTn id="48" presetID="10" presetClass="exit" presetSubtype="0" fill="hold" grpId="0" nodeType="withEffect">
                                  <p:stCondLst>
                                    <p:cond delay="0"/>
                                  </p:stCondLst>
                                  <p:childTnLst>
                                    <p:animEffect transition="out" filter="fade">
                                      <p:cBhvr>
                                        <p:cTn id="46" dur="600"/>
                                        <p:tgtEl>
                                          <p:spTgt spid="34"/>
                                        </p:tgtEl>
                                      </p:cBhvr>
                                    </p:animEffect>
                                    <p:set>
                                      <p:cBhvr>
                                        <p:cTn id="47" dur="1" fill="hold">
                                          <p:stCondLst>
                                            <p:cond delay="599"/>
                                          </p:stCondLst>
                                        </p:cTn>
                                        <p:tgtEl>
                                          <p:spTgt spid="34"/>
                                        </p:tgtEl>
                                        <p:attrNameLst>
                                          <p:attrName>style.visibility</p:attrName>
                                        </p:attrNameLst>
                                      </p:cBhvr>
                                      <p:to>
                                        <p:strVal val="hidden"/>
                                      </p:to>
                                    </p:set>
                                  </p:childTnLst>
                                </p:cTn>
                              </p:par>
                            </p:childTnLst>
                          </p:cTn>
                        </p:par>
                      </p:childTnLst>
                    </p:cTn>
                  </p:par>
                  <p:par>
                    <p:cTn id="90" fill="hold">
                      <p:stCondLst>
                        <p:cond delay="indefinite"/>
                      </p:stCondLst>
                      <p:childTnLst>
                        <p:par>
                          <p:cTn id="91" fill="hold">
                            <p:stCondLst>
                              <p:cond delay="0"/>
                            </p:stCondLst>
                            <p:childTnLst>
                              <p:par>
                                <p:cTn id="53" presetID="10" presetClass="entr" presetSubtype="0"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6" presetID="10" presetClass="exit" presetSubtype="0" fill="hold" grpId="0" nodeType="withEffect">
                                  <p:stCondLst>
                                    <p:cond delay="0"/>
                                  </p:stCondLst>
                                  <p:childTnLst>
                                    <p:animEffect transition="out" filter="fade">
                                      <p:cBhvr>
                                        <p:cTn id="54" dur="600"/>
                                        <p:tgtEl>
                                          <p:spTgt spid="19"/>
                                        </p:tgtEl>
                                      </p:cBhvr>
                                    </p:animEffect>
                                    <p:set>
                                      <p:cBhvr>
                                        <p:cTn id="55" dur="1" fill="hold">
                                          <p:stCondLst>
                                            <p:cond delay="599"/>
                                          </p:stCondLst>
                                        </p:cTn>
                                        <p:tgtEl>
                                          <p:spTgt spid="19"/>
                                        </p:tgtEl>
                                        <p:attrNameLst>
                                          <p:attrName>style.visibility</p:attrName>
                                        </p:attrNameLst>
                                      </p:cBhvr>
                                      <p:to>
                                        <p:strVal val="hidden"/>
                                      </p:to>
                                    </p:set>
                                  </p:childTnLst>
                                </p:cTn>
                              </p:par>
                              <p:par>
                                <p:cTn id="59" presetID="22" presetClass="entr" presetSubtype="8"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wipe(left)">
                                      <p:cBhvr>
                                        <p:cTn id="58" dur="1600"/>
                                        <p:tgtEl>
                                          <p:spTgt spid="20"/>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wipe(left)">
                                      <p:cBhvr>
                                        <p:cTn id="61" dur="1600"/>
                                        <p:tgtEl>
                                          <p:spTgt spid="21"/>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wipe(left)">
                                      <p:cBhvr>
                                        <p:cTn id="64" dur="1600"/>
                                        <p:tgtEl>
                                          <p:spTgt spid="22"/>
                                        </p:tgtEl>
                                      </p:cBhvr>
                                    </p:animEffect>
                                  </p:childTnLst>
                                </p:cTn>
                              </p:par>
                              <p:par>
                                <p:cTn id="68"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600"/>
                                        <p:tgtEl>
                                          <p:spTgt spid="23"/>
                                        </p:tgtEl>
                                      </p:cBhvr>
                                    </p:animEffect>
                                  </p:childTnLst>
                                </p:cTn>
                              </p:par>
                              <p:par>
                                <p:cTn id="71" presetID="10" presetClass="exit" presetSubtype="0" fill="hold" grpId="0" nodeType="withEffect">
                                  <p:stCondLst>
                                    <p:cond delay="0"/>
                                  </p:stCondLst>
                                  <p:childTnLst>
                                    <p:animEffect transition="out" filter="fade">
                                      <p:cBhvr>
                                        <p:cTn id="69" dur="600"/>
                                        <p:tgtEl>
                                          <p:spTgt spid="24"/>
                                        </p:tgtEl>
                                      </p:cBhvr>
                                    </p:animEffect>
                                    <p:set>
                                      <p:cBhvr>
                                        <p:cTn id="70" dur="1" fill="hold">
                                          <p:stCondLst>
                                            <p:cond delay="599"/>
                                          </p:stCondLst>
                                        </p:cTn>
                                        <p:tgtEl>
                                          <p:spTgt spid="24"/>
                                        </p:tgtEl>
                                        <p:attrNameLst>
                                          <p:attrName>style.visibility</p:attrName>
                                        </p:attrNameLst>
                                      </p:cBhvr>
                                      <p:to>
                                        <p:strVal val="hidden"/>
                                      </p:to>
                                    </p:set>
                                  </p:childTnLst>
                                </p:cTn>
                              </p:par>
                              <p:par>
                                <p:cTn id="74" presetID="10" presetClass="exit" presetSubtype="0" fill="hold" grpId="0" nodeType="withEffect">
                                  <p:stCondLst>
                                    <p:cond delay="0"/>
                                  </p:stCondLst>
                                  <p:childTnLst>
                                    <p:animEffect transition="out" filter="fade">
                                      <p:cBhvr>
                                        <p:cTn id="72" dur="600"/>
                                        <p:tgtEl>
                                          <p:spTgt spid="28"/>
                                        </p:tgtEl>
                                      </p:cBhvr>
                                    </p:animEffect>
                                    <p:set>
                                      <p:cBhvr>
                                        <p:cTn id="73" dur="1" fill="hold">
                                          <p:stCondLst>
                                            <p:cond delay="599"/>
                                          </p:stCondLst>
                                        </p:cTn>
                                        <p:tgtEl>
                                          <p:spTgt spid="28"/>
                                        </p:tgtEl>
                                        <p:attrNameLst>
                                          <p:attrName>style.visibility</p:attrName>
                                        </p:attrNameLst>
                                      </p:cBhvr>
                                      <p:to>
                                        <p:strVal val="hidden"/>
                                      </p:to>
                                    </p:set>
                                  </p:childTnLst>
                                </p:cTn>
                              </p:par>
                              <p:par>
                                <p:cTn id="77" presetID="10" presetClass="exit" presetSubtype="0" fill="hold" grpId="0" nodeType="withEffect">
                                  <p:stCondLst>
                                    <p:cond delay="0"/>
                                  </p:stCondLst>
                                  <p:childTnLst>
                                    <p:animEffect transition="out" filter="fade">
                                      <p:cBhvr>
                                        <p:cTn id="75" dur="600"/>
                                        <p:tgtEl>
                                          <p:spTgt spid="29"/>
                                        </p:tgtEl>
                                      </p:cBhvr>
                                    </p:animEffect>
                                    <p:set>
                                      <p:cBhvr>
                                        <p:cTn id="76" dur="1" fill="hold">
                                          <p:stCondLst>
                                            <p:cond delay="599"/>
                                          </p:stCondLst>
                                        </p:cTn>
                                        <p:tgtEl>
                                          <p:spTgt spid="29"/>
                                        </p:tgtEl>
                                        <p:attrNameLst>
                                          <p:attrName>style.visibility</p:attrName>
                                        </p:attrNameLst>
                                      </p:cBhvr>
                                      <p:to>
                                        <p:strVal val="hidden"/>
                                      </p:to>
                                    </p:set>
                                  </p:childTnLst>
                                </p:cTn>
                              </p:par>
                              <p:par>
                                <p:cTn id="79" presetID="1"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childTnLst>
                                </p:cTn>
                              </p:par>
                              <p:par>
                                <p:cTn id="81" presetID="0" presetClass="path" presetSubtype="0" fill="hold" grpId="0" nodeType="withEffect">
                                  <p:stCondLst>
                                    <p:cond delay="0"/>
                                  </p:stCondLst>
                                  <p:childTnLst>
                                    <p:animMotion origin="layout" path="M -0.1741 0.0898 L -0.0857 0.0268 L 0.0000 0.0000 L 0 0 E" pathEditMode="relative" rAng="0" ptsTypes="">
                                      <p:cBhvr>
                                        <p:cTn id="80" dur="1600" fill="hold"/>
                                        <p:tgtEl>
                                          <p:spTgt spid="30"/>
                                        </p:tgtEl>
                                        <p:attrNameLst>
                                          <p:attrName>ppt_x</p:attrName>
                                          <p:attrName>ppt_y</p:attrName>
                                        </p:attrNameLst>
                                      </p:cBhvr>
                                    </p:animMotion>
                                  </p:childTnLst>
                                </p:cTn>
                              </p:par>
                              <p:par>
                                <p:cTn id="83" presetID="1"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childTnLst>
                                </p:cTn>
                              </p:par>
                              <p:par>
                                <p:cTn id="85" presetID="0" presetClass="path" presetSubtype="0" fill="hold" grpId="0" nodeType="withEffect">
                                  <p:stCondLst>
                                    <p:cond delay="0"/>
                                  </p:stCondLst>
                                  <p:childTnLst>
                                    <p:animMotion origin="layout" path="M -0.1304 0.0248 L -0.0512 0.0306 L 0.0000 0.0000 L 0 0 E" pathEditMode="relative" rAng="0" ptsTypes="">
                                      <p:cBhvr>
                                        <p:cTn id="84" dur="1600" fill="hold"/>
                                        <p:tgtEl>
                                          <p:spTgt spid="31"/>
                                        </p:tgtEl>
                                        <p:attrNameLst>
                                          <p:attrName>ppt_x</p:attrName>
                                          <p:attrName>ppt_y</p:attrName>
                                        </p:attrNameLst>
                                      </p:cBhvr>
                                    </p:animMotion>
                                  </p:childTnLst>
                                </p:cTn>
                              </p:par>
                              <p:par>
                                <p:cTn id="87" presetID="1" presetClass="entr" presetSubtype="0" fill="hold" grpId="0" nodeType="withEffect">
                                  <p:stCondLst>
                                    <p:cond delay="0"/>
                                  </p:stCondLst>
                                  <p:childTnLst>
                                    <p:set>
                                      <p:cBhvr>
                                        <p:cTn id="86" dur="1" fill="hold">
                                          <p:stCondLst>
                                            <p:cond delay="0"/>
                                          </p:stCondLst>
                                        </p:cTn>
                                        <p:tgtEl>
                                          <p:spTgt spid="32"/>
                                        </p:tgtEl>
                                        <p:attrNameLst>
                                          <p:attrName>style.visibility</p:attrName>
                                        </p:attrNameLst>
                                      </p:cBhvr>
                                      <p:to>
                                        <p:strVal val="visible"/>
                                      </p:to>
                                    </p:set>
                                  </p:childTnLst>
                                </p:cTn>
                              </p:par>
                              <p:par>
                                <p:cTn id="89" presetID="0" presetClass="path" presetSubtype="0" fill="hold" grpId="0" nodeType="withEffect">
                                  <p:stCondLst>
                                    <p:cond delay="0"/>
                                  </p:stCondLst>
                                  <p:childTnLst>
                                    <p:animMotion origin="layout" path="M -0.2095 0.0707 L -0.1071 0.1090 L -0.0466 0.0612 L 0.0000 0.0000 L 0 0 E" pathEditMode="relative" rAng="0" ptsTypes="">
                                      <p:cBhvr>
                                        <p:cTn id="88" dur="1600" fill="hold"/>
                                        <p:tgtEl>
                                          <p:spTgt spid="3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al-Nujayr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al-Nujayr — the siege</a:t>
            </a:r>
          </a:p>
        </p:txBody>
      </p:sp>
      <p:pic>
        <p:nvPicPr>
          <p:cNvPr id="6" name="map" descr="s06-nujayr-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with Ziyād ؓ, besieges Kinda in the fort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up the main body</a:t>
            </a:r>
          </a:p>
        </p:txBody>
      </p:sp>
      <p:pic>
        <p:nvPicPr>
          <p:cNvPr id="13" name="map territory t_004" descr="s06-nujayr-r1-5-t_004.png"/>
          <p:cNvPicPr>
            <a:picLocks noChangeAspect="1"/>
          </p:cNvPicPr>
          <p:nvPr/>
        </p:nvPicPr>
        <p:blipFill>
          <a:blip r:embed="rId3"/>
          <a:stretch>
            <a:fillRect/>
          </a:stretch>
        </p:blipFill>
        <p:spPr>
          <a:xfrm>
            <a:off x="3578461" y="2864067"/>
            <a:ext cx="1910932" cy="1910932"/>
          </a:xfrm>
          <a:prstGeom prst="rect">
            <a:avLst/>
          </a:prstGeom>
        </p:spPr>
      </p:pic>
      <p:pic>
        <p:nvPicPr>
          <p:cNvPr id="14" name="map arrow a_005" descr="s06-nujayr-r1-5-a_005.png"/>
          <p:cNvPicPr>
            <a:picLocks noChangeAspect="1"/>
          </p:cNvPicPr>
          <p:nvPr/>
        </p:nvPicPr>
        <p:blipFill>
          <a:blip r:embed="rId4"/>
          <a:stretch>
            <a:fillRect/>
          </a:stretch>
        </p:blipFill>
        <p:spPr>
          <a:xfrm>
            <a:off x="699967" y="3041453"/>
            <a:ext cx="2003657" cy="387024"/>
          </a:xfrm>
          <a:prstGeom prst="rect">
            <a:avLst/>
          </a:prstGeom>
        </p:spPr>
      </p:pic>
      <p:pic>
        <p:nvPicPr>
          <p:cNvPr id="15" name="map arrow a_007" descr="s06-nujayr-r1-5-a_007.png"/>
          <p:cNvPicPr>
            <a:picLocks noChangeAspect="1"/>
          </p:cNvPicPr>
          <p:nvPr/>
        </p:nvPicPr>
        <p:blipFill>
          <a:blip r:embed="rId5"/>
          <a:stretch>
            <a:fillRect/>
          </a:stretch>
        </p:blipFill>
        <p:spPr>
          <a:xfrm>
            <a:off x="6460986" y="2827783"/>
            <a:ext cx="1713389" cy="435402"/>
          </a:xfrm>
          <a:prstGeom prst="rect">
            <a:avLst/>
          </a:prstGeom>
        </p:spPr>
      </p:pic>
      <p:pic>
        <p:nvPicPr>
          <p:cNvPr id="16" name="map arrow a_009" descr="s06-nujayr-r1-5-a_009.png"/>
          <p:cNvPicPr>
            <a:picLocks noChangeAspect="1"/>
          </p:cNvPicPr>
          <p:nvPr/>
        </p:nvPicPr>
        <p:blipFill>
          <a:blip r:embed="rId6"/>
          <a:stretch>
            <a:fillRect/>
          </a:stretch>
        </p:blipFill>
        <p:spPr>
          <a:xfrm>
            <a:off x="796723" y="4988669"/>
            <a:ext cx="2535815" cy="657134"/>
          </a:xfrm>
          <a:prstGeom prst="rect">
            <a:avLst/>
          </a:prstGeom>
        </p:spPr>
      </p:pic>
      <p:pic>
        <p:nvPicPr>
          <p:cNvPr id="17" name="map arrow a_012" descr="s06-nujayr-r1-5-a_012.png"/>
          <p:cNvPicPr>
            <a:picLocks noChangeAspect="1"/>
          </p:cNvPicPr>
          <p:nvPr/>
        </p:nvPicPr>
        <p:blipFill>
          <a:blip r:embed="rId7"/>
          <a:stretch>
            <a:fillRect/>
          </a:stretch>
        </p:blipFill>
        <p:spPr>
          <a:xfrm>
            <a:off x="1091023" y="2202900"/>
            <a:ext cx="1612601" cy="1140915"/>
          </a:xfrm>
          <a:prstGeom prst="rect">
            <a:avLst/>
          </a:prstGeom>
        </p:spPr>
      </p:pic>
      <p:pic>
        <p:nvPicPr>
          <p:cNvPr id="18" name="map arrow a_013" descr="s06-nujayr-r1-5-a_013.png"/>
          <p:cNvPicPr>
            <a:picLocks noChangeAspect="1"/>
          </p:cNvPicPr>
          <p:nvPr/>
        </p:nvPicPr>
        <p:blipFill>
          <a:blip r:embed="rId8"/>
          <a:stretch>
            <a:fillRect/>
          </a:stretch>
        </p:blipFill>
        <p:spPr>
          <a:xfrm>
            <a:off x="6460986" y="3085799"/>
            <a:ext cx="1423120" cy="1193324"/>
          </a:xfrm>
          <a:prstGeom prst="rect">
            <a:avLst/>
          </a:prstGeom>
        </p:spPr>
      </p:pic>
      <p:pic>
        <p:nvPicPr>
          <p:cNvPr id="19" name="map arrow a_014" descr="s06-nujayr-r1-5-a_014.png"/>
          <p:cNvPicPr>
            <a:picLocks noChangeAspect="1"/>
          </p:cNvPicPr>
          <p:nvPr/>
        </p:nvPicPr>
        <p:blipFill>
          <a:blip r:embed="rId9"/>
          <a:stretch>
            <a:fillRect/>
          </a:stretch>
        </p:blipFill>
        <p:spPr>
          <a:xfrm>
            <a:off x="3223688" y="5016889"/>
            <a:ext cx="2140728" cy="931277"/>
          </a:xfrm>
          <a:prstGeom prst="rect">
            <a:avLst/>
          </a:prstGeom>
        </p:spPr>
      </p:pic>
      <p:pic>
        <p:nvPicPr>
          <p:cNvPr id="20" name="map battle b_016" descr="s06-nujayr-r1-5-b_016.png"/>
          <p:cNvPicPr>
            <a:picLocks noChangeAspect="1"/>
          </p:cNvPicPr>
          <p:nvPr/>
        </p:nvPicPr>
        <p:blipFill>
          <a:blip r:embed="rId10"/>
          <a:stretch>
            <a:fillRect/>
          </a:stretch>
        </p:blipFill>
        <p:spPr>
          <a:xfrm>
            <a:off x="3429295" y="4013045"/>
            <a:ext cx="854678" cy="774048"/>
          </a:xfrm>
          <a:prstGeom prst="rect">
            <a:avLst/>
          </a:prstGeom>
        </p:spPr>
      </p:pic>
      <p:pic>
        <p:nvPicPr>
          <p:cNvPr id="21" name="map army al-Muhājir ؓ" descr="s06-nujayr-r1-5-a_006.png"/>
          <p:cNvPicPr>
            <a:picLocks noChangeAspect="1"/>
          </p:cNvPicPr>
          <p:nvPr/>
        </p:nvPicPr>
        <p:blipFill>
          <a:blip r:embed="rId11"/>
          <a:stretch>
            <a:fillRect/>
          </a:stretch>
        </p:blipFill>
        <p:spPr>
          <a:xfrm>
            <a:off x="2312569" y="2549610"/>
            <a:ext cx="2273768" cy="854678"/>
          </a:xfrm>
          <a:prstGeom prst="rect">
            <a:avLst/>
          </a:prstGeom>
        </p:spPr>
      </p:pic>
      <p:pic>
        <p:nvPicPr>
          <p:cNvPr id="22" name="map army Ziyād b. Labīd ؓ" descr="s06-nujayr-r1-5-a_008.png"/>
          <p:cNvPicPr>
            <a:picLocks noChangeAspect="1"/>
          </p:cNvPicPr>
          <p:nvPr/>
        </p:nvPicPr>
        <p:blipFill>
          <a:blip r:embed="rId12"/>
          <a:stretch>
            <a:fillRect/>
          </a:stretch>
        </p:blipFill>
        <p:spPr>
          <a:xfrm>
            <a:off x="5642591" y="2049703"/>
            <a:ext cx="1785956" cy="1209450"/>
          </a:xfrm>
          <a:prstGeom prst="rect">
            <a:avLst/>
          </a:prstGeom>
        </p:spPr>
      </p:pic>
      <p:pic>
        <p:nvPicPr>
          <p:cNvPr id="23" name="map army ʿIkrima ؓ" descr="s06-nujayr-r1-5-a_010.png"/>
          <p:cNvPicPr>
            <a:picLocks noChangeAspect="1"/>
          </p:cNvPicPr>
          <p:nvPr/>
        </p:nvPicPr>
        <p:blipFill>
          <a:blip r:embed="rId13"/>
          <a:stretch>
            <a:fillRect/>
          </a:stretch>
        </p:blipFill>
        <p:spPr>
          <a:xfrm>
            <a:off x="2941483" y="4339597"/>
            <a:ext cx="1923027" cy="854678"/>
          </a:xfrm>
          <a:prstGeom prst="rect">
            <a:avLst/>
          </a:prstGeom>
        </p:spPr>
      </p:pic>
      <p:pic>
        <p:nvPicPr>
          <p:cNvPr id="24" name="map label the siege grows hard" descr="s06-nujayr-r1-5-l_011.png"/>
          <p:cNvPicPr>
            <a:picLocks noChangeAspect="1"/>
          </p:cNvPicPr>
          <p:nvPr/>
        </p:nvPicPr>
        <p:blipFill>
          <a:blip r:embed="rId14"/>
          <a:stretch>
            <a:fillRect/>
          </a:stretch>
        </p:blipFill>
        <p:spPr>
          <a:xfrm>
            <a:off x="4727439" y="5020921"/>
            <a:ext cx="2757548" cy="338646"/>
          </a:xfrm>
          <a:prstGeom prst="rect">
            <a:avLst/>
          </a:prstGeom>
        </p:spPr>
      </p:pic>
      <p:pic>
        <p:nvPicPr>
          <p:cNvPr id="25" name="map label raiding parties" descr="s06-nujayr-r1-5-l_015.png"/>
          <p:cNvPicPr>
            <a:picLocks noChangeAspect="1"/>
          </p:cNvPicPr>
          <p:nvPr/>
        </p:nvPicPr>
        <p:blipFill>
          <a:blip r:embed="rId15"/>
          <a:stretch>
            <a:fillRect/>
          </a:stretch>
        </p:blipFill>
        <p:spPr>
          <a:xfrm>
            <a:off x="4316226" y="2468980"/>
            <a:ext cx="2003657" cy="338646"/>
          </a:xfrm>
          <a:prstGeom prst="rect">
            <a:avLst/>
          </a:prstGeom>
        </p:spPr>
      </p:pic>
      <p:pic>
        <p:nvPicPr>
          <p:cNvPr id="26" name="map label they come out — and go back in" descr="s06-nujayr-r1-5-l_017.png"/>
          <p:cNvPicPr>
            <a:picLocks noChangeAspect="1"/>
          </p:cNvPicPr>
          <p:nvPr/>
        </p:nvPicPr>
        <p:blipFill>
          <a:blip r:embed="rId16"/>
          <a:stretch>
            <a:fillRect/>
          </a:stretch>
        </p:blipFill>
        <p:spPr>
          <a:xfrm>
            <a:off x="3876792" y="5020921"/>
            <a:ext cx="4124228"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0" fill="hold">
                      <p:stCondLst>
                        <p:cond delay="indefinite"/>
                      </p:stCondLst>
                      <p:childTnLst>
                        <p:par>
                          <p:cTn id="21"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3"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1548 -0.0212 L -0.0794 -0.0212 L 0.0000 0.0000 L 0 0 E" pathEditMode="relative" rAng="0" ptsTypes="">
                                      <p:cBhvr>
                                        <p:cTn id="14" dur="1600" fill="hold"/>
                                        <p:tgtEl>
                                          <p:spTgt spid="21"/>
                                        </p:tgtEl>
                                        <p:attrNameLst>
                                          <p:attrName>ppt_x</p:attrName>
                                          <p:attrName>ppt_y</p:attrName>
                                        </p:attrNameLst>
                                      </p:cBhvr>
                                    </p:animMotion>
                                  </p:childTnLst>
                                </p:cTn>
                              </p:par>
                              <p:par>
                                <p:cTn id="17"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9" presetID="0" presetClass="path" presetSubtype="0" fill="hold" grpId="0" nodeType="withEffect">
                                  <p:stCondLst>
                                    <p:cond delay="0"/>
                                  </p:stCondLst>
                                  <p:childTnLst>
                                    <p:animMotion origin="layout" path="M 0.1309 -0.0353 L 0.0675 -0.0282 L 0.0000 0.0000 L 0 0 E" pathEditMode="relative" rAng="0" ptsTypes="">
                                      <p:cBhvr>
                                        <p:cTn id="18" dur="1600" fill="hold"/>
                                        <p:tgtEl>
                                          <p:spTgt spid="22"/>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24" presetID="22" presetClass="entr" presetSubtype="8"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wipe(left)">
                                      <p:cBhvr>
                                        <p:cTn id="23" dur="1600"/>
                                        <p:tgtEl>
                                          <p:spTgt spid="16"/>
                                        </p:tgtEl>
                                      </p:cBhvr>
                                    </p:animEffect>
                                  </p:childTnLst>
                                </p:cTn>
                              </p:par>
                              <p:par>
                                <p:cTn id="26"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8" presetID="0" presetClass="path" presetSubtype="0" fill="hold" grpId="0" nodeType="withEffect">
                                  <p:stCondLst>
                                    <p:cond delay="0"/>
                                  </p:stCondLst>
                                  <p:childTnLst>
                                    <p:animMotion origin="layout" path="M -0.1984 0.0705 L -0.1032 0.0564 L 0.0000 0.0000 L 0 0 E" pathEditMode="relative" rAng="0" ptsTypes="">
                                      <p:cBhvr>
                                        <p:cTn id="27" dur="1600" fill="hold"/>
                                        <p:tgtEl>
                                          <p:spTgt spid="23"/>
                                        </p:tgtEl>
                                        <p:attrNameLst>
                                          <p:attrName>ppt_x</p:attrName>
                                          <p:attrName>ppt_y</p:attrName>
                                        </p:attrNameLst>
                                      </p:cBhvr>
                                    </p:animMotion>
                                  </p:childTnLst>
                                </p:cTn>
                              </p:par>
                              <p:par>
                                <p:cTn id="31"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600"/>
                                        <p:tgtEl>
                                          <p:spTgt spid="24"/>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right)">
                                      <p:cBhvr>
                                        <p:cTn id="35" dur="1600"/>
                                        <p:tgtEl>
                                          <p:spTgt spid="17"/>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wipe(left)">
                                      <p:cBhvr>
                                        <p:cTn id="38" dur="1600"/>
                                        <p:tgtEl>
                                          <p:spTgt spid="18"/>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wipe(left)">
                                      <p:cBhvr>
                                        <p:cTn id="41" dur="1600"/>
                                        <p:tgtEl>
                                          <p:spTgt spid="19"/>
                                        </p:tgtEl>
                                      </p:cBhvr>
                                    </p:animEffect>
                                  </p:childTnLst>
                                </p:cTn>
                              </p:par>
                              <p:par>
                                <p:cTn id="45" presetID="10" presetClass="exit" presetSubtype="0" fill="hold" grpId="0" nodeType="withEffect">
                                  <p:stCondLst>
                                    <p:cond delay="0"/>
                                  </p:stCondLst>
                                  <p:childTnLst>
                                    <p:animEffect transition="out" filter="fade">
                                      <p:cBhvr>
                                        <p:cTn id="43" dur="600"/>
                                        <p:tgtEl>
                                          <p:spTgt spid="24"/>
                                        </p:tgtEl>
                                      </p:cBhvr>
                                    </p:animEffect>
                                    <p:set>
                                      <p:cBhvr>
                                        <p:cTn id="44" dur="1" fill="hold">
                                          <p:stCondLst>
                                            <p:cond delay="599"/>
                                          </p:stCondLst>
                                        </p:cTn>
                                        <p:tgtEl>
                                          <p:spTgt spid="24"/>
                                        </p:tgtEl>
                                        <p:attrNameLst>
                                          <p:attrName>style.visibility</p:attrName>
                                        </p:attrNameLst>
                                      </p:cBhvr>
                                      <p:to>
                                        <p:strVal val="hidden"/>
                                      </p:to>
                                    </p:set>
                                  </p:childTnLst>
                                </p:cTn>
                              </p:par>
                              <p:par>
                                <p:cTn id="48"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par>
                    <p:cTn id="69" fill="hold">
                      <p:stCondLst>
                        <p:cond delay="indefinite"/>
                      </p:stCondLst>
                      <p:childTnLst>
                        <p:par>
                          <p:cTn id="70" fill="hold">
                            <p:stCondLst>
                              <p:cond delay="0"/>
                            </p:stCondLst>
                            <p:childTnLst>
                              <p:par>
                                <p:cTn id="53" presetID="10" presetClass="exit" presetSubtype="0" fill="hold" grpId="0" nodeType="clickEffect">
                                  <p:stCondLst>
                                    <p:cond delay="0"/>
                                  </p:stCondLst>
                                  <p:childTnLst>
                                    <p:animEffect transition="out" filter="fade">
                                      <p:cBhvr>
                                        <p:cTn id="51" dur="600"/>
                                        <p:tgtEl>
                                          <p:spTgt spid="17"/>
                                        </p:tgtEl>
                                      </p:cBhvr>
                                    </p:animEffect>
                                    <p:set>
                                      <p:cBhvr>
                                        <p:cTn id="52" dur="1" fill="hold">
                                          <p:stCondLst>
                                            <p:cond delay="599"/>
                                          </p:stCondLst>
                                        </p:cTn>
                                        <p:tgtEl>
                                          <p:spTgt spid="17"/>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18"/>
                                        </p:tgtEl>
                                      </p:cBhvr>
                                    </p:animEffect>
                                    <p:set>
                                      <p:cBhvr>
                                        <p:cTn id="55" dur="1" fill="hold">
                                          <p:stCondLst>
                                            <p:cond delay="599"/>
                                          </p:stCondLst>
                                        </p:cTn>
                                        <p:tgtEl>
                                          <p:spTgt spid="18"/>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19"/>
                                        </p:tgtEl>
                                      </p:cBhvr>
                                    </p:animEffect>
                                    <p:set>
                                      <p:cBhvr>
                                        <p:cTn id="58" dur="1" fill="hold">
                                          <p:stCondLst>
                                            <p:cond delay="599"/>
                                          </p:stCondLst>
                                        </p:cTn>
                                        <p:tgtEl>
                                          <p:spTgt spid="19"/>
                                        </p:tgtEl>
                                        <p:attrNameLst>
                                          <p:attrName>style.visibility</p:attrName>
                                        </p:attrNameLst>
                                      </p:cBhvr>
                                      <p:to>
                                        <p:strVal val="hidden"/>
                                      </p:to>
                                    </p:set>
                                  </p:childTnLst>
                                </p:cTn>
                              </p:par>
                              <p:par>
                                <p:cTn id="62"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600"/>
                                        <p:tgtEl>
                                          <p:spTgt spid="20"/>
                                        </p:tgtEl>
                                      </p:cBhvr>
                                    </p:animEffect>
                                  </p:childTnLst>
                                </p:cTn>
                              </p:par>
                              <p:par>
                                <p:cTn id="65" presetID="10" presetClass="exit" presetSubtype="0" fill="hold" grpId="0" nodeType="withEffect">
                                  <p:stCondLst>
                                    <p:cond delay="0"/>
                                  </p:stCondLst>
                                  <p:childTnLst>
                                    <p:animEffect transition="out" filter="fade">
                                      <p:cBhvr>
                                        <p:cTn id="63" dur="600"/>
                                        <p:tgtEl>
                                          <p:spTgt spid="25"/>
                                        </p:tgtEl>
                                      </p:cBhvr>
                                    </p:animEffect>
                                    <p:set>
                                      <p:cBhvr>
                                        <p:cTn id="64" dur="1" fill="hold">
                                          <p:stCondLst>
                                            <p:cond delay="599"/>
                                          </p:stCondLst>
                                        </p:cTn>
                                        <p:tgtEl>
                                          <p:spTgt spid="25"/>
                                        </p:tgtEl>
                                        <p:attrNameLst>
                                          <p:attrName>style.visibility</p:attrName>
                                        </p:attrNameLst>
                                      </p:cBhvr>
                                      <p:to>
                                        <p:strVal val="hidden"/>
                                      </p:to>
                                    </p:set>
                                  </p:childTnLst>
                                </p:cTn>
                              </p:par>
                              <p:par>
                                <p:cTn id="68"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and Jaḥdam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al-Nujayr. al-Ashʿath writes the names of the men to be spared.</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وَنَسِيَ الْأَشْعَثُ أَنْ يَكْتُبَ نَفْسَهُ لِأَنَّ جَحْدَمًا وَثَبَ عَلَيْهِ بِسِكِّينٍ، فَقَالَ: تَكْتُبُنِي أَوْ أَقْتُلُكَ؟</a:t>
            </a:r>
          </a:p>
        </p:txBody>
      </p:sp>
      <p:sp>
        <p:nvSpPr>
          <p:cNvPr id="8" name="part-en"/>
          <p:cNvSpPr txBox="1"/>
          <p:nvPr/>
        </p:nvSpPr>
        <p:spPr>
          <a:xfrm>
            <a:off x="566928" y="3122676"/>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Al-Ashʿath forgot to write himself in, because Jaḥdam leapt at him with a knife and said: Will you write me in, or shall I kill you?</a:t>
            </a:r>
          </a:p>
        </p:txBody>
      </p:sp>
      <p:sp>
        <p:nvSpPr>
          <p:cNvPr id="9" name="part-ar"/>
          <p:cNvSpPr txBox="1"/>
          <p:nvPr/>
        </p:nvSpPr>
        <p:spPr>
          <a:xfrm>
            <a:off x="566928" y="407974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فَكَتَبَهُ وَنَسِيَ نَفْسَهُ</a:t>
            </a:r>
          </a:p>
        </p:txBody>
      </p:sp>
      <p:sp>
        <p:nvSpPr>
          <p:cNvPr id="10" name="part-en"/>
          <p:cNvSpPr txBox="1"/>
          <p:nvPr/>
        </p:nvSpPr>
        <p:spPr>
          <a:xfrm>
            <a:off x="566928" y="4802124"/>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he wrote him in, and forgot himself.</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writing</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2.trim.png"/>
          <p:cNvPicPr>
            <a:picLocks noChangeAspect="1"/>
          </p:cNvPicPr>
          <p:nvPr/>
        </p:nvPicPr>
        <p:blipFill>
          <a:blip r:embed="rId2"/>
          <a:stretch>
            <a:fillRect/>
          </a:stretch>
        </p:blipFill>
        <p:spPr>
          <a:xfrm>
            <a:off x="566928" y="2675273"/>
            <a:ext cx="11057839" cy="2385278"/>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opened to Ziyād ؓ and al-Muhājir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sent to Medina in bonds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and after (12 AH → years later)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al-Ashʿath,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al-Ashʿath, in bonds, argues that the truce covers him.</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 إِنَّمَا وَجَبَ الصُّلْحُ بَعْدَ خَتْمِ الصَّحِيفَةِ عَلَى مَنْ فِيهَا</a:t>
            </a:r>
          </a:p>
        </p:txBody>
      </p:sp>
      <p:sp>
        <p:nvSpPr>
          <p:cNvPr id="8" name="part-en"/>
          <p:cNvSpPr txBox="1"/>
          <p:nvPr/>
        </p:nvSpPr>
        <p:spPr>
          <a:xfrm>
            <a:off x="566928" y="29596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The peace became binding, once the document was sealed, only on those named in it</a:t>
            </a:r>
          </a:p>
        </p:txBody>
      </p:sp>
      <p:sp>
        <p:nvSpPr>
          <p:cNvPr id="9" name="part-ar"/>
          <p:cNvSpPr txBox="1"/>
          <p:nvPr/>
        </p:nvSpPr>
        <p:spPr>
          <a:xfrm>
            <a:off x="566928" y="41767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وَإِنَّمَا كُنْتَ قَبْلَ ذَلِكَ مُرَاوِضًا.</a:t>
            </a:r>
          </a:p>
        </p:txBody>
      </p:sp>
      <p:sp>
        <p:nvSpPr>
          <p:cNvPr id="10" name="part-en"/>
          <p:cNvSpPr txBox="1"/>
          <p:nvPr/>
        </p:nvSpPr>
        <p:spPr>
          <a:xfrm>
            <a:off x="566928" y="50515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before that you were only negotiating.</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al-Ashʿath</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Pardoned, and married to Abū Bakr's ؓ sister.</a:t>
            </a:r>
          </a:p>
        </p:txBody>
      </p:sp>
      <p:sp>
        <p:nvSpPr>
          <p:cNvPr id="7" name="part-ar"/>
          <p:cNvSpPr txBox="1"/>
          <p:nvPr/>
        </p:nvSpPr>
        <p:spPr>
          <a:xfrm>
            <a:off x="566928" y="2170937"/>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وَاللهِ مَا كَفَرْتُ؛ وَلَكِنَّ هَذَا الرَّجُلَ زَوَّجَنِي أُخْتَهُ</a:t>
            </a:r>
          </a:p>
        </p:txBody>
      </p:sp>
      <p:sp>
        <p:nvSpPr>
          <p:cNvPr id="8" name="part-en"/>
          <p:cNvSpPr txBox="1"/>
          <p:nvPr/>
        </p:nvSpPr>
        <p:spPr>
          <a:xfrm>
            <a:off x="566928" y="3045713"/>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By God, I have not disbelieved. This man has married his sister to me</a:t>
            </a:r>
          </a:p>
        </p:txBody>
      </p:sp>
      <p:sp>
        <p:nvSpPr>
          <p:cNvPr id="9" name="part-ar"/>
          <p:cNvSpPr txBox="1"/>
          <p:nvPr/>
        </p:nvSpPr>
        <p:spPr>
          <a:xfrm>
            <a:off x="566928" y="3694429"/>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وَلَو كُنَّا فِي بِلاَدِنَا لَكَانَتْ لَنَا وَلِيْمَةٌ غَيْرُ هَذِهِ</a:t>
            </a:r>
          </a:p>
        </p:txBody>
      </p:sp>
      <p:sp>
        <p:nvSpPr>
          <p:cNvPr id="10" name="part-en"/>
          <p:cNvSpPr txBox="1"/>
          <p:nvPr/>
        </p:nvSpPr>
        <p:spPr>
          <a:xfrm>
            <a:off x="566928" y="4569205"/>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had we been in our own country we would have had a wedding feast other than this one.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part-ar"/>
          <p:cNvSpPr txBox="1"/>
          <p:nvPr/>
        </p:nvSpPr>
        <p:spPr>
          <a:xfrm>
            <a:off x="566928" y="2251964"/>
            <a:ext cx="11057839" cy="17129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أَهْلَ المَدِيْنَةِ، انْحَرُوا، وَكُلُوا! وَيَا أَهْلَ الإِبِلِ تَعَالَوْا خُذُوا شَرْوَاهَا!</a:t>
            </a:r>
          </a:p>
        </p:txBody>
      </p:sp>
      <p:sp>
        <p:nvSpPr>
          <p:cNvPr id="7" name="part-en"/>
          <p:cNvSpPr txBox="1"/>
          <p:nvPr/>
        </p:nvSpPr>
        <p:spPr>
          <a:xfrm>
            <a:off x="566928" y="39649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People of Medina — slaughter and eat! And owners of the camels, come and take the like of them!</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Three men who had once turned, now in the army.</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ولقد اتهمنا ثلاثةَ نفرٍ</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did suspect three men</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فما رأينا كما هجمنا عليهم من أمانتهم وزهدهم:</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when we came upon them we found nothing to match their trustworthiness and their abstinence: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طُلَيْحة بن خوَيْلد الأسدي، وعَمْرو بن معدي كرب، وقيس بن المكشوح.</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Ṭulayḥa b. Khuwaylid al-Asadī, ʿAmr b. Maʿdī Karib, and Qays b. al-Makshūḥ.</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and Jarīr b. ʿAbd Allāh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funeral, years later. al-Ashʿath ؓ steps back for Jarīr ؓ.</a:t>
            </a:r>
          </a:p>
        </p:txBody>
      </p:sp>
      <p:sp>
        <p:nvSpPr>
          <p:cNvPr id="7" name="TextBox 6"/>
          <p:cNvSpPr txBox="1"/>
          <p:nvPr/>
        </p:nvSpPr>
        <p:spPr>
          <a:xfrm>
            <a:off x="566928" y="26349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8" name="Rectangle 7"/>
          <p:cNvSpPr/>
          <p:nvPr/>
        </p:nvSpPr>
        <p:spPr>
          <a:xfrm>
            <a:off x="566928" y="40660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769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of Jarīr b. ʿAbd Allāh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3.trim.png"/>
          <p:cNvPicPr>
            <a:picLocks noChangeAspect="1"/>
          </p:cNvPicPr>
          <p:nvPr/>
        </p:nvPicPr>
        <p:blipFill>
          <a:blip r:embed="rId2"/>
          <a:stretch>
            <a:fillRect/>
          </a:stretch>
        </p:blipFill>
        <p:spPr>
          <a:xfrm>
            <a:off x="566928" y="2510209"/>
            <a:ext cx="11057839" cy="2715405"/>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colour, in two years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al-Ashʿath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pardoned by Abū Bakr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Thaqīf, Najrān, the Azd: who did not break away (11 AH)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same months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Najrān, the Azd</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then Ḥaḍramawt: front after front</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same months — al-Ṭāʾif, Najrān, Oman</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question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who did not break — and why?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al-Ṭāʾif</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at al-Ṭāʾif</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al-Ṭāʾif. They had been Muslim for only two years.</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وقد كانت ثقيفُ بالطائف ثَبَتوا على الإسلام</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Thaqīf at Ṭāʾif had stood firm upon Islam:</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لم يفرُّوا ولا ارتدّوا</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they did not flee and they did not apostatise.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Thaqīf</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Najrān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Najrān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While Muslim tribes broke their word, a Christian community came to renew its own.</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أَرْسَلُوا وَفْدًا لِيُجَدِّدُوا عَهْدَهُمْ مَعَ أَبِي بَكْرٍ</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They sent a delegation to renew their covenant with Abū Bakr</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فَكَتَبَ بِذَلِكَ كِتَابًا</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wrote a document to that effect.</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Najrān</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Banū Tamīm</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Banū Tamīm — three answers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One tribe, in one month.</a:t>
            </a:r>
          </a:p>
        </p:txBody>
      </p:sp>
      <p:sp>
        <p:nvSpPr>
          <p:cNvPr id="7" name="part-ar"/>
          <p:cNvSpPr txBox="1"/>
          <p:nvPr/>
        </p:nvSpPr>
        <p:spPr>
          <a:xfrm>
            <a:off x="566928" y="313080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كانت بنو تميم قد اختلفتْ أراؤُهم أيام الرِّدَّة</a:t>
            </a:r>
          </a:p>
        </p:txBody>
      </p:sp>
      <p:sp>
        <p:nvSpPr>
          <p:cNvPr id="8" name="part-en"/>
          <p:cNvSpPr txBox="1"/>
          <p:nvPr/>
        </p:nvSpPr>
        <p:spPr>
          <a:xfrm>
            <a:off x="566928" y="4005580"/>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 views of Banū Tamīm differed in the days of the ridda:</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Banū Tamīm</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Banū Tamīm</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Banū Tamīm — three answers</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فمنهم من ارتدَّ ومنعَ الزكاة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some of them apostatised and withheld the zakāt</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ومنهم منْ بعثَ بأموالِ الصَّدقات إلى الصدِّيق</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some of them sent the ṣadaqa monies to al-Ṣiddīq</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ومنهم من توقف لينظر في أمره.</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some of them held back to see how the matter would go.</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Banū Tamīm</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tribes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of the men who refused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men who withheld the zakāt, in their own words.</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أطعنَا رسولَ اللهِ إذْ كانَ بَيْننا</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obeyed the Messenger of Allah while he was among us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فواعَجَبًا ما بَالُ مُلْكِ أبي بَكْرِ</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how strange: what is this about the rule of Abū Bakr?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verse of the tribes that refused, as Ibn Kathīr records it</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Oman and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 Medina, and Oman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Azd of Oman — kin to the Anṣār of Medina.</a:t>
            </a:r>
          </a:p>
        </p:txBody>
      </p:sp>
      <p:sp>
        <p:nvSpPr>
          <p:cNvPr id="7" name="part-ar"/>
          <p:cNvSpPr txBox="1"/>
          <p:nvPr/>
        </p:nvSpPr>
        <p:spPr>
          <a:xfrm>
            <a:off x="566928" y="232409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فنبغَ فيهم رجلٌ يقالَ له: ذو التاج لَقيطُ بن مالك الأَزدي</a:t>
            </a:r>
          </a:p>
        </p:txBody>
      </p:sp>
      <p:sp>
        <p:nvSpPr>
          <p:cNvPr id="8" name="part-en"/>
          <p:cNvSpPr txBox="1"/>
          <p:nvPr/>
        </p:nvSpPr>
        <p:spPr>
          <a:xfrm>
            <a:off x="566928" y="3122675"/>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There arose among them a man called Dhū al-Tāj, Laqīṭ b. Mālik al-Azdī</a:t>
            </a:r>
          </a:p>
        </p:txBody>
      </p:sp>
      <p:sp>
        <p:nvSpPr>
          <p:cNvPr id="9" name="part-ar"/>
          <p:cNvSpPr txBox="1"/>
          <p:nvPr/>
        </p:nvSpPr>
        <p:spPr>
          <a:xfrm>
            <a:off x="566928" y="368350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وكان يُسَمَّى في الجاهلية الجُلَنْدَى، فادّعى النُّبوَّة أيضًا</a:t>
            </a:r>
          </a:p>
        </p:txBody>
      </p:sp>
      <p:sp>
        <p:nvSpPr>
          <p:cNvPr id="10" name="part-en"/>
          <p:cNvSpPr txBox="1"/>
          <p:nvPr/>
        </p:nvSpPr>
        <p:spPr>
          <a:xfrm>
            <a:off x="566928" y="448208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who used to be called al-Julandā in the Jāhiliyya — and he too claimed prophethood.</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Oman</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Medina, 12 AH: Ibn Kathīr and Ibn Masʿūd ؓ on the whole war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whole peninsula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Kathīr, on the whole war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Kathīr has finished telling the war. He stops, and says what it was.</a:t>
            </a:r>
          </a:p>
        </p:txBody>
      </p:sp>
      <p:sp>
        <p:nvSpPr>
          <p:cNvPr id="7" name="part-ar"/>
          <p:cNvSpPr txBox="1"/>
          <p:nvPr/>
        </p:nvSpPr>
        <p:spPr>
          <a:xfrm>
            <a:off x="566928" y="22021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ما من ناحية من جزيرة العرب إلا وحصلَ في أهلها ردَّةٌ لبعض الناس</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There was no region of the Arabian peninsula in which apostasy did not occur among some of its people</a:t>
            </a:r>
          </a:p>
        </p:txBody>
      </p:sp>
      <p:sp>
        <p:nvSpPr>
          <p:cNvPr id="9" name="part-ar"/>
          <p:cNvSpPr txBox="1"/>
          <p:nvPr/>
        </p:nvSpPr>
        <p:spPr>
          <a:xfrm>
            <a:off x="566928" y="38816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فبعثَ الصدِّيقُ إليهم جيوشًا وأمراء يكونون عونًا لمن في تلك الناحية من المؤمنين</a:t>
            </a:r>
          </a:p>
        </p:txBody>
      </p:sp>
      <p:sp>
        <p:nvSpPr>
          <p:cNvPr id="10" name="part-en"/>
          <p:cNvSpPr txBox="1"/>
          <p:nvPr/>
        </p:nvSpPr>
        <p:spPr>
          <a:xfrm>
            <a:off x="566928" y="46040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al-Ṣiddīq sent them armies and commanders to be a support to whichever believers were in that region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summing up the war</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al-Athīr opens his whole chapter on the war with these words.</a:t>
            </a:r>
          </a:p>
        </p:txBody>
      </p:sp>
      <p:sp>
        <p:nvSpPr>
          <p:cNvPr id="7" name="part-ar"/>
          <p:cNvSpPr txBox="1"/>
          <p:nvPr/>
        </p:nvSpPr>
        <p:spPr>
          <a:xfrm>
            <a:off x="566928" y="2080259"/>
            <a:ext cx="11057839" cy="14081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لَقَدْ قُمْنَا بَعْدَ رَسُولِ اللَّهِ - صَلَّى اللَّهُ عَلَيْهِ وَسَلَّمَ - مَقَامًا كِدْنَا نَهْلِكُ فِيهِ، لَوْلَا أَنَّ اللَّهَ مَنَّ عَلَيْنَا بِأَبِي بَكْرٍ</a:t>
            </a:r>
          </a:p>
        </p:txBody>
      </p:sp>
      <p:sp>
        <p:nvSpPr>
          <p:cNvPr id="8" name="part-en"/>
          <p:cNvSpPr txBox="1"/>
          <p:nvPr/>
        </p:nvSpPr>
        <p:spPr>
          <a:xfrm>
            <a:off x="566928" y="348843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Traditional Arabic"/>
              </a:rPr>
              <a:t>We stood, after the Messenger of Allah ﷺ, in a position in which we nearly perished, had Allah not favoured us with Abū Bakr.</a:t>
            </a:r>
          </a:p>
        </p:txBody>
      </p:sp>
      <p:sp>
        <p:nvSpPr>
          <p:cNvPr id="9" name="part-ar"/>
          <p:cNvSpPr txBox="1"/>
          <p:nvPr/>
        </p:nvSpPr>
        <p:spPr>
          <a:xfrm>
            <a:off x="566928" y="439978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أَجْمَعْنَا عَلَى أَنْ لَا نُقَاتِلَ عَلَى ابْنَةِ مَخَاضٍ وَابْنَةِ لَبُون</a:t>
            </a:r>
          </a:p>
        </p:txBody>
      </p:sp>
      <p:sp>
        <p:nvSpPr>
          <p:cNvPr id="10" name="part-en"/>
          <p:cNvSpPr txBox="1"/>
          <p:nvPr/>
        </p:nvSpPr>
        <p:spPr>
          <a:xfrm>
            <a:off x="566928" y="5122163"/>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We had agreed not to fight over a bint makhāḍ or a bint labūn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who was given command — and who was not.</a:t>
            </a:r>
          </a:p>
        </p:txBody>
      </p:sp>
      <p:sp>
        <p:nvSpPr>
          <p:cNvPr id="7" name="part-ar"/>
          <p:cNvSpPr txBox="1"/>
          <p:nvPr/>
        </p:nvSpPr>
        <p:spPr>
          <a:xfrm>
            <a:off x="566928" y="212597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لَا أَسْتَعْمِلُ أَهْلَ بَدْرٍ، أَدَعُهُمْ حَتَّى يَلْقَوُا اللَّهَ بِصَالِحِ أَعْمَالِهِمْ</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 do not put the men of Badr into office. I leave them so they may meet Allah with their good deeds</a:t>
            </a:r>
          </a:p>
        </p:txBody>
      </p:sp>
      <p:sp>
        <p:nvSpPr>
          <p:cNvPr id="9" name="part-ar"/>
          <p:cNvSpPr txBox="1"/>
          <p:nvPr/>
        </p:nvSpPr>
        <p:spPr>
          <a:xfrm>
            <a:off x="566928" y="388162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فَإِنَّ اللَّهَ يَدْفَعُ بِهِمْ وَبِالصَّالِحِينَ أَكْثَرَ مِمَّا يَنْتَصِرُ بِهِمْ.</a:t>
            </a:r>
          </a:p>
        </p:txBody>
      </p:sp>
      <p:sp>
        <p:nvSpPr>
          <p:cNvPr id="10" name="part-en"/>
          <p:cNvSpPr txBox="1"/>
          <p:nvPr/>
        </p:nvSpPr>
        <p:spPr>
          <a:xfrm>
            <a:off x="566928" y="46802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for Allah wards off by them and by the righteous more than He gives victory through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وَكَانَ عُمَرُ يَرَى اسْتِعْمَالَهُمْ عَلَى الْجُنْدِ وَغَيْرِهِ.</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ʿUmar held that they should be employed over the troops and otherwise.</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Dhū al-Qaṣṣa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 from Dhū al-Qaṣṣa</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Eleven plain cloth banners on spear-shafts, planted upright in a row on open stony ground at first light, each a different muted colour, stirring slightly in the wind; a low line of dark hills behind. Nothing else on the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tied by Abū Bakr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 the captives bought back</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the captives of these wars are still held.</a:t>
            </a:r>
          </a:p>
        </p:txBody>
      </p:sp>
      <p:sp>
        <p:nvSpPr>
          <p:cNvPr id="7" name="TextBox 6"/>
          <p:cNvSpPr txBox="1"/>
          <p:nvPr/>
        </p:nvSpPr>
        <p:spPr>
          <a:xfrm>
            <a:off x="566928" y="23873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إِنَّهُ لَقَبِيحٌ بِالْعَرَبِ أَنْ يَمْلِكَ بَعْضُهُمْ بَعْضًا</a:t>
            </a:r>
          </a:p>
        </p:txBody>
      </p:sp>
      <p:sp>
        <p:nvSpPr>
          <p:cNvPr id="8" name="Rectangle 7"/>
          <p:cNvSpPr/>
          <p:nvPr/>
        </p:nvSpPr>
        <p:spPr>
          <a:xfrm>
            <a:off x="566928" y="3818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1292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 shameful thing for the Arabs that some of them should own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ʿUmar ؓ, as caliph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sent by Abū Bakr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every sector settled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Ibn Khaldūn: why Arabia did not break again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Seven centuries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Khaldūn — as he reads it</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 historian, seven centuries later, asks how it was possible.</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أنّ الصّبغة الدّينيّة تذهب بالتنافس والتّحاسد الّذي في أهل العصبيّة</a:t>
            </a:r>
          </a:p>
        </p:txBody>
      </p:sp>
      <p:sp>
        <p:nvSpPr>
          <p:cNvPr id="8" name="part-en"/>
          <p:cNvSpPr txBox="1"/>
          <p:nvPr/>
        </p:nvSpPr>
        <p:spPr>
          <a:xfrm>
            <a:off x="566928" y="29596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Traditional Arabic"/>
              </a:rPr>
              <a:t>the religious colouring takes away the rivalry and mutual envy that are in people of عصبية</a:t>
            </a:r>
          </a:p>
        </p:txBody>
      </p:sp>
      <p:sp>
        <p:nvSpPr>
          <p:cNvPr id="9" name="part-ar"/>
          <p:cNvSpPr txBox="1"/>
          <p:nvPr/>
        </p:nvSpPr>
        <p:spPr>
          <a:xfrm>
            <a:off x="566928" y="41767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وتفرد الوجهة إلى الحق</a:t>
            </a:r>
          </a:p>
        </p:txBody>
      </p:sp>
      <p:sp>
        <p:nvSpPr>
          <p:cNvPr id="10" name="part-en"/>
          <p:cNvSpPr txBox="1"/>
          <p:nvPr/>
        </p:nvSpPr>
        <p:spPr>
          <a:xfrm>
            <a:off x="566928" y="50515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makes their direction single, towards the truth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Khaldūn — as he reads it</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r2-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and al-Muhājir ؓ</a:t>
            </a:r>
          </a:p>
        </p:txBody>
      </p:sp>
      <p:pic>
        <p:nvPicPr>
          <p:cNvPr id="13" name="map territory t_0146" descr="s06-arabia-r2-5-t_0146.png"/>
          <p:cNvPicPr>
            <a:picLocks noChangeAspect="1"/>
          </p:cNvPicPr>
          <p:nvPr/>
        </p:nvPicPr>
        <p:blipFill>
          <a:blip r:embed="rId3"/>
          <a:stretch>
            <a:fillRect/>
          </a:stretch>
        </p:blipFill>
        <p:spPr>
          <a:xfrm>
            <a:off x="4380730" y="2396412"/>
            <a:ext cx="540221" cy="870804"/>
          </a:xfrm>
          <a:prstGeom prst="rect">
            <a:avLst/>
          </a:prstGeom>
        </p:spPr>
      </p:pic>
      <p:pic>
        <p:nvPicPr>
          <p:cNvPr id="14" name="map territory t_0152" descr="s06-arabia-r2-5-t_0152.png"/>
          <p:cNvPicPr>
            <a:picLocks noChangeAspect="1"/>
          </p:cNvPicPr>
          <p:nvPr/>
        </p:nvPicPr>
        <p:blipFill>
          <a:blip r:embed="rId4"/>
          <a:stretch>
            <a:fillRect/>
          </a:stretch>
        </p:blipFill>
        <p:spPr>
          <a:xfrm>
            <a:off x="4219470" y="4718558"/>
            <a:ext cx="971592" cy="737765"/>
          </a:xfrm>
          <a:prstGeom prst="rect">
            <a:avLst/>
          </a:prstGeom>
        </p:spPr>
      </p:pic>
      <p:pic>
        <p:nvPicPr>
          <p:cNvPr id="15" name="map territory t_0157" descr="s06-arabia-r2-5-t_0157.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s06_bahrayn" descr="s06-arabia-r2-5-t_s06_bahrayn.png"/>
          <p:cNvPicPr>
            <a:picLocks noChangeAspect="1"/>
          </p:cNvPicPr>
          <p:nvPr/>
        </p:nvPicPr>
        <p:blipFill>
          <a:blip r:embed="rId6"/>
          <a:stretch>
            <a:fillRect/>
          </a:stretch>
        </p:blipFill>
        <p:spPr>
          <a:xfrm>
            <a:off x="4380730" y="2396412"/>
            <a:ext cx="540221" cy="870804"/>
          </a:xfrm>
          <a:prstGeom prst="rect">
            <a:avLst/>
          </a:prstGeom>
        </p:spPr>
      </p:pic>
      <p:pic>
        <p:nvPicPr>
          <p:cNvPr id="17" name="map label not yet told" descr="s06-arabia-r1-2-l_s06_17.png"/>
          <p:cNvPicPr>
            <a:picLocks noChangeAspect="1"/>
          </p:cNvPicPr>
          <p:nvPr/>
        </p:nvPicPr>
        <p:blipFill>
          <a:blip r:embed="rId7"/>
          <a:stretch>
            <a:fillRect/>
          </a:stretch>
        </p:blipFill>
        <p:spPr>
          <a:xfrm>
            <a:off x="4912888" y="2025514"/>
            <a:ext cx="1556160" cy="338646"/>
          </a:xfrm>
          <a:prstGeom prst="rect">
            <a:avLst/>
          </a:prstGeom>
        </p:spPr>
      </p:pic>
      <p:pic>
        <p:nvPicPr>
          <p:cNvPr id="18" name="map label not yet told" descr="s06-arabia-r1-2-l_s06_18.png"/>
          <p:cNvPicPr>
            <a:picLocks noChangeAspect="1"/>
          </p:cNvPicPr>
          <p:nvPr/>
        </p:nvPicPr>
        <p:blipFill>
          <a:blip r:embed="rId8"/>
          <a:stretch>
            <a:fillRect/>
          </a:stretch>
        </p:blipFill>
        <p:spPr>
          <a:xfrm>
            <a:off x="4074336" y="5331347"/>
            <a:ext cx="1556160" cy="338646"/>
          </a:xfrm>
          <a:prstGeom prst="rect">
            <a:avLst/>
          </a:prstGeom>
        </p:spPr>
      </p:pic>
      <p:pic>
        <p:nvPicPr>
          <p:cNvPr id="19" name="map label Bahrayn, held again" descr="s06-arabia-r2-5-l_s06_19.png"/>
          <p:cNvPicPr>
            <a:picLocks noChangeAspect="1"/>
          </p:cNvPicPr>
          <p:nvPr/>
        </p:nvPicPr>
        <p:blipFill>
          <a:blip r:embed="rId9"/>
          <a:stretch>
            <a:fillRect/>
          </a:stretch>
        </p:blipFill>
        <p:spPr>
          <a:xfrm>
            <a:off x="4388793" y="2025514"/>
            <a:ext cx="2680949" cy="338646"/>
          </a:xfrm>
          <a:prstGeom prst="rect">
            <a:avLst/>
          </a:prstGeom>
        </p:spPr>
      </p:pic>
      <p:pic>
        <p:nvPicPr>
          <p:cNvPr id="20" name="map label Ḥaḍramawt, the last front" descr="s06-arabia-r2-5-l_s06_20.png"/>
          <p:cNvPicPr>
            <a:picLocks noChangeAspect="1"/>
          </p:cNvPicPr>
          <p:nvPr/>
        </p:nvPicPr>
        <p:blipFill>
          <a:blip r:embed="rId10"/>
          <a:stretch>
            <a:fillRect/>
          </a:stretch>
        </p:blipFill>
        <p:spPr>
          <a:xfrm>
            <a:off x="3191436" y="5331347"/>
            <a:ext cx="3426778" cy="334614"/>
          </a:xfrm>
          <a:prstGeom prst="rect">
            <a:avLst/>
          </a:prstGeom>
        </p:spPr>
      </p:pic>
      <p:pic>
        <p:nvPicPr>
          <p:cNvPr id="21" name="map label one colour" descr="s06-arabia-r2-5-l_s06_21.png"/>
          <p:cNvPicPr>
            <a:picLocks noChangeAspect="1"/>
          </p:cNvPicPr>
          <p:nvPr/>
        </p:nvPicPr>
        <p:blipFill>
          <a:blip r:embed="rId11"/>
          <a:stretch>
            <a:fillRect/>
          </a:stretch>
        </p:blipFill>
        <p:spPr>
          <a:xfrm>
            <a:off x="3433327" y="2085987"/>
            <a:ext cx="1475530"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8"/>
                                        </p:tgtEl>
                                      </p:cBhvr>
                                    </p:animEffect>
                                    <p:set>
                                      <p:cBhvr>
                                        <p:cTn id="13" dur="1" fill="hold">
                                          <p:stCondLst>
                                            <p:cond delay="599"/>
                                          </p:stCondLst>
                                        </p:cTn>
                                        <p:tgtEl>
                                          <p:spTgt spid="18"/>
                                        </p:tgtEl>
                                        <p:attrNameLst>
                                          <p:attrName>style.visibility</p:attrName>
                                        </p:attrNameLst>
                                      </p:cBhvr>
                                      <p:to>
                                        <p:strVal val="hidden"/>
                                      </p:to>
                                    </p:set>
                                  </p:childTnLst>
                                </p:cTn>
                              </p:par>
                              <p:par>
                                <p:cTn id="17"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600"/>
                                        <p:tgtEl>
                                          <p:spTgt spid="19"/>
                                        </p:tgtEl>
                                      </p:cBhvr>
                                    </p:animEffect>
                                  </p:childTnLst>
                                </p:cTn>
                              </p:par>
                            </p:childTnLst>
                          </p:cTn>
                        </p:par>
                      </p:childTnLst>
                    </p:cTn>
                  </p:par>
                  <p:par>
                    <p:cTn id="32" fill="hold">
                      <p:stCondLst>
                        <p:cond delay="indefinite"/>
                      </p:stCondLst>
                      <p:childTnLst>
                        <p:par>
                          <p:cTn id="33" fill="hold">
                            <p:stCondLst>
                              <p:cond delay="0"/>
                            </p:stCondLst>
                            <p:childTnLst>
                              <p:par>
                                <p:cTn id="22" presetID="10" presetClass="exit" presetSubtype="0" fill="hold" grpId="0" nodeType="clickEffect">
                                  <p:stCondLst>
                                    <p:cond delay="0"/>
                                  </p:stCondLst>
                                  <p:childTnLst>
                                    <p:animEffect transition="out" filter="fade">
                                      <p:cBhvr>
                                        <p:cTn id="20" dur="600"/>
                                        <p:tgtEl>
                                          <p:spTgt spid="14"/>
                                        </p:tgtEl>
                                      </p:cBhvr>
                                    </p:animEffect>
                                    <p:set>
                                      <p:cBhvr>
                                        <p:cTn id="21" dur="1" fill="hold">
                                          <p:stCondLst>
                                            <p:cond delay="599"/>
                                          </p:stCondLst>
                                        </p:cTn>
                                        <p:tgtEl>
                                          <p:spTgt spid="14"/>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600"/>
                                        <p:tgtEl>
                                          <p:spTgt spid="15"/>
                                        </p:tgtEl>
                                      </p:cBhvr>
                                    </p:animEffect>
                                  </p:childTnLst>
                                </p:cTn>
                              </p:par>
                              <p:par>
                                <p:cTn id="28" presetID="10" presetClass="exit" presetSubtype="0" fill="hold" grpId="0" nodeType="withEffect">
                                  <p:stCondLst>
                                    <p:cond delay="0"/>
                                  </p:stCondLst>
                                  <p:childTnLst>
                                    <p:animEffect transition="out" filter="fade">
                                      <p:cBhvr>
                                        <p:cTn id="26" dur="600"/>
                                        <p:tgtEl>
                                          <p:spTgt spid="19"/>
                                        </p:tgtEl>
                                      </p:cBhvr>
                                    </p:animEffect>
                                    <p:set>
                                      <p:cBhvr>
                                        <p:cTn id="27" dur="1" fill="hold">
                                          <p:stCondLst>
                                            <p:cond delay="599"/>
                                          </p:stCondLst>
                                        </p:cTn>
                                        <p:tgtEl>
                                          <p:spTgt spid="19"/>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600"/>
                                        <p:tgtEl>
                                          <p:spTgt spid="20"/>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xit" presetSubtype="0" fill="hold" grpId="0" nodeType="clickEffect">
                                  <p:stCondLst>
                                    <p:cond delay="0"/>
                                  </p:stCondLst>
                                  <p:childTnLst>
                                    <p:animEffect transition="out" filter="fade">
                                      <p:cBhvr>
                                        <p:cTn id="34" dur="600"/>
                                        <p:tgtEl>
                                          <p:spTgt spid="20"/>
                                        </p:tgtEl>
                                      </p:cBhvr>
                                    </p:animEffect>
                                    <p:set>
                                      <p:cBhvr>
                                        <p:cTn id="35" dur="1" fill="hold">
                                          <p:stCondLst>
                                            <p:cond delay="599"/>
                                          </p:stCondLst>
                                        </p:cTn>
                                        <p:tgtEl>
                                          <p:spTgt spid="20"/>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Bahrayn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al-Dahnāʾ</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Ḥaḍramawt</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al-Ashʿath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Ibn Masʿūd ؓ, on the war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Traditional Arabic"/>
              </a:rPr>
              <a:t>Two years after the Prophet ﷺ died, all of Arabia was on one side. There were two empires on the other side of the desert. Did either of them know?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Persia and Rome: the other side of the desert (12 AH)</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other side of the desert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Persia and Rome — beyond Arabia</a:t>
            </a:r>
          </a:p>
        </p:txBody>
      </p:sp>
      <p:pic>
        <p:nvPicPr>
          <p:cNvPr id="6" name="map" descr="s06-empires-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PERSIA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al-Madāʾin — the house of Kisrā</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ROME</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Heraclius — Syria is his</a:t>
            </a:r>
          </a:p>
        </p:txBody>
      </p:sp>
      <p:pic>
        <p:nvPicPr>
          <p:cNvPr id="13" name="map label killed by his own son" descr="s06-empires-r1-3-l_013.png"/>
          <p:cNvPicPr>
            <a:picLocks noChangeAspect="1"/>
          </p:cNvPicPr>
          <p:nvPr/>
        </p:nvPicPr>
        <p:blipFill>
          <a:blip r:embed="rId3"/>
          <a:stretch>
            <a:fillRect/>
          </a:stretch>
        </p:blipFill>
        <p:spPr>
          <a:xfrm>
            <a:off x="4344446" y="3396225"/>
            <a:ext cx="2793832" cy="338646"/>
          </a:xfrm>
          <a:prstGeom prst="rect">
            <a:avLst/>
          </a:prstGeom>
        </p:spPr>
      </p:pic>
      <p:pic>
        <p:nvPicPr>
          <p:cNvPr id="14" name="map label Heraclius" descr="s06-empires-r1-3-l_014.png"/>
          <p:cNvPicPr>
            <a:picLocks noChangeAspect="1"/>
          </p:cNvPicPr>
          <p:nvPr/>
        </p:nvPicPr>
        <p:blipFill>
          <a:blip r:embed="rId4"/>
          <a:stretch>
            <a:fillRect/>
          </a:stretch>
        </p:blipFill>
        <p:spPr>
          <a:xfrm>
            <a:off x="1611087" y="2352066"/>
            <a:ext cx="1350553"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0" presetID="10" presetClass="exit" presetSubtype="0" fill="hold" grpId="0" nodeType="clickEffect">
                                  <p:stCondLst>
                                    <p:cond delay="0"/>
                                  </p:stCondLst>
                                  <p:childTnLst>
                                    <p:animEffect transition="out" filter="fade">
                                      <p:cBhvr>
                                        <p:cTn id="8" dur="600"/>
                                        <p:tgtEl>
                                          <p:spTgt spid="13"/>
                                        </p:tgtEl>
                                      </p:cBhvr>
                                    </p:animEffect>
                                    <p:set>
                                      <p:cBhvr>
                                        <p:cTn id="9" dur="1" fill="hold">
                                          <p:stCondLst>
                                            <p:cond delay="599"/>
                                          </p:stCondLst>
                                        </p:cTn>
                                        <p:tgtEl>
                                          <p:spTgt spid="13"/>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12–13 AH, al-Madāʾin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Kisrā</a:t>
            </a:r>
          </a:p>
        </p:txBody>
      </p:sp>
      <p:sp>
        <p:nvSpPr>
          <p:cNvPr id="6" name="part-ar"/>
          <p:cNvSpPr txBox="1"/>
          <p:nvPr/>
        </p:nvSpPr>
        <p:spPr>
          <a:xfrm>
            <a:off x="566928" y="1646681"/>
            <a:ext cx="11057839" cy="1560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لَمْ يَبْقَ إِلَّا غُلَامٌ يُدْعَى يَزْدَجِرْدَ مِنْ وَلَدِ شَهْرَيَارَ بْنِ كِسْرَى، وَأُمُّهُ مِنْ أَهْلِ بَادُورَيَا.</a:t>
            </a:r>
          </a:p>
        </p:txBody>
      </p:sp>
      <p:sp>
        <p:nvSpPr>
          <p:cNvPr id="7" name="part-en"/>
          <p:cNvSpPr txBox="1"/>
          <p:nvPr/>
        </p:nvSpPr>
        <p:spPr>
          <a:xfrm>
            <a:off x="566928" y="3207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“None is left but a boy called Yazdagird, of the line of Shahriyār son of Kisrā; his mother is of the people of Bādūrayā.”</a:t>
            </a:r>
          </a:p>
        </p:txBody>
      </p:sp>
      <p:sp>
        <p:nvSpPr>
          <p:cNvPr id="8" name="part-ar"/>
          <p:cNvSpPr txBox="1"/>
          <p:nvPr/>
        </p:nvSpPr>
        <p:spPr>
          <a:xfrm>
            <a:off x="566928" y="4266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فَأَرْسَلُوا إِلَيْهَا وَطَلَبُوهُ مِنْهَا</a:t>
            </a:r>
          </a:p>
        </p:txBody>
      </p:sp>
      <p:sp>
        <p:nvSpPr>
          <p:cNvPr id="9" name="part-en"/>
          <p:cNvSpPr txBox="1"/>
          <p:nvPr/>
        </p:nvSpPr>
        <p:spPr>
          <a:xfrm>
            <a:off x="566928" y="5065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So they sent to her and asked her for him.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how Persia found its last king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284</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12–13 AH, al-Madāʾin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Kisrā</a:t>
            </a:r>
          </a:p>
        </p:txBody>
      </p:sp>
      <p:sp>
        <p:nvSpPr>
          <p:cNvPr id="6" name="part-ar"/>
          <p:cNvSpPr txBox="1"/>
          <p:nvPr/>
        </p:nvSpPr>
        <p:spPr>
          <a:xfrm>
            <a:off x="566928" y="19735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وَكَانَتْ قَدْ أَنْزَلَتْهُ أَيَّامَ شِيرَى حِينَ جَمَعَهُنَّ فَقَتَلَ الذُّكُورَ، وَأَرْسَلَتْهُ إِلَى أَخْوَالِهِ</a:t>
            </a:r>
          </a:p>
        </p:txBody>
      </p:sp>
      <p:sp>
        <p:nvSpPr>
          <p:cNvPr id="7" name="part-en"/>
          <p:cNvSpPr txBox="1"/>
          <p:nvPr/>
        </p:nvSpPr>
        <p:spPr>
          <a:xfrm>
            <a:off x="566928" y="26959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She had got him away in the days of Shīrā — when he gathered them and killed the males — and had sent him to his mother's brothers.</a:t>
            </a:r>
          </a:p>
        </p:txBody>
      </p:sp>
      <p:sp>
        <p:nvSpPr>
          <p:cNvPr id="8" name="part-ar"/>
          <p:cNvSpPr txBox="1"/>
          <p:nvPr/>
        </p:nvSpPr>
        <p:spPr>
          <a:xfrm>
            <a:off x="566928" y="36530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فَلَمَّا سَأَلُوهَا عَنْهُ دَلَّتْهُمْ عَلَيْهِ، فَجَاءُوا بِهِ فَمَلَّكُوهُ وَهُوَ ابْنُ إِحْدَى وَعِشْرِينَ سَنَة</a:t>
            </a:r>
          </a:p>
        </p:txBody>
      </p:sp>
      <p:sp>
        <p:nvSpPr>
          <p:cNvPr id="9" name="part-en"/>
          <p:cNvSpPr txBox="1"/>
          <p:nvPr/>
        </p:nvSpPr>
        <p:spPr>
          <a:xfrm>
            <a:off x="566928" y="43754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When they asked her about him she led them to him; and they brought him and made him king, at twenty-one.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how Persia found its last king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284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Iraq and Syria: two letters leave, and what each empire heard (12–13 AH)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pic>
        <p:nvPicPr>
          <p:cNvPr id="6" name="map" descr="s06-empires-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Khālid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ordered to Iraq, from its lower end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al-Madāʾin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Persia's capital — he is not sent there</a:t>
            </a:r>
          </a:p>
        </p:txBody>
      </p:sp>
      <p:pic>
        <p:nvPicPr>
          <p:cNvPr id="13" name="map arrow a_015" descr="s06-empires-r3-4-a_015.png"/>
          <p:cNvPicPr>
            <a:picLocks noChangeAspect="1"/>
          </p:cNvPicPr>
          <p:nvPr/>
        </p:nvPicPr>
        <p:blipFill>
          <a:blip r:embed="rId3"/>
          <a:stretch>
            <a:fillRect/>
          </a:stretch>
        </p:blipFill>
        <p:spPr>
          <a:xfrm>
            <a:off x="4574242" y="3492981"/>
            <a:ext cx="419276" cy="717607"/>
          </a:xfrm>
          <a:prstGeom prst="rect">
            <a:avLst/>
          </a:prstGeom>
        </p:spPr>
      </p:pic>
      <p:pic>
        <p:nvPicPr>
          <p:cNvPr id="14" name="map army Khālid ؓ" descr="s06-empires-r3-4-a_016.png"/>
          <p:cNvPicPr>
            <a:picLocks noChangeAspect="1"/>
          </p:cNvPicPr>
          <p:nvPr/>
        </p:nvPicPr>
        <p:blipFill>
          <a:blip r:embed="rId4"/>
          <a:stretch>
            <a:fillRect/>
          </a:stretch>
        </p:blipFill>
        <p:spPr>
          <a:xfrm>
            <a:off x="4505707" y="2803594"/>
            <a:ext cx="1830302" cy="854678"/>
          </a:xfrm>
          <a:prstGeom prst="rect">
            <a:avLst/>
          </a:prstGeom>
        </p:spPr>
      </p:pic>
      <p:pic>
        <p:nvPicPr>
          <p:cNvPr id="15" name="map label Heraclius" descr="s06-empires-r1-3-l_014.png"/>
          <p:cNvPicPr>
            <a:picLocks noChangeAspect="1"/>
          </p:cNvPicPr>
          <p:nvPr/>
        </p:nvPicPr>
        <p:blipFill>
          <a:blip r:embed="rId5"/>
          <a:stretch>
            <a:fillRect/>
          </a:stretch>
        </p:blipFill>
        <p:spPr>
          <a:xfrm>
            <a:off x="1611087" y="2352066"/>
            <a:ext cx="1350553"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161 0.0869 L -0.0030 0.0414 L 0.0000 0.0000 L 0 0 E" pathEditMode="relative" rAng="0" ptsTypes="">
                                      <p:cBhvr>
                                        <p:cTn id="8" dur="1600" fill="hold"/>
                                        <p:tgtEl>
                                          <p:spTgt spid="14"/>
                                        </p:tgtEl>
                                        <p:attrNameLst>
                                          <p:attrName>ppt_x</p:attrName>
                                          <p:attrName>ppt_y</p:attrName>
                                        </p:attrNameLst>
                                      </p:cBhvr>
                                    </p:animMotion>
                                  </p:childTnLst>
                                </p:cTn>
                              </p:par>
                              <p:par>
                                <p:cTn id="12" presetID="10" presetClass="exit" presetSubtype="0" fill="hold" grpId="0" nodeType="withEffect">
                                  <p:stCondLst>
                                    <p:cond delay="0"/>
                                  </p:stCondLst>
                                  <p:childTnLst>
                                    <p:animEffect transition="out" filter="fade">
                                      <p:cBhvr>
                                        <p:cTn id="10" dur="600"/>
                                        <p:tgtEl>
                                          <p:spTgt spid="15"/>
                                        </p:tgtEl>
                                      </p:cBhvr>
                                    </p:animEffect>
                                    <p:set>
                                      <p:cBhvr>
                                        <p:cTn id="11" dur="1" fill="hold">
                                          <p:stCondLst>
                                            <p:cond delay="5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 يَتألَّفَ الناسَ ويدعوهم إلى الله ﷿</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…that he should win the people over and call them to God</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أجابوا وإلا أخذ منهم الجزيةَ فإن امتنعوا عن ذلك قاتلهم</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if they answered, well, and if not, take the jizya from them; and if they refused that, fight them.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Abū Bakr ؓ ordered Khālid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وأمره أن لا يُكْرِه أحدًا على المسير معه</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ordered him not to compel anyone to march with him</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ولا يستعينُ بمنِ ارتدّ عن الإسلام وإن كان [قد] عاد إليه</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not to make use of any man who had apostatised from Islam, even if he had returned to it.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Abū Bakr ؓ ordered Khālid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Syria — four commanders, four roads</a:t>
            </a:r>
          </a:p>
        </p:txBody>
      </p:sp>
      <p:pic>
        <p:nvPicPr>
          <p:cNvPr id="6" name="map" descr="s06-empires-r4-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commanders leave by four roads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provinces given, none yet taken</a:t>
            </a:r>
          </a:p>
        </p:txBody>
      </p:sp>
      <p:pic>
        <p:nvPicPr>
          <p:cNvPr id="13" name="map arrow a_015" descr="s06-empires-r3-4-a_015.png"/>
          <p:cNvPicPr>
            <a:picLocks noChangeAspect="1"/>
          </p:cNvPicPr>
          <p:nvPr/>
        </p:nvPicPr>
        <p:blipFill>
          <a:blip r:embed="rId3"/>
          <a:stretch>
            <a:fillRect/>
          </a:stretch>
        </p:blipFill>
        <p:spPr>
          <a:xfrm>
            <a:off x="4574242" y="3492981"/>
            <a:ext cx="419276" cy="717607"/>
          </a:xfrm>
          <a:prstGeom prst="rect">
            <a:avLst/>
          </a:prstGeom>
        </p:spPr>
      </p:pic>
      <p:pic>
        <p:nvPicPr>
          <p:cNvPr id="14" name="map arrow a_017" descr="s06-empires-r4-5-a_017.png"/>
          <p:cNvPicPr>
            <a:picLocks noChangeAspect="1"/>
          </p:cNvPicPr>
          <p:nvPr/>
        </p:nvPicPr>
        <p:blipFill>
          <a:blip r:embed="rId4"/>
          <a:stretch>
            <a:fillRect/>
          </a:stretch>
        </p:blipFill>
        <p:spPr>
          <a:xfrm>
            <a:off x="3243846" y="3291406"/>
            <a:ext cx="588599" cy="919182"/>
          </a:xfrm>
          <a:prstGeom prst="rect">
            <a:avLst/>
          </a:prstGeom>
        </p:spPr>
      </p:pic>
      <p:pic>
        <p:nvPicPr>
          <p:cNvPr id="15" name="map arrow a_018" descr="s06-empires-r4-5-a_018.png"/>
          <p:cNvPicPr>
            <a:picLocks noChangeAspect="1"/>
          </p:cNvPicPr>
          <p:nvPr/>
        </p:nvPicPr>
        <p:blipFill>
          <a:blip r:embed="rId5"/>
          <a:stretch>
            <a:fillRect/>
          </a:stretch>
        </p:blipFill>
        <p:spPr>
          <a:xfrm>
            <a:off x="3348665" y="3190619"/>
            <a:ext cx="487811" cy="1019970"/>
          </a:xfrm>
          <a:prstGeom prst="rect">
            <a:avLst/>
          </a:prstGeom>
        </p:spPr>
      </p:pic>
      <p:pic>
        <p:nvPicPr>
          <p:cNvPr id="16" name="map arrow a_019" descr="s06-empires-r4-5-a_019.png"/>
          <p:cNvPicPr>
            <a:picLocks noChangeAspect="1"/>
          </p:cNvPicPr>
          <p:nvPr/>
        </p:nvPicPr>
        <p:blipFill>
          <a:blip r:embed="rId6"/>
          <a:stretch>
            <a:fillRect/>
          </a:stretch>
        </p:blipFill>
        <p:spPr>
          <a:xfrm>
            <a:off x="3461547" y="3109988"/>
            <a:ext cx="374929" cy="1100600"/>
          </a:xfrm>
          <a:prstGeom prst="rect">
            <a:avLst/>
          </a:prstGeom>
        </p:spPr>
      </p:pic>
      <p:pic>
        <p:nvPicPr>
          <p:cNvPr id="17" name="map arrow a_020" descr="s06-empires-r4-5-a_020.png"/>
          <p:cNvPicPr>
            <a:picLocks noChangeAspect="1"/>
          </p:cNvPicPr>
          <p:nvPr/>
        </p:nvPicPr>
        <p:blipFill>
          <a:blip r:embed="rId7"/>
          <a:stretch>
            <a:fillRect/>
          </a:stretch>
        </p:blipFill>
        <p:spPr>
          <a:xfrm>
            <a:off x="3570398" y="3009201"/>
            <a:ext cx="286236" cy="1197356"/>
          </a:xfrm>
          <a:prstGeom prst="rect">
            <a:avLst/>
          </a:prstGeom>
        </p:spPr>
      </p:pic>
      <p:pic>
        <p:nvPicPr>
          <p:cNvPr id="18" name="map label four roads" descr="s06-empires-r4-5-l_021.png"/>
          <p:cNvPicPr>
            <a:picLocks noChangeAspect="1"/>
          </p:cNvPicPr>
          <p:nvPr/>
        </p:nvPicPr>
        <p:blipFill>
          <a:blip r:embed="rId8"/>
          <a:stretch>
            <a:fillRect/>
          </a:stretch>
        </p:blipFill>
        <p:spPr>
          <a:xfrm>
            <a:off x="3074523" y="3513139"/>
            <a:ext cx="145537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4"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600"/>
                                        <p:tgtEl>
                                          <p:spTgt spid="14"/>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Syria — four commanders, four roads</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وَقَالَ يَابَنِيَّ لَا تَدْخُلُوا</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my sons, do not enter</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مِنْ بَابٍ وَاحِدٍ وَادْخُلُوا مِنْ أَبْوَابٍ مُتَفَرِّقَة</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by one gate; enter by separate gates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Yaʿqūb, peace be upon him, to his sons — Sūrat Yūsuf 67</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pp. 83–84</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Abū Bakr ؓ, on foot, beside Yazīd's ؓ horse.</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إِنِّي قَدْ وَلَّيْتُكَ لِأَبْلُوَكَ وَأُجَرِّبَكَ وَأُخَرِّجَكَ</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 have put you in office to test you, to try you and to bring you out.</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أَحْسَنْتَ رَدَدْتُكَ إِلَى عَمَلِكَ وَزِدْتُكَ، وَإِنْ أَسَأْتَ عَزَلْتُك</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If you do well I will return you to your post and add to it; and if you do badly I will dismiss you</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Yazīd b. Abī Sufyān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 فَإِيَّاكَ وَعُبِّيَّةَ الْجَاهِلِيَّةِ، فَإِنَّ اللَّهَ يُبْغِضُهَا وَيُبْغِضُ أَهْلَهَا</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 And beware the arrogance of the Jāhiliyya — God hates it, and hates those who carry it.</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Yazīd b. Abī Sufyān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Offered the Syrian command — and left free to keep the post he had.</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إِنِّي سَهْمٌ مِنْ سِهَامِ الْإِسْلَامِ</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 am one arrow of the arrows of Islam</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وَأَنْتَ بَعْدَ اللَّهِ الرَّامِي بِهَا وَالْجَامِعُ لَهَا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you — after God — are the one who shoots them and the one who gathers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ʿAmr b. al-ʿĀṣ ؓ, to Abū Bakr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فَانْظُرْ أَشَدَّهَا وَأَخْشَاهَا وَأَفْضَلَهَا فَارْمِ بِه</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look for the hardest of them, and the most feared, and the best, and shoot it.</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ʿAmr b. al-ʿĀṣ ؓ, to Abū Bakr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lower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pic>
        <p:nvPicPr>
          <p:cNvPr id="6" name="map" descr="s06-empires-r4-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Khālid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writes to al-Madāʾin; he does not march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al-Madāʾin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Kisrā's commanders, marzubāns and ministers</a:t>
            </a:r>
          </a:p>
        </p:txBody>
      </p:sp>
      <p:pic>
        <p:nvPicPr>
          <p:cNvPr id="13" name="map arrow a_017" descr="s06-empires-r4-5-a_017.png"/>
          <p:cNvPicPr>
            <a:picLocks noChangeAspect="1"/>
          </p:cNvPicPr>
          <p:nvPr/>
        </p:nvPicPr>
        <p:blipFill>
          <a:blip r:embed="rId3"/>
          <a:stretch>
            <a:fillRect/>
          </a:stretch>
        </p:blipFill>
        <p:spPr>
          <a:xfrm>
            <a:off x="3243846" y="3291406"/>
            <a:ext cx="588599" cy="919182"/>
          </a:xfrm>
          <a:prstGeom prst="rect">
            <a:avLst/>
          </a:prstGeom>
        </p:spPr>
      </p:pic>
      <p:pic>
        <p:nvPicPr>
          <p:cNvPr id="14" name="map arrow a_018" descr="s06-empires-r4-5-a_018.png"/>
          <p:cNvPicPr>
            <a:picLocks noChangeAspect="1"/>
          </p:cNvPicPr>
          <p:nvPr/>
        </p:nvPicPr>
        <p:blipFill>
          <a:blip r:embed="rId4"/>
          <a:stretch>
            <a:fillRect/>
          </a:stretch>
        </p:blipFill>
        <p:spPr>
          <a:xfrm>
            <a:off x="3348665" y="3190619"/>
            <a:ext cx="487811" cy="1019970"/>
          </a:xfrm>
          <a:prstGeom prst="rect">
            <a:avLst/>
          </a:prstGeom>
        </p:spPr>
      </p:pic>
      <p:pic>
        <p:nvPicPr>
          <p:cNvPr id="15" name="map arrow a_019" descr="s06-empires-r4-5-a_019.png"/>
          <p:cNvPicPr>
            <a:picLocks noChangeAspect="1"/>
          </p:cNvPicPr>
          <p:nvPr/>
        </p:nvPicPr>
        <p:blipFill>
          <a:blip r:embed="rId5"/>
          <a:stretch>
            <a:fillRect/>
          </a:stretch>
        </p:blipFill>
        <p:spPr>
          <a:xfrm>
            <a:off x="3461547" y="3109988"/>
            <a:ext cx="374929" cy="1100600"/>
          </a:xfrm>
          <a:prstGeom prst="rect">
            <a:avLst/>
          </a:prstGeom>
        </p:spPr>
      </p:pic>
      <p:pic>
        <p:nvPicPr>
          <p:cNvPr id="16" name="map arrow a_020" descr="s06-empires-r4-5-a_020.png"/>
          <p:cNvPicPr>
            <a:picLocks noChangeAspect="1"/>
          </p:cNvPicPr>
          <p:nvPr/>
        </p:nvPicPr>
        <p:blipFill>
          <a:blip r:embed="rId6"/>
          <a:stretch>
            <a:fillRect/>
          </a:stretch>
        </p:blipFill>
        <p:spPr>
          <a:xfrm>
            <a:off x="3570398" y="3009201"/>
            <a:ext cx="286236" cy="1197356"/>
          </a:xfrm>
          <a:prstGeom prst="rect">
            <a:avLst/>
          </a:prstGeom>
        </p:spPr>
      </p:pic>
      <p:pic>
        <p:nvPicPr>
          <p:cNvPr id="17" name="map arrow a_022" descr="s06-empires-r5-6-a_022.png"/>
          <p:cNvPicPr>
            <a:picLocks noChangeAspect="1"/>
          </p:cNvPicPr>
          <p:nvPr/>
        </p:nvPicPr>
        <p:blipFill>
          <a:blip r:embed="rId7"/>
          <a:stretch>
            <a:fillRect/>
          </a:stretch>
        </p:blipFill>
        <p:spPr>
          <a:xfrm>
            <a:off x="4324289" y="2880193"/>
            <a:ext cx="580536" cy="717607"/>
          </a:xfrm>
          <a:prstGeom prst="rect">
            <a:avLst/>
          </a:prstGeom>
        </p:spPr>
      </p:pic>
      <p:pic>
        <p:nvPicPr>
          <p:cNvPr id="18" name="map label four roads" descr="s06-empires-r4-5-l_021.png"/>
          <p:cNvPicPr>
            <a:picLocks noChangeAspect="1"/>
          </p:cNvPicPr>
          <p:nvPr/>
        </p:nvPicPr>
        <p:blipFill>
          <a:blip r:embed="rId8"/>
          <a:stretch>
            <a:fillRect/>
          </a:stretch>
        </p:blipFill>
        <p:spPr>
          <a:xfrm>
            <a:off x="3074523" y="3513139"/>
            <a:ext cx="1455372" cy="290268"/>
          </a:xfrm>
          <a:prstGeom prst="rect">
            <a:avLst/>
          </a:prstGeom>
        </p:spPr>
      </p:pic>
      <p:pic>
        <p:nvPicPr>
          <p:cNvPr id="19" name="map label a letter" descr="s06-empires-r5-6-l_023.png"/>
          <p:cNvPicPr>
            <a:picLocks noChangeAspect="1"/>
          </p:cNvPicPr>
          <p:nvPr/>
        </p:nvPicPr>
        <p:blipFill>
          <a:blip r:embed="rId9"/>
          <a:stretch>
            <a:fillRect/>
          </a:stretch>
        </p:blipFill>
        <p:spPr>
          <a:xfrm>
            <a:off x="4324289" y="2118239"/>
            <a:ext cx="1011907"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6"/>
                                        </p:tgtEl>
                                      </p:cBhvr>
                                    </p:animEffect>
                                    <p:set>
                                      <p:cBhvr>
                                        <p:cTn id="13" dur="1" fill="hold">
                                          <p:stCondLst>
                                            <p:cond delay="599"/>
                                          </p:stCondLst>
                                        </p:cTn>
                                        <p:tgtEl>
                                          <p:spTgt spid="16"/>
                                        </p:tgtEl>
                                        <p:attrNameLst>
                                          <p:attrName>style.visibility</p:attrName>
                                        </p:attrNameLst>
                                      </p:cBhvr>
                                      <p:to>
                                        <p:strVal val="hidden"/>
                                      </p:to>
                                    </p:se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8"/>
                                        </p:tgtEl>
                                      </p:cBhvr>
                                    </p:animEffect>
                                    <p:set>
                                      <p:cBhvr>
                                        <p:cTn id="19" dur="1" fill="hold">
                                          <p:stCondLst>
                                            <p:cond delay="599"/>
                                          </p:stCondLst>
                                        </p:cTn>
                                        <p:tgtEl>
                                          <p:spTgt spid="18"/>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lower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فابعثوا إليَّ بالرُّهن واعتقدوا مني الذِّمة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send me hostages and take a covenant of protection from me.</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 (إلا) فوالذي لا إله غيره</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Otherwise — by Him beside whom there is no god</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لأبعثن إليكم قومًا يحبّون الموتَ كما تحبّون أنتم الحياة</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 shall send against you a people who love death as you love life.</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Khālid b. al-Walīd ؓ, to the marzubāns of Persia</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to the Romans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four columns are on the road. The Romans write to their emperor.</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ويْحكم إن (هؤلاء) أهلُ دينٍ جديد</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Woe to you — these are the people of a new religion</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وإنهم لا قبلَ لأحدٍ بهم</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no one has the strength to face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Heraclius, to the Romans — as Ibn Kathīr reports it</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to the Romans</a:t>
            </a:r>
          </a:p>
        </p:txBody>
      </p:sp>
      <p:sp>
        <p:nvSpPr>
          <p:cNvPr id="6" name="part-ar"/>
          <p:cNvSpPr txBox="1"/>
          <p:nvPr/>
        </p:nvSpPr>
        <p:spPr>
          <a:xfrm>
            <a:off x="566928" y="19735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فأطيعوني وصالحوهم بما تصالحونهم على نصفِ خراج الشام ويبقى لكم جبالُ الروم</a:t>
            </a:r>
          </a:p>
        </p:txBody>
      </p:sp>
      <p:sp>
        <p:nvSpPr>
          <p:cNvPr id="7" name="part-en"/>
          <p:cNvSpPr txBox="1"/>
          <p:nvPr/>
        </p:nvSpPr>
        <p:spPr>
          <a:xfrm>
            <a:off x="566928" y="26959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obey me, and make peace with them — on half the revenue of Syria, and the mountains of the Romans remain yours.</a:t>
            </a:r>
          </a:p>
        </p:txBody>
      </p:sp>
      <p:sp>
        <p:nvSpPr>
          <p:cNvPr id="8" name="part-ar"/>
          <p:cNvSpPr txBox="1"/>
          <p:nvPr/>
        </p:nvSpPr>
        <p:spPr>
          <a:xfrm>
            <a:off x="566928" y="36530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وإن أنتم أبيتم ذلك أخذوا منكم الشام وضيقوا عليكم جبال الروم</a:t>
            </a:r>
          </a:p>
        </p:txBody>
      </p:sp>
      <p:sp>
        <p:nvSpPr>
          <p:cNvPr id="9" name="part-en"/>
          <p:cNvSpPr txBox="1"/>
          <p:nvPr/>
        </p:nvSpPr>
        <p:spPr>
          <a:xfrm>
            <a:off x="566928" y="43754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If you refuse that, they will take Syria from you, and press you hard in the mountains of the Romans.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Heraclius, to the Romans — as Ibn Kathīr reports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hinge.trim.png"/>
          <p:cNvPicPr>
            <a:picLocks noChangeAspect="1"/>
          </p:cNvPicPr>
          <p:nvPr/>
        </p:nvPicPr>
        <p:blipFill>
          <a:blip r:embed="rId2"/>
          <a:stretch>
            <a:fillRect/>
          </a:stretch>
        </p:blipFill>
        <p:spPr>
          <a:xfrm>
            <a:off x="566928" y="2578047"/>
            <a:ext cx="11057839" cy="2579730"/>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beyond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empires-step-06.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Iraq</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at its lower end; a letter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commanders, four roads — nothing taken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Persia</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Iraq</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Syria</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Yazīd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Rome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emperor of the Romans told them: make peace. They refused him. What did it cost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