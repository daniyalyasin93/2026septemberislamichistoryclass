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السلام علیکم — evening six.</a:t>
            </a:r>
          </a:p>
          <a:p/>
          <a:p>
            <a:r>
              <a:t>2. Tonight: Bahrayn, and then Ḥaḍramawt — the last two fronts.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Arabia, as the year 12 opens.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Bahrayn: the front that began first (11→12 AH).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Ibn al-Athīr: year 6 — “or, it is said, 8”. Say “before the conquest of Mecca”.</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Abū Bakr ؓ sends him to Bahrayn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son of al-Nuʿmān b. al-Mundhir's house: a monarchy brought back, not a false prophet followed.</a:t>
            </a:r>
          </a:p>
          <a:p>
            <a:r>
              <a:t>5. Name no king — Three books give his name three ways; say only "a king of the old royal house".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to the night of the trenches, where he is taken in the pursuit and becomes</a:t>
            </a:r>
          </a:p>
          <a:p>
            <a:r>
              <a:t>a Muslim — before the flight to Dārīn, not at it; ; البدایہ ج7 ص40, الکامل ج2 ص224).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 What became of him is on a page — in ʿUmar's ؓ time, on the sea expedition al-ʿAlāʾ ؓ sent out against Persia, where he commanded one of the corps:</a:t>
            </a:r>
          </a:p>
          <a:p>
            <a:r>
              <a:t>&gt; بِمَكَانٍ يُدْعَى طَاوُسَ فَقُتِلَ سَوَّارٌ وَالْجَارُودُ</a:t>
            </a:r>
          </a:p>
          <a:p>
            <a:r>
              <a:t>&gt; — الکامل فی التاریخ ج2 ص362 · https://shamela.ws/book/21712/1053</a:t>
            </a:r>
          </a:p>
          <a:p>
            <a:r>
              <a:t>&gt; English: “… at a place called Ṭāwūs; and Sawwār and al-Jārūd were killed.”</a:t>
            </a:r>
          </a:p>
          <a:p>
            <a:r>
              <a:t>Still no dates on any page we hold. Ibn Hishām's note, as Ibn Kathīr carries it, is that he had been a Christian before his Islam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“Came down at” — the page does not say he took them.</a:t>
            </a:r>
          </a:p>
          <a:p/>
          <a:p>
            <a:r>
              <a:t>⚠ The page does not say where al-Khaṭṭ is. The marker is approximate.</a:t>
            </a:r>
          </a:p>
          <a:p/>
          <a:p>
            <a:r>
              <a:t>SAY</a:t>
            </a:r>
          </a:p>
          <a:p/>
          <a:p>
            <a:r>
              <a:t>1. al-Ḥuṭam, with Bakr b. Wāʾil</a:t>
            </a:r>
          </a:p>
          <a:p/>
          <a:p>
            <a:r>
              <a:t>▶ CLICK 1 — al-Ḥuṭam comes down at al-Qaṭīf and at Hajar.</a:t>
            </a:r>
          </a:p>
          <a:p/>
          <a:p>
            <a:r>
              <a:t>2. He comes down at al-Qaṭīf and Hajar</a:t>
            </a:r>
          </a:p>
          <a:p/>
          <a:p>
            <a:r>
              <a:t>▶ CLICK 2 — al-Khaṭṭ is won over, with the Zuṭṭ and the Sabābija who live in it.</a:t>
            </a:r>
          </a:p>
          <a:p/>
          <a:p>
            <a:r>
              <a:t>3. al-Khaṭṭ is won over</a:t>
            </a:r>
          </a:p>
          <a:p/>
          <a:p>
            <a:r>
              <a:t>▶ CLICK 3 — He sends a force across the water, to Dārīn.</a:t>
            </a:r>
          </a:p>
          <a:p/>
          <a:p>
            <a:r>
              <a:t>4. He sends a force to Dārīn</a:t>
            </a:r>
          </a:p>
          <a:p/>
          <a:p>
            <a:r>
              <a:t>▶ CLICK 4 — And he sends to Juwāthā, and besieges the Muslims in it.</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comes down at al-Qaṭīf and Hajar — "Came down at" is the page's verb. It does not say he took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 clans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man the Prophet ﷺ had sent to Bahrayn; Abū Bakr ؓ sends him now.</a:t>
            </a:r>
          </a:p>
          <a:p>
            <a:r>
              <a:t>2. Sixteen riders, and a letter — Every Muslim he passes is to march out with him.</a:t>
            </a:r>
          </a:p>
          <a:p>
            <a:r>
              <a:t>3. Thumāma b. Uthāl ؓ joins — With the Muslims of Banū Ḥanīfa.</a:t>
            </a:r>
          </a:p>
          <a:p>
            <a:r>
              <a:t>4. Qays b. ʿĀṣim joins, and more — He had divided the ṣadaqa out among his own clans, and repented; now he brings ṣadaqa out to meet him. Then other clans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NEXT SLIDE — the same words go on (3 slides in all)</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3).</a:t>
            </a:r>
          </a:p>
          <a:p/>
          <a:p>
            <a:r>
              <a:t>Each part: the Arabic, then its meaning.</a:t>
            </a:r>
          </a:p>
          <a:p/>
          <a:p>
            <a:r>
              <a:t>──────── DETAIL — only if you need it ────────</a:t>
            </a:r>
          </a:p>
          <a:p/>
          <a:p>
            <a:r>
              <a:t>ألستُم أنصارَ الله؟</a:t>
            </a:r>
          </a:p>
          <a:p>
            <a:r>
              <a:t>Are you not the helpers of Allah?</a:t>
            </a:r>
          </a:p>
          <a:p>
            <a:r>
              <a:t>قالوا: بلى</a:t>
            </a:r>
          </a:p>
          <a:p>
            <a:r>
              <a:t>They said: "Yes."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3 of 3).</a:t>
            </a:r>
          </a:p>
          <a:p/>
          <a:p>
            <a:r>
              <a:t>Each part: the Arabic, then its meaning.</a:t>
            </a:r>
          </a:p>
          <a:p/>
          <a:p>
            <a:r>
              <a:t>──────── DETAIL — only if you need it ────────</a:t>
            </a:r>
          </a:p>
          <a:p/>
          <a:p>
            <a:r>
              <a:t>قال: فأبشروا فواللهِ لا يخذل اللهُ منْ كانَ في مثل حالكم</a:t>
            </a:r>
          </a:p>
          <a:p>
            <a:r>
              <a:t>He said: Then rejoice — for by Allah, Allah does not abandon those who are in a state like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Another telling, on another page. Do not join it to the dawn prayer.</a:t>
            </a:r>
          </a:p>
          <a:p/>
          <a:p>
            <a:r>
              <a:t>SAY</a:t>
            </a:r>
          </a:p>
          <a:p/>
          <a:p>
            <a:r>
              <a:t>1. In another telling</a:t>
            </a:r>
          </a:p>
          <a:p/>
          <a:p>
            <a:r>
              <a:t>2. Read the duʿāʾ</a:t>
            </a:r>
          </a:p>
          <a:p/>
          <a:p>
            <a:r>
              <a:t>   ↑ read the Arabic on the slide</a:t>
            </a:r>
          </a:p>
          <a:p/>
          <a:p>
            <a:r>
              <a:t>3. "We are Your servants, and in Your path"</a:t>
            </a:r>
          </a:p>
          <a:p/>
          <a:p>
            <a:r>
              <a:t>4. And at the sea</a:t>
            </a:r>
          </a:p>
          <a:p/>
          <a:p>
            <a:r>
              <a:t>5. Two tellings, not one</a:t>
            </a:r>
          </a:p>
          <a:p/>
          <a:p>
            <a:r>
              <a:t>LESSON — He said whose servants they were before he asked for anything.</a:t>
            </a:r>
          </a:p>
          <a:p/>
          <a:p>
            <a:r>
              <a:t>▶ NEXT SLIDE — the same words go on (2 slides in all)</a:t>
            </a:r>
          </a:p>
          <a:p/>
          <a:p>
            <a:r>
              <a:t>──────── DETAIL — only if you need it ────────</a:t>
            </a:r>
          </a:p>
          <a:p/>
          <a:p>
            <a:r>
              <a:t>1. In another telling — Sahm b. Minjāb tells this march in the first person; Ibn Kathīr carries it among the signs.</a:t>
            </a:r>
          </a:p>
          <a:p>
            <a:r>
              <a:t>2. Read the duʿāʾ — Slowly. Four names of Allah; then whose they are; then what they ask.</a:t>
            </a:r>
          </a:p>
          <a:p>
            <a:r>
              <a:t>3. "We are Your servants, and in Your path" — He says whose they are before he asks for anything.</a:t>
            </a:r>
          </a:p>
          <a:p>
            <a:r>
              <a:t>4. And at the sea — The same telling has one line for the crossing: "Make for us a way to Your enemy."</a:t>
            </a:r>
          </a:p>
          <a:p>
            <a:r>
              <a:t>5. Two tellings, not one — There: the dawn prayer, on their knees, a pool. Here: two rakʿas, and rain. Do not join them.</a:t>
            </a:r>
          </a:p>
          <a:p/>
          <a:p>
            <a:r>
              <a:t>وقال في الدعاء: يا عليمُ، يا حليمُ، ويا عليُّ، يا عظيمُ، إنا عبيدُك وفي سبيلك نقاتلُ عدوَّك، اسقنا غَيثًا نشربُ منه ونتوضَّأ، فإذا تركناه فلا تجعل لأحدٍ فيه نصيبًا غيرَنا. وقال في البحر: اجعل لنا سبيلًا إلى عدوِّك</a:t>
            </a:r>
          </a:p>
          <a:p>
            <a:r>
              <a:t>"And he said in the supplication: O All-Knowing, O Forbearing, O Most High, O Tremendous — we are Your servants, and in Your path we fight Your enemy; give us rain from which we may drink and make wuḍūʾ, and when we leave it, give no one a share in it but us. And he said at the sea: Make for us a way to Your enemy."</a:t>
            </a:r>
          </a:p>
          <a:p>
            <a:r>
              <a:t>— al-ʿAlāʾ b. al-Ḥaḍramī ؓ — in another telling, that of Sahm b. Minjāb · البدایہ والنہایہ ج۶ ص۲۳۱</a:t>
            </a:r>
          </a:p>
          <a:p/>
          <a:p>
            <a:r>
              <a:t>──────── BACKGROUND — for home, not for the lectern ────────</a:t>
            </a:r>
          </a:p>
          <a:p/>
          <a:p>
            <a:r>
              <a:t>⚠ Not the dawn telling. These words are on a different page, through a different chain (Sahm b. Minjāb, by</a:t>
            </a:r>
          </a:p>
          <a:p>
            <a:r>
              <a:t>way of Ibn Abī al-Dunyā and al-Bayhaqī). The page that describes the kneeling gives no words</a:t>
            </a:r>
          </a:p>
          <a:p>
            <a:r>
              <a:t>. ⚠ Eyeball the duʿāʾ against the page image before it is projected</a:t>
            </a:r>
          </a:p>
          <a:p>
            <a:r>
              <a:t>(CLAUDE.md ). ⚠ No honorific for Sahm b. Minjāb: no page we hold states his Companionship. ## Yemen I: al-Aswad al-ʿAnsī, from the Abnāʾ to the dawn adhān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اسقنا غَيثًا نشربُ منه ونتوضَّأ</a:t>
            </a:r>
          </a:p>
          <a:p>
            <a:r>
              <a:t>give us rain from which we may drink and make wuḍūʾ</a:t>
            </a:r>
          </a:p>
          <a:p>
            <a:r>
              <a:t>فإذا تركناه فلا تجعل لأحدٍ فيه نصيبًا غيرَنا</a:t>
            </a:r>
          </a:p>
          <a:p>
            <a:r>
              <a:t>and when we leave it, give no one a share in it but 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sides, no distances. Say “not to scale”.</a:t>
            </a:r>
          </a:p>
          <a:p/>
          <a:p>
            <a:r>
              <a:t>SAY</a:t>
            </a:r>
          </a:p>
          <a:p/>
          <a:p>
            <a:r>
              <a:t>▶ CLICK 1 — al-ʿAlāʾ ؓ comes out of al-Dahnāʾ and camps at Hajar.</a:t>
            </a:r>
          </a:p>
          <a:p/>
          <a:p>
            <a:r>
              <a:t>1. al-ʿAlāʾ ؓ camps at Hajar</a:t>
            </a:r>
          </a:p>
          <a:p/>
          <a:p>
            <a:r>
              <a:t>▶ CLICK 2 — He sends to al-Jārūd ؓ — and ʿAbd al-Qays come down on al-Ḥuṭam from their side.</a:t>
            </a:r>
          </a:p>
          <a:p/>
          <a:p>
            <a:r>
              <a:t>2. He sends for al-Jārūd ؓ</a:t>
            </a:r>
          </a:p>
          <a:p/>
          <a:p>
            <a:r>
              <a:t>▶ CLICK 3 — He comes down on him from the Hajar side. Every one gathers.</a:t>
            </a:r>
          </a:p>
          <a:p/>
          <a:p>
            <a:r>
              <a:t>3. And comes down on him himself</a:t>
            </a:r>
          </a:p>
          <a:p/>
          <a:p>
            <a:r>
              <a:t>4. Everyone gathers</a:t>
            </a:r>
          </a:p>
          <a:p/>
          <a:p>
            <a:r>
              <a:t>▶ CLICK 4 — Both sides dig trenches.</a:t>
            </a:r>
          </a:p>
          <a:p/>
          <a:p>
            <a:r>
              <a:t>5. Both sides dig trenches</a:t>
            </a:r>
          </a:p>
          <a:p/>
          <a:p>
            <a:r>
              <a:t>▶ CLICK 5 — A month. They fight by turns, and go back to their trenches.</a:t>
            </a:r>
          </a:p>
          <a:p/>
          <a:p>
            <a:r>
              <a:t>6. A month</a:t>
            </a:r>
          </a:p>
          <a:p/>
          <a:p>
            <a:r>
              <a:t>▶ NEXT SLIDE — the Arabic, and its lesson</a:t>
            </a:r>
          </a:p>
          <a:p/>
          <a:p>
            <a:r>
              <a:t>ASK — line.</a:t>
            </a:r>
          </a:p>
          <a:p/>
          <a:p>
            <a:r>
              <a:t>──────── DETAIL — only if you need it ────────</a:t>
            </a:r>
          </a:p>
          <a:p/>
          <a:p>
            <a:r>
              <a:t>1. al-ʿAlāʾ ؓ camps at Hajar — Out of al-Dahnāʾ, the army comes down at Hajar itself.</a:t>
            </a:r>
          </a:p>
          <a:p>
            <a:r>
              <a:t>2. He sends for al-Jārūd ؓ — To bring ʿAbd al-Qays down on al-Ḥuṭam from their own side.</a:t>
            </a:r>
          </a:p>
          <a:p>
            <a:r>
              <a:t>3. And comes down on him himself — From the side next to Hajar.</a:t>
            </a:r>
          </a:p>
          <a:p>
            <a:r>
              <a:t>4. Everyone gathers — All of them to al-Ḥuṭam, except the men of Dārīn; all the Muslims to al-ʿAlāʾ ؓ.</a:t>
            </a:r>
          </a:p>
          <a:p>
            <a:r>
              <a:t>5. Both sides dig trenches — The Muslims round themselves, and the enemy round theirs.</a:t>
            </a:r>
          </a:p>
          <a:p>
            <a:r>
              <a:t>6.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seize him at their trench — and he calls for his uncle.</a:t>
            </a:r>
          </a:p>
          <a:p/>
          <a:p>
            <a:r>
              <a:t>3. He calls for his uncle</a:t>
            </a:r>
          </a:p>
          <a:p/>
          <a:p>
            <a:r>
              <a:t>4. "A poor sort of sister's son"</a:t>
            </a:r>
          </a:p>
          <a:p/>
          <a:p>
            <a:r>
              <a:t>5. "Feed me</a:t>
            </a:r>
          </a:p>
          <a:p/>
          <a:p>
            <a:r>
              <a:t>6. Said to a man overcome by drink</a:t>
            </a:r>
          </a:p>
          <a:p/>
          <a:p>
            <a:r>
              <a:t>▶ CLICK 3 — Fed, mounted, and let through. He tells al-ʿAlāʾ ؓ: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The second quotation rests on a doubtful word. al-Ṭabarī (corroboration only; vol. 3 p. 308, as read in ) reads the verb as uqtalu — "why am I to be killed, with the troops of ʿIjl all round me?" — which is what the scene needs. Read it off a page image before it is spoken.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out at them, over the trench.</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The man they had made king</a:t>
            </a:r>
          </a:p>
          <a:p/>
          <a:p>
            <a:r>
              <a:t>8.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The man they had made king — ʿAfīf b. al-Mundhir takes him in the pursuit, that same night, and he accepts Islam. Ibn al-Athīr tells it here — before Dārīn.</a:t>
            </a:r>
          </a:p>
          <a:p>
            <a:r>
              <a:t>8.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bulk of the beaten take ship for Dārīn. The rest go home.</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NEXT SLIDE — the same words go on (2 slides in all)</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يَأْمُرُهُمْ بِالْقُعُودِ لِلْمُنْهَزِمِينَ وَالْمُرْتَدِّينَ بِكُلِّ طَرِيق</a:t>
            </a:r>
          </a:p>
          <a:p>
            <a:r>
              <a:t>ordering them to sit in wait for the routed and the apostates on every road.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NEXT SLIDE — the same words go on (2 slides in all)</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فَانْهَضُوا إِلَى عَدُوِّكُمْ وَاسْتَعْرِضُوا الْبَحْر</a:t>
            </a:r>
          </a:p>
          <a:p>
            <a:r>
              <a:t>So rise against your enemy, and take the sea in your stride.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NEXT SLIDE — the same words go on (2 slides in all)</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قيّومُ، يا ذا الجلال والإكرام</a:t>
            </a:r>
          </a:p>
          <a:p>
            <a:r>
              <a:t>O Sustainer; O Lord of majesty and honour</a:t>
            </a:r>
          </a:p>
          <a:p>
            <a:r>
              <a:t>لا إله إلا أنت يا ربَّنا</a:t>
            </a:r>
          </a:p>
          <a:p>
            <a:r>
              <a:t>there is no god but You, our Lord.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strait, forded — not a sea that parted. Say what the page says.</a:t>
            </a:r>
          </a:p>
          <a:p/>
          <a:p>
            <a:r>
              <a:t>⚠ The island is drawn large, and off the shore. A diagram.</a:t>
            </a:r>
          </a:p>
          <a:p/>
          <a:p>
            <a:r>
              <a:t>SAY</a:t>
            </a:r>
          </a:p>
          <a:p/>
          <a:p>
            <a:r>
              <a:t>▶ CLICK 1 — al-ʿAlāʾ ؓ comes down to the shore.</a:t>
            </a:r>
          </a:p>
          <a:p/>
          <a:p>
            <a:r>
              <a:t>1. al-ʿAlāʾ ؓ comes down to the shore</a:t>
            </a:r>
          </a:p>
          <a:p/>
          <a:p>
            <a:r>
              <a:t>▶ CLICK 2 — Into the water, on horseback — he fords the strait.</a:t>
            </a:r>
          </a:p>
          <a:p/>
          <a:p>
            <a:r>
              <a:t>2. Into the water, on horseback</a:t>
            </a:r>
          </a:p>
          <a:p/>
          <a:p>
            <a:r>
              <a:t>3. "Like soft sand with water over it"</a:t>
            </a:r>
          </a:p>
          <a:p/>
          <a:p>
            <a:r>
              <a:t>▶ CLICK 3 — Dārīn falls. He is back the same day.</a:t>
            </a:r>
          </a:p>
          <a:p/>
          <a:p>
            <a:r>
              <a:t>4. Dārīn falls</a:t>
            </a:r>
          </a:p>
          <a:p/>
          <a:p>
            <a:r>
              <a:t>5. Nothing lost in the sea</a:t>
            </a:r>
          </a:p>
          <a:p/>
          <a:p>
            <a:r>
              <a:t>6. "Islam settled there"</a:t>
            </a:r>
          </a:p>
          <a:p/>
          <a:p>
            <a:r>
              <a:t>▶ NEXT SLIDE — the Arabic, and its lesson</a:t>
            </a:r>
          </a:p>
          <a:p/>
          <a:p>
            <a:r>
              <a:t>──────── DETAIL — only if you need it ────────</a:t>
            </a:r>
          </a:p>
          <a:p/>
          <a:p>
            <a:r>
              <a:t>1. al-ʿAlāʾ ؓ comes down to the shore — With the whole army.</a:t>
            </a:r>
          </a:p>
          <a:p>
            <a:r>
              <a:t>2. Into the water, on horseback — He fords the strait, by Allah's leave.</a:t>
            </a:r>
          </a:p>
          <a:p>
            <a:r>
              <a:t>3. "Like soft sand with water over it" — Ibn Kathīr: not covering the camels' pads, nor reaching the horses' knees. Ibn al-Athīr: covering the pads. Give no depth. By ship: a day and a night.</a:t>
            </a:r>
          </a:p>
          <a:p>
            <a:r>
              <a:t>4. Dārīn falls — He fights them and overcomes them, and is back the same day.</a:t>
            </a:r>
          </a:p>
          <a:p>
            <a:r>
              <a:t>5. Nothing lost in the sea — But one man's nosebag — and al-ʿAlāʾ ؓ went back and brought it.</a:t>
            </a:r>
          </a:p>
          <a:p>
            <a:r>
              <a:t>6.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The two books do not give the water the same depth (⁨الکامل⁩ has it covering the camels' pads; ) — ⁨البدایہ⁩'s words: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before any of it (10 AH).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Ḥaḍramawt: the last front (11→12 AH).</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NEXT SLIDE — the same words go on (2 slides in all)</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فَيَتَكَرَّمُونَ أَنْ يَنْتَقِلُوا إِلَى أَوْضَحَ مِنْهَا مَخَافَةَ الْعَارِ</a:t>
            </a:r>
          </a:p>
          <a:p>
            <a:r>
              <a:t>and think it beneath them to move even to a clearer one, for fear of the disgrace</a:t>
            </a:r>
          </a:p>
          <a:p>
            <a:r>
              <a:t>فَكَيْفَ الِانْتِقَالُ مِنَ الْأَمْرِ الْحَسَنِ الْجَمِيلِ وَالْحَقِّ إِلَى الْبَاطِلِ وَالْقَبِيحِ!</a:t>
            </a:r>
          </a:p>
          <a:p>
            <a:r>
              <a:t>so how much worse to move from what is good, fair and true to what is false and ugly!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Kinda run for al-Nujayr. ʿIkrima ؓ brings up the main body.</a:t>
            </a:r>
          </a:p>
          <a:p/>
          <a:p>
            <a:r>
              <a:t>4. A fort already repaired</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no side to any commander. Say “not to scale”.</a:t>
            </a:r>
          </a:p>
          <a:p/>
          <a:p>
            <a:r>
              <a:t>SAY</a:t>
            </a:r>
          </a:p>
          <a:p/>
          <a:p>
            <a:r>
              <a:t>1. Kinda are inside al-Nujayr — the fort they had already repaired.</a:t>
            </a:r>
          </a:p>
          <a:p/>
          <a:p>
            <a:r>
              <a:t>▶ CLICK 1 — al-Muhājir ؓ comes down on them, with Ziyād ؓ. The Muslims besiege the fort.</a:t>
            </a:r>
          </a:p>
          <a:p/>
          <a:p>
            <a:r>
              <a:t>▶ CLICK 2 — ʿIkrima ؓ arrives with the main body. The siege grows hard.</a:t>
            </a:r>
          </a:p>
          <a:p/>
          <a:p>
            <a:r>
              <a:t>▶ CLICK 3 — Raiding parties spread out through the country, after the rest.</a:t>
            </a:r>
          </a:p>
          <a:p/>
          <a:p>
            <a:r>
              <a:t>▶ CLICK 4 — Those inside come out and fight. Many are killed — and they go back in.</a:t>
            </a:r>
          </a:p>
          <a:p/>
          <a:p>
            <a:r>
              <a:t>2. Their spirits sank, and they feared death. Next: what al-Ashʿath did.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and after (12 AH →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NEXT SLIDE — the same words go on (2 slides in all)</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يَا أَهْلَ المَدِيْنَةِ، انْحَرُوا، وَكُلُوا! وَيَا أَهْلَ الإِبِلِ تَعَالَوْا خُذُوا شَرْوَاهَا!</a:t>
            </a:r>
          </a:p>
          <a:p>
            <a:r>
              <a:t>People of Medina — slaughter and eat! And owners of the camels, come and take the like of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NEXT SLIDE — the same words go on (2 slides in all)</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طُلَيْحة بن خوَيْلد الأسدي، وعَمْرو بن معدي كرب، وقيس بن المكشوح.</a:t>
            </a:r>
          </a:p>
          <a:p>
            <a:r>
              <a:t>Ṭulayḥa b. Khuwaylid al-Asadī, ʿAmr b. Maʿdī Karib, and Qays b. al-Makshūḥ.</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Najrān, the Azd: who did not break away (11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So far tonight, every slide has been a front.</a:t>
            </a:r>
          </a:p>
          <a:p/>
          <a:p>
            <a:r>
              <a:t>2. Now the same months, from the side: who did not break at all.</a:t>
            </a:r>
          </a:p>
          <a:p/>
          <a:p>
            <a:r>
              <a:t>3. Some of them are the people you would least expect.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Muslim for only two years</a:t>
            </a:r>
          </a:p>
          <a:p/>
          <a:p>
            <a:r>
              <a:t>2. They did not flee, they did not turn</a:t>
            </a:r>
          </a:p>
          <a:p/>
          <a:p>
            <a:r>
              <a:t>   ↑ read the Arabic on the slide</a:t>
            </a:r>
          </a:p>
          <a:p/>
          <a:p>
            <a:r>
              <a:t>3. One young man stood among them</a:t>
            </a:r>
          </a:p>
          <a:p/>
          <a:p>
            <a:r>
              <a:t>4. Three caliphs left him there</a:t>
            </a:r>
          </a:p>
          <a:p/>
          <a:p>
            <a:r>
              <a:t>5. So it was not about how long</a:t>
            </a:r>
          </a:p>
          <a:p/>
          <a:p>
            <a:r>
              <a:t>LESSON — The newest Muslims in the peninsula held, and what was standing among them was a man the Prophet ﷺ had chosen and Abū Bakr ؓ left exactly where he was.</a:t>
            </a:r>
          </a:p>
          <a:p/>
          <a:p>
            <a:r>
              <a:t>ASK — Before beat 1: "Who do you think held firmer that year — the oldest Muslims in Arabia, or the newest?" newest?"</a:t>
            </a:r>
          </a:p>
          <a:p/>
          <a:p>
            <a:r>
              <a:t>──────── DETAIL — only if you need it ────────</a:t>
            </a:r>
          </a:p>
          <a:p/>
          <a:p>
            <a:r>
              <a:t>1. Thaqīf: Muslim for only two years — They came into Islam in the year 9, two years before all this.</a:t>
            </a:r>
          </a:p>
          <a:p>
            <a:r>
              <a:t>2. They did not flee, they did not turn — Ibn Kathīr's own words; read them off the slide.</a:t>
            </a:r>
          </a:p>
          <a:p>
            <a:r>
              <a:t>3. One young man stood among them — ʿUthmān b. Abī al-ʿĀṣ ؓ, whom the Prophet ﷺ put over them for his intelligence and his eagerness for good — the youngest man in the delegation.</a:t>
            </a:r>
          </a:p>
          <a:p>
            <a:r>
              <a:t>4. Three caliphs left him there — Abū Bakr ؓ confirmed him over al-Ṭāʾif, and ʿUmar ؓ after him.</a:t>
            </a:r>
          </a:p>
          <a:p>
            <a:r>
              <a:t>5. So it was not about how long — Tribes inside Islam far longer broke; the newest Muslims in the peninsula held.</a:t>
            </a:r>
          </a:p>
          <a:p/>
          <a:p>
            <a:r>
              <a:t>وقد كانت ثقيفُ بالطائف ثَبَتوا على الإسلام، لم يفرُّوا ولا ارتدّوا</a:t>
            </a:r>
          </a:p>
          <a:p>
            <a:r>
              <a:t>"Thaqīf at Ṭāʾif had stood firm upon Islam: they did not flee and they did not apostatise."</a:t>
            </a:r>
          </a:p>
          <a:p>
            <a:r>
              <a:t>— Ibn Kathīr, on Thaqīf · البدایہ والنہایہ ج۷ ص۹</a:t>
            </a:r>
          </a:p>
          <a:p/>
          <a:p>
            <a:r>
              <a:t>──────── BACKGROUND — for home, not for the lectern ────────</a:t>
            </a:r>
          </a:p>
          <a:p/>
          <a:p>
            <a:r>
              <a:t>The man, from سیر أعلام النبلاء ج2 ص374 (https://shamela.ws/book/10906/2354), الذہبی رحمہ اللہ</a:t>
            </a:r>
          </a:p>
          <a:p>
            <a:r>
              <a:t>on عثمان بن أبي العاص ؓ الثقفي الطائفي:</a:t>
            </a:r>
          </a:p>
          <a:p>
            <a:r>
              <a:t>&gt; قَدِمَ فِي وَفْدِ ثَقِيْفٍ عَلَى النَّبِيِّ ﷺ فِي سَنَةِ تِسْعٍ، فَأَسْلَمُوا، وَأَمَّرَهُ عَلَيْهِم لِمَا رَأَى مِنْ عَقْلِهِ وَحِرْصِهِ عَلَى الخَيْرِ وَالدِّيْنِ، وَكَانَ أَصْغَرَ الوَفْدِ سِنّاً. ثُمَّ أَقَرَّهُ أَبُو بَكْرٍ عَلَى الطَّائِفِ، ثُمَّ عُمَرُ</a:t>
            </a:r>
          </a:p>
          <a:p>
            <a:r>
              <a:t>&gt; English: "He came in the delegation of Thaqīf to the Prophet ﷺ in the year 9, and they became</a:t>
            </a:r>
          </a:p>
          <a:p>
            <a:r>
              <a:t>&gt; Muslim; and he put him in command over them for what he saw of his intelligence and his eagerness</a:t>
            </a:r>
          </a:p>
          <a:p>
            <a:r>
              <a:t>&gt; for good and for religion — and he was the youngest of the delegation in years. Then Abū Bakr</a:t>
            </a:r>
          </a:p>
          <a:p>
            <a:r>
              <a:t>&gt; confirmed him over Ṭāʾif, and then ʿUmar." ⚠ The famous line often attributed to عثمان بن أبي العاص ؓ — that Thaqīf were the last to enter</a:t>
            </a:r>
          </a:p>
          <a:p>
            <a:r>
              <a:t>Islam and would not be the first to leave it — could not be found on any page fetched in this pass.</a:t>
            </a:r>
          </a:p>
          <a:p>
            <a:r>
              <a:t>It is not at سیر ج2 ص374–375 and not at البدایہ ج7 ص9. Do not use it. (to verify)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Not everyone in Arabia was Muslim</a:t>
            </a:r>
          </a:p>
          <a:p/>
          <a:p>
            <a:r>
              <a:t>2. Najrān held the Prophet's ﷺ covenant</a:t>
            </a:r>
          </a:p>
          <a:p/>
          <a:p>
            <a:r>
              <a:t>3. They sent to renew it</a:t>
            </a:r>
          </a:p>
          <a:p/>
          <a:p>
            <a:r>
              <a:t>4. Abū Bakr ؓ wrote it down</a:t>
            </a:r>
          </a:p>
          <a:p/>
          <a:p>
            <a:r>
              <a:t>   ↑ read the Arabic on the slide</a:t>
            </a:r>
          </a:p>
          <a:p/>
          <a:p>
            <a:r>
              <a:t>5. No date and no names on the page</a:t>
            </a:r>
          </a:p>
          <a:p/>
          <a:p>
            <a:r>
              <a:t>6. Ibn Kathīr names them again</a:t>
            </a:r>
          </a:p>
          <a:p/>
          <a:p>
            <a:r>
              <a:t>LESSON — The war ended with the peninsula in two conditions, not one — and the book names the second condition with a community that never left.</a:t>
            </a:r>
          </a:p>
          <a:p/>
          <a:p>
            <a:r>
              <a:t>──────── DETAIL — only if you need it ────────</a:t>
            </a:r>
          </a:p>
          <a:p/>
          <a:p>
            <a:r>
              <a:t>1. Not everyone in Arabia was Muslim — And not every community that was not Muslim rose.</a:t>
            </a:r>
          </a:p>
          <a:p>
            <a:r>
              <a:t>2. Najrān held the Prophet's ﷺ covenant — A Christian community, under a covenant he ﷺ had given them himself.</a:t>
            </a:r>
          </a:p>
          <a:p>
            <a:r>
              <a:t>3. They sent to renew it — While Muslim tribes were breaking theirs, Najrān sent a delegation to Medina to renew its own.</a:t>
            </a:r>
          </a:p>
          <a:p>
            <a:r>
              <a:t>4. Abū Bakr ؓ wrote it down — He wrote them a document to that effect.</a:t>
            </a:r>
          </a:p>
          <a:p>
            <a:r>
              <a:t>5. No date and no names on the page — Ibn al-Athīr gives one sentence; supply nothing more.</a:t>
            </a:r>
          </a:p>
          <a:p>
            <a:r>
              <a:t>6. Ibn Kathīr names them again — When he sums the war up, the peninsula ends in obedience or covenant, "like the people of Najrān".</a:t>
            </a:r>
          </a:p>
          <a:p/>
          <a:p>
            <a:r>
              <a:t>أَرْسَلُوا وَفْدًا لِيُجَدِّدُوا عَهْدَهُمْ مَعَ أَبِي بَكْرٍ، فَكَتَبَ بِذَلِكَ كِتَابًا</a:t>
            </a:r>
          </a:p>
          <a:p>
            <a:r>
              <a:t>"They sent a delegation to renew their covenant with Abū Bakr, and he wrote a document to that effect."</a:t>
            </a:r>
          </a:p>
          <a:p>
            <a:r>
              <a:t>— Ibn al-Athīr, on Najrān · الکامل فی التاریخ ج۲ ص۲۲۷</a:t>
            </a:r>
          </a:p>
          <a:p/>
          <a:p>
            <a:r>
              <a:t>──────── BACKGROUND — for home, not for the lectern ────────</a:t>
            </a:r>
          </a:p>
          <a:p/>
          <a:p>
            <a:r>
              <a:t>⚠ Do not open the Najrān delegation of the Prophet's ﷺ lifetime, or the ⁨مباهلة⁩. That is a different</a:t>
            </a:r>
          </a:p>
          <a:p>
            <a:r>
              <a:t>subject and a different evening; tonight Najrān is one line in a campaign chapter.</a:t>
            </a:r>
          </a:p>
          <a:p>
            <a:r>
              <a:t>⚠ Single-source. ⁨البدایہ⁩ carries Najrān in RC36's summing-up but not this delegation. Say</a:t>
            </a:r>
          </a:p>
          <a:p>
            <a:r>
              <a:t>"Ibn al-Athīr records…".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Banū Tamīm: not one answer</a:t>
            </a:r>
          </a:p>
          <a:p/>
          <a:p>
            <a:r>
              <a:t>   ↑ read the Arabic on the slide</a:t>
            </a:r>
          </a:p>
          <a:p/>
          <a:p>
            <a:r>
              <a:t>2. Some withheld the zakāt</a:t>
            </a:r>
          </a:p>
          <a:p/>
          <a:p>
            <a:r>
              <a:t>3. Some sent it to Abū Bakr ؓ</a:t>
            </a:r>
          </a:p>
          <a:p/>
          <a:p>
            <a:r>
              <a:t>4. Some waited</a:t>
            </a:r>
          </a:p>
          <a:p/>
          <a:p>
            <a:r>
              <a:t>5. The tribe of al-Buṭāḥ</a:t>
            </a:r>
          </a:p>
          <a:p/>
          <a:p>
            <a:r>
              <a:t>6. No tribe is one colour</a:t>
            </a:r>
          </a:p>
          <a:p/>
          <a:p>
            <a:r>
              <a:t>LESSON — The honest map has three colours inside one tribe, and the sentence that licenses it is the book's own.</a:t>
            </a:r>
          </a:p>
          <a:p/>
          <a:p>
            <a:r>
              <a:t>ASK — Before showing it: "One tribe. How many different answers can it give at the same moment?"</a:t>
            </a:r>
          </a:p>
          <a:p/>
          <a:p>
            <a:r>
              <a:t>▶ NEXT SLIDE — the same words go on (2 slides in all)</a:t>
            </a:r>
          </a:p>
          <a:p/>
          <a:p>
            <a:r>
              <a:t>──────── DETAIL — only if you need it ────────</a:t>
            </a:r>
          </a:p>
          <a:p/>
          <a:p>
            <a:r>
              <a:t>1. Banū Tamīm: not one answer — The book stops its own narrative to say what they did, and it is three things.</a:t>
            </a:r>
          </a:p>
          <a:p>
            <a:r>
              <a:t>2. Some withheld the zakāt — Some of them turned.</a:t>
            </a:r>
          </a:p>
          <a:p>
            <a:r>
              <a:t>3. Some sent it to Abū Bakr ؓ — The ṣadaqa money went in to Medina.</a:t>
            </a:r>
          </a:p>
          <a:p>
            <a:r>
              <a:t>4. Some waited — They held back to see how the matter would go.</a:t>
            </a:r>
          </a:p>
          <a:p>
            <a:r>
              <a:t>5. The tribe of al-Buṭāḥ — The room met Banū Tamīm on evening 4; this is that tribe, counted honestly.</a:t>
            </a:r>
          </a:p>
          <a:p>
            <a:r>
              <a:t>6. No tribe is one colour — A map that shades Banū Tamīm a single colour is contradicted by the book it is drawn from.</a:t>
            </a:r>
          </a:p>
          <a:p/>
          <a:p>
            <a:r>
              <a:t>كانت بنو تميم قد اختلفتْ أراؤُهم أيام الرِّدَّة، فمنهم من ارتدَّ ومنعَ الزكاة، ومنهم منْ بعثَ بأموالِ الصَّدقات إلى الصدِّيق، ومنهم من توقف لينظر في أمره.</a:t>
            </a:r>
          </a:p>
          <a:p>
            <a:r>
              <a:t>"The views of Banū Tamīm differed in the days of the ridda: some of them apostatised and withheld the zakāt; some of them sent the ṣadaqa monies to al-Ṣiddīq; and some of them held back to see how the matter would go."</a:t>
            </a:r>
          </a:p>
          <a:p>
            <a:r>
              <a:t>— Ibn Kathīr, on Banū Tamīm · البدایہ والنہایہ ج۷ ص۲۸</a:t>
            </a:r>
          </a:p>
          <a:p/>
          <a:p>
            <a:r>
              <a:t>──────── BACKGROUND — for home, not for the lectern ────────</a:t>
            </a:r>
          </a:p>
          <a:p/>
          <a:p>
            <a:r>
              <a:t>Cross-reference: , and adds only the collectors' names 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فمنهم من ارتدَّ ومنعَ الزكاة</a:t>
            </a:r>
          </a:p>
          <a:p>
            <a:r>
              <a:t>some of them apostatised and withheld the zakāt</a:t>
            </a:r>
          </a:p>
          <a:p>
            <a:r>
              <a:t>ومنهم منْ بعثَ بأموالِ الصَّدقات إلى الصدِّيق</a:t>
            </a:r>
          </a:p>
          <a:p>
            <a:r>
              <a:t>some of them sent the ṣadaqa monies to al-Ṣiddīq</a:t>
            </a:r>
          </a:p>
          <a:p>
            <a:r>
              <a:t>ومنهم من توقف لينظر في أمره.</a:t>
            </a:r>
          </a:p>
          <a:p>
            <a:r>
              <a:t>and some of them held back to see how the matter would go.</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other side, in its own words</a:t>
            </a:r>
          </a:p>
          <a:p/>
          <a:p>
            <a:r>
              <a:t>2. "What is this rule of Abū Bakr?"</a:t>
            </a:r>
          </a:p>
          <a:p/>
          <a:p>
            <a:r>
              <a:t>   ↑ read the Arabic on the slide</a:t>
            </a:r>
          </a:p>
          <a:p/>
          <a:p>
            <a:r>
              <a:t>3. The longer version</a:t>
            </a:r>
          </a:p>
          <a:p/>
          <a:p>
            <a:r>
              <a:t>4. Not the prayer, not the Prophet ﷺ</a:t>
            </a:r>
          </a:p>
          <a:p/>
          <a:p>
            <a:r>
              <a:t>5. Only: who is obeyed now</a:t>
            </a:r>
          </a:p>
          <a:p/>
          <a:p>
            <a:r>
              <a:t>LESSON — The refusal stated itself in the language of who should rule, and the answer it was given was in the language of what is owed.</a:t>
            </a:r>
          </a:p>
          <a:p/>
          <a:p>
            <a:r>
              <a:t>──────── DETAIL — only if you need it ────────</a:t>
            </a:r>
          </a:p>
          <a:p/>
          <a:p>
            <a:r>
              <a:t>1. The other side, in its own words — The book twice prints a verse from the men who refused.</a:t>
            </a:r>
          </a:p>
          <a:p>
            <a:r>
              <a:t>2. "What is this rule of Abū Bakr?" — "We obeyed the Messenger of Allah while he was among us — so what is this about the rule of Abū Bakr?"</a:t>
            </a:r>
          </a:p>
          <a:p>
            <a:r>
              <a:t>3. The longer version — At ⁨ج7 ص20⁩ it asks whether it is to be left to Bakr after him, and calls that a thing that breaks the back.</a:t>
            </a:r>
          </a:p>
          <a:p>
            <a:r>
              <a:t>4. Not the prayer, not the Prophet ﷺ — Nothing in the lines denies either.</a:t>
            </a:r>
          </a:p>
          <a:p>
            <a:r>
              <a:t>5. Only: who is obeyed now — That is what the verse objects to. Say it and stop; it is not a verdict on anyone.</a:t>
            </a:r>
          </a:p>
          <a:p/>
          <a:p>
            <a:r>
              <a:t>أطعنَا رسولَ اللهِ إذْ كانَ بَيْننا … فواعَجَبًا ما بَالُ مُلْكِ أبي بَكْرِ</a:t>
            </a:r>
          </a:p>
          <a:p>
            <a:r>
              <a:t>"We obeyed the Messenger of Allah while he was among us — so how strange: what is this about the rule of Abū Bakr?"</a:t>
            </a:r>
          </a:p>
          <a:p>
            <a:r>
              <a:t>— A verse of the tribes that refused, as Ibn Kathīr records it · البدایہ والنہایہ ج۷ ص۱۸ (and again ج۷ ص۲۰ · </a:t>
            </a:r>
          </a:p>
          <a:p/>
          <a:p>
            <a:r>
              <a:t>──────── BACKGROUND — for home, not for the lectern ────────</a:t>
            </a:r>
          </a:p>
          <a:p/>
          <a:p>
            <a:r>
              <a:t>The four-line version at ج7 ص20 (https://shamela.ws/book/30097/3166) adds:</a:t>
            </a:r>
          </a:p>
          <a:p>
            <a:r>
              <a:t>«أيورثنا بَكْرًا إذا ماتَ بعدَه … وتِلكَ لَعمرُ الله قاصِمَةُ الظَّهرِ» — "Is he to leave us to Bakr as</a:t>
            </a:r>
          </a:p>
          <a:p>
            <a:r>
              <a:t>an inheritance when he dies? That, by God's life, breaks the back."</a:t>
            </a:r>
          </a:p>
          <a:p>
            <a:r>
              <a:t>⚠ Say whose words these are before reading them. They are a rebel's verse, printed by the book as</a:t>
            </a:r>
          </a:p>
          <a:p>
            <a:r>
              <a:t>the objection that was being made against the caliphate — not as a description of it. Pair this card</a:t>
            </a:r>
          </a:p>
          <a:p>
            <a:r>
              <a:t>with and so the room hears the objection and the answer in the same minute, and do not</a:t>
            </a:r>
          </a:p>
          <a:p>
            <a:r>
              <a:t>leave the verse standing alone at the end of a block.</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One tribe, two ends of the map</a:t>
            </a:r>
          </a:p>
          <a:p/>
          <a:p>
            <a:r>
              <a:t>2. The Anṣār are of al-Azd</a:t>
            </a:r>
          </a:p>
          <a:p/>
          <a:p>
            <a:r>
              <a:t>3. In Oman: behind Laqīṭ</a:t>
            </a:r>
          </a:p>
          <a:p/>
          <a:p>
            <a:r>
              <a:t>   ↑ read the Arabic on the slide</a:t>
            </a:r>
          </a:p>
          <a:p/>
          <a:p>
            <a:r>
              <a:t>4. At al-Yamāma: under Thābit b. Qays ؓ</a:t>
            </a:r>
          </a:p>
          <a:p/>
          <a:p>
            <a:r>
              <a:t>5. Same descent, opposite choices</a:t>
            </a:r>
          </a:p>
          <a:p/>
          <a:p>
            <a:r>
              <a:t>6. About that year only</a:t>
            </a:r>
          </a:p>
          <a:p/>
          <a:p>
            <a:r>
              <a:t>LESSON — Descent explains the vocabulary people used that year. It does not predict where any of them stood.</a:t>
            </a:r>
          </a:p>
          <a:p/>
          <a:p>
            <a:r>
              <a:t>ASK — Before telling it: "The Anṣār of Medina, and the tribe that rose in Oman — how are the two related?"</a:t>
            </a:r>
          </a:p>
          <a:p/>
          <a:p>
            <a:r>
              <a:t>──────── DETAIL — only if you need it ────────</a:t>
            </a:r>
          </a:p>
          <a:p/>
          <a:p>
            <a:r>
              <a:t>1. One tribe, two ends of the map — The fact that stops a genealogy from turning into a theory.</a:t>
            </a:r>
          </a:p>
          <a:p>
            <a:r>
              <a:t>2. The Anṣār are of al-Azd — And so are the Azd of Oman.</a:t>
            </a:r>
          </a:p>
          <a:p>
            <a:r>
              <a:t>3. In Oman: behind Laqīṭ — The Azd of Oman rose behind Laqīṭ b. Mālik al-Azdī, whom the room met last week.</a:t>
            </a:r>
          </a:p>
          <a:p>
            <a:r>
              <a:t>4. At al-Yamāma: under Thābit b. Qays ؓ — The Azd of Medina carried the Anṣār's banner; he dug his feet in to his shins and died standing.</a:t>
            </a:r>
          </a:p>
          <a:p>
            <a:r>
              <a:t>5. Same descent, opposite choices — In the same year.</a:t>
            </a:r>
          </a:p>
          <a:p>
            <a:r>
              <a:t>6. About that year only — It says nothing about anyone alive; do not let it.</a:t>
            </a:r>
          </a:p>
          <a:p/>
          <a:p>
            <a:r>
              <a:t>فنبغَ فيهم رجلٌ يقالَ له: ذو التاج لَقيطُ بن مالك الأَزدي، وكان يُسَمَّى في الجاهلية الجُلَنْدَى، فادّعى النُّبوَّة أيضًا</a:t>
            </a:r>
          </a:p>
          <a:p>
            <a:r>
              <a:t>"There arose among them a man called Dhū al-Tāj, Laqīṭ b. Mālik al-Azdī — who used to be called al-Julandā in the Jāhiliyya — and he too claimed prophethood."</a:t>
            </a:r>
          </a:p>
          <a:p>
            <a:r>
              <a:t>— Ibn Kathīr, on Oman · البدایہ والنہایہ ج۷ ص۴۱</a:t>
            </a:r>
          </a:p>
          <a:p/>
          <a:p>
            <a:r>
              <a:t>──────── BACKGROUND — for home, not for the lectern ────────</a:t>
            </a:r>
          </a:p>
          <a:p/>
          <a:p>
            <a:r>
              <a:t>This عبرت line is the safest and truest thing the speaker can say about the whole عدنان/قحطان</a:t>
            </a:r>
          </a:p>
          <a:p>
            <a:r>
              <a:t>strand, and it is what keeps the fault-line slides from becoming an ethnic theory. If only one</a:t>
            </a:r>
          </a:p>
          <a:p>
            <a:r>
              <a:t>sentence of survives the cut, keep this one.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12 AH: Ibn Kathīr and Ibn Masʿūd ؓ on the whole war.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live quietly and worship</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Over a young she-camel: a bint makhāḍ and a bint labūn.</a:t>
            </a:r>
          </a:p>
          <a:p>
            <a:r>
              <a:t>5. To live quietly and worship — To live off the Arab settlements and worship Allah until certainty came.</a:t>
            </a:r>
          </a:p>
          <a:p>
            <a:r>
              <a:t>6. The consensus went the other way — Say it plainly; a Companion is the one who records it.</a:t>
            </a:r>
          </a:p>
          <a:p>
            <a:r>
              <a:t>7. Then Allah resolved Abū Bakr ؓ — "Then Allah resolved for Abū Bakr to fight them."</a:t>
            </a:r>
          </a:p>
          <a:p>
            <a:r>
              <a:t>8. The two terms of evening 2 — He accepted nothing but the humiliating terms or the war that drives out; the loop closes on the words it opened with.</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a:t>
            </a:r>
          </a:p>
          <a:p>
            <a:r>
              <a:t>"We stood, after the Messenger of Allah ﷺ, in a position in which we nearly perished, had Allah not favoured us with Abū Bakr. We had agreed not to fight over a bint makhāḍ or a bint labūn, and to live off the Arab settlements, and to worship Allah until certainty came to us."</a:t>
            </a:r>
          </a:p>
          <a:p>
            <a:r>
              <a:t>— ʿAbd Allāh b. Masʿūd ؓ · الکامل فی التاریخ ج۲ ص۲۰۱</a:t>
            </a:r>
          </a:p>
          <a:p/>
          <a:p>
            <a:r>
              <a:t>──────── BACKGROUND — for home, not for the lectern ────────</a:t>
            </a:r>
          </a:p>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NEXT SLIDE — the same words go on (2 slides in all)</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 عُمَرُ يَرَى اسْتِعْمَالَهُمْ عَلَى الْجُنْدِ وَغَيْرِهِ.</a:t>
            </a:r>
          </a:p>
          <a:p>
            <a:r>
              <a:t>And ʿUmar held that they should be employed over the troops and otherwise.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Line</a:t>
            </a:r>
          </a:p>
          <a:p/>
          <a:p>
            <a:r>
              <a:t>SAY</a:t>
            </a:r>
          </a:p>
          <a:p/>
          <a:p>
            <a:r>
              <a:t>1. Both fronts — and then the whole war, seen from its end.</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map</a:t>
            </a:r>
          </a:p>
          <a:p/>
          <a:p>
            <a:r>
              <a:t>SAY</a:t>
            </a:r>
          </a:p>
          <a:p/>
          <a:p>
            <a:r>
              <a:t>1. Eleven banners left one sitting. Every sector is this colour now.</a:t>
            </a:r>
          </a:p>
          <a:p/>
          <a:p>
            <a:r>
              <a:t>⏱ Past 0:52 here — close here. This is the last checkpoint built.</a:t>
            </a:r>
          </a:p>
          <a:p/>
          <a:p>
            <a:r>
              <a:t>CARRY ON — “One question is left: why did it not break again?”</a:t>
            </a:r>
          </a:p>
          <a:p/>
          <a:p>
            <a:r>
              <a:t>──────── DETAIL — only if you need it ────────</a:t>
            </a:r>
          </a:p>
          <a:p/>
          <a:p>
            <a:r>
              <a:t>OUT OF TIME — this is your ending. Stay on this map, and say:</a:t>
            </a:r>
          </a:p>
          <a:p/>
          <a:p>
            <a:r>
              <a:t>“There were two empires on the other side of that desert. Next week: did either of them know?”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Khaldūn: why Arabia did not break again.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his name, and “as he reads it”. He never wrote this about the Ridda.</a:t>
            </a:r>
          </a:p>
          <a:p/>
          <a:p>
            <a:r>
              <a:t>SAY</a:t>
            </a:r>
          </a:p>
          <a:p/>
          <a:p>
            <a:r>
              <a:t>1. Ibn Khaldūn: a reader, not a witness</a:t>
            </a:r>
          </a:p>
          <a:p/>
          <a:p>
            <a:r>
              <a:t>2. His question</a:t>
            </a:r>
          </a:p>
          <a:p/>
          <a:p>
            <a:r>
              <a:t>3. Not more men</a:t>
            </a:r>
          </a:p>
          <a:p/>
          <a:p>
            <a:r>
              <a:t>4. The call removes rivalry</a:t>
            </a:r>
          </a:p>
          <a:p/>
          <a:p>
            <a:r>
              <a:t>   ↑ read the Arabic on the slide</a:t>
            </a:r>
          </a:p>
          <a:p/>
          <a:p>
            <a:r>
              <a:t>5. One direction</a:t>
            </a:r>
          </a:p>
          <a:p/>
          <a:p>
            <a:r>
              <a:t>6. "As Ibn Khaldūn reads it"</a:t>
            </a:r>
          </a:p>
          <a:p/>
          <a:p>
            <a:r>
              <a:t>LESSON — What changed in Arabia was not how many men there were, but which way they were all facing.</a:t>
            </a:r>
          </a:p>
          <a:p/>
          <a:p>
            <a:r>
              <a:t>ASK — Before beat 3: "What would you need, to turn that map into one army? More men?" Take two answers, then read him. had changed?"</a:t>
            </a:r>
          </a:p>
          <a:p/>
          <a:p>
            <a:r>
              <a:t>──────── DETAIL — only if you need it ────────</a:t>
            </a:r>
          </a:p>
          <a:p/>
          <a:p>
            <a:r>
              <a:t>1. Ibn Khaldūn: a reader, not a witness — رحمہ اللہ; he wrote seven centuries after these events, and his book asks why peoples rise and fall.</a:t>
            </a:r>
          </a:p>
          <a:p>
            <a:r>
              <a:t>2. His question — How does a peninsula that has just fragmented move against two empires within two years?</a:t>
            </a:r>
          </a:p>
          <a:p>
            <a:r>
              <a:t>3. Not more men — His answer multiplies nobody's numbers.</a:t>
            </a:r>
          </a:p>
          <a:p>
            <a:r>
              <a:t>4. The call removes rivalry — A religious call takes away the envy among people bound by kin, and points them all one way.</a:t>
            </a:r>
          </a:p>
          <a:p>
            <a:r>
              <a:t>5. One direction — Then nothing stands in front of them: the object is equal in every eye, and they will die for it.</a:t>
            </a:r>
          </a:p>
          <a:p>
            <a:r>
              <a:t>6. "As Ibn Khaldūn reads it" — He never wrote this about the Ridda; joining his chapter to the year 11 is this course's doing, not his.</a:t>
            </a:r>
          </a:p>
          <a:p/>
          <a:p>
            <a: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a:p>
            <a:r>
              <a:t>"The reason for it … is that the religious colouring takes away the rivalry and mutual envy that are in people of عصبية, and makes their direction single, towards the truth. Then, once clear sight in their affair is theirs, nothing stands in their way — because the direction is one, the object is equal in all their eyes, and they will die for it."</a:t>
            </a:r>
          </a:p>
          <a:p>
            <a:r>
              <a:t>— Ibn Khaldūn — as he reads it · تاریخ ابن خلدون ج۱ ص۱۹۸</a:t>
            </a:r>
          </a:p>
          <a:p/>
          <a:p>
            <a:r>
              <a:t>──────── BACKGROUND — for home, not for the lectern ────────</a:t>
            </a:r>
          </a:p>
          <a:p/>
          <a:p>
            <a:r>
              <a:t>⚠ The slide must carry his name and the words "as he reads it". He never wrote this about the</a:t>
            </a:r>
          </a:p>
          <a:p>
            <a:r>
              <a:t>ridda; joining his chapter to the year eleven is our doing .</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STOP HERE — ask it, and pause. Then a loud السلام علیکم — and the dua.</a:t>
            </a:r>
          </a:p>
          <a:p/>
          <a:p>
            <a:r>
              <a:t>IF YOU CARRY ON — ask it, and go straight on: Part IX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Persia and Rome: the other side of the desert (12 AH).</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two zones are outlines. No page we hold gives either empire's borders.</a:t>
            </a:r>
          </a:p>
          <a:p/>
          <a:p>
            <a:r>
              <a:t>SAY</a:t>
            </a:r>
          </a:p>
          <a:p/>
          <a:p>
            <a:r>
              <a:t>1. All of Arabia is one colour. Now look past it.</a:t>
            </a:r>
          </a:p>
          <a:p/>
          <a:p>
            <a:r>
              <a:t>▶ CLICK 1 — Persia. You know how its king died: by his own son.</a:t>
            </a:r>
          </a:p>
          <a:p/>
          <a:p>
            <a:r>
              <a:t>▶ CLICK 2 — Rome. Its emperor is Heraclius, and Syria is his.</a:t>
            </a:r>
          </a:p>
          <a:p/>
          <a:p>
            <a:r>
              <a:t>2. What our books say of each, and what each was told.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the names as the page's. Do not reconcile them with other histories.</a:t>
            </a:r>
          </a:p>
          <a:p/>
          <a:p>
            <a:r>
              <a:t>⚠ Stop before Rustam and al-Qādisiyya — later evenings.</a:t>
            </a:r>
          </a:p>
          <a:p/>
          <a:p>
            <a:r>
              <a:t>SAY</a:t>
            </a:r>
          </a:p>
          <a:p/>
          <a:p>
            <a:r>
              <a:t>1. You know how Kisrā died</a:t>
            </a:r>
          </a:p>
          <a:p/>
          <a:p>
            <a:r>
              <a:t>2. The books name the son</a:t>
            </a:r>
          </a:p>
          <a:p/>
          <a:p>
            <a:r>
              <a:t>3. What Shīrā did to his own house</a:t>
            </a:r>
          </a:p>
          <a:p/>
          <a:p>
            <a:r>
              <a:t>4. So Persia had to search for a king</a:t>
            </a:r>
          </a:p>
          <a:p/>
          <a:p>
            <a:r>
              <a:t>5. One boy had been got away</a:t>
            </a:r>
          </a:p>
          <a:p/>
          <a:p>
            <a:r>
              <a:t>   ↑ read the Arabic on the slide</a:t>
            </a:r>
          </a:p>
          <a:p/>
          <a:p>
            <a:r>
              <a:t>6. That is the house the letter went to</a:t>
            </a:r>
          </a:p>
          <a:p/>
          <a:p>
            <a:r>
              <a:t>7. Ibn al-Athīr tells the search a year on</a:t>
            </a:r>
          </a:p>
          <a:p/>
          <a:p>
            <a:r>
              <a:t>LESSON — The throne they were about to face had been emptied by its own family.</a:t>
            </a:r>
          </a:p>
          <a:p/>
          <a:p>
            <a:r>
              <a:t>▶ NEXT SLIDE — the same words go on (2 slides in all)</a:t>
            </a:r>
          </a:p>
          <a:p/>
          <a:p>
            <a:r>
              <a:t>──────── DETAIL — only if you need it ────────</a:t>
            </a:r>
          </a:p>
          <a:p/>
          <a:p>
            <a:r>
              <a:t>1. You know how Kisrā died — Evening 3: “my Lord has killed your lord tonight” — by his own son.</a:t>
            </a:r>
          </a:p>
          <a:p>
            <a:r>
              <a:t>2. The books name the son — Shīrā.</a:t>
            </a:r>
          </a:p>
          <a:p>
            <a:r>
              <a:t>3. What Shīrā did to his own house — He gathered its women, and killed the males. Ibn al-Athīr says it in passing.</a:t>
            </a:r>
          </a:p>
          <a:p>
            <a:r>
              <a:t>4. So Persia had to search for a king — Its great men sent for the women of Kisrā's house, to find one male of the line.</a:t>
            </a:r>
          </a:p>
          <a:p>
            <a:r>
              <a:t>5. One boy had been got away — Yazdagird. His mother had sent him to her brothers. They made him king, at twenty-one.</a:t>
            </a:r>
          </a:p>
          <a:p>
            <a:r>
              <a:t>6. That is the house the letter went to — Khālid's ؓ letter was sent on “to Shīrā son of Kisrā, and Ardashīr son of Shīrā”.</a:t>
            </a:r>
          </a:p>
          <a:p>
            <a:r>
              <a:t>7. Ibn al-Athīr tells the search a year on — Under year 13. The killing it looks back to is older.</a:t>
            </a:r>
          </a:p>
          <a:p/>
          <a:p>
            <a:r>
              <a:t>لَمْ يَبْقَ إِلَّا غُلَامٌ يُدْعَى يَزْدَجِرْدَ مِنْ وَلَدِ شَهْرَيَارَ بْنِ كِسْرَى، وَأُمُّهُ مِنْ أَهْلِ بَادُورَيَا. فَأَرْسَلُوا إِلَيْهَا وَطَلَبُوهُ مِنْهَا، وَكَانَتْ قَدْ أَنْزَلَتْهُ أَيَّامَ شِيرَى حِينَ جَمَعَهُنَّ فَقَتَلَ الذُّكُورَ، وَأَرْسَلَتْهُ إِلَى أَخْوَالِهِ، فَلَمَّا سَأَلُوهَا عَنْهُ دَلَّتْهُمْ عَلَيْهِ، فَجَاءُوا بِهِ فَمَلَّكُوهُ وَهُوَ ابْنُ إِحْدَى وَعِشْرِينَ سَنَة</a:t>
            </a:r>
          </a:p>
          <a:p>
            <a:r>
              <a:t>“None is left but a boy called Yazdagird, of the line of Shahriyār son of Kisrā; his mother is of the people of Bādūrayā.” So they sent to her and asked her for him. She had got him away in the days of Shīrā — when he gathered them and killed the males — and had sent him to his mother's brothers. When they asked her about him she led them to him; and they brought him and made him king, at twenty-one.</a:t>
            </a:r>
          </a:p>
          <a:p>
            <a:r>
              <a:t>— Ibn al-Athīr, on how Persia found its last king · الکامل فی التاریخ ج۲ ص۲۸۴</a:t>
            </a:r>
          </a:p>
          <a:p/>
          <a:p>
            <a:r>
              <a:t>──────── BACKGROUND — for home, not for the lectern ────────</a:t>
            </a:r>
          </a:p>
          <a:p/>
          <a:p>
            <a:r>
              <a:t>Who the letter was sent on to:</a:t>
            </a:r>
          </a:p>
          <a:p>
            <a:r>
              <a:t>&gt; فكتب إليه خالدٌ فبعث هرمزُ بكتابِ خالدٍ إلى شيرَى بن كسرى، وأردشير بن شيرَى</a:t>
            </a:r>
          </a:p>
          <a:p>
            <a:r>
              <a:t>&gt; — البدایہ والنہایہ ج7 ص64 · https://shamela.ws/book/30097/3210</a:t>
            </a:r>
          </a:p>
          <a:p>
            <a:r>
              <a:t>&gt; English: “So Khālid wrote to him; and Hurmuz sent Khālid's letter on to Shīrā son of Kisrā, and Ardashīr son of Shīrā.” ⚠ Say the names as the page's, and do not reconcile them. General histories put Shīrā's death within months of</a:t>
            </a:r>
          </a:p>
          <a:p>
            <a:r>
              <a:t>his father's [CONVENTIONAL-ESTIMATE]; Ibn Kathīr's page, following Sayf, has the letter sent on to him in year 12.</a:t>
            </a:r>
          </a:p>
          <a:p>
            <a:r>
              <a:t>⚠ Narrate and stop. This is Persian court history told by Muslim historians. Rustam, the Bridge and</a:t>
            </a:r>
          </a:p>
          <a:p>
            <a:r>
              <a:t>al-Qādisiyya are later evenings — the page names Rustam and al-Fayrūzān; the slide does not.</a:t>
            </a:r>
          </a:p>
          <a:p>
            <a:r>
              <a:t>⚠ No dates for Shīrā, Ardashīr or Yazdagird are on any page we hold</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وَكَانَتْ قَدْ أَنْزَلَتْهُ أَيَّامَ شِيرَى حِينَ جَمَعَهُنَّ فَقَتَلَ الذُّكُورَ، وَأَرْسَلَتْهُ إِلَى أَخْوَالِهِ</a:t>
            </a:r>
          </a:p>
          <a:p>
            <a:r>
              <a:t>She had got him away in the days of Shīrā — when he gathered them and killed the males — and had sent him to his mother's brothers.</a:t>
            </a:r>
          </a:p>
          <a:p>
            <a:r>
              <a:t>فَلَمَّا سَأَلُوهَا عَنْهُ دَلَّتْهُمْ عَلَيْهِ، فَجَاءُوا بِهِ فَمَلَّكُوهُ وَهُوَ ابْنُ إِحْدَى وَعِشْرِينَ سَنَة</a:t>
            </a:r>
          </a:p>
          <a:p>
            <a:r>
              <a:t>When they asked her about him she led them to him; and they brought him and made him king, at twenty-one.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Iraq and Syria: two letters leave, and what each empire heard (12–13 AH).</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Muḥarram 12 is al-Madāʾinī's date — say whose it is.</a:t>
            </a:r>
          </a:p>
          <a:p/>
          <a:p>
            <a:r>
              <a:t>SAY</a:t>
            </a:r>
          </a:p>
          <a:p/>
          <a:p>
            <a:r>
              <a:t>1. Khālid ؓ has just finished al-Yamāma</a:t>
            </a:r>
          </a:p>
          <a:p/>
          <a:p>
            <a:r>
              <a:t>▶ CLICK 1 — Khālid ؓ leaves al-Yamāma for the lower end of Iraq.</a:t>
            </a:r>
          </a:p>
          <a:p/>
          <a:p>
            <a:r>
              <a:t>2. Not “conquer Iraq”</a:t>
            </a:r>
          </a:p>
          <a:p/>
          <a:p>
            <a:r>
              <a:t>3. Call them first</a:t>
            </a:r>
          </a:p>
          <a:p/>
          <a:p>
            <a:r>
              <a:t>4. Then the jizya; then the sword</a:t>
            </a:r>
          </a:p>
          <a:p/>
          <a:p>
            <a:r>
              <a:t>5. Compel no one to march</a:t>
            </a:r>
          </a:p>
          <a:p/>
          <a:p>
            <a:r>
              <a:t>6. And use no man who turned</a:t>
            </a:r>
          </a:p>
          <a:p/>
          <a:p>
            <a:r>
              <a:t>7. Whose date it is</a:t>
            </a:r>
          </a:p>
          <a:p/>
          <a:p>
            <a:r>
              <a:t>▶ NEXT SLIDE — the Arabic, and its lesson</a:t>
            </a:r>
          </a:p>
          <a:p/>
          <a:p>
            <a:r>
              <a:t>──────── DETAIL — only if you need it ────────</a:t>
            </a:r>
          </a:p>
          <a:p/>
          <a:p>
            <a:r>
              <a:t>1. Khālid ؓ has just finished al-Yamāma — And a letter comes from Abū Bakr ؓ, in Medina.</a:t>
            </a:r>
          </a:p>
          <a:p>
            <a:r>
              <a:t>2. Not “conquer Iraq” — Come at Iraq from its lower end.</a:t>
            </a:r>
          </a:p>
          <a:p>
            <a:r>
              <a:t>3. Call them first — If they answer, they are Muslims: what is yours is theirs.</a:t>
            </a:r>
          </a:p>
          <a:p>
            <a:r>
              <a:t>4. Then the jizya; then the sword — In that order, as the order gives it.</a:t>
            </a:r>
          </a:p>
          <a:p>
            <a:r>
              <a:t>5. Compel no one to march — The first restraint: no man is forced to go.</a:t>
            </a:r>
          </a:p>
          <a:p>
            <a:r>
              <a:t>6. And use no man who turned — The second: nobody who apostatised, even if he has come back.</a:t>
            </a:r>
          </a:p>
          <a:p>
            <a:r>
              <a:t>7. Whose date it is — Muḥarram of year 12 is al-Madāʾinī's, by his chain. Ibn Kathīr reports it.</a:t>
            </a:r>
          </a:p>
          <a:p/>
          <a:p>
            <a:r>
              <a:t>وأن يَتألَّفَ الناسَ ويدعوهم إلى الله عز وجل،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Ibn Kathīr, on what Abū Bakr ؓ ordered Khālid ؓ ·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on what Abū Bakr ؓ ordered Khālid ؓ</a:t>
            </a:r>
          </a:p>
          <a:p/>
          <a:p>
            <a:r>
              <a:t>LESSON — A state that has just won a civil war and still refuses to conscript the defeated is telling you what it thinks it is for.</a:t>
            </a:r>
          </a:p>
          <a:p/>
          <a:p>
            <a:r>
              <a:t>▶ NEXT SLIDE — the same words go on (2 slides in all)</a:t>
            </a:r>
          </a:p>
          <a:p/>
          <a:p>
            <a:r>
              <a:t>──────── DETAIL — only if you need it ────────</a:t>
            </a:r>
          </a:p>
          <a:p/>
          <a:p>
            <a:r>
              <a:t>وأن يَتألَّفَ الناسَ ويدعوهم إلى الله عز وجل، فإن أجابوا وإلا أخذ منهم الجزيةَ فإن امتنعوا عن ذلك قاتلهم، وأمره أن لا يُكْرِه أحدًا على المسير معه، ولا يستعينُ بمنِ ارتدّ عن الإسلام وإن كان [قد] عاد إليه</a:t>
            </a:r>
          </a:p>
          <a:p>
            <a:r>
              <a:t>"…that he should win the people over and call them to God; if they answered, well, and if not, take the jizya from them; and if they refused that, fight them. And he ordered him not to compel anyone to march with him, and not to make use of any man who had apostatised from Islam, even if he had returned to it."</a:t>
            </a:r>
          </a:p>
          <a:p>
            <a:r>
              <a:t>— البدایہ والنہایہ ج۷ ص۶۲</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وأمره أن لا يُكْرِه أحدًا على المسير معه</a:t>
            </a:r>
          </a:p>
          <a:p>
            <a:r>
              <a:t>And he ordered him not to compel anyone to march with him</a:t>
            </a:r>
          </a:p>
          <a:p>
            <a:r>
              <a:t>ولا يستعينُ بمنِ ارتدّ عن الإسلام وإن كان [قد] عاد إليه</a:t>
            </a:r>
          </a:p>
          <a:p>
            <a:r>
              <a:t>and not to make use of any man who had apostatised from Islam, even if he had returned to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provinces are given, not taken. Nothing is taken tonight.</a:t>
            </a:r>
          </a:p>
          <a:p/>
          <a:p>
            <a:r>
              <a:t>SAY</a:t>
            </a:r>
          </a:p>
          <a:p/>
          <a:p>
            <a:r>
              <a:t>1. Arabia is finished; he turns to Syria</a:t>
            </a:r>
          </a:p>
          <a:p/>
          <a:p>
            <a:r>
              <a:t>2. Not one army</a:t>
            </a:r>
          </a:p>
          <a:p/>
          <a:p>
            <a:r>
              <a:t>3. The four</a:t>
            </a:r>
          </a:p>
          <a:p/>
          <a:p>
            <a:r>
              <a:t>▶ CLICK 1 — Four commanders, four separate roads — toward Syria.</a:t>
            </a:r>
          </a:p>
          <a:p/>
          <a:p>
            <a:r>
              <a:t>4. Four separate roads</a:t>
            </a:r>
          </a:p>
          <a:p/>
          <a:p>
            <a:r>
              <a:t>5. On foot, beside the riders</a:t>
            </a:r>
          </a:p>
          <a:p/>
          <a:p>
            <a:r>
              <a:t>6. He was following a verse</a:t>
            </a:r>
          </a:p>
          <a:p/>
          <a:p>
            <a:r>
              <a:t>7. Nothing is taken tonight</a:t>
            </a:r>
          </a:p>
          <a:p/>
          <a:p>
            <a:r>
              <a:t>▶ NEXT SLIDE — the Arabic, and its lesson</a:t>
            </a:r>
          </a:p>
          <a:p/>
          <a:p>
            <a:r>
              <a:t>──────── DETAIL — only if you need it ────────</a:t>
            </a:r>
          </a:p>
          <a:p/>
          <a:p>
            <a:r>
              <a:t>1. Arabia is finished; he turns to Syria — Early in year 13.</a:t>
            </a:r>
          </a:p>
          <a:p>
            <a:r>
              <a:t>2. Not one army — Four commanders, each given a province before it is taken.</a:t>
            </a:r>
          </a:p>
          <a:p>
            <a:r>
              <a:t>3. The four — Yazīd b. Abī Sufyān ؓ Damascus; Abū ʿUbayda ؓ Ḥimṣ; ʿAmr b. al-ʿĀṣ ؓ Palestine; Shuraḥbīl b. Ḥasana ؓ Jordan.</a:t>
            </a:r>
          </a:p>
          <a:p>
            <a:r>
              <a:t>4. Four separate roads — He orders each of them to take a different one.</a:t>
            </a:r>
          </a:p>
          <a:p>
            <a:r>
              <a:t>5. On foot, beside the riders — He walks out of Medina beside each of them, giving his instructions.</a:t>
            </a:r>
          </a:p>
          <a:p>
            <a:r>
              <a:t>6. He was following a verse — Ibn Kathīr: Yaʿqūb's words to his sons — do not enter by one gate.</a:t>
            </a:r>
          </a:p>
          <a:p>
            <a:r>
              <a:t>7. Nothing is taken tonight — The provinces are named. Their taking belongs to later evenings.</a:t>
            </a:r>
          </a:p>
          <a:p/>
          <a:p>
            <a:r>
              <a:t>﴿وَقَالَ يَابَنِيَّ لَا تَدْخُلُوا … مِنْ بَابٍ وَاحِدٍ وَادْخُلُوا مِنْ أَبْوَابٍ مُتَفَرِّقَةٍ …﴾ [يوسف: ٦٧]</a:t>
            </a:r>
          </a:p>
          <a:p>
            <a:r>
              <a:t>"O my sons, do not enter by one gate; enter by separate gates."</a:t>
            </a:r>
          </a:p>
          <a:p>
            <a:r>
              <a:t>— Yaʿqūb, peace be upon him, to his sons — Sūrat Yūsuf 67 ·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Yaʿqūb, peace be upon him, to his sons — Sūrat Yūsuf 67</a:t>
            </a:r>
          </a:p>
          <a:p/>
          <a:p>
            <a:r>
              <a:t>LESSON — A plan is safer when it is not one plan.</a:t>
            </a:r>
          </a:p>
          <a:p/>
          <a:p>
            <a:r>
              <a:t>──────── DETAIL — only if you need it ────────</a:t>
            </a:r>
          </a:p>
          <a:p/>
          <a:p>
            <a:r>
              <a:t>﴿وَقَالَ يَابَنِيَّ لَا تَدْخُلُوا … مِنْ بَابٍ وَاحِدٍ وَادْخُلُوا مِنْ أَبْوَابٍ مُتَفَرِّقَةٍ …﴾ [يوسف: ٦٧]</a:t>
            </a:r>
          </a:p>
          <a:p>
            <a:r>
              <a:t>"O my sons, do not enter by one gate; enter by separate gates."</a:t>
            </a:r>
          </a:p>
          <a:p>
            <a:r>
              <a:t>— البدایہ والنہایہ ج۷ ص۸۳–۸۴</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Abū Sufyān's ؓ son, Muʿāwiya's ؓ brother — say it plainly; nothing of what came later.</a:t>
            </a:r>
          </a:p>
          <a:p/>
          <a:p>
            <a:r>
              <a:t>SAY</a:t>
            </a:r>
          </a:p>
          <a:p/>
          <a:p>
            <a:r>
              <a:t>1. Yazīd b. Abī Sufyān ؓ</a:t>
            </a:r>
          </a:p>
          <a:p/>
          <a:p>
            <a:r>
              <a:t>2. Abū Bakr ؓ walks him out</a:t>
            </a:r>
          </a:p>
          <a:p/>
          <a:p>
            <a:r>
              <a:t>3. Not a speech about victory</a:t>
            </a:r>
          </a:p>
          <a:p/>
          <a:p>
            <a:r>
              <a:t>4. “I have put you in office to test you”</a:t>
            </a:r>
          </a:p>
          <a:p/>
          <a:p>
            <a:r>
              <a:t>5. “Beware the arrogance of the Jāhiliyya”</a:t>
            </a:r>
          </a:p>
          <a:p/>
          <a:p>
            <a:r>
              <a:t>   ↑ read the Arabic on the slide</a:t>
            </a:r>
          </a:p>
          <a:p/>
          <a:p>
            <a:r>
              <a:t>6. Ibn al-Athīr's verdict</a:t>
            </a:r>
          </a:p>
          <a:p/>
          <a:p>
            <a:r>
              <a:t>LESSON — An appointment is a trial, not a reward, and saying so at the start is what makes the dismissal fair later.</a:t>
            </a:r>
          </a:p>
          <a:p/>
          <a:p>
            <a:r>
              <a:t>▶ NEXT SLIDE — the same words go on (2 slides in all)</a:t>
            </a:r>
          </a:p>
          <a:p/>
          <a:p>
            <a:r>
              <a:t>──────── DETAIL — only if you need it ────────</a:t>
            </a:r>
          </a:p>
          <a:p/>
          <a:p>
            <a:r>
              <a:t>1. Yazīd b. Abī Sufyān ؓ — Abū Sufyān's ؓ son and Muʿāwiya's ؓ brother: the house on last evening's family tree. He has the largest column.</a:t>
            </a:r>
          </a:p>
          <a:p>
            <a:r>
              <a:t>2. Abū Bakr ؓ walks him out — On foot, beside his horse.</a:t>
            </a:r>
          </a:p>
          <a:p>
            <a:r>
              <a:t>3. Not a speech about victory — A job description.</a:t>
            </a:r>
          </a:p>
          <a:p>
            <a:r>
              <a:t>4. “I have put you in office to test you” — Do well, and I extend your post; do badly, and I dismiss you.</a:t>
            </a:r>
          </a:p>
          <a:p>
            <a:r>
              <a:t>5. “Beware the arrogance of the Jāhiliyya” — God hates it, and hates those who carry it.</a:t>
            </a:r>
          </a:p>
          <a:p>
            <a:r>
              <a:t>6. Ibn al-Athīr's verdict — One of the best charges ever given to a man in office.</a:t>
            </a:r>
          </a:p>
          <a:p/>
          <a:p>
            <a:r>
              <a:t>إِنِّي قَدْ وَلَّيْتُكَ لِأَبْلُوَكَ وَأُجَرِّبَكَ وَأُخَرِّجَكَ، فَإِنْ أَحْسَنْتَ رَدَدْتُكَ إِلَى عَمَلِكَ وَزِدْتُكَ، وَإِنْ أَسَأْتَ عَزَلْتُك … فَإِيَّاكَ وَعُبِّيَّةَ الْجَاهِلِيَّةِ، فَإِنَّ اللَّهَ يُبْغِضُهَا وَيُبْغِضُ أَهْلَهَا</a:t>
            </a:r>
          </a:p>
          <a:p>
            <a:r>
              <a:t>"I have put you in office to test you, to try you and to bring you out. If you do well I will return you to your post and add to it; and if you do badly I will dismiss you … And beware the arrogance of the Jāhiliyya — God hates it, and hates those who carry it."</a:t>
            </a:r>
          </a:p>
          <a:p>
            <a:r>
              <a:t>— Abū Bakr ؓ, to Yazīd b. Abī Sufyān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 فَإِيَّاكَ وَعُبِّيَّةَ الْجَاهِلِيَّةِ، فَإِنَّ اللَّهَ يُبْغِضُهَا وَيُبْغِضُ أَهْلَهَا</a:t>
            </a:r>
          </a:p>
          <a:p>
            <a:r>
              <a:t>… And beware the arrogance of the Jāhiliyya — God hates it, and hates those who carry it.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to ʿAmr b. al-ʿĀṣ ؓ</a:t>
            </a:r>
          </a:p>
          <a:p/>
          <a:p>
            <a:r>
              <a:t>2. And leaves him free</a:t>
            </a:r>
          </a:p>
          <a:p/>
          <a:p>
            <a:r>
              <a:t>3. He answers in one sentence</a:t>
            </a:r>
          </a:p>
          <a:p/>
          <a:p>
            <a:r>
              <a:t>   ↑ read the Arabic on the slide</a:t>
            </a:r>
          </a:p>
          <a:p/>
          <a:p>
            <a:r>
              <a:t>4. “Shoot the hardest”</a:t>
            </a:r>
          </a:p>
          <a:p/>
          <a:p>
            <a:r>
              <a:t>LESSON — A man who lets himself be aimed by someone else has settled the question of who he is working for.</a:t>
            </a:r>
          </a:p>
          <a:p/>
          <a:p>
            <a:r>
              <a:t>▶ NEXT SLIDE — the same words go on (2 slides in all)</a:t>
            </a:r>
          </a:p>
          <a:p/>
          <a:p>
            <a:r>
              <a:t>──────── DETAIL — only if you need it ────────</a:t>
            </a:r>
          </a:p>
          <a:p/>
          <a:p>
            <a:r>
              <a:t>1. A letter to ʿAmr b. al-ʿĀṣ ؓ — Abū Bakr ؓ offers him the Syrian command.</a:t>
            </a:r>
          </a:p>
          <a:p>
            <a:r>
              <a:t>2. And leaves him free — He may keep the post he already has, if he prefers it.</a:t>
            </a:r>
          </a:p>
          <a:p>
            <a:r>
              <a:t>3. He answers in one sentence — Read it.</a:t>
            </a:r>
          </a:p>
          <a:p>
            <a:r>
              <a:t>4. “Shoot the hardest” — He asks to be sent where it is hardest.</a:t>
            </a:r>
          </a:p>
          <a:p/>
          <a:p>
            <a:r>
              <a:t>إِنِّي سَهْمٌ مِنْ سِهَامِ الْإِسْلَامِ، وَأَنْتَ بَعْدَ اللَّهِ الرَّامِي بِهَا وَالْجَامِعُ لَهَا، فَانْظُرْ أَشَدَّهَا وَأَخْشَاهَا وَأَفْضَلَهَا فَارْمِ بِه</a:t>
            </a:r>
          </a:p>
          <a:p>
            <a:r>
              <a:t>"I am one arrow of the arrows of Islam, and you — after God — are the one who shoots them and the one who gathers them. So look for the hardest of them, and the most feared, and the best, and shoot it."</a:t>
            </a:r>
          </a:p>
          <a:p>
            <a:r>
              <a:t>— ʿAmr b. al-ʿĀṣ ؓ, to Abū Bakr ؓ · الکامل فی التاریخ ج۲ ص۲۴۹</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فَانْظُرْ أَشَدَّهَا وَأَخْشَاهَا وَأَفْضَلَهَا فَارْمِ بِه</a:t>
            </a:r>
          </a:p>
          <a:p>
            <a:r>
              <a:t>So look for the hardest of them, and the most feared, and the best, and shoot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he had taken al-Ḥīra. The page says its people chose the jizya.</a:t>
            </a:r>
          </a:p>
          <a:p/>
          <a:p>
            <a:r>
              <a:t>SAY</a:t>
            </a:r>
          </a:p>
          <a:p/>
          <a:p>
            <a:r>
              <a:t>1. Khālid ؓ is in lower Iraq</a:t>
            </a:r>
          </a:p>
          <a:p/>
          <a:p>
            <a:r>
              <a:t>▶ CLICK 1 — A letter goes to al-Madāʾin — not an army.</a:t>
            </a:r>
          </a:p>
          <a:p/>
          <a:p>
            <a:r>
              <a:t>2. He does not march on al-Madāʾin</a:t>
            </a:r>
          </a:p>
          <a:p/>
          <a:p>
            <a:r>
              <a:t>3. How we have the letter</a:t>
            </a:r>
          </a:p>
          <a:p/>
          <a:p>
            <a:r>
              <a:t>4. What he says of Persia</a:t>
            </a:r>
          </a:p>
          <a:p/>
          <a:p>
            <a:r>
              <a:t>5. One offer, one alternative</a:t>
            </a:r>
          </a:p>
          <a:p/>
          <a:p>
            <a:r>
              <a:t>6. “A people who love death as you love life”</a:t>
            </a:r>
          </a:p>
          <a:p/>
          <a:p>
            <a:r>
              <a:t>7. They were left marvelling</a:t>
            </a:r>
          </a:p>
          <a:p/>
          <a:p>
            <a:r>
              <a:t>▶ NEXT SLIDE — the Arabic, and its lesson</a:t>
            </a:r>
          </a:p>
          <a:p/>
          <a:p>
            <a:r>
              <a:t>ASK — Ask the room: how far is Medina from the Persian capital? Then tell them a letter went, before an army did.</a:t>
            </a:r>
          </a:p>
          <a:p/>
          <a:p>
            <a:r>
              <a:t>──────── DETAIL — only if you need it ────────</a:t>
            </a:r>
          </a:p>
          <a:p/>
          <a:p>
            <a:r>
              <a:t>1. Khālid ؓ is in lower Iraq — The first people he met there chose the jizya.</a:t>
            </a:r>
          </a:p>
          <a:p>
            <a:r>
              <a:t>2. He does not march on al-Madāʾin — He writes to it: to Kisrā's commanders, his marzubāns and his ministers.</a:t>
            </a:r>
          </a:p>
          <a:p>
            <a:r>
              <a:t>3. How we have the letter — al-Shaʿbī: the family of Buqayla read it out to him.</a:t>
            </a:r>
          </a:p>
          <a:p>
            <a:r>
              <a:t>4. What he says of Persia — “Praise be to Allah, who has broken up your company, taken away your kingship and weakened your scheming.”</a:t>
            </a:r>
          </a:p>
          <a:p>
            <a:r>
              <a:t>5. One offer, one alternative — Islam; or hostages, and a covenant of protection.</a:t>
            </a:r>
          </a:p>
          <a:p>
            <a:r>
              <a:t>6. “A people who love death as you love life” — Read the line.</a:t>
            </a:r>
          </a:p>
          <a:p>
            <a:r>
              <a:t>7. They were left marvelling — Ibn Kathīr's own last words on it.</a:t>
            </a:r>
          </a:p>
          <a:p/>
          <a:p>
            <a:r>
              <a:t>فابعثوا إليَّ بالرُّهن واعتقدوا مني الذِّمة، و (إلا) فوالذي لا إله غيره لأبعثن إليكم قومًا يحبّون الموتَ كما تحبّون أنتم الحياة</a:t>
            </a:r>
          </a:p>
          <a:p>
            <a:r>
              <a:t>"…so send me hostages and take a covenant of protection from me. Otherwise — by Him beside whom there is no god — I shall send against you a people who love death as you love life."</a:t>
            </a:r>
          </a:p>
          <a:p>
            <a:r>
              <a:t>— Khālid b. al-Walīd ؓ, to the marzubāns of Persia ·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Khālid b. al-Walīd ؓ, to the marzubāns of Persia</a:t>
            </a:r>
          </a:p>
          <a:p/>
          <a:p>
            <a:r>
              <a:t>LESSON — A man who has made peace with his own death is very difficult to bargain with.</a:t>
            </a:r>
          </a:p>
          <a:p/>
          <a:p>
            <a:r>
              <a:t>──────── DETAIL — only if you need it ────────</a:t>
            </a:r>
          </a:p>
          <a:p/>
          <a:p>
            <a:r>
              <a:t>فابعثوا إليَّ بالرُّهن واعتقدوا مني الذِّمة، و (إلا) فوالذي لا إله غيره لأبعثن إليكم قومًا يحبّون الموتَ كما تحبّون أنتم الحياة</a:t>
            </a:r>
          </a:p>
          <a:p>
            <a:r>
              <a:t>"…so send me hostages and take a covenant of protection from me. Otherwise — by Him beside whom there is no god — I shall send against you a people who love death as you love life."</a:t>
            </a:r>
          </a:p>
          <a:p>
            <a:r>
              <a:t>— البدایہ والنہایہ ج۷ ص۶۴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Muslim historian's report of a Roman council. Narrate it as the book's.</a:t>
            </a:r>
          </a:p>
          <a:p/>
          <a:p>
            <a:r>
              <a:t>⚠ Stop at “they refused”. The armies are the next evening.</a:t>
            </a:r>
          </a:p>
          <a:p/>
          <a:p>
            <a:r>
              <a:t>SAY</a:t>
            </a:r>
          </a:p>
          <a:p/>
          <a:p>
            <a:r>
              <a:t>1. The four columns are on the road</a:t>
            </a:r>
          </a:p>
          <a:p/>
          <a:p>
            <a:r>
              <a:t>2. “They feared greatly”</a:t>
            </a:r>
          </a:p>
          <a:p/>
          <a:p>
            <a:r>
              <a:t>3. Where he was</a:t>
            </a:r>
          </a:p>
          <a:p/>
          <a:p>
            <a:r>
              <a:t>4. Read what he said</a:t>
            </a:r>
          </a:p>
          <a:p/>
          <a:p>
            <a:r>
              <a:t>   ↑ read the Arabic on the slide</a:t>
            </a:r>
          </a:p>
          <a:p/>
          <a:p>
            <a:r>
              <a:t>5. His advice: make peace</a:t>
            </a:r>
          </a:p>
          <a:p/>
          <a:p>
            <a:r>
              <a:t>6. “Refuse, and they will take Syria”</a:t>
            </a:r>
          </a:p>
          <a:p/>
          <a:p>
            <a:r>
              <a:t>7. They refused</a:t>
            </a:r>
          </a:p>
          <a:p/>
          <a:p>
            <a:r>
              <a:t>8. Stop here</a:t>
            </a:r>
          </a:p>
          <a:p/>
          <a:p>
            <a:r>
              <a:t>LESSON — He saw it, and said it, and was not listened to.</a:t>
            </a:r>
          </a:p>
          <a:p/>
          <a:p>
            <a:r>
              <a:t>ASK — Before the name is said: who do you think spoke these words?</a:t>
            </a:r>
          </a:p>
          <a:p/>
          <a:p>
            <a:r>
              <a:t>▶ NEXT SLIDE — the same words go on (2 slides in all)</a:t>
            </a:r>
          </a:p>
          <a:p/>
          <a:p>
            <a:r>
              <a:t>──────── DETAIL — only if you need it ────────</a:t>
            </a:r>
          </a:p>
          <a:p/>
          <a:p>
            <a:r>
              <a:t>1. The four columns are on the road — And the Romans hear of it.</a:t>
            </a:r>
          </a:p>
          <a:p>
            <a:r>
              <a:t>2. “They feared greatly” — And they wrote to Heraclius, the emperor of the Romans.</a:t>
            </a:r>
          </a:p>
          <a:p>
            <a:r>
              <a:t>3. Where he was — At Ḥimṣ, it is said; or on pilgrimage that year at Bayt al-Maqdis. Ibn al-Athīr: in Jerusalem.</a:t>
            </a:r>
          </a:p>
          <a:p>
            <a:r>
              <a:t>4. Read what he said — “The people of a new religion; no one has the strength to face them.”</a:t>
            </a:r>
          </a:p>
          <a:p>
            <a:r>
              <a:t>5. His advice: make peace — Half the revenue of Syria, and the mountains remain yours.</a:t>
            </a:r>
          </a:p>
          <a:p>
            <a:r>
              <a:t>6. “Refuse, and they will take Syria” — And press you hard in your mountains as well.</a:t>
            </a:r>
          </a:p>
          <a:p>
            <a:r>
              <a:t>7. They refused — “They snorted at that”, the page says. He went to Ḥimṣ, and ordered the armies out.</a:t>
            </a:r>
          </a:p>
          <a:p>
            <a:r>
              <a:t>8. Stop here — What the armies did is the next evening.</a:t>
            </a:r>
          </a:p>
          <a:p/>
          <a:p>
            <a:r>
              <a:t>ويْحكم إن (هؤلاء) أهلُ دينٍ جديد، وإنهم لا قبلَ لأحدٍ بهم، فأطيعوني وصالحوهم بما تصالحونهم على نصفِ خراج الشام ويبقى لكم جبالُ الروم، وإن أنتم أبيتم ذلك أخذوا منكم الشام وضيقوا عليكم جبال الروم</a:t>
            </a:r>
          </a:p>
          <a:p>
            <a:r>
              <a:t>“Woe to you — these are the people of a new religion, and no one has the strength to face them. So obey me, and make peace with them — on half the revenue of Syria, and the mountains of the Romans remain yours. If you refuse that, they will take Syria from you, and press you hard in the mountains of the Romans.”</a:t>
            </a:r>
          </a:p>
          <a:p>
            <a:r>
              <a:t>— Heraclius, to the Romans — as Ibn Kathīr reports it · البدایہ والنہایہ ج۷ ص۸۶</a:t>
            </a:r>
          </a:p>
          <a:p/>
          <a:p>
            <a:r>
              <a:t>──────── BACKGROUND — for home, not for the lectern ────────</a:t>
            </a:r>
          </a:p>
          <a:p/>
          <a:p>
            <a:r>
              <a:t>The same, as Ibn al-Athīr has it:</a:t>
            </a:r>
          </a:p>
          <a:p>
            <a:r>
              <a:t>&gt; فَبَلَغَ الرُّومُ ذَلِكَ فَكَتَبُوا إِلَى هِرَقْلَ، وَكَانَ بِالْقُدْسِ، فَقَالَ: أَرَى أَنْ تُصَالِحُوا الْمُسْلِمِينَ، فَوَاللَّهِ لَأَنْ تُصَالِحُوهُمْ عَلَى نِصْفِ مَا يَحْصُلُ مِنَ الشَّامِ وَيَبْقَى لَكُمْ نَصِفُهُ مَعَ بِلَادِ الرُّومِ - أَحَبُّ إِلَيْكُمْ مِنْ أَنْ يَغْلِبُوكُمْ عَلَى الشَّامِ وَنِصْفِ بِلَادِ الرُّومِ. فَتَفَرَّقُوا عَنْهُ وَعَصَوْه</a:t>
            </a:r>
          </a:p>
          <a:p>
            <a:r>
              <a:t>&gt; — الکامل فی التاریخ ج2 ص251 · https://shamela.ws/book/21712/942</a:t>
            </a:r>
          </a:p>
          <a:p>
            <a:r>
              <a:t>&gt; English: “Word of that reached the Romans, and they wrote to Heraclius — he was in Jerusalem. He said: I think you should make peace with the Muslims. By God, to make peace with them for half of what Syria yields, and keep half of it along with the land of the Romans, is dearer to you than that they overcome you for Syria and half the land of the Romans. And they scattered from him, and disobeyed him.” Where he was, and what they did with his advice:</a:t>
            </a:r>
          </a:p>
          <a:p>
            <a:r>
              <a:t>&gt; فيقال: إنه كان يومئذ بحمص، ويقال: [بل] كان حج عامه ذلك إلى بيت المقدس</a:t>
            </a:r>
          </a:p>
          <a:p>
            <a:r>
              <a:t>&gt; — البدایہ والنہایہ ج7 ص86 · https://shamela.ws/book/30097/3232</a:t>
            </a:r>
          </a:p>
          <a:p>
            <a:r>
              <a:t>&gt; English: “It is said that he was at Ḥimṣ that day; and it is said: rather, he had made pilgrimage that year to Bayt al-Maqdis.” &gt; فنخروا من ذلك نخرةَ حُمُرِ الوَحْش</a:t>
            </a:r>
          </a:p>
          <a:p>
            <a:r>
              <a:t>&gt; — البدایہ والنہایہ ج7 ص86 · https://shamela.ws/book/30097/3232</a:t>
            </a:r>
          </a:p>
          <a:p>
            <a:r>
              <a:t>&gt; English: “And they snorted at that, the snort of wild asses.” ⚠ A Muslim historian's report of a Roman council — Ibn Kathīr marks it as Sayf's telling, with others. Narrate</a:t>
            </a:r>
          </a:p>
          <a:p>
            <a:r>
              <a:t>it as what the book carries; build nothing on its wording.</a:t>
            </a:r>
          </a:p>
          <a:p>
            <a:r>
              <a:t>⚠ Stop at “they refused”. The deployments that follow on the same page — ninety thousand against ʿAmr ؓ, and the</a:t>
            </a:r>
          </a:p>
          <a:p>
            <a:r>
              <a:t>rest — are and the next evening.</a:t>
            </a:r>
          </a:p>
          <a:p>
            <a:r>
              <a:t>⚠ Heraclius is new to the room. One breath: the emperor of the Romans. No dates for him are on a page we hold. ## القادسية, the embassy to رستم, and المدائن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 the same words, continued (slide 2 of 2).</a:t>
            </a:r>
          </a:p>
          <a:p/>
          <a:p>
            <a:r>
              <a:t>Each part: the Arabic, then its meaning.</a:t>
            </a:r>
          </a:p>
          <a:p/>
          <a:p>
            <a:r>
              <a:t>──────── DETAIL — only if you need it ────────</a:t>
            </a:r>
          </a:p>
          <a:p/>
          <a:p>
            <a:r>
              <a:t>فأطيعوني وصالحوهم بما تصالحونهم على نصفِ خراج الشام ويبقى لكم جبالُ الروم</a:t>
            </a:r>
          </a:p>
          <a:p>
            <a:r>
              <a:t>So obey me, and make peace with them — on half the revenue of Syria, and the mountains of the Romans remain yours.</a:t>
            </a:r>
          </a:p>
          <a:p>
            <a:r>
              <a:t>وإن أنتم أبيتم ذلك أخذوا منكم الشام وضيقوا عليكم جبال الروم</a:t>
            </a:r>
          </a:p>
          <a:p>
            <a:r>
              <a:t>If you refuse that, they will take Syria from you, and press you hard in the mountains of the Romans.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The Ridda, whole: every front, one colour.</a:t>
            </a:r>
          </a:p>
          <a:p/>
          <a:p>
            <a:r>
              <a:t>2. Muḥarram of year 12 — the order to Iraq.</a:t>
            </a:r>
          </a:p>
          <a:p/>
          <a:p>
            <a:r>
              <a:t>3. Early in year 13 — four commanders, four roads.</a:t>
            </a:r>
          </a:p>
          <a:p/>
          <a:p>
            <a:r>
              <a:t>4. And nothing taken yet.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the map ended at Arabia's edge.</a:t>
            </a:r>
          </a:p>
          <a:p/>
          <a:p>
            <a:r>
              <a:t>2. East: one commander, and one letter.</a:t>
            </a:r>
          </a:p>
          <a:p/>
          <a:p>
            <a:r>
              <a:t>3. North: four commanders, on four roads.</a:t>
            </a:r>
          </a:p>
          <a:p/>
          <a:p>
            <a:r>
              <a:t>4. Not a town has been taken.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Persia</a:t>
            </a:r>
          </a:p>
          <a:p/>
          <a:p>
            <a:r>
              <a:t>2. Iraq</a:t>
            </a:r>
          </a:p>
          <a:p/>
          <a:p>
            <a:r>
              <a:t>3. Syria</a:t>
            </a:r>
          </a:p>
          <a:p/>
          <a:p>
            <a:r>
              <a:t>4. Yazīd ؓ</a:t>
            </a:r>
          </a:p>
          <a:p/>
          <a:p>
            <a:r>
              <a:t>5. Rome</a:t>
            </a:r>
          </a:p>
          <a:p/>
          <a:p>
            <a:r>
              <a:t>──────── DETAIL — only if you need it ────────</a:t>
            </a:r>
          </a:p>
          <a:p/>
          <a:p>
            <a:r>
              <a:t>1. Persia — The throne they were about to face had been emptied by its own family.</a:t>
            </a:r>
          </a:p>
          <a:p>
            <a:r>
              <a:t>2. Iraq — A state that has just won a civil war and still refuses to conscript the defeated is telling you what it thinks it is for.</a:t>
            </a:r>
          </a:p>
          <a:p>
            <a:r>
              <a:t>3. Syria — A plan is safer when it is not one plan.</a:t>
            </a:r>
          </a:p>
          <a:p>
            <a:r>
              <a:t>4. Yazīd ؓ — An appointment is a trial, not a reward, and saying so at the start is what makes the dismissal fair later.</a:t>
            </a:r>
          </a:p>
          <a:p>
            <a:r>
              <a:t>5. Rome — He saw it, and said it, and was not listened to.</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4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56.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59.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53.png"/><Relationship Id="rId10" Type="http://schemas.openxmlformats.org/officeDocument/2006/relationships/image" Target="../media/image61.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jpg"/><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image" Target="../media/image101.png"/><Relationship Id="rId8" Type="http://schemas.openxmlformats.org/officeDocument/2006/relationships/image" Target="../media/image102.png"/><Relationship Id="rId9" Type="http://schemas.openxmlformats.org/officeDocument/2006/relationships/image" Target="../media/image103.png"/><Relationship Id="rId10" Type="http://schemas.openxmlformats.org/officeDocument/2006/relationships/image" Target="../media/image95.png"/><Relationship Id="rId11" Type="http://schemas.openxmlformats.org/officeDocument/2006/relationships/image" Target="../media/image104.png"/><Relationship Id="rId12" Type="http://schemas.openxmlformats.org/officeDocument/2006/relationships/image" Target="../media/image105.png"/><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99.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112.png"/><Relationship Id="rId10" Type="http://schemas.openxmlformats.org/officeDocument/2006/relationships/image" Target="../media/image103.png"/><Relationship Id="rId11" Type="http://schemas.openxmlformats.org/officeDocument/2006/relationships/image" Target="../media/image113.png"/><Relationship Id="rId12" Type="http://schemas.openxmlformats.org/officeDocument/2006/relationships/image" Target="../media/image105.png"/><Relationship Id="rId13" Type="http://schemas.openxmlformats.org/officeDocument/2006/relationships/image" Target="../media/image114.png"/><Relationship Id="rId1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07.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18.png"/><Relationship Id="rId8" Type="http://schemas.openxmlformats.org/officeDocument/2006/relationships/image" Target="../media/image119.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image" Target="../media/image110.png"/><Relationship Id="rId12" Type="http://schemas.openxmlformats.org/officeDocument/2006/relationships/image" Target="../media/image111.png"/><Relationship Id="rId13" Type="http://schemas.openxmlformats.org/officeDocument/2006/relationships/image" Target="../media/image112.png"/><Relationship Id="rId14" Type="http://schemas.openxmlformats.org/officeDocument/2006/relationships/image" Target="../media/image120.png"/><Relationship Id="rId15" Type="http://schemas.openxmlformats.org/officeDocument/2006/relationships/image" Target="../media/image113.png"/><Relationship Id="rId16" Type="http://schemas.openxmlformats.org/officeDocument/2006/relationships/image" Target="../media/image121.png"/><Relationship Id="rId1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jp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jpg"/><Relationship Id="rId3" Type="http://schemas.openxmlformats.org/officeDocument/2006/relationships/image" Target="../media/image128.png"/><Relationship Id="rId4" Type="http://schemas.openxmlformats.org/officeDocument/2006/relationships/image" Target="../media/image123.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131.png"/><Relationship Id="rId8" Type="http://schemas.openxmlformats.org/officeDocument/2006/relationships/image" Target="../media/image132.png"/><Relationship Id="rId9" Type="http://schemas.openxmlformats.org/officeDocument/2006/relationships/image" Target="../media/image133.png"/><Relationship Id="rId10" Type="http://schemas.openxmlformats.org/officeDocument/2006/relationships/image" Target="../media/image134.png"/><Relationship Id="rId11" Type="http://schemas.openxmlformats.org/officeDocument/2006/relationships/image" Target="../media/image135.png"/><Relationship Id="rId12" Type="http://schemas.openxmlformats.org/officeDocument/2006/relationships/image" Target="../media/image102.png"/><Relationship Id="rId13" Type="http://schemas.openxmlformats.org/officeDocument/2006/relationships/image" Target="../media/image125.png"/><Relationship Id="rId14" Type="http://schemas.openxmlformats.org/officeDocument/2006/relationships/image" Target="../media/image136.png"/><Relationship Id="rId15" Type="http://schemas.openxmlformats.org/officeDocument/2006/relationships/image" Target="../media/image137.png"/><Relationship Id="rId16" Type="http://schemas.openxmlformats.org/officeDocument/2006/relationships/image" Target="../media/image138.png"/><Relationship Id="rId17" Type="http://schemas.openxmlformats.org/officeDocument/2006/relationships/image" Target="../media/image139.png"/><Relationship Id="rId18" Type="http://schemas.openxmlformats.org/officeDocument/2006/relationships/image" Target="../media/image140.png"/><Relationship Id="rId19" Type="http://schemas.openxmlformats.org/officeDocument/2006/relationships/image" Target="../media/image141.png"/><Relationship Id="rId20" Type="http://schemas.openxmlformats.org/officeDocument/2006/relationships/image" Target="../media/image126.png"/><Relationship Id="rId21" Type="http://schemas.openxmlformats.org/officeDocument/2006/relationships/image" Target="../media/image142.png"/><Relationship Id="rId2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jpg"/><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146.png"/><Relationship Id="rId6" Type="http://schemas.openxmlformats.org/officeDocument/2006/relationships/image" Target="../media/image147.png"/><Relationship Id="rId7" Type="http://schemas.openxmlformats.org/officeDocument/2006/relationships/image" Target="../media/image148.png"/><Relationship Id="rId8" Type="http://schemas.openxmlformats.org/officeDocument/2006/relationships/image" Target="../media/image149.png"/><Relationship Id="rId9" Type="http://schemas.openxmlformats.org/officeDocument/2006/relationships/image" Target="../media/image150.png"/><Relationship Id="rId10" Type="http://schemas.openxmlformats.org/officeDocument/2006/relationships/image" Target="../media/image151.png"/><Relationship Id="rId11" Type="http://schemas.openxmlformats.org/officeDocument/2006/relationships/image" Target="../media/image152.png"/><Relationship Id="rId12" Type="http://schemas.openxmlformats.org/officeDocument/2006/relationships/image" Target="../media/image153.png"/><Relationship Id="rId13" Type="http://schemas.openxmlformats.org/officeDocument/2006/relationships/image" Target="../media/image154.png"/><Relationship Id="rId14" Type="http://schemas.openxmlformats.org/officeDocument/2006/relationships/image" Target="../media/image155.png"/><Relationship Id="rId15" Type="http://schemas.openxmlformats.org/officeDocument/2006/relationships/image" Target="../media/image156.png"/><Relationship Id="rId16" Type="http://schemas.openxmlformats.org/officeDocument/2006/relationships/image" Target="../media/image157.png"/><Relationship Id="rId1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jp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jpg"/><Relationship Id="rId3" Type="http://schemas.openxmlformats.org/officeDocument/2006/relationships/image" Target="../media/image164.png"/><Relationship Id="rId4" Type="http://schemas.openxmlformats.org/officeDocument/2006/relationships/image" Target="../media/image165.png"/><Relationship Id="rId5" Type="http://schemas.openxmlformats.org/officeDocument/2006/relationships/image" Target="../media/image166.png"/><Relationship Id="rId6" Type="http://schemas.openxmlformats.org/officeDocument/2006/relationships/image" Target="../media/image167.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68.png"/><Relationship Id="rId10" Type="http://schemas.openxmlformats.org/officeDocument/2006/relationships/image" Target="../media/image169.png"/><Relationship Id="rId11" Type="http://schemas.openxmlformats.org/officeDocument/2006/relationships/image" Target="../media/image170.png"/><Relationship Id="rId1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jpg"/><Relationship Id="rId3" Type="http://schemas.openxmlformats.org/officeDocument/2006/relationships/image" Target="../media/image174.png"/><Relationship Id="rId4" Type="http://schemas.openxmlformats.org/officeDocument/2006/relationships/image" Target="../media/image175.png"/><Relationship Id="rId5" Type="http://schemas.openxmlformats.org/officeDocument/2006/relationships/image" Target="../media/image173.png"/><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jpg"/><Relationship Id="rId3" Type="http://schemas.openxmlformats.org/officeDocument/2006/relationships/image" Target="../media/image174.png"/><Relationship Id="rId4" Type="http://schemas.openxmlformats.org/officeDocument/2006/relationships/image" Target="../media/image177.png"/><Relationship Id="rId5" Type="http://schemas.openxmlformats.org/officeDocument/2006/relationships/image" Target="../media/image178.png"/><Relationship Id="rId6" Type="http://schemas.openxmlformats.org/officeDocument/2006/relationships/image" Target="../media/image179.png"/><Relationship Id="rId7" Type="http://schemas.openxmlformats.org/officeDocument/2006/relationships/image" Target="../media/image180.png"/><Relationship Id="rId8" Type="http://schemas.openxmlformats.org/officeDocument/2006/relationships/image" Target="../media/image181.png"/><Relationship Id="rId9"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jp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image" Target="../media/image180.png"/><Relationship Id="rId7" Type="http://schemas.openxmlformats.org/officeDocument/2006/relationships/image" Target="../media/image182.png"/><Relationship Id="rId8" Type="http://schemas.openxmlformats.org/officeDocument/2006/relationships/image" Target="../media/image181.png"/><Relationship Id="rId9" Type="http://schemas.openxmlformats.org/officeDocument/2006/relationships/image" Target="../media/image183.png"/><Relationship Id="rId10"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4.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part-ar"/>
          <p:cNvSpPr txBox="1"/>
          <p:nvPr/>
        </p:nvSpPr>
        <p:spPr>
          <a:xfrm>
            <a:off x="566928" y="202768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استُهلَّت هذه السنة، وجيوشُ الصديق وأُمراؤه الذين بعثهم لقتال أهل الرّدّة</a:t>
            </a:r>
          </a:p>
        </p:txBody>
      </p:sp>
      <p:sp>
        <p:nvSpPr>
          <p:cNvPr id="7" name="part-en"/>
          <p:cNvSpPr txBox="1"/>
          <p:nvPr/>
        </p:nvSpPr>
        <p:spPr>
          <a:xfrm>
            <a:off x="566928" y="2826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This year began while al-Ṣiddīq's armies and his commanders, whom he had sent to fight the people of the ridda</a:t>
            </a:r>
          </a:p>
        </p:txBody>
      </p:sp>
      <p:sp>
        <p:nvSpPr>
          <p:cNvPr id="8" name="part-ar"/>
          <p:cNvSpPr txBox="1"/>
          <p:nvPr/>
        </p:nvSpPr>
        <p:spPr>
          <a:xfrm>
            <a:off x="566928" y="3885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جَوّالون في البلاد يمينًا وشمالًا</a:t>
            </a:r>
          </a:p>
        </p:txBody>
      </p:sp>
      <p:sp>
        <p:nvSpPr>
          <p:cNvPr id="9" name="part-en"/>
          <p:cNvSpPr txBox="1"/>
          <p:nvPr/>
        </p:nvSpPr>
        <p:spPr>
          <a:xfrm>
            <a:off x="566928" y="4684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were roving the land right and left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3103"/>
          </a:xfrm>
          <a:prstGeom prst="rect">
            <a:avLst/>
          </a:prstGeom>
        </p:spPr>
      </p:pic>
      <p:pic>
        <p:nvPicPr>
          <p:cNvPr id="16" name="map army al-Mundhir ؓ" descr="s06-bahrayn-r1-3-a_010.png"/>
          <p:cNvPicPr>
            <a:picLocks noChangeAspect="1"/>
          </p:cNvPicPr>
          <p:nvPr/>
        </p:nvPicPr>
        <p:blipFill>
          <a:blip r:embed="rId6"/>
          <a:stretch>
            <a:fillRect/>
          </a:stretch>
        </p:blipFill>
        <p:spPr>
          <a:xfrm>
            <a:off x="4425076" y="2787468"/>
            <a:ext cx="2539847" cy="854678"/>
          </a:xfrm>
          <a:prstGeom prst="rect">
            <a:avLst/>
          </a:prstGeom>
        </p:spPr>
      </p:pic>
      <p:pic>
        <p:nvPicPr>
          <p:cNvPr id="17" name="map label sent by the Prophet ﷺ" descr="s06-bahrayn-r1-3-l_008.png"/>
          <p:cNvPicPr>
            <a:picLocks noChangeAspect="1"/>
          </p:cNvPicPr>
          <p:nvPr/>
        </p:nvPicPr>
        <p:blipFill>
          <a:blip r:embed="rId7"/>
          <a:stretch>
            <a:fillRect/>
          </a:stretch>
        </p:blipFill>
        <p:spPr>
          <a:xfrm>
            <a:off x="2723782" y="3158367"/>
            <a:ext cx="2846241"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4425076" y="2787468"/>
            <a:ext cx="2539847" cy="854678"/>
          </a:xfrm>
          <a:prstGeom prst="rect">
            <a:avLst/>
          </a:prstGeom>
        </p:spPr>
      </p:pic>
      <p:pic>
        <p:nvPicPr>
          <p:cNvPr id="16" name="map army al-Jārūd ؓ" descr="s06-bahrayn-r3-6-a_013.png"/>
          <p:cNvPicPr>
            <a:picLocks noChangeAspect="1"/>
          </p:cNvPicPr>
          <p:nvPr/>
        </p:nvPicPr>
        <p:blipFill>
          <a:blip r:embed="rId6"/>
          <a:stretch>
            <a:fillRect/>
          </a:stretch>
        </p:blipFill>
        <p:spPr>
          <a:xfrm>
            <a:off x="6122340" y="3577643"/>
            <a:ext cx="2027846" cy="850647"/>
          </a:xfrm>
          <a:prstGeom prst="rect">
            <a:avLst/>
          </a:prstGeom>
        </p:spPr>
      </p:pic>
      <p:pic>
        <p:nvPicPr>
          <p:cNvPr id="17" name="map army al-Ḥuṭam" descr="s06-bahrayn-r3-6-a_015.png"/>
          <p:cNvPicPr>
            <a:picLocks noChangeAspect="1"/>
          </p:cNvPicPr>
          <p:nvPr/>
        </p:nvPicPr>
        <p:blipFill>
          <a:blip r:embed="rId7"/>
          <a:stretch>
            <a:fillRect/>
          </a:stretch>
        </p:blipFill>
        <p:spPr>
          <a:xfrm>
            <a:off x="5283787" y="1690900"/>
            <a:ext cx="2019783" cy="82645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5650654" y="3355910"/>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6291663" y="3049516"/>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وَاجْتَمَعَتْ رَبِيعَةُ بِالْبَحْرَيْنِ عَلَى الرِّدَّةِ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Rabīʿa in Bahrayn agreed together upon the ridda</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إِلَّا الْجَارُودُ وَمَنْ تَبِعَهُ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except al-Jārūd and those who followed him</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وَقَالُوا: نَرُدُّ الْمُلْكَ</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said: we will restore the kingship.</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محمدًا ﷺ ماتَ كما ماتوا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Traditional Arabic"/>
              </a:rPr>
              <a:t>Muḥammad ﷺ has died just as they died</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وإني أشهدُ أن لا إله إلا الله وأن محمدًا رسول الله</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I bear witness that there is no god but Allah and that Muḥammad is the Messenger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at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al-Ḥuṭam's men</a:t>
            </a:r>
          </a:p>
        </p:txBody>
      </p:sp>
      <p:pic>
        <p:nvPicPr>
          <p:cNvPr id="13" name="map territory t_010" descr="s06-bahrayn-coast-r1-5-t_010.png"/>
          <p:cNvPicPr>
            <a:picLocks noChangeAspect="1"/>
          </p:cNvPicPr>
          <p:nvPr/>
        </p:nvPicPr>
        <p:blipFill>
          <a:blip r:embed="rId3"/>
          <a:stretch>
            <a:fillRect/>
          </a:stretch>
        </p:blipFill>
        <p:spPr>
          <a:xfrm>
            <a:off x="4525864" y="3319627"/>
            <a:ext cx="451528" cy="512000"/>
          </a:xfrm>
          <a:prstGeom prst="rect">
            <a:avLst/>
          </a:prstGeom>
        </p:spPr>
      </p:pic>
      <p:pic>
        <p:nvPicPr>
          <p:cNvPr id="14" name="map territory t_014" descr="s06-bahrayn-coast-r1-5-t_014.png"/>
          <p:cNvPicPr>
            <a:picLocks noChangeAspect="1"/>
          </p:cNvPicPr>
          <p:nvPr/>
        </p:nvPicPr>
        <p:blipFill>
          <a:blip r:embed="rId4"/>
          <a:stretch>
            <a:fillRect/>
          </a:stretch>
        </p:blipFill>
        <p:spPr>
          <a:xfrm>
            <a:off x="3945328" y="4686306"/>
            <a:ext cx="290268" cy="294299"/>
          </a:xfrm>
          <a:prstGeom prst="rect">
            <a:avLst/>
          </a:prstGeom>
        </p:spPr>
      </p:pic>
      <p:pic>
        <p:nvPicPr>
          <p:cNvPr id="15" name="map arrow a_008" descr="s06-bahrayn-coast-r1-5-a_008.png"/>
          <p:cNvPicPr>
            <a:picLocks noChangeAspect="1"/>
          </p:cNvPicPr>
          <p:nvPr/>
        </p:nvPicPr>
        <p:blipFill>
          <a:blip r:embed="rId5"/>
          <a:stretch>
            <a:fillRect/>
          </a:stretch>
        </p:blipFill>
        <p:spPr>
          <a:xfrm>
            <a:off x="3501862" y="2025514"/>
            <a:ext cx="890962" cy="2164916"/>
          </a:xfrm>
          <a:prstGeom prst="rect">
            <a:avLst/>
          </a:prstGeom>
        </p:spPr>
      </p:pic>
      <p:pic>
        <p:nvPicPr>
          <p:cNvPr id="16" name="map arrow a_012" descr="s06-bahrayn-coast-r1-5-a_012.png"/>
          <p:cNvPicPr>
            <a:picLocks noChangeAspect="1"/>
          </p:cNvPicPr>
          <p:nvPr/>
        </p:nvPicPr>
        <p:blipFill>
          <a:blip r:embed="rId6"/>
          <a:stretch>
            <a:fillRect/>
          </a:stretch>
        </p:blipFill>
        <p:spPr>
          <a:xfrm>
            <a:off x="4493612" y="2944697"/>
            <a:ext cx="1044159" cy="342677"/>
          </a:xfrm>
          <a:prstGeom prst="rect">
            <a:avLst/>
          </a:prstGeom>
        </p:spPr>
      </p:pic>
      <p:pic>
        <p:nvPicPr>
          <p:cNvPr id="17" name="map arrow a_015" descr="s06-bahrayn-coast-r1-5-a_015.png"/>
          <p:cNvPicPr>
            <a:picLocks noChangeAspect="1"/>
          </p:cNvPicPr>
          <p:nvPr/>
        </p:nvPicPr>
        <p:blipFill>
          <a:blip r:embed="rId7"/>
          <a:stretch>
            <a:fillRect/>
          </a:stretch>
        </p:blipFill>
        <p:spPr>
          <a:xfrm>
            <a:off x="4154966" y="4645991"/>
            <a:ext cx="270110" cy="258016"/>
          </a:xfrm>
          <a:prstGeom prst="rect">
            <a:avLst/>
          </a:prstGeom>
        </p:spPr>
      </p:pic>
      <p:pic>
        <p:nvPicPr>
          <p:cNvPr id="18" name="map arrow a_016" descr="s06-bahrayn-coast-r1-5-a_016.png"/>
          <p:cNvPicPr>
            <a:picLocks noChangeAspect="1"/>
          </p:cNvPicPr>
          <p:nvPr/>
        </p:nvPicPr>
        <p:blipFill>
          <a:blip r:embed="rId8"/>
          <a:stretch>
            <a:fillRect/>
          </a:stretch>
        </p:blipFill>
        <p:spPr>
          <a:xfrm>
            <a:off x="3892918" y="4504888"/>
            <a:ext cx="258016" cy="274142"/>
          </a:xfrm>
          <a:prstGeom prst="rect">
            <a:avLst/>
          </a:prstGeom>
        </p:spPr>
      </p:pic>
      <p:pic>
        <p:nvPicPr>
          <p:cNvPr id="19" name="map arrow a_017" descr="s06-bahrayn-coast-r1-5-a_017.png"/>
          <p:cNvPicPr>
            <a:picLocks noChangeAspect="1"/>
          </p:cNvPicPr>
          <p:nvPr/>
        </p:nvPicPr>
        <p:blipFill>
          <a:blip r:embed="rId9"/>
          <a:stretch>
            <a:fillRect/>
          </a:stretch>
        </p:blipFill>
        <p:spPr>
          <a:xfrm>
            <a:off x="3751815" y="4779031"/>
            <a:ext cx="274142" cy="258016"/>
          </a:xfrm>
          <a:prstGeom prst="rect">
            <a:avLst/>
          </a:prstGeom>
        </p:spPr>
      </p:pic>
      <p:pic>
        <p:nvPicPr>
          <p:cNvPr id="20" name="map arrow a_018" descr="s06-bahrayn-coast-r1-5-a_018.png"/>
          <p:cNvPicPr>
            <a:picLocks noChangeAspect="1"/>
          </p:cNvPicPr>
          <p:nvPr/>
        </p:nvPicPr>
        <p:blipFill>
          <a:blip r:embed="rId10"/>
          <a:stretch>
            <a:fillRect/>
          </a:stretch>
        </p:blipFill>
        <p:spPr>
          <a:xfrm>
            <a:off x="4025958" y="4904007"/>
            <a:ext cx="262047" cy="274142"/>
          </a:xfrm>
          <a:prstGeom prst="rect">
            <a:avLst/>
          </a:prstGeom>
        </p:spPr>
      </p:pic>
      <p:pic>
        <p:nvPicPr>
          <p:cNvPr id="21" name="map army al-Ḥuṭam" descr="s06-bahrayn-coast-r1-5-a_009.png"/>
          <p:cNvPicPr>
            <a:picLocks noChangeAspect="1"/>
          </p:cNvPicPr>
          <p:nvPr/>
        </p:nvPicPr>
        <p:blipFill>
          <a:blip r:embed="rId11"/>
          <a:stretch>
            <a:fillRect/>
          </a:stretch>
        </p:blipFill>
        <p:spPr>
          <a:xfrm>
            <a:off x="3421232" y="3384131"/>
            <a:ext cx="2023814" cy="854678"/>
          </a:xfrm>
          <a:prstGeom prst="rect">
            <a:avLst/>
          </a:prstGeom>
        </p:spPr>
      </p:pic>
      <p:pic>
        <p:nvPicPr>
          <p:cNvPr id="22" name="map army al-Ḥuṭam's force" descr="s06-bahrayn-coast-r1-5-a_013.png"/>
          <p:cNvPicPr>
            <a:picLocks noChangeAspect="1"/>
          </p:cNvPicPr>
          <p:nvPr/>
        </p:nvPicPr>
        <p:blipFill>
          <a:blip r:embed="rId12"/>
          <a:stretch>
            <a:fillRect/>
          </a:stretch>
        </p:blipFill>
        <p:spPr>
          <a:xfrm>
            <a:off x="5142684" y="2275467"/>
            <a:ext cx="2826084" cy="850647"/>
          </a:xfrm>
          <a:prstGeom prst="rect">
            <a:avLst/>
          </a:prstGeom>
        </p:spPr>
      </p:pic>
      <p:pic>
        <p:nvPicPr>
          <p:cNvPr id="23" name="map label al-Khaṭṭ is won over" descr="s06-bahrayn-coast-r1-5-l_011.png"/>
          <p:cNvPicPr>
            <a:picLocks noChangeAspect="1"/>
          </p:cNvPicPr>
          <p:nvPr/>
        </p:nvPicPr>
        <p:blipFill>
          <a:blip r:embed="rId13"/>
          <a:stretch>
            <a:fillRect/>
          </a:stretch>
        </p:blipFill>
        <p:spPr>
          <a:xfrm>
            <a:off x="4493612" y="3049516"/>
            <a:ext cx="2656760" cy="330583"/>
          </a:xfrm>
          <a:prstGeom prst="rect">
            <a:avLst/>
          </a:prstGeom>
        </p:spPr>
      </p:pic>
      <p:pic>
        <p:nvPicPr>
          <p:cNvPr id="24" name="map label Juwāthā, besieged" descr="s06-bahrayn-coast-r1-5-l_019.png"/>
          <p:cNvPicPr>
            <a:picLocks noChangeAspect="1"/>
          </p:cNvPicPr>
          <p:nvPr/>
        </p:nvPicPr>
        <p:blipFill>
          <a:blip r:embed="rId14"/>
          <a:stretch>
            <a:fillRect/>
          </a:stretch>
        </p:blipFill>
        <p:spPr>
          <a:xfrm>
            <a:off x="2046489" y="5484544"/>
            <a:ext cx="247534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55 -0.2977 L 0.0427 -0.1754 L 0.0194 -0.0771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18" fill="hold">
                      <p:stCondLst>
                        <p:cond delay="indefinite"/>
                      </p:stCondLst>
                      <p:childTnLst>
                        <p:par>
                          <p:cTn id="19"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600"/>
                                        <p:tgtEl>
                                          <p:spTgt spid="23"/>
                                        </p:tgtEl>
                                      </p:cBhvr>
                                    </p:animEffect>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1600"/>
                                        <p:tgtEl>
                                          <p:spTgt spid="16"/>
                                        </p:tgtEl>
                                      </p:cBhvr>
                                    </p:animEffect>
                                  </p:childTnLst>
                                </p:cTn>
                              </p:par>
                              <p:par>
                                <p:cTn id="24" presetID="1"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par>
                                <p:cTn id="26" presetID="0" presetClass="path" presetSubtype="0" fill="hold" grpId="0" nodeType="withEffect">
                                  <p:stCondLst>
                                    <p:cond delay="0"/>
                                  </p:stCondLst>
                                  <p:childTnLst>
                                    <p:animMotion origin="layout" path="M -0.0764 0.0186 L -0.0401 0.0292 L 0.0000 0.0000 L 0 0 E" pathEditMode="relative" rAng="0" ptsTypes="">
                                      <p:cBhvr>
                                        <p:cTn id="25" dur="1600" fill="hold"/>
                                        <p:tgtEl>
                                          <p:spTgt spid="22"/>
                                        </p:tgtEl>
                                        <p:attrNameLst>
                                          <p:attrName>ppt_x</p:attrName>
                                          <p:attrName>ppt_y</p:attrName>
                                        </p:attrNameLst>
                                      </p:cBhvr>
                                    </p:animMotion>
                                  </p:childTnLst>
                                </p:cTn>
                              </p:par>
                              <p:par>
                                <p:cTn id="29" presetID="10" presetClass="exit" presetSubtype="0" fill="hold" grpId="0" nodeType="withEffect">
                                  <p:stCondLst>
                                    <p:cond delay="0"/>
                                  </p:stCondLst>
                                  <p:childTnLst>
                                    <p:animEffect transition="out" filter="fade">
                                      <p:cBhvr>
                                        <p:cTn id="27" dur="600"/>
                                        <p:tgtEl>
                                          <p:spTgt spid="23"/>
                                        </p:tgtEl>
                                      </p:cBhvr>
                                    </p:animEffect>
                                    <p:set>
                                      <p:cBhvr>
                                        <p:cTn id="28" dur="1" fill="hold">
                                          <p:stCondLst>
                                            <p:cond delay="599"/>
                                          </p:stCondLst>
                                        </p:cTn>
                                        <p:tgtEl>
                                          <p:spTgt spid="23"/>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34" presetID="10"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22" presetClass="entr" presetSubtype="2"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1600"/>
                                        <p:tgtEl>
                                          <p:spTgt spid="17"/>
                                        </p:tgtEl>
                                      </p:cBhvr>
                                    </p:animEffect>
                                  </p:childTnLst>
                                </p:cTn>
                              </p:par>
                              <p:par>
                                <p:cTn id="40" presetID="22" presetClass="entr" presetSubtype="1"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up)">
                                      <p:cBhvr>
                                        <p:cTn id="39" dur="1600"/>
                                        <p:tgtEl>
                                          <p:spTgt spid="18"/>
                                        </p:tgtEl>
                                      </p:cBhvr>
                                    </p:animEffect>
                                  </p:childTnLst>
                                </p:cTn>
                              </p:par>
                              <p:par>
                                <p:cTn id="43" presetID="22" presetClass="entr" presetSubtype="8"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1600"/>
                                        <p:tgtEl>
                                          <p:spTgt spid="19"/>
                                        </p:tgtEl>
                                      </p:cBhvr>
                                    </p:animEffect>
                                  </p:childTnLst>
                                </p:cTn>
                              </p:par>
                              <p:par>
                                <p:cTn id="46" presetID="22" presetClass="entr" presetSubtype="4"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down)">
                                      <p:cBhvr>
                                        <p:cTn id="45" dur="1600"/>
                                        <p:tgtEl>
                                          <p:spTgt spid="2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al-Ḥuṭam b. Ḍubayʿa, of Banū Qays b. Thaʿlaba, went out at the head of Bakr b. Wāʾil</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فَاجْتَمَعَ إِلَيْهِ مِنْ غَيْرِ الْمُرْتَدِّينَ مِمَّنْ لَمْ يَزَلْ مُشْرِكًا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there gathered to him, besides the apostates, men who had never ceased to be idolaters.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أَلَا أَبْلِغْ أَبَا بَكْرٍ رَسُولًا … وَفِتْيَانَ الْمَدِينَةِ أَجْمَعِينَا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Take a message to Abū Bakr, and to all the young men of Medina: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فَهَلْ لَكُمُ إِلَى قَوْمٍ كِرَامٍ … قُعُودٍ فِي جُوَاثَا مُحْصَرِينَا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have you any thought for a noble people, sitting besieged in Juwāthā?</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67217"/>
            <a:ext cx="463622" cy="1273954"/>
          </a:xfrm>
          <a:prstGeom prst="rect">
            <a:avLst/>
          </a:prstGeom>
        </p:spPr>
      </p:pic>
      <p:pic>
        <p:nvPicPr>
          <p:cNvPr id="16" name="map army al-ʿAlāʾ ؓ" descr="s06-bahrayn-r6-10-a_016.png"/>
          <p:cNvPicPr>
            <a:picLocks noChangeAspect="1"/>
          </p:cNvPicPr>
          <p:nvPr/>
        </p:nvPicPr>
        <p:blipFill>
          <a:blip r:embed="rId6"/>
          <a:stretch>
            <a:fillRect/>
          </a:stretch>
        </p:blipFill>
        <p:spPr>
          <a:xfrm>
            <a:off x="1921513" y="4258967"/>
            <a:ext cx="2265705" cy="850647"/>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2743939" y="3734871"/>
            <a:ext cx="2789800" cy="850647"/>
          </a:xfrm>
          <a:prstGeom prst="rect">
            <a:avLst/>
          </a:prstGeom>
        </p:spPr>
      </p:pic>
      <p:pic>
        <p:nvPicPr>
          <p:cNvPr id="19" name="map army al-ʿAlāʾ ؓ" descr="s06-bahrayn-r6-10-a_022.png"/>
          <p:cNvPicPr>
            <a:picLocks noChangeAspect="1"/>
          </p:cNvPicPr>
          <p:nvPr/>
        </p:nvPicPr>
        <p:blipFill>
          <a:blip r:embed="rId9"/>
          <a:stretch>
            <a:fillRect/>
          </a:stretch>
        </p:blipFill>
        <p:spPr>
          <a:xfrm>
            <a:off x="4916920" y="2577830"/>
            <a:ext cx="2201200"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23 0.1682 L -0.0112 0.0841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فَخَرَجَ مِنَ المَدِيْنَةِ فِي سِتَّةَ عَشَرَ رَاكِباً</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left Medina with sixteen riders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وَكَتَبَ لَهُ كِتَاباً:</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he wrote him a letter:</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أَنْ يَنْفِرَ مَعَهُ كُلُّ مَنْ مَرَّ بِهِ مِنَ المُسْلِمِيْنَ إِلَى عَدُوِّهِم.</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that every Muslim he passed should march out with him against their enemy.</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all they had.</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أيها الناسُ ألستم المسلمين؟</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people — are you not the Muslims?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في سبيل الله؟</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in the path of Allah?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ألستُم أنصارَ الله؟</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Are you not the helpers of Allah?</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قالوا: بلى</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said: "Yes."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فأبشروا فواللهِ لا يخذل اللهُ منْ كانَ في مثل حالكم</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Then rejoice — for by Allah, Allah does not abandon those who are in a state like yours.</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فلما قضى الصلاةَ جثا على رُكبتيه وجثا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he had finished the prayer he went down on his knees, and the people went down on theirs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ونصبَ في الدعاء ورفع يديه وفعلَ الناسُ مثله حتى طلعتِ الشمس</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he set himself to supplication and raised his hands, and the people did as he did, until the sun rose.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عليمُ، يا حليمُ، ويا عليُّ، يا عظيمُ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All-Knowing, O Forbearing, O Most High, O Tremendous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إنا عبيدُك وفي سبيلك نقاتلُ عدوَّك</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are Your servants, and in Your path we fight Your enemy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اسقنا غَيثًا نشربُ منه ونتوضَّأ</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give us rain from which we may drink and make wuḍūʾ</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فإذا تركناه فلا تجعل لأحدٍ فيه نصيبًا غيرَنا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leave it, give no one a share in it but us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at Hajar; comes down from that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ʿAbd al-Qays down from theirs</a:t>
            </a:r>
          </a:p>
        </p:txBody>
      </p:sp>
      <p:pic>
        <p:nvPicPr>
          <p:cNvPr id="13" name="map territory t_005" descr="s06-bahrayn-hajar-r1-6-t_005.png"/>
          <p:cNvPicPr>
            <a:picLocks noChangeAspect="1"/>
          </p:cNvPicPr>
          <p:nvPr/>
        </p:nvPicPr>
        <p:blipFill>
          <a:blip r:embed="rId3"/>
          <a:stretch>
            <a:fillRect/>
          </a:stretch>
        </p:blipFill>
        <p:spPr>
          <a:xfrm>
            <a:off x="6920577" y="2892287"/>
            <a:ext cx="790174" cy="790174"/>
          </a:xfrm>
          <a:prstGeom prst="rect">
            <a:avLst/>
          </a:prstGeom>
        </p:spPr>
      </p:pic>
      <p:pic>
        <p:nvPicPr>
          <p:cNvPr id="14" name="map territory t_020" descr="s06-bahrayn-hajar-r1-6-t_020.png"/>
          <p:cNvPicPr>
            <a:picLocks noChangeAspect="1"/>
          </p:cNvPicPr>
          <p:nvPr/>
        </p:nvPicPr>
        <p:blipFill>
          <a:blip r:embed="rId4"/>
          <a:stretch>
            <a:fillRect/>
          </a:stretch>
        </p:blipFill>
        <p:spPr>
          <a:xfrm>
            <a:off x="3784067" y="2960823"/>
            <a:ext cx="241890" cy="2104444"/>
          </a:xfrm>
          <a:prstGeom prst="rect">
            <a:avLst/>
          </a:prstGeom>
        </p:spPr>
      </p:pic>
      <p:pic>
        <p:nvPicPr>
          <p:cNvPr id="15" name="map territory t_021" descr="s06-bahrayn-hajar-r1-6-t_021.png"/>
          <p:cNvPicPr>
            <a:picLocks noChangeAspect="1"/>
          </p:cNvPicPr>
          <p:nvPr/>
        </p:nvPicPr>
        <p:blipFill>
          <a:blip r:embed="rId5"/>
          <a:stretch>
            <a:fillRect/>
          </a:stretch>
        </p:blipFill>
        <p:spPr>
          <a:xfrm>
            <a:off x="4364604" y="2960823"/>
            <a:ext cx="241890" cy="2104444"/>
          </a:xfrm>
          <a:prstGeom prst="rect">
            <a:avLst/>
          </a:prstGeom>
        </p:spPr>
      </p:pic>
      <p:pic>
        <p:nvPicPr>
          <p:cNvPr id="16" name="map arrow a_006" descr="s06-bahrayn-hajar-r1-6-a_006.png"/>
          <p:cNvPicPr>
            <a:picLocks noChangeAspect="1"/>
          </p:cNvPicPr>
          <p:nvPr/>
        </p:nvPicPr>
        <p:blipFill>
          <a:blip r:embed="rId6"/>
          <a:stretch>
            <a:fillRect/>
          </a:stretch>
        </p:blipFill>
        <p:spPr>
          <a:xfrm>
            <a:off x="7597870" y="2743122"/>
            <a:ext cx="487811" cy="382992"/>
          </a:xfrm>
          <a:prstGeom prst="rect">
            <a:avLst/>
          </a:prstGeom>
        </p:spPr>
      </p:pic>
      <p:pic>
        <p:nvPicPr>
          <p:cNvPr id="17" name="map arrow a_007" descr="s06-bahrayn-hajar-r1-6-a_007.png"/>
          <p:cNvPicPr>
            <a:picLocks noChangeAspect="1"/>
          </p:cNvPicPr>
          <p:nvPr/>
        </p:nvPicPr>
        <p:blipFill>
          <a:blip r:embed="rId7"/>
          <a:stretch>
            <a:fillRect/>
          </a:stretch>
        </p:blipFill>
        <p:spPr>
          <a:xfrm>
            <a:off x="6763349" y="2525421"/>
            <a:ext cx="382992" cy="491843"/>
          </a:xfrm>
          <a:prstGeom prst="rect">
            <a:avLst/>
          </a:prstGeom>
        </p:spPr>
      </p:pic>
      <p:pic>
        <p:nvPicPr>
          <p:cNvPr id="18" name="map arrow a_008" descr="s06-bahrayn-hajar-r1-6-a_008.png"/>
          <p:cNvPicPr>
            <a:picLocks noChangeAspect="1"/>
          </p:cNvPicPr>
          <p:nvPr/>
        </p:nvPicPr>
        <p:blipFill>
          <a:blip r:embed="rId8"/>
          <a:stretch>
            <a:fillRect/>
          </a:stretch>
        </p:blipFill>
        <p:spPr>
          <a:xfrm>
            <a:off x="6545647" y="3464761"/>
            <a:ext cx="487811" cy="382992"/>
          </a:xfrm>
          <a:prstGeom prst="rect">
            <a:avLst/>
          </a:prstGeom>
        </p:spPr>
      </p:pic>
      <p:pic>
        <p:nvPicPr>
          <p:cNvPr id="19" name="map arrow a_009" descr="s06-bahrayn-hajar-r1-6-a_009.png"/>
          <p:cNvPicPr>
            <a:picLocks noChangeAspect="1"/>
          </p:cNvPicPr>
          <p:nvPr/>
        </p:nvPicPr>
        <p:blipFill>
          <a:blip r:embed="rId9"/>
          <a:stretch>
            <a:fillRect/>
          </a:stretch>
        </p:blipFill>
        <p:spPr>
          <a:xfrm>
            <a:off x="7484988" y="3573611"/>
            <a:ext cx="382992" cy="491843"/>
          </a:xfrm>
          <a:prstGeom prst="rect">
            <a:avLst/>
          </a:prstGeom>
        </p:spPr>
      </p:pic>
      <p:pic>
        <p:nvPicPr>
          <p:cNvPr id="20" name="map arrow a_012" descr="s06-bahrayn-hajar-r1-6-a_012.png"/>
          <p:cNvPicPr>
            <a:picLocks noChangeAspect="1"/>
          </p:cNvPicPr>
          <p:nvPr/>
        </p:nvPicPr>
        <p:blipFill>
          <a:blip r:embed="rId10"/>
          <a:stretch>
            <a:fillRect/>
          </a:stretch>
        </p:blipFill>
        <p:spPr>
          <a:xfrm>
            <a:off x="651589" y="4343628"/>
            <a:ext cx="1644853" cy="765985"/>
          </a:xfrm>
          <a:prstGeom prst="rect">
            <a:avLst/>
          </a:prstGeom>
        </p:spPr>
      </p:pic>
      <p:pic>
        <p:nvPicPr>
          <p:cNvPr id="21" name="map arrow a_014" descr="s06-bahrayn-hajar-r1-6-a_014.png"/>
          <p:cNvPicPr>
            <a:picLocks noChangeAspect="1"/>
          </p:cNvPicPr>
          <p:nvPr/>
        </p:nvPicPr>
        <p:blipFill>
          <a:blip r:embed="rId11"/>
          <a:stretch>
            <a:fillRect/>
          </a:stretch>
        </p:blipFill>
        <p:spPr>
          <a:xfrm>
            <a:off x="2183560" y="4315408"/>
            <a:ext cx="4874087" cy="673260"/>
          </a:xfrm>
          <a:prstGeom prst="rect">
            <a:avLst/>
          </a:prstGeom>
        </p:spPr>
      </p:pic>
      <p:pic>
        <p:nvPicPr>
          <p:cNvPr id="22" name="map arrow a_015" descr="s06-bahrayn-hajar-r1-6-a_015.png"/>
          <p:cNvPicPr>
            <a:picLocks noChangeAspect="1"/>
          </p:cNvPicPr>
          <p:nvPr/>
        </p:nvPicPr>
        <p:blipFill>
          <a:blip r:embed="rId12"/>
          <a:stretch>
            <a:fillRect/>
          </a:stretch>
        </p:blipFill>
        <p:spPr>
          <a:xfrm>
            <a:off x="6118308" y="4154148"/>
            <a:ext cx="947403" cy="806300"/>
          </a:xfrm>
          <a:prstGeom prst="rect">
            <a:avLst/>
          </a:prstGeom>
        </p:spPr>
      </p:pic>
      <p:pic>
        <p:nvPicPr>
          <p:cNvPr id="23" name="map arrow a_017" descr="s06-bahrayn-hajar-r1-6-a_017.png"/>
          <p:cNvPicPr>
            <a:picLocks noChangeAspect="1"/>
          </p:cNvPicPr>
          <p:nvPr/>
        </p:nvPicPr>
        <p:blipFill>
          <a:blip r:embed="rId13"/>
          <a:stretch>
            <a:fillRect/>
          </a:stretch>
        </p:blipFill>
        <p:spPr>
          <a:xfrm>
            <a:off x="2171466" y="3892100"/>
            <a:ext cx="1088505" cy="588599"/>
          </a:xfrm>
          <a:prstGeom prst="rect">
            <a:avLst/>
          </a:prstGeom>
        </p:spPr>
      </p:pic>
      <p:pic>
        <p:nvPicPr>
          <p:cNvPr id="24" name="map army al-Jārūd ؓ" descr="s06-bahrayn-hajar-r1-6-a_011.png"/>
          <p:cNvPicPr>
            <a:picLocks noChangeAspect="1"/>
          </p:cNvPicPr>
          <p:nvPr/>
        </p:nvPicPr>
        <p:blipFill>
          <a:blip r:embed="rId14"/>
          <a:stretch>
            <a:fillRect/>
          </a:stretch>
        </p:blipFill>
        <p:spPr>
          <a:xfrm>
            <a:off x="6380356" y="3791312"/>
            <a:ext cx="1257829" cy="1209450"/>
          </a:xfrm>
          <a:prstGeom prst="rect">
            <a:avLst/>
          </a:prstGeom>
        </p:spPr>
      </p:pic>
      <p:pic>
        <p:nvPicPr>
          <p:cNvPr id="25" name="map army al-ʿAlāʾ ؓ" descr="s06-bahrayn-hajar-r1-6-a_013.png"/>
          <p:cNvPicPr>
            <a:picLocks noChangeAspect="1"/>
          </p:cNvPicPr>
          <p:nvPr/>
        </p:nvPicPr>
        <p:blipFill>
          <a:blip r:embed="rId15"/>
          <a:stretch>
            <a:fillRect/>
          </a:stretch>
        </p:blipFill>
        <p:spPr>
          <a:xfrm>
            <a:off x="1901355" y="3662304"/>
            <a:ext cx="1878680" cy="854678"/>
          </a:xfrm>
          <a:prstGeom prst="rect">
            <a:avLst/>
          </a:prstGeom>
        </p:spPr>
      </p:pic>
      <p:pic>
        <p:nvPicPr>
          <p:cNvPr id="26" name="map army al-Jārūd ؓ" descr="s06-bahrayn-hajar-r1-6-a_016.png"/>
          <p:cNvPicPr>
            <a:picLocks noChangeAspect="1"/>
          </p:cNvPicPr>
          <p:nvPr/>
        </p:nvPicPr>
        <p:blipFill>
          <a:blip r:embed="rId16"/>
          <a:stretch>
            <a:fillRect/>
          </a:stretch>
        </p:blipFill>
        <p:spPr>
          <a:xfrm>
            <a:off x="5844166" y="3468792"/>
            <a:ext cx="2152822" cy="878867"/>
          </a:xfrm>
          <a:prstGeom prst="rect">
            <a:avLst/>
          </a:prstGeom>
        </p:spPr>
      </p:pic>
      <p:pic>
        <p:nvPicPr>
          <p:cNvPr id="27" name="map army al-ʿAlāʾ ؓ" descr="s06-bahrayn-hajar-r1-6-a_018.png"/>
          <p:cNvPicPr>
            <a:picLocks noChangeAspect="1"/>
          </p:cNvPicPr>
          <p:nvPr/>
        </p:nvPicPr>
        <p:blipFill>
          <a:blip r:embed="rId17"/>
          <a:stretch>
            <a:fillRect/>
          </a:stretch>
        </p:blipFill>
        <p:spPr>
          <a:xfrm>
            <a:off x="2441577" y="3226902"/>
            <a:ext cx="1527939" cy="1527939"/>
          </a:xfrm>
          <a:prstGeom prst="rect">
            <a:avLst/>
          </a:prstGeom>
        </p:spPr>
      </p:pic>
      <p:pic>
        <p:nvPicPr>
          <p:cNvPr id="28" name="map label every one gathers" descr="s06-bahrayn-hajar-r1-6-l_019.png"/>
          <p:cNvPicPr>
            <a:picLocks noChangeAspect="1"/>
          </p:cNvPicPr>
          <p:nvPr/>
        </p:nvPicPr>
        <p:blipFill>
          <a:blip r:embed="rId18"/>
          <a:stretch>
            <a:fillRect/>
          </a:stretch>
        </p:blipFill>
        <p:spPr>
          <a:xfrm>
            <a:off x="3989674" y="2698775"/>
            <a:ext cx="2362461" cy="338646"/>
          </a:xfrm>
          <a:prstGeom prst="rect">
            <a:avLst/>
          </a:prstGeom>
        </p:spPr>
      </p:pic>
      <p:pic>
        <p:nvPicPr>
          <p:cNvPr id="29" name="map label trenches" descr="s06-bahrayn-hajar-r1-6-l_022.png"/>
          <p:cNvPicPr>
            <a:picLocks noChangeAspect="1"/>
          </p:cNvPicPr>
          <p:nvPr/>
        </p:nvPicPr>
        <p:blipFill>
          <a:blip r:embed="rId19"/>
          <a:stretch>
            <a:fillRect/>
          </a:stretch>
        </p:blipFill>
        <p:spPr>
          <a:xfrm>
            <a:off x="3630870" y="2468980"/>
            <a:ext cx="1221545" cy="290268"/>
          </a:xfrm>
          <a:prstGeom prst="rect">
            <a:avLst/>
          </a:prstGeom>
        </p:spPr>
      </p:pic>
      <p:pic>
        <p:nvPicPr>
          <p:cNvPr id="30" name="map label a month" descr="s06-bahrayn-hajar-r1-6-l_023.png"/>
          <p:cNvPicPr>
            <a:picLocks noChangeAspect="1"/>
          </p:cNvPicPr>
          <p:nvPr/>
        </p:nvPicPr>
        <p:blipFill>
          <a:blip r:embed="rId20"/>
          <a:stretch>
            <a:fillRect/>
          </a:stretch>
        </p:blipFill>
        <p:spPr>
          <a:xfrm>
            <a:off x="3445421" y="2473011"/>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wipe(left)">
                                      <p:cBhvr>
                                        <p:cTn id="4" dur="1600"/>
                                        <p:tgtEl>
                                          <p:spTgt spid="20"/>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250 0.0917 L -0.0615 0.0635 L 0.0000 0.0000 L 0 0 E" pathEditMode="relative" rAng="0" ptsTypes="">
                                      <p:cBhvr>
                                        <p:cTn id="8" dur="1600" fill="hold"/>
                                        <p:tgtEl>
                                          <p:spTgt spid="25"/>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left)">
                                      <p:cBhvr>
                                        <p:cTn id="13" dur="1600"/>
                                        <p:tgtEl>
                                          <p:spTgt spid="21"/>
                                        </p:tgtEl>
                                      </p:cBhvr>
                                    </p:animEffect>
                                  </p:childTnLst>
                                </p:cTn>
                              </p:par>
                              <p:par>
                                <p:cTn id="17" presetID="22" presetClass="entr" presetSubtype="2"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right)">
                                      <p:cBhvr>
                                        <p:cTn id="16" dur="1600"/>
                                        <p:tgtEl>
                                          <p:spTgt spid="22"/>
                                        </p:tgtEl>
                                      </p:cBhvr>
                                    </p:animEffect>
                                  </p:childTnLst>
                                </p:cTn>
                              </p:par>
                              <p:par>
                                <p:cTn id="20" presetID="10" presetClass="exit" presetSubtype="0" fill="hold" grpId="0" nodeType="withEffect">
                                  <p:stCondLst>
                                    <p:cond delay="0"/>
                                  </p:stCondLst>
                                  <p:childTnLst>
                                    <p:animEffect transition="out" filter="fade">
                                      <p:cBhvr>
                                        <p:cTn id="18" dur="600"/>
                                        <p:tgtEl>
                                          <p:spTgt spid="24"/>
                                        </p:tgtEl>
                                      </p:cBhvr>
                                    </p:animEffect>
                                    <p:set>
                                      <p:cBhvr>
                                        <p:cTn id="19" dur="1" fill="hold">
                                          <p:stCondLst>
                                            <p:cond delay="599"/>
                                          </p:stCondLst>
                                        </p:cTn>
                                        <p:tgtEl>
                                          <p:spTgt spid="24"/>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675 0.0988 L 0.0357 0.0564 L 0.0000 0.0000 L 0 0 E" pathEditMode="relative" rAng="0" ptsTypes="">
                                      <p:cBhvr>
                                        <p:cTn id="23" dur="1600" fill="hold"/>
                                        <p:tgtEl>
                                          <p:spTgt spid="26"/>
                                        </p:tgtEl>
                                        <p:attrNameLst>
                                          <p:attrName>ppt_x</p:attrName>
                                          <p:attrName>ppt_y</p:attrName>
                                        </p:attrNameLst>
                                      </p:cBhvr>
                                    </p:animMotion>
                                  </p:childTnLst>
                                </p:cTn>
                              </p:par>
                            </p:childTnLst>
                          </p:cTn>
                        </p:par>
                      </p:childTnLst>
                    </p:cTn>
                  </p:par>
                  <p:par>
                    <p:cTn id="67" fill="hold">
                      <p:stCondLst>
                        <p:cond delay="indefinite"/>
                      </p:stCondLst>
                      <p:childTnLst>
                        <p:par>
                          <p:cTn id="68" fill="hold">
                            <p:stCondLst>
                              <p:cond delay="0"/>
                            </p:stCondLst>
                            <p:childTnLst>
                              <p:par>
                                <p:cTn id="29" presetID="10" presetClass="exit" presetSubtype="0" fill="hold" grpId="0" nodeType="clickEffect">
                                  <p:stCondLst>
                                    <p:cond delay="0"/>
                                  </p:stCondLst>
                                  <p:childTnLst>
                                    <p:animEffect transition="out" filter="fade">
                                      <p:cBhvr>
                                        <p:cTn id="27" dur="600"/>
                                        <p:tgtEl>
                                          <p:spTgt spid="13"/>
                                        </p:tgtEl>
                                      </p:cBhvr>
                                    </p:animEffect>
                                    <p:set>
                                      <p:cBhvr>
                                        <p:cTn id="28" dur="1" fill="hold">
                                          <p:stCondLst>
                                            <p:cond delay="599"/>
                                          </p:stCondLst>
                                        </p:cTn>
                                        <p:tgtEl>
                                          <p:spTgt spid="13"/>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0" dur="600"/>
                                        <p:tgtEl>
                                          <p:spTgt spid="16"/>
                                        </p:tgtEl>
                                      </p:cBhvr>
                                    </p:animEffect>
                                    <p:set>
                                      <p:cBhvr>
                                        <p:cTn id="31" dur="1" fill="hold">
                                          <p:stCondLst>
                                            <p:cond delay="599"/>
                                          </p:stCondLst>
                                        </p:cTn>
                                        <p:tgtEl>
                                          <p:spTgt spid="16"/>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7"/>
                                        </p:tgtEl>
                                      </p:cBhvr>
                                    </p:animEffect>
                                    <p:set>
                                      <p:cBhvr>
                                        <p:cTn id="34" dur="1" fill="hold">
                                          <p:stCondLst>
                                            <p:cond delay="599"/>
                                          </p:stCondLst>
                                        </p:cTn>
                                        <p:tgtEl>
                                          <p:spTgt spid="17"/>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18"/>
                                        </p:tgtEl>
                                      </p:cBhvr>
                                    </p:animEffect>
                                    <p:set>
                                      <p:cBhvr>
                                        <p:cTn id="37" dur="1" fill="hold">
                                          <p:stCondLst>
                                            <p:cond delay="599"/>
                                          </p:stCondLst>
                                        </p:cTn>
                                        <p:tgtEl>
                                          <p:spTgt spid="18"/>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1"/>
                                        </p:tgtEl>
                                      </p:cBhvr>
                                    </p:animEffect>
                                    <p:set>
                                      <p:cBhvr>
                                        <p:cTn id="46" dur="1" fill="hold">
                                          <p:stCondLst>
                                            <p:cond delay="599"/>
                                          </p:stCondLst>
                                        </p:cTn>
                                        <p:tgtEl>
                                          <p:spTgt spid="21"/>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2"/>
                                        </p:tgtEl>
                                      </p:cBhvr>
                                    </p:animEffect>
                                    <p:set>
                                      <p:cBhvr>
                                        <p:cTn id="49" dur="1" fill="hold">
                                          <p:stCondLst>
                                            <p:cond delay="599"/>
                                          </p:stCondLst>
                                        </p:cTn>
                                        <p:tgtEl>
                                          <p:spTgt spid="22"/>
                                        </p:tgtEl>
                                        <p:attrNameLst>
                                          <p:attrName>style.visibility</p:attrName>
                                        </p:attrNameLst>
                                      </p:cBhvr>
                                      <p:to>
                                        <p:strVal val="hidden"/>
                                      </p:to>
                                    </p:set>
                                  </p:childTnLst>
                                </p:cTn>
                              </p:par>
                              <p:par>
                                <p:cTn id="53" presetID="22" presetClass="entr" presetSubtype="8"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1600"/>
                                        <p:tgtEl>
                                          <p:spTgt spid="23"/>
                                        </p:tgtEl>
                                      </p:cBhvr>
                                    </p:animEffect>
                                  </p:childTnLst>
                                </p:cTn>
                              </p:par>
                              <p:par>
                                <p:cTn id="56" presetID="10" presetClass="exit" presetSubtype="0" fill="hold" grpId="0" nodeType="withEffect">
                                  <p:stCondLst>
                                    <p:cond delay="0"/>
                                  </p:stCondLst>
                                  <p:childTnLst>
                                    <p:animEffect transition="out" filter="fade">
                                      <p:cBhvr>
                                        <p:cTn id="54" dur="600"/>
                                        <p:tgtEl>
                                          <p:spTgt spid="25"/>
                                        </p:tgtEl>
                                      </p:cBhvr>
                                    </p:animEffect>
                                    <p:set>
                                      <p:cBhvr>
                                        <p:cTn id="55" dur="1" fill="hold">
                                          <p:stCondLst>
                                            <p:cond delay="599"/>
                                          </p:stCondLst>
                                        </p:cTn>
                                        <p:tgtEl>
                                          <p:spTgt spid="25"/>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26"/>
                                        </p:tgtEl>
                                      </p:cBhvr>
                                    </p:animEffect>
                                    <p:set>
                                      <p:cBhvr>
                                        <p:cTn id="58" dur="1" fill="hold">
                                          <p:stCondLst>
                                            <p:cond delay="599"/>
                                          </p:stCondLst>
                                        </p:cTn>
                                        <p:tgtEl>
                                          <p:spTgt spid="26"/>
                                        </p:tgtEl>
                                        <p:attrNameLst>
                                          <p:attrName>style.visibility</p:attrName>
                                        </p:attrNameLst>
                                      </p:cBhvr>
                                      <p:to>
                                        <p:strVal val="hidden"/>
                                      </p:to>
                                    </p:set>
                                  </p:childTnLst>
                                </p:cTn>
                              </p:par>
                              <p:par>
                                <p:cTn id="61" presetID="1" presetClass="entr" presetSubtype="0" fill="hold" grpId="0"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par>
                                <p:cTn id="63" presetID="0" presetClass="path" presetSubtype="0" fill="hold" grpId="0" nodeType="withEffect">
                                  <p:stCondLst>
                                    <p:cond delay="0"/>
                                  </p:stCondLst>
                                  <p:childTnLst>
                                    <p:animMotion origin="layout" path="M -0.0794 0.0635 L -0.0377 0.0282 L 0.0000 0.0000 L 0 0 E" pathEditMode="relative" rAng="0" ptsTypes="">
                                      <p:cBhvr>
                                        <p:cTn id="62" dur="1600" fill="hold"/>
                                        <p:tgtEl>
                                          <p:spTgt spid="27"/>
                                        </p:tgtEl>
                                        <p:attrNameLst>
                                          <p:attrName>ppt_x</p:attrName>
                                          <p:attrName>ppt_y</p:attrName>
                                        </p:attrNameLst>
                                      </p:cBhvr>
                                    </p:animMotion>
                                  </p:childTnLst>
                                </p:cTn>
                              </p:par>
                              <p:par>
                                <p:cTn id="66"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600"/>
                                        <p:tgtEl>
                                          <p:spTgt spid="28"/>
                                        </p:tgtEl>
                                      </p:cBhvr>
                                    </p:animEffect>
                                  </p:childTnLst>
                                </p:cTn>
                              </p:par>
                            </p:childTnLst>
                          </p:cTn>
                        </p:par>
                      </p:childTnLst>
                    </p:cTn>
                  </p:par>
                  <p:par>
                    <p:cTn id="81" fill="hold">
                      <p:stCondLst>
                        <p:cond delay="indefinite"/>
                      </p:stCondLst>
                      <p:childTnLst>
                        <p:par>
                          <p:cTn id="82"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600"/>
                                        <p:tgtEl>
                                          <p:spTgt spid="14"/>
                                        </p:tgtEl>
                                      </p:cBhvr>
                                    </p:animEffect>
                                  </p:childTnLst>
                                </p:cTn>
                              </p:par>
                              <p:par>
                                <p:cTn id="74" presetID="10"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par>
                                <p:cTn id="77" presetID="10" presetClass="exit" presetSubtype="0" fill="hold" grpId="0" nodeType="withEffect">
                                  <p:stCondLst>
                                    <p:cond delay="0"/>
                                  </p:stCondLst>
                                  <p:childTnLst>
                                    <p:animEffect transition="out" filter="fade">
                                      <p:cBhvr>
                                        <p:cTn id="75" dur="600"/>
                                        <p:tgtEl>
                                          <p:spTgt spid="28"/>
                                        </p:tgtEl>
                                      </p:cBhvr>
                                    </p:animEffect>
                                    <p:set>
                                      <p:cBhvr>
                                        <p:cTn id="76" dur="1" fill="hold">
                                          <p:stCondLst>
                                            <p:cond delay="599"/>
                                          </p:stCondLst>
                                        </p:cTn>
                                        <p:tgtEl>
                                          <p:spTgt spid="28"/>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600"/>
                                        <p:tgtEl>
                                          <p:spTgt spid="29"/>
                                        </p:tgtEl>
                                      </p:cBhvr>
                                    </p:animEffect>
                                  </p:childTnLst>
                                </p:cTn>
                              </p:par>
                            </p:childTnLst>
                          </p:cTn>
                        </p:par>
                      </p:childTnLst>
                    </p:cTn>
                  </p:par>
                  <p:par>
                    <p:cTn id="89" fill="hold">
                      <p:stCondLst>
                        <p:cond delay="indefinite"/>
                      </p:stCondLst>
                      <p:childTnLst>
                        <p:par>
                          <p:cTn id="90" fill="hold">
                            <p:stCondLst>
                              <p:cond delay="0"/>
                            </p:stCondLst>
                            <p:childTnLst>
                              <p:par>
                                <p:cTn id="85" presetID="10" presetClass="exit" presetSubtype="0" fill="hold" grpId="0" nodeType="clickEffect">
                                  <p:stCondLst>
                                    <p:cond delay="0"/>
                                  </p:stCondLst>
                                  <p:childTnLst>
                                    <p:animEffect transition="out" filter="fade">
                                      <p:cBhvr>
                                        <p:cTn id="83" dur="600"/>
                                        <p:tgtEl>
                                          <p:spTgt spid="29"/>
                                        </p:tgtEl>
                                      </p:cBhvr>
                                    </p:animEffect>
                                    <p:set>
                                      <p:cBhvr>
                                        <p:cTn id="84" dur="1" fill="hold">
                                          <p:stCondLst>
                                            <p:cond delay="599"/>
                                          </p:stCondLst>
                                        </p:cTn>
                                        <p:tgtEl>
                                          <p:spTgt spid="29"/>
                                        </p:tgtEl>
                                        <p:attrNameLst>
                                          <p:attrName>style.visibility</p:attrName>
                                        </p:attrNameLst>
                                      </p:cBhvr>
                                      <p:to>
                                        <p:strVal val="hidden"/>
                                      </p:to>
                                    </p:set>
                                  </p:childTnLst>
                                </p:cTn>
                              </p:par>
                              <p:par>
                                <p:cTn id="88"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وَخَنْدَقَ الْمُسْلِمُونَ عَلَى أَنْفُسِهِمْ وَالْمُشْرِكُونَ</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 Muslims dug a trench round themselves, and so did the mushrikūn</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وَكَانُوا يَتَرَاوَحُونَ الْقِتَالَ وَيَرْجِعُونَ إِلَى خَنْدَقِهِمْ</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would fight by turns and go back to their trench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فَكَانُوا كَذَلِكَ شَهْرًا</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went on like that for a month.</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6-9-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seized by al-Ḥuṭam's men; freed by his uncle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17" descr="s06-bahrayn-hajar-r1-6-a_017.png"/>
          <p:cNvPicPr>
            <a:picLocks noChangeAspect="1"/>
          </p:cNvPicPr>
          <p:nvPr/>
        </p:nvPicPr>
        <p:blipFill>
          <a:blip r:embed="rId3"/>
          <a:stretch>
            <a:fillRect/>
          </a:stretch>
        </p:blipFill>
        <p:spPr>
          <a:xfrm>
            <a:off x="2171466" y="3892100"/>
            <a:ext cx="1088505" cy="588599"/>
          </a:xfrm>
          <a:prstGeom prst="rect">
            <a:avLst/>
          </a:prstGeom>
        </p:spPr>
      </p:pic>
      <p:pic>
        <p:nvPicPr>
          <p:cNvPr id="14" name="map arrow a_024" descr="s06-bahrayn-hajar-r6-9-a_024.png"/>
          <p:cNvPicPr>
            <a:picLocks noChangeAspect="1"/>
          </p:cNvPicPr>
          <p:nvPr/>
        </p:nvPicPr>
        <p:blipFill>
          <a:blip r:embed="rId4"/>
          <a:stretch>
            <a:fillRect/>
          </a:stretch>
        </p:blipFill>
        <p:spPr>
          <a:xfrm>
            <a:off x="3409138" y="3101925"/>
            <a:ext cx="939340" cy="33461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my Ibn Ḥadhf" descr="s06-bahrayn-hajar-r6-9-a_025.png"/>
          <p:cNvPicPr>
            <a:picLocks noChangeAspect="1"/>
          </p:cNvPicPr>
          <p:nvPr/>
        </p:nvPicPr>
        <p:blipFill>
          <a:blip r:embed="rId6"/>
          <a:stretch>
            <a:fillRect/>
          </a:stretch>
        </p:blipFill>
        <p:spPr>
          <a:xfrm>
            <a:off x="3957422" y="2549610"/>
            <a:ext cx="2136696" cy="854678"/>
          </a:xfrm>
          <a:prstGeom prst="rect">
            <a:avLst/>
          </a:prstGeom>
        </p:spPr>
      </p:pic>
      <p:pic>
        <p:nvPicPr>
          <p:cNvPr id="17" name="map army Ibn Ḥadhf" descr="s06-bahrayn-hajar-r6-9-a_029.png"/>
          <p:cNvPicPr>
            <a:picLocks noChangeAspect="1"/>
          </p:cNvPicPr>
          <p:nvPr/>
        </p:nvPicPr>
        <p:blipFill>
          <a:blip r:embed="rId7"/>
          <a:stretch>
            <a:fillRect/>
          </a:stretch>
        </p:blipFill>
        <p:spPr>
          <a:xfrm>
            <a:off x="2542364" y="2085987"/>
            <a:ext cx="1660979" cy="1173167"/>
          </a:xfrm>
          <a:prstGeom prst="rect">
            <a:avLst/>
          </a:prstGeom>
        </p:spPr>
      </p:pic>
      <p:pic>
        <p:nvPicPr>
          <p:cNvPr id="18" name="map label a month" descr="s06-bahrayn-hajar-r1-6-l_023.png"/>
          <p:cNvPicPr>
            <a:picLocks noChangeAspect="1"/>
          </p:cNvPicPr>
          <p:nvPr/>
        </p:nvPicPr>
        <p:blipFill>
          <a:blip r:embed="rId8"/>
          <a:stretch>
            <a:fillRect/>
          </a:stretch>
        </p:blipFill>
        <p:spPr>
          <a:xfrm>
            <a:off x="3445421" y="2473011"/>
            <a:ext cx="1406994" cy="334614"/>
          </a:xfrm>
          <a:prstGeom prst="rect">
            <a:avLst/>
          </a:prstGeom>
        </p:spPr>
      </p:pic>
      <p:pic>
        <p:nvPicPr>
          <p:cNvPr id="19" name="map label a noise in the night" descr="s06-bahrayn-hajar-r6-9-l_026.png"/>
          <p:cNvPicPr>
            <a:picLocks noChangeAspect="1"/>
          </p:cNvPicPr>
          <p:nvPr/>
        </p:nvPicPr>
        <p:blipFill>
          <a:blip r:embed="rId9"/>
          <a:stretch>
            <a:fillRect/>
          </a:stretch>
        </p:blipFill>
        <p:spPr>
          <a:xfrm>
            <a:off x="4110619" y="2235152"/>
            <a:ext cx="2547910" cy="338646"/>
          </a:xfrm>
          <a:prstGeom prst="rect">
            <a:avLst/>
          </a:prstGeom>
        </p:spPr>
      </p:pic>
      <p:pic>
        <p:nvPicPr>
          <p:cNvPr id="20" name="map label seized — he calls for his uncle" descr="s06-bahrayn-hajar-r6-9-l_027.png"/>
          <p:cNvPicPr>
            <a:picLocks noChangeAspect="1"/>
          </p:cNvPicPr>
          <p:nvPr/>
        </p:nvPicPr>
        <p:blipFill>
          <a:blip r:embed="rId10"/>
          <a:stretch>
            <a:fillRect/>
          </a:stretch>
        </p:blipFill>
        <p:spPr>
          <a:xfrm>
            <a:off x="3485736" y="2235152"/>
            <a:ext cx="389443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675 0.0000 L -0.0317 -0.0056 L 0.0000 0.0000 L 0 0 E" pathEditMode="relative" rAng="0" ptsTypes="">
                                      <p:cBhvr>
                                        <p:cTn id="11" dur="1600" fill="hold"/>
                                        <p:tgtEl>
                                          <p:spTgt spid="16"/>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18"/>
                                        </p:tgtEl>
                                      </p:cBhvr>
                                    </p:animEffect>
                                    <p:set>
                                      <p:cBhvr>
                                        <p:cTn id="14" dur="1" fill="hold">
                                          <p:stCondLst>
                                            <p:cond delay="599"/>
                                          </p:stCondLst>
                                        </p:cTn>
                                        <p:tgtEl>
                                          <p:spTgt spid="18"/>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600"/>
                                        <p:tgtEl>
                                          <p:spTgt spid="19"/>
                                        </p:tgtEl>
                                      </p:cBhvr>
                                    </p:animEffect>
                                  </p:childTnLst>
                                </p:cTn>
                              </p:par>
                            </p:childTnLst>
                          </p:cTn>
                        </p:par>
                      </p:childTnLst>
                    </p:cTn>
                  </p:par>
                  <p:par>
                    <p:cTn id="30" fill="hold">
                      <p:stCondLst>
                        <p:cond delay="indefinite"/>
                      </p:stCondLst>
                      <p:childTnLst>
                        <p:par>
                          <p:cTn id="31" fill="hold">
                            <p:stCondLst>
                              <p:cond delay="0"/>
                            </p:stCondLst>
                            <p:childTnLst>
                              <p:par>
                                <p:cTn id="23" presetID="10" presetClass="exit" presetSubtype="0" fill="hold" grpId="0" nodeType="clickEffect">
                                  <p:stCondLst>
                                    <p:cond delay="0"/>
                                  </p:stCondLst>
                                  <p:childTnLst>
                                    <p:animEffect transition="out" filter="fade">
                                      <p:cBhvr>
                                        <p:cTn id="21" dur="600"/>
                                        <p:tgtEl>
                                          <p:spTgt spid="14"/>
                                        </p:tgtEl>
                                      </p:cBhvr>
                                    </p:animEffect>
                                    <p:set>
                                      <p:cBhvr>
                                        <p:cTn id="22" dur="1" fill="hold">
                                          <p:stCondLst>
                                            <p:cond delay="599"/>
                                          </p:stCondLst>
                                        </p:cTn>
                                        <p:tgtEl>
                                          <p:spTgt spid="14"/>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19"/>
                                        </p:tgtEl>
                                      </p:cBhvr>
                                    </p:animEffect>
                                    <p:set>
                                      <p:cBhvr>
                                        <p:cTn id="25" dur="1" fill="hold">
                                          <p:stCondLst>
                                            <p:cond delay="599"/>
                                          </p:stCondLst>
                                        </p:cTn>
                                        <p:tgtEl>
                                          <p:spTgt spid="19"/>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childTnLst>
                                </p:cTn>
                              </p:par>
                            </p:childTnLst>
                          </p:cTn>
                        </p:par>
                      </p:childTnLst>
                    </p:cTn>
                  </p:par>
                  <p:par>
                    <p:cTn id="45" fill="hold">
                      <p:stCondLst>
                        <p:cond delay="indefinite"/>
                      </p:stCondLst>
                      <p:childTnLst>
                        <p:par>
                          <p:cTn id="46"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754 0.0212 L 0.0397 -0.0071 L 0.0000 0.0000 L 0 0 E" pathEditMode="relative" rAng="0" ptsTypes="">
                                      <p:cBhvr>
                                        <p:cTn id="40" dur="1600" fill="hold"/>
                                        <p:tgtEl>
                                          <p:spTgt spid="17"/>
                                        </p:tgtEl>
                                        <p:attrNameLst>
                                          <p:attrName>ppt_x</p:attrName>
                                          <p:attrName>ppt_y</p:attrName>
                                        </p:attrNameLst>
                                      </p:cBhvr>
                                    </p:animMotion>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9-11-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out at them, over the trench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territory t_020" descr="s06-bahrayn-hajar-r1-6-t_020.png"/>
          <p:cNvPicPr>
            <a:picLocks noChangeAspect="1"/>
          </p:cNvPicPr>
          <p:nvPr/>
        </p:nvPicPr>
        <p:blipFill>
          <a:blip r:embed="rId3"/>
          <a:stretch>
            <a:fillRect/>
          </a:stretch>
        </p:blipFill>
        <p:spPr>
          <a:xfrm>
            <a:off x="3784067" y="2960823"/>
            <a:ext cx="241890" cy="2104444"/>
          </a:xfrm>
          <a:prstGeom prst="rect">
            <a:avLst/>
          </a:prstGeom>
        </p:spPr>
      </p:pic>
      <p:pic>
        <p:nvPicPr>
          <p:cNvPr id="14" name="map territory t_021" descr="s06-bahrayn-hajar-r1-6-t_021.png"/>
          <p:cNvPicPr>
            <a:picLocks noChangeAspect="1"/>
          </p:cNvPicPr>
          <p:nvPr/>
        </p:nvPicPr>
        <p:blipFill>
          <a:blip r:embed="rId4"/>
          <a:stretch>
            <a:fillRect/>
          </a:stretch>
        </p:blipFill>
        <p:spPr>
          <a:xfrm>
            <a:off x="4364604" y="2960823"/>
            <a:ext cx="241890" cy="210444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row a_030" descr="s06-bahrayn-hajar-r9-11-a_030.png"/>
          <p:cNvPicPr>
            <a:picLocks noChangeAspect="1"/>
          </p:cNvPicPr>
          <p:nvPr/>
        </p:nvPicPr>
        <p:blipFill>
          <a:blip r:embed="rId6"/>
          <a:stretch>
            <a:fillRect/>
          </a:stretch>
        </p:blipFill>
        <p:spPr>
          <a:xfrm>
            <a:off x="3143058" y="3896132"/>
            <a:ext cx="1495687" cy="330583"/>
          </a:xfrm>
          <a:prstGeom prst="rect">
            <a:avLst/>
          </a:prstGeom>
        </p:spPr>
      </p:pic>
      <p:pic>
        <p:nvPicPr>
          <p:cNvPr id="17" name="map battle b_032" descr="s06-bahrayn-hajar-r9-11-b_032.png"/>
          <p:cNvPicPr>
            <a:picLocks noChangeAspect="1"/>
          </p:cNvPicPr>
          <p:nvPr/>
        </p:nvPicPr>
        <p:blipFill>
          <a:blip r:embed="rId7"/>
          <a:stretch>
            <a:fillRect/>
          </a:stretch>
        </p:blipFill>
        <p:spPr>
          <a:xfrm>
            <a:off x="5340228" y="3214808"/>
            <a:ext cx="854678" cy="774048"/>
          </a:xfrm>
          <a:prstGeom prst="rect">
            <a:avLst/>
          </a:prstGeom>
        </p:spPr>
      </p:pic>
      <p:pic>
        <p:nvPicPr>
          <p:cNvPr id="18" name="map army al-Ḥuṭam" descr="s06-bahrayn-hajar-r9-11-a_010.png"/>
          <p:cNvPicPr>
            <a:picLocks noChangeAspect="1"/>
          </p:cNvPicPr>
          <p:nvPr/>
        </p:nvPicPr>
        <p:blipFill>
          <a:blip r:embed="rId8"/>
          <a:stretch>
            <a:fillRect/>
          </a:stretch>
        </p:blipFill>
        <p:spPr>
          <a:xfrm>
            <a:off x="4646809" y="3226902"/>
            <a:ext cx="1136884" cy="1326364"/>
          </a:xfrm>
          <a:prstGeom prst="rect">
            <a:avLst/>
          </a:prstGeom>
        </p:spPr>
      </p:pic>
      <p:pic>
        <p:nvPicPr>
          <p:cNvPr id="19" name="map army al-ʿAlāʾ ؓ" descr="s06-bahrayn-hajar-r1-6-a_018.png"/>
          <p:cNvPicPr>
            <a:picLocks noChangeAspect="1"/>
          </p:cNvPicPr>
          <p:nvPr/>
        </p:nvPicPr>
        <p:blipFill>
          <a:blip r:embed="rId9"/>
          <a:stretch>
            <a:fillRect/>
          </a:stretch>
        </p:blipFill>
        <p:spPr>
          <a:xfrm>
            <a:off x="2441577" y="3226902"/>
            <a:ext cx="1527939" cy="1527939"/>
          </a:xfrm>
          <a:prstGeom prst="rect">
            <a:avLst/>
          </a:prstGeom>
        </p:spPr>
      </p:pic>
      <p:pic>
        <p:nvPicPr>
          <p:cNvPr id="20" name="map army Ibn Ḥadhf" descr="s06-bahrayn-hajar-r6-9-a_029.png"/>
          <p:cNvPicPr>
            <a:picLocks noChangeAspect="1"/>
          </p:cNvPicPr>
          <p:nvPr/>
        </p:nvPicPr>
        <p:blipFill>
          <a:blip r:embed="rId10"/>
          <a:stretch>
            <a:fillRect/>
          </a:stretch>
        </p:blipFill>
        <p:spPr>
          <a:xfrm>
            <a:off x="2542364" y="2085987"/>
            <a:ext cx="1660979" cy="1173167"/>
          </a:xfrm>
          <a:prstGeom prst="rect">
            <a:avLst/>
          </a:prstGeom>
        </p:spPr>
      </p:pic>
      <p:pic>
        <p:nvPicPr>
          <p:cNvPr id="21" name="map army al-ʿAlāʾ ؓ" descr="s06-bahrayn-hajar-r9-11-a_031.png"/>
          <p:cNvPicPr>
            <a:picLocks noChangeAspect="1"/>
          </p:cNvPicPr>
          <p:nvPr/>
        </p:nvPicPr>
        <p:blipFill>
          <a:blip r:embed="rId11"/>
          <a:stretch>
            <a:fillRect/>
          </a:stretch>
        </p:blipFill>
        <p:spPr>
          <a:xfrm>
            <a:off x="4106588" y="2920508"/>
            <a:ext cx="1028033" cy="1209450"/>
          </a:xfrm>
          <a:prstGeom prst="rect">
            <a:avLst/>
          </a:prstGeom>
        </p:spPr>
      </p:pic>
      <p:pic>
        <p:nvPicPr>
          <p:cNvPr id="22" name="map label al-Ḥuṭam killed" descr="s06-bahrayn-hajar-r9-11-l_033.png"/>
          <p:cNvPicPr>
            <a:picLocks noChangeAspect="1"/>
          </p:cNvPicPr>
          <p:nvPr/>
        </p:nvPicPr>
        <p:blipFill>
          <a:blip r:embed="rId12"/>
          <a:stretch>
            <a:fillRect/>
          </a:stretch>
        </p:blipFill>
        <p:spPr>
          <a:xfrm>
            <a:off x="5005613" y="3742934"/>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8" fill="hold">
                      <p:stCondLst>
                        <p:cond delay="indefinite"/>
                      </p:stCondLst>
                      <p:childTnLst>
                        <p:par>
                          <p:cTn id="2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22" presetClass="entr" presetSubtype="8"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left)">
                                      <p:cBhvr>
                                        <p:cTn id="13" dur="1600"/>
                                        <p:tgtEl>
                                          <p:spTgt spid="16"/>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131 -0.0071 L -0.0556 0.0141 L 0.0000 0.0000 L 0 0 E" pathEditMode="relative" rAng="0" ptsTypes="">
                                      <p:cBhvr>
                                        <p:cTn id="26" dur="1600" fill="hold"/>
                                        <p:tgtEl>
                                          <p:spTgt spid="21"/>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32" presetID="10" presetClass="exit" presetSubtype="0" fill="hold" grpId="0" nodeType="clickEffect">
                                  <p:stCondLst>
                                    <p:cond delay="0"/>
                                  </p:stCondLst>
                                  <p:childTnLst>
                                    <p:animEffect transition="out" filter="fade">
                                      <p:cBhvr>
                                        <p:cTn id="30" dur="600"/>
                                        <p:tgtEl>
                                          <p:spTgt spid="17"/>
                                        </p:tgtEl>
                                      </p:cBhvr>
                                    </p:animEffect>
                                    <p:set>
                                      <p:cBhvr>
                                        <p:cTn id="31" dur="1" fill="hold">
                                          <p:stCondLst>
                                            <p:cond delay="599"/>
                                          </p:stCondLst>
                                        </p:cTn>
                                        <p:tgtEl>
                                          <p:spTgt spid="17"/>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8"/>
                                        </p:tgtEl>
                                      </p:cBhvr>
                                    </p:animEffect>
                                    <p:set>
                                      <p:cBhvr>
                                        <p:cTn id="34" dur="1" fill="hold">
                                          <p:stCondLst>
                                            <p:cond delay="599"/>
                                          </p:stCondLst>
                                        </p:cTn>
                                        <p:tgtEl>
                                          <p:spTgt spid="18"/>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flight-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 the rest go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b. Ḥāritha shut the roads</a:t>
            </a:r>
          </a:p>
        </p:txBody>
      </p:sp>
      <p:pic>
        <p:nvPicPr>
          <p:cNvPr id="13" name="map arrow a_007" descr="s06-bahrayn-flight-r1-3-a_007.png"/>
          <p:cNvPicPr>
            <a:picLocks noChangeAspect="1"/>
          </p:cNvPicPr>
          <p:nvPr/>
        </p:nvPicPr>
        <p:blipFill>
          <a:blip r:embed="rId3"/>
          <a:stretch>
            <a:fillRect/>
          </a:stretch>
        </p:blipFill>
        <p:spPr>
          <a:xfrm>
            <a:off x="4727439" y="2956791"/>
            <a:ext cx="899025" cy="1338458"/>
          </a:xfrm>
          <a:prstGeom prst="rect">
            <a:avLst/>
          </a:prstGeom>
        </p:spPr>
      </p:pic>
      <p:pic>
        <p:nvPicPr>
          <p:cNvPr id="14" name="map arrow a_009" descr="s06-bahrayn-flight-r1-3-a_009.png"/>
          <p:cNvPicPr>
            <a:picLocks noChangeAspect="1"/>
          </p:cNvPicPr>
          <p:nvPr/>
        </p:nvPicPr>
        <p:blipFill>
          <a:blip r:embed="rId4"/>
          <a:stretch>
            <a:fillRect/>
          </a:stretch>
        </p:blipFill>
        <p:spPr>
          <a:xfrm>
            <a:off x="2610900" y="3408320"/>
            <a:ext cx="1177199" cy="975623"/>
          </a:xfrm>
          <a:prstGeom prst="rect">
            <a:avLst/>
          </a:prstGeom>
        </p:spPr>
      </p:pic>
      <p:pic>
        <p:nvPicPr>
          <p:cNvPr id="15" name="map army the beaten" descr="s06-bahrayn-flight-r1-3-a_008.png"/>
          <p:cNvPicPr>
            <a:picLocks noChangeAspect="1"/>
          </p:cNvPicPr>
          <p:nvPr/>
        </p:nvPicPr>
        <p:blipFill>
          <a:blip r:embed="rId5"/>
          <a:stretch>
            <a:fillRect/>
          </a:stretch>
        </p:blipFill>
        <p:spPr>
          <a:xfrm>
            <a:off x="5142684" y="2275467"/>
            <a:ext cx="2152822" cy="878867"/>
          </a:xfrm>
          <a:prstGeom prst="rect">
            <a:avLst/>
          </a:prstGeom>
        </p:spPr>
      </p:pic>
      <p:pic>
        <p:nvPicPr>
          <p:cNvPr id="16" name="map army the rest" descr="s06-bahrayn-flight-r1-3-a_010.png"/>
          <p:cNvPicPr>
            <a:picLocks noChangeAspect="1"/>
          </p:cNvPicPr>
          <p:nvPr/>
        </p:nvPicPr>
        <p:blipFill>
          <a:blip r:embed="rId6"/>
          <a:stretch>
            <a:fillRect/>
          </a:stretch>
        </p:blipFill>
        <p:spPr>
          <a:xfrm>
            <a:off x="2332726" y="2731027"/>
            <a:ext cx="2068161" cy="878867"/>
          </a:xfrm>
          <a:prstGeom prst="rect">
            <a:avLst/>
          </a:prstGeom>
        </p:spPr>
      </p:pic>
      <p:pic>
        <p:nvPicPr>
          <p:cNvPr id="17" name="map army ʿUtayba" descr="s06-bahrayn-flight-r1-3-a_011.png"/>
          <p:cNvPicPr>
            <a:picLocks noChangeAspect="1"/>
          </p:cNvPicPr>
          <p:nvPr/>
        </p:nvPicPr>
        <p:blipFill>
          <a:blip r:embed="rId7"/>
          <a:stretch>
            <a:fillRect/>
          </a:stretch>
        </p:blipFill>
        <p:spPr>
          <a:xfrm>
            <a:off x="1828788" y="1815876"/>
            <a:ext cx="1846428" cy="854678"/>
          </a:xfrm>
          <a:prstGeom prst="rect">
            <a:avLst/>
          </a:prstGeom>
        </p:spPr>
      </p:pic>
      <p:pic>
        <p:nvPicPr>
          <p:cNvPr id="18" name="map army al-Muthannā" descr="s06-bahrayn-flight-r1-3-a_012.png"/>
          <p:cNvPicPr>
            <a:picLocks noChangeAspect="1"/>
          </p:cNvPicPr>
          <p:nvPr/>
        </p:nvPicPr>
        <p:blipFill>
          <a:blip r:embed="rId8"/>
          <a:stretch>
            <a:fillRect/>
          </a:stretch>
        </p:blipFill>
        <p:spPr>
          <a:xfrm>
            <a:off x="1393386" y="3823564"/>
            <a:ext cx="1548097" cy="1290080"/>
          </a:xfrm>
          <a:prstGeom prst="rect">
            <a:avLst/>
          </a:prstGeom>
        </p:spPr>
      </p:pic>
      <p:pic>
        <p:nvPicPr>
          <p:cNvPr id="19" name="map label the roads are shut" descr="s06-bahrayn-flight-r1-3-l_013.png"/>
          <p:cNvPicPr>
            <a:picLocks noChangeAspect="1"/>
          </p:cNvPicPr>
          <p:nvPr/>
        </p:nvPicPr>
        <p:blipFill>
          <a:blip r:embed="rId9"/>
          <a:stretch>
            <a:fillRect/>
          </a:stretch>
        </p:blipFill>
        <p:spPr>
          <a:xfrm>
            <a:off x="1119243" y="5371662"/>
            <a:ext cx="2439059"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22" presetClass="entr" presetSubtype="2"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570 0.1781 L -0.0181 0.1302 L -0.0052 0.0664 L 0.0000 0.0000 L 0 0 E" pathEditMode="relative" rAng="0" ptsTypes="">
                                      <p:cBhvr>
                                        <p:cTn id="11" dur="1600" fill="hold"/>
                                        <p:tgtEl>
                                          <p:spTgt spid="15"/>
                                        </p:tgtEl>
                                        <p:attrNameLst>
                                          <p:attrName>ppt_x</p:attrName>
                                          <p:attrName>ppt_y</p:attrName>
                                        </p:attrNameLst>
                                      </p:cBhvr>
                                    </p:animMotion>
                                  </p:childTnLst>
                                </p:cTn>
                              </p:par>
                              <p:par>
                                <p:cTn id="14" presetID="1"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par>
                                <p:cTn id="16" presetID="0" presetClass="path" presetSubtype="0" fill="hold" grpId="0" nodeType="withEffect">
                                  <p:stCondLst>
                                    <p:cond delay="0"/>
                                  </p:stCondLst>
                                  <p:childTnLst>
                                    <p:animMotion origin="layout" path="M 0.0868 0.1249 L 0.0440 0.0585 L 0.0000 0.0000 L 0 0 E" pathEditMode="relative" rAng="0" ptsTypes="">
                                      <p:cBhvr>
                                        <p:cTn id="15" dur="1600" fill="hold"/>
                                        <p:tgtEl>
                                          <p:spTgt spid="16"/>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600"/>
                                        <p:tgtEl>
                                          <p:spTgt spid="17"/>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600"/>
                                        <p:tgtEl>
                                          <p:spTgt spid="18"/>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162509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فَكَتَبَ الْعَلَاءُ إِلَى مَنْ ثَبَتَ عَلَى إِسْلَامِهِ مِنْ بَكْرِ بْنِ وَائِلٍ</a:t>
            </a:r>
          </a:p>
        </p:txBody>
      </p:sp>
      <p:sp>
        <p:nvSpPr>
          <p:cNvPr id="7" name="part-en"/>
          <p:cNvSpPr txBox="1"/>
          <p:nvPr/>
        </p:nvSpPr>
        <p:spPr>
          <a:xfrm>
            <a:off x="566928" y="249986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al-ʿAlāʾ wrote to those of Bakr b. Wāʾil who had held firm on their Islam</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مِنْهُمْ عُتَيْبَةُ بْنُ النَّهَّاسِ وَالْمُثَنَّى بْنُ حَارِثَةَ وَغَيْرُهُمَا</a:t>
            </a:r>
          </a:p>
        </p:txBody>
      </p:sp>
      <p:sp>
        <p:nvSpPr>
          <p:cNvPr id="9" name="part-en"/>
          <p:cNvSpPr txBox="1"/>
          <p:nvPr/>
        </p:nvSpPr>
        <p:spPr>
          <a:xfrm>
            <a:off x="566928" y="459181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among them ʿUtayba b. al-Nahhās and al-Muthannā b. Ḥāritha and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يَأْمُرُهُمْ بِالْقُعُودِ لِلْمُنْهَزِمِينَ وَالْمُرْتَدِّينَ بِكُلِّ طَرِيق</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ordering them to sit in wait for the routed and the apostates on every road.</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قَدْ أَرَاكُمُ اللَّهُ مِنْ آيَاتِهِ فِي الْبَرِّ</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Allah has shown you His signs on land</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لِتَعْتَبِرُوا بِهَا فِي الْبَحْرِ</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that you may take heed by them at sea.</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part-ar"/>
          <p:cNvSpPr txBox="1"/>
          <p:nvPr/>
        </p:nvSpPr>
        <p:spPr>
          <a:xfrm>
            <a:off x="566928" y="29022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فَانْهَضُوا إِلَى عَدُوِّكُمْ وَاسْتَعْرِضُوا الْبَحْر</a:t>
            </a:r>
          </a:p>
        </p:txBody>
      </p:sp>
      <p:sp>
        <p:nvSpPr>
          <p:cNvPr id="7" name="part-en"/>
          <p:cNvSpPr txBox="1"/>
          <p:nvPr/>
        </p:nvSpPr>
        <p:spPr>
          <a:xfrm>
            <a:off x="566928" y="37769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rise against your enemy, and take the sea in your stride.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أرحمَ الراحمين، يا حكيمُ يا كريمُ</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Most Merciful of the merciful; O Wise, O Generous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أحدُ يا صمدُ، يا حيُّ يا مُحيي</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One, O Eternal; O Living, O Giver of life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قيّومُ، يا ذا الجلال والإكرام</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Sustainer; O Lord of majesty and honour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إله إلا أنت يا ربَّنا</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there is no god but You, our Lord.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fords the strait, on horseback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3" descr="s06-bahrayn-darin-r1-4-t_003.png"/>
          <p:cNvPicPr>
            <a:picLocks noChangeAspect="1"/>
          </p:cNvPicPr>
          <p:nvPr/>
        </p:nvPicPr>
        <p:blipFill>
          <a:blip r:embed="rId3"/>
          <a:stretch>
            <a:fillRect/>
          </a:stretch>
        </p:blipFill>
        <p:spPr>
          <a:xfrm>
            <a:off x="4013863" y="2763279"/>
            <a:ext cx="1540034" cy="1588412"/>
          </a:xfrm>
          <a:prstGeom prst="rect">
            <a:avLst/>
          </a:prstGeom>
        </p:spPr>
      </p:pic>
      <p:pic>
        <p:nvPicPr>
          <p:cNvPr id="14" name="map territory t_012" descr="s06-bahrayn-darin-r1-4-t_012.png"/>
          <p:cNvPicPr>
            <a:picLocks noChangeAspect="1"/>
          </p:cNvPicPr>
          <p:nvPr/>
        </p:nvPicPr>
        <p:blipFill>
          <a:blip r:embed="rId4"/>
          <a:stretch>
            <a:fillRect/>
          </a:stretch>
        </p:blipFill>
        <p:spPr>
          <a:xfrm>
            <a:off x="4013863" y="2763279"/>
            <a:ext cx="1540034" cy="1588412"/>
          </a:xfrm>
          <a:prstGeom prst="rect">
            <a:avLst/>
          </a:prstGeom>
        </p:spPr>
      </p:pic>
      <p:pic>
        <p:nvPicPr>
          <p:cNvPr id="15" name="map arrow a_007" descr="s06-bahrayn-darin-r1-4-a_007.png"/>
          <p:cNvPicPr>
            <a:picLocks noChangeAspect="1"/>
          </p:cNvPicPr>
          <p:nvPr/>
        </p:nvPicPr>
        <p:blipFill>
          <a:blip r:embed="rId5"/>
          <a:stretch>
            <a:fillRect/>
          </a:stretch>
        </p:blipFill>
        <p:spPr>
          <a:xfrm>
            <a:off x="2086804" y="4976574"/>
            <a:ext cx="620851" cy="1040127"/>
          </a:xfrm>
          <a:prstGeom prst="rect">
            <a:avLst/>
          </a:prstGeom>
        </p:spPr>
      </p:pic>
      <p:pic>
        <p:nvPicPr>
          <p:cNvPr id="16" name="map arrow a_009" descr="s06-bahrayn-darin-r1-4-a_009.png"/>
          <p:cNvPicPr>
            <a:picLocks noChangeAspect="1"/>
          </p:cNvPicPr>
          <p:nvPr/>
        </p:nvPicPr>
        <p:blipFill>
          <a:blip r:embed="rId6"/>
          <a:stretch>
            <a:fillRect/>
          </a:stretch>
        </p:blipFill>
        <p:spPr>
          <a:xfrm>
            <a:off x="2590742" y="4206557"/>
            <a:ext cx="1636790" cy="886930"/>
          </a:xfrm>
          <a:prstGeom prst="rect">
            <a:avLst/>
          </a:prstGeom>
        </p:spPr>
      </p:pic>
      <p:pic>
        <p:nvPicPr>
          <p:cNvPr id="17" name="map battle b_013" descr="s06-bahrayn-darin-r1-4-b_013.png"/>
          <p:cNvPicPr>
            <a:picLocks noChangeAspect="1"/>
          </p:cNvPicPr>
          <p:nvPr/>
        </p:nvPicPr>
        <p:blipFill>
          <a:blip r:embed="rId7"/>
          <a:stretch>
            <a:fillRect/>
          </a:stretch>
        </p:blipFill>
        <p:spPr>
          <a:xfrm>
            <a:off x="4779849" y="2593956"/>
            <a:ext cx="854678" cy="770017"/>
          </a:xfrm>
          <a:prstGeom prst="rect">
            <a:avLst/>
          </a:prstGeom>
        </p:spPr>
      </p:pic>
      <p:pic>
        <p:nvPicPr>
          <p:cNvPr id="18" name="map army the men of Dārīn" descr="s06-bahrayn-darin-r1-4-a_006.png"/>
          <p:cNvPicPr>
            <a:picLocks noChangeAspect="1"/>
          </p:cNvPicPr>
          <p:nvPr/>
        </p:nvPicPr>
        <p:blipFill>
          <a:blip r:embed="rId8"/>
          <a:stretch>
            <a:fillRect/>
          </a:stretch>
        </p:blipFill>
        <p:spPr>
          <a:xfrm>
            <a:off x="4791943" y="2287562"/>
            <a:ext cx="2882525" cy="850647"/>
          </a:xfrm>
          <a:prstGeom prst="rect">
            <a:avLst/>
          </a:prstGeom>
        </p:spPr>
      </p:pic>
      <p:pic>
        <p:nvPicPr>
          <p:cNvPr id="19" name="map army al-ʿAlāʾ ؓ" descr="s06-bahrayn-darin-r1-4-a_008.png"/>
          <p:cNvPicPr>
            <a:picLocks noChangeAspect="1"/>
          </p:cNvPicPr>
          <p:nvPr/>
        </p:nvPicPr>
        <p:blipFill>
          <a:blip r:embed="rId9"/>
          <a:stretch>
            <a:fillRect/>
          </a:stretch>
        </p:blipFill>
        <p:spPr>
          <a:xfrm>
            <a:off x="2312569" y="4291219"/>
            <a:ext cx="1878680" cy="854678"/>
          </a:xfrm>
          <a:prstGeom prst="rect">
            <a:avLst/>
          </a:prstGeom>
        </p:spPr>
      </p:pic>
      <p:pic>
        <p:nvPicPr>
          <p:cNvPr id="20" name="map army al-ʿAlāʾ ؓ" descr="s06-bahrayn-darin-r1-4-a_010.png"/>
          <p:cNvPicPr>
            <a:picLocks noChangeAspect="1"/>
          </p:cNvPicPr>
          <p:nvPr/>
        </p:nvPicPr>
        <p:blipFill>
          <a:blip r:embed="rId10"/>
          <a:stretch>
            <a:fillRect/>
          </a:stretch>
        </p:blipFill>
        <p:spPr>
          <a:xfrm>
            <a:off x="3832445" y="3529265"/>
            <a:ext cx="1878680" cy="854678"/>
          </a:xfrm>
          <a:prstGeom prst="rect">
            <a:avLst/>
          </a:prstGeom>
        </p:spPr>
      </p:pic>
      <p:pic>
        <p:nvPicPr>
          <p:cNvPr id="21" name="map label for ships: a day and a night" descr="s06-bahrayn-darin-r1-4-l_011.png"/>
          <p:cNvPicPr>
            <a:picLocks noChangeAspect="1"/>
          </p:cNvPicPr>
          <p:nvPr/>
        </p:nvPicPr>
        <p:blipFill>
          <a:blip r:embed="rId11"/>
          <a:stretch>
            <a:fillRect/>
          </a:stretch>
        </p:blipFill>
        <p:spPr>
          <a:xfrm>
            <a:off x="4300100" y="4904007"/>
            <a:ext cx="3575943" cy="338646"/>
          </a:xfrm>
          <a:prstGeom prst="rect">
            <a:avLst/>
          </a:prstGeom>
        </p:spPr>
      </p:pic>
      <p:pic>
        <p:nvPicPr>
          <p:cNvPr id="22" name="map label Dārīn falls" descr="s06-bahrayn-darin-r1-4-l_014.png"/>
          <p:cNvPicPr>
            <a:picLocks noChangeAspect="1"/>
          </p:cNvPicPr>
          <p:nvPr/>
        </p:nvPicPr>
        <p:blipFill>
          <a:blip r:embed="rId12"/>
          <a:stretch>
            <a:fillRect/>
          </a:stretch>
        </p:blipFill>
        <p:spPr>
          <a:xfrm>
            <a:off x="5763536"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397 0.1340 L -0.0278 0.0635 L 0.0000 0.0000 L 0 0 E" pathEditMode="relative" rAng="0" ptsTypes="">
                                      <p:cBhvr>
                                        <p:cTn id="8" dur="16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14" presetID="10" presetClass="exit" presetSubtype="0" fill="hold" grpId="0" nodeType="clickEffect">
                                  <p:stCondLst>
                                    <p:cond delay="0"/>
                                  </p:stCondLst>
                                  <p:childTnLst>
                                    <p:animEffect transition="out" filter="fade">
                                      <p:cBhvr>
                                        <p:cTn id="12" dur="600"/>
                                        <p:tgtEl>
                                          <p:spTgt spid="15"/>
                                        </p:tgtEl>
                                      </p:cBhvr>
                                    </p:animEffect>
                                    <p:set>
                                      <p:cBhvr>
                                        <p:cTn id="13" dur="1" fill="hold">
                                          <p:stCondLst>
                                            <p:cond delay="599"/>
                                          </p:stCondLst>
                                        </p:cTn>
                                        <p:tgtEl>
                                          <p:spTgt spid="15"/>
                                        </p:tgtEl>
                                        <p:attrNameLst>
                                          <p:attrName>style.visibility</p:attrName>
                                        </p:attrNameLst>
                                      </p:cBhvr>
                                      <p:to>
                                        <p:strVal val="hidden"/>
                                      </p:to>
                                    </p:set>
                                  </p:childTnLst>
                                </p:cTn>
                              </p:par>
                              <p:par>
                                <p:cTn id="17" presetID="22" presetClass="entr" presetSubtype="8"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600"/>
                                        <p:tgtEl>
                                          <p:spTgt spid="16"/>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1247 0.1110 L -0.0731 0.0757 L -0.0255 0.0263 L 0.0000 0.0000 L 0 0 E" pathEditMode="relative" rAng="0" ptsTypes="">
                                      <p:cBhvr>
                                        <p:cTn id="23" dur="1600" fill="hold"/>
                                        <p:tgtEl>
                                          <p:spTgt spid="20"/>
                                        </p:tgtEl>
                                        <p:attrNameLst>
                                          <p:attrName>ppt_x</p:attrName>
                                          <p:attrName>ppt_y</p:attrName>
                                        </p:attrNameLst>
                                      </p:cBhvr>
                                    </p:animMotion>
                                  </p:childTnLst>
                                </p:cTn>
                              </p:par>
                              <p:par>
                                <p:cTn id="27"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600"/>
                                        <p:tgtEl>
                                          <p:spTgt spid="21"/>
                                        </p:tgtEl>
                                      </p:cBhvr>
                                    </p:animEffect>
                                  </p:childTnLst>
                                </p:cTn>
                              </p:par>
                            </p:childTnLst>
                          </p:cTn>
                        </p:par>
                      </p:childTnLst>
                    </p:cTn>
                  </p:par>
                  <p:par>
                    <p:cTn id="48" fill="hold">
                      <p:stCondLst>
                        <p:cond delay="indefinite"/>
                      </p:stCondLst>
                      <p:childTnLst>
                        <p:par>
                          <p:cTn id="49" fill="hold">
                            <p:stCondLst>
                              <p:cond delay="0"/>
                            </p:stCondLst>
                            <p:childTnLst>
                              <p:par>
                                <p:cTn id="32" presetID="10" presetClass="exit" presetSubtype="0" fill="hold" grpId="0" nodeType="clickEffect">
                                  <p:stCondLst>
                                    <p:cond delay="0"/>
                                  </p:stCondLst>
                                  <p:childTnLst>
                                    <p:animEffect transition="out" filter="fade">
                                      <p:cBhvr>
                                        <p:cTn id="30" dur="600"/>
                                        <p:tgtEl>
                                          <p:spTgt spid="13"/>
                                        </p:tgtEl>
                                      </p:cBhvr>
                                    </p:animEffect>
                                    <p:set>
                                      <p:cBhvr>
                                        <p:cTn id="31" dur="1" fill="hold">
                                          <p:stCondLst>
                                            <p:cond delay="599"/>
                                          </p:stCondLst>
                                        </p:cTn>
                                        <p:tgtEl>
                                          <p:spTgt spid="13"/>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8"/>
                                        </p:tgtEl>
                                      </p:cBhvr>
                                    </p:animEffect>
                                    <p:set>
                                      <p:cBhvr>
                                        <p:cTn id="40" dur="1" fill="hold">
                                          <p:stCondLst>
                                            <p:cond delay="599"/>
                                          </p:stCondLst>
                                        </p:cTn>
                                        <p:tgtEl>
                                          <p:spTgt spid="18"/>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1"/>
                                        </p:tgtEl>
                                      </p:cBhvr>
                                    </p:animEffect>
                                    <p:set>
                                      <p:cBhvr>
                                        <p:cTn id="43" dur="1" fill="hold">
                                          <p:stCondLst>
                                            <p:cond delay="599"/>
                                          </p:stCondLst>
                                        </p:cTn>
                                        <p:tgtEl>
                                          <p:spTgt spid="21"/>
                                        </p:tgtEl>
                                        <p:attrNameLst>
                                          <p:attrName>style.visibility</p:attrName>
                                        </p:attrNameLst>
                                      </p:cBhvr>
                                      <p:to>
                                        <p:strVal val="hidden"/>
                                      </p:to>
                                    </p:set>
                                  </p:childTnLst>
                                </p:cTn>
                              </p:par>
                              <p:par>
                                <p:cTn id="47"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ثَلَاثَةُ أَشْيَاءَ خَشِيتُ أَنْ يَمْسَخَنِي اللَّهُ بَعْدَهَا:</a:t>
            </a:r>
          </a:p>
        </p:txBody>
      </p:sp>
      <p:sp>
        <p:nvSpPr>
          <p:cNvPr id="8" name="part-en"/>
          <p:cNvSpPr txBox="1"/>
          <p:nvPr/>
        </p:nvSpPr>
        <p:spPr>
          <a:xfrm>
            <a:off x="566928" y="3122676"/>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Three things, after which I feared Allah would transform me:</a:t>
            </a:r>
          </a:p>
        </p:txBody>
      </p:sp>
      <p:sp>
        <p:nvSpPr>
          <p:cNvPr id="9" name="part-ar"/>
          <p:cNvSpPr txBox="1"/>
          <p:nvPr/>
        </p:nvSpPr>
        <p:spPr>
          <a:xfrm>
            <a:off x="566928" y="368350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فَيْضٌ فِي الرِّمَالِ، وَتَمْهِيدُ أَثْبَاجِ الْبَحْرِ، وَدُعَاءٌ سَمِعْتُهُ فِي عَسْكَرِهِمْ فِي الْهَوَاءِ سَحَرًا</a:t>
            </a:r>
          </a:p>
        </p:txBody>
      </p:sp>
      <p:sp>
        <p:nvSpPr>
          <p:cNvPr id="10" name="part-en"/>
          <p:cNvSpPr txBox="1"/>
          <p:nvPr/>
        </p:nvSpPr>
        <p:spPr>
          <a:xfrm>
            <a:off x="566928" y="4405884"/>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water welling up in the sands, the levelling of the sea's swells, and a supplication I heard in their camp, in the air, before dawn.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فَقَالُوا لَهُ: أَنْتَ قَتَلْتَ الْحُطَمَ! فَقَالَ: لَمْ أَقْتُلْهُ، وَلَكِنِّي اشْتَرَيْتُهَا مِنَ الْمَغْنَمِ.</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They said to him: You killed al-Ḥuṭam! He said: I did not kill him — I bought it from the spoils.</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فَوَثَبُوا عَلَيْهِ فَقَتَلُوهُ.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they fell on him and killed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نحن بنو النَّضْر بن كنانة</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No. We are the sons of al-Naḍr b. Kināna.</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لا نَقْفُو أمَّنا، ولا ننتفي من أبينا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do not trace ourselves through our mother, and we do not disown our father.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a_006" descr="s06-kinda-r1-3-a_006.png"/>
          <p:cNvPicPr>
            <a:picLocks noChangeAspect="1"/>
          </p:cNvPicPr>
          <p:nvPr/>
        </p:nvPicPr>
        <p:blipFill>
          <a:blip r:embed="rId3"/>
          <a:stretch>
            <a:fillRect/>
          </a:stretch>
        </p:blipFill>
        <p:spPr>
          <a:xfrm>
            <a:off x="3018082" y="2424633"/>
            <a:ext cx="3059911" cy="487811"/>
          </a:xfrm>
          <a:prstGeom prst="rect">
            <a:avLst/>
          </a:prstGeom>
        </p:spPr>
      </p:pic>
      <p:pic>
        <p:nvPicPr>
          <p:cNvPr id="14" name="map arrow a_007" descr="s06-kinda-r1-3-a_007.png"/>
          <p:cNvPicPr>
            <a:picLocks noChangeAspect="1"/>
          </p:cNvPicPr>
          <p:nvPr/>
        </p:nvPicPr>
        <p:blipFill>
          <a:blip r:embed="rId4"/>
          <a:stretch>
            <a:fillRect/>
          </a:stretch>
        </p:blipFill>
        <p:spPr>
          <a:xfrm>
            <a:off x="3022113" y="3976762"/>
            <a:ext cx="3063942" cy="520063"/>
          </a:xfrm>
          <a:prstGeom prst="rect">
            <a:avLst/>
          </a:prstGeom>
        </p:spPr>
      </p:pic>
      <p:pic>
        <p:nvPicPr>
          <p:cNvPr id="15" name="map label ṣadaqa, both ways" descr="s06-kinda-r1-3-l_008.png"/>
          <p:cNvPicPr>
            <a:picLocks noChangeAspect="1"/>
          </p:cNvPicPr>
          <p:nvPr/>
        </p:nvPicPr>
        <p:blipFill>
          <a:blip r:embed="rId5"/>
          <a:stretch>
            <a:fillRect/>
          </a:stretch>
        </p:blipFill>
        <p:spPr>
          <a:xfrm>
            <a:off x="3094680" y="3630052"/>
            <a:ext cx="2414870" cy="338646"/>
          </a:xfrm>
          <a:prstGeom prst="rect">
            <a:avLst/>
          </a:prstGeom>
        </p:spPr>
      </p:pic>
      <p:pic>
        <p:nvPicPr>
          <p:cNvPr id="16" name="map label not carried" descr="s06-kinda-r1-3-l_009.png"/>
          <p:cNvPicPr>
            <a:picLocks noChangeAspect="1"/>
          </p:cNvPicPr>
          <p:nvPr/>
        </p:nvPicPr>
        <p:blipFill>
          <a:blip r:embed="rId6"/>
          <a:stretch>
            <a:fillRect/>
          </a:stretch>
        </p:blipFill>
        <p:spPr>
          <a:xfrm>
            <a:off x="3255940" y="3279312"/>
            <a:ext cx="153600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part-ar"/>
          <p:cNvSpPr txBox="1"/>
          <p:nvPr/>
        </p:nvSpPr>
        <p:spPr>
          <a:xfrm>
            <a:off x="566928" y="1646681"/>
            <a:ext cx="11057839" cy="1560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قَالَتْ بَنُو وَلَيْعَةَ: أَبْلِغُونَا كَمَا وَعَدْتُمْ رَسُولَ اللَّهِ - صَلَّى اللَّهُ عَلَيْهِ وَسَلَّمَ -!</a:t>
            </a:r>
          </a:p>
        </p:txBody>
      </p:sp>
      <p:sp>
        <p:nvSpPr>
          <p:cNvPr id="7" name="part-en"/>
          <p:cNvSpPr txBox="1"/>
          <p:nvPr/>
        </p:nvSpPr>
        <p:spPr>
          <a:xfrm>
            <a:off x="566928" y="3207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Traditional Arabic"/>
              </a:rPr>
              <a:t>Banū Walīʿa said: Deliver it to us, as you promised the Messenger of Allah ﷺ!</a:t>
            </a:r>
          </a:p>
        </p:txBody>
      </p:sp>
      <p:sp>
        <p:nvSpPr>
          <p:cNvPr id="8" name="part-ar"/>
          <p:cNvSpPr txBox="1"/>
          <p:nvPr/>
        </p:nvSpPr>
        <p:spPr>
          <a:xfrm>
            <a:off x="566928" y="4266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فَقَالُوا: إِنْ لَكُمْ ظَهْرًا فَاحْتَمِلُوا</a:t>
            </a:r>
          </a:p>
        </p:txBody>
      </p:sp>
      <p:sp>
        <p:nvSpPr>
          <p:cNvPr id="9" name="part-en"/>
          <p:cNvSpPr txBox="1"/>
          <p:nvPr/>
        </p:nvSpPr>
        <p:spPr>
          <a:xfrm>
            <a:off x="566928" y="5065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They said: You do have mounts — carry it yourselves.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فَقَالَ حَارِثَةُ: ذَاكَ إِذَا كُنْتَ يَهُودِيًّا</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Ḥāritha said: That would be so if you were a Jew</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وَأَطْلَقَ عِقَالَهَا وَبَعَثَهَا وَقَامَ دُونَهَا.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untied her hobble and drove her off and stood in front of her.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3-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03" descr="s06-kinda-r3-6-t_003.png"/>
          <p:cNvPicPr>
            <a:picLocks noChangeAspect="1"/>
          </p:cNvPicPr>
          <p:nvPr/>
        </p:nvPicPr>
        <p:blipFill>
          <a:blip r:embed="rId3"/>
          <a:stretch>
            <a:fillRect/>
          </a:stretch>
        </p:blipFill>
        <p:spPr>
          <a:xfrm>
            <a:off x="1675591" y="2190806"/>
            <a:ext cx="2684981" cy="3221170"/>
          </a:xfrm>
          <a:prstGeom prst="rect">
            <a:avLst/>
          </a:prstGeom>
        </p:spPr>
      </p:pic>
      <p:pic>
        <p:nvPicPr>
          <p:cNvPr id="14" name="map territory t_015" descr="s06-kinda-r3-6-t_015.png"/>
          <p:cNvPicPr>
            <a:picLocks noChangeAspect="1"/>
          </p:cNvPicPr>
          <p:nvPr/>
        </p:nvPicPr>
        <p:blipFill>
          <a:blip r:embed="rId4"/>
          <a:stretch>
            <a:fillRect/>
          </a:stretch>
        </p:blipFill>
        <p:spPr>
          <a:xfrm>
            <a:off x="1675591" y="2190806"/>
            <a:ext cx="2684981" cy="3221170"/>
          </a:xfrm>
          <a:prstGeom prst="rect">
            <a:avLst/>
          </a:prstGeom>
        </p:spPr>
      </p:pic>
      <p:pic>
        <p:nvPicPr>
          <p:cNvPr id="15" name="map arrow a_010" descr="s06-kinda-r3-6-a_010.png"/>
          <p:cNvPicPr>
            <a:picLocks noChangeAspect="1"/>
          </p:cNvPicPr>
          <p:nvPr/>
        </p:nvPicPr>
        <p:blipFill>
          <a:blip r:embed="rId5"/>
          <a:stretch>
            <a:fillRect/>
          </a:stretch>
        </p:blipFill>
        <p:spPr>
          <a:xfrm>
            <a:off x="4888699" y="3682462"/>
            <a:ext cx="1088505" cy="721638"/>
          </a:xfrm>
          <a:prstGeom prst="rect">
            <a:avLst/>
          </a:prstGeom>
        </p:spPr>
      </p:pic>
      <p:pic>
        <p:nvPicPr>
          <p:cNvPr id="16" name="map arrow a_013" descr="s06-kinda-r3-6-a_013.png"/>
          <p:cNvPicPr>
            <a:picLocks noChangeAspect="1"/>
          </p:cNvPicPr>
          <p:nvPr/>
        </p:nvPicPr>
        <p:blipFill>
          <a:blip r:embed="rId6"/>
          <a:stretch>
            <a:fillRect/>
          </a:stretch>
        </p:blipFill>
        <p:spPr>
          <a:xfrm>
            <a:off x="3606681" y="3303501"/>
            <a:ext cx="1120758" cy="419276"/>
          </a:xfrm>
          <a:prstGeom prst="rect">
            <a:avLst/>
          </a:prstGeom>
        </p:spPr>
      </p:pic>
      <p:pic>
        <p:nvPicPr>
          <p:cNvPr id="17" name="map army Ziyād b. Labīd ؓ" descr="s06-kinda-r3-6-a_005.png"/>
          <p:cNvPicPr>
            <a:picLocks noChangeAspect="1"/>
          </p:cNvPicPr>
          <p:nvPr/>
        </p:nvPicPr>
        <p:blipFill>
          <a:blip r:embed="rId7"/>
          <a:stretch>
            <a:fillRect/>
          </a:stretch>
        </p:blipFill>
        <p:spPr>
          <a:xfrm>
            <a:off x="5037865" y="3234965"/>
            <a:ext cx="1785956" cy="1209450"/>
          </a:xfrm>
          <a:prstGeom prst="rect">
            <a:avLst/>
          </a:prstGeom>
        </p:spPr>
      </p:pic>
      <p:pic>
        <p:nvPicPr>
          <p:cNvPr id="18" name="map army Ziyād b. Labīd ؓ" descr="s06-kinda-r3-6-a_011.png"/>
          <p:cNvPicPr>
            <a:picLocks noChangeAspect="1"/>
          </p:cNvPicPr>
          <p:nvPr/>
        </p:nvPicPr>
        <p:blipFill>
          <a:blip r:embed="rId8"/>
          <a:stretch>
            <a:fillRect/>
          </a:stretch>
        </p:blipFill>
        <p:spPr>
          <a:xfrm>
            <a:off x="4610526" y="3001138"/>
            <a:ext cx="2664823" cy="850647"/>
          </a:xfrm>
          <a:prstGeom prst="rect">
            <a:avLst/>
          </a:prstGeom>
        </p:spPr>
      </p:pic>
      <p:pic>
        <p:nvPicPr>
          <p:cNvPr id="19" name="map army Banū Muʿāwiya" descr="s06-kinda-r3-6-a_012.png"/>
          <p:cNvPicPr>
            <a:picLocks noChangeAspect="1"/>
          </p:cNvPicPr>
          <p:nvPr/>
        </p:nvPicPr>
        <p:blipFill>
          <a:blip r:embed="rId9"/>
          <a:stretch>
            <a:fillRect/>
          </a:stretch>
        </p:blipFill>
        <p:spPr>
          <a:xfrm>
            <a:off x="865259" y="2803594"/>
            <a:ext cx="2930903" cy="850647"/>
          </a:xfrm>
          <a:prstGeom prst="rect">
            <a:avLst/>
          </a:prstGeom>
        </p:spPr>
      </p:pic>
      <p:pic>
        <p:nvPicPr>
          <p:cNvPr id="20" name="map label not carried" descr="s06-kinda-r1-3-l_009.png"/>
          <p:cNvPicPr>
            <a:picLocks noChangeAspect="1"/>
          </p:cNvPicPr>
          <p:nvPr/>
        </p:nvPicPr>
        <p:blipFill>
          <a:blip r:embed="rId10"/>
          <a:stretch>
            <a:fillRect/>
          </a:stretch>
        </p:blipFill>
        <p:spPr>
          <a:xfrm>
            <a:off x="3255940" y="3279312"/>
            <a:ext cx="1536002" cy="290268"/>
          </a:xfrm>
          <a:prstGeom prst="rect">
            <a:avLst/>
          </a:prstGeom>
        </p:spPr>
      </p:pic>
      <p:pic>
        <p:nvPicPr>
          <p:cNvPr id="21" name="map label by night" descr="s06-kinda-r3-6-l_014.png"/>
          <p:cNvPicPr>
            <a:picLocks noChangeAspect="1"/>
          </p:cNvPicPr>
          <p:nvPr/>
        </p:nvPicPr>
        <p:blipFill>
          <a:blip r:embed="rId11"/>
          <a:stretch>
            <a:fillRect/>
          </a:stretch>
        </p:blipFill>
        <p:spPr>
          <a:xfrm>
            <a:off x="3522020" y="2468980"/>
            <a:ext cx="1153010" cy="338646"/>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right)">
                                      <p:cBhvr>
                                        <p:cTn id="4" dur="1600"/>
                                        <p:tgtEl>
                                          <p:spTgt spid="15"/>
                                        </p:tgtEl>
                                      </p:cBhvr>
                                    </p:animEffect>
                                  </p:childTnLst>
                                </p:cTn>
                              </p:par>
                              <p:par>
                                <p:cTn id="8" presetID="10" presetClass="exit" presetSubtype="0" fill="hold" grpId="0" nodeType="with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92 0.0860 L 0.0419 0.0478 L 0.0000 0.0000 L 0 0 E" pathEditMode="relative" rAng="0" ptsTypes="">
                                      <p:cBhvr>
                                        <p:cTn id="11" dur="1600" fill="hold"/>
                                        <p:tgtEl>
                                          <p:spTgt spid="18"/>
                                        </p:tgtEl>
                                        <p:attrNameLst>
                                          <p:attrName>ppt_x</p:attrName>
                                          <p:attrName>ppt_y</p:attrName>
                                        </p:attrNameLst>
                                      </p:cBhvr>
                                    </p:animMotion>
                                  </p:childTnLst>
                                </p:cTn>
                              </p:par>
                              <p:par>
                                <p:cTn id="15"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00"/>
                                        <p:tgtEl>
                                          <p:spTgt spid="19"/>
                                        </p:tgtEl>
                                      </p:cBhvr>
                                    </p:animEffect>
                                  </p:childTnLst>
                                </p:cTn>
                              </p:par>
                              <p:par>
                                <p:cTn id="18" presetID="10" presetClass="exit" presetSubtype="0" fill="hold" grpId="0" nodeType="withEffect">
                                  <p:stCondLst>
                                    <p:cond delay="0"/>
                                  </p:stCondLst>
                                  <p:childTnLst>
                                    <p:animEffect transition="out" filter="fade">
                                      <p:cBhvr>
                                        <p:cTn id="16" dur="600"/>
                                        <p:tgtEl>
                                          <p:spTgt spid="20"/>
                                        </p:tgtEl>
                                      </p:cBhvr>
                                    </p:animEffect>
                                    <p:set>
                                      <p:cBhvr>
                                        <p:cTn id="17" dur="1" fill="hold">
                                          <p:stCondLst>
                                            <p:cond delay="599"/>
                                          </p:stCondLst>
                                        </p:cTn>
                                        <p:tgtEl>
                                          <p:spTgt spid="20"/>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3" presetID="22" presetClass="entr" presetSubtype="2"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right)">
                                      <p:cBhvr>
                                        <p:cTn id="22" dur="1600"/>
                                        <p:tgtEl>
                                          <p:spTgt spid="16"/>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par>
                    <p:cTn id="44" fill="hold">
                      <p:stCondLst>
                        <p:cond delay="indefinite"/>
                      </p:stCondLst>
                      <p:childTnLst>
                        <p:par>
                          <p:cTn id="45" fill="hold">
                            <p:stCondLst>
                              <p:cond delay="0"/>
                            </p:stCondLst>
                            <p:childTnLst>
                              <p:par>
                                <p:cTn id="31" presetID="10" presetClass="exit" presetSubtype="0" fill="hold" grpId="0" nodeType="clickEffect">
                                  <p:stCondLst>
                                    <p:cond delay="0"/>
                                  </p:stCondLst>
                                  <p:childTnLst>
                                    <p:animEffect transition="out" filter="fade">
                                      <p:cBhvr>
                                        <p:cTn id="29" dur="600"/>
                                        <p:tgtEl>
                                          <p:spTgt spid="13"/>
                                        </p:tgtEl>
                                      </p:cBhvr>
                                    </p:animEffect>
                                    <p:set>
                                      <p:cBhvr>
                                        <p:cTn id="30" dur="1" fill="hold">
                                          <p:stCondLst>
                                            <p:cond delay="599"/>
                                          </p:stCondLst>
                                        </p:cTn>
                                        <p:tgtEl>
                                          <p:spTgt spid="1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21"/>
                                        </p:tgtEl>
                                      </p:cBhvr>
                                    </p:animEffect>
                                    <p:set>
                                      <p:cBhvr>
                                        <p:cTn id="39" dur="1" fill="hold">
                                          <p:stCondLst>
                                            <p:cond delay="599"/>
                                          </p:stCondLst>
                                        </p:cTn>
                                        <p:tgtEl>
                                          <p:spTgt spid="21"/>
                                        </p:tgtEl>
                                        <p:attrNameLst>
                                          <p:attrName>style.visibility</p:attrName>
                                        </p:attrNameLst>
                                      </p:cBhvr>
                                      <p:to>
                                        <p:strVal val="hidden"/>
                                      </p:to>
                                    </p:set>
                                  </p:childTnLst>
                                </p:cTn>
                              </p:par>
                              <p:par>
                                <p:cTn id="43"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فَنَادَى الْعَدَّاءُ: يَا آلَ عَمْرٍو، أُضَامُ وَأُضْطَهَدُ!</a:t>
            </a:r>
          </a:p>
        </p:txBody>
      </p:sp>
      <p:sp>
        <p:nvSpPr>
          <p:cNvPr id="7" name="part-en"/>
          <p:cNvSpPr txBox="1"/>
          <p:nvPr/>
        </p:nvSpPr>
        <p:spPr>
          <a:xfrm>
            <a:off x="566928" y="27310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Al-ʿAddāʾ called out: O family of ʿAmr — am I to be wronged and trampled?</a:t>
            </a:r>
          </a:p>
        </p:txBody>
      </p:sp>
      <p:sp>
        <p:nvSpPr>
          <p:cNvPr id="8" name="part-ar"/>
          <p:cNvSpPr txBox="1"/>
          <p:nvPr/>
        </p:nvSpPr>
        <p:spPr>
          <a:xfrm>
            <a:off x="566928" y="39481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الذَّلِيلَ مَنْ أُكِلَ فِي دَارِهِ!</a:t>
            </a:r>
          </a:p>
        </p:txBody>
      </p:sp>
      <p:sp>
        <p:nvSpPr>
          <p:cNvPr id="9" name="part-en"/>
          <p:cNvSpPr txBox="1"/>
          <p:nvPr/>
        </p:nvSpPr>
        <p:spPr>
          <a:xfrm>
            <a:off x="566928" y="48229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 humbled man is the one who is devoured in his own home!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a_010" descr="s06-kinda-r3-6-a_010.png"/>
          <p:cNvPicPr>
            <a:picLocks noChangeAspect="1"/>
          </p:cNvPicPr>
          <p:nvPr/>
        </p:nvPicPr>
        <p:blipFill>
          <a:blip r:embed="rId3"/>
          <a:stretch>
            <a:fillRect/>
          </a:stretch>
        </p:blipFill>
        <p:spPr>
          <a:xfrm>
            <a:off x="4888699" y="3682462"/>
            <a:ext cx="1088505" cy="721638"/>
          </a:xfrm>
          <a:prstGeom prst="rect">
            <a:avLst/>
          </a:prstGeom>
        </p:spPr>
      </p:pic>
      <p:pic>
        <p:nvPicPr>
          <p:cNvPr id="14" name="map arrow a_023" descr="s06-kinda-r6-8-a_023.png"/>
          <p:cNvPicPr>
            <a:picLocks noChangeAspect="1"/>
          </p:cNvPicPr>
          <p:nvPr/>
        </p:nvPicPr>
        <p:blipFill>
          <a:blip r:embed="rId4"/>
          <a:stretch>
            <a:fillRect/>
          </a:stretch>
        </p:blipFill>
        <p:spPr>
          <a:xfrm>
            <a:off x="3445421" y="2888256"/>
            <a:ext cx="935308" cy="330583"/>
          </a:xfrm>
          <a:prstGeom prst="rect">
            <a:avLst/>
          </a:prstGeom>
        </p:spPr>
      </p:pic>
      <p:pic>
        <p:nvPicPr>
          <p:cNvPr id="15" name="map settlement s_017" descr="s06-kinda-r6-8-s_017.png"/>
          <p:cNvPicPr>
            <a:picLocks noChangeAspect="1"/>
          </p:cNvPicPr>
          <p:nvPr/>
        </p:nvPicPr>
        <p:blipFill>
          <a:blip r:embed="rId5"/>
          <a:stretch>
            <a:fillRect/>
          </a:stretch>
        </p:blipFill>
        <p:spPr>
          <a:xfrm>
            <a:off x="2284348" y="2868098"/>
            <a:ext cx="330583" cy="330583"/>
          </a:xfrm>
          <a:prstGeom prst="rect">
            <a:avLst/>
          </a:prstGeom>
        </p:spPr>
      </p:pic>
      <p:pic>
        <p:nvPicPr>
          <p:cNvPr id="16" name="map settlement s_018" descr="s06-kinda-r6-8-s_018.png"/>
          <p:cNvPicPr>
            <a:picLocks noChangeAspect="1"/>
          </p:cNvPicPr>
          <p:nvPr/>
        </p:nvPicPr>
        <p:blipFill>
          <a:blip r:embed="rId6"/>
          <a:stretch>
            <a:fillRect/>
          </a:stretch>
        </p:blipFill>
        <p:spPr>
          <a:xfrm>
            <a:off x="2796349" y="2581862"/>
            <a:ext cx="330583" cy="326551"/>
          </a:xfrm>
          <a:prstGeom prst="rect">
            <a:avLst/>
          </a:prstGeom>
        </p:spPr>
      </p:pic>
      <p:pic>
        <p:nvPicPr>
          <p:cNvPr id="17" name="map settlement s_019" descr="s06-kinda-r6-8-s_019.png"/>
          <p:cNvPicPr>
            <a:picLocks noChangeAspect="1"/>
          </p:cNvPicPr>
          <p:nvPr/>
        </p:nvPicPr>
        <p:blipFill>
          <a:blip r:embed="rId7"/>
          <a:stretch>
            <a:fillRect/>
          </a:stretch>
        </p:blipFill>
        <p:spPr>
          <a:xfrm>
            <a:off x="3340602" y="2843909"/>
            <a:ext cx="330583" cy="326551"/>
          </a:xfrm>
          <a:prstGeom prst="rect">
            <a:avLst/>
          </a:prstGeom>
        </p:spPr>
      </p:pic>
      <p:pic>
        <p:nvPicPr>
          <p:cNvPr id="18" name="map settlement s_020" descr="s06-kinda-r6-8-s_020.png"/>
          <p:cNvPicPr>
            <a:picLocks noChangeAspect="1"/>
          </p:cNvPicPr>
          <p:nvPr/>
        </p:nvPicPr>
        <p:blipFill>
          <a:blip r:embed="rId8"/>
          <a:stretch>
            <a:fillRect/>
          </a:stretch>
        </p:blipFill>
        <p:spPr>
          <a:xfrm>
            <a:off x="2477860" y="3497013"/>
            <a:ext cx="330583" cy="330583"/>
          </a:xfrm>
          <a:prstGeom prst="rect">
            <a:avLst/>
          </a:prstGeom>
        </p:spPr>
      </p:pic>
      <p:pic>
        <p:nvPicPr>
          <p:cNvPr id="19" name="map settlement s_021" descr="s06-kinda-r6-8-s_021.png"/>
          <p:cNvPicPr>
            <a:picLocks noChangeAspect="1"/>
          </p:cNvPicPr>
          <p:nvPr/>
        </p:nvPicPr>
        <p:blipFill>
          <a:blip r:embed="rId9"/>
          <a:stretch>
            <a:fillRect/>
          </a:stretch>
        </p:blipFill>
        <p:spPr>
          <a:xfrm>
            <a:off x="3114838" y="3444603"/>
            <a:ext cx="330583" cy="330583"/>
          </a:xfrm>
          <a:prstGeom prst="rect">
            <a:avLst/>
          </a:prstGeom>
        </p:spPr>
      </p:pic>
      <p:pic>
        <p:nvPicPr>
          <p:cNvPr id="20" name="map army Banū Muʿāwiya" descr="s06-kinda-r3-6-a_012.png"/>
          <p:cNvPicPr>
            <a:picLocks noChangeAspect="1"/>
          </p:cNvPicPr>
          <p:nvPr/>
        </p:nvPicPr>
        <p:blipFill>
          <a:blip r:embed="rId10"/>
          <a:stretch>
            <a:fillRect/>
          </a:stretch>
        </p:blipFill>
        <p:spPr>
          <a:xfrm>
            <a:off x="865259" y="2803594"/>
            <a:ext cx="2930903" cy="850647"/>
          </a:xfrm>
          <a:prstGeom prst="rect">
            <a:avLst/>
          </a:prstGeom>
        </p:spPr>
      </p:pic>
      <p:pic>
        <p:nvPicPr>
          <p:cNvPr id="21" name="map army Shuraḥbīl and his son" descr="s06-kinda-r6-8-a_024.png"/>
          <p:cNvPicPr>
            <a:picLocks noChangeAspect="1"/>
          </p:cNvPicPr>
          <p:nvPr/>
        </p:nvPicPr>
        <p:blipFill>
          <a:blip r:embed="rId11"/>
          <a:stretch>
            <a:fillRect/>
          </a:stretch>
        </p:blipFill>
        <p:spPr>
          <a:xfrm>
            <a:off x="3985643" y="2384318"/>
            <a:ext cx="3414683" cy="850647"/>
          </a:xfrm>
          <a:prstGeom prst="rect">
            <a:avLst/>
          </a:prstGeom>
        </p:spPr>
      </p:pic>
      <p:pic>
        <p:nvPicPr>
          <p:cNvPr id="22" name="map label no ṣadaqa" descr="s06-kinda-r3-6-l_016.png"/>
          <p:cNvPicPr>
            <a:picLocks noChangeAspect="1"/>
          </p:cNvPicPr>
          <p:nvPr/>
        </p:nvPicPr>
        <p:blipFill>
          <a:blip r:embed="rId12"/>
          <a:stretch>
            <a:fillRect/>
          </a:stretch>
        </p:blipFill>
        <p:spPr>
          <a:xfrm>
            <a:off x="1885229" y="4323471"/>
            <a:ext cx="1382805" cy="338646"/>
          </a:xfrm>
          <a:prstGeom prst="rect">
            <a:avLst/>
          </a:prstGeom>
        </p:spPr>
      </p:pic>
      <p:pic>
        <p:nvPicPr>
          <p:cNvPr id="23" name="map label their pastures, as strongholds" descr="s06-kinda-r6-8-l_022.png"/>
          <p:cNvPicPr>
            <a:picLocks noChangeAspect="1"/>
          </p:cNvPicPr>
          <p:nvPr/>
        </p:nvPicPr>
        <p:blipFill>
          <a:blip r:embed="rId13"/>
          <a:stretch>
            <a:fillRect/>
          </a:stretch>
        </p:blipFill>
        <p:spPr>
          <a:xfrm>
            <a:off x="913637" y="4440384"/>
            <a:ext cx="395087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600"/>
                                        <p:tgtEl>
                                          <p:spTgt spid="19"/>
                                        </p:tgtEl>
                                      </p:cBhvr>
                                    </p:animEffec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4" dur="600"/>
                                        <p:tgtEl>
                                          <p:spTgt spid="22"/>
                                        </p:tgtEl>
                                      </p:cBhvr>
                                    </p:animEffect>
                                    <p:set>
                                      <p:cBhvr>
                                        <p:cTn id="25" dur="1" fill="hold">
                                          <p:stCondLst>
                                            <p:cond delay="599"/>
                                          </p:stCondLst>
                                        </p:cTn>
                                        <p:tgtEl>
                                          <p:spTgt spid="22"/>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600"/>
                                        <p:tgtEl>
                                          <p:spTgt spid="23"/>
                                        </p:tgtEl>
                                      </p:cBhvr>
                                    </p:animEffect>
                                  </p:childTnLst>
                                </p:cTn>
                              </p:par>
                            </p:childTnLst>
                          </p:cTn>
                        </p:par>
                      </p:childTnLst>
                    </p:cTn>
                  </p:par>
                  <p:par>
                    <p:cTn id="42" fill="hold">
                      <p:stCondLst>
                        <p:cond delay="indefinite"/>
                      </p:stCondLst>
                      <p:childTnLst>
                        <p:par>
                          <p:cTn id="43"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600"/>
                                        <p:tgtEl>
                                          <p:spTgt spid="14"/>
                                        </p:tgtEl>
                                      </p:cBhvr>
                                    </p:animEffect>
                                  </p:childTnLst>
                                </p:cTn>
                              </p:par>
                              <p:par>
                                <p:cTn id="36" presetID="1"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0670 -0.0191 L -0.0326 -0.0191 L 0.0000 0.0000 L 0 0 E" pathEditMode="relative" rAng="0" ptsTypes="">
                                      <p:cBhvr>
                                        <p:cTn id="37" dur="1600" fill="hold"/>
                                        <p:tgtEl>
                                          <p:spTgt spid="21"/>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23"/>
                                        </p:tgtEl>
                                      </p:cBhvr>
                                    </p:animEffect>
                                    <p:set>
                                      <p:cBhvr>
                                        <p:cTn id="40" dur="1" fill="hold">
                                          <p:stCondLst>
                                            <p:cond delay="599"/>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إِنَّهُ لَقَبِيحٌ بِالْأَحْرَارِ التَّنَقُّلُ</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It is an ugly thing in free men to change sides.</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 الْكِرَامَ لَيَلْزَمُونَ الشُّبْهَةَ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Men of honour will stay with a doubtful position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part-ar"/>
          <p:cNvSpPr txBox="1"/>
          <p:nvPr/>
        </p:nvSpPr>
        <p:spPr>
          <a:xfrm>
            <a:off x="566928" y="1813051"/>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فَيَتَكَرَّمُونَ أَنْ يَنْتَقِلُوا إِلَى أَوْضَحَ مِنْهَا مَخَافَةَ الْعَارِ</a:t>
            </a:r>
          </a:p>
        </p:txBody>
      </p:sp>
      <p:sp>
        <p:nvSpPr>
          <p:cNvPr id="7" name="part-en"/>
          <p:cNvSpPr txBox="1"/>
          <p:nvPr/>
        </p:nvSpPr>
        <p:spPr>
          <a:xfrm>
            <a:off x="566928" y="261162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think it beneath them to move even to a clearer one, for fear of the disgrace</a:t>
            </a:r>
          </a:p>
        </p:txBody>
      </p:sp>
      <p:sp>
        <p:nvSpPr>
          <p:cNvPr id="8" name="part-ar"/>
          <p:cNvSpPr txBox="1"/>
          <p:nvPr/>
        </p:nvSpPr>
        <p:spPr>
          <a:xfrm>
            <a:off x="566928" y="367131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فَكَيْفَ الِانْتِقَالُ مِنَ الْأَمْرِ الْحَسَنِ الْجَمِيلِ وَالْحَقِّ إِلَى الْبَاطِلِ وَالْقَبِيحِ!</a:t>
            </a:r>
          </a:p>
        </p:txBody>
      </p:sp>
      <p:sp>
        <p:nvSpPr>
          <p:cNvPr id="9" name="part-en"/>
          <p:cNvSpPr txBox="1"/>
          <p:nvPr/>
        </p:nvSpPr>
        <p:spPr>
          <a:xfrm>
            <a:off x="566928" y="4469891"/>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so how much worse to move from what is good, fair and true to what is false and ugly!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a_023" descr="s06-kinda-r6-8-a_023.png"/>
          <p:cNvPicPr>
            <a:picLocks noChangeAspect="1"/>
          </p:cNvPicPr>
          <p:nvPr/>
        </p:nvPicPr>
        <p:blipFill>
          <a:blip r:embed="rId3"/>
          <a:stretch>
            <a:fillRect/>
          </a:stretch>
        </p:blipFill>
        <p:spPr>
          <a:xfrm>
            <a:off x="3445421" y="2888256"/>
            <a:ext cx="935308" cy="330583"/>
          </a:xfrm>
          <a:prstGeom prst="rect">
            <a:avLst/>
          </a:prstGeom>
        </p:spPr>
      </p:pic>
      <p:pic>
        <p:nvPicPr>
          <p:cNvPr id="14" name="map arrow a_025" descr="s06-kinda-r8-10-a_025.png"/>
          <p:cNvPicPr>
            <a:picLocks noChangeAspect="1"/>
          </p:cNvPicPr>
          <p:nvPr/>
        </p:nvPicPr>
        <p:blipFill>
          <a:blip r:embed="rId4"/>
          <a:stretch>
            <a:fillRect/>
          </a:stretch>
        </p:blipFill>
        <p:spPr>
          <a:xfrm>
            <a:off x="2816507" y="2400444"/>
            <a:ext cx="286236" cy="745828"/>
          </a:xfrm>
          <a:prstGeom prst="rect">
            <a:avLst/>
          </a:prstGeom>
        </p:spPr>
      </p:pic>
      <p:pic>
        <p:nvPicPr>
          <p:cNvPr id="15" name="map arrow a_026" descr="s06-kinda-r8-10-a_026.png"/>
          <p:cNvPicPr>
            <a:picLocks noChangeAspect="1"/>
          </p:cNvPicPr>
          <p:nvPr/>
        </p:nvPicPr>
        <p:blipFill>
          <a:blip r:embed="rId5"/>
          <a:stretch>
            <a:fillRect/>
          </a:stretch>
        </p:blipFill>
        <p:spPr>
          <a:xfrm>
            <a:off x="3050334" y="2940665"/>
            <a:ext cx="790174" cy="342677"/>
          </a:xfrm>
          <a:prstGeom prst="rect">
            <a:avLst/>
          </a:prstGeom>
        </p:spPr>
      </p:pic>
      <p:pic>
        <p:nvPicPr>
          <p:cNvPr id="16" name="map arrow a_027" descr="s06-kinda-r8-10-a_027.png"/>
          <p:cNvPicPr>
            <a:picLocks noChangeAspect="1"/>
          </p:cNvPicPr>
          <p:nvPr/>
        </p:nvPicPr>
        <p:blipFill>
          <a:blip r:embed="rId6"/>
          <a:stretch>
            <a:fillRect/>
          </a:stretch>
        </p:blipFill>
        <p:spPr>
          <a:xfrm>
            <a:off x="3001956" y="3279312"/>
            <a:ext cx="592631" cy="661166"/>
          </a:xfrm>
          <a:prstGeom prst="rect">
            <a:avLst/>
          </a:prstGeom>
        </p:spPr>
      </p:pic>
      <p:pic>
        <p:nvPicPr>
          <p:cNvPr id="17" name="map arrow a_028" descr="s06-kinda-r8-10-a_028.png"/>
          <p:cNvPicPr>
            <a:picLocks noChangeAspect="1"/>
          </p:cNvPicPr>
          <p:nvPr/>
        </p:nvPicPr>
        <p:blipFill>
          <a:blip r:embed="rId7"/>
          <a:stretch>
            <a:fillRect/>
          </a:stretch>
        </p:blipFill>
        <p:spPr>
          <a:xfrm>
            <a:off x="2328695" y="3279312"/>
            <a:ext cx="592631" cy="661166"/>
          </a:xfrm>
          <a:prstGeom prst="rect">
            <a:avLst/>
          </a:prstGeom>
        </p:spPr>
      </p:pic>
      <p:pic>
        <p:nvPicPr>
          <p:cNvPr id="18" name="map arrow a_029" descr="s06-kinda-r8-10-a_029.png"/>
          <p:cNvPicPr>
            <a:picLocks noChangeAspect="1"/>
          </p:cNvPicPr>
          <p:nvPr/>
        </p:nvPicPr>
        <p:blipFill>
          <a:blip r:embed="rId8"/>
          <a:stretch>
            <a:fillRect/>
          </a:stretch>
        </p:blipFill>
        <p:spPr>
          <a:xfrm>
            <a:off x="2058584" y="2964854"/>
            <a:ext cx="814363" cy="326551"/>
          </a:xfrm>
          <a:prstGeom prst="rect">
            <a:avLst/>
          </a:prstGeom>
        </p:spPr>
      </p:pic>
      <p:pic>
        <p:nvPicPr>
          <p:cNvPr id="19" name="map settlement s_017" descr="s06-kinda-r6-8-s_017.png"/>
          <p:cNvPicPr>
            <a:picLocks noChangeAspect="1"/>
          </p:cNvPicPr>
          <p:nvPr/>
        </p:nvPicPr>
        <p:blipFill>
          <a:blip r:embed="rId9"/>
          <a:stretch>
            <a:fillRect/>
          </a:stretch>
        </p:blipFill>
        <p:spPr>
          <a:xfrm>
            <a:off x="2284348" y="2868098"/>
            <a:ext cx="330583" cy="330583"/>
          </a:xfrm>
          <a:prstGeom prst="rect">
            <a:avLst/>
          </a:prstGeom>
        </p:spPr>
      </p:pic>
      <p:pic>
        <p:nvPicPr>
          <p:cNvPr id="20" name="map settlement s_018" descr="s06-kinda-r6-8-s_018.png"/>
          <p:cNvPicPr>
            <a:picLocks noChangeAspect="1"/>
          </p:cNvPicPr>
          <p:nvPr/>
        </p:nvPicPr>
        <p:blipFill>
          <a:blip r:embed="rId10"/>
          <a:stretch>
            <a:fillRect/>
          </a:stretch>
        </p:blipFill>
        <p:spPr>
          <a:xfrm>
            <a:off x="2796349" y="2581862"/>
            <a:ext cx="330583" cy="326551"/>
          </a:xfrm>
          <a:prstGeom prst="rect">
            <a:avLst/>
          </a:prstGeom>
        </p:spPr>
      </p:pic>
      <p:pic>
        <p:nvPicPr>
          <p:cNvPr id="21" name="map settlement s_019" descr="s06-kinda-r6-8-s_019.png"/>
          <p:cNvPicPr>
            <a:picLocks noChangeAspect="1"/>
          </p:cNvPicPr>
          <p:nvPr/>
        </p:nvPicPr>
        <p:blipFill>
          <a:blip r:embed="rId11"/>
          <a:stretch>
            <a:fillRect/>
          </a:stretch>
        </p:blipFill>
        <p:spPr>
          <a:xfrm>
            <a:off x="3340602" y="2843909"/>
            <a:ext cx="330583" cy="326551"/>
          </a:xfrm>
          <a:prstGeom prst="rect">
            <a:avLst/>
          </a:prstGeom>
        </p:spPr>
      </p:pic>
      <p:pic>
        <p:nvPicPr>
          <p:cNvPr id="22" name="map settlement s_020" descr="s06-kinda-r6-8-s_020.png"/>
          <p:cNvPicPr>
            <a:picLocks noChangeAspect="1"/>
          </p:cNvPicPr>
          <p:nvPr/>
        </p:nvPicPr>
        <p:blipFill>
          <a:blip r:embed="rId12"/>
          <a:stretch>
            <a:fillRect/>
          </a:stretch>
        </p:blipFill>
        <p:spPr>
          <a:xfrm>
            <a:off x="2477860" y="3497013"/>
            <a:ext cx="330583" cy="330583"/>
          </a:xfrm>
          <a:prstGeom prst="rect">
            <a:avLst/>
          </a:prstGeom>
        </p:spPr>
      </p:pic>
      <p:pic>
        <p:nvPicPr>
          <p:cNvPr id="23" name="map settlement s_021" descr="s06-kinda-r6-8-s_021.png"/>
          <p:cNvPicPr>
            <a:picLocks noChangeAspect="1"/>
          </p:cNvPicPr>
          <p:nvPr/>
        </p:nvPicPr>
        <p:blipFill>
          <a:blip r:embed="rId13"/>
          <a:stretch>
            <a:fillRect/>
          </a:stretch>
        </p:blipFill>
        <p:spPr>
          <a:xfrm>
            <a:off x="3114838" y="3444603"/>
            <a:ext cx="330583" cy="330583"/>
          </a:xfrm>
          <a:prstGeom prst="rect">
            <a:avLst/>
          </a:prstGeom>
        </p:spPr>
      </p:pic>
      <p:pic>
        <p:nvPicPr>
          <p:cNvPr id="24" name="map battle the four kings" descr="s06-kinda-r8-10-b_031.png"/>
          <p:cNvPicPr>
            <a:picLocks noChangeAspect="1"/>
          </p:cNvPicPr>
          <p:nvPr/>
        </p:nvPicPr>
        <p:blipFill>
          <a:blip r:embed="rId14"/>
          <a:stretch>
            <a:fillRect/>
          </a:stretch>
        </p:blipFill>
        <p:spPr>
          <a:xfrm>
            <a:off x="929763" y="2827783"/>
            <a:ext cx="2459217" cy="770017"/>
          </a:xfrm>
          <a:prstGeom prst="rect">
            <a:avLst/>
          </a:prstGeom>
        </p:spPr>
      </p:pic>
      <p:pic>
        <p:nvPicPr>
          <p:cNvPr id="25" name="map army Shuraḥbīl and his son" descr="s06-kinda-r6-8-a_024.png"/>
          <p:cNvPicPr>
            <a:picLocks noChangeAspect="1"/>
          </p:cNvPicPr>
          <p:nvPr/>
        </p:nvPicPr>
        <p:blipFill>
          <a:blip r:embed="rId15"/>
          <a:stretch>
            <a:fillRect/>
          </a:stretch>
        </p:blipFill>
        <p:spPr>
          <a:xfrm>
            <a:off x="3985643" y="2384318"/>
            <a:ext cx="3414683" cy="850647"/>
          </a:xfrm>
          <a:prstGeom prst="rect">
            <a:avLst/>
          </a:prstGeom>
        </p:spPr>
      </p:pic>
      <p:pic>
        <p:nvPicPr>
          <p:cNvPr id="26" name="map label from five sides" descr="s06-kinda-r8-10-l_030.png"/>
          <p:cNvPicPr>
            <a:picLocks noChangeAspect="1"/>
          </p:cNvPicPr>
          <p:nvPr/>
        </p:nvPicPr>
        <p:blipFill>
          <a:blip r:embed="rId16"/>
          <a:stretch>
            <a:fillRect/>
          </a:stretch>
        </p:blipFill>
        <p:spPr>
          <a:xfrm>
            <a:off x="1994080" y="4440384"/>
            <a:ext cx="1999625"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part-ar"/>
          <p:cNvSpPr txBox="1"/>
          <p:nvPr/>
        </p:nvSpPr>
        <p:spPr>
          <a:xfrm>
            <a:off x="566928" y="2027682"/>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فَوَجَدُوهُمْ جُلُوسًا حَوْلَ نِيرَانِهِمْ</a:t>
            </a:r>
          </a:p>
        </p:txBody>
      </p:sp>
      <p:sp>
        <p:nvSpPr>
          <p:cNvPr id="7" name="part-en"/>
          <p:cNvSpPr txBox="1"/>
          <p:nvPr/>
        </p:nvSpPr>
        <p:spPr>
          <a:xfrm>
            <a:off x="566928" y="2826258"/>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They found them sitting round their fires</a:t>
            </a:r>
          </a:p>
        </p:txBody>
      </p:sp>
      <p:sp>
        <p:nvSpPr>
          <p:cNvPr id="8" name="part-ar"/>
          <p:cNvSpPr txBox="1"/>
          <p:nvPr/>
        </p:nvSpPr>
        <p:spPr>
          <a:xfrm>
            <a:off x="566928" y="3456686"/>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فَأَكَبُّوا عَلَى بَنِي عَمْرِو بْنِ مُعَاوِيَةَ، وَفِيهِمُ الْعَدَدُ وَالشَّوْكَةُ - مِنْ خَمْسَةِ أَوْجُهٍ</a:t>
            </a:r>
          </a:p>
        </p:txBody>
      </p:sp>
      <p:sp>
        <p:nvSpPr>
          <p:cNvPr id="9" name="part-en"/>
          <p:cNvSpPr txBox="1"/>
          <p:nvPr/>
        </p:nvSpPr>
        <p:spPr>
          <a:xfrm>
            <a:off x="566928" y="4255262"/>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fell on Banū ʿAmr b. Muʿāwiya — who had the numbers and the strength — from five directions.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a_032" descr="s06-kinda-r10-13-a_032.png"/>
          <p:cNvPicPr>
            <a:picLocks noChangeAspect="1"/>
          </p:cNvPicPr>
          <p:nvPr/>
        </p:nvPicPr>
        <p:blipFill>
          <a:blip r:embed="rId3"/>
          <a:stretch>
            <a:fillRect/>
          </a:stretch>
        </p:blipFill>
        <p:spPr>
          <a:xfrm>
            <a:off x="3066460" y="3416383"/>
            <a:ext cx="1068348" cy="903056"/>
          </a:xfrm>
          <a:prstGeom prst="rect">
            <a:avLst/>
          </a:prstGeom>
        </p:spPr>
      </p:pic>
      <p:pic>
        <p:nvPicPr>
          <p:cNvPr id="14"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5" name="map battle the four kings" descr="s06-kinda-r8-10-b_031.png"/>
          <p:cNvPicPr>
            <a:picLocks noChangeAspect="1"/>
          </p:cNvPicPr>
          <p:nvPr/>
        </p:nvPicPr>
        <p:blipFill>
          <a:blip r:embed="rId5"/>
          <a:stretch>
            <a:fillRect/>
          </a:stretch>
        </p:blipFill>
        <p:spPr>
          <a:xfrm>
            <a:off x="929763" y="2827783"/>
            <a:ext cx="2459217" cy="770017"/>
          </a:xfrm>
          <a:prstGeom prst="rect">
            <a:avLst/>
          </a:prstGeom>
        </p:spPr>
      </p:pic>
      <p:pic>
        <p:nvPicPr>
          <p:cNvPr id="16" name="map army the column" descr="s06-kinda-r10-13-a_033.png"/>
          <p:cNvPicPr>
            <a:picLocks noChangeAspect="1"/>
          </p:cNvPicPr>
          <p:nvPr/>
        </p:nvPicPr>
        <p:blipFill>
          <a:blip r:embed="rId6"/>
          <a:stretch>
            <a:fillRect/>
          </a:stretch>
        </p:blipFill>
        <p:spPr>
          <a:xfrm>
            <a:off x="1340976" y="3509107"/>
            <a:ext cx="3285675" cy="882899"/>
          </a:xfrm>
          <a:prstGeom prst="rect">
            <a:avLst/>
          </a:prstGeom>
        </p:spPr>
      </p:pic>
      <p:pic>
        <p:nvPicPr>
          <p:cNvPr id="17" name="map army al-Ashʿath b. Qays" descr="s06-kinda-r10-13-a_034.png"/>
          <p:cNvPicPr>
            <a:picLocks noChangeAspect="1"/>
          </p:cNvPicPr>
          <p:nvPr/>
        </p:nvPicPr>
        <p:blipFill>
          <a:blip r:embed="rId7"/>
          <a:stretch>
            <a:fillRect/>
          </a:stretch>
        </p:blipFill>
        <p:spPr>
          <a:xfrm>
            <a:off x="1804599" y="4085612"/>
            <a:ext cx="3205045" cy="854678"/>
          </a:xfrm>
          <a:prstGeom prst="rect">
            <a:avLst/>
          </a:prstGeom>
        </p:spPr>
      </p:pic>
      <p:pic>
        <p:nvPicPr>
          <p:cNvPr id="18" name="map label the captives taken back" descr="s06-kinda-r10-13-l_036.png"/>
          <p:cNvPicPr>
            <a:picLocks noChangeAspect="1"/>
          </p:cNvPicPr>
          <p:nvPr/>
        </p:nvPicPr>
        <p:blipFill>
          <a:blip r:embed="rId8"/>
          <a:stretch>
            <a:fillRect/>
          </a:stretch>
        </p:blipFill>
        <p:spPr>
          <a:xfrm>
            <a:off x="1433701" y="3742934"/>
            <a:ext cx="3100226"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8" presetID="10" presetClass="exit" presetSubtype="0" fill="hold" grpId="0" nodeType="withEffect">
                                  <p:stCondLst>
                                    <p:cond delay="0"/>
                                  </p:stCondLst>
                                  <p:childTnLst>
                                    <p:animEffect transition="out" filter="fade">
                                      <p:cBhvr>
                                        <p:cTn id="6" dur="600"/>
                                        <p:tgtEl>
                                          <p:spTgt spid="15"/>
                                        </p:tgtEl>
                                      </p:cBhvr>
                                    </p:animEffect>
                                    <p:set>
                                      <p:cBhvr>
                                        <p:cTn id="7" dur="1" fill="hold">
                                          <p:stCondLst>
                                            <p:cond delay="599"/>
                                          </p:stCondLst>
                                        </p:cTn>
                                        <p:tgtEl>
                                          <p:spTgt spid="15"/>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773 -0.1128 L -0.0354 -0.0497 L 0.0000 0.0000 L 0 0 E" pathEditMode="relative" rAng="0" ptsTypes="">
                                      <p:cBhvr>
                                        <p:cTn id="11" dur="1600" fill="hold"/>
                                        <p:tgtEl>
                                          <p:spTgt spid="16"/>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7" presetID="10" presetClass="exit" presetSubtype="0" fill="hold" grpId="0" nodeType="clickEffect">
                                  <p:stCondLst>
                                    <p:cond delay="0"/>
                                  </p:stCondLst>
                                  <p:childTnLst>
                                    <p:animEffect transition="out" filter="fade">
                                      <p:cBhvr>
                                        <p:cTn id="15" dur="600"/>
                                        <p:tgtEl>
                                          <p:spTgt spid="13"/>
                                        </p:tgtEl>
                                      </p:cBhvr>
                                    </p:animEffect>
                                    <p:set>
                                      <p:cBhvr>
                                        <p:cTn id="16" dur="1" fill="hold">
                                          <p:stCondLst>
                                            <p:cond delay="599"/>
                                          </p:stCondLst>
                                        </p:cTn>
                                        <p:tgtEl>
                                          <p:spTgt spid="13"/>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600"/>
                                        <p:tgtEl>
                                          <p:spTgt spid="17"/>
                                        </p:tgtEl>
                                      </p:cBhvr>
                                    </p:animEffect>
                                  </p:childTnLst>
                                </p:cTn>
                              </p:par>
                            </p:childTnLst>
                          </p:cTn>
                        </p:par>
                      </p:childTnLst>
                    </p:cTn>
                  </p:par>
                  <p:par>
                    <p:cTn id="32" fill="hold">
                      <p:stCondLst>
                        <p:cond delay="indefinite"/>
                      </p:stCondLst>
                      <p:childTnLst>
                        <p:par>
                          <p:cTn id="33"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1600"/>
                                        <p:tgtEl>
                                          <p:spTgt spid="14"/>
                                        </p:tgtEl>
                                      </p:cBhvr>
                                    </p:animEffect>
                                  </p:childTnLst>
                                </p:cTn>
                              </p:par>
                              <p:par>
                                <p:cTn id="28" presetID="10" presetClass="exit" presetSubtype="0" fill="hold" grpId="0" nodeType="withEffect">
                                  <p:stCondLst>
                                    <p:cond delay="0"/>
                                  </p:stCondLst>
                                  <p:childTnLst>
                                    <p:animEffect transition="out" filter="fade">
                                      <p:cBhvr>
                                        <p:cTn id="26" dur="600"/>
                                        <p:tgtEl>
                                          <p:spTgt spid="16"/>
                                        </p:tgtEl>
                                      </p:cBhvr>
                                    </p:animEffect>
                                    <p:set>
                                      <p:cBhvr>
                                        <p:cTn id="27" dur="1" fill="hold">
                                          <p:stCondLst>
                                            <p:cond delay="599"/>
                                          </p:stCondLst>
                                        </p:cTn>
                                        <p:tgtEl>
                                          <p:spTgt spid="16"/>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وَعَادَ زِيَادُ بْنُ لَبِيدٍ بِالْأَمْوَالِ وَالسَّبْيِ</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Ziyād b. Labīd returned with the property and the captives</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وَاجْتَازُوا بِالْأَشْعَثِ</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they passed by al-Ashʿath</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فَثَارَ فِي قَوْمِهِ، فَاسْتَنْقَذَهُمْ وَجَمَعَ الْجُمُوعَ.</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rose with his people, recovered them, and gathered the gatherings.</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45" descr="s06-kinda-r13-16-t_045.png"/>
          <p:cNvPicPr>
            <a:picLocks noChangeAspect="1"/>
          </p:cNvPicPr>
          <p:nvPr/>
        </p:nvPicPr>
        <p:blipFill>
          <a:blip r:embed="rId3"/>
          <a:stretch>
            <a:fillRect/>
          </a:stretch>
        </p:blipFill>
        <p:spPr>
          <a:xfrm>
            <a:off x="3646996" y="3505076"/>
            <a:ext cx="1173167" cy="1173167"/>
          </a:xfrm>
          <a:prstGeom prst="rect">
            <a:avLst/>
          </a:prstGeom>
        </p:spPr>
      </p:pic>
      <p:pic>
        <p:nvPicPr>
          <p:cNvPr id="17" name="map arrow a_035" descr="s06-kinda-r10-13-a_035.png"/>
          <p:cNvPicPr>
            <a:picLocks noChangeAspect="1"/>
          </p:cNvPicPr>
          <p:nvPr/>
        </p:nvPicPr>
        <p:blipFill>
          <a:blip r:embed="rId4"/>
          <a:stretch>
            <a:fillRect/>
          </a:stretch>
        </p:blipFill>
        <p:spPr>
          <a:xfrm>
            <a:off x="4070304" y="4234778"/>
            <a:ext cx="411213" cy="479748"/>
          </a:xfrm>
          <a:prstGeom prst="rect">
            <a:avLst/>
          </a:prstGeom>
        </p:spPr>
      </p:pic>
      <p:pic>
        <p:nvPicPr>
          <p:cNvPr id="18" name="map arrow a_037" descr="s06-kinda-r13-16-a_037.png"/>
          <p:cNvPicPr>
            <a:picLocks noChangeAspect="1"/>
          </p:cNvPicPr>
          <p:nvPr/>
        </p:nvPicPr>
        <p:blipFill>
          <a:blip r:embed="rId5"/>
          <a:stretch>
            <a:fillRect/>
          </a:stretch>
        </p:blipFill>
        <p:spPr>
          <a:xfrm>
            <a:off x="566928" y="4504888"/>
            <a:ext cx="5269175" cy="943371"/>
          </a:xfrm>
          <a:prstGeom prst="rect">
            <a:avLst/>
          </a:prstGeom>
        </p:spPr>
      </p:pic>
      <p:pic>
        <p:nvPicPr>
          <p:cNvPr id="19" name="map arrow a_041" descr="s06-kinda-r13-16-a_041.png"/>
          <p:cNvPicPr>
            <a:picLocks noChangeAspect="1"/>
          </p:cNvPicPr>
          <p:nvPr/>
        </p:nvPicPr>
        <p:blipFill>
          <a:blip r:embed="rId6"/>
          <a:stretch>
            <a:fillRect/>
          </a:stretch>
        </p:blipFill>
        <p:spPr>
          <a:xfrm>
            <a:off x="3187405" y="4496825"/>
            <a:ext cx="2652729" cy="479748"/>
          </a:xfrm>
          <a:prstGeom prst="rect">
            <a:avLst/>
          </a:prstGeom>
        </p:spPr>
      </p:pic>
      <p:pic>
        <p:nvPicPr>
          <p:cNvPr id="20" name="map arrow a_046" descr="s06-kinda-r13-16-a_046.png"/>
          <p:cNvPicPr>
            <a:picLocks noChangeAspect="1"/>
          </p:cNvPicPr>
          <p:nvPr/>
        </p:nvPicPr>
        <p:blipFill>
          <a:blip r:embed="rId7"/>
          <a:stretch>
            <a:fillRect/>
          </a:stretch>
        </p:blipFill>
        <p:spPr>
          <a:xfrm>
            <a:off x="2272254" y="3779218"/>
            <a:ext cx="2245547" cy="822426"/>
          </a:xfrm>
          <a:prstGeom prst="rect">
            <a:avLst/>
          </a:prstGeom>
        </p:spPr>
      </p:pic>
      <p:pic>
        <p:nvPicPr>
          <p:cNvPr id="21" name="map arrow a_048" descr="s06-kinda-r13-16-a_048.png"/>
          <p:cNvPicPr>
            <a:picLocks noChangeAspect="1"/>
          </p:cNvPicPr>
          <p:nvPr/>
        </p:nvPicPr>
        <p:blipFill>
          <a:blip r:embed="rId8"/>
          <a:stretch>
            <a:fillRect/>
          </a:stretch>
        </p:blipFill>
        <p:spPr>
          <a:xfrm>
            <a:off x="3183373" y="4541172"/>
            <a:ext cx="1709357" cy="399118"/>
          </a:xfrm>
          <a:prstGeom prst="rect">
            <a:avLst/>
          </a:prstGeom>
        </p:spPr>
      </p:pic>
      <p:pic>
        <p:nvPicPr>
          <p:cNvPr id="22" name="map arrow a_050" descr="s06-kinda-r13-16-a_050.png"/>
          <p:cNvPicPr>
            <a:picLocks noChangeAspect="1"/>
          </p:cNvPicPr>
          <p:nvPr/>
        </p:nvPicPr>
        <p:blipFill>
          <a:blip r:embed="rId9"/>
          <a:stretch>
            <a:fillRect/>
          </a:stretch>
        </p:blipFill>
        <p:spPr>
          <a:xfrm>
            <a:off x="566928" y="4500857"/>
            <a:ext cx="2624508" cy="882899"/>
          </a:xfrm>
          <a:prstGeom prst="rect">
            <a:avLst/>
          </a:prstGeom>
        </p:spPr>
      </p:pic>
      <p:pic>
        <p:nvPicPr>
          <p:cNvPr id="23" name="map settlement al-Nujayr" descr="s06-kinda-r13-16-s_044.png"/>
          <p:cNvPicPr>
            <a:picLocks noChangeAspect="1"/>
          </p:cNvPicPr>
          <p:nvPr/>
        </p:nvPicPr>
        <p:blipFill>
          <a:blip r:embed="rId10"/>
          <a:stretch>
            <a:fillRect/>
          </a:stretch>
        </p:blipFill>
        <p:spPr>
          <a:xfrm>
            <a:off x="3538146" y="3984825"/>
            <a:ext cx="1124789" cy="669229"/>
          </a:xfrm>
          <a:prstGeom prst="rect">
            <a:avLst/>
          </a:prstGeom>
        </p:spPr>
      </p:pic>
      <p:pic>
        <p:nvPicPr>
          <p:cNvPr id="24" name="map battle Maḥjar al-Zurqān" descr="s06-kinda-r13-16-b_043.png"/>
          <p:cNvPicPr>
            <a:picLocks noChangeAspect="1"/>
          </p:cNvPicPr>
          <p:nvPr/>
        </p:nvPicPr>
        <p:blipFill>
          <a:blip r:embed="rId11"/>
          <a:stretch>
            <a:fillRect/>
          </a:stretch>
        </p:blipFill>
        <p:spPr>
          <a:xfrm>
            <a:off x="1635276" y="4662117"/>
            <a:ext cx="2084287" cy="1056253"/>
          </a:xfrm>
          <a:prstGeom prst="rect">
            <a:avLst/>
          </a:prstGeom>
        </p:spPr>
      </p:pic>
      <p:pic>
        <p:nvPicPr>
          <p:cNvPr id="25" name="map army Ziyād b. Labīd ؓ" descr="s06-kinda-r3-6-a_011.png"/>
          <p:cNvPicPr>
            <a:picLocks noChangeAspect="1"/>
          </p:cNvPicPr>
          <p:nvPr/>
        </p:nvPicPr>
        <p:blipFill>
          <a:blip r:embed="rId12"/>
          <a:stretch>
            <a:fillRect/>
          </a:stretch>
        </p:blipFill>
        <p:spPr>
          <a:xfrm>
            <a:off x="4610526" y="3001138"/>
            <a:ext cx="2664823" cy="850647"/>
          </a:xfrm>
          <a:prstGeom prst="rect">
            <a:avLst/>
          </a:prstGeom>
        </p:spPr>
      </p:pic>
      <p:pic>
        <p:nvPicPr>
          <p:cNvPr id="26" name="map army al-Ashʿath b. Qays" descr="s06-kinda-r10-13-a_034.png"/>
          <p:cNvPicPr>
            <a:picLocks noChangeAspect="1"/>
          </p:cNvPicPr>
          <p:nvPr/>
        </p:nvPicPr>
        <p:blipFill>
          <a:blip r:embed="rId13"/>
          <a:stretch>
            <a:fillRect/>
          </a:stretch>
        </p:blipFill>
        <p:spPr>
          <a:xfrm>
            <a:off x="1804599" y="4085612"/>
            <a:ext cx="3205045" cy="854678"/>
          </a:xfrm>
          <a:prstGeom prst="rect">
            <a:avLst/>
          </a:prstGeom>
        </p:spPr>
      </p:pic>
      <p:pic>
        <p:nvPicPr>
          <p:cNvPr id="27" name="map army al-Muhājir ؓ" descr="s06-kinda-r13-16-a_038.png"/>
          <p:cNvPicPr>
            <a:picLocks noChangeAspect="1"/>
          </p:cNvPicPr>
          <p:nvPr/>
        </p:nvPicPr>
        <p:blipFill>
          <a:blip r:embed="rId14"/>
          <a:stretch>
            <a:fillRect/>
          </a:stretch>
        </p:blipFill>
        <p:spPr>
          <a:xfrm>
            <a:off x="5441015" y="3823564"/>
            <a:ext cx="2277799" cy="854678"/>
          </a:xfrm>
          <a:prstGeom prst="rect">
            <a:avLst/>
          </a:prstGeom>
        </p:spPr>
      </p:pic>
      <p:pic>
        <p:nvPicPr>
          <p:cNvPr id="28" name="map army Kinda" descr="s06-kinda-r13-16-a_040.png"/>
          <p:cNvPicPr>
            <a:picLocks noChangeAspect="1"/>
          </p:cNvPicPr>
          <p:nvPr/>
        </p:nvPicPr>
        <p:blipFill>
          <a:blip r:embed="rId15"/>
          <a:stretch>
            <a:fillRect/>
          </a:stretch>
        </p:blipFill>
        <p:spPr>
          <a:xfrm>
            <a:off x="1014424" y="3787281"/>
            <a:ext cx="1874649" cy="850647"/>
          </a:xfrm>
          <a:prstGeom prst="rect">
            <a:avLst/>
          </a:prstGeom>
        </p:spPr>
      </p:pic>
      <p:pic>
        <p:nvPicPr>
          <p:cNvPr id="29" name="map army al-Muhājir ؓ" descr="s06-kinda-r13-16-a_042.png"/>
          <p:cNvPicPr>
            <a:picLocks noChangeAspect="1"/>
          </p:cNvPicPr>
          <p:nvPr/>
        </p:nvPicPr>
        <p:blipFill>
          <a:blip r:embed="rId16"/>
          <a:stretch>
            <a:fillRect/>
          </a:stretch>
        </p:blipFill>
        <p:spPr>
          <a:xfrm>
            <a:off x="2909231" y="4049329"/>
            <a:ext cx="2277799" cy="878867"/>
          </a:xfrm>
          <a:prstGeom prst="rect">
            <a:avLst/>
          </a:prstGeom>
        </p:spPr>
      </p:pic>
      <p:pic>
        <p:nvPicPr>
          <p:cNvPr id="30" name="map army Kinda" descr="s06-kinda-r13-16-a_047.png"/>
          <p:cNvPicPr>
            <a:picLocks noChangeAspect="1"/>
          </p:cNvPicPr>
          <p:nvPr/>
        </p:nvPicPr>
        <p:blipFill>
          <a:blip r:embed="rId17"/>
          <a:stretch>
            <a:fillRect/>
          </a:stretch>
        </p:blipFill>
        <p:spPr>
          <a:xfrm>
            <a:off x="4122714" y="3170461"/>
            <a:ext cx="1665011" cy="850647"/>
          </a:xfrm>
          <a:prstGeom prst="rect">
            <a:avLst/>
          </a:prstGeom>
        </p:spPr>
      </p:pic>
      <p:pic>
        <p:nvPicPr>
          <p:cNvPr id="31" name="map army al-Muhājir ؓ" descr="s06-kinda-r13-16-a_049.png"/>
          <p:cNvPicPr>
            <a:picLocks noChangeAspect="1"/>
          </p:cNvPicPr>
          <p:nvPr/>
        </p:nvPicPr>
        <p:blipFill>
          <a:blip r:embed="rId18"/>
          <a:stretch>
            <a:fillRect/>
          </a:stretch>
        </p:blipFill>
        <p:spPr>
          <a:xfrm>
            <a:off x="4497644" y="3875974"/>
            <a:ext cx="2277799" cy="854678"/>
          </a:xfrm>
          <a:prstGeom prst="rect">
            <a:avLst/>
          </a:prstGeom>
        </p:spPr>
      </p:pic>
      <p:pic>
        <p:nvPicPr>
          <p:cNvPr id="32" name="map army ʿIkrima ؓ" descr="s06-kinda-r13-16-a_051.png"/>
          <p:cNvPicPr>
            <a:picLocks noChangeAspect="1"/>
          </p:cNvPicPr>
          <p:nvPr/>
        </p:nvPicPr>
        <p:blipFill>
          <a:blip r:embed="rId19"/>
          <a:stretch>
            <a:fillRect/>
          </a:stretch>
        </p:blipFill>
        <p:spPr>
          <a:xfrm>
            <a:off x="2651215" y="3468792"/>
            <a:ext cx="1032064" cy="1209450"/>
          </a:xfrm>
          <a:prstGeom prst="rect">
            <a:avLst/>
          </a:prstGeom>
        </p:spPr>
      </p:pic>
      <p:pic>
        <p:nvPicPr>
          <p:cNvPr id="33" name="map label the captives taken back" descr="s06-kinda-r10-13-l_036.png"/>
          <p:cNvPicPr>
            <a:picLocks noChangeAspect="1"/>
          </p:cNvPicPr>
          <p:nvPr/>
        </p:nvPicPr>
        <p:blipFill>
          <a:blip r:embed="rId20"/>
          <a:stretch>
            <a:fillRect/>
          </a:stretch>
        </p:blipFill>
        <p:spPr>
          <a:xfrm>
            <a:off x="1433701" y="3742934"/>
            <a:ext cx="3100226" cy="338646"/>
          </a:xfrm>
          <a:prstGeom prst="rect">
            <a:avLst/>
          </a:prstGeom>
        </p:spPr>
      </p:pic>
      <p:pic>
        <p:nvPicPr>
          <p:cNvPr id="34" name="map label from Ṣanʿāʾ" descr="s06-kinda-r13-16-l_039.png"/>
          <p:cNvPicPr>
            <a:picLocks noChangeAspect="1"/>
          </p:cNvPicPr>
          <p:nvPr/>
        </p:nvPicPr>
        <p:blipFill>
          <a:blip r:embed="rId21"/>
          <a:stretch>
            <a:fillRect/>
          </a:stretch>
        </p:blipFill>
        <p:spPr>
          <a:xfrm>
            <a:off x="1187779" y="3976762"/>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4265 0.0325 L -0.2961 0.0841 L -0.1192 0.1090 L 0.0000 0.0000 L 0 0 E" pathEditMode="relative" rAng="0" ptsTypes="">
                                      <p:cBhvr>
                                        <p:cTn id="11" dur="1600" fill="hold"/>
                                        <p:tgtEl>
                                          <p:spTgt spid="27"/>
                                        </p:tgtEl>
                                        <p:attrNameLst>
                                          <p:attrName>ppt_x</p:attrName>
                                          <p:attrName>ppt_y</p:attrName>
                                        </p:attrNameLst>
                                      </p:cBhvr>
                                    </p:animMotion>
                                  </p:childTnLst>
                                </p:cTn>
                              </p:par>
                              <p:par>
                                <p:cTn id="15" presetID="10" presetClass="exit" presetSubtype="0" fill="hold" grpId="0" nodeType="withEffect">
                                  <p:stCondLst>
                                    <p:cond delay="0"/>
                                  </p:stCondLst>
                                  <p:childTnLst>
                                    <p:animEffect transition="out" filter="fade">
                                      <p:cBhvr>
                                        <p:cTn id="13" dur="600"/>
                                        <p:tgtEl>
                                          <p:spTgt spid="33"/>
                                        </p:tgtEl>
                                      </p:cBhvr>
                                    </p:animEffect>
                                    <p:set>
                                      <p:cBhvr>
                                        <p:cTn id="14" dur="1" fill="hold">
                                          <p:stCondLst>
                                            <p:cond delay="599"/>
                                          </p:stCondLst>
                                        </p:cTn>
                                        <p:tgtEl>
                                          <p:spTgt spid="33"/>
                                        </p:tgtEl>
                                        <p:attrNameLst>
                                          <p:attrName>style.visibility</p:attrName>
                                        </p:attrNameLst>
                                      </p:cBhvr>
                                      <p:to>
                                        <p:strVal val="hidden"/>
                                      </p:to>
                                    </p:set>
                                  </p:childTnLst>
                                </p:cTn>
                              </p:par>
                              <p:par>
                                <p:cTn id="18" presetID="10"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600"/>
                                        <p:tgtEl>
                                          <p:spTgt spid="34"/>
                                        </p:tgtEl>
                                      </p:cBhvr>
                                    </p:animEffect>
                                  </p:childTnLst>
                                </p:cTn>
                              </p:par>
                            </p:childTnLst>
                          </p:cTn>
                        </p:par>
                      </p:childTnLst>
                    </p:cTn>
                  </p:par>
                  <p:par>
                    <p:cTn id="49" fill="hold">
                      <p:stCondLst>
                        <p:cond delay="indefinite"/>
                      </p:stCondLst>
                      <p:childTnLst>
                        <p:par>
                          <p:cTn id="50" fill="hold">
                            <p:stCondLst>
                              <p:cond delay="0"/>
                            </p:stCondLst>
                            <p:childTnLst>
                              <p:par>
                                <p:cTn id="23" presetID="10" presetClass="exit" presetSubtype="0" fill="hold" grpId="0" nodeType="clickEffect">
                                  <p:stCondLst>
                                    <p:cond delay="0"/>
                                  </p:stCondLst>
                                  <p:childTnLst>
                                    <p:animEffect transition="out" filter="fade">
                                      <p:cBhvr>
                                        <p:cTn id="21" dur="600"/>
                                        <p:tgtEl>
                                          <p:spTgt spid="18"/>
                                        </p:tgtEl>
                                      </p:cBhvr>
                                    </p:animEffect>
                                    <p:set>
                                      <p:cBhvr>
                                        <p:cTn id="22" dur="1" fill="hold">
                                          <p:stCondLst>
                                            <p:cond delay="599"/>
                                          </p:stCondLst>
                                        </p:cTn>
                                        <p:tgtEl>
                                          <p:spTgt spid="18"/>
                                        </p:tgtEl>
                                        <p:attrNameLst>
                                          <p:attrName>style.visibility</p:attrName>
                                        </p:attrNameLst>
                                      </p:cBhvr>
                                      <p:to>
                                        <p:strVal val="hidden"/>
                                      </p:to>
                                    </p:set>
                                  </p:childTnLst>
                                </p:cTn>
                              </p:par>
                              <p:par>
                                <p:cTn id="26" presetID="22" presetClass="entr" presetSubtype="2"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00"/>
                                        <p:tgtEl>
                                          <p:spTgt spid="24"/>
                                        </p:tgtEl>
                                      </p:cBhvr>
                                    </p:animEffect>
                                  </p:childTnLst>
                                </p:cTn>
                              </p:par>
                              <p:par>
                                <p:cTn id="32" presetID="10" presetClass="exit" presetSubtype="0" fill="hold" grpId="0" nodeType="withEffect">
                                  <p:stCondLst>
                                    <p:cond delay="0"/>
                                  </p:stCondLst>
                                  <p:childTnLst>
                                    <p:animEffect transition="out" filter="fade">
                                      <p:cBhvr>
                                        <p:cTn id="30" dur="600"/>
                                        <p:tgtEl>
                                          <p:spTgt spid="25"/>
                                        </p:tgtEl>
                                      </p:cBhvr>
                                    </p:animEffect>
                                    <p:set>
                                      <p:cBhvr>
                                        <p:cTn id="31" dur="1" fill="hold">
                                          <p:stCondLst>
                                            <p:cond delay="599"/>
                                          </p:stCondLst>
                                        </p:cTn>
                                        <p:tgtEl>
                                          <p:spTgt spid="25"/>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26"/>
                                        </p:tgtEl>
                                      </p:cBhvr>
                                    </p:animEffect>
                                    <p:set>
                                      <p:cBhvr>
                                        <p:cTn id="34" dur="1" fill="hold">
                                          <p:stCondLst>
                                            <p:cond delay="599"/>
                                          </p:stCondLst>
                                        </p:cTn>
                                        <p:tgtEl>
                                          <p:spTgt spid="26"/>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27"/>
                                        </p:tgtEl>
                                      </p:cBhvr>
                                    </p:animEffect>
                                    <p:set>
                                      <p:cBhvr>
                                        <p:cTn id="37" dur="1" fill="hold">
                                          <p:stCondLst>
                                            <p:cond delay="599"/>
                                          </p:stCondLst>
                                        </p:cTn>
                                        <p:tgtEl>
                                          <p:spTgt spid="27"/>
                                        </p:tgtEl>
                                        <p:attrNameLst>
                                          <p:attrName>style.visibility</p:attrName>
                                        </p:attrNameLst>
                                      </p:cBhvr>
                                      <p:to>
                                        <p:strVal val="hidden"/>
                                      </p:to>
                                    </p:set>
                                  </p:childTnLst>
                                </p:cTn>
                              </p:par>
                              <p:par>
                                <p:cTn id="41"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600"/>
                                        <p:tgtEl>
                                          <p:spTgt spid="28"/>
                                        </p:tgtEl>
                                      </p:cBhvr>
                                    </p:animEffect>
                                  </p:childTnLst>
                                </p:cTn>
                              </p:par>
                              <p:par>
                                <p:cTn id="43" presetID="1"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5" presetID="0" presetClass="path" presetSubtype="0" fill="hold" grpId="0" nodeType="withEffect">
                                  <p:stCondLst>
                                    <p:cond delay="0"/>
                                  </p:stCondLst>
                                  <p:childTnLst>
                                    <p:animMotion origin="layout" path="M 0.2077 -0.0325 L 0.1164 0.0096 L 0.0000 0.0000 L 0 0 E" pathEditMode="relative" rAng="0" ptsTypes="">
                                      <p:cBhvr>
                                        <p:cTn id="44" dur="1600" fill="hold"/>
                                        <p:tgtEl>
                                          <p:spTgt spid="29"/>
                                        </p:tgtEl>
                                        <p:attrNameLst>
                                          <p:attrName>ppt_x</p:attrName>
                                          <p:attrName>ppt_y</p:attrName>
                                        </p:attrNameLst>
                                      </p:cBhvr>
                                    </p:animMotion>
                                  </p:childTnLst>
                                </p:cTn>
                              </p:par>
                              <p:par>
                                <p:cTn id="48" presetID="10" presetClass="exit" presetSubtype="0" fill="hold" grpId="0" nodeType="withEffect">
                                  <p:stCondLst>
                                    <p:cond delay="0"/>
                                  </p:stCondLst>
                                  <p:childTnLst>
                                    <p:animEffect transition="out" filter="fade">
                                      <p:cBhvr>
                                        <p:cTn id="46" dur="600"/>
                                        <p:tgtEl>
                                          <p:spTgt spid="34"/>
                                        </p:tgtEl>
                                      </p:cBhvr>
                                    </p:animEffect>
                                    <p:set>
                                      <p:cBhvr>
                                        <p:cTn id="47" dur="1" fill="hold">
                                          <p:stCondLst>
                                            <p:cond delay="599"/>
                                          </p:stCondLst>
                                        </p:cTn>
                                        <p:tgtEl>
                                          <p:spTgt spid="34"/>
                                        </p:tgtEl>
                                        <p:attrNameLst>
                                          <p:attrName>style.visibility</p:attrName>
                                        </p:attrNameLst>
                                      </p:cBhvr>
                                      <p:to>
                                        <p:strVal val="hidden"/>
                                      </p:to>
                                    </p:set>
                                  </p:childTnLst>
                                </p:cTn>
                              </p:par>
                            </p:childTnLst>
                          </p:cTn>
                        </p:par>
                      </p:childTnLst>
                    </p:cTn>
                  </p:par>
                  <p:par>
                    <p:cTn id="90" fill="hold">
                      <p:stCondLst>
                        <p:cond delay="indefinite"/>
                      </p:stCondLst>
                      <p:childTnLst>
                        <p:par>
                          <p:cTn id="91" fill="hold">
                            <p:stCondLst>
                              <p:cond delay="0"/>
                            </p:stCondLst>
                            <p:childTnLst>
                              <p:par>
                                <p:cTn id="53" presetID="10" presetClass="entr" presetSubtype="0"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600"/>
                                        <p:tgtEl>
                                          <p:spTgt spid="16"/>
                                        </p:tgtEl>
                                      </p:cBhvr>
                                    </p:animEffect>
                                  </p:childTnLst>
                                </p:cTn>
                              </p:par>
                              <p:par>
                                <p:cTn id="56" presetID="10" presetClass="exit" presetSubtype="0" fill="hold" grpId="0" nodeType="withEffect">
                                  <p:stCondLst>
                                    <p:cond delay="0"/>
                                  </p:stCondLst>
                                  <p:childTnLst>
                                    <p:animEffect transition="out" filter="fade">
                                      <p:cBhvr>
                                        <p:cTn id="54" dur="600"/>
                                        <p:tgtEl>
                                          <p:spTgt spid="19"/>
                                        </p:tgtEl>
                                      </p:cBhvr>
                                    </p:animEffect>
                                    <p:set>
                                      <p:cBhvr>
                                        <p:cTn id="55" dur="1" fill="hold">
                                          <p:stCondLst>
                                            <p:cond delay="599"/>
                                          </p:stCondLst>
                                        </p:cTn>
                                        <p:tgtEl>
                                          <p:spTgt spid="19"/>
                                        </p:tgtEl>
                                        <p:attrNameLst>
                                          <p:attrName>style.visibility</p:attrName>
                                        </p:attrNameLst>
                                      </p:cBhvr>
                                      <p:to>
                                        <p:strVal val="hidden"/>
                                      </p:to>
                                    </p:set>
                                  </p:childTnLst>
                                </p:cTn>
                              </p:par>
                              <p:par>
                                <p:cTn id="59" presetID="22" presetClass="entr" presetSubtype="8"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1600"/>
                                        <p:tgtEl>
                                          <p:spTgt spid="20"/>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wipe(left)">
                                      <p:cBhvr>
                                        <p:cTn id="61" dur="1600"/>
                                        <p:tgtEl>
                                          <p:spTgt spid="21"/>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wipe(left)">
                                      <p:cBhvr>
                                        <p:cTn id="64" dur="1600"/>
                                        <p:tgtEl>
                                          <p:spTgt spid="22"/>
                                        </p:tgtEl>
                                      </p:cBhvr>
                                    </p:animEffect>
                                  </p:childTnLst>
                                </p:cTn>
                              </p:par>
                              <p:par>
                                <p:cTn id="68"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600"/>
                                        <p:tgtEl>
                                          <p:spTgt spid="23"/>
                                        </p:tgtEl>
                                      </p:cBhvr>
                                    </p:animEffect>
                                  </p:childTnLst>
                                </p:cTn>
                              </p:par>
                              <p:par>
                                <p:cTn id="71" presetID="10" presetClass="exit" presetSubtype="0" fill="hold" grpId="0" nodeType="withEffect">
                                  <p:stCondLst>
                                    <p:cond delay="0"/>
                                  </p:stCondLst>
                                  <p:childTnLst>
                                    <p:animEffect transition="out" filter="fade">
                                      <p:cBhvr>
                                        <p:cTn id="69" dur="600"/>
                                        <p:tgtEl>
                                          <p:spTgt spid="24"/>
                                        </p:tgtEl>
                                      </p:cBhvr>
                                    </p:animEffect>
                                    <p:set>
                                      <p:cBhvr>
                                        <p:cTn id="70" dur="1" fill="hold">
                                          <p:stCondLst>
                                            <p:cond delay="599"/>
                                          </p:stCondLst>
                                        </p:cTn>
                                        <p:tgtEl>
                                          <p:spTgt spid="24"/>
                                        </p:tgtEl>
                                        <p:attrNameLst>
                                          <p:attrName>style.visibility</p:attrName>
                                        </p:attrNameLst>
                                      </p:cBhvr>
                                      <p:to>
                                        <p:strVal val="hidden"/>
                                      </p:to>
                                    </p:set>
                                  </p:childTnLst>
                                </p:cTn>
                              </p:par>
                              <p:par>
                                <p:cTn id="74" presetID="10" presetClass="exit" presetSubtype="0" fill="hold" grpId="0" nodeType="withEffect">
                                  <p:stCondLst>
                                    <p:cond delay="0"/>
                                  </p:stCondLst>
                                  <p:childTnLst>
                                    <p:animEffect transition="out" filter="fade">
                                      <p:cBhvr>
                                        <p:cTn id="72" dur="600"/>
                                        <p:tgtEl>
                                          <p:spTgt spid="28"/>
                                        </p:tgtEl>
                                      </p:cBhvr>
                                    </p:animEffect>
                                    <p:set>
                                      <p:cBhvr>
                                        <p:cTn id="73" dur="1" fill="hold">
                                          <p:stCondLst>
                                            <p:cond delay="599"/>
                                          </p:stCondLst>
                                        </p:cTn>
                                        <p:tgtEl>
                                          <p:spTgt spid="2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5" dur="600"/>
                                        <p:tgtEl>
                                          <p:spTgt spid="29"/>
                                        </p:tgtEl>
                                      </p:cBhvr>
                                    </p:animEffect>
                                    <p:set>
                                      <p:cBhvr>
                                        <p:cTn id="76" dur="1" fill="hold">
                                          <p:stCondLst>
                                            <p:cond delay="599"/>
                                          </p:stCondLst>
                                        </p:cTn>
                                        <p:tgtEl>
                                          <p:spTgt spid="29"/>
                                        </p:tgtEl>
                                        <p:attrNameLst>
                                          <p:attrName>style.visibility</p:attrName>
                                        </p:attrNameLst>
                                      </p:cBhvr>
                                      <p:to>
                                        <p:strVal val="hidden"/>
                                      </p:to>
                                    </p:set>
                                  </p:childTnLst>
                                </p:cTn>
                              </p:par>
                              <p:par>
                                <p:cTn id="79" presetID="1"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childTnLst>
                                </p:cTn>
                              </p:par>
                              <p:par>
                                <p:cTn id="81" presetID="0" presetClass="path" presetSubtype="0" fill="hold" grpId="0" nodeType="withEffect">
                                  <p:stCondLst>
                                    <p:cond delay="0"/>
                                  </p:stCondLst>
                                  <p:childTnLst>
                                    <p:animMotion origin="layout" path="M -0.1741 0.0898 L -0.0857 0.0268 L 0.0000 0.0000 L 0 0 E" pathEditMode="relative" rAng="0" ptsTypes="">
                                      <p:cBhvr>
                                        <p:cTn id="80" dur="1600" fill="hold"/>
                                        <p:tgtEl>
                                          <p:spTgt spid="30"/>
                                        </p:tgtEl>
                                        <p:attrNameLst>
                                          <p:attrName>ppt_x</p:attrName>
                                          <p:attrName>ppt_y</p:attrName>
                                        </p:attrNameLst>
                                      </p:cBhvr>
                                    </p:animMotion>
                                  </p:childTnLst>
                                </p:cTn>
                              </p:par>
                              <p:par>
                                <p:cTn id="83" presetID="1"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childTnLst>
                                </p:cTn>
                              </p:par>
                              <p:par>
                                <p:cTn id="85" presetID="0" presetClass="path" presetSubtype="0" fill="hold" grpId="0" nodeType="withEffect">
                                  <p:stCondLst>
                                    <p:cond delay="0"/>
                                  </p:stCondLst>
                                  <p:childTnLst>
                                    <p:animMotion origin="layout" path="M -0.1304 0.0248 L -0.0512 0.0306 L 0.0000 0.0000 L 0 0 E" pathEditMode="relative" rAng="0" ptsTypes="">
                                      <p:cBhvr>
                                        <p:cTn id="84" dur="1600" fill="hold"/>
                                        <p:tgtEl>
                                          <p:spTgt spid="31"/>
                                        </p:tgtEl>
                                        <p:attrNameLst>
                                          <p:attrName>ppt_x</p:attrName>
                                          <p:attrName>ppt_y</p:attrName>
                                        </p:attrNameLst>
                                      </p:cBhvr>
                                    </p:animMotion>
                                  </p:childTnLst>
                                </p:cTn>
                              </p:par>
                              <p:par>
                                <p:cTn id="87" presetID="1" presetClass="entr" presetSubtype="0" fill="hold" grpId="0" nodeType="withEffect">
                                  <p:stCondLst>
                                    <p:cond delay="0"/>
                                  </p:stCondLst>
                                  <p:childTnLst>
                                    <p:set>
                                      <p:cBhvr>
                                        <p:cTn id="86" dur="1" fill="hold">
                                          <p:stCondLst>
                                            <p:cond delay="0"/>
                                          </p:stCondLst>
                                        </p:cTn>
                                        <p:tgtEl>
                                          <p:spTgt spid="32"/>
                                        </p:tgtEl>
                                        <p:attrNameLst>
                                          <p:attrName>style.visibility</p:attrName>
                                        </p:attrNameLst>
                                      </p:cBhvr>
                                      <p:to>
                                        <p:strVal val="visible"/>
                                      </p:to>
                                    </p:set>
                                  </p:childTnLst>
                                </p:cTn>
                              </p:par>
                              <p:par>
                                <p:cTn id="89" presetID="0" presetClass="path" presetSubtype="0" fill="hold" grpId="0" nodeType="withEffect">
                                  <p:stCondLst>
                                    <p:cond delay="0"/>
                                  </p:stCondLst>
                                  <p:childTnLst>
                                    <p:animMotion origin="layout" path="M -0.2095 0.0707 L -0.1071 0.1090 L -0.0466 0.0612 L 0.0000 0.0000 L 0 0 E" pathEditMode="relative" rAng="0" ptsTypes="">
                                      <p:cBhvr>
                                        <p:cTn id="88" dur="1600" fill="hold"/>
                                        <p:tgtEl>
                                          <p:spTgt spid="3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 the siege</a:t>
            </a:r>
          </a:p>
        </p:txBody>
      </p:sp>
      <p:pic>
        <p:nvPicPr>
          <p:cNvPr id="6" name="map" descr="s06-nujay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with Ziyād ؓ, besieges Kinda in the fort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up the main body</a:t>
            </a:r>
          </a:p>
        </p:txBody>
      </p:sp>
      <p:pic>
        <p:nvPicPr>
          <p:cNvPr id="13" name="map territory t_004" descr="s06-nujayr-r1-5-t_004.png"/>
          <p:cNvPicPr>
            <a:picLocks noChangeAspect="1"/>
          </p:cNvPicPr>
          <p:nvPr/>
        </p:nvPicPr>
        <p:blipFill>
          <a:blip r:embed="rId3"/>
          <a:stretch>
            <a:fillRect/>
          </a:stretch>
        </p:blipFill>
        <p:spPr>
          <a:xfrm>
            <a:off x="3578461" y="2864067"/>
            <a:ext cx="1910932" cy="1910932"/>
          </a:xfrm>
          <a:prstGeom prst="rect">
            <a:avLst/>
          </a:prstGeom>
        </p:spPr>
      </p:pic>
      <p:pic>
        <p:nvPicPr>
          <p:cNvPr id="14" name="map arrow a_005" descr="s06-nujayr-r1-5-a_005.png"/>
          <p:cNvPicPr>
            <a:picLocks noChangeAspect="1"/>
          </p:cNvPicPr>
          <p:nvPr/>
        </p:nvPicPr>
        <p:blipFill>
          <a:blip r:embed="rId4"/>
          <a:stretch>
            <a:fillRect/>
          </a:stretch>
        </p:blipFill>
        <p:spPr>
          <a:xfrm>
            <a:off x="699967" y="3041453"/>
            <a:ext cx="2003657" cy="387024"/>
          </a:xfrm>
          <a:prstGeom prst="rect">
            <a:avLst/>
          </a:prstGeom>
        </p:spPr>
      </p:pic>
      <p:pic>
        <p:nvPicPr>
          <p:cNvPr id="15" name="map arrow a_007" descr="s06-nujayr-r1-5-a_007.png"/>
          <p:cNvPicPr>
            <a:picLocks noChangeAspect="1"/>
          </p:cNvPicPr>
          <p:nvPr/>
        </p:nvPicPr>
        <p:blipFill>
          <a:blip r:embed="rId5"/>
          <a:stretch>
            <a:fillRect/>
          </a:stretch>
        </p:blipFill>
        <p:spPr>
          <a:xfrm>
            <a:off x="6460986" y="2827783"/>
            <a:ext cx="1713389" cy="435402"/>
          </a:xfrm>
          <a:prstGeom prst="rect">
            <a:avLst/>
          </a:prstGeom>
        </p:spPr>
      </p:pic>
      <p:pic>
        <p:nvPicPr>
          <p:cNvPr id="16" name="map arrow a_009" descr="s06-nujayr-r1-5-a_009.png"/>
          <p:cNvPicPr>
            <a:picLocks noChangeAspect="1"/>
          </p:cNvPicPr>
          <p:nvPr/>
        </p:nvPicPr>
        <p:blipFill>
          <a:blip r:embed="rId6"/>
          <a:stretch>
            <a:fillRect/>
          </a:stretch>
        </p:blipFill>
        <p:spPr>
          <a:xfrm>
            <a:off x="796723" y="4988669"/>
            <a:ext cx="2535815" cy="657134"/>
          </a:xfrm>
          <a:prstGeom prst="rect">
            <a:avLst/>
          </a:prstGeom>
        </p:spPr>
      </p:pic>
      <p:pic>
        <p:nvPicPr>
          <p:cNvPr id="17" name="map arrow a_012" descr="s06-nujayr-r1-5-a_012.png"/>
          <p:cNvPicPr>
            <a:picLocks noChangeAspect="1"/>
          </p:cNvPicPr>
          <p:nvPr/>
        </p:nvPicPr>
        <p:blipFill>
          <a:blip r:embed="rId7"/>
          <a:stretch>
            <a:fillRect/>
          </a:stretch>
        </p:blipFill>
        <p:spPr>
          <a:xfrm>
            <a:off x="1091023" y="2202900"/>
            <a:ext cx="1612601" cy="1140915"/>
          </a:xfrm>
          <a:prstGeom prst="rect">
            <a:avLst/>
          </a:prstGeom>
        </p:spPr>
      </p:pic>
      <p:pic>
        <p:nvPicPr>
          <p:cNvPr id="18" name="map arrow a_013" descr="s06-nujayr-r1-5-a_013.png"/>
          <p:cNvPicPr>
            <a:picLocks noChangeAspect="1"/>
          </p:cNvPicPr>
          <p:nvPr/>
        </p:nvPicPr>
        <p:blipFill>
          <a:blip r:embed="rId8"/>
          <a:stretch>
            <a:fillRect/>
          </a:stretch>
        </p:blipFill>
        <p:spPr>
          <a:xfrm>
            <a:off x="6460986" y="3085799"/>
            <a:ext cx="1423120" cy="1193324"/>
          </a:xfrm>
          <a:prstGeom prst="rect">
            <a:avLst/>
          </a:prstGeom>
        </p:spPr>
      </p:pic>
      <p:pic>
        <p:nvPicPr>
          <p:cNvPr id="19" name="map arrow a_014" descr="s06-nujayr-r1-5-a_014.png"/>
          <p:cNvPicPr>
            <a:picLocks noChangeAspect="1"/>
          </p:cNvPicPr>
          <p:nvPr/>
        </p:nvPicPr>
        <p:blipFill>
          <a:blip r:embed="rId9"/>
          <a:stretch>
            <a:fillRect/>
          </a:stretch>
        </p:blipFill>
        <p:spPr>
          <a:xfrm>
            <a:off x="3223688" y="5016889"/>
            <a:ext cx="2140728" cy="931277"/>
          </a:xfrm>
          <a:prstGeom prst="rect">
            <a:avLst/>
          </a:prstGeom>
        </p:spPr>
      </p:pic>
      <p:pic>
        <p:nvPicPr>
          <p:cNvPr id="20" name="map battle b_016" descr="s06-nujayr-r1-5-b_016.png"/>
          <p:cNvPicPr>
            <a:picLocks noChangeAspect="1"/>
          </p:cNvPicPr>
          <p:nvPr/>
        </p:nvPicPr>
        <p:blipFill>
          <a:blip r:embed="rId10"/>
          <a:stretch>
            <a:fillRect/>
          </a:stretch>
        </p:blipFill>
        <p:spPr>
          <a:xfrm>
            <a:off x="3429295" y="4013045"/>
            <a:ext cx="854678" cy="774048"/>
          </a:xfrm>
          <a:prstGeom prst="rect">
            <a:avLst/>
          </a:prstGeom>
        </p:spPr>
      </p:pic>
      <p:pic>
        <p:nvPicPr>
          <p:cNvPr id="21" name="map army al-Muhājir ؓ" descr="s06-nujayr-r1-5-a_006.png"/>
          <p:cNvPicPr>
            <a:picLocks noChangeAspect="1"/>
          </p:cNvPicPr>
          <p:nvPr/>
        </p:nvPicPr>
        <p:blipFill>
          <a:blip r:embed="rId11"/>
          <a:stretch>
            <a:fillRect/>
          </a:stretch>
        </p:blipFill>
        <p:spPr>
          <a:xfrm>
            <a:off x="2312569" y="2549610"/>
            <a:ext cx="2273768" cy="854678"/>
          </a:xfrm>
          <a:prstGeom prst="rect">
            <a:avLst/>
          </a:prstGeom>
        </p:spPr>
      </p:pic>
      <p:pic>
        <p:nvPicPr>
          <p:cNvPr id="22" name="map army Ziyād b. Labīd ؓ" descr="s06-nujayr-r1-5-a_008.png"/>
          <p:cNvPicPr>
            <a:picLocks noChangeAspect="1"/>
          </p:cNvPicPr>
          <p:nvPr/>
        </p:nvPicPr>
        <p:blipFill>
          <a:blip r:embed="rId12"/>
          <a:stretch>
            <a:fillRect/>
          </a:stretch>
        </p:blipFill>
        <p:spPr>
          <a:xfrm>
            <a:off x="5642591" y="2049703"/>
            <a:ext cx="1785956" cy="1209450"/>
          </a:xfrm>
          <a:prstGeom prst="rect">
            <a:avLst/>
          </a:prstGeom>
        </p:spPr>
      </p:pic>
      <p:pic>
        <p:nvPicPr>
          <p:cNvPr id="23" name="map army ʿIkrima ؓ" descr="s06-nujayr-r1-5-a_010.png"/>
          <p:cNvPicPr>
            <a:picLocks noChangeAspect="1"/>
          </p:cNvPicPr>
          <p:nvPr/>
        </p:nvPicPr>
        <p:blipFill>
          <a:blip r:embed="rId13"/>
          <a:stretch>
            <a:fillRect/>
          </a:stretch>
        </p:blipFill>
        <p:spPr>
          <a:xfrm>
            <a:off x="2941483" y="4339597"/>
            <a:ext cx="1923027" cy="854678"/>
          </a:xfrm>
          <a:prstGeom prst="rect">
            <a:avLst/>
          </a:prstGeom>
        </p:spPr>
      </p:pic>
      <p:pic>
        <p:nvPicPr>
          <p:cNvPr id="24" name="map label the siege grows hard" descr="s06-nujayr-r1-5-l_011.png"/>
          <p:cNvPicPr>
            <a:picLocks noChangeAspect="1"/>
          </p:cNvPicPr>
          <p:nvPr/>
        </p:nvPicPr>
        <p:blipFill>
          <a:blip r:embed="rId14"/>
          <a:stretch>
            <a:fillRect/>
          </a:stretch>
        </p:blipFill>
        <p:spPr>
          <a:xfrm>
            <a:off x="4727439" y="5020921"/>
            <a:ext cx="2757548" cy="338646"/>
          </a:xfrm>
          <a:prstGeom prst="rect">
            <a:avLst/>
          </a:prstGeom>
        </p:spPr>
      </p:pic>
      <p:pic>
        <p:nvPicPr>
          <p:cNvPr id="25" name="map label raiding parties" descr="s06-nujayr-r1-5-l_015.png"/>
          <p:cNvPicPr>
            <a:picLocks noChangeAspect="1"/>
          </p:cNvPicPr>
          <p:nvPr/>
        </p:nvPicPr>
        <p:blipFill>
          <a:blip r:embed="rId15"/>
          <a:stretch>
            <a:fillRect/>
          </a:stretch>
        </p:blipFill>
        <p:spPr>
          <a:xfrm>
            <a:off x="4316226" y="2468980"/>
            <a:ext cx="2003657" cy="338646"/>
          </a:xfrm>
          <a:prstGeom prst="rect">
            <a:avLst/>
          </a:prstGeom>
        </p:spPr>
      </p:pic>
      <p:pic>
        <p:nvPicPr>
          <p:cNvPr id="26" name="map label they come out — and go back in" descr="s06-nujayr-r1-5-l_017.png"/>
          <p:cNvPicPr>
            <a:picLocks noChangeAspect="1"/>
          </p:cNvPicPr>
          <p:nvPr/>
        </p:nvPicPr>
        <p:blipFill>
          <a:blip r:embed="rId16"/>
          <a:stretch>
            <a:fillRect/>
          </a:stretch>
        </p:blipFill>
        <p:spPr>
          <a:xfrm>
            <a:off x="3876792" y="5020921"/>
            <a:ext cx="4124228"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0" fill="hold">
                      <p:stCondLst>
                        <p:cond delay="indefinite"/>
                      </p:stCondLst>
                      <p:childTnLst>
                        <p:par>
                          <p:cTn id="21"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3"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548 -0.0212 L -0.0794 -0.0212 L 0.0000 0.0000 L 0 0 E" pathEditMode="relative" rAng="0" ptsTypes="">
                                      <p:cBhvr>
                                        <p:cTn id="14" dur="1600" fill="hold"/>
                                        <p:tgtEl>
                                          <p:spTgt spid="21"/>
                                        </p:tgtEl>
                                        <p:attrNameLst>
                                          <p:attrName>ppt_x</p:attrName>
                                          <p:attrName>ppt_y</p:attrName>
                                        </p:attrNameLst>
                                      </p:cBhvr>
                                    </p:animMotion>
                                  </p:childTnLst>
                                </p:cTn>
                              </p:par>
                              <p:par>
                                <p:cTn id="17"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9" presetID="0" presetClass="path" presetSubtype="0" fill="hold" grpId="0" nodeType="withEffect">
                                  <p:stCondLst>
                                    <p:cond delay="0"/>
                                  </p:stCondLst>
                                  <p:childTnLst>
                                    <p:animMotion origin="layout" path="M 0.1309 -0.0353 L 0.0675 -0.0282 L 0.0000 0.0000 L 0 0 E" pathEditMode="relative" rAng="0" ptsTypes="">
                                      <p:cBhvr>
                                        <p:cTn id="18" dur="1600" fill="hold"/>
                                        <p:tgtEl>
                                          <p:spTgt spid="22"/>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24" presetID="22" presetClass="entr" presetSubtype="8"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wipe(left)">
                                      <p:cBhvr>
                                        <p:cTn id="23" dur="1600"/>
                                        <p:tgtEl>
                                          <p:spTgt spid="16"/>
                                        </p:tgtEl>
                                      </p:cBhvr>
                                    </p:animEffect>
                                  </p:childTnLst>
                                </p:cTn>
                              </p:par>
                              <p:par>
                                <p:cTn id="26"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8" presetID="0" presetClass="path" presetSubtype="0" fill="hold" grpId="0" nodeType="withEffect">
                                  <p:stCondLst>
                                    <p:cond delay="0"/>
                                  </p:stCondLst>
                                  <p:childTnLst>
                                    <p:animMotion origin="layout" path="M -0.1984 0.0705 L -0.1032 0.0564 L 0.0000 0.0000 L 0 0 E" pathEditMode="relative" rAng="0" ptsTypes="">
                                      <p:cBhvr>
                                        <p:cTn id="27" dur="1600" fill="hold"/>
                                        <p:tgtEl>
                                          <p:spTgt spid="23"/>
                                        </p:tgtEl>
                                        <p:attrNameLst>
                                          <p:attrName>ppt_x</p:attrName>
                                          <p:attrName>ppt_y</p:attrName>
                                        </p:attrNameLst>
                                      </p:cBhvr>
                                    </p:animMotion>
                                  </p:childTnLst>
                                </p:cTn>
                              </p:par>
                              <p:par>
                                <p:cTn id="31"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1600"/>
                                        <p:tgtEl>
                                          <p:spTgt spid="17"/>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wipe(left)">
                                      <p:cBhvr>
                                        <p:cTn id="38" dur="1600"/>
                                        <p:tgtEl>
                                          <p:spTgt spid="18"/>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wipe(left)">
                                      <p:cBhvr>
                                        <p:cTn id="41" dur="1600"/>
                                        <p:tgtEl>
                                          <p:spTgt spid="19"/>
                                        </p:tgtEl>
                                      </p:cBhvr>
                                    </p:animEffect>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10" presetClass="exit" presetSubtype="0" fill="hold" grpId="0" nodeType="clickEffect">
                                  <p:stCondLst>
                                    <p:cond delay="0"/>
                                  </p:stCondLst>
                                  <p:childTnLst>
                                    <p:animEffect transition="out" filter="fade">
                                      <p:cBhvr>
                                        <p:cTn id="51" dur="600"/>
                                        <p:tgtEl>
                                          <p:spTgt spid="17"/>
                                        </p:tgtEl>
                                      </p:cBhvr>
                                    </p:animEffect>
                                    <p:set>
                                      <p:cBhvr>
                                        <p:cTn id="52" dur="1" fill="hold">
                                          <p:stCondLst>
                                            <p:cond delay="599"/>
                                          </p:stCondLst>
                                        </p:cTn>
                                        <p:tgtEl>
                                          <p:spTgt spid="17"/>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18"/>
                                        </p:tgtEl>
                                      </p:cBhvr>
                                    </p:animEffect>
                                    <p:set>
                                      <p:cBhvr>
                                        <p:cTn id="55" dur="1" fill="hold">
                                          <p:stCondLst>
                                            <p:cond delay="599"/>
                                          </p:stCondLst>
                                        </p:cTn>
                                        <p:tgtEl>
                                          <p:spTgt spid="18"/>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19"/>
                                        </p:tgtEl>
                                      </p:cBhvr>
                                    </p:animEffect>
                                    <p:set>
                                      <p:cBhvr>
                                        <p:cTn id="58" dur="1" fill="hold">
                                          <p:stCondLst>
                                            <p:cond delay="599"/>
                                          </p:stCondLst>
                                        </p:cTn>
                                        <p:tgtEl>
                                          <p:spTgt spid="19"/>
                                        </p:tgtEl>
                                        <p:attrNameLst>
                                          <p:attrName>style.visibility</p:attrName>
                                        </p:attrNameLst>
                                      </p:cBhvr>
                                      <p:to>
                                        <p:strVal val="hidden"/>
                                      </p:to>
                                    </p:se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600"/>
                                        <p:tgtEl>
                                          <p:spTgt spid="20"/>
                                        </p:tgtEl>
                                      </p:cBhvr>
                                    </p:animEffect>
                                  </p:childTnLst>
                                </p:cTn>
                              </p:par>
                              <p:par>
                                <p:cTn id="65" presetID="10" presetClass="exit" presetSubtype="0" fill="hold" grpId="0" nodeType="withEffect">
                                  <p:stCondLst>
                                    <p:cond delay="0"/>
                                  </p:stCondLst>
                                  <p:childTnLst>
                                    <p:animEffect transition="out" filter="fade">
                                      <p:cBhvr>
                                        <p:cTn id="63" dur="600"/>
                                        <p:tgtEl>
                                          <p:spTgt spid="25"/>
                                        </p:tgtEl>
                                      </p:cBhvr>
                                    </p:animEffect>
                                    <p:set>
                                      <p:cBhvr>
                                        <p:cTn id="64" dur="1" fill="hold">
                                          <p:stCondLst>
                                            <p:cond delay="599"/>
                                          </p:stCondLst>
                                        </p:cTn>
                                        <p:tgtEl>
                                          <p:spTgt spid="25"/>
                                        </p:tgtEl>
                                        <p:attrNameLst>
                                          <p:attrName>style.visibility</p:attrName>
                                        </p:attrNameLst>
                                      </p:cBhvr>
                                      <p:to>
                                        <p:strVal val="hidden"/>
                                      </p:to>
                                    </p:set>
                                  </p:childTnLst>
                                </p:cTn>
                              </p:par>
                              <p:par>
                                <p:cTn id="68"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part-ar"/>
          <p:cNvSpPr txBox="1"/>
          <p:nvPr/>
        </p:nvSpPr>
        <p:spPr>
          <a:xfrm>
            <a:off x="566928" y="2400300"/>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وَنَسِيَ الْأَشْعَثُ أَنْ يَكْتُبَ نَفْسَهُ لِأَنَّ جَحْدَمًا وَثَبَ عَلَيْهِ بِسِكِّينٍ، فَقَالَ: تَكْتُبُنِي أَوْ أَقْتُلُكَ؟</a:t>
            </a:r>
          </a:p>
        </p:txBody>
      </p:sp>
      <p:sp>
        <p:nvSpPr>
          <p:cNvPr id="8" name="part-en"/>
          <p:cNvSpPr txBox="1"/>
          <p:nvPr/>
        </p:nvSpPr>
        <p:spPr>
          <a:xfrm>
            <a:off x="566928" y="3122676"/>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Al-Ashʿath forgot to write himself in, because Jaḥdam leapt at him with a knife and said: Will you write me in, or shall I kill you?</a:t>
            </a:r>
          </a:p>
        </p:txBody>
      </p:sp>
      <p:sp>
        <p:nvSpPr>
          <p:cNvPr id="9" name="part-ar"/>
          <p:cNvSpPr txBox="1"/>
          <p:nvPr/>
        </p:nvSpPr>
        <p:spPr>
          <a:xfrm>
            <a:off x="566928" y="4079748"/>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فَكَتَبَهُ وَنَسِيَ نَفْسَهُ</a:t>
            </a:r>
          </a:p>
        </p:txBody>
      </p:sp>
      <p:sp>
        <p:nvSpPr>
          <p:cNvPr id="10" name="part-en"/>
          <p:cNvSpPr txBox="1"/>
          <p:nvPr/>
        </p:nvSpPr>
        <p:spPr>
          <a:xfrm>
            <a:off x="566928" y="4802124"/>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he wrote him in, and forgot himself.</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قَالَ: إِنَّمَا وَجَبَ الصُّلْحُ بَعْدَ خَتْمِ الصَّحِيفَةِ عَلَى مَنْ فِيهَا</a:t>
            </a:r>
          </a:p>
        </p:txBody>
      </p:sp>
      <p:sp>
        <p:nvSpPr>
          <p:cNvPr id="8" name="part-en"/>
          <p:cNvSpPr txBox="1"/>
          <p:nvPr/>
        </p:nvSpPr>
        <p:spPr>
          <a:xfrm>
            <a:off x="566928" y="29596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He said: The peace became binding, once the document was sealed, only on those named in it</a:t>
            </a:r>
          </a:p>
        </p:txBody>
      </p:sp>
      <p:sp>
        <p:nvSpPr>
          <p:cNvPr id="9" name="part-ar"/>
          <p:cNvSpPr txBox="1"/>
          <p:nvPr/>
        </p:nvSpPr>
        <p:spPr>
          <a:xfrm>
            <a:off x="566928" y="41767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وَإِنَّمَا كُنْتَ قَبْلَ ذَلِكَ مُرَاوِضًا.</a:t>
            </a:r>
          </a:p>
        </p:txBody>
      </p:sp>
      <p:sp>
        <p:nvSpPr>
          <p:cNvPr id="10" name="part-en"/>
          <p:cNvSpPr txBox="1"/>
          <p:nvPr/>
        </p:nvSpPr>
        <p:spPr>
          <a:xfrm>
            <a:off x="566928" y="50515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before that you were only negotiating.</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part-ar"/>
          <p:cNvSpPr txBox="1"/>
          <p:nvPr/>
        </p:nvSpPr>
        <p:spPr>
          <a:xfrm>
            <a:off x="566928" y="2170937"/>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وَاللهِ مَا كَفَرْتُ؛ وَلَكِنَّ هَذَا الرَّجُلَ زَوَّجَنِي أُخْتَهُ</a:t>
            </a:r>
          </a:p>
        </p:txBody>
      </p:sp>
      <p:sp>
        <p:nvSpPr>
          <p:cNvPr id="8" name="part-en"/>
          <p:cNvSpPr txBox="1"/>
          <p:nvPr/>
        </p:nvSpPr>
        <p:spPr>
          <a:xfrm>
            <a:off x="566928" y="3045713"/>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By God, I have not disbelieved. This man has married his sister to me</a:t>
            </a:r>
          </a:p>
        </p:txBody>
      </p:sp>
      <p:sp>
        <p:nvSpPr>
          <p:cNvPr id="9" name="part-ar"/>
          <p:cNvSpPr txBox="1"/>
          <p:nvPr/>
        </p:nvSpPr>
        <p:spPr>
          <a:xfrm>
            <a:off x="566928" y="3694429"/>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وَلَو كُنَّا فِي بِلاَدِنَا لَكَانَتْ لَنَا وَلِيْمَةٌ غَيْرُ هَذِهِ</a:t>
            </a:r>
          </a:p>
        </p:txBody>
      </p:sp>
      <p:sp>
        <p:nvSpPr>
          <p:cNvPr id="10" name="part-en"/>
          <p:cNvSpPr txBox="1"/>
          <p:nvPr/>
        </p:nvSpPr>
        <p:spPr>
          <a:xfrm>
            <a:off x="566928" y="4569205"/>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and had we been in our own country we would have had a wedding feast other than this one.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part-ar"/>
          <p:cNvSpPr txBox="1"/>
          <p:nvPr/>
        </p:nvSpPr>
        <p:spPr>
          <a:xfrm>
            <a:off x="566928" y="2251964"/>
            <a:ext cx="11057839" cy="17129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يَا أَهْلَ المَدِيْنَةِ، انْحَرُوا، وَكُلُوا! وَيَا أَهْلَ الإِبِلِ تَعَالَوْا خُذُوا شَرْوَاهَا!</a:t>
            </a:r>
          </a:p>
        </p:txBody>
      </p:sp>
      <p:sp>
        <p:nvSpPr>
          <p:cNvPr id="7" name="part-en"/>
          <p:cNvSpPr txBox="1"/>
          <p:nvPr/>
        </p:nvSpPr>
        <p:spPr>
          <a:xfrm>
            <a:off x="566928" y="39649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People of Medina — slaughter and eat! And owners of the camels, come and take the like of them!</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ولقد اتهمنا ثلاثةَ نفرٍ</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did suspect three men</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فما رأينا كما هجمنا عليهم من أمانتهم وزهدهم:</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when we came upon them we found nothing to match their trustworthiness and their abstinence: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طُلَيْحة بن خوَيْلد الأسدي، وعَمْرو بن معدي كرب، وقيس بن المكشوح.</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Ṭulayḥa b. Khuwaylid al-Asadī, ʿAmr b. Maʿdī Karib, and Qays b. al-Makshūḥ.</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Thaqīf, Najrān, the Azd: who did not break away (11 AH)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same months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Najrān, the Azd</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then Ḥaḍramawt: front after front</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same months — al-Ṭāʾif, Najrān, Oman</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question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who did not break — and why?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al-Ṭāʾif</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at al-Ṭāʾif</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al-Ṭāʾif. They had been Muslim for only two years.</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وقد كانت ثقيفُ بالطائف ثَبَتوا على الإسلام</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Thaqīf at Ṭāʾif had stood firm upon Islam:</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لم يفرُّوا ولا ارتدّوا</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did not flee and they did not apostatise.</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Thaqīf</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Najrān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Najrān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While Muslim tribes broke their word, a Christian community came to renew its own.</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أَرْسَلُوا وَفْدًا لِيُجَدِّدُوا عَهْدَهُمْ مَعَ أَبِي بَكْرٍ</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They sent a delegation to renew their covenant with Abū Bakr</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فَكَتَبَ بِذَلِكَ كِتَابًا</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wrote a document to that effect.</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Najrān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One tribe, in one month.</a:t>
            </a:r>
          </a:p>
        </p:txBody>
      </p:sp>
      <p:sp>
        <p:nvSpPr>
          <p:cNvPr id="7" name="part-ar"/>
          <p:cNvSpPr txBox="1"/>
          <p:nvPr/>
        </p:nvSpPr>
        <p:spPr>
          <a:xfrm>
            <a:off x="566928" y="313080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كانت بنو تميم قد اختلفتْ أراؤُهم أيام الرِّدَّة</a:t>
            </a:r>
          </a:p>
        </p:txBody>
      </p:sp>
      <p:sp>
        <p:nvSpPr>
          <p:cNvPr id="8" name="part-en"/>
          <p:cNvSpPr txBox="1"/>
          <p:nvPr/>
        </p:nvSpPr>
        <p:spPr>
          <a:xfrm>
            <a:off x="566928" y="4005580"/>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The views of Banū Tamīm differed in the days of the ridda:</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فمنهم من ارتدَّ ومنعَ الزكاة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some of them apostatised and withheld the zakāt</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ومنهم منْ بعثَ بأموالِ الصَّدقات إلى الصدِّيق</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some of them sent the ṣadaqa monies to al-Ṣiddīq</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ومنهم من توقف لينظر في أمره.</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and some of them held back to see how the matter would go.</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tribes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of the men who refused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men who withheld the zakāt, in their own words.</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أطعنَا رسولَ اللهِ إذْ كانَ بَيْننا</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We obeyed the Messenger of Allah while he was among us</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فواعَجَبًا ما بَالُ مُلْكِ أبي بَكْرِ</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how strange: what is this about the rule of Abū Bakr?</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verse of the tribes that refused, as Ibn Kathīr records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Oman and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 Medina, and Oman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Azd of Oman — kin to the Anṣār of Medina.</a:t>
            </a:r>
          </a:p>
        </p:txBody>
      </p:sp>
      <p:sp>
        <p:nvSpPr>
          <p:cNvPr id="7" name="part-ar"/>
          <p:cNvSpPr txBox="1"/>
          <p:nvPr/>
        </p:nvSpPr>
        <p:spPr>
          <a:xfrm>
            <a:off x="566928" y="232409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فنبغَ فيهم رجلٌ يقالَ له: ذو التاج لَقيطُ بن مالك الأَزدي</a:t>
            </a:r>
          </a:p>
        </p:txBody>
      </p:sp>
      <p:sp>
        <p:nvSpPr>
          <p:cNvPr id="8" name="part-en"/>
          <p:cNvSpPr txBox="1"/>
          <p:nvPr/>
        </p:nvSpPr>
        <p:spPr>
          <a:xfrm>
            <a:off x="566928" y="3122675"/>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There arose among them a man called Dhū al-Tāj, Laqīṭ b. Mālik al-Azdī</a:t>
            </a:r>
          </a:p>
        </p:txBody>
      </p:sp>
      <p:sp>
        <p:nvSpPr>
          <p:cNvPr id="9" name="part-ar"/>
          <p:cNvSpPr txBox="1"/>
          <p:nvPr/>
        </p:nvSpPr>
        <p:spPr>
          <a:xfrm>
            <a:off x="566928" y="368350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وكان يُسَمَّى في الجاهلية الجُلَنْدَى، فادّعى النُّبوَّة أيضًا</a:t>
            </a:r>
          </a:p>
        </p:txBody>
      </p:sp>
      <p:sp>
        <p:nvSpPr>
          <p:cNvPr id="10" name="part-en"/>
          <p:cNvSpPr txBox="1"/>
          <p:nvPr/>
        </p:nvSpPr>
        <p:spPr>
          <a:xfrm>
            <a:off x="566928" y="448208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who used to be called al-Julandā in the Jāhiliyya — and he too claimed prophethood.</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Oman</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part-ar"/>
          <p:cNvSpPr txBox="1"/>
          <p:nvPr/>
        </p:nvSpPr>
        <p:spPr>
          <a:xfrm>
            <a:off x="566928" y="22021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ما من ناحية من جزيرة العرب إلا وحصلَ في أهلها ردَّةٌ لبعض الناس</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There was no region of the Arabian peninsula in which apostasy did not occur among some of its people</a:t>
            </a:r>
          </a:p>
        </p:txBody>
      </p:sp>
      <p:sp>
        <p:nvSpPr>
          <p:cNvPr id="9" name="part-ar"/>
          <p:cNvSpPr txBox="1"/>
          <p:nvPr/>
        </p:nvSpPr>
        <p:spPr>
          <a:xfrm>
            <a:off x="566928" y="38816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فبعثَ الصدِّيقُ إليهم جيوشًا وأمراء يكونون عونًا لمن في تلك الناحية من المؤمنين</a:t>
            </a:r>
          </a:p>
        </p:txBody>
      </p:sp>
      <p:sp>
        <p:nvSpPr>
          <p:cNvPr id="10" name="part-en"/>
          <p:cNvSpPr txBox="1"/>
          <p:nvPr/>
        </p:nvSpPr>
        <p:spPr>
          <a:xfrm>
            <a:off x="566928" y="46040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al-Ṣiddīq sent them armies and commanders to be a support to whichever believers were in that region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part-ar"/>
          <p:cNvSpPr txBox="1"/>
          <p:nvPr/>
        </p:nvSpPr>
        <p:spPr>
          <a:xfrm>
            <a:off x="566928" y="2080259"/>
            <a:ext cx="11057839" cy="14081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لَقَدْ قُمْنَا بَعْدَ رَسُولِ اللَّهِ - صَلَّى اللَّهُ عَلَيْهِ وَسَلَّمَ - مَقَامًا كِدْنَا نَهْلِكُ فِيهِ، لَوْلَا أَنَّ اللَّهَ مَنَّ عَلَيْنَا بِأَبِي بَكْرٍ</a:t>
            </a:r>
          </a:p>
        </p:txBody>
      </p:sp>
      <p:sp>
        <p:nvSpPr>
          <p:cNvPr id="8" name="part-en"/>
          <p:cNvSpPr txBox="1"/>
          <p:nvPr/>
        </p:nvSpPr>
        <p:spPr>
          <a:xfrm>
            <a:off x="566928" y="348843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Traditional Arabic"/>
              </a:rPr>
              <a:t>We stood, after the Messenger of Allah ﷺ, in a position in which we nearly perished, had Allah not favoured us with Abū Bakr.</a:t>
            </a:r>
          </a:p>
        </p:txBody>
      </p:sp>
      <p:sp>
        <p:nvSpPr>
          <p:cNvPr id="9" name="part-ar"/>
          <p:cNvSpPr txBox="1"/>
          <p:nvPr/>
        </p:nvSpPr>
        <p:spPr>
          <a:xfrm>
            <a:off x="566928" y="439978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أَجْمَعْنَا عَلَى أَنْ لَا نُقَاتِلَ عَلَى ابْنَةِ مَخَاضٍ وَابْنَةِ لَبُون</a:t>
            </a:r>
          </a:p>
        </p:txBody>
      </p:sp>
      <p:sp>
        <p:nvSpPr>
          <p:cNvPr id="10" name="part-en"/>
          <p:cNvSpPr txBox="1"/>
          <p:nvPr/>
        </p:nvSpPr>
        <p:spPr>
          <a:xfrm>
            <a:off x="566928" y="5122163"/>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We had agreed not to fight over a bint makhāḍ or a bint labūn</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part-ar"/>
          <p:cNvSpPr txBox="1"/>
          <p:nvPr/>
        </p:nvSpPr>
        <p:spPr>
          <a:xfrm>
            <a:off x="566928" y="2125979"/>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لَا أَسْتَعْمِلُ أَهْلَ بَدْرٍ، أَدَعُهُمْ حَتَّى يَلْقَوُا اللَّهَ بِصَالِحِ أَعْمَالِهِمْ</a:t>
            </a:r>
          </a:p>
        </p:txBody>
      </p:sp>
      <p:sp>
        <p:nvSpPr>
          <p:cNvPr id="8" name="part-en"/>
          <p:cNvSpPr txBox="1"/>
          <p:nvPr/>
        </p:nvSpPr>
        <p:spPr>
          <a:xfrm>
            <a:off x="566928" y="29245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do not put the men of Badr into office. I leave them so they may meet Allah with their good deeds</a:t>
            </a:r>
          </a:p>
        </p:txBody>
      </p:sp>
      <p:sp>
        <p:nvSpPr>
          <p:cNvPr id="9" name="part-ar"/>
          <p:cNvSpPr txBox="1"/>
          <p:nvPr/>
        </p:nvSpPr>
        <p:spPr>
          <a:xfrm>
            <a:off x="566928" y="3881627"/>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فَإِنَّ اللَّهَ يَدْفَعُ بِهِمْ وَبِالصَّالِحِينَ أَكْثَرَ مِمَّا يَنْتَصِرُ بِهِمْ.</a:t>
            </a:r>
          </a:p>
        </p:txBody>
      </p:sp>
      <p:sp>
        <p:nvSpPr>
          <p:cNvPr id="10" name="part-en"/>
          <p:cNvSpPr txBox="1"/>
          <p:nvPr/>
        </p:nvSpPr>
        <p:spPr>
          <a:xfrm>
            <a:off x="566928" y="46802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for Allah wards off by them and by the righteous more than He gives victory through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وَكَانَ عُمَرُ يَرَى اسْتِعْمَالَهُمْ عَلَى الْجُنْدِ وَغَيْرِهِ.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ʿUmar held that they should be employed over the troops and otherwise.</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tied by Abū Bakr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sent by Abū Bakr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every sector settled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Ibn Khaldūn: why Arabia did not break again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Seven centuries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Khaldūn — as he reads it</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 historian, seven centuries later, asks how it was possible.</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أنّ الصّبغة الدّينيّة تذهب بالتنافس والتّحاسد الّذي في أهل العصبيّة</a:t>
            </a:r>
          </a:p>
        </p:txBody>
      </p:sp>
      <p:sp>
        <p:nvSpPr>
          <p:cNvPr id="8" name="part-en"/>
          <p:cNvSpPr txBox="1"/>
          <p:nvPr/>
        </p:nvSpPr>
        <p:spPr>
          <a:xfrm>
            <a:off x="566928" y="2959608"/>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Traditional Arabic"/>
              </a:rPr>
              <a:t>the religious colouring takes away the rivalry and mutual envy that are in people of عصبية</a:t>
            </a:r>
          </a:p>
        </p:txBody>
      </p:sp>
      <p:sp>
        <p:nvSpPr>
          <p:cNvPr id="9" name="part-ar"/>
          <p:cNvSpPr txBox="1"/>
          <p:nvPr/>
        </p:nvSpPr>
        <p:spPr>
          <a:xfrm>
            <a:off x="566928" y="417677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وتفرد الوجهة إلى الحق</a:t>
            </a:r>
          </a:p>
        </p:txBody>
      </p:sp>
      <p:sp>
        <p:nvSpPr>
          <p:cNvPr id="10" name="part-en"/>
          <p:cNvSpPr txBox="1"/>
          <p:nvPr/>
        </p:nvSpPr>
        <p:spPr>
          <a:xfrm>
            <a:off x="566928" y="505155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makes their direction single, towards the truth</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Khaldūn — as he reads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Persia and Rome: the other side of the desert (12 AH)</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other side of the desert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and Rome — beyond Arabia</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PERSIA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al-Madāʾin — the house of Kisrā</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ROME</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Heraclius — Syria is his</a:t>
            </a:r>
          </a:p>
        </p:txBody>
      </p:sp>
      <p:pic>
        <p:nvPicPr>
          <p:cNvPr id="13" name="map label killed by his own son" descr="s06-empires-r1-3-l_013.png"/>
          <p:cNvPicPr>
            <a:picLocks noChangeAspect="1"/>
          </p:cNvPicPr>
          <p:nvPr/>
        </p:nvPicPr>
        <p:blipFill>
          <a:blip r:embed="rId3"/>
          <a:stretch>
            <a:fillRect/>
          </a:stretch>
        </p:blipFill>
        <p:spPr>
          <a:xfrm>
            <a:off x="4344446" y="3396225"/>
            <a:ext cx="2793832" cy="338646"/>
          </a:xfrm>
          <a:prstGeom prst="rect">
            <a:avLst/>
          </a:prstGeom>
        </p:spPr>
      </p:pic>
      <p:pic>
        <p:nvPicPr>
          <p:cNvPr id="14" name="map label Heraclius" descr="s06-empires-r1-3-l_014.png"/>
          <p:cNvPicPr>
            <a:picLocks noChangeAspect="1"/>
          </p:cNvPicPr>
          <p:nvPr/>
        </p:nvPicPr>
        <p:blipFill>
          <a:blip r:embed="rId4"/>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0" presetID="10" presetClass="exit" presetSubtype="0" fill="hold" grpId="0" nodeType="clickEffect">
                                  <p:stCondLst>
                                    <p:cond delay="0"/>
                                  </p:stCondLst>
                                  <p:childTnLst>
                                    <p:animEffect transition="out" filter="fade">
                                      <p:cBhvr>
                                        <p:cTn id="8" dur="600"/>
                                        <p:tgtEl>
                                          <p:spTgt spid="13"/>
                                        </p:tgtEl>
                                      </p:cBhvr>
                                    </p:animEffect>
                                    <p:set>
                                      <p:cBhvr>
                                        <p:cTn id="9" dur="1" fill="hold">
                                          <p:stCondLst>
                                            <p:cond delay="599"/>
                                          </p:stCondLst>
                                        </p:cTn>
                                        <p:tgtEl>
                                          <p:spTgt spid="13"/>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part-ar"/>
          <p:cNvSpPr txBox="1"/>
          <p:nvPr/>
        </p:nvSpPr>
        <p:spPr>
          <a:xfrm>
            <a:off x="566928" y="1646681"/>
            <a:ext cx="11057839" cy="1560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لَمْ يَبْقَ إِلَّا غُلَامٌ يُدْعَى يَزْدَجِرْدَ مِنْ وَلَدِ شَهْرَيَارَ بْنِ كِسْرَى، وَأُمُّهُ مِنْ أَهْلِ بَادُورَيَا.</a:t>
            </a:r>
          </a:p>
        </p:txBody>
      </p:sp>
      <p:sp>
        <p:nvSpPr>
          <p:cNvPr id="7" name="part-en"/>
          <p:cNvSpPr txBox="1"/>
          <p:nvPr/>
        </p:nvSpPr>
        <p:spPr>
          <a:xfrm>
            <a:off x="566928" y="3207257"/>
            <a:ext cx="11057839" cy="91338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“None is left but a boy called Yazdagird, of the line of Shahriyār son of Kisrā; his mother is of the people of Bādūrayā.”</a:t>
            </a:r>
          </a:p>
        </p:txBody>
      </p:sp>
      <p:sp>
        <p:nvSpPr>
          <p:cNvPr id="8" name="part-ar"/>
          <p:cNvSpPr txBox="1"/>
          <p:nvPr/>
        </p:nvSpPr>
        <p:spPr>
          <a:xfrm>
            <a:off x="566928" y="4266945"/>
            <a:ext cx="11057839" cy="798576"/>
          </a:xfrm>
          <a:prstGeom prst="rect">
            <a:avLst/>
          </a:prstGeom>
          <a:noFill/>
        </p:spPr>
        <p:txBody>
          <a:bodyPr wrap="square" anchor="t" lIns="36576" rIns="36576" tIns="0" bIns="0">
            <a:spAutoFit/>
          </a:bodyPr>
          <a:lstStyle/>
          <a:p>
            <a:pPr algn="ctr" rtl="1">
              <a:lnSpc>
                <a:spcPct val="150000"/>
              </a:lnSpc>
            </a:pPr>
            <a:r>
              <a:rPr sz="4000" b="0" i="0" lang="ar-SA">
                <a:solidFill>
                  <a:srgbClr val="0A322E"/>
                </a:solidFill>
                <a:latin typeface="Traditional Arabic"/>
                <a:cs typeface="Traditional Arabic"/>
              </a:rPr>
              <a:t>فَأَرْسَلُوا إِلَيْهَا وَطَلَبُوهُ مِنْهَا</a:t>
            </a:r>
          </a:p>
        </p:txBody>
      </p:sp>
      <p:sp>
        <p:nvSpPr>
          <p:cNvPr id="9" name="part-en"/>
          <p:cNvSpPr txBox="1"/>
          <p:nvPr/>
        </p:nvSpPr>
        <p:spPr>
          <a:xfrm>
            <a:off x="566928" y="5065521"/>
            <a:ext cx="11057839" cy="484124"/>
          </a:xfrm>
          <a:prstGeom prst="rect">
            <a:avLst/>
          </a:prstGeom>
          <a:noFill/>
        </p:spPr>
        <p:txBody>
          <a:bodyPr wrap="square" anchor="t" lIns="36576" rIns="36576" tIns="0" bIns="0">
            <a:spAutoFit/>
          </a:bodyPr>
          <a:lstStyle/>
          <a:p>
            <a:pPr algn="ctr">
              <a:lnSpc>
                <a:spcPct val="130000"/>
              </a:lnSpc>
            </a:pPr>
            <a:r>
              <a:rPr sz="2600" b="0" i="1">
                <a:solidFill>
                  <a:srgbClr val="1C2321"/>
                </a:solidFill>
                <a:latin typeface="Georgia"/>
                <a:cs typeface="Georgia"/>
              </a:rPr>
              <a:t>So they sent to her and asked her for him.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12–13 AH, al-Madāʾin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Kisrā</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وَكَانَتْ قَدْ أَنْزَلَتْهُ أَيَّامَ شِيرَى حِينَ جَمَعَهُنَّ فَقَتَلَ الذُّكُورَ، وَأَرْسَلَتْهُ إِلَى أَخْوَالِهِ</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She had got him away in the days of Shīrā — when he gathered them and killed the males — and had sent him to his mother's brothers.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فَلَمَّا سَأَلُوهَا عَنْهُ دَلَّتْهُمْ عَلَيْهِ، فَجَاءُوا بِهِ فَمَلَّكُوهُ وَهُوَ ابْنُ إِحْدَى وَعِشْرِينَ سَنَة</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When they asked her about him she led them to him; and they brought him and made him king, at twenty-one.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how Persia found its last king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284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Iraq and Syria: two letters leave, and what each empire heard (12–13 AH)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pic>
        <p:nvPicPr>
          <p:cNvPr id="6" name="map" descr="s06-empires-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ordered to Iraq, from its lower end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Persia's capital — he is not sent there</a:t>
            </a:r>
          </a:p>
        </p:txBody>
      </p:sp>
      <p:pic>
        <p:nvPicPr>
          <p:cNvPr id="13" name="map arrow a_015" descr="s06-empires-r3-4-a_015.png"/>
          <p:cNvPicPr>
            <a:picLocks noChangeAspect="1"/>
          </p:cNvPicPr>
          <p:nvPr/>
        </p:nvPicPr>
        <p:blipFill>
          <a:blip r:embed="rId3"/>
          <a:stretch>
            <a:fillRect/>
          </a:stretch>
        </p:blipFill>
        <p:spPr>
          <a:xfrm>
            <a:off x="4574242" y="3492981"/>
            <a:ext cx="419276" cy="717607"/>
          </a:xfrm>
          <a:prstGeom prst="rect">
            <a:avLst/>
          </a:prstGeom>
        </p:spPr>
      </p:pic>
      <p:pic>
        <p:nvPicPr>
          <p:cNvPr id="14" name="map army Khālid ؓ" descr="s06-empires-r3-4-a_016.png"/>
          <p:cNvPicPr>
            <a:picLocks noChangeAspect="1"/>
          </p:cNvPicPr>
          <p:nvPr/>
        </p:nvPicPr>
        <p:blipFill>
          <a:blip r:embed="rId4"/>
          <a:stretch>
            <a:fillRect/>
          </a:stretch>
        </p:blipFill>
        <p:spPr>
          <a:xfrm>
            <a:off x="4505707" y="2803594"/>
            <a:ext cx="1830302" cy="854678"/>
          </a:xfrm>
          <a:prstGeom prst="rect">
            <a:avLst/>
          </a:prstGeom>
        </p:spPr>
      </p:pic>
      <p:pic>
        <p:nvPicPr>
          <p:cNvPr id="15" name="map label Heraclius" descr="s06-empires-r1-3-l_014.png"/>
          <p:cNvPicPr>
            <a:picLocks noChangeAspect="1"/>
          </p:cNvPicPr>
          <p:nvPr/>
        </p:nvPicPr>
        <p:blipFill>
          <a:blip r:embed="rId5"/>
          <a:stretch>
            <a:fillRect/>
          </a:stretch>
        </p:blipFill>
        <p:spPr>
          <a:xfrm>
            <a:off x="1611087" y="2352066"/>
            <a:ext cx="1350553"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61 0.0869 L -0.0030 0.0414 L 0.0000 0.0000 L 0 0 E" pathEditMode="relative" rAng="0" ptsTypes="">
                                      <p:cBhvr>
                                        <p:cTn id="8" dur="1600" fill="hold"/>
                                        <p:tgtEl>
                                          <p:spTgt spid="14"/>
                                        </p:tgtEl>
                                        <p:attrNameLst>
                                          <p:attrName>ppt_x</p:attrName>
                                          <p:attrName>ppt_y</p:attrName>
                                        </p:attrNameLst>
                                      </p:cBhvr>
                                    </p:animMotion>
                                  </p:childTnLst>
                                </p:cTn>
                              </p:par>
                              <p:par>
                                <p:cTn id="12" presetID="10" presetClass="exit" presetSubtype="0" fill="hold" grpId="0" nodeType="withEffect">
                                  <p:stCondLst>
                                    <p:cond delay="0"/>
                                  </p:stCondLst>
                                  <p:childTnLst>
                                    <p:animEffect transition="out" filter="fade">
                                      <p:cBhvr>
                                        <p:cTn id="10" dur="600"/>
                                        <p:tgtEl>
                                          <p:spTgt spid="15"/>
                                        </p:tgtEl>
                                      </p:cBhvr>
                                    </p:animEffect>
                                    <p:set>
                                      <p:cBhvr>
                                        <p:cTn id="11" dur="1" fill="hold">
                                          <p:stCondLst>
                                            <p:cond delay="5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 يَتألَّفَ الناسَ ويدعوهم إلى الله عز وجل</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…that he should win the people over and call them to God</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أجابوا وإلا أخذ منهم الجزيةَ فإن امتنعوا عن ذلك قاتلهم</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they answered, well, and if not, take the jizya from them; and if they refused that, fight them.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Muḥarram 12 AH, al-Yamāma to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order to Iraq</a:t>
            </a:r>
          </a:p>
        </p:txBody>
      </p:sp>
      <p:sp>
        <p:nvSpPr>
          <p:cNvPr id="6" name="part-ar"/>
          <p:cNvSpPr txBox="1"/>
          <p:nvPr/>
        </p:nvSpPr>
        <p:spPr>
          <a:xfrm>
            <a:off x="566928" y="18562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وأمره أن لا يُكْرِه أحدًا على المسير معه</a:t>
            </a:r>
          </a:p>
        </p:txBody>
      </p:sp>
      <p:sp>
        <p:nvSpPr>
          <p:cNvPr id="7" name="part-en"/>
          <p:cNvSpPr txBox="1"/>
          <p:nvPr/>
        </p:nvSpPr>
        <p:spPr>
          <a:xfrm>
            <a:off x="566928" y="27310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he ordered him not to compel anyone to march with him</a:t>
            </a:r>
          </a:p>
        </p:txBody>
      </p:sp>
      <p:sp>
        <p:nvSpPr>
          <p:cNvPr id="8" name="part-ar"/>
          <p:cNvSpPr txBox="1"/>
          <p:nvPr/>
        </p:nvSpPr>
        <p:spPr>
          <a:xfrm>
            <a:off x="566928" y="34858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ولا يستعينُ بمنِ ارتدّ عن الإسلام وإن كان [قد] عاد إليه</a:t>
            </a:r>
          </a:p>
        </p:txBody>
      </p:sp>
      <p:sp>
        <p:nvSpPr>
          <p:cNvPr id="9" name="part-en"/>
          <p:cNvSpPr txBox="1"/>
          <p:nvPr/>
        </p:nvSpPr>
        <p:spPr>
          <a:xfrm>
            <a:off x="566928" y="43606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not to make use of any man who had apostatised from Islam, even if he had returned to it.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Abū Bakr ؓ ordered Khālid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pic>
        <p:nvPicPr>
          <p:cNvPr id="6" name="map" descr="s06-empires-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leave by four roads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provinces given, none yet taken</a:t>
            </a:r>
          </a:p>
        </p:txBody>
      </p:sp>
      <p:pic>
        <p:nvPicPr>
          <p:cNvPr id="13" name="map arrow a_015" descr="s06-empires-r3-4-a_015.png"/>
          <p:cNvPicPr>
            <a:picLocks noChangeAspect="1"/>
          </p:cNvPicPr>
          <p:nvPr/>
        </p:nvPicPr>
        <p:blipFill>
          <a:blip r:embed="rId3"/>
          <a:stretch>
            <a:fillRect/>
          </a:stretch>
        </p:blipFill>
        <p:spPr>
          <a:xfrm>
            <a:off x="4574242" y="3492981"/>
            <a:ext cx="419276" cy="717607"/>
          </a:xfrm>
          <a:prstGeom prst="rect">
            <a:avLst/>
          </a:prstGeom>
        </p:spPr>
      </p:pic>
      <p:pic>
        <p:nvPicPr>
          <p:cNvPr id="14" name="map arrow a_017" descr="s06-empires-r4-5-a_017.png"/>
          <p:cNvPicPr>
            <a:picLocks noChangeAspect="1"/>
          </p:cNvPicPr>
          <p:nvPr/>
        </p:nvPicPr>
        <p:blipFill>
          <a:blip r:embed="rId4"/>
          <a:stretch>
            <a:fillRect/>
          </a:stretch>
        </p:blipFill>
        <p:spPr>
          <a:xfrm>
            <a:off x="3243846" y="3291406"/>
            <a:ext cx="588599" cy="919182"/>
          </a:xfrm>
          <a:prstGeom prst="rect">
            <a:avLst/>
          </a:prstGeom>
        </p:spPr>
      </p:pic>
      <p:pic>
        <p:nvPicPr>
          <p:cNvPr id="15" name="map arrow a_018" descr="s06-empires-r4-5-a_018.png"/>
          <p:cNvPicPr>
            <a:picLocks noChangeAspect="1"/>
          </p:cNvPicPr>
          <p:nvPr/>
        </p:nvPicPr>
        <p:blipFill>
          <a:blip r:embed="rId5"/>
          <a:stretch>
            <a:fillRect/>
          </a:stretch>
        </p:blipFill>
        <p:spPr>
          <a:xfrm>
            <a:off x="3348665" y="3190619"/>
            <a:ext cx="487811" cy="1019970"/>
          </a:xfrm>
          <a:prstGeom prst="rect">
            <a:avLst/>
          </a:prstGeom>
        </p:spPr>
      </p:pic>
      <p:pic>
        <p:nvPicPr>
          <p:cNvPr id="16" name="map arrow a_019" descr="s06-empires-r4-5-a_019.png"/>
          <p:cNvPicPr>
            <a:picLocks noChangeAspect="1"/>
          </p:cNvPicPr>
          <p:nvPr/>
        </p:nvPicPr>
        <p:blipFill>
          <a:blip r:embed="rId6"/>
          <a:stretch>
            <a:fillRect/>
          </a:stretch>
        </p:blipFill>
        <p:spPr>
          <a:xfrm>
            <a:off x="3461547" y="3109988"/>
            <a:ext cx="374929" cy="1100600"/>
          </a:xfrm>
          <a:prstGeom prst="rect">
            <a:avLst/>
          </a:prstGeom>
        </p:spPr>
      </p:pic>
      <p:pic>
        <p:nvPicPr>
          <p:cNvPr id="17" name="map arrow a_020" descr="s06-empires-r4-5-a_020.png"/>
          <p:cNvPicPr>
            <a:picLocks noChangeAspect="1"/>
          </p:cNvPicPr>
          <p:nvPr/>
        </p:nvPicPr>
        <p:blipFill>
          <a:blip r:embed="rId7"/>
          <a:stretch>
            <a:fillRect/>
          </a:stretch>
        </p:blipFill>
        <p:spPr>
          <a:xfrm>
            <a:off x="3570398" y="3009201"/>
            <a:ext cx="286236" cy="1197356"/>
          </a:xfrm>
          <a:prstGeom prst="rect">
            <a:avLst/>
          </a:prstGeom>
        </p:spPr>
      </p:pic>
      <p:pic>
        <p:nvPicPr>
          <p:cNvPr id="18" name="map label four roads" descr="s06-empires-r4-5-l_021.png"/>
          <p:cNvPicPr>
            <a:picLocks noChangeAspect="1"/>
          </p:cNvPicPr>
          <p:nvPr/>
        </p:nvPicPr>
        <p:blipFill>
          <a:blip r:embed="rId8"/>
          <a:stretch>
            <a:fillRect/>
          </a:stretch>
        </p:blipFill>
        <p:spPr>
          <a:xfrm>
            <a:off x="3074523"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4"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600"/>
                                        <p:tgtEl>
                                          <p:spTgt spid="14"/>
                                        </p:tgtEl>
                                      </p:cBhvr>
                                    </p:animEffect>
                                  </p:childTnLst>
                                </p:cTn>
                              </p:par>
                              <p:par>
                                <p:cTn id="11" presetID="22" presetClass="entr" presetSubtype="4"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Syria — four commanders, four roads</a:t>
            </a:r>
          </a:p>
        </p:txBody>
      </p:sp>
      <p:sp>
        <p:nvSpPr>
          <p:cNvPr id="6" name="part-ar"/>
          <p:cNvSpPr txBox="1"/>
          <p:nvPr/>
        </p:nvSpPr>
        <p:spPr>
          <a:xfrm>
            <a:off x="566928" y="20873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وَقَالَ يَابَنِيَّ لَا تَدْخُلُوا</a:t>
            </a:r>
          </a:p>
        </p:txBody>
      </p:sp>
      <p:sp>
        <p:nvSpPr>
          <p:cNvPr id="7" name="part-en"/>
          <p:cNvSpPr txBox="1"/>
          <p:nvPr/>
        </p:nvSpPr>
        <p:spPr>
          <a:xfrm>
            <a:off x="566928" y="29621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O my sons, do not enter</a:t>
            </a:r>
          </a:p>
        </p:txBody>
      </p:sp>
      <p:sp>
        <p:nvSpPr>
          <p:cNvPr id="8" name="part-ar"/>
          <p:cNvSpPr txBox="1"/>
          <p:nvPr/>
        </p:nvSpPr>
        <p:spPr>
          <a:xfrm>
            <a:off x="566928" y="37170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مِنْ بَابٍ وَاحِدٍ وَادْخُلُوا مِنْ أَبْوَابٍ مُتَفَرِّقَة</a:t>
            </a:r>
          </a:p>
        </p:txBody>
      </p:sp>
      <p:sp>
        <p:nvSpPr>
          <p:cNvPr id="9" name="part-en"/>
          <p:cNvSpPr txBox="1"/>
          <p:nvPr/>
        </p:nvSpPr>
        <p:spPr>
          <a:xfrm>
            <a:off x="566928" y="45918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by one gate; enter by separate gates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Yaʿqūb, peace be upon him, to his sons — Sūrat Yūsuf 67</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pp. 83–84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Abū Bakr ؓ, on foot, beside Yazīd's ؓ horse.</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قَدْ وَلَّيْتُكَ لِأَبْلُوَكَ وَأُجَرِّبَكَ وَأُخَرِّجَكَ</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have put you in office to test you, to try you and to bring you out.</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فَإِنْ أَحْسَنْتَ رَدَدْتُكَ إِلَى عَمَلِكَ وَزِدْتُكَ، وَإِنْ أَسَأْتَ عَزَلْتُك</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If you do well I will return you to your post and add to it; and if you do badly I will dismiss you</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leaving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to Yazīd b. Abī Sufyān ؓ</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 فَإِيَّاكَ وَعُبِّيَّةَ الْجَاهِلِيَّةِ، فَإِنَّ اللَّهَ يُبْغِضُهَا وَيُبْغِضُ أَهْلَهَا</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 And beware the arrogance of the Jāhiliyya — God hates it, and hates those who carry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Yazīd b. Abī Sufyān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Offered the Syrian command — and left free to keep the post he had.</a:t>
            </a:r>
          </a:p>
        </p:txBody>
      </p:sp>
      <p:sp>
        <p:nvSpPr>
          <p:cNvPr id="7" name="part-ar"/>
          <p:cNvSpPr txBox="1"/>
          <p:nvPr/>
        </p:nvSpPr>
        <p:spPr>
          <a:xfrm>
            <a:off x="566928" y="208483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إِنِّي سَهْمٌ مِنْ سِهَامِ الْإِسْلَامِ</a:t>
            </a:r>
          </a:p>
        </p:txBody>
      </p:sp>
      <p:sp>
        <p:nvSpPr>
          <p:cNvPr id="8" name="part-en"/>
          <p:cNvSpPr txBox="1"/>
          <p:nvPr/>
        </p:nvSpPr>
        <p:spPr>
          <a:xfrm>
            <a:off x="566928" y="295960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I am one arrow of the arrows of Islam</a:t>
            </a:r>
          </a:p>
        </p:txBody>
      </p:sp>
      <p:sp>
        <p:nvSpPr>
          <p:cNvPr id="9" name="part-ar"/>
          <p:cNvSpPr txBox="1"/>
          <p:nvPr/>
        </p:nvSpPr>
        <p:spPr>
          <a:xfrm>
            <a:off x="566928" y="371449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وَأَنْتَ بَعْدَ اللَّهِ الرَّامِي بِهَا وَالْجَامِعُ لَهَا</a:t>
            </a:r>
          </a:p>
        </p:txBody>
      </p:sp>
      <p:sp>
        <p:nvSpPr>
          <p:cNvPr id="10" name="part-en"/>
          <p:cNvSpPr txBox="1"/>
          <p:nvPr/>
        </p:nvSpPr>
        <p:spPr>
          <a:xfrm>
            <a:off x="566928" y="4589272"/>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you — after God — are the one who shoots them and the one who gathers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ʿAmr b. al-ʿĀṣ ؓ — one arrow</a:t>
            </a:r>
          </a:p>
        </p:txBody>
      </p:sp>
      <p:sp>
        <p:nvSpPr>
          <p:cNvPr id="6" name="part-ar"/>
          <p:cNvSpPr txBox="1"/>
          <p:nvPr/>
        </p:nvSpPr>
        <p:spPr>
          <a:xfrm>
            <a:off x="566928" y="2671064"/>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فَانْظُرْ أَشَدَّهَا وَأَخْشَاهَا وَأَفْضَلَهَا فَارْمِ بِه</a:t>
            </a:r>
          </a:p>
        </p:txBody>
      </p:sp>
      <p:sp>
        <p:nvSpPr>
          <p:cNvPr id="7" name="part-en"/>
          <p:cNvSpPr txBox="1"/>
          <p:nvPr/>
        </p:nvSpPr>
        <p:spPr>
          <a:xfrm>
            <a:off x="566928" y="3545840"/>
            <a:ext cx="11057839" cy="97942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So look for the hardest of them, and the most feared, and the best, and shoot it.</a:t>
            </a:r>
          </a:p>
        </p:txBody>
      </p:sp>
      <p:sp>
        <p:nvSpPr>
          <p:cNvPr id="8"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ʿAmr b. al-ʿĀṣ ؓ, to Abū Bakr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249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lower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pic>
        <p:nvPicPr>
          <p:cNvPr id="6" name="map" descr="s06-empires-r4-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Khālid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writes to al-Madāʾin; he does not march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al-Madāʾin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Kisrā's commanders, marzubāns and ministers</a:t>
            </a:r>
          </a:p>
        </p:txBody>
      </p:sp>
      <p:pic>
        <p:nvPicPr>
          <p:cNvPr id="13" name="map arrow a_017" descr="s06-empires-r4-5-a_017.png"/>
          <p:cNvPicPr>
            <a:picLocks noChangeAspect="1"/>
          </p:cNvPicPr>
          <p:nvPr/>
        </p:nvPicPr>
        <p:blipFill>
          <a:blip r:embed="rId3"/>
          <a:stretch>
            <a:fillRect/>
          </a:stretch>
        </p:blipFill>
        <p:spPr>
          <a:xfrm>
            <a:off x="3243846" y="3291406"/>
            <a:ext cx="588599" cy="919182"/>
          </a:xfrm>
          <a:prstGeom prst="rect">
            <a:avLst/>
          </a:prstGeom>
        </p:spPr>
      </p:pic>
      <p:pic>
        <p:nvPicPr>
          <p:cNvPr id="14" name="map arrow a_018" descr="s06-empires-r4-5-a_018.png"/>
          <p:cNvPicPr>
            <a:picLocks noChangeAspect="1"/>
          </p:cNvPicPr>
          <p:nvPr/>
        </p:nvPicPr>
        <p:blipFill>
          <a:blip r:embed="rId4"/>
          <a:stretch>
            <a:fillRect/>
          </a:stretch>
        </p:blipFill>
        <p:spPr>
          <a:xfrm>
            <a:off x="3348665" y="3190619"/>
            <a:ext cx="487811" cy="1019970"/>
          </a:xfrm>
          <a:prstGeom prst="rect">
            <a:avLst/>
          </a:prstGeom>
        </p:spPr>
      </p:pic>
      <p:pic>
        <p:nvPicPr>
          <p:cNvPr id="15" name="map arrow a_019" descr="s06-empires-r4-5-a_019.png"/>
          <p:cNvPicPr>
            <a:picLocks noChangeAspect="1"/>
          </p:cNvPicPr>
          <p:nvPr/>
        </p:nvPicPr>
        <p:blipFill>
          <a:blip r:embed="rId5"/>
          <a:stretch>
            <a:fillRect/>
          </a:stretch>
        </p:blipFill>
        <p:spPr>
          <a:xfrm>
            <a:off x="3461547" y="3109988"/>
            <a:ext cx="374929" cy="1100600"/>
          </a:xfrm>
          <a:prstGeom prst="rect">
            <a:avLst/>
          </a:prstGeom>
        </p:spPr>
      </p:pic>
      <p:pic>
        <p:nvPicPr>
          <p:cNvPr id="16" name="map arrow a_020" descr="s06-empires-r4-5-a_020.png"/>
          <p:cNvPicPr>
            <a:picLocks noChangeAspect="1"/>
          </p:cNvPicPr>
          <p:nvPr/>
        </p:nvPicPr>
        <p:blipFill>
          <a:blip r:embed="rId6"/>
          <a:stretch>
            <a:fillRect/>
          </a:stretch>
        </p:blipFill>
        <p:spPr>
          <a:xfrm>
            <a:off x="3570398" y="3009201"/>
            <a:ext cx="286236" cy="1197356"/>
          </a:xfrm>
          <a:prstGeom prst="rect">
            <a:avLst/>
          </a:prstGeom>
        </p:spPr>
      </p:pic>
      <p:pic>
        <p:nvPicPr>
          <p:cNvPr id="17" name="map arrow a_022" descr="s06-empires-r5-6-a_022.png"/>
          <p:cNvPicPr>
            <a:picLocks noChangeAspect="1"/>
          </p:cNvPicPr>
          <p:nvPr/>
        </p:nvPicPr>
        <p:blipFill>
          <a:blip r:embed="rId7"/>
          <a:stretch>
            <a:fillRect/>
          </a:stretch>
        </p:blipFill>
        <p:spPr>
          <a:xfrm>
            <a:off x="4324289" y="2880193"/>
            <a:ext cx="580536" cy="717607"/>
          </a:xfrm>
          <a:prstGeom prst="rect">
            <a:avLst/>
          </a:prstGeom>
        </p:spPr>
      </p:pic>
      <p:pic>
        <p:nvPicPr>
          <p:cNvPr id="18" name="map label four roads" descr="s06-empires-r4-5-l_021.png"/>
          <p:cNvPicPr>
            <a:picLocks noChangeAspect="1"/>
          </p:cNvPicPr>
          <p:nvPr/>
        </p:nvPicPr>
        <p:blipFill>
          <a:blip r:embed="rId8"/>
          <a:stretch>
            <a:fillRect/>
          </a:stretch>
        </p:blipFill>
        <p:spPr>
          <a:xfrm>
            <a:off x="3074523" y="3513139"/>
            <a:ext cx="1455372" cy="290268"/>
          </a:xfrm>
          <a:prstGeom prst="rect">
            <a:avLst/>
          </a:prstGeom>
        </p:spPr>
      </p:pic>
      <p:pic>
        <p:nvPicPr>
          <p:cNvPr id="19" name="map label a letter" descr="s06-empires-r5-6-l_023.png"/>
          <p:cNvPicPr>
            <a:picLocks noChangeAspect="1"/>
          </p:cNvPicPr>
          <p:nvPr/>
        </p:nvPicPr>
        <p:blipFill>
          <a:blip r:embed="rId9"/>
          <a:stretch>
            <a:fillRect/>
          </a:stretch>
        </p:blipFill>
        <p:spPr>
          <a:xfrm>
            <a:off x="4324289" y="2118239"/>
            <a:ext cx="1011907"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6"/>
                                        </p:tgtEl>
                                      </p:cBhvr>
                                    </p:animEffect>
                                    <p:set>
                                      <p:cBhvr>
                                        <p:cTn id="13" dur="1" fill="hold">
                                          <p:stCondLst>
                                            <p:cond delay="599"/>
                                          </p:stCondLst>
                                        </p:cTn>
                                        <p:tgtEl>
                                          <p:spTgt spid="16"/>
                                        </p:tgtEl>
                                        <p:attrNameLst>
                                          <p:attrName>style.visibility</p:attrName>
                                        </p:attrNameLst>
                                      </p:cBhvr>
                                      <p:to>
                                        <p:strVal val="hidden"/>
                                      </p:to>
                                    </p:se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8"/>
                                        </p:tgtEl>
                                      </p:cBhvr>
                                    </p:animEffect>
                                    <p:set>
                                      <p:cBhvr>
                                        <p:cTn id="19" dur="1" fill="hold">
                                          <p:stCondLst>
                                            <p:cond delay="599"/>
                                          </p:stCondLst>
                                        </p:cTn>
                                        <p:tgtEl>
                                          <p:spTgt spid="18"/>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lower Iraq</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 the letter to al-Madāʾin</a:t>
            </a:r>
          </a:p>
        </p:txBody>
      </p:sp>
      <p:sp>
        <p:nvSpPr>
          <p:cNvPr id="6" name="part-ar"/>
          <p:cNvSpPr txBox="1"/>
          <p:nvPr/>
        </p:nvSpPr>
        <p:spPr>
          <a:xfrm>
            <a:off x="566928" y="1728216"/>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فابعثوا إليَّ بالرُّهن واعتقدوا مني الذِّمة</a:t>
            </a:r>
          </a:p>
        </p:txBody>
      </p:sp>
      <p:sp>
        <p:nvSpPr>
          <p:cNvPr id="7" name="part-en"/>
          <p:cNvSpPr txBox="1"/>
          <p:nvPr/>
        </p:nvSpPr>
        <p:spPr>
          <a:xfrm>
            <a:off x="566928" y="2450592"/>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send me hostages and take a covenant of protection from me.</a:t>
            </a:r>
          </a:p>
        </p:txBody>
      </p:sp>
      <p:sp>
        <p:nvSpPr>
          <p:cNvPr id="8" name="part-ar"/>
          <p:cNvSpPr txBox="1"/>
          <p:nvPr/>
        </p:nvSpPr>
        <p:spPr>
          <a:xfrm>
            <a:off x="566928" y="3011424"/>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 (إلا) فوالذي لا إله غيره</a:t>
            </a:r>
          </a:p>
        </p:txBody>
      </p:sp>
      <p:sp>
        <p:nvSpPr>
          <p:cNvPr id="9" name="part-en"/>
          <p:cNvSpPr txBox="1"/>
          <p:nvPr/>
        </p:nvSpPr>
        <p:spPr>
          <a:xfrm>
            <a:off x="566928" y="3733800"/>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Otherwise — by Him beside whom there is no god</a:t>
            </a:r>
          </a:p>
        </p:txBody>
      </p:sp>
      <p:sp>
        <p:nvSpPr>
          <p:cNvPr id="10" name="part-ar"/>
          <p:cNvSpPr txBox="1"/>
          <p:nvPr/>
        </p:nvSpPr>
        <p:spPr>
          <a:xfrm>
            <a:off x="566928" y="4294632"/>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لأبعثن إليكم قومًا يحبّون الموتَ كما تحبّون أنتم الحياة</a:t>
            </a:r>
          </a:p>
        </p:txBody>
      </p:sp>
      <p:sp>
        <p:nvSpPr>
          <p:cNvPr id="11" name="part-en"/>
          <p:cNvSpPr txBox="1"/>
          <p:nvPr/>
        </p:nvSpPr>
        <p:spPr>
          <a:xfrm>
            <a:off x="566928" y="5017008"/>
            <a:ext cx="11057839" cy="45110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 shall send against you a people who love death as you love life.</a:t>
            </a:r>
          </a:p>
        </p:txBody>
      </p:sp>
      <p:sp>
        <p:nvSpPr>
          <p:cNvPr id="12"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Khālid b. al-Walīd ؓ, to the marzubāns of Persia</a:t>
            </a:r>
          </a:p>
        </p:txBody>
      </p:sp>
      <p:sp>
        <p:nvSpPr>
          <p:cNvPr id="13" name="TextBox 12"/>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four columns are on the road. The Romans write to their emperor.</a:t>
            </a:r>
          </a:p>
        </p:txBody>
      </p:sp>
      <p:sp>
        <p:nvSpPr>
          <p:cNvPr id="7" name="part-ar"/>
          <p:cNvSpPr txBox="1"/>
          <p:nvPr/>
        </p:nvSpPr>
        <p:spPr>
          <a:xfrm>
            <a:off x="566928" y="2315972"/>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ويْحكم إن (هؤلاء) أهلُ دينٍ جديد</a:t>
            </a:r>
          </a:p>
        </p:txBody>
      </p:sp>
      <p:sp>
        <p:nvSpPr>
          <p:cNvPr id="8" name="part-en"/>
          <p:cNvSpPr txBox="1"/>
          <p:nvPr/>
        </p:nvSpPr>
        <p:spPr>
          <a:xfrm>
            <a:off x="566928" y="3190748"/>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Woe to you — these are the people of a new religion</a:t>
            </a:r>
          </a:p>
        </p:txBody>
      </p:sp>
      <p:sp>
        <p:nvSpPr>
          <p:cNvPr id="9" name="part-ar"/>
          <p:cNvSpPr txBox="1"/>
          <p:nvPr/>
        </p:nvSpPr>
        <p:spPr>
          <a:xfrm>
            <a:off x="566928" y="3945636"/>
            <a:ext cx="11057839" cy="874776"/>
          </a:xfrm>
          <a:prstGeom prst="rect">
            <a:avLst/>
          </a:prstGeom>
          <a:noFill/>
        </p:spPr>
        <p:txBody>
          <a:bodyPr wrap="square" anchor="t" lIns="36576" rIns="36576" tIns="0" bIns="0">
            <a:spAutoFit/>
          </a:bodyPr>
          <a:lstStyle/>
          <a:p>
            <a:pPr algn="ctr" rtl="1">
              <a:lnSpc>
                <a:spcPct val="150000"/>
              </a:lnSpc>
            </a:pPr>
            <a:r>
              <a:rPr sz="4400" b="0" i="0" lang="ar-SA">
                <a:solidFill>
                  <a:srgbClr val="0A322E"/>
                </a:solidFill>
                <a:latin typeface="Traditional Arabic"/>
                <a:cs typeface="Traditional Arabic"/>
              </a:rPr>
              <a:t>وإنهم لا قبلَ لأحدٍ بهم</a:t>
            </a:r>
          </a:p>
        </p:txBody>
      </p:sp>
      <p:sp>
        <p:nvSpPr>
          <p:cNvPr id="10" name="part-en"/>
          <p:cNvSpPr txBox="1"/>
          <p:nvPr/>
        </p:nvSpPr>
        <p:spPr>
          <a:xfrm>
            <a:off x="566928" y="4820412"/>
            <a:ext cx="11057839" cy="517144"/>
          </a:xfrm>
          <a:prstGeom prst="rect">
            <a:avLst/>
          </a:prstGeom>
          <a:noFill/>
        </p:spPr>
        <p:txBody>
          <a:bodyPr wrap="square" anchor="t" lIns="36576" rIns="36576" tIns="0" bIns="0">
            <a:spAutoFit/>
          </a:bodyPr>
          <a:lstStyle/>
          <a:p>
            <a:pPr algn="ctr">
              <a:lnSpc>
                <a:spcPct val="130000"/>
              </a:lnSpc>
            </a:pPr>
            <a:r>
              <a:rPr sz="2800" b="0" i="1">
                <a:solidFill>
                  <a:srgbClr val="1C2321"/>
                </a:solidFill>
                <a:latin typeface="Georgia"/>
                <a:cs typeface="Georgia"/>
              </a:rPr>
              <a:t>and no one has the strength to face them.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Syria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to the Romans</a:t>
            </a:r>
          </a:p>
        </p:txBody>
      </p:sp>
      <p:sp>
        <p:nvSpPr>
          <p:cNvPr id="6" name="part-ar"/>
          <p:cNvSpPr txBox="1"/>
          <p:nvPr/>
        </p:nvSpPr>
        <p:spPr>
          <a:xfrm>
            <a:off x="566928" y="1973579"/>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فأطيعوني وصالحوهم بما تصالحونهم على نصفِ خراج الشام ويبقى لكم جبالُ الروم</a:t>
            </a:r>
          </a:p>
        </p:txBody>
      </p:sp>
      <p:sp>
        <p:nvSpPr>
          <p:cNvPr id="7" name="part-en"/>
          <p:cNvSpPr txBox="1"/>
          <p:nvPr/>
        </p:nvSpPr>
        <p:spPr>
          <a:xfrm>
            <a:off x="566928" y="2695955"/>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So obey me, and make peace with them — on half the revenue of Syria, and the mountains of the Romans remain yours.</a:t>
            </a:r>
          </a:p>
        </p:txBody>
      </p:sp>
      <p:sp>
        <p:nvSpPr>
          <p:cNvPr id="8" name="part-ar"/>
          <p:cNvSpPr txBox="1"/>
          <p:nvPr/>
        </p:nvSpPr>
        <p:spPr>
          <a:xfrm>
            <a:off x="566928" y="3653027"/>
            <a:ext cx="11057839" cy="722376"/>
          </a:xfrm>
          <a:prstGeom prst="rect">
            <a:avLst/>
          </a:prstGeom>
          <a:noFill/>
        </p:spPr>
        <p:txBody>
          <a:bodyPr wrap="square" anchor="t" lIns="36576" rIns="36576" tIns="0" bIns="0">
            <a:spAutoFit/>
          </a:bodyPr>
          <a:lstStyle/>
          <a:p>
            <a:pPr algn="ctr" rtl="1">
              <a:lnSpc>
                <a:spcPct val="150000"/>
              </a:lnSpc>
            </a:pPr>
            <a:r>
              <a:rPr sz="3600" b="0" i="0" lang="ar-SA">
                <a:solidFill>
                  <a:srgbClr val="0A322E"/>
                </a:solidFill>
                <a:latin typeface="Traditional Arabic"/>
                <a:cs typeface="Traditional Arabic"/>
              </a:rPr>
              <a:t>وإن أنتم أبيتم ذلك أخذوا منكم الشام وضيقوا عليكم جبال الروم</a:t>
            </a:r>
          </a:p>
        </p:txBody>
      </p:sp>
      <p:sp>
        <p:nvSpPr>
          <p:cNvPr id="9" name="part-en"/>
          <p:cNvSpPr txBox="1"/>
          <p:nvPr/>
        </p:nvSpPr>
        <p:spPr>
          <a:xfrm>
            <a:off x="566928" y="4375403"/>
            <a:ext cx="11057839" cy="847344"/>
          </a:xfrm>
          <a:prstGeom prst="rect">
            <a:avLst/>
          </a:prstGeom>
          <a:noFill/>
        </p:spPr>
        <p:txBody>
          <a:bodyPr wrap="square" anchor="t" lIns="36576" rIns="36576" tIns="0" bIns="0">
            <a:spAutoFit/>
          </a:bodyPr>
          <a:lstStyle/>
          <a:p>
            <a:pPr algn="ctr">
              <a:lnSpc>
                <a:spcPct val="130000"/>
              </a:lnSpc>
            </a:pPr>
            <a:r>
              <a:rPr sz="2400" b="0" i="1">
                <a:solidFill>
                  <a:srgbClr val="1C2321"/>
                </a:solidFill>
                <a:latin typeface="Georgia"/>
                <a:cs typeface="Georgia"/>
              </a:rPr>
              <a:t>If you refuse that, they will take Syria from you, and press you hard in the mountains of the Romans.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Heraclius, to the Romans — as Ibn Kathīr reports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hinge.trim.png"/>
          <p:cNvPicPr>
            <a:picLocks noChangeAspect="1"/>
          </p:cNvPicPr>
          <p:nvPr/>
        </p:nvPicPr>
        <p:blipFill>
          <a:blip r:embed="rId2"/>
          <a:stretch>
            <a:fillRect/>
          </a:stretch>
        </p:blipFill>
        <p:spPr>
          <a:xfrm>
            <a:off x="566928" y="2578047"/>
            <a:ext cx="11057839" cy="2579730"/>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beyond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empires-step-06.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at its lower end; a letter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four commanders, four roads — nothing taken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Persia</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Iraq</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Syria</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Yazīd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Rome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emperor of the Romans told them: make peace. They refused him. What did it cost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