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closing Line, unchanged.</a:t>
            </a:r>
          </a:p>
          <a:p/>
          <a:p>
            <a:r>
              <a:t>SAY — Last week ended with Oman and Mahra settled, and one grey patch left on the 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closing map, unchanged.</a:t>
            </a:r>
          </a:p>
          <a:p/>
          <a:p>
            <a:r>
              <a:t>SAY — Tonight: the front that started before all of them — and then the last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card Daniyal asked for, carrying al-Bidaya, vol. 7, p. 61 verbatim — the year 12 opened with the armies "roving the land right and left". يمينًا وشمالًا is the point: the fronts overlapped. ⚠ The books do not fix the months inside 11–12 AH — say once that the order is ours. ⚠ «فقتلوا يوم النُّجير» on that page is the editor's footnote, not Ibn Kathīr's text</a:t>
            </a:r>
          </a:p>
          <a:p/>
          <a:p>
            <a:r>
              <a:t>⚠ The sentence opens with the hedge "and it has been said". Report it as one view, never as the</a:t>
            </a:r>
          </a:p>
          <a:p>
            <a:r>
              <a:t>book's own position. It matters for two reasons. It places Juwāthā — which is the البحرين front, tonight's first</a:t>
            </a:r>
          </a:p>
          <a:p>
            <a:r>
              <a:t>front — in the year 12. And it would put Oman and Mahra, which this room was given last week,</a:t>
            </a:r>
          </a:p>
          <a:p>
            <a:r>
              <a:t>a year later than the course placed them. The course follows the narrative sequence; Ibn Kathīr</a:t>
            </a:r>
          </a:p>
          <a:p>
            <a:r>
              <a:t>records this as an alternative and does not choose. If a slip asks why the dates differ, that is</a:t>
            </a:r>
          </a:p>
          <a:p>
            <a:r>
              <a:t>the answer: the book carries both and declines to pick.</a:t>
            </a:r>
          </a:p>
          <a:p>
            <a:r>
              <a:t>Ibn Kathīr's own unhedged body text, on the same page — this one carries no "it is said":</a:t>
            </a:r>
          </a:p>
          <a:p/>
          <a:p>
            <a:r>
              <a:t>⚠ The cache file reads «وفد قال» where the sense plainly requires «وقد قال». Eyeball this one against</a:t>
            </a:r>
          </a:p>
          <a:p>
            <a:r>
              <a:t>the page image before it reaches a slide (§1.1). Safer still: speak the sense and quote only the</a:t>
            </a:r>
          </a:p>
          <a:p>
            <a:r>
              <a:t>reconciliation clause.</a:t>
            </a:r>
          </a:p>
          <a:p>
            <a:r>
              <a:t>⚠ This is Ibn Kathīr reconciling it in his own voice on ص۶۱, and it matches the pool's existing card</a:t>
            </a:r>
          </a:p>
          <a:p>
            <a:r>
              <a:t>(البدایہ ج۷ ص۳۵–۳۶ + سیر الراشدون ص۴۹: begun in 11, finished in 12). Second page, same answer — do not</a:t>
            </a:r>
          </a:p>
          <a:p>
            <a:r>
              <a:t>present it as a new finding.</a:t>
            </a:r>
          </a:p>
          <a:p>
            <a:r>
              <a:t>⚠ "Concurrent" means the FRONTS overlapped — not that every action did. The sentence licenses the</a:t>
            </a:r>
          </a:p>
          <a:p>
            <a:r>
              <a:t>shape of the evening and no more than that. Several individual commanders' own fronts were plainly</a:t>
            </a:r>
          </a:p>
          <a:p>
            <a:r>
              <a:t>sequential, and the books say so in terms: ʿIkrima ؓ went to Oman, then to Mahra, then on to join</a:t>
            </a:r>
          </a:p>
          <a:p>
            <a:r>
              <a:t>al-Muhājir ؓ, and Khālid ؓ went Buzākha, then al-Buṭāḥ, then al-Yamāma. So the honest claim is: the</a:t>
            </a:r>
          </a:p>
          <a:p>
            <a:r>
              <a:t>fronts ran alongside one another; each commander's own road ran in order. If a listener presses, that</a:t>
            </a:r>
          </a:p>
          <a:p>
            <a:r>
              <a:t>distinction is the answer, and it costs nothing to give.</a:t>
            </a:r>
          </a:p>
          <a:p>
            <a:r>
              <a:t>⚠ THE MONTHS INSIDE ۱۱–۱۲ھ ARE NOT FIXED BY THE BOOKS. Two months are dated on pages we hold —</a:t>
            </a:r>
          </a:p>
          <a:p>
            <a:r>
              <a:t>Usāma's ؓ march in ربيع الأول ۱۱ھ, and this page's ربيع الأول for اليمامة, which is itself one view of</a:t>
            </a:r>
          </a:p>
          <a:p>
            <a:r>
              <a:t>two. Everything else is sequence, not calendar. So the order this course tells the fronts in is</a:t>
            </a:r>
          </a:p>
          <a:p>
            <a:r>
              <a:t>the course's order, built from the narrative order and the explicit "when you are done with X, go</a:t>
            </a:r>
          </a:p>
          <a:p>
            <a:r>
              <a:t>to Y" instructions — not a dated timetable in the books. Say that aloud on this slide. It is the</a:t>
            </a:r>
          </a:p>
          <a:p>
            <a:r>
              <a:t>sentence that licenses the whole evening, and it is also what keeps the course honest.</a:t>
            </a:r>
          </a:p>
          <a:p>
            <a:r>
              <a:t>⚠ Cross-reference RCT/E-RC36 — the pool's closing card already carries Ibn Kathīr's duration</a:t>
            </a:r>
          </a:p>
          <a:p>
            <a:r>
              <a:t>sentence:</a:t>
            </a:r>
          </a:p>
          <a:p/>
          <a:p>
            <a:r>
              <a:t>SAY —</a:t>
            </a:r>
          </a:p>
          <a:p>
            <a:r>
              <a:t>1. Where we are on the Line — the year 12 opens. The map you are looking at is the one you walked out on last week.</a:t>
            </a:r>
          </a:p>
          <a:p>
            <a:r>
              <a:t>2. Ibn Kathīr does not begin the year with a battle — he begins it with a description of where everybody was.</a:t>
            </a:r>
          </a:p>
          <a:p>
            <a:r>
              <a:t>   ^ read the Arabic on the face here</a:t>
            </a:r>
          </a:p>
          <a:p>
            <a:r>
              <a:t>3. Right and left — the two direction words in the sentence you have just read out are the whole point: the armies were out in every direction at once, not taking their turn.</a:t>
            </a:r>
          </a:p>
          <a:p>
            <a:r>
              <a:t>4. What it was for, in his words — to lay down the foundations of Islam, and to fight the tyrants among men.</a:t>
            </a:r>
          </a:p>
          <a:p>
            <a:r>
              <a:t>5. And what came of it — the straying brought back, the truth returned to its place, the peninsula levelled, the furthest-off made as near as the nearest.</a:t>
            </a:r>
          </a:p>
          <a:p>
            <a:r>
              <a:t>6. Which fronts you already have — al-Yamāma, the Yemen, Oman, Mahra. They overlapped. They were not fought one after another and then reported in a queue.</a:t>
            </a:r>
          </a:p>
          <a:p>
            <a:r>
              <a:t>7. Which two are still grey — البحرين on the Gulf, and حضرموت on the south coast. That is tonight.</a:t>
            </a:r>
          </a:p>
          <a:p>
            <a:r>
              <a:t>8. And one step back before we go there — three things that were happening while you were watching al-Yamāma.</a:t>
            </a:r>
          </a:p>
          <a:p/>
          <a:p>
            <a:r>
              <a:t>QUOTE — 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البدایہ والنہایہ ج۷ ص۶۱</a:t>
            </a:r>
          </a:p>
          <a:p/>
          <a:p>
            <a:r>
              <a:t>عبرت — The book does not open the year with a battle. It opens it with a map — and on that map the armies are out in every direction at the same time.</a:t>
            </a:r>
          </a:p>
          <a:p/>
          <a:p>
            <a:r>
              <a:t>HANDS UP — Before the map goes up: hands up if you thought these fronts were fought one after another.</a:t>
            </a:r>
          </a:p>
          <a:p/>
          <a:p>
            <a:r>
              <a:t>So the four kings of Kinda, whom evening 4 gave the room, are placed by Ibn Kathīr in the year 12,</a:t>
            </a:r>
          </a:p>
          <a:p>
            <a:r>
              <a:t>in his own voice. ⚠ Spell the four names from the pool, not from this page. The pool prints</a:t>
            </a:r>
          </a:p>
          <a:p>
            <a:r>
              <a:t>Mikhwaṣ, Mishraḥ, Jamad, Abḍaʿa, al-ʿAmarrada (KTK/E-KD06); this page's own footnote (6) sets out</a:t>
            </a:r>
          </a:p>
          <a:p>
            <a:r>
              <a:t>how the manuscripts and the printed edition differ over three of the four and calls both readings</a:t>
            </a:r>
          </a:p>
          <a:p>
            <a:r>
              <a:t>corrupt, which is why the transliteration in the blockquote above — which follows this page — is</a:t>
            </a:r>
          </a:p>
          <a:p>
            <a:r>
              <a:t>not quite the pool's. Two artifacts must not disagree on a name: use the pool's forms on the slide.</a:t>
            </a:r>
          </a:p>
          <a:p>
            <a:r>
              <a:t>⚠ The two blockquotes above are one sentence in the book, split here because a footnote marker «(٦)»</a:t>
            </a:r>
          </a:p>
          <a:p>
            <a:r>
              <a:t>stands between them in the printed text. Read them as one line.</a:t>
            </a:r>
          </a:p>
          <a:p>
            <a:r>
              <a:t>⚠⚠ The words "and they were killed on the day of al-Nujayr" on ص۶۱ are the EDITOR'S FOOTNOTE, not</a:t>
            </a:r>
          </a:p>
          <a:p>
            <a:r>
              <a:t>Ibn Kathīr's body text. The phrase sits inside footnote (6) of that page, where Tadmurī is quoting</a:t>
            </a:r>
          </a:p>
          <a:p>
            <a:r>
              <a:t>al-Fīrūzābādī's القاموس:</a:t>
            </a:r>
          </a:p>
          <a:p/>
          <a:p>
            <a:r>
              <a:t>This card and that one say the same thing from two pages and must not be made to disagree. RC80 is the</a:t>
            </a:r>
          </a:p>
          <a:p>
            <a:r>
              <a:t>opening frame; RC36 is the closing frame. If both are in the deck, RC80 states the shape and RC36</a:t>
            </a:r>
          </a:p>
          <a:p>
            <a:r>
              <a:t>states the duration — do not let RC80 also claim the duration.</a:t>
            </a:r>
          </a:p>
          <a:p>
            <a:r>
              <a:t>⚠ The quotation stops at «كالقريب الأدْنى». The printed text continues with a bracketed «[الأقرب]»,</a:t>
            </a:r>
          </a:p>
          <a:p>
            <a:r>
              <a:t>which footnote (2) marks as an addition from manuscript أ. It is left out deliberately.</a:t>
            </a:r>
          </a:p>
          <a:p/>
          <a:p>
            <a:r>
              <a:t>BACKGROUND (read at home, not aloud) —</a:t>
            </a:r>
          </a:p>
          <a:p>
            <a:r>
              <a:t>Ibn Kathīr does not open his chapter for the year 12 with an event. He opens it with a situation. The year came in, he writes, with al-Ṣiddīq's armies and his commanders — the ones he had sent to fight the people of the ridda — roving the country, right and left. Not one front after another: all of them, at the same time. Everything this room has been given over four evenings sat inside the same two years, and much of it inside the same months. He says what it was for, and he says what came of it: the religion's strayed part brought back, the truth returned to its place, the peninsula made level, the furthest-off country become like the nearest. Two of those fronts the room has not been told about yet.</a:t>
            </a:r>
          </a:p>
          <a:p/>
          <a:p>
            <a:r>
              <a:t>One view, and the page hedges it — on the same page, immediately after the dating of اليمامة:</a:t>
            </a:r>
          </a:p>
          <a:p/>
          <a:p>
            <a:r>
              <a:t>&gt; وقد قيل: إن وقعةَ جُواثا وعُمان ومهرة وما كان من الوقائع التي أشرنا إليها إنما كانت في سنة ثنتي عشرة</a:t>
            </a:r>
          </a:p>
          <a:p>
            <a:r>
              <a:t>&gt; — البدایہ والنہایہ ج۷ ص۶۱ · https://shamela.ws/book/30097/3207</a:t>
            </a:r>
          </a:p>
          <a:p>
            <a:r>
              <a:t>&gt; *English:* "And it has been said that the affair of Juwāthā, and Oman, and Mahra, and what there was</a:t>
            </a:r>
          </a:p>
          <a:p>
            <a:r>
              <a:t>&gt; of the engagements we have referred to, were only in the year 12."</a:t>
            </a:r>
          </a:p>
          <a:p/>
          <a:p>
            <a:r>
              <a:t>&gt; وفيها كان قتلُ الملوك الأربعة: جَمْدٍ ومِخْوسٍ وأبْضَعة ومِشْرَحٍ</a:t>
            </a:r>
          </a:p>
          <a:p>
            <a:r>
              <a:t>&gt; — البدایہ والنہایہ ج۷ ص۶۱ · https://shamela.ws/book/30097/3207</a:t>
            </a:r>
          </a:p>
          <a:p>
            <a:r>
              <a:t>&gt; *English:* "And in it was the killing of the four kings: Jamd, Mikhwas, Abḍaʿa and Mishraḥ."</a:t>
            </a:r>
          </a:p>
          <a:p/>
          <a:p>
            <a:r>
              <a:t>The very next clause of the same sentence adds their sister:</a:t>
            </a:r>
          </a:p>
          <a:p/>
          <a:p>
            <a:r>
              <a:t>&gt; وأسروا أختهم العَمرَّدة</a:t>
            </a:r>
          </a:p>
          <a:p>
            <a:r>
              <a:t>&gt; — البدایہ والنہایہ ج۷ ص۶۱ · https://shamela.ws/book/30097/3207</a:t>
            </a:r>
          </a:p>
          <a:p>
            <a:r>
              <a:t>&gt; *English:* "…and they took their sister al-ʿAmarrada captive."</a:t>
            </a:r>
          </a:p>
          <a:p/>
          <a:p>
            <a:r>
              <a:t>&gt; فقتلوا يوم النُّجير</a:t>
            </a:r>
          </a:p>
          <a:p>
            <a:r>
              <a:t>&gt; — البدایہ والنہایہ ج۷ ص۶۱ — footnote (6), NOT the body text · https://shamela.ws/book/30097/3207</a:t>
            </a:r>
          </a:p>
          <a:p>
            <a:r>
              <a:t>&gt; *English:* "…so they were killed on the day of al-Nujayr."</a:t>
            </a:r>
          </a:p>
          <a:p/>
          <a:p>
            <a:r>
              <a:t>Do not cite ص۶۱ for the link between the four kings and al-Nujayr. That link is carried on the</a:t>
            </a:r>
          </a:p>
          <a:p>
            <a:r>
              <a:t>pool's own al-Nujayr pages; cite those.</a:t>
            </a:r>
          </a:p>
          <a:p>
            <a:r>
              <a:t>اليمامة's date, on the same page, and it agrees with what the pool already says:</a:t>
            </a:r>
          </a:p>
          <a:p/>
          <a:p>
            <a:r>
              <a:t>&gt; وفد قال جماعةٌ من علماءَ السِّير والتواريخ: إنّ وقعة اليمامةِ كانت في ربيع الأول من هذه السنة، وقيل إنها كانت في أواخر [السنة] التي قبلها، والجَمْعُ بينَ القولين أنَّ ابتداءها كان في السنة الماضية، وانتهاءَها وقع في هذه السنة الآتية</a:t>
            </a:r>
          </a:p>
          <a:p>
            <a:r>
              <a:t>&gt; — البدایہ والنہایہ ج۷ ص۶۱ · https://shamela.ws/book/30097/3207</a:t>
            </a:r>
          </a:p>
          <a:p>
            <a:r>
              <a:t>&gt; *English:* "And a body of the scholars of sīra and of the histories have said that the affair of</a:t>
            </a:r>
          </a:p>
          <a:p>
            <a:r>
              <a:t>&gt; al-Yamāma was in Rabīʿ al-Awwal of this year; and it is said that it was in the latter part of the</a:t>
            </a:r>
          </a:p>
          <a:p>
            <a:r>
              <a:t>&gt; year before it. And the reconciling of the two views is that its beginning was in the year past and</a:t>
            </a:r>
          </a:p>
          <a:p>
            <a:r>
              <a:t>&gt; its ending fell in this year coming."</a:t>
            </a:r>
          </a:p>
          <a:p/>
          <a:p>
            <a:r>
              <a:t>&gt; وعامة ما وقع من هذه الحروب كان في أواخر سنة إحدى عشرة وأوائل سنة ثنتي عشرة</a:t>
            </a:r>
          </a:p>
          <a:p>
            <a:r>
              <a:t>&gt; — البدایہ والنہایہ ج۷ ص۴۳ · https://shamela.ws/book/30097/3189</a:t>
            </a:r>
          </a:p>
          <a:p>
            <a:r>
              <a:t>&gt; *English:* "And the general run of these wars was in the last part of the year 11 and the first part</a:t>
            </a:r>
          </a:p>
          <a:p>
            <a:r>
              <a:t>&gt; of the year 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 bluff, reported by the book as a bluff — al-Bidaya, vol. 7, p. 24. Entirely new: خیبر is on no card in the repo</a:t>
            </a:r>
          </a:p>
          <a:p/>
          <a:p>
            <a:r>
              <a:t>SAY —</a:t>
            </a:r>
          </a:p>
          <a:p>
            <a:r>
              <a:t>1. Where this sits — the same ground and the same hour as the eleven banners: Dhū al-Qaṣṣa, as the commanders ride off.</a:t>
            </a:r>
          </a:p>
          <a:p>
            <a:r>
              <a:t>2. The promise to Khālid ؓ — Abū Bakr ؓ told him he would meet him from the direction of Khaybar, with the commanders who were with him.</a:t>
            </a:r>
          </a:p>
          <a:p>
            <a:r>
              <a:t>3. And they said it out loud — the verb in the sentence is "they made it public" — so that the bedouin would be afraid.</a:t>
            </a:r>
          </a:p>
          <a:p>
            <a:r>
              <a:t>   ^ read the Arabic on the face here</a:t>
            </a:r>
          </a:p>
          <a:p>
            <a:r>
              <a:t>4. The real orders — Khālid ؓ was to go first to Ṭulayḥa, then to Banū Tamīm. Khaybar was not on the route, and no army went there.</a:t>
            </a:r>
          </a:p>
          <a:p>
            <a:r>
              <a:t>5. And what the books do not say — no page we hold reports that any tribe was in fact frightened by it. The books give us the intention, not the result.</a:t>
            </a:r>
          </a:p>
          <a:p/>
          <a:p>
            <a:r>
              <a:t>QUOTE — واعده أنَّه سيلقاهُ من ناحيةِ خيبر بمن معه من الأمراء - وأظهروا ذلك ليرعبوا الأعرابَ</a:t>
            </a:r>
          </a:p>
          <a:p>
            <a:r>
              <a:t>"He promised him that he would meet him from the direction of Khaybar with the commanders who were with him — and they made that public, so as to put fear into the bedouin."</a:t>
            </a:r>
          </a:p>
          <a:p>
            <a:r>
              <a:t>— البدایہ والنہایہ ج۷ ص۲۴</a:t>
            </a:r>
          </a:p>
          <a:p/>
          <a:p>
            <a:r>
              <a:t>عبرت — A thing said out loud did part of the work the swords would otherwise have had to do.</a:t>
            </a:r>
          </a:p>
          <a:p/>
          <a:p>
            <a:r>
              <a:t>Both books, the same fact, and neither hedges it. الکامل ج۲ ص۲۰۴ is the same page the pool's</a:t>
            </a:r>
          </a:p>
          <a:p>
            <a:r>
              <a:t>eleven-banners card (RCT/E-RC05) already quotes, so this costs the citation log nothing new.</a:t>
            </a:r>
          </a:p>
          <a:p>
            <a:r>
              <a:t>⚠ The books report the purpose, not the result. Do not say "and the tribes were frightened". Say</a:t>
            </a:r>
          </a:p>
          <a:p>
            <a:r>
              <a:t>"he made it public so that they would be". The one place in this war where a deterrent effect is</a:t>
            </a:r>
          </a:p>
          <a:p>
            <a:r>
              <a:t>actually *reported* is Usāma's ؓ real march (ABU/E-U6, البدایہ ج۷ ص۱۱: the tribes said *"were it not</a:t>
            </a:r>
          </a:p>
          <a:p>
            <a:r>
              <a:t>that these people have strength, men like these would not have gone out from among them"*). Tell</a:t>
            </a:r>
          </a:p>
          <a:p>
            <a:r>
              <a:t>RC76 and RC79 together and the pair makes the point by itself: one march that happened and was</a:t>
            </a:r>
          </a:p>
          <a:p>
            <a:r>
              <a:t>believed, one march that did not happen and was announced.</a:t>
            </a:r>
          </a:p>
          <a:p>
            <a:r>
              <a:t>⚠ Register (§1.2). Narrate it exactly as the book narrates it — a thing made public in order to put</a:t>
            </a:r>
          </a:p>
          <a:p>
            <a:r>
              <a:t>fear into the enemy. Do not call it a lie, a bluff, a trick or a ruse on the slide face, and do not</a:t>
            </a:r>
          </a:p>
          <a:p>
            <a:r>
              <a:t>invite the room to admire the cleverness of it. The book states it flatly; so do we.</a:t>
            </a:r>
          </a:p>
          <a:p>
            <a:r>
              <a:t>⚠ خيبر has no page-cited gloss anywhere in docs/catalogue/. This room will almost certainly know</a:t>
            </a:r>
          </a:p>
          <a:p>
            <a:r>
              <a:t>it, so no gloss is needed. If he does gloss it, the most that can be said from what we hold is that it</a:t>
            </a:r>
          </a:p>
          <a:p>
            <a:r>
              <a:t>lay north of المدینہ on the road towards الشام — and that is [STANDARD] (to verify), not sourced.</a:t>
            </a:r>
          </a:p>
          <a:p>
            <a:r>
              <a:t>Do not attach a date or an account of its conquest to it from memory.</a:t>
            </a:r>
          </a:p>
          <a:p>
            <a:r>
              <a:t>⚠ Printed-page note for the citation checker: the cache file for شاملہ index 3170 has no parsed</a:t>
            </a:r>
          </a:p>
          <a:p>
            <a:r>
              <a:t>PRINTED PAGE field, but its own TITLE line reads «ج7 - ص24», and it sits exactly four indices below</a:t>
            </a:r>
          </a:p>
          <a:p>
            <a:r>
              <a:t>ج۷ ص۲۸ (index 3174). ص۲۴ is the printed page; it is confirmed two ways.</a:t>
            </a:r>
          </a:p>
          <a:p/>
          <a:p>
            <a:r>
              <a:t>BACKGROUND (read at home, not aloud) —</a:t>
            </a:r>
          </a:p>
          <a:p>
            <a:r>
              <a:t>When Khālid ؓ left Dhū al-Qaṣṣa and Abū Bakr ؓ parted from him, the caliph promised he would meet him from the direction of Khaybar, with the commanders who were with him. And then, in Ibn Kathīr's own words, they made that promise public — so that the bedouin would be afraid. No army went to Khaybar. Khālid's ؓ actual orders were to go first to Ṭulayḥa al-Asadī and then to Banū Tamīm, and Khaybar lay nowhere on that road. Abū Bakr ؓ had already taken the field himself more than once in that year, and would again — but never towards Khaybar. Ibn al-Athīr reports the same thing and states the purpose outright: he was putting fear into the enemy by it.</a:t>
            </a:r>
          </a:p>
          <a:p/>
          <a:p>
            <a:r>
              <a:t>The same, from Ibn al-Athīr, with the purpose stated outright — الکامل ج۲ ص۲۰۴ (https://shamela.ws/book/21712/895):</a:t>
            </a:r>
          </a:p>
          <a:p/>
          <a:p>
            <a:r>
              <a:t>&gt; وَأَظْهَرَ أَبُو بَكْرٍ لِلنَّاسِ أَنَّهُ خَارِجٌ إِلَى خَيْبَرَ بِجَيْشٍ حَتَّى يُلَاقِيَ خَالِدًا، يُرْهِبُ الْعَدُوَّ بِذَلِكَ</a:t>
            </a:r>
          </a:p>
          <a:p>
            <a:r>
              <a:t>&gt; *English:* "And Abū Bakr made it known to the people that he was going out to Khaybar with an army</a:t>
            </a:r>
          </a:p>
          <a:p>
            <a:r>
              <a:t>&gt; until he should meet Khālid — putting fear into the enemy by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Usāma's ؓ army struck Quḍāʿa on its way back. ⚠⚠ No engagement of Khālid b. Saʿīd b. al-ʿĀṣ ؓ on مشارف الشام is on any page we hold — DO NOT DRAW HIM A BATTLE. The honest line: he was given the Syrian marches and we are told nothing of what he did there</a:t>
            </a:r>
          </a:p>
          <a:p/>
          <a:p>
            <a:r>
              <a:t>⚠⚠ NO ENGAGEMENT OF خالد بن سعيد بن العاص ؓ ON مشارف الشام IS NARRATED ON ANY PAGE WE HOLD. All</a:t>
            </a:r>
          </a:p>
          <a:p>
            <a:r>
              <a:t>three books record the posting; none of them records a battle. Do not draw one for him. The honest</a:t>
            </a:r>
          </a:p>
          <a:p>
            <a:r>
              <a:t>line, and it should be spoken as a line and not skipped: *he was given the marches of Syria, and we are</a:t>
            </a:r>
          </a:p>
          <a:p>
            <a:r>
              <a:t>told nothing of what he did there.* This is the one place in the frame where a speaker would be</a:t>
            </a:r>
          </a:p>
          <a:p>
            <a:r>
              <a:t>tempted to invent a battle, and the empty box on the map is there to stop him. The only thing the</a:t>
            </a:r>
          </a:p>
          <a:p>
            <a:r>
              <a:t>الکامل puts in his hands anywhere in this war is in a Yemen context — striking عمرو بن معدي كرب,</a:t>
            </a:r>
          </a:p>
          <a:p>
            <a:r>
              <a:t>putting him to flight and taking his sword الصمصامة and his horse (الکامل ج۲ ص۲۲۹) — and the pool</a:t>
            </a:r>
          </a:p>
          <a:p>
            <a:r>
              <a:t>already carries that on its own card.</a:t>
            </a:r>
          </a:p>
          <a:p>
            <a:r>
              <a:t>⚠ Cross-reference ABU/E-U6 — "Forty days, and what the tribes concluded" — which is already in the</a:t>
            </a:r>
          </a:p>
          <a:p>
            <a:r>
              <a:t>pool and was already delivered. That card carries the forty days AND the deterrent effect, and it</a:t>
            </a:r>
          </a:p>
          <a:p>
            <a:r>
              <a:t>says plainly that the books differ on what the blow actually was — a raid on أُبنى in the البلقاء,</a:t>
            </a:r>
          </a:p>
          <a:p>
            <a:r>
              <a:t>or on Quḍāʿa clans, or a clash with Roman forces. RC76 must not settle that dispute. RC76's claim</a:t>
            </a:r>
          </a:p>
          <a:p>
            <a:r>
              <a:t>is narrower and safe: الکامل says Quḍāʿa, twice, and whatever the target was it was struck before the</a:t>
            </a:r>
          </a:p>
          <a:p>
            <a:r>
              <a:t>eleven banners were tied. The chronology is the card; the target is not.</a:t>
            </a:r>
          </a:p>
          <a:p>
            <a:r>
              <a:t>⚠ The الکامل's next clause is too compressed to narrate an engagement from:</a:t>
            </a:r>
          </a:p>
          <a:p/>
          <a:p>
            <a:r>
              <a:t>SAY —</a:t>
            </a:r>
          </a:p>
          <a:p>
            <a:r>
              <a:t>1. Where this sits — before Dhū al-Qaṣṣa. The eleven banners were not the first fighting of the war; the north was already open.</a:t>
            </a:r>
          </a:p>
          <a:p>
            <a:r>
              <a:t>2. Usāma's ؓ column struck on its way — it pushed into the middle of Quḍāʿa's country, loosed a raid, took spoil and came back whole.</a:t>
            </a:r>
          </a:p>
          <a:p>
            <a:r>
              <a:t>   ^ read the Arabic on the face here</a:t>
            </a:r>
          </a:p>
          <a:p>
            <a:r>
              <a:t>3. How long it was gone — forty days, Ibn al-Athīr says; and it is said seventy.</a:t>
            </a:r>
          </a:p>
          <a:p>
            <a:r>
              <a:t>4. Who was fighting whom up there — the Prophet's ﷺ own agents against their own tribesmen. Two held: Imruʾ al-Qays b. al-Aṣbagh al-Kalbī over Quḍāʿa and Kalb, and ʿAmr b. al-Ḥakam over al-Qayn. One turned: Muʿāwiya al-Wālibī over Saʿd Hudhaym, with those of them who followed him. And two more men turned with their followings: Zumayl b. Qutba al-Qaynī, and Wadīʿa al-Kalbī.</a:t>
            </a:r>
          </a:p>
          <a:p>
            <a:r>
              <a:t>5. And Abū Bakr ؓ would not be hurried — he held off the collision until Usāma ؓ had come back.</a:t>
            </a:r>
          </a:p>
          <a:p>
            <a:r>
              <a:t>6. The sectors afterwards — ʿAmr b. al-ʿĀṣ ؓ was given Quḍāʿa, and Shuraḥbīl b. Ḥasana ؓ was to join him the moment al-Yamāma was finished.</a:t>
            </a:r>
          </a:p>
          <a:p>
            <a:r>
              <a:t>7. And the one box that stays empty — Khālid b. Saʿīd b. al-ʿĀṣ ؓ was given the marches of Syria, and not one page we hold tells us what he did there.</a:t>
            </a:r>
          </a:p>
          <a:p/>
          <a:p>
            <a:r>
              <a:t>QUOTE — وَتَوَسَّطَتْ خَيْلُ أُسَامَةَ بِبِلَادِ قُضَاعَةَ، فَشَنَّ الْغَارَةَ فِيهِمْ، فَغَنِمُوا وَعَادُوا سَالِمِينَ</a:t>
            </a:r>
          </a:p>
          <a:p>
            <a:r>
              <a:t>"And Usāma's cavalry pushed into the middle of the country of Quḍāʿa, and he loosed the raid among them, and they took spoil and came back safe."</a:t>
            </a:r>
          </a:p>
          <a:p>
            <a:r>
              <a:t>— الکامل فی التاریخ ج۲ ص۲۰۱</a:t>
            </a:r>
          </a:p>
          <a:p/>
          <a:p>
            <a:r>
              <a:t>عبرت — The war did not begin where the room was watching. It had already begun somewhere else.</a:t>
            </a:r>
          </a:p>
          <a:p/>
          <a:p>
            <a:r>
              <a:t>It will not even settle whether Wadīʿa was taken prisoner or marched against. Do not build a battle</a:t>
            </a:r>
          </a:p>
          <a:p>
            <a:r>
              <a:t>out of it. Say only that Abū Bakr ؓ wrote to the agents who had held, and that they moved against the</a:t>
            </a:r>
          </a:p>
          <a:p>
            <a:r>
              <a:t>ones who had not.</a:t>
            </a:r>
          </a:p>
          <a:p>
            <a:r>
              <a:t>⚠ Framing only, and never on its own authority (#29): ابن خلدون ج۲ ص۵۰۴ divides the northern ground</a:t>
            </a:r>
          </a:p>
          <a:p>
            <a:r>
              <a:t>between the two commanders by tribe. That is how Ibn Khaldūn read the front, named as his, and the</a:t>
            </a:r>
          </a:p>
          <a:p>
            <a:r>
              <a:t>tribe names from it are not to be printed.</a:t>
            </a:r>
          </a:p>
          <a:p>
            <a:r>
              <a:t>Optional aside, and flagged ⚠ as a forward reference: the same الکامل page notes that Imruʾ al-Qays</a:t>
            </a:r>
          </a:p>
          <a:p>
            <a:r>
              <a:t>was the grandfather of Sukayna bint al-Ḥusayn. It is sourced and it is interesting, but it names a</a:t>
            </a:r>
          </a:p>
          <a:p>
            <a:r>
              <a:t>house the course does not reach until session 4. Skip it unless he wants it, and if he takes it,</a:t>
            </a:r>
          </a:p>
          <a:p>
            <a:r>
              <a:t>take it in one clause and move on.</a:t>
            </a:r>
          </a:p>
          <a:p/>
          <a:p>
            <a:r>
              <a:t>BACKGROUND (read at home, not aloud) —</a:t>
            </a:r>
          </a:p>
          <a:p>
            <a:r>
              <a:t>The room has the eleven banners at Dhū al-Qaṣṣa as the moment the war began. On the northern side it had begun already. Ibn al-Athīr says Usāma's ؓ cavalry pushed into the middle of the country of Quḍāʿa, loosed a raid among the clans there that had broken away, took spoil and came back safe — and that the column was gone forty days, some say seventy. Up there the fighting was not between Medina and the tribes at all. It was between the Prophet's ﷺ own appointed agents and their own tribesmen. Three agents held districts up there; two of them stayed on their religion and the third turned, and two more leading men turned with their followings. Abū Bakr ؓ wrote to the two who had held, and he would not come to blows with the rest until Usāma ؓ was home.</a:t>
            </a:r>
          </a:p>
          <a:p/>
          <a:p>
            <a:r>
              <a:t>The same thing, from earlier in the same book, with the day-count — الکامل ج۲ ص۱۹۶ (https://shamela.ws/book/21712/887):</a:t>
            </a:r>
          </a:p>
          <a:p/>
          <a:p>
            <a:r>
              <a:t>&gt; فَسَارَ وَأَوْقَعَ بِقَبَائِلَ مِنْ نَاسِ قُضَاعَةَ الَّتِي ارْتَدَّتْ، وَغَنِمَ وَعَادَ، وَكَانَتْ غَيْبَتُهُ أَرْبَعِينَ يَوْمًا، وَقِيلَ: سَبْعِينَ يَوْمًا</a:t>
            </a:r>
          </a:p>
          <a:p>
            <a:r>
              <a:t>&gt; *English:* "So he marched and fell upon clans of the people of Quḍāʿa that had broken away, and took</a:t>
            </a:r>
          </a:p>
          <a:p>
            <a:r>
              <a:t>&gt; spoil and came back; and his absence was forty days — and it is said seventy days."</a:t>
            </a:r>
          </a:p>
          <a:p/>
          <a:p>
            <a:r>
              <a:t>The agents, and which of them turned — الکامل ج۲ ص۲۰۱ (https://shamela.ws/book/21712/892), an</a:t>
            </a:r>
          </a:p>
          <a:p>
            <a:r>
              <a:t>unusually precise list for this front:</a:t>
            </a:r>
          </a:p>
          <a:p/>
          <a:p>
            <a:r>
              <a:t>&gt; فَكَانَ عُمَّالُ رَسُولِ اللَّهِ - صَلَّى اللَّهُ عَلَيْهِ وَسَلَّمَ - عَلَى قُضَاعَةَ وَكَلْبٍ: امْرُؤُ الْقَيْسِ بْنُ الْأَصْبَغِ الْكَلْبِيُّ، وَعَلَى الْقَيْنِ: عَمْرُو بْنُ الْحَكَمِ، وَعَلَى سَعْدِ هُذَيْمٍ: مُعَاوِيَةُ الْوَالِبِيُّ</a:t>
            </a:r>
          </a:p>
          <a:p>
            <a:r>
              <a:t>&gt; *English:* "The agents of the Messenger of Allah ﷺ were: over Quḍāʿa and Kalb, Imruʾ al-Qays b.</a:t>
            </a:r>
          </a:p>
          <a:p>
            <a:r>
              <a:t>&gt; al-Aṣbagh al-Kalbī; over al-Qayn, ʿAmr b. al-Ḥakam; over Saʿd Hudhaym, Muʿāwiya al-Wālibī."</a:t>
            </a:r>
          </a:p>
          <a:p/>
          <a:p>
            <a:r>
              <a:t>&gt; فَارْتَدَّ وَدِيعَةُ الْكَلْبِيُّ فِيمَنْ تَبِعَهُ، وَبَقِيَ امْرُؤُ الْقَيْسِ عَلَى دِينِهِ، وَارْتَدَّ زُمَيْلُ بْنُ قُطْبَةَ الْقَيْنِيُّ، وَبَقِيَ عَمْرٌو، وَارْتَدَّ مُعَاوِيَةُ فِيمَنِ اتَّبَعَهُ مِنْ سَعْدِ هُذَيْمٍ</a:t>
            </a:r>
          </a:p>
          <a:p>
            <a:r>
              <a:t>&gt; *English:* "Then Wadīʿa al-Kalbī apostatised with those who followed him, and Imruʾ al-Qays remained</a:t>
            </a:r>
          </a:p>
          <a:p>
            <a:r>
              <a:t>&gt; on his religion; and Zumayl b. Qutba al-Qaynī apostatised, and ʿAmr remained; and Muʿāwiya</a:t>
            </a:r>
          </a:p>
          <a:p>
            <a:r>
              <a:t>&gt; apostatised with those of Saʿd Hudhaym who followed him."</a:t>
            </a:r>
          </a:p>
          <a:p/>
          <a:p>
            <a:r>
              <a:t>And he waited for Usāma ؓ before engaging anybody — same page:</a:t>
            </a:r>
          </a:p>
          <a:p/>
          <a:p>
            <a:r>
              <a:t>&gt; وَانْتَظَرَ بِمُصَادَمَتِهِمْ قُدُومَ أُسَامَةَ</a:t>
            </a:r>
          </a:p>
          <a:p>
            <a:r>
              <a:t>&gt; — الکامل فی التاریخ ج۲ ص۲۰۱ · https://shamela.ws/book/21712/892</a:t>
            </a:r>
          </a:p>
          <a:p>
            <a:r>
              <a:t>&gt; *English:* "And he waited, before coming to blows with them, for Usāma's arrival."</a:t>
            </a:r>
          </a:p>
          <a:p/>
          <a:p>
            <a:r>
              <a:t>This is the answer to the question the room will ask — *if the north was already open, why did he</a:t>
            </a:r>
          </a:p>
          <a:p>
            <a:r>
              <a:t>not deal with it first?* — he did not yet have an army to do it with.</a:t>
            </a:r>
          </a:p>
          <a:p>
            <a:r>
              <a:t>The sectors, in Abū Bakr's ؓ own instruction — الکامل ج۲ ص۲۱۵ (https://shamela.ws/book/21712/906):</a:t>
            </a:r>
          </a:p>
          <a:p/>
          <a:p>
            <a:r>
              <a:t>&gt; فَكَتَبَ إِلَى شُرَحْبِيلَ بِالْمُقَامِ إِلَى أَنْ يَأْتِيَ خَالِدٌ، فَإِذَا فَرَغُوا مِنْ مُسَيْلِمَةَ تَلْحَقُ بِعَمْرِو بْنِ الْعَاصِ تُعِينُهُ عَلَى قُضَاعَةَ</a:t>
            </a:r>
          </a:p>
          <a:p>
            <a:r>
              <a:t>&gt; *English:* "So he wrote to Shuraḥbīl to stay where he was until Khālid should come; and when they</a:t>
            </a:r>
          </a:p>
          <a:p>
            <a:r>
              <a:t>&gt; were done with Musaylima, 'you are to join ʿAmr b. al-ʿĀṣ and help him against Quḍāʿa.'"</a:t>
            </a:r>
          </a:p>
          <a:p/>
          <a:p>
            <a:r>
              <a:t>&gt; فَسَارَ بِوَدِيعَةَ إِلَى عَمْرٍو، فَأَقَامَ لِزُمَيْلٍ</a:t>
            </a:r>
          </a:p>
          <a:p>
            <a:r>
              <a:t>&gt; — الکامل فی التاریخ ج۲ ص۲۰۱ · https://shamela.ws/book/21712/892</a:t>
            </a:r>
          </a:p>
          <a:p>
            <a:r>
              <a:t>&gt; *English:* "So he marched with Wadīʿa to ʿAmr, and stood up to Zumayl."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 four coastal and highland actions, al-Kamil, vol. 2, p. 227 only. ⚠ Say "Ibn al-Athīr alone records…"</a:t>
            </a:r>
          </a:p>
          <a:p/>
          <a:p>
            <a:r>
              <a:t>⚠⚠ SINGLE SOURCE. Ibn al-Athīr alone records all of this; البدایہ carries none of it. Say so on the</a:t>
            </a:r>
          </a:p>
          <a:p>
            <a:r>
              <a:t>card and in the notes: *"Ibn al-Athīr alone records these four."* One page — الکامل ج۲ ص۲۲۷ — carries the</a:t>
            </a:r>
          </a:p>
          <a:p>
            <a:r>
              <a:t>whole card.</a:t>
            </a:r>
          </a:p>
          <a:p>
            <a:r>
              <a:t>Tihāma, verbatim — الکامل ج۲ ص۲۲۷:</a:t>
            </a:r>
          </a:p>
          <a:p/>
          <a:p>
            <a:r>
              <a:t>⚠ "Until now" is Ibn al-Athīr's now, not ours. Say *"and the name was still on them in Ibn</a:t>
            </a:r>
          </a:p>
          <a:p>
            <a:r>
              <a:t>al-Athīr's own day, centuries later"* — never "and it is still called that today", which no page we</a:t>
            </a:r>
          </a:p>
          <a:p>
            <a:r>
              <a:t>hold supports. ⚠ Do not put a year on him from memory: no page we hold gives Ibn al-Athīr's dates,</a:t>
            </a:r>
          </a:p>
          <a:p>
            <a:r>
              <a:t>so "centuries later" is as far as this goes without a citation. [STANDARD] (to verify) if a</a:t>
            </a:r>
          </a:p>
          <a:p>
            <a:r>
              <a:t>figure is ever wanted.</a:t>
            </a:r>
          </a:p>
          <a:p>
            <a:r>
              <a:t>Bajīla and Khathʿam, verbatim — الکامل ج۲ ص۲۲۷:</a:t>
            </a:r>
          </a:p>
          <a:p/>
          <a:p>
            <a:r>
              <a:t>⚠ Cross-reference RCT/E-RC36. The pool's closing card already carries Najrān, in Ibn Kathīr's own</a:t>
            </a:r>
          </a:p>
          <a:p>
            <a:r>
              <a:t>closing words:</a:t>
            </a:r>
          </a:p>
          <a:p/>
          <a:p>
            <a:r>
              <a:t>SAY —</a:t>
            </a:r>
          </a:p>
          <a:p>
            <a:r>
              <a:t>1. Where this sits — these are not fronts in the ordinary sense. Four small actions, running at the same time as everything else, and no army from Medina in any of them.</a:t>
            </a:r>
          </a:p>
          <a:p>
            <a:r>
              <a:t>2. The letter first — ʿAttāb b. Asīd ؓ, the Prophet's ﷺ own agent over Mecca and its land, wrote to Abū Bakr ؓ to tell him who had turned in his district.</a:t>
            </a:r>
          </a:p>
          <a:p>
            <a:r>
              <a:t>3. Tihāma — he sent his own brother Khālid against Mudlij, Khuzāʿa and the sons of Kināna; Kināna were under Jundub b. Salmā. They met at al-Abāriq. Khālid killed them and scattered them — and Jundub got away and went back.</a:t>
            </a:r>
          </a:p>
          <a:p>
            <a:r>
              <a:t>4. Shanūʾa — ʿUthmān b. Abī al-ʿĀṣ ؓ, the Prophet's ﷺ agent over al-Ṭāʾif, sent a party and put ʿUthmān b. Abī Rabīʿa over it. The Azd, Bajīla and Khathʿam there, under Ḥumayḍa b. al-Nuʿmān, broke and scattered, and Ḥumayḍa fled away into the country.</a:t>
            </a:r>
          </a:p>
          <a:p>
            <a:r>
              <a:t>5. al-Aʿlāb — ʿAkk were the first people in Tihāma to break away after the Prophet ﷺ. They and the Ashʿarīs camped at al-Aʿlāb, and al-Ṭāhir b. Abī Hāla came against them with Masrūq and the men of ʿAkk who had not turned. Heavy killing. Ibn al-Athīr: "and that was a great victory."</a:t>
            </a:r>
          </a:p>
          <a:p>
            <a:r>
              <a:t>   ^ read the Arabic on the face here</a:t>
            </a:r>
          </a:p>
          <a:p>
            <a:r>
              <a:t>6. The name that stuck — Abū Bakr's ؓ letter reached al-Ṭāhir ordering him to fight them; it called them al-Akhābith and their road the road of al-Akhābith — and Ibn al-Athīr says the name was still on them in his own day, centuries later.</a:t>
            </a:r>
          </a:p>
          <a:p>
            <a:r>
              <a:t>7. Bajīla and Khathʿam — Abū Bakr ؓ sent Jarīr b. ʿAbdallāh ؓ back to his own people, to call up those of them who had stood firm and fight with them those who had not, and then to go to Khathʿam against whoever came out in anger for Dhū al-Khalaṣa. Nobody stood up to him but a small band.</a:t>
            </a:r>
          </a:p>
          <a:p>
            <a:r>
              <a:t>8. And one community went the other way — Najrān sent a delegation to renew its covenant, and he wrote them a document for it.</a:t>
            </a:r>
          </a:p>
          <a:p/>
          <a:p>
            <a:r>
              <a:t>QUOTE — ثُمَّ تَجَمَّعَ عَكٌّ وَالْأَشْعَرِيُّونَ، وَأَقَامُوا عَلَى الْأَعْلَابِ، فَسَارَ إِلَيْهِمُ الطَّاهِرُ بْنُ أَبِي هَالَةَ وَمَعَهُ مَسْرُوقٌ وَقَوْمُهُ مِنْ عَكٍّ مِمَّنْ لَمْ يَرْتَدَّ، فَالْتَقَوْا عَلَى الْأَعْلَابِ، فَانْهَزَمَتْ عَكٌّ وَمَنْ مَعَهُمْ، وَقُتِلُوا قَتْلًا ذَرِيعًا، وَكَانَ ذَلِكَ فَتْحًا عَظِيمًا</a:t>
            </a:r>
          </a:p>
          <a:p>
            <a:r>
              <a:t>"Then ʿAkk and the Ashʿarīs gathered and encamped at al-Aʿlāb, and al-Ṭāhir b. Abī Hāla marched against them, and with him Masrūq and his people of ʿAkk who had not apostatised. They met at al-Aʿlāb, and ʿAkk and those with them were routed, and they were killed in great numbers — and that was a great victory."</a:t>
            </a:r>
          </a:p>
          <a:p>
            <a:r>
              <a:t>— الکامل فی التاریخ ج۲ ص۲۲۷</a:t>
            </a:r>
          </a:p>
          <a:p/>
          <a:p>
            <a:r>
              <a:t>عبرت — On four of these fronts nobody arrived from anywhere. The men who held them were already standing there.</a:t>
            </a:r>
          </a:p>
          <a:p/>
          <a:p>
            <a:r>
              <a:t>HANDS UP — Four place-names. Ask the room, before you say them, how many of the four they have ever heard of.</a:t>
            </a:r>
          </a:p>
          <a:p/>
          <a:p>
            <a:r>
              <a:t>Jarīr b. ʿAbdallāh ؓ is already known to this room: he is the man al-Ashʿath put forward to lead a</a:t>
            </a:r>
          </a:p>
          <a:p>
            <a:r>
              <a:t>funeral prayer, saying *"this man did not apostatise — and I did"* (already on a pool card). This card</a:t>
            </a:r>
          </a:p>
          <a:p>
            <a:r>
              <a:t>is where he gets his own command. ⚠ Dhū al-Khalaṣa is an idol, and the page does not gloss it. Say</a:t>
            </a:r>
          </a:p>
          <a:p>
            <a:r>
              <a:t>only what the page says — men who "came out in anger for Dhū al-Khalaṣa" — and do not describe it.</a:t>
            </a:r>
          </a:p>
          <a:p>
            <a:r>
              <a:t>And the one community that renewed its treaty instead of rising — الکامل ج۲ ص۲۲۷:</a:t>
            </a:r>
          </a:p>
          <a:p/>
          <a:p>
            <a:r>
              <a:t>This is the whole mechanism of the card in one sentence: these men were already in post, appointed by</a:t>
            </a:r>
          </a:p>
          <a:p>
            <a:r>
              <a:t>the Prophet ﷺ, and the ridda in their districts was put down by them. It is Ibn Kathīr's own summary</a:t>
            </a:r>
          </a:p>
          <a:p>
            <a:r>
              <a:t>point at RCT/E-RC36 — armies sent *to support whichever believers were already in that region* — and</a:t>
            </a:r>
          </a:p>
          <a:p>
            <a:r>
              <a:t>here it is happening with no army sent at all.</a:t>
            </a:r>
          </a:p>
          <a:p>
            <a:r>
              <a:t>⚠⚠ HONORIFICS — read this before writing any slide. The ؓ in this card follows the research note and</a:t>
            </a:r>
          </a:p>
          <a:p>
            <a:r>
              <a:t>the pool exactly: ʿAttāb b. Asīd ؓ, ʿUthmān b. Abī al-ʿĀṣ ؓ, Jarīr b. ʿAbdallāh ؓ (whom the</a:t>
            </a:r>
          </a:p>
          <a:p>
            <a:r>
              <a:t>pool already prints with ؓ). No honorific for Khālid b. ʿAttāb, ʿUthmān b. Abī Rabīʿa, Masrūq, Mālik b.</a:t>
            </a:r>
          </a:p>
          <a:p>
            <a:r>
              <a:t>ʿAwf al-Naḍrī, Ḥumayḍa b. al-Nuʿmān or Jundub b. Salmā — no page we hold states Companionship for any</a:t>
            </a:r>
          </a:p>
          <a:p>
            <a:r>
              <a:t>of them, and the last two were on the other side.</a:t>
            </a:r>
          </a:p>
          <a:p>
            <a:r>
              <a:t>⚠ One honorific is genuinely unsettled, and the gap is stated rather than guessed: الطاهر بن أبي هالة.</a:t>
            </a:r>
          </a:p>
          <a:p>
            <a:r>
              <a:t>ص۲۲۶ puts him in exactly the same position as the two men who do carry ؓ here — the Prophet's ﷺ own</a:t>
            </a:r>
          </a:p>
          <a:p>
            <a:r>
              <a:t>appointed agent, over ʿAkk and the Ashʿarīs — yet the research note leaves his name bare and so does this</a:t>
            </a:r>
          </a:p>
          <a:p>
            <a:r>
              <a:t>card. The bare name is a conservative choice, not a judgement about the man. It wants settling once,</a:t>
            </a:r>
          </a:p>
          <a:p>
            <a:r>
              <a:t>in docs/catalogue/PEOPLE.md, and then every artifact reads it from there. Until then: bare, and if a</a:t>
            </a:r>
          </a:p>
          <a:p>
            <a:r>
              <a:t>slip asks, say the book names him as the Prophet's ﷺ agent over ʿAkk and that we have not verified more.</a:t>
            </a:r>
          </a:p>
          <a:p>
            <a:r>
              <a:t>⚠ #43 — six names and four places walk on stage here for the first time in the whole series. Every</a:t>
            </a:r>
          </a:p>
          <a:p>
            <a:r>
              <a:t>one of them needs its one breath, and four of them get no more than a clause: *ʿAttāb b. Asīd ؓ — the</a:t>
            </a:r>
          </a:p>
          <a:p>
            <a:r>
              <a:t>Prophet's ﷺ agent over Mecca* · *his brother Khālid, who did the fighting* · *ʿUthmān b. Abī al-ʿĀṣ ؓ —</a:t>
            </a:r>
          </a:p>
          <a:p>
            <a:r>
              <a:t>the Prophet's ﷺ agent over al-Ṭāʾif* · *ʿUthmān b. Abī Rabīʿa, who led his detachment* · *al-Ṭāhir b. Abī</a:t>
            </a:r>
          </a:p>
          <a:p>
            <a:r>
              <a:t>Hāla — the Prophet's ﷺ agent over ʿAkk and the Ashʿarīs* · *Masrūq, of ʿAkk, who did not turn.* The</a:t>
            </a:r>
          </a:p>
          <a:p>
            <a:r>
              <a:t>dates of none of these six are on any page we hold — give the posting instead of a date, which is what</a:t>
            </a:r>
          </a:p>
          <a:p>
            <a:r>
              <a:t>the room actually needs. ⚠ And the four place-names — الأبارق · شنوءة · الأعْلاب · ذو الخلصة — are on no</a:t>
            </a:r>
          </a:p>
          <a:p>
            <a:r>
              <a:t>map in docs/catalogue/MAPS.md yet. They need adding before this card can carry a map.</a:t>
            </a:r>
          </a:p>
          <a:p/>
          <a:p>
            <a:r>
              <a:t>BACKGROUND (read at home, not aloud) —</a:t>
            </a:r>
          </a:p>
          <a:p>
            <a:r>
              <a:t>Four small actions in the south-west, and every one of them was run by a man who was already there. ʿAttāb b. Asīd ؓ wrote to Abū Bakr ؓ from Mecca to tell him who had turned in his own district, and then sent his own brother Khālid against the people of Tihāma, where Mudlij, Khuzāʿa and the sons of Kināna had gathered, Kināna under Jundub b. Salmā. They met at al-Abāriq, Khālid killed them and scattered them, and Jundub got away and went home. ʿUthmān b. Abī al-ʿĀṣ ؓ sent a party from al-Ṭāʾif against Shanūʾa and put ʿUthmān b. Abī Rabīʿa over it; the Azd, Bajīla and Khathʿam there were broken and scattered, and Ḥumayḍa b. al-Nuʿmān, who led them, fled into open country. At al-Aʿlāb the people of ʿAkk and the Ashʿarīs were routed. And Jarīr b. ʿAbdallāh ؓ was sent home to raise the loyal half of his own tribe and fight the other half with it.</a:t>
            </a:r>
          </a:p>
          <a:p/>
          <a:p>
            <a:r>
              <a:t>&gt; فَكَتَبَ عَتَّابُ بْنُ أَسِيدٍ إِلَى أَبِي بَكْرٍ يُعَرِّفُهُ خَبَرَ مَنِ ارْتَدَّ فِي عَمَلِهِ، وَبَعَثَ عَتَّابٌ أَخَاهُ خَالِدًا إِلَى أَهْلِ تِهَامَةَ، وَبِهَا جَمَاعَةٌ مِنْ مُدْلِجٍ وَخُزَاعَةَ وَأَبْنَاءِ كِنَانَةَ</a:t>
            </a:r>
          </a:p>
          <a:p>
            <a:r>
              <a:t>&gt; *English:* "So ʿAttāb b. Asīd wrote to Abū Bakr informing him of the news of who had apostatised in</a:t>
            </a:r>
          </a:p>
          <a:p>
            <a:r>
              <a:t>&gt; his district; and ʿAttāb sent his brother Khālid to the people of Tihāma, where there was a body of</a:t>
            </a:r>
          </a:p>
          <a:p>
            <a:r>
              <a:t>&gt; Mudlij and Khuzāʿa and the sons of Kināna."</a:t>
            </a:r>
          </a:p>
          <a:p/>
          <a:p>
            <a:r>
              <a:t>&gt; وَأَمَّا كِنَانَةُ عَلَيْهِمْ جُنْدُبُ بْنُ سَلْمَى، فَالْتَقَوْا بِالْأَبَارِقِ، فَقَتَلَهُمْ خَالِدٌ وَفَرَّقَهُمْ</a:t>
            </a:r>
          </a:p>
          <a:p>
            <a:r>
              <a:t>&gt; *English:* "And as for Kināna — over them was Jundub b. Salmā. They met at al-Abāriq, and Khālid</a:t>
            </a:r>
          </a:p>
          <a:p>
            <a:r>
              <a:t>&gt; killed them and scattered them."</a:t>
            </a:r>
          </a:p>
          <a:p/>
          <a:p>
            <a:r>
              <a:t>And what became of him — the next clause on the same page:</a:t>
            </a:r>
          </a:p>
          <a:p/>
          <a:p>
            <a:r>
              <a:t>&gt; وَأَفْلَتَ جُنْدُبُ بْنُ سَلْمَى وَعَادَ</a:t>
            </a:r>
          </a:p>
          <a:p>
            <a:r>
              <a:t>&gt; — الکامل فی التاریخ ج۲ ص۲۲۷ · https://shamela.ws/book/21712/918</a:t>
            </a:r>
          </a:p>
          <a:p>
            <a:r>
              <a:t>&gt; *English:* "And Jundub b. Salmā escaped, and went back."</a:t>
            </a:r>
          </a:p>
          <a:p/>
          <a:p>
            <a:r>
              <a:t>That is the answer for this one: he was not killed and he was not taken. He got away and went home,</a:t>
            </a:r>
          </a:p>
          <a:p>
            <a:r>
              <a:t>and the books say nothing further about him.</a:t>
            </a:r>
          </a:p>
          <a:p>
            <a:r>
              <a:t>Shanūʾa, verbatim — الکامل ج۲ ص۲۲۷:</a:t>
            </a:r>
          </a:p>
          <a:p/>
          <a:p>
            <a:r>
              <a:t>&gt; وَبَعَثَ عُثْمَانُ بْنُ أَبِي الْعَاصِ بَعْثًا إِلَى شَنُوءَةَ وَبِهَا جَمَاعَةٌ مِنَ الْأَزْدِ، وَبَجِيلَةُ، وَخَثْعَمُ، وَعَلَيْهِمْ حُمَيْضَةُ بْنُ النُّعْمَانِ، وَاسْتَعْمَلَ عُثْمَانُ عَلَى السَّرِيَّةِ عُثْمَانَ بْنَ أَبِي رَبِيعَةَ، فَالْتَقَوْا بِشَنُوءَةَ، فَانْهَزَمَ الْكُفَّارُ وَتَفَرَّقُوا، وَهَرَبَ حُمَيْضَةُ فِي الْبِلَادِ</a:t>
            </a:r>
          </a:p>
          <a:p>
            <a:r>
              <a:t>&gt; *English:* "And ʿUthmān b. Abī al-ʿĀṣ sent out a party to Shanūʾa, where there was a body of the Azd,</a:t>
            </a:r>
          </a:p>
          <a:p>
            <a:r>
              <a:t>&gt; and Bajīla, and Khathʿam, and over them was Ḥumayḍa b. al-Nuʿmān; and ʿUthmān put ʿUthmān b. Abī</a:t>
            </a:r>
          </a:p>
          <a:p>
            <a:r>
              <a:t>&gt; Rabīʿa in command of the detachment. They met at Shanūʾa, and the unbelievers were routed and</a:t>
            </a:r>
          </a:p>
          <a:p>
            <a:r>
              <a:t>&gt; scattered, and Ḥumayḍa fled away into the country."</a:t>
            </a:r>
          </a:p>
          <a:p/>
          <a:p>
            <a:r>
              <a:t>The name Abū Bakr ؓ gave them, and how long it lasted — الکامل ج۲ ص۲۲۷:</a:t>
            </a:r>
          </a:p>
          <a:p/>
          <a:p>
            <a:r>
              <a:t>&gt; وَوَرَدَ كِتَابُ أَبِي بَكْرٍ عَلَى الطَّاهِرِ يَأْمُرُهُ بِقِتَالِهِمْ، وَسَمَّاهُمُ الْأَخَابِثَ، وَسَمَّى طَرِيقَهُمْ طَرِيقَ الْأَخَابِثِ، فَبَقِيَ الِاسْمُ عَلَيْهِمْ إِلَى الْآنَ</a:t>
            </a:r>
          </a:p>
          <a:p>
            <a:r>
              <a:t>&gt; *English:* "And Abū Bakr's letter came to al-Ṭāhir ordering him to fight them, and it named them</a:t>
            </a:r>
          </a:p>
          <a:p>
            <a:r>
              <a:t>&gt; al-Akhābith and named their road the road of al-Akhābith — and the name has remained on them until</a:t>
            </a:r>
          </a:p>
          <a:p>
            <a:r>
              <a:t>&gt; now."</a:t>
            </a:r>
          </a:p>
          <a:p/>
          <a:p>
            <a:r>
              <a:t>&gt; وَأَمَّا بَجِيلَةُ فَإِنَّ أَبَا بَكْرٍ رَدَّ جَرِيرَ بْنَ عَبْدِ اللَّهِ، وَأَمَرَهُ أَنْ يَسْتَنْفِرَ مِنْ قَوْمِهِ مَنْ ثَبَتَ عَلَى الْإِسْلَامِ، وَيُقَاتِلَ بِهِمْ مَنِ ارْتَدَّ عَنِ الْإِسْلَامِ، وَأَنْ يَأْتِيَ خَثْعَمَ فَيُقَاتِلَ مَنْ خَرَجَ غَضَبًا لِذِي الْخَلَصَةِ، فَخَرَجَ جَرِيرٌ وَفَعَلَ مَا أَمَرَهُ، فَلَمْ يَقُمْ لَهُ أَحَدٌ إِلَّا نَفَرٌ يَسِيرٌ، فَقَتَلَهُمْ وَتَتَبَّعَهُمْ</a:t>
            </a:r>
          </a:p>
          <a:p>
            <a:r>
              <a:t>&gt; *English:* "And as for Bajīla — Abū Bakr sent Jarīr b. ʿAbdallāh back, and ordered him to call up</a:t>
            </a:r>
          </a:p>
          <a:p>
            <a:r>
              <a:t>&gt; those of his people who had stood firm upon Islam and to fight with them those who had apostatised</a:t>
            </a:r>
          </a:p>
          <a:p>
            <a:r>
              <a:t>&gt; from Islam, and to go to Khathʿam and fight whoever had come out in anger for Dhū al-Khalaṣa. So</a:t>
            </a:r>
          </a:p>
          <a:p>
            <a:r>
              <a:t>&gt; Jarīr went out and did what he had ordered him, and nobody stood up to him but a small band — and</a:t>
            </a:r>
          </a:p>
          <a:p>
            <a:r>
              <a:t>&gt; he killed them and hunted them down."</a:t>
            </a:r>
          </a:p>
          <a:p/>
          <a:p>
            <a:r>
              <a:t>&gt; وَأَمَّا أَهْلُ نَجْرَانَ فَلَمَّا بَلَغَهُمْ مَوْتُ النَّبِيِّ - صَلَّى اللَّهُ عَلَيْهِ وَسَلَّمَ - أَرْسَلُوا وَفْدًا لِيُجَدِّدُوا عَهْدَهُمْ مَعَ أَبِي بَكْرٍ، فَكَتَبَ بِذَلِكَ كِتَابًا</a:t>
            </a:r>
          </a:p>
          <a:p>
            <a:r>
              <a:t>&gt; *English:* "And as for the people of Najrān — when the news of the Prophet's ﷺ death reached them,</a:t>
            </a:r>
          </a:p>
          <a:p>
            <a:r>
              <a:t>&gt; they sent a delegation to renew their covenant with Abū Bakr, and he wrote a document to that effect."</a:t>
            </a:r>
          </a:p>
          <a:p/>
          <a:p>
            <a:r>
              <a:t>&gt; وأهل ذمة من الصديق، كأهل نجران</a:t>
            </a:r>
          </a:p>
          <a:p>
            <a:r>
              <a:t>&gt; — البدایہ والنہایہ ج۷ ص۴۳ · https://shamela.ws/book/30097/3189</a:t>
            </a:r>
          </a:p>
          <a:p>
            <a:r>
              <a:t>&gt; *English:* "…and people under al-Ṣiddīq's protection, such as the people of Najrān."</a:t>
            </a:r>
          </a:p>
          <a:p/>
          <a:p>
            <a:r>
              <a:t>Do not tell Najrān twice. If RC36 is in the deck, drop beat 8 from this card and let the closing</a:t>
            </a:r>
          </a:p>
          <a:p>
            <a:r>
              <a:t>card have it; this sub-note is here so the الکامل wording is on record either way.</a:t>
            </a:r>
          </a:p>
          <a:p>
            <a:r>
              <a:t>The appointments this card rests on — الکامل ج۲ ص۲۲۶ (https://shamela.ws/book/21712/917) lists who</a:t>
            </a:r>
          </a:p>
          <a:p>
            <a:r>
              <a:t>held what when the Prophet ﷺ died, and it is the تراجم material for three of the men above:</a:t>
            </a:r>
          </a:p>
          <a:p/>
          <a:p>
            <a:r>
              <a:t>&gt; وَعَلَى مَكَّةَ وَأَرْضِهَا عَتَّابُ بْنُ أَسِيدٍ، وَعَلَى عَكٍّ وَالْأَشْعَرِيِّينَ الطَّاهِرُ بْنُ أَبِي هَالَةَ، وَعَلَى الطَّائِفِ عُثْمَانُ بْنُ أَبِي الْعَاصِ وَمَالِكُ بْنُ عَوْفٍ النَّضْرِيُّ، وَعُثْمَانُ عَلَى الْمُدُنِ، وَمَالِكٌ عَلَى أَهْلِ الْوَبَرِ</a:t>
            </a:r>
          </a:p>
          <a:p>
            <a:r>
              <a:t>&gt; *English:* "…and over Mecca and its land, ʿAttāb b. Asīd; and over ʿAkk and the Ashʿarīs, al-Ṭāhir b.</a:t>
            </a:r>
          </a:p>
          <a:p>
            <a:r>
              <a:t>&gt; Abī Hāla; and over al-Ṭāʾif, ʿUthmān b. Abī al-ʿĀṣ and Mālik b. ʿAwf al-Naḍrī — ʿUthmān over the</a:t>
            </a:r>
          </a:p>
          <a:p>
            <a:r>
              <a:t>&gt; towns and Mālik over the people of the tents."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Put your finger on the map where we stopped last week. Now take it off, and put it here.</a:t>
            </a:r>
          </a:p>
          <a:p>
            <a:r>
              <a:t>We are going back — not far, but back. While al-Yamāma was being fought, and while Oman and Mahra were being fought, there was a front on the other side of Arabia that had started before any of them. Tonight we tell it, and then we come forward to the last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al-Mundhir b. Sāwā ؓ, the Prophet's ﷺ own man there, dies "shortly after the Prophet ﷺ". The programme is a restoration of the old Lakhmid kingship — not a false prophet. ⚠⚠ NAME NO KING: three forms across the books. Say "a king of the old Lakhmid line"</a:t>
            </a:r>
          </a:p>
          <a:p/>
          <a:p>
            <a:r>
              <a:t>⚠ This is a story about one man's scruple, not a ruling on waqf. Narrate it and move on; do not</a:t>
            </a:r>
          </a:p>
          <a:p>
            <a:r>
              <a:t>invite the room to draw a fiqh conclusion from it,</a:t>
            </a:r>
          </a:p>
          <a:p>
            <a:r>
              <a:t>and if a slip comes in asking, it goes to the later session. It is optional colour — the card works</a:t>
            </a:r>
          </a:p>
          <a:p>
            <a:r>
              <a:t>without it.</a:t>
            </a:r>
          </a:p>
          <a:p/>
          <a:p>
            <a:r>
              <a:t>⚠⚠ NAME NO KING — and this is the reason, so that no rebuild can undo it. Our pages carry three</a:t>
            </a:r>
          </a:p>
          <a:p>
            <a:r>
              <a:t>different forms of this man's name, and one of our authorities argues with himself about whether the</a:t>
            </a:r>
          </a:p>
          <a:p>
            <a:r>
              <a:t>word is a name at all:</a:t>
            </a:r>
          </a:p>
          <a:p>
            <a:r>
              <a:t>- «الغرور», and the full form المنذر بن النعمان بن المنذر — البدایہ ج۷ ص۳۸ and الکامل ج۲ ص۲۲۲ (the</a:t>
            </a:r>
          </a:p>
          <a:p>
            <a:r>
              <a:t>  two safe-list books agree on the patronymic; it is the لقب that moves);</a:t>
            </a:r>
          </a:p>
          <a:p>
            <a:r>
              <a:t>- «المعرور بن النعمان بن المنذر» — البدایہ ج۷ ص۱۹, inside محمد بن إسحاق's roster of the risings;</a:t>
            </a:r>
          </a:p>
          <a:p>
            <a:r>
              <a:t>- «المغرور بن سويد» — ابن خلدون ج۲ ص۵۰۴، ص۵۰۵, where the same two pages also carry the other form</a:t>
            </a:r>
          </a:p>
          <a:p>
            <a:r>
              <a:t>  and the remark that المغرور may be a name rather than a لقب.</a:t>
            </a:r>
          </a:p>
          <a:p/>
          <a:p>
            <a:r>
              <a:t>⚠ The slogan in that second quotation belongs to ATA/E-TB24, where it is answered — do not spend</a:t>
            </a:r>
          </a:p>
          <a:p>
            <a:r>
              <a:t>it here. If it is spoken on this card it must not be spoken again later in the evening; pick one.</a:t>
            </a:r>
          </a:p>
          <a:p/>
          <a:p>
            <a:r>
              <a:t>⚠ No ؓ for al-Mundhir b. Sāwā on any artifact until a page is held. He accepted Islam in the</a:t>
            </a:r>
          </a:p>
          <a:p>
            <a:r>
              <a:t>Prophet's ﷺ lifetime and held his appointment, and he is conventionally counted a Companion — but</a:t>
            </a:r>
          </a:p>
          <a:p>
            <a:r>
              <a:t>no page in sources/ states his Companionship, and al-ʿAlāʾ ؓ was sent *to* him, so our pages do</a:t>
            </a:r>
          </a:p>
          <a:p>
            <a:r>
              <a:t>not even place him in the Prophet's ﷺ presence. [STANDARD] *(to verify)*. Nothing printed may carry</a:t>
            </a:r>
          </a:p>
          <a:p>
            <a:r>
              <a:t>the honorific; whether Daniyal says it aloud from his own knowledge is his own call. A ترجمة page</a:t>
            </a:r>
          </a:p>
          <a:p>
            <a:r>
              <a:t>(سیر, or الإصابة, which is outside the safe list) would settle it in one fetch.</a:t>
            </a:r>
          </a:p>
          <a:p/>
          <a:p>
            <a:r>
              <a:t>⚠ The pun at the end of this front is not this card's. The captured king's own later line — "I am</a:t>
            </a:r>
          </a:p>
          <a:p>
            <a:r>
              <a:t>the deceived one, not the deceiver" (الکامل ج۲ ص۲۲۲) — belongs at دارين, where he is taken and becomes</a:t>
            </a:r>
          </a:p>
          <a:p>
            <a:r>
              <a:t>a Muslim (ridda-campaign-the-conduct-of-the-wars.md §12.3; البدایہ ج۷ ص۴۰, الکامل ج۲ ص۲۲۴). And</a:t>
            </a:r>
          </a:p>
          <a:p>
            <a:r>
              <a:t>note the tension before anyone speaks it: it is a pun on the very name this card refuses to say. It</a:t>
            </a:r>
          </a:p>
          <a:p>
            <a:r>
              <a:t>is Daniyal's decision whether to speak it at all; if he does, it is spoken as the man's own words</a:t>
            </a:r>
          </a:p>
          <a:p>
            <a:r>
              <a:t>about himself, after his Islam, and never as our label for him. ⚠ It is not on RCT/E-RC27 as</a:t>
            </a:r>
          </a:p>
          <a:p>
            <a:r>
              <a:t>that card currently stands — if it is wanted, it has to be put there.</a:t>
            </a:r>
          </a:p>
          <a:p/>
          <a:p>
            <a:r>
              <a:t>⚠ Dating. The rising itself is ۱۱ھ: it begins at the Prophet's ﷺ death and the governor's death</a:t>
            </a:r>
          </a:p>
          <a:p>
            <a:r>
              <a:t>shortly after. But Ibn Kathīr records a dissent about the *fighting* that followed —</a:t>
            </a:r>
          </a:p>
          <a:p/>
          <a:p>
            <a:r>
              <a:t>SAY —</a:t>
            </a:r>
          </a:p>
          <a:p>
            <a:r>
              <a:t>1. Bahrayn was already a Muslim administration — the Prophet ﷺ had sent al-ʿAlāʾ b. al-Ḥaḍramī to its king, and the king had accepted Islam at his hands and run Islam and justice there (البدایہ ج۷ ص۳۷).</a:t>
            </a:r>
          </a:p>
          <a:p>
            <a:r>
              <a:t>2. The man who held it — al-Mundhir b. Sāwā al-ʿAbdī, of عبد القيس, the Prophet's ﷺ own appointee in Bahrayn. The books we hold give no لقب and no dates for him; what they give is that he was already ill when the Prophet ﷺ died, and that he died shortly after him.</a:t>
            </a:r>
          </a:p>
          <a:p>
            <a:r>
              <a:t>3. So on this front there are two deaths, not one — the Prophet ﷺ, and then, within a short time, the man who held the country for him. The second death is what opens the fighting.</a:t>
            </a:r>
          </a:p>
          <a:p>
            <a:r>
              <a:t>4. Rabīʿa in Bahrayn agreed together on the ridda — all of it except al-Jārūd ؓ and the men who followed him. Hold that exception; the room will need it in a few minutes.</a:t>
            </a:r>
          </a:p>
          <a:p>
            <a:r>
              <a:t>5. And then the sentence that makes this front unlike every other one tonight — they said: we will put the kingship back.</a:t>
            </a:r>
          </a:p>
          <a:p>
            <a:r>
              <a:t>   ^ read the Arabic on the face here</a:t>
            </a:r>
          </a:p>
          <a:p>
            <a:r>
              <a:t>6. No claimant to prophethood here. These men were not following a false prophet. They were restoring a monarchy. Say that plainly — it is the thing the room will not be expecting.</a:t>
            </a:r>
          </a:p>
          <a:p>
            <a:r>
              <a:t>7. They brought a man of the old royal house out and set him up as king over themselves. ⚠ Give no name — the books do not agree on one, and the reason is in the warning below.</a:t>
            </a:r>
          </a:p>
          <a:p/>
          <a:p>
            <a:r>
              <a:t>QUOTE — 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الکامل فی التاریخ ج۲ ص۲۲۲</a:t>
            </a:r>
          </a:p>
          <a:p/>
          <a:p>
            <a:r>
              <a:t>عبرت — The thing they wanted back on this front was not a religion. It was a throne.</a:t>
            </a:r>
          </a:p>
          <a:p/>
          <a:p>
            <a:r>
              <a:t>BACKGROUND (read at home, not aloud) —</a:t>
            </a:r>
          </a:p>
          <a:p>
            <a:r>
              <a:t>Bahrayn was not a new front. It was an existing administration: the Prophet ﷺ had sent al-ʿAlāʾ b. al-Ḥaḍramī to its king, al-Mundhir b. Sāwā al-ʿAbdī, and the king accepted Islam at his hands and, Ibn Kathīr says, established Islam and justice among his people. Al-Mundhir was already ill when the Prophet ﷺ died, and he died shortly after him. That second death is what opened this front. Then Rabīʿa in Bahrayn agreed together on the ridda — all of it except al-Jārūd ؓ and those who followed him — and what they announced was not a prophet. It was a restoration. They said: we will put the kingship back. And they brought out a man of the old royal house and made him king.</a:t>
            </a:r>
          </a:p>
          <a:p/>
          <a:p>
            <a:r>
              <a:t>The administration that was already there (البدایہ ج۷ ص۳۷):</a:t>
            </a:r>
          </a:p>
          <a:p>
            <a:r>
              <a:t>&gt; كان من خبرهم أنَّ رسولَ الله ﷺ كان قد بعثَ العلاءَ بن الحَضْرميّ إلى مَلِكِها، المُنْذر بن ساوى العَبْدي، وأسلم على يديه وأقام فيهم الإسلامَ والعدلَ، فلما توفي رسولُ الله ﷺ توفي المنذر بعدَه بقليل</a:t>
            </a:r>
          </a:p>
          <a:p>
            <a:r>
              <a:t>&gt; — البدایہ والنہایہ ج۷ ص۳۷ · https://shamela.ws/book/30097/3183</a:t>
            </a:r>
          </a:p>
          <a:p>
            <a:r>
              <a:t>&gt; *English:* "The account of them is that the Messenger of Allah ﷺ had sent al-ʿAlāʾ b. al-Ḥaḍramī to</a:t>
            </a:r>
          </a:p>
          <a:p>
            <a:r>
              <a:t>&gt; its king, al-Mundhir b. Sāwā al-ʿAbdī, and he accepted Islam at his hands and established Islam and</a:t>
            </a:r>
          </a:p>
          <a:p>
            <a:r>
              <a:t>&gt; justice among them. And when the Messenger of Allah ﷺ died, al-Mundhir died shortly after him."</a:t>
            </a:r>
          </a:p>
          <a:p/>
          <a:p>
            <a:r>
              <a:t>He was already ill when the news came (الکامل ج۲ ص۲۲۱):</a:t>
            </a:r>
          </a:p>
          <a:p>
            <a:r>
              <a:t>&gt; فَلَمَّا مَاتَ النَّبِيُّ - صَلَّى اللَّهُ عَلَيْهِ وَسَلَّمَ - كَانَ الْمُنْذِرُ بْنُ سَاوَى الْعَبْدِيُّ مَرِيضًا</a:t>
            </a:r>
          </a:p>
          <a:p>
            <a:r>
              <a:t>&gt; — الکامل فی التاریخ ج۲ ص۲۲۱ · https://shamela.ws/book/21712/912</a:t>
            </a:r>
          </a:p>
          <a:p>
            <a:r>
              <a:t>&gt; *English:* "And when the Prophet ﷺ died, al-Mundhir b. Sāwā al-ʿAbdī was ill."</a:t>
            </a:r>
          </a:p>
          <a:p/>
          <a:p>
            <a:r>
              <a:t>What became of the governor — and it is on the page (البدایہ ج۷ ص۳۷–۳۸). ʿAmr b. al-ʿĀṣ ؓ was</a:t>
            </a:r>
          </a:p>
          <a:p>
            <a:r>
              <a:t>present with him in that final illness. Al-Mundhir asked him whether the Messenger of Allah ﷺ used to</a:t>
            </a:r>
          </a:p>
          <a:p>
            <a:r>
              <a:t>allow a sick man to assign anything out of his wealth; ʿAmr ؓ said yes, a third. He asked what to do</a:t>
            </a:r>
          </a:p>
          <a:p>
            <a:r>
              <a:t>with it, and ʿAmr ؓ offered him three ways — to give it to his relatives, or to the needy, or to make</a:t>
            </a:r>
          </a:p>
          <a:p>
            <a:r>
              <a:t>it a ṣadaqa after him, tied up and inalienable. He refused the third — he said he disliked making it</a:t>
            </a:r>
          </a:p>
          <a:p>
            <a:r>
              <a:t>like the</a:t>
            </a:r>
          </a:p>
          <a:p>
            <a:r>
              <a:t>dedicated animals of the Jāhiliyya:</a:t>
            </a:r>
          </a:p>
          <a:p/>
          <a:p>
            <a:r>
              <a:t>&gt; أن أجعله كالبَحيرةِ والسّائبة والوَصِيلةِ والحام</a:t>
            </a:r>
          </a:p>
          <a:p>
            <a:r>
              <a:t>&gt; — البدایہ والنہایہ ج۷ ص۳۸ · https://shamela.ws/book/30097/3184</a:t>
            </a:r>
          </a:p>
          <a:p>
            <a:r>
              <a:t>&gt; *English:* "...that I should make it like the baḥīra and the sāʾiba and the waṣīla and the ḥām."</a:t>
            </a:r>
          </a:p>
          <a:p/>
          <a:p>
            <a:r>
              <a:t>He gave it away outright instead, and died; and ʿAmr ؓ used to marvel at him.</a:t>
            </a:r>
          </a:p>
          <a:p/>
          <a:p>
            <a:r>
              <a:t>On stage: "they brought out a man of the old royal house and made him king." No name, no dynasty</a:t>
            </a:r>
          </a:p>
          <a:p>
            <a:r>
              <a:t>label. The word *Lakhmid* is modern scholarship and is on no page we hold [CONVENTIONAL-ESTIMATE];</a:t>
            </a:r>
          </a:p>
          <a:p>
            <a:r>
              <a:t>الحيرة reaches us here only through ابن خلدون, who is framing-only (DECISIONS.md #29) — so neither</a:t>
            </a:r>
          </a:p>
          <a:p>
            <a:r>
              <a:t>word goes on the slide face.</a:t>
            </a:r>
          </a:p>
          <a:p/>
          <a:p>
            <a:r>
              <a:t>Not for the slide face — the naming, for the speaker only. Daniyal should see exactly what he is</a:t>
            </a:r>
          </a:p>
          <a:p>
            <a:r>
              <a:t>withholding, and that it is not a disagreement about *who* the man was but about *what he was called*:</a:t>
            </a:r>
          </a:p>
          <a:p>
            <a:r>
              <a:t>&gt; نَرُدُّ الْمُلْكَ فِي الْمُنْذِرِ بْنِ النُّعْمَانِ بْنِ الْمُنْذِرِ، وَكَانَ يُسَمَّى الْغَرُورُ</a:t>
            </a:r>
          </a:p>
          <a:p>
            <a:r>
              <a:t>&gt; — الکامل فی التاریخ ج۲ ص۲۲۲ · https://shamela.ws/book/21712/913</a:t>
            </a:r>
          </a:p>
          <a:p>
            <a:r>
              <a:t>&gt; *English:* "We will restore the kingship in al-Mundhir b. al-Nuʿmān b. al-Mundhir — and he used to</a:t>
            </a:r>
          </a:p>
          <a:p>
            <a:r>
              <a:t>&gt; be called al-Gharūr."</a:t>
            </a:r>
          </a:p>
          <a:p/>
          <a:p>
            <a:r>
              <a:t>&gt; فلما مات المنذرُ ارتدَّ أهلُ البحرين وملَّكوا عليهم الغرور، وهو المنذر بن النعمان بن المنذر. وقال قائلهم: لو كان محمد نبيًا ما مات</a:t>
            </a:r>
          </a:p>
          <a:p>
            <a:r>
              <a:t>&gt; — البدایہ والنہایہ ج۷ ص۳۸ · https://shamela.ws/book/30097/3184</a:t>
            </a:r>
          </a:p>
          <a:p>
            <a:r>
              <a:t>&gt; *English:* "When al-Mundhir died, the people of Bahrayn apostatised and made al-Gharūr king over</a:t>
            </a:r>
          </a:p>
          <a:p>
            <a:r>
              <a:t>&gt; them — and he is al-Mundhir b. al-Nuʿmān b. al-Mundhir. And one of them said: if Muḥammad had been</a:t>
            </a:r>
          </a:p>
          <a:p>
            <a:r>
              <a:t>&gt; a prophet, he would not have died."</a:t>
            </a:r>
          </a:p>
          <a:p/>
          <a:p>
            <a:r>
              <a:t>&gt; وارتدَّتْ ربيعةُ مع المعرور بن النعمان بن المنذر</a:t>
            </a:r>
          </a:p>
          <a:p>
            <a:r>
              <a:t>&gt; — البدایہ والنہایہ ج۷ ص۱۹ · https://shamela.ws/book/30097/3165 (inside محمد بن إسحاق's roster)</a:t>
            </a:r>
          </a:p>
          <a:p>
            <a:r>
              <a:t>&gt; *English:* "And Rabīʿa apostatised with al-Maʿrūr b. al-Nuʿmān b. al-Mundhir."</a:t>
            </a:r>
          </a:p>
          <a:p/>
          <a:p>
            <a:r>
              <a:t>ابن خلدون, named as his reading only (DECISIONS.md #29) — never as what happened. He reads the</a:t>
            </a:r>
          </a:p>
          <a:p>
            <a:r>
              <a:t>programme as the restoration of a client throne, and his own pages carry both name-forms:</a:t>
            </a:r>
          </a:p>
          <a:p>
            <a:r>
              <a:t>&gt; ونصبوا المنذر بن النعمان بن المنذر وكان يسمّى المغرور، فأقاموه ملكا كما كان قومه بالحيرة</a:t>
            </a:r>
          </a:p>
          <a:p>
            <a:r>
              <a:t>&gt; — تاریخ ابن خلدون ج۲ ص۵۰۴ · https://shamela.ws/book/12320/1301</a:t>
            </a:r>
          </a:p>
          <a:p>
            <a:r>
              <a:t>&gt; *English:* "And they set up al-Mundhir b. al-Nuʿmān b. al-Mundhir, who used to be called</a:t>
            </a:r>
          </a:p>
          <a:p>
            <a:r>
              <a:t>&gt; al-Maghrūr, and established him as a king, as his people had been at al-Ḥīra."</a:t>
            </a:r>
          </a:p>
          <a:p/>
          <a:p>
            <a:r>
              <a:t>&gt; وأرسل إلى المغرور بن سويد أخي النعمان بن المنذر</a:t>
            </a:r>
          </a:p>
          <a:p>
            <a:r>
              <a:t>&gt; — تاریخ ابن خلدون ج۲ ص۵۰۴ · https://shamela.ws/book/12320/1301</a:t>
            </a:r>
          </a:p>
          <a:p>
            <a:r>
              <a:t>&gt; *English:* "And he sent to al-Maghrūr b. Suwayd, brother of al-Nuʿmān b. al-Mundhir."</a:t>
            </a:r>
          </a:p>
          <a:p/>
          <a:p>
            <a:r>
              <a:t>&gt; ويقال إن المغرور اسمه وليس هو بلقب</a:t>
            </a:r>
          </a:p>
          <a:p>
            <a:r>
              <a:t>&gt; — تاریخ ابن خلدون ج۲ ص۵۰۵ · https://shamela.ws/book/12320/1302</a:t>
            </a:r>
          </a:p>
          <a:p>
            <a:r>
              <a:t>&gt; *English:* "And it is said that al-Maghrūr is his name, and not a nickname."</a:t>
            </a:r>
          </a:p>
          <a:p/>
          <a:p>
            <a:r>
              <a:t>&gt; وقد قيل: إن وقعةَ جُواثا وعُمان ومهرة وما كان من الوقائع التي أشرنا إليها إنما كانت في سنة ثنتي عشرة</a:t>
            </a:r>
          </a:p>
          <a:p>
            <a:r>
              <a:t>&gt; — البدایہ والنہایہ ج۷ ص۶۱ · https://shamela.ws/book/30097/3207</a:t>
            </a:r>
          </a:p>
          <a:p>
            <a:r>
              <a:t>&gt; *English:* "And it has been said that the affair of Juwāthā and Oman and Mahra, and the events we</a:t>
            </a:r>
          </a:p>
          <a:p>
            <a:r>
              <a:t>&gt; have pointed to, were only in the year twelve."</a:t>
            </a:r>
          </a:p>
          <a:p/>
          <a:p>
            <a:r>
              <a:t>Do not let the Line put a hard ۱۱ھ on the battles of this front.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Fixes a real defect — his death and his cloak carry two cards and he was never introduced. ⚠ And the ridda here was not all ridda: men who had never been Muslims joined him (al-Kamil, vol. 2, p. 222). That is a beat and the ibrah, not an apparatus note</a:t>
            </a:r>
          </a:p>
          <a:p/>
          <a:p>
            <a:r>
              <a:t>⚠ Two sieges, or one told twice? Record it; do not resolve it. The same page carries both:</a:t>
            </a:r>
          </a:p>
          <a:p>
            <a:r>
              <a:t>&gt; وَحَصَرَهُمْ أَصْحَابُ الْمُنْذِرِ بَعْدَهُ حَتَّى اسْتَنْقَذَهُمُ الْعَلَاءُ بْنُ الْحَضْرَمِيِّ</a:t>
            </a:r>
          </a:p>
          <a:p>
            <a:r>
              <a:t>&gt; — الکامل فی التاریخ ج۲ ص۲۲۲ · https://shamela.ws/book/21712/913</a:t>
            </a:r>
          </a:p>
          <a:p>
            <a:r>
              <a:t>&gt; *English:* "And al-Mundhir's own men besieged them after him, until al-ʿAlāʾ b. al-Ḥaḍramī</a:t>
            </a:r>
          </a:p>
          <a:p>
            <a:r>
              <a:t>&gt; delivered them."</a:t>
            </a:r>
          </a:p>
          <a:p/>
          <a:p>
            <a:r>
              <a:t>⚠ #43 — this card is the only place al-Ḥuṭam is introduced, and it must never be cut. His death is</a:t>
            </a:r>
          </a:p>
          <a:p>
            <a:r>
              <a:t>told on RCT/E-RC26 (the stirrup-leather, the severed foot, Qays b. ʿĀṣim's regret) and his</a:t>
            </a:r>
          </a:p>
          <a:p>
            <a:r>
              <a:t>embroidered cloak carries RCT/E-RC28 — and in the delivered series his name reaches a slide face for</a:t>
            </a:r>
          </a:p>
          <a:p>
            <a:r>
              <a:t>the first time on the last card of the block, after he is already dead. If this card is cut, a man</a:t>
            </a:r>
          </a:p>
          <a:p>
            <a:r>
              <a:t>the room has never met dies in front of it.</a:t>
            </a:r>
          </a:p>
          <a:p/>
          <a:p>
            <a:r>
              <a:t>⚠ Dating: as RCT/E-RC71 — the rising is ۱۱ھ; Ibn Kathīr records that some put the fighting of</a:t>
            </a:r>
          </a:p>
          <a:p>
            <a:r>
              <a:t>this front, جُواثى included, in ۱۲ھ (البدایہ ج۷ ص۶۱).</a:t>
            </a:r>
          </a:p>
          <a:p/>
          <a:p>
            <a:r>
              <a:t>SAY —</a:t>
            </a:r>
          </a:p>
          <a:p>
            <a:r>
              <a:t>1. The man who did the actual fighting on this front — al-Ḥuṭam b. Ḍubayʿa, of بنو قيس بن ثعلبة. He went out at the head of بكر بن وائل. Our pages give him no لقب and no dates, and he is not a Companion — no honorific.</a:t>
            </a:r>
          </a:p>
          <a:p>
            <a:r>
              <a:t>▶ CLICK 1 — He takes al-Qaṭīf, then Hajar.</a:t>
            </a:r>
          </a:p>
          <a:p>
            <a:r>
              <a:t>2. And then the sentence الکامل could easily have left out — besides the apostates, men gathered to him who had never ceased to be idolaters. Men who had never been Muslims in the first place.</a:t>
            </a:r>
          </a:p>
          <a:p>
            <a:r>
              <a:t>▶ CLICK 2 — And sends a force on to Dārīn.</a:t>
            </a:r>
          </a:p>
          <a:p>
            <a:r>
              <a:t>3. Now the ground, in the order he took it — he came down on القَطيف and هَجَر, and took them.</a:t>
            </a:r>
          </a:p>
          <a:p>
            <a:r>
              <a:t>4. Then الخَطّ on the coast, and with the place two communities already living in it — the زُطّ and the سَبابجة — drawn in along with it. ⚠ Who they were is not on any page we hold: name them as the page names them, and stop.</a:t>
            </a:r>
          </a:p>
          <a:p>
            <a:r>
              <a:t>5. Then a force sent across the water to the island of دارين — remember that island; this front ends there.</a:t>
            </a:r>
          </a:p>
          <a:p>
            <a:r>
              <a:t>▶ NEXT SLIDE — the words: read the Arabic, then its English.</a:t>
            </a:r>
          </a:p>
          <a:p/>
          <a:p>
            <a:r>
              <a:t>الزُّطّ and السَّبابجة — exactly what we may say, and no more. الکامل ج۲ ص۲۲۲ gives two things only:</a:t>
            </a:r>
          </a:p>
          <a:p>
            <a:r>
              <a:t>they were at الخَطّ, and they were drawn in with the place. They are listed apart from the Arab</a:t>
            </a:r>
          </a:p>
          <a:p>
            <a:r>
              <a:t>tribes, which is why they are named at all. No page in sources/shamela/ glosses either name — the</a:t>
            </a:r>
          </a:p>
          <a:p>
            <a:r>
              <a:t>only other cached occurrence is ابن خلدون ج۲ ص۶۱۰ («الزطّ والسابحة», forty men on guard), a different</a:t>
            </a:r>
          </a:p>
          <a:p>
            <a:r>
              <a:t>event thirty years later, which identifies nothing. So: say they were two communities already settled</a:t>
            </a:r>
          </a:p>
          <a:p>
            <a:r>
              <a:t>on that coast who were brought in with it, and say that who they were is not in the books we read.</a:t>
            </a:r>
          </a:p>
          <a:p>
            <a:r>
              <a:t>⚠ Any identification beyond that needs معجم البلدان or a ترجمة fetched first. Do not supply one from</a:t>
            </a:r>
          </a:p>
          <a:p>
            <a:r>
              <a:t>general knowledge.</a:t>
            </a:r>
          </a:p>
          <a:p/>
          <a:p>
            <a:r>
              <a:t>BACKGROUND (read at home, not aloud) —</a:t>
            </a:r>
          </a:p>
          <a:p>
            <a:r>
              <a:t>The fighting on this front was not done by the king. It was done by al-Ḥuṭam b. Ḍubayʿa, of Banū Qays b. Thaʿlaba, who went out at the head of Bakr b. Wāʾil. And al-Ḥuṭam gathered something it would have been easy for a historian to leave out: besides the apostates, men came to him who had never been Muslims at all — men who had never stopped being idolaters. He came down on al-Qaṭīf and Hajar and took them. He drew in al-Khaṭṭ on the coast, and with it the Zuṭṭ and the Sabābija who were already settled there. He sent a force across the water to the island of Dārīn. And he sent to Juwāthā, and shut the Muslims inside it.</a:t>
            </a:r>
          </a:p>
          <a:p/>
          <a:p>
            <a:r>
              <a:t>The ground he took, verbatim (الکامل ج۲ ص۲۲۲):</a:t>
            </a:r>
          </a:p>
          <a:p>
            <a:r>
              <a:t>&gt; حَتَّى نَزَلَ الْقَطِيفَ وَهَجَرَ، وَاسْتَغَوَوُا الْخَطَّ وَمَنْ بِهَا مِنَ الزُّطِّ وَالسَّبَابِجَةِ، وَبَعَثَ بَعْثًا إِلَى دَارِينَ، وَبَعَثَ إِلَى جُوَاثَا فَحَصَرَ الْمُسْلِمِينَ</a:t>
            </a:r>
          </a:p>
          <a:p>
            <a:r>
              <a:t>&gt; — الکامل فی التاریخ ج۲ ص۲۲۲ · https://shamela.ws/book/21712/913</a:t>
            </a:r>
          </a:p>
          <a:p>
            <a:r>
              <a:t>&gt; *English:* "...until he came down upon al-Qaṭīf and Hajar, and they drew in al-Khaṭṭ and those of</a:t>
            </a:r>
          </a:p>
          <a:p>
            <a:r>
              <a:t>&gt; the Zuṭṭ and the Sabābija who were there; and he sent a force to Dārīn, and he sent to Juwāthā and</a:t>
            </a:r>
          </a:p>
          <a:p>
            <a:r>
              <a:t>&gt; besieged the Muslims."</a:t>
            </a:r>
          </a:p>
          <a:p/>
          <a:p>
            <a:r>
              <a:t>That sentence besieges عبد القيس and attributes it to the dead governor's own men; the sentence in</a:t>
            </a:r>
          </a:p>
          <a:p>
            <a:r>
              <a:t>this card's second quotation besieges جُواثى and attributes it to al-Ḥuṭam. جُواثى was a stronghold</a:t>
            </a:r>
          </a:p>
          <a:p>
            <a:r>
              <a:t>of عبد القيس (البدایہ ج۷ ص۳۸, ed. fn. quoting معجم البلدان), so these are plausibly one siege reported</a:t>
            </a:r>
          </a:p>
          <a:p>
            <a:r>
              <a:t>twice — but no page says so, and we do not say it either. On stage, tell one siege: the one at</a:t>
            </a:r>
          </a:p>
          <a:p>
            <a:r>
              <a:t>جُواثى.</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الکامل فی التاریخ ج۲ ص۲۲۲</a:t>
            </a:r>
          </a:p>
          <a:p/>
          <a:p>
            <a:r>
              <a:t>عبرت — The word «ridda» names this whole front, and on this front it does not fit everyone inside it. Some of those men had never been Muslims to leave.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verses' last hemistich differs (الصبر/النصر) — read it off a page image . ⚠ No honest map shades Bahrayn one colour</a:t>
            </a:r>
          </a:p>
          <a:p/>
          <a:p>
            <a:r>
              <a:t>⚠ The rising there was not all apostasy: الکامل ج۲ ص۲۲۲ notes that men who had never been Muslims</a:t>
            </a:r>
          </a:p>
          <a:p>
            <a:r>
              <a:t>joined al-Ḥuṭam — «مِمَّنْ لَمْ يَزَلْ مُشْرِكًا». And nearby, ʿAbd al-Qays held firm behind al-Jārūd ؓ.</a:t>
            </a:r>
          </a:p>
          <a:p>
            <a:r>
              <a:t>No honest map shades Bahrayn one colour. ⚠ The last hemistich of the verse differs between the two</a:t>
            </a:r>
          </a:p>
          <a:p>
            <a:r>
              <a:t>books (الصبر / النصر): read it off a page image before it reaches a slide.</a:t>
            </a:r>
          </a:p>
          <a:p/>
          <a:p>
            <a:r>
              <a:t>SAY —</a:t>
            </a:r>
          </a:p>
          <a:p>
            <a:r>
              <a:t>1. One place in that whole region did not break, and it was one village — جُواثى. Ibn Kathīr says not a single town in Bahrayn stood firm except it (البدایہ ج۷ ص۳۸).</a:t>
            </a:r>
          </a:p>
          <a:p>
            <a:r>
              <a:t>▶ CLICK 1 — Juwātha is shut in — and ʿAbd al-Qays do not move.</a:t>
            </a:r>
          </a:p>
          <a:p>
            <a:r>
              <a:t>2. And it is the village the ḥadīth remembers: Ibn Kathīr says it was the first village of the people of the ridda to establish the jumuʿa, and that this is established in al-Bukhārī from Ibn ʿAbbās ؓ (البدایہ ج۷ ص۳۸). This is the one sentence on this front that rests on البخاري rather than on campaign reporting — lean on it.</a:t>
            </a:r>
          </a:p>
          <a:p>
            <a:r>
              <a:t>3. The apostates closed around it and tightened — they were cut off from food, and the hunger in the village became severe (البدایہ ج۷ ص۳۸).</a:t>
            </a:r>
          </a:p>
          <a:p>
            <a:r>
              <a:t>4. And a man inside it put the message out in four lines of verse — عبد الله بن حَذَف, one of the besieged; البدایہ adds that he was of بنو بكر بن كلاب (ج۷ ص۳۸).</a:t>
            </a:r>
          </a:p>
          <a:p>
            <a:r>
              <a:t>5. Read the two lines off the screen — a message to Abū Bakr ؓ and to all the young men of Medina: have you any thought for a noble people, sitting besieged in Juwāthā?</a:t>
            </a:r>
          </a:p>
          <a:p>
            <a:r>
              <a:t>6. ⚠ Do not speak the fourth line from this card. The two books print a different word in it — البدایہ has *patience* where الکامل has *victory*, and البدایہ's own editor records that معجم البلدان has *victory* too (ج۷ ص۳۸, ed. fn. 5). The verse is to be read off a page image before it is spoken aloud or printed.</a:t>
            </a:r>
          </a:p>
          <a:p>
            <a:r>
              <a:t>7. How the siege ended, in Ibn Kathīr's own four words: «until Allah relieved them» (البدایہ ج۷ ص۳۸). He gives no terms, no numbers and no date here — the relief has a name, and it is the man who walks on two cards from now.</a:t>
            </a:r>
          </a:p>
          <a:p>
            <a:r>
              <a:t>8. And now move the eye, not the clock — a few days' ride from this ring, in the same weeks, one tribe of that same region never broke at all. No honest map shades Bahrayn one colour. That is the next thing to show.</a:t>
            </a:r>
          </a:p>
          <a:p>
            <a:r>
              <a:t>▶ NEXT SLIDE — the words: read the Arabic, then its English.</a:t>
            </a:r>
          </a:p>
          <a:p/>
          <a:p>
            <a:r>
              <a:t>BACKGROUND (read at home, not aloud) —</a:t>
            </a:r>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أَلَا أَبْلِغْ أَبَا بَكْرٍ رَسُولًا … وَفِتْيَانَ الْمَدِينَةِ أَجْمَعِينَا فَهَلْ لَكُمُ إِلَى قَوْمٍ كِرَامٍ … قُعُودٍ فِي جُوَاثَا مُحْصَرِينَا</a:t>
            </a:r>
          </a:p>
          <a:p>
            <a:r>
              <a:t>"Take a message to Abū Bakr, and to all the young men of Medina: have you any thought for a noble people, sitting besieged in Juwāthā?"</a:t>
            </a:r>
          </a:p>
          <a:p>
            <a:r>
              <a:t>— الکامل ج۲ ص۲۲۲ (also البدایہ ج۷ ص۳۸)</a:t>
            </a:r>
          </a:p>
          <a:p/>
          <a:p>
            <a:r>
              <a:t>عبرت — The place that held out longest was one village, and its message out was four lines of verse.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Bolted to — both or neither. Same page; the loyalist half of a two-colour map: Bakr b. Wāʾil rose, ʿAbd al-Qays held behind al-Jārūd ؓ</a:t>
            </a:r>
          </a:p>
          <a:p/>
          <a:p>
            <a:r>
              <a:t>SAY —</a:t>
            </a:r>
          </a:p>
          <a:p>
            <a:r>
              <a:t>1. Same region, same weeks, a few days' ride inland — and the map needs its second colour now: عبد القيس.</a:t>
            </a:r>
          </a:p>
          <a:p>
            <a:r>
              <a:t>2. al-Jārūd b. al-Muʿallā al-ʿAbdī ؓ — of عبد القيس. He had come to the Messenger of Allah ﷺ, learned fiqh with him, and been sent back to his own people; البدایہ calls him one of their nobles and says he was among those who emigrated to the Prophet ﷺ (الکامل ج۲ ص۲۲۱; البدایہ ج۷ ص۳۸). Our pages give him no لقب and no dates — البدایہ's own word for him here is that he stood as a خطيب among them. He is the reason this region is not one colour.</a:t>
            </a:r>
          </a:p>
          <a:p>
            <a:r>
              <a:t>3. He gathered them, and set a condition before he asked anything at all — answer me if you know it, and do not answer me if you do not (البدایہ ج۷ ص۳۸).</a:t>
            </a:r>
          </a:p>
          <a:p>
            <a:r>
              <a:t>4. Second question — and this is the one الکامل does not have: do you know that, or do you only suppose it? They said: we know it (البدایہ ج۷ ص۳۸).</a:t>
            </a:r>
          </a:p>
          <a:p>
            <a:r>
              <a:t>5. And they said it back to him — and they added: and you are the best of us and our chief. They held firm on their Islam and left the rest of the people to what they were in (البدایہ ج۷ ص۳۹; الکامل ج۲ ص۲۲۲).</a:t>
            </a:r>
          </a:p>
          <a:p>
            <a:r>
              <a:t>   ^ read the Arabic on the face here</a:t>
            </a:r>
          </a:p>
          <a:p/>
          <a:p>
            <a:r>
              <a:t>QUOTE — فإنَّ محمدًا ﷺ ماتَ كما ماتوا، وإني أشهدُ أن لا إله إلا الله وأن محمدًا رسول الله</a:t>
            </a:r>
          </a:p>
          <a:p>
            <a:r>
              <a:t>"Muḥammad ﷺ has died just as they died — and I bear witness that there is no god but Allah and that Muḥammad is the Messenger of Allah."</a:t>
            </a:r>
          </a:p>
          <a:p>
            <a:r>
              <a:t>— البدایہ والنہایہ ج۷ ص۳۸</a:t>
            </a:r>
          </a:p>
          <a:p/>
          <a:p>
            <a:r>
              <a:t>عبرت — Both sides in that region were arguing from the same fact, and the difference was one man who asked his questions in the right order.</a:t>
            </a:r>
          </a:p>
          <a:p/>
          <a:p>
            <a:r>
              <a:t>HANDS UP — Before telling it: *"Their slogan was: if he had been a prophet, he would not have died. How would you answer it?"*</a:t>
            </a:r>
          </a:p>
          <a:p/>
          <a:p>
            <a:r>
              <a:t>The slogan itself, on the same page: «وقال قائلهم: لو كان محمد نبيًا ما مات».</a:t>
            </a:r>
          </a:p>
          <a:p>
            <a:r>
              <a:t>And on the same page, the besieged at جُواثى put their message out in four lines of verse:</a:t>
            </a:r>
          </a:p>
          <a:p>
            <a:r>
              <a:t>«ألا أبلغْ أبا بَكْرٍ رَسولًا … وَفتيانَ المَدينةِ أجْمَعينا / فهَلْ لكُمُ إلى قومٍ كرامٍ … قُعود في جُواثا</a:t>
            </a:r>
          </a:p>
          <a:p>
            <a:r>
              <a:t>مُحصرينا». ⚠ The last word of the verse differs between البدایہ and الکامل; read it off a page</a:t>
            </a:r>
          </a:p>
          <a:p>
            <a:r>
              <a:t>image before printing it (logged in the campaign note).</a:t>
            </a:r>
          </a:p>
          <a:p/>
          <a:p>
            <a:r>
              <a:t>BACKGROUND (read at home, not aloud) —</a:t>
            </a:r>
          </a:p>
          <a:p>
            <a:r>
              <a:t>In Bahrayn one side had a slogan: if Muḥammad had been a prophet, he would not have died. A man of ʿAbd al-Qays, al-Jārūd b. al-Muʿallā ؓ, gathered his people and answered it without arguing with anybody. He told them he was going to ask them about something, and that they should answer if they knew and stay silent if they did not. They said: ask. Do you know that Allah had prophets before Muḥammad ﷺ? They said yes. Do you know that, or do you merely think it? They said: we know it. What did they do? They said: they died. And he said: then Muḥammad ﷺ has died as they died — and I bear witness that there is no god but Allah and that Muḥammad is the Messenger of Allah. And they said: and we bear witness too. They held to their Islam and left the rest of the people to what they were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al-ʿAlāʾ b. al-Ḥaḍramī ؓ has never been named in the series — his notice is beat 1. ⚠⚠ al-Dahnāʾ's water is a کرامہ narrative, through سيف بن عمر in al-Bidaya — narrate as the book narrates. al-Bidaya, vol. 7, p. 39's three-questions version is the better telling. ⚠ Abū Hurayra ؓ was on that march</a:t>
            </a:r>
          </a:p>
          <a:p/>
          <a:p>
            <a:r>
              <a:t>⚠ «Abū Hurayra ؓ was his muezzin» — on the page, but the page marks the chain very weak.</a:t>
            </a:r>
          </a:p>
          <a:p>
            <a:r>
              <a:t>سیر ج۱ ص۲۶۴ carries «بَعَثَنِي رَسُوْلُ اللهِ ﷺ مَعَ العَلاَءِ بنِ الحَضْرَمِيِّ، وَوَصَّاهُ بِي، فَكُنْتُ أُؤَذِّنُ لَهُ» — *"The</a:t>
            </a:r>
          </a:p>
          <a:p>
            <a:r>
              <a:t>Messenger of Allah ﷺ sent me with al-ʿAlāʾ b. al-Ḥaḍramī and charged him concerning me, and I used to</a:t>
            </a:r>
          </a:p>
          <a:p>
            <a:r>
              <a:t>give the adhān for him"* — and that same page's editorial note says of its isnād:</a:t>
            </a:r>
          </a:p>
          <a:p/>
          <a:p>
            <a:r>
              <a:t>⚠ The books give no total for the force that reached Bahrayn. الکامل ج۲ ص۲۲۲ says only that the</a:t>
            </a:r>
          </a:p>
          <a:p>
            <a:r>
              <a:t>Rabāb came in «فِي مِثْلِ عُدَّتِهِ», in the like of his own number. There is no figure anywhere we hold.</a:t>
            </a:r>
          </a:p>
          <a:p>
            <a:r>
              <a:t>If a slip asks how many, say the books do not give one.</a:t>
            </a:r>
          </a:p>
          <a:p/>
          <a:p>
            <a:r>
              <a:t>⚠ سیر compresses this campaign into two lines and its order is not the order we tell. Where</a:t>
            </a:r>
          </a:p>
          <a:p>
            <a:r>
              <a:t>الکامل and البدایہ have هَجَر, the pincer and a month of trenches, سیر ج۱ ص۲۶۴ has only:</a:t>
            </a:r>
          </a:p>
          <a:p/>
          <a:p>
            <a:r>
              <a:t>HANDS UP FIRST — ask it before the first click.  line. notes_for() reads everything after that line into</a:t>
            </a:r>
          </a:p>
          <a:p/>
          <a:p>
            <a:r>
              <a:t>SAY —</a:t>
            </a:r>
          </a:p>
          <a:p>
            <a:r>
              <a:t>1. Who he is — al-ʿAlāʾ b. al-Ḥaḍramī ؓ, the Prophet's ﷺ own governor over Bahrayn, who held it again for Abū Bakr ؓ and then for ʿUmar ؓ and died in 21 AH (641–642 CE); Ibn Kathīr رحمہ اللہ calls him one of the chiefs of the Companions, of the learned and the much-worshipping, a man whose supplication was answered.</a:t>
            </a:r>
          </a:p>
          <a:p>
            <a:r>
              <a:t>▶ CLICK 1 — Sixteen riders come in from the west.</a:t>
            </a:r>
          </a:p>
          <a:p>
            <a:r>
              <a:t>2. Sixteen riders, and a letter — he left Medina with sixteen riders, and Abū Bakr ؓ wrote him a letter: every Muslim he passed on the road was to march out with him against their enemy.</a:t>
            </a:r>
          </a:p>
          <a:p>
            <a:r>
              <a:t>3. The letter did the recruiting — Thumāma b. Uthāl ؓ joined with the Muslims of Banū Ḥanīfa; Qays b. ʿĀṣim al-Minqarī joined and handed over the replacement for the ṣadaqa his people had divided after the Prophet ﷺ died; then ʿAmr, the Abnāʾ, Saʿd b. Tamīm and the Rabāb came in, a body the size of the one he already had.</a:t>
            </a:r>
          </a:p>
          <a:p>
            <a:r>
              <a:t>▶ CLICK 2 — al-Dahnāʾ: the camels are gone — and then the water.</a:t>
            </a:r>
          </a:p>
          <a:p>
            <a:r>
              <a:t>4. The road, and the night everything was lost — he took them into al-Dahnāʾ and camped in the middle of the sand; in the night the camels bolted with the food, the water and the tents, and the men were left on open sand with nothing but their clothes, making their bequests to one another.</a:t>
            </a:r>
          </a:p>
          <a:p>
            <a:r>
              <a:t>5. Three questions, not a speech — he called them together and asked them: are you not the Muslims? are you not in the path of Allah? are you not the helpers of Allah? They said yes — then rejoice, for Allah does not abandon men in the state you are in.</a:t>
            </a:r>
          </a:p>
          <a:p>
            <a:r>
              <a:t>6. Then fajr, and duʿāʾ until sunrise — he prayed fajr with them, went down on his knees and raised his hands, and every man did the same, until the sun was up.</a:t>
            </a:r>
          </a:p>
          <a:p>
            <a:r>
              <a:t>7. What the book then narrates — at the third time, a great pool of sweet water beside them; they drank and washed; and before the day was high the camels came in from every direction with their loads, and the men had not lost a thread.</a:t>
            </a:r>
          </a:p>
          <a:p>
            <a:r>
              <a:t>8. A Companion standing inside the scene — Abū Hurayra ؓ was one of the men on that march; when they had moved on he took a guide, Minjāb b. Rāshid, back to the place, found the pool still there, filled his water-skin and set it on the lip of it to see which it was, and said: this is the place — and praised Allah.</a:t>
            </a:r>
          </a:p>
          <a:p>
            <a:r>
              <a:t>9. ⚠ How to tell beats 5–8, and this line is not an event — narrate it as what the book narrates and go straight on. In البدایہ the chain runs through سيف بن عمر. No doctrinal point is built on it from this platform, and no claim is made about the man.</a:t>
            </a:r>
          </a:p>
          <a:p>
            <a:r>
              <a:t>▶ NEXT SLIDE — the words: read the Arabic, then its English.</a:t>
            </a:r>
          </a:p>
          <a:p/>
          <a:p>
            <a:r>
              <a:t>&gt; وَكَانَ أَبُو هُرَيْرَةَ فِيهِمْ، فَلَمَّا سَارُوا عَنْ ذَلِكَ الْمَكَانِ قَالَ لِمِنْجَابِ بْنِ رَاشِدٍ: كَيْفَ عِلْمُكَ بِمَوْضِعِ الْمَاءِ؟ قَالَ: عَارِفٌ بِهِ. فَقَالَ لَهُ: كُنْ مَعِي حَتَّى تُقِيمَنِي عَلَيْهِ</a:t>
            </a:r>
          </a:p>
          <a:p>
            <a:r>
              <a:t>&gt; — الکامل فی التاریخ ج۲ ص۲۲۳ · https://shamela.ws/book/21712/914</a:t>
            </a:r>
          </a:p>
          <a:p>
            <a:r>
              <a:t>&gt; *English:* "And Abū Hurayra was among them. When they had moved on from that place he said to Minjāb b. Rāshid: how well do you know where the water is? He said: I know it. He said to him: come with me until you set me over it."</a:t>
            </a:r>
          </a:p>
          <a:p>
            <a:r>
              <a:t>&gt; وَمَلَأْتُ إِدَاوَتِي ثُمَّ وَضَعْتُهَا عَلَى شَفِيرِ الْغَدِيرِ وَقُلْتُ: إِنْ كَانَ مَنَّا مِنَ الْمَنِّ عَرَفْتُهُ، وَإِنْ كَانَ عَيْنًا عَرَفْتُهُ، فَإِذَا مَنٌّ مِنَ الْمَنِّ. فَحَمِدَ اللَّهَ</a:t>
            </a:r>
          </a:p>
          <a:p>
            <a:r>
              <a:t>&gt; — الکامل فی التاریخ ج۲ ص۲۲۳ · https://shamela.ws/book/21712/914</a:t>
            </a:r>
          </a:p>
          <a:p>
            <a:r>
              <a:t>&gt; *English:* "… and I filled my water-skin, then set it on the lip of the pool and said: if it is a gift of the kind that is given, I shall know it; and if it is a spring, I shall know it — and it was a gift of the kind that is given. And he praised Allāh."</a:t>
            </a:r>
          </a:p>
          <a:p>
            <a:r>
              <a:t>⚠ This is a كرامہ narrative, and in البدایہ it comes through سيف بن عمر. The card's own standing</a:t>
            </a:r>
          </a:p>
          <a:p>
            <a:r>
              <a:t>instruction, kept: narrate it as what the book narrates; build no doctrinal point on it. Beat 9</a:t>
            </a:r>
          </a:p>
          <a:p>
            <a:r>
              <a:t>carries that to the lectern, which is the only place it was missing.</a:t>
            </a:r>
          </a:p>
          <a:p/>
          <a:p>
            <a:r>
              <a:t>BACKGROUND (read at home, not aloud) —</a:t>
            </a:r>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BACKGROUND, which is where the lifted Arabic belongs: the beats are what he</a:t>
            </a:r>
          </a:p>
          <a:p>
            <a:r>
              <a:t>says aloud, this is what he reads at home.</a:t>
            </a:r>
          </a:p>
          <a:p/>
          <a:p>
            <a:r>
              <a:t>markdown</a:t>
            </a:r>
          </a:p>
          <a:p>
            <a:r>
              <a:t>Who he was, in one breath — and all three lines are on a page we hold:</a:t>
            </a:r>
          </a:p>
          <a:p/>
          <a:p>
            <a:r>
              <a:t>&gt; وَلاَّهُ رَسُوْلُ اللهِ -صَلَّى اللَّهُ عَلَيْهِ وَسَلَّمَ- البَحْرَيْنِ، ثُمَّ وَلِيَهَا لأَبِي بَكْرٍ، وَعُمَرَ.</a:t>
            </a:r>
          </a:p>
          <a:p>
            <a:r>
              <a:t>&gt; — سیر أعلام النبلاء ج۱ ص۲۶۳ · https://shamela.ws/book/10906/1689</a:t>
            </a:r>
          </a:p>
          <a:p>
            <a:r>
              <a:t>&gt; *English:* "The Messenger of Allah صلى الله عليه وسلم appointed him over Bahrayn; then he held it for Abū Bakr, and for ʿUmar."</a:t>
            </a:r>
          </a:p>
          <a:p>
            <a:r>
              <a:t>&gt; تُوُفِّيَ سَنَةَ: إِحْدَى وَعِشْرِيْنَ.</a:t>
            </a:r>
          </a:p>
          <a:p>
            <a:r>
              <a:t>&gt; — سیر أعلام النبلاء ج۱ ص۲۶۴ · https://shamela.ws/book/10906/1690</a:t>
            </a:r>
          </a:p>
          <a:p>
            <a:r>
              <a:t>&gt; *English:* "He died in the year twenty-one."</a:t>
            </a:r>
          </a:p>
          <a:p>
            <a:r>
              <a:t>&gt; وقد كان العلاء من ساداتِ الصحابةِ العلماءِ العُبَّادِ مجابي الدعوة</a:t>
            </a:r>
          </a:p>
          <a:p>
            <a:r>
              <a:t>&gt; — البدایہ والنہایہ ج۷ ص۳۹ · https://shamela.ws/book/30097/3185</a:t>
            </a:r>
          </a:p>
          <a:p>
            <a:r>
              <a:t>&gt; *English:* "al-ʿAlāʾ was among the chiefs of the Companions, the learned, the much-worshipping, whose supplication was answered."</a:t>
            </a:r>
          </a:p>
          <a:p>
            <a:r>
              <a:t>The three questions, the فجر, and the water — البدایہ's telling, which is fuller than the one the</a:t>
            </a:r>
          </a:p>
          <a:p>
            <a:r>
              <a:t>card carries:</a:t>
            </a:r>
          </a:p>
          <a:p/>
          <a:p>
            <a:r>
              <a:t>&gt; أيها الناسُ ألستم المسلمين؟ ألستُم في سبيل الله؟ ألستُم أنصارَ الله؟ قالوا: بلى، قال: فأبشروا فواللهِ لا يخذل اللهُ منْ كانَ في مثل حالكم</a:t>
            </a:r>
          </a:p>
          <a:p>
            <a:r>
              <a:t>&gt; — البدایہ والنہایہ ج۷ ص۳۹ · https://shamela.ws/book/30097/3185</a:t>
            </a:r>
          </a:p>
          <a:p>
            <a:r>
              <a:t>&gt; *English:* "O people — are you not the Muslims? Are you not in the path of Allāh? Are you not the helpers of Allāh? They said: yes. He said: then rejoice, for by Allāh, Allāh does not abandon men who are in a state like yours."</a:t>
            </a:r>
          </a:p>
          <a:p>
            <a:r>
              <a:t>&gt; ونُودي بصلاةِ الصبحِ، حين طلعَ الفجرُ فصلَّى بالناس، فلما قضى الصلاةَ جثا على رُكبتيه وجثا الناسُ، ونصبَ في الدعاء ورفع يديه وفعلَ الناسُ مثله حتى طلعتِ الشمسُ</a:t>
            </a:r>
          </a:p>
          <a:p>
            <a:r>
              <a:t>&gt; — البدایہ والنہایہ ج۷ ص۳۹ · https://shamela.ws/book/30097/3185</a:t>
            </a:r>
          </a:p>
          <a:p>
            <a:r>
              <a:t>&gt; *English:* "The call was given for the dawn prayer as the fajr broke, and he prayed with the people; and when he had finished the prayer he went down on his knees, and the people went down on theirs, and he set himself to supplicate and raised his hands, and the people did as he did, until the sun rose."</a:t>
            </a:r>
          </a:p>
          <a:p>
            <a:r>
              <a:t>&gt; فلما بلغَ الثالثةَ إذا قد خلق الله إلى جانبهم غديرًا عظيمًا من الماءَ القَراح</a:t>
            </a:r>
          </a:p>
          <a:p>
            <a:r>
              <a:t>&gt; — البدایہ والنہایہ ج۷ ص۳۹ · https://shamela.ws/book/30097/3185</a:t>
            </a:r>
          </a:p>
          <a:p>
            <a:r>
              <a:t>&gt; *English:* "And when he reached the third time — there, Allāh had created beside them a great pool of sweet, clear water."</a:t>
            </a:r>
          </a:p>
          <a:p>
            <a:r>
              <a:t>&gt; فما تعالى النهارُ حتى أقبلتِ الإبل من كلّ فجٍّ بما عليها، لم يفقدِ الناسُ من أمتعتهم سِلْكًا</a:t>
            </a:r>
          </a:p>
          <a:p>
            <a:r>
              <a:t>&gt; — البدایہ والنہایہ ج۷ ص۳۹ · https://shamela.ws/book/30097/3185</a:t>
            </a:r>
          </a:p>
          <a:p>
            <a:r>
              <a:t>&gt; *English:* "And the day had not grown high before the camels came in from every pass with their loads upon them; the people had not lost a thread of their baggage."</a:t>
            </a:r>
          </a:p>
          <a:p>
            <a:r>
              <a:t>And أبو هريرة ؓ was standing in it — the detail that puts a Companion the whole room knows inside</a:t>
            </a:r>
          </a:p>
          <a:p>
            <a:r>
              <a:t>the scene, and it is الکامل's, not البدایہ's:</a:t>
            </a:r>
          </a:p>
          <a:p/>
          <a:p>
            <a:r>
              <a:t>&gt; وإسناده ضعيف جدا لان الواقدي</a:t>
            </a:r>
          </a:p>
          <a:p>
            <a:r>
              <a:t>&gt; — سیر أعلام النبلاء ج۱ ص۲۶۴ · https://shamela.ws/book/10906/1690</a:t>
            </a:r>
          </a:p>
          <a:p>
            <a:r>
              <a:t>&gt; *English:* "… and its isnād is very weak, because al-Wāqidī is discarded."</a:t>
            </a:r>
          </a:p>
          <a:p>
            <a:r>
              <a:t>Do not say it flatly. What is solid is الکامل's «وَكَانَ أَبُو هُرَيْرَةَ فِيهِمْ» — he was among them on</a:t>
            </a:r>
          </a:p>
          <a:p>
            <a:r>
              <a:t>that march — and that is what beat 8 says.</a:t>
            </a:r>
          </a:p>
          <a:p/>
          <a:p>
            <a:r>
              <a:t>&gt; فَسَارَ العَلاَءُ فِيْمَنْ تَبِعَهُ، حَتَّى لَحِقَ بِحِصْنِ جُوَاثَى (٣) ، فَقَاتَلَهُم، فَلَمْ يُفْلِتْ مِنْهُم أَحَدٌ. ثُمَّ أَتَى القَطِيْفَ وَبِهَا جَمْعٌ، فَقَاتَلَهُم، فَانْهَزَمُوا</a:t>
            </a:r>
          </a:p>
          <a:p>
            <a:r>
              <a:t>&gt; — سیر أعلام النبلاء ج۱ ص۲۶۴ · https://shamela.ws/book/10906/1690</a:t>
            </a:r>
          </a:p>
          <a:p>
            <a:r>
              <a:t>&gt; *English:* "So al-ʿAlāʾ marched with those who followed him, until he reached the fort of Juwāthā, and fought them, and not one of them escaped. Then he came to al-Qaṭīf, where there was a gathering, and fought them, and they were routed."</a:t>
            </a:r>
          </a:p>
          <a:p>
            <a:r>
              <a:t>Tell الکامل's and البدایہ's sequence — the march, هَجَر, the trench month, the night attack,</a:t>
            </a:r>
          </a:p>
          <a:p>
            <a:r>
              <a:t>دارين. سیر is a biographical summary, not a second battle, and its wording at جُواثى does not make</a:t>
            </a:r>
          </a:p>
          <a:p>
            <a:r>
              <a:t>clear whom he fought there. That ambiguity is not to be resolved from the platform.</a:t>
            </a:r>
          </a:p>
          <a:p/>
          <a:p/>
          <a:p>
            <a:r>
              <a:t>عبرت: The state had almost no soldiers to send; what it sent instead was a commander and a piece</a:t>
            </a:r>
          </a:p>
          <a:p>
            <a:r>
              <a:t>of writing.</a:t>
            </a:r>
          </a:p>
          <a:p>
            <a:r>
              <a:t>Hands-up? Before telling it: *"You have sixteen men and a province in revolt. What do you send?"*</a:t>
            </a:r>
          </a:p>
          <a:p>
            <a:r>
              <a:t>On the road: in the middle of the Dahnāʾ the camels bolted at night with the water, the food and</a:t>
            </a:r>
          </a:p>
          <a:p>
            <a:r>
              <a:t>the tents, and the men were left in open sand. He told them — «لَنْ تُرَاعُوا، أَنْتُمُ الْمُسْلِمُونَ،</a:t>
            </a:r>
          </a:p>
          <a:p>
            <a:r>
              <a:t>وَفِي سَبِيلِ اللَّهِ، وَأَنْصَارُ اللَّهِ، فَأَبْشِرُوا، فَوَاللَّهِ لَنْ تُخْذَلُوا» (الکامل ج۲ ص۲۲۳), and prayed</a:t>
            </a:r>
          </a:p>
          <a:p>
            <a:r>
              <a:t>with them until sunrise, and البدایہ ج۷ ص۳۹ says water appeared beside them and the camels came back</a:t>
            </a:r>
          </a:p>
          <a:p>
            <a:r>
              <a:t>with nothing missing. Narrate it as what the book narrates; do not build a doctrinal point on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سیر أعلام النبلاء ج۱ ص۲۶۴</a:t>
            </a:r>
          </a:p>
          <a:p/>
          <a:p>
            <a:r>
              <a:t>عبرت — The state had almost no soldiers to send; what it sent instead was a commander and a piece of writing.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pincer is on no card: al-ʿAlāʾ ؓ sent for al-Jārūd ؓ to come up the other side — which is what makes pay off. ⚠⚠ Why the camp was drunk: no page says. Give the stalemate as the setting and supply nothing</a:t>
            </a:r>
          </a:p>
          <a:p/>
          <a:p>
            <a:r>
              <a:t>⚠ AND DELETE its existing sub-note The chief's death, and the regret — البدایہ ج۷ ص۳۹: ….</a:t>
            </a:r>
          </a:p>
          <a:p>
            <a:r>
              <a:t>RCT/E-RC74 now carries that whole scene, with الکامل's name for the man who cut the leg and the</a:t>
            </a:r>
          </a:p>
          <a:p>
            <a:r>
              <a:t>sequence settled. Two artifacts must not tell it twice (CLAUDE.md §4).</a:t>
            </a:r>
          </a:p>
          <a:p/>
          <a:p>
            <a:r>
              <a:t>HANDS UP FIRST — ask it before the first click.  line.</a:t>
            </a:r>
          </a:p>
          <a:p/>
          <a:p>
            <a:r>
              <a:t>SAY —</a:t>
            </a:r>
          </a:p>
          <a:p>
            <a:r>
              <a:t>1. The ground he chose — he brought the column down at Hajar and camped against al-Ḥuṭam on the Hajar side of him.</a:t>
            </a:r>
          </a:p>
          <a:p>
            <a:r>
              <a:t>▶ CLICK 1 — al-Jārūd ؓ brings ʿAbd al-Qays up against him from the other side.</a:t>
            </a:r>
          </a:p>
          <a:p>
            <a:r>
              <a:t>2. The other jaw of the pincer — he sent to al-Jārūd ؓ, the man who had held ʿAbd al-Qays to Islam with five questions, to bring ʿAbd al-Qays down on al-Ḥuṭam from the far side: the loyal tribe inside the province is now half the army, and the rebel has a front in two directions.</a:t>
            </a:r>
          </a:p>
          <a:p>
            <a:r>
              <a:t>3. Everyone came to al-Ḥuṭam but one place — every mushrik in Bahrayn gathered to him except the people of Dārīn. Say it here, because it is the reason there is still an operation left after this battle is won.</a:t>
            </a:r>
          </a:p>
          <a:p>
            <a:r>
              <a:t>▶ CLICK 2 — Both sides dig in, and it holds for a month.</a:t>
            </a:r>
          </a:p>
          <a:p>
            <a:r>
              <a:t>4. A month of trenches — both sides dug in on themselves; they took turns at the fighting and went back to their trenches, and they were like that for a month.</a:t>
            </a:r>
          </a:p>
          <a:p>
            <a:r>
              <a:t>5. What they heard in the night — not general noise: a commotion like a rout, or like a battle. That is why al-ʿAlāʾ ؓ asked who would bring him news of them — he thought something military was happening.</a:t>
            </a:r>
          </a:p>
          <a:p>
            <a:r>
              <a:t>6. The volunteer — ʿAbdullāh b. Ḥadhf said: I will. He went out until he came near their trench, and they took him.</a:t>
            </a:r>
          </a:p>
          <a:p>
            <a:r>
              <a:t>7. ⚠ Before you say the word, and this line is not an event — no page we hold gives any reason why that camp was drinking. No feast, no festival, no occasion. Give the setting, which is on the page — a month of stalemate facing a trench — and leave the reason exactly where the books leave it.</a:t>
            </a:r>
          </a:p>
          <a:p>
            <a:r>
              <a:t>8. What he brought back — he got into the Muslims' camp and told them the people were drunk, past understanding; and the Muslims went out at them and put the sword into them as they pleased.</a:t>
            </a:r>
          </a:p>
          <a:p>
            <a:r>
              <a:t>9. What the night cost them — the Muslims took the camp itself, and الکامل says not one man got away with more than he had on him; Ibn Kathīr رحمہ اللہ calls the spoil immense.</a:t>
            </a:r>
          </a:p>
          <a:p>
            <a:r>
              <a:t>▶ NEXT SLIDE — the words: read the Arabic, then its English.</a:t>
            </a:r>
          </a:p>
          <a:p/>
          <a:p>
            <a:r>
              <a:t>&gt; ثُمَّ سَارُوا فَنَزَلُوا بِهَجَرَ، وَأَرْسَلَ الْعَلَاءُ إِلَى الْجَارُودِ يَأْمُرُهُ أَنْ يَنْزِلَ بِعَبْدِ الْقَيْسِ عَلَى الْحُطَمِ مِمَّا يَلِيهِ، وَسَارَ هُوَ فِيمَنْ مَعَهُ حَتَّى نَزَلَ عَلَيْهِ مِمَّا يَلِي هَجَرَ</a:t>
            </a:r>
          </a:p>
          <a:p>
            <a:r>
              <a:t>&gt; — الکامل فی التاریخ ج۲ ص۲۲۳ · https://shamela.ws/book/21712/914</a:t>
            </a:r>
          </a:p>
          <a:p>
            <a:r>
              <a:t>&gt; *English:* "Then they marched on and camped at Hajar. And al-ʿAlāʾ sent to al-Jārūd, ordering him to come down with ʿAbd al-Qays upon al-Ḥuṭam from his own side, while he himself marched with those who were with him until he camped against him on the Hajar side."</a:t>
            </a:r>
          </a:p>
          <a:p>
            <a:r>
              <a:t>⚠ Beat 2 only works if the room has met al-Jārūd ؓ. He is ATA/E-TB24 — *Al-Jārūd ؓ asks his</a:t>
            </a:r>
          </a:p>
          <a:p>
            <a:r>
              <a:t>tribe five questions* — and that card is CORE. If ATA/E-TB24 is cut from the running order, beat</a:t>
            </a:r>
          </a:p>
          <a:p>
            <a:r>
              <a:t>2 must carry his notice in one breath (#43): al-Jārūd b. al-Muʿallā ؓ of ʿAbd al-Qays, the man who</a:t>
            </a:r>
          </a:p>
          <a:p>
            <a:r>
              <a:t>held his own tribe to Islam when the rest of Bahrayn went.</a:t>
            </a:r>
          </a:p>
          <a:p/>
          <a:p>
            <a:r>
              <a:t>&gt; سَمِعَ الْمُسْلِمُونَ ضَوْضَاءَ هَزِيمَةٍ أَوْ قِتَالٍ، فَقَالَ الْعَلَاءُ: مَنْ يَأْتِينَا بِخَبَرِ الْقَوْمِ؟</a:t>
            </a:r>
          </a:p>
          <a:p>
            <a:r>
              <a:t>&gt; — الکامل فی التاریخ ج۲ ص۲۲۳ · https://shamela.ws/book/21712/914</a:t>
            </a:r>
          </a:p>
          <a:p>
            <a:r>
              <a:t>&gt; *English:* "The Muslims heard a commotion — of a rout, or of a battle. So al-ʿAlāʾ said: who will bring us news of these people?"</a:t>
            </a:r>
          </a:p>
          <a:p>
            <a:r>
              <a:t>⚠⚠ WHY THE ENEMY CAMP WAS DRUNK: NO PAGE WE HOLD SAYS. Neither book gives an occasion — no feast,</a:t>
            </a:r>
          </a:p>
          <a:p>
            <a:r>
              <a:t>no festival, no reason at all. البدایہ ج۷ ص۳۹ carries only:</a:t>
            </a:r>
          </a:p>
          <a:p/>
          <a:p>
            <a:r>
              <a:t>BACKGROUND (read at home, not aloud) —</a:t>
            </a:r>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markdown</a:t>
            </a:r>
          </a:p>
          <a:p>
            <a:r>
              <a:t>The dispositions — this is the beat that was on no card, and it is what makes ATA/E-TB24 pay off</a:t>
            </a:r>
          </a:p>
          <a:p>
            <a:r>
              <a:t>militarily:</a:t>
            </a:r>
          </a:p>
          <a:p/>
          <a:p>
            <a:r>
              <a:t>Why دارين still needs an operation after this battle is won:</a:t>
            </a:r>
          </a:p>
          <a:p/>
          <a:p>
            <a:r>
              <a:t>&gt; فَاجْتَمَعَ الْمُشْرِكُونَ كُلُّهُمْ إِلَى الْحُطَمِ إِلَّا أَهْلَ دَارِينَ</a:t>
            </a:r>
          </a:p>
          <a:p>
            <a:r>
              <a:t>&gt; — الکامل فی التاریخ ج۲ ص۲۲۳ · https://shamela.ws/book/21712/914</a:t>
            </a:r>
          </a:p>
          <a:p>
            <a:r>
              <a:t>&gt; *English:* "And all the mushrikūn gathered to al-Ḥuṭam — except the people of Dārīn."</a:t>
            </a:r>
          </a:p>
          <a:p>
            <a:r>
              <a:t>The month, in الکامل's own words:</a:t>
            </a:r>
          </a:p>
          <a:p/>
          <a:p>
            <a:r>
              <a:t>&gt; وَخَنْدَقَ الْمُسْلِمُونَ عَلَى أَنْفُسِهِمْ وَالْمُشْرِكُونَ، وَكَانُوا يَتَرَاوَحُونَ الْقِتَالَ وَيَرْجِعُونَ إِلَى خَنْدَقِهِمْ، فَكَانُوا كَذَلِكَ شَهْرًا</a:t>
            </a:r>
          </a:p>
          <a:p>
            <a:r>
              <a:t>&gt; — الکامل فی التاریخ ج۲ ص۲۲۳ · https://shamela.ws/book/21712/914</a:t>
            </a:r>
          </a:p>
          <a:p>
            <a:r>
              <a:t>&gt; *English:* "The Muslims dug a trench about themselves, and so did the mushrikūn; and they would take turns at the fighting and go back to their trench — and they were like that for a month."</a:t>
            </a:r>
          </a:p>
          <a:p>
            <a:r>
              <a:t>And why a volunteer was asked for at all — the sentence that explains the whole scene, and it was</a:t>
            </a:r>
          </a:p>
          <a:p>
            <a:r>
              <a:t>on no card:</a:t>
            </a:r>
          </a:p>
          <a:p/>
          <a:p>
            <a:r>
              <a:t>&gt; فوجدهم سُكارى لا يعقلون من الشراب، فرجعَ إليه فأخبره</a:t>
            </a:r>
          </a:p>
          <a:p>
            <a:r>
              <a:t>&gt; — البدایہ والنہایہ ج۷ ص۳۹ · https://shamela.ws/book/30097/3185</a:t>
            </a:r>
          </a:p>
          <a:p>
            <a:r>
              <a:t>&gt; *English:* "… and he found them drunk, past understanding from the drink; and he went back to him and told him."</a:t>
            </a:r>
          </a:p>
          <a:p>
            <a:r>
              <a:t>What the pages do supply is the setting, not the cause — a month of trench stalemate, quoted</a:t>
            </a:r>
          </a:p>
          <a:p>
            <a:r>
              <a:t>above. Give the setting and supply no reason the books withhold. Beat 7 puts that at the lectern</a:t>
            </a:r>
          </a:p>
          <a:p>
            <a:r>
              <a:t>in the words he needs, because he will say it aloud.</a:t>
            </a:r>
          </a:p>
          <a:p/>
          <a:p>
            <a:r>
              <a:t>What the night took — both books, and they agree:</a:t>
            </a:r>
          </a:p>
          <a:p/>
          <a:p>
            <a:r>
              <a:t>&gt; وَاسْتَوْلَى الْمُسْلِمُونَ عَلَى الْعَسْكَرِ، وَلَمْ يُفْلِتْ رَجُلٌ إِلَّا بِمَا عَلَيْهِ</a:t>
            </a:r>
          </a:p>
          <a:p>
            <a:r>
              <a:t>&gt; — الکامل فی التاریخ ج۲ ص۲۲۴ · https://shamela.ws/book/21712/915</a:t>
            </a:r>
          </a:p>
          <a:p>
            <a:r>
              <a:t>&gt; *English:* "And the Muslims took possession of the camp, and not a man got away with anything but what was on him."</a:t>
            </a:r>
          </a:p>
          <a:p>
            <a:r>
              <a:t>&gt; واستولى على جميعِ أموالهم وحواصلهم وأثقالهم، فكانت غنيمةً عظيمةً جسيمةً</a:t>
            </a:r>
          </a:p>
          <a:p>
            <a:r>
              <a:t>&gt; — البدایہ والنہایہ ج۷ ص۳۹ · https://shamela.ws/book/30097/3185</a:t>
            </a:r>
          </a:p>
          <a:p>
            <a:r>
              <a:t>&gt; *English:* "And he took possession of all their wealth, their stores and their baggage — and it was an immense, massive spoil."</a:t>
            </a:r>
          </a:p>
          <a:p/>
          <a:p/>
          <a:p>
            <a:r>
              <a:t>عبرت: A month of trenches was decided by one night on which one side could not think.</a:t>
            </a:r>
          </a:p>
          <a:p>
            <a:r>
              <a:t>Hands-up? no</a:t>
            </a:r>
          </a:p>
          <a:p>
            <a:r>
              <a:t>The chief's death, and the regret — البدایہ ج۷ ص۳۹: al-Ḥuṭam woke in confusion, his stirrup-leather</a:t>
            </a:r>
          </a:p>
          <a:p>
            <a:r>
              <a:t>parted, a man offered to fix it and cut his foot off; he lay asking every passer-by to finish him, and</a:t>
            </a:r>
          </a:p>
          <a:p>
            <a:r>
              <a:t>when Qays b. ʿĀṣim finally did and then saw the leg, he said: «واسوأتاه، لو أعلمُ ما به لم</a:t>
            </a:r>
          </a:p>
          <a:p>
            <a:r>
              <a:t>أحرِّكْهُ» — *"What a shameful thing; had I known his state I would not have touched him."*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فَدَخَلَ عَسْكَرَ الْمُسْلِمِينَ فَأَخْبَرَهُمْ أَنَّ الْقَوْمَ سُكَارَى، فَخَرَجَ الْمُسْلِمُونَ عَلَيْهِمْ، فَوَضَعُوا فِيهِمُ السَّيْفَ كَيْفَ شَاءُوا.</a:t>
            </a:r>
          </a:p>
          <a:p>
            <a:r>
              <a:t>"He entered the Muslims' camp and told them that the people were drunk. So the Muslims went out at them and put the sword into them as they pleased."</a:t>
            </a:r>
          </a:p>
          <a:p>
            <a:r>
              <a:t>— الکامل ج۲ ص۲۲۳</a:t>
            </a:r>
          </a:p>
          <a:p/>
          <a:p>
            <a:r>
              <a:t>عبرت — A month of trenches was decided by one night on which one side could not think.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Ibn Ḥadhf shouts for his maternal uncle, in the enemy camp. ⚠⚠ One man or two? The books do not say (Daniyal, 2026-09-06) — do not assert it</a:t>
            </a:r>
          </a:p>
          <a:p/>
          <a:p>
            <a:r>
              <a:t>⚠ This whole card is الکامل's. البدایہ ج۷ ص۳۹ has the night in one sentence: he went in among</a:t>
            </a:r>
          </a:p>
          <a:p>
            <a:r>
              <a:t>them, found them drunk, came back and told him. The uncle, the mother, the words, the food and the</a:t>
            </a:r>
          </a:p>
          <a:p>
            <a:r>
              <a:t>camel are in الکامل ج۲ ص۲۲۳ and nowhere else we hold. Attribute it that way if asked.</a:t>
            </a:r>
          </a:p>
          <a:p/>
          <a:p>
            <a:r>
              <a:t>⚠ No honorific for either man. No page we hold states the Companionship of ʿAbdullāh b. Ḥadhf or</a:t>
            </a:r>
          </a:p>
          <a:p>
            <a:r>
              <a:t>of Abjar b. Bujayr. Say both names plain.</a:t>
            </a:r>
          </a:p>
          <a:p/>
          <a:p/>
          <a:p>
            <a:r>
              <a:t>SAY —</a:t>
            </a:r>
          </a:p>
          <a:p>
            <a:r>
              <a:t>1. Back up a few minutes, and this is the only reason the news ever reached al-ʿAlāʾ ؓ — we left him taken at the rebel trench; here is how he got out of it.</a:t>
            </a:r>
          </a:p>
          <a:p>
            <a:r>
              <a:t>2. Who he is — ʿAbdullāh b. Ḥadhf, a man of al-ʿAlāʾ's ؓ own camp whose mother was of ʿIjl. That is the whole of what الکامل tells us about him, and no page we hold states his Companionship, so no honorific.</a:t>
            </a:r>
          </a:p>
          <a:p>
            <a:r>
              <a:t>3. The name he shouted — not for mercy and not for a bargain: he called, over and over, for his maternal uncle Abjar b. Bujayr, who was in the camp in front of him. And Abjar came out, and knew him.</a:t>
            </a:r>
          </a:p>
          <a:p>
            <a:r>
              <a:t>4. What is your business — he answered with a question of his own: what am I to come to, with armies of ʿIjl and Taym al-Lāt all round me?</a:t>
            </a:r>
          </a:p>
          <a:p>
            <a:r>
              <a:t>5. What the uncle said to his face — by Allah, I think you a poor sort of sister's-son, coming to your uncles tonight. He named him an enemy out loud, got him loose, and let him go anyway.</a:t>
            </a:r>
          </a:p>
          <a:p>
            <a:r>
              <a:t>   ^ read the Arabic on the face here</a:t>
            </a:r>
          </a:p>
          <a:p>
            <a:r>
              <a:t>6. Food first, then the camel — let me alone about that and feed me, I am dying of hunger; he was fed, and then asked for provisions and a mount, and got both, and was passed through.</a:t>
            </a:r>
          </a:p>
          <a:p>
            <a:r>
              <a:t>7. الکامل's own explanation, in one clause — he was saying all this to a man whom drink had got the better of.</a:t>
            </a:r>
          </a:p>
          <a:p>
            <a:r>
              <a:t>8. What became of the uncle — when the camp broke that night, Abjar was one of the men who got away: الکامل says so plainly.</a:t>
            </a:r>
          </a:p>
          <a:p>
            <a:r>
              <a:t>9. ⚠ If a written slip asks whether this is the same ʿAbdullāh b. Ḥadhf who was starving inside Juwāthā — say the books name him twice and do not tell us whether it is one man, and leave it there.</a:t>
            </a:r>
          </a:p>
          <a:p/>
          <a:p>
            <a:r>
              <a:t>QUOTE — وَاللَّهِ إِنِّي لَأَظُنُّكَ بِئْسَ ابْنُ أُخْتٍ أَتَيْتَ اللَّيْلَةَ أَخْوَالَكَ</a:t>
            </a:r>
          </a:p>
          <a:p>
            <a:r>
              <a:t>"By Allāh, I think you a poor sort of sister's-son, coming to your uncles tonight."</a:t>
            </a:r>
          </a:p>
          <a:p>
            <a:r>
              <a:t>— الکامل فی التاریخ ج۲ ص۲۲۳</a:t>
            </a:r>
          </a:p>
          <a:p/>
          <a:p>
            <a:r>
              <a:t>عبرت — This war ran straight through families. The man who let him go knew exactly who he was, said so out loud, and let him go because he was his sister's son.</a:t>
            </a:r>
          </a:p>
          <a:p/>
          <a:p>
            <a:r>
              <a:t>&gt; فَأَمَّا أَبْجَرُ فَأَفْلَتَ</a:t>
            </a:r>
          </a:p>
          <a:p>
            <a:r>
              <a:t>&gt; — الکامل فی التاریخ ج۲ ص۲۲۴ · https://shamela.ws/book/21712/915</a:t>
            </a:r>
          </a:p>
          <a:p>
            <a:r>
              <a:t>&gt; *English:* "As for Abjar, he escaped."</a:t>
            </a:r>
          </a:p>
          <a:p>
            <a:r>
              <a:t>⚠⚠ ʿAbdullāh b. Ḥadhf — one man or two? The books do not say. Raised by Daniyal, 2026-09-06, and</a:t>
            </a:r>
          </a:p>
          <a:p>
            <a:r>
              <a:t>it is a real ambiguity rather than a slip in one book. The same name stands in two places. Inside</a:t>
            </a:r>
          </a:p>
          <a:p>
            <a:r>
              <a:t>جُواثى, among the besieged, as the man who put out the four lines of verse:</a:t>
            </a:r>
          </a:p>
          <a:p/>
          <a:p>
            <a:r>
              <a:t>BACKGROUND (read at home, not aloud) —</a:t>
            </a:r>
          </a:p>
          <a:p>
            <a:r>
              <a:t>The man who went out to find what the noise was did not come back because he was clever. He came back because of who his mother was. ʿAbdullāh b. Ḥadhf went up to the rebel trench in the dark and was taken. His mother was of ʿIjl, and ʿIjl were in the camp in front of him — so he called out from among his captors for his maternal uncle, Abjar b. Bujayr, until the man came. Abjar recognised him, got him loose, and told him to his face that he thought him a poor sort of sister's-son to come to his uncles on such a night. Then he asked for food, was fed, asked for provisions and a mount, got both, and was let through. الکامل puts the whole explanation in one clause: he was saying all this to a man whom drink had got the better of.</a:t>
            </a:r>
          </a:p>
          <a:p/>
          <a:p>
            <a:r>
              <a:t>The shout, and the uncle who answered it:</a:t>
            </a:r>
          </a:p>
          <a:p/>
          <a:p>
            <a:r>
              <a:t>&gt; فَجَعَلَ يُنَادِي: يَا أَبْجَرَاهُ! فَجَاءَ أَبْجَرُ بْنُ بُجَيْرٍ فَعَرَفَهُ</a:t>
            </a:r>
          </a:p>
          <a:p>
            <a:r>
              <a:t>&gt; — الکامل فی التاریخ ج۲ ص۲۲۳ · https://shamela.ws/book/21712/914</a:t>
            </a:r>
          </a:p>
          <a:p>
            <a:r>
              <a:t>&gt; *English:* "So he began to call out: O Abjar! And Abjar b. Bujayr came, and recognised him."</a:t>
            </a:r>
          </a:p>
          <a:p>
            <a:r>
              <a:t>&gt; وَكَانَتْ أُمُّهُ عِجْلِيَّةً</a:t>
            </a:r>
          </a:p>
          <a:p>
            <a:r>
              <a:t>&gt; — الکامل فی التاریخ ج۲ ص۲۲۳ · https://shamela.ws/book/21712/914</a:t>
            </a:r>
          </a:p>
          <a:p>
            <a:r>
              <a:t>&gt; *English:* "And his mother was a woman of ʿIjl."</a:t>
            </a:r>
          </a:p>
          <a:p>
            <a:r>
              <a:t>What he answered when he was asked his business:</a:t>
            </a:r>
          </a:p>
          <a:p/>
          <a:p>
            <a:r>
              <a:t>&gt; عَلَامَ أُقْبِلُ وَحَوْلِي عَسَاكِرُ مِنْ عِجْلٍ وَتَيْمِ اللَّاتِ وَغَيْرِهِمَا؟</a:t>
            </a:r>
          </a:p>
          <a:p>
            <a:r>
              <a:t>&gt; — الکامل فی التاریخ ج۲ ص۲۲۳ · https://shamela.ws/book/21712/914</a:t>
            </a:r>
          </a:p>
          <a:p>
            <a:r>
              <a:t>&gt; *English:* "What am I to come to, with armies of ʿIjl and Taym al-Lāt and others round about me?"</a:t>
            </a:r>
          </a:p>
          <a:p>
            <a:r>
              <a:t>Food before freedom:</a:t>
            </a:r>
          </a:p>
          <a:p/>
          <a:p>
            <a:r>
              <a:t>&gt; دَعْنِي مِنْ هَذَا وَأَطْعِمْنِي؛ فَقَدْ مُتُّ جُوعًا</a:t>
            </a:r>
          </a:p>
          <a:p>
            <a:r>
              <a:t>&gt; — الکامل فی التاریخ ج۲ ص۲۲۳ · https://shamela.ws/book/21712/914</a:t>
            </a:r>
          </a:p>
          <a:p>
            <a:r>
              <a:t>&gt; *English:* "Let me alone about that, and feed me — I am dying of hunger."</a:t>
            </a:r>
          </a:p>
          <a:p>
            <a:r>
              <a:t>And الکامل's one clause, which explains the whole scene:</a:t>
            </a:r>
          </a:p>
          <a:p/>
          <a:p>
            <a:r>
              <a:t>&gt; يَقُولُ هَذَا لِرَجُلٍ قَدْ غَلَبَ عَلَيْهِ السُّكْرُ، فَحَمَلَهُ عَلَى بَعِيرٍ وَزَوَّدَهُ وَجَوَّزَهُ</a:t>
            </a:r>
          </a:p>
          <a:p>
            <a:r>
              <a:t>&gt; — الکامل فی التاریخ ج۲ ص۲۲۳ · https://shamela.ws/book/21712/914</a:t>
            </a:r>
          </a:p>
          <a:p>
            <a:r>
              <a:t>&gt; *English:* "He was saying this to a man whom drink had got the better of — so he mounted him on a camel, provisioned him, and let him through."</a:t>
            </a:r>
          </a:p>
          <a:p>
            <a:r>
              <a:t>And the uncle got away:</a:t>
            </a:r>
          </a:p>
          <a:p/>
          <a:p>
            <a:r>
              <a:t>&gt; وقد قال رجل منهم يقال له عبد الله بن حذف، أحد بني بكر بن كلاب، وقد اشتد عليه الجوع</a:t>
            </a:r>
          </a:p>
          <a:p>
            <a:r>
              <a:t>&gt; — البدایہ والنہایہ ج۷ ص۳۸ · https://shamela.ws/book/30097/3184</a:t>
            </a:r>
          </a:p>
          <a:p>
            <a:r>
              <a:t>&gt; *English:* "And a man of theirs called ʿAbdullāh b. Ḥadhf, one of Banū Bakr b. Kilāb, upon whom the hunger had grown severe, said …"</a:t>
            </a:r>
          </a:p>
          <a:p>
            <a:r>
              <a:t>And in al-ʿAlāʾ's ؓ camp at هَجَر, as the volunteer scout — البدایہ ج۷ ص۳۹ and الکامل ج۲ ص۲۲۳, the</a:t>
            </a:r>
          </a:p>
          <a:p>
            <a:r>
              <a:t>latter adding the عِجْلي mother. If it is one man the sequence is coherent, and hunger appears in both</a:t>
            </a:r>
          </a:p>
          <a:p>
            <a:r>
              <a:t>scenes. But no page joins them, and البدایہ gives a كلابي paternal line where الکامل gives an</a:t>
            </a:r>
          </a:p>
          <a:p>
            <a:r>
              <a:t>عِجْلي maternal one — which is not a contradiction, and is not a confirmation either. Do not assert</a:t>
            </a:r>
          </a:p>
          <a:p>
            <a:r>
              <a:t>from the platform that they are the same man.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stirrup-leather, the sword, and the man who asked passers-by to finish him. ⚠⚠ Do not use Ibn Khaldun — three different killers on his own pages. The clearest worked example of why exists</a:t>
            </a:r>
          </a:p>
          <a:p/>
          <a:p>
            <a:r>
              <a:t>⚠⚠ DO NOT USE ابن خلدون FOR THIS DEATH. It is the clearest worked example in the whole pool of why</a:t>
            </a:r>
          </a:p>
          <a:p>
            <a:r>
              <a:t>DECISIONS.md #29 bars him as a sole authority: he gives three different killers on his own</a:t>
            </a:r>
          </a:p>
          <a:p>
            <a:r>
              <a:t>consecutive pages. On ج۲ ص۵۰۵:</a:t>
            </a:r>
          </a:p>
          <a:p/>
          <a:p>
            <a:r>
              <a:t>⚠ البدایہ does not name the man who cut the foot — only «رجلٌ من المسلمين», a man of the Muslims.</a:t>
            </a:r>
          </a:p>
          <a:p>
            <a:r>
              <a:t>The name عفيف بن المنذر التيمي is الکامل's alone. Say it as الکامل's if asked.</a:t>
            </a:r>
          </a:p>
          <a:p/>
          <a:p>
            <a:r>
              <a:t>⚠ Where this death sits in the running order. It ends the هَجَر fighting, so it is told before</a:t>
            </a:r>
          </a:p>
          <a:p>
            <a:r>
              <a:t>دارين and never after it: in RCT/E-RC27 the survivors take ship, and the man they had been following</a:t>
            </a:r>
          </a:p>
          <a:p>
            <a:r>
              <a:t>is already dead. The خميصة that was his belongs to the Thumāma ؓ card, which is later still — do not</a:t>
            </a:r>
          </a:p>
          <a:p>
            <a:r>
              <a:t>reach forward to it here.</a:t>
            </a:r>
          </a:p>
          <a:p/>
          <a:p/>
          <a:p>
            <a:r>
              <a:t>SAY —</a:t>
            </a:r>
          </a:p>
          <a:p>
            <a:r>
              <a:t>1. Who he was, and this is where he ends — al-Ḥuṭam b. Ḍubayʿa of Banū Qays b. Thaʿlaba: the man who took al-Qaṭīf and Hajar, drew in al-Khaṭṭ and the men who were there, sent a force to Dārīn and besieged the Muslims in Juwāthā. He was asleep when the trench was crossed.</a:t>
            </a:r>
          </a:p>
          <a:p>
            <a:r>
              <a:t>2. The stirrup — he got up confused, mounted his horse, and his stirrup-leather parted; and he was calling out, who will set my stirrup right for me?</a:t>
            </a:r>
          </a:p>
          <a:p>
            <a:r>
              <a:t>3. The man in the dark — a Muslim said: I will set it right for you, lift your foot. When he lifted it, the man struck with the sword and took it off, foot and all. البدایہ leaves him unnamed; الکامل names him — ʿAfīf b. al-Mundhir al-Taymī.</a:t>
            </a:r>
          </a:p>
          <a:p>
            <a:r>
              <a:t>4. Finish me — he asked that man to finish him, and the man said: I will not.</a:t>
            </a:r>
          </a:p>
          <a:p>
            <a:r>
              <a:t>5. The part that takes longest to tell, and should — he lay there, and every man who passed he asked to kill him, and each one refused.</a:t>
            </a:r>
          </a:p>
          <a:p>
            <a:r>
              <a:t>6. Qays b. ʿĀṣim — the same man who had caught the column up on the road and handed over the replacement for the ṣadaqa his people had divided after the Prophet ﷺ died. He passed, and al-Ḥuṭam said: I am al-Ḥuṭam, kill me. And he killed him.</a:t>
            </a:r>
          </a:p>
          <a:p>
            <a:r>
              <a:t>7. And then he saw the leg — what a shameful thing; had I known his condition, I would not have touched him.</a:t>
            </a:r>
          </a:p>
          <a:p>
            <a:r>
              <a:t>   ^ read the Arabic on the face here</a:t>
            </a:r>
          </a:p>
          <a:p>
            <a:r>
              <a:t>8. ⚠ Not an event, a sourcing instruction — name البدایہ and الکامل, which tell this death the same way, and stop there. ابن خلدون gives three different answers to who killed him on his own consecutive pages, so he is not cited on this card at all.</a:t>
            </a:r>
          </a:p>
          <a:p/>
          <a:p>
            <a:r>
              <a:t>QUOTE — واسوأتاه، لو أعلمُ ما به لم أحرِّكْهُ</a:t>
            </a:r>
          </a:p>
          <a:p>
            <a:r>
              <a:t>"What a shameful thing — had I known his condition, I would not have touched him."</a:t>
            </a:r>
          </a:p>
          <a:p>
            <a:r>
              <a:t>— البدایہ والنہایہ ج۷ ص۳۹</a:t>
            </a:r>
          </a:p>
          <a:p/>
          <a:p>
            <a:r>
              <a:t>عبرت — He asked every man who passed to kill him and they refused; the one who finally did it was sorry the moment he saw the state he was already in. The book kept the regret, not the kill.</a:t>
            </a:r>
          </a:p>
          <a:p/>
          <a:p>
            <a:r>
              <a:t>&gt; وَلَحِقَ بِهِ أَيْضًا قَيْسُ بْنُ عَاصِمٍ الْمِنْقَرِيُّ، وَأَعْطَاهُ بَدَلَ مَا كَانَ قُسِمَ مِنَ الصَّدَقَةِ بَعْدَ مَوْتِ النَّبِيِّ - صَلَّى اللَّهُ عَلَيْهِ وَسَلَّمَ -</a:t>
            </a:r>
          </a:p>
          <a:p>
            <a:r>
              <a:t>&gt; — الکامل فی التاریخ ج۲ ص۲۲۲ · https://shamela.ws/book/21712/913</a:t>
            </a:r>
          </a:p>
          <a:p>
            <a:r>
              <a:t>&gt; *English:* "And Qays b. ʿĀṣim al-Minqarī also caught up with him, and gave him the replacement for what had been divided of the ṣadaqa after the death of the Prophet صلى الله عليه وسلم."</a:t>
            </a:r>
          </a:p>
          <a:p>
            <a:r>
              <a:t>⚠ No honorific for Qays b. ʿĀṣim, and none for ʿAfīf b. al-Mundhir. No page we hold states the</a:t>
            </a:r>
          </a:p>
          <a:p>
            <a:r>
              <a:t>Companionship of either man, and §1.2's rule is the rule. This is a gap worth closing — Qays b.</a:t>
            </a:r>
          </a:p>
          <a:p>
            <a:r>
              <a:t>ʿĀṣim al-Minqarī may well be a Companion in the biographical literature; until a page we hold says so</a:t>
            </a:r>
          </a:p>
          <a:p>
            <a:r>
              <a:t>he is named plain. To verify.</a:t>
            </a:r>
          </a:p>
          <a:p/>
          <a:p>
            <a:r>
              <a:t>&gt; ⚠ CORRECTION, and it changes a page citation. ridda-campaign-the-conduct-of-the-wars.md §7.3</a:t>
            </a:r>
          </a:p>
          <a:p>
            <a:r>
              <a:t>&gt; and §14.3 give the three-killer divergence as *ابن خلدون ج۲ ص۵۰۴ and ۵۰۶*. Checked against the</a:t>
            </a:r>
          </a:p>
          <a:p>
            <a:r>
              <a:t>&gt; cache: قيس بن عاصم and جابر بن بحير are both on ج۲ ص۵۰۵ (index 1302), not ص۵۰۴, and</a:t>
            </a:r>
          </a:p>
          <a:p>
            <a:r>
              <a:t>&gt; «قتله زيد وسميفع» is on ج۲ ص۵۰۶ (index 1303). ص۵۰۴ (index 1301) carries only the rising and the</a:t>
            </a:r>
          </a:p>
          <a:p>
            <a:r>
              <a:t>&gt; father's name «بن ربيعة». The pages cited on this card are the checked ones.</a:t>
            </a:r>
          </a:p>
          <a:p/>
          <a:p>
            <a:r>
              <a:t>BACKGROUND (read at home, not aloud) —</a:t>
            </a:r>
          </a:p>
          <a:p>
            <a:r>
              <a:t>al-Ḥuṭam b. Ḍubayʿa of Banū Qays b. Thaʿlaba — the man who had taken al-Qaṭīf and Hajar, drawn in al-Khaṭṭ, sent a force to Dārīn and besieged the Muslims in Juwāthā — was asleep when the Muslims came over the trench. He got up confused, mounted his horse, and his stirrup-leather parted. He began calling for somebody to fix it. A Muslim came up in the dark and said he would: lift your foot. When he lifted it, the man struck with the sword and took the foot off with it. He asked that man to finish him, and the man refused. So he lay on the ground, and every man who passed he asked to kill him, and each one refused — until Qays b. ʿĀṣim passed. He told him: I am al-Ḥuṭam, kill me. And Qays killed him. Then he saw the severed leg, and was sorry.</a:t>
            </a:r>
          </a:p>
          <a:p/>
          <a:p>
            <a:r>
              <a:t>The stirrup, the foot, and the long wait — البدایہ ج۷ ص۳۹, whole:</a:t>
            </a:r>
          </a:p>
          <a:p/>
          <a:p>
            <a:r>
              <a:t>&gt; فركبَ جوادَهُ فانقطع ركابُه فجعلَ يقولُ: منْ يُصْلح لي ركابي؟ فجاءَ رجلٌ من المسلمين في الليل فقال: أنا أصلحُها لك، ارفع رجلك، فلما رفعها ضربه بالسيف فقطعها مع قدمه</a:t>
            </a:r>
          </a:p>
          <a:p>
            <a:r>
              <a:t>&gt; — البدایہ والنہایہ ج۷ ص۳۹ · https://shamela.ws/book/30097/3185</a:t>
            </a:r>
          </a:p>
          <a:p>
            <a:r>
              <a:t>&gt; *English:* "So he mounted his horse, and his stirrup-leather parted, and he began saying: who will set my stirrup right for me? A man of the Muslims came in the night and said: I will set it right for you — lift your foot. And when he lifted it he struck it with the sword and cut it off, with his foot."</a:t>
            </a:r>
          </a:p>
          <a:p>
            <a:r>
              <a:t>&gt; فوقعَ صريعًا كلما مرَّ به أحدٌ يسأله أن يقتلَه فيأبى، حتى مرَّ به قيسُ بن عاصم فقال له: أنا الحطم فاقتلني فقتله</a:t>
            </a:r>
          </a:p>
          <a:p>
            <a:r>
              <a:t>&gt; — البدایہ والنہایہ ج۷ ص۳۹ · https://shamela.ws/book/30097/3185</a:t>
            </a:r>
          </a:p>
          <a:p>
            <a:r>
              <a:t>&gt; *English:* "So he fell stricken; and every time anyone passed him he would ask him to kill him, and the man would refuse — until Qays b. ʿĀṣim passed him, and he said to him: I am al-Ḥuṭam, kill me. So he killed him."</a:t>
            </a:r>
          </a:p>
          <a:p>
            <a:r>
              <a:t>الکامل names the man who cut the leg, and settles the sequence — the cut first, then the killing:</a:t>
            </a:r>
          </a:p>
          <a:p/>
          <a:p>
            <a:r>
              <a:t>&gt; فَأَمَّا أَبْجَرُ فَأَفْلَتَ، وَأَمَّا الْحُطَمُ فَقُتِلَ، قَتَلَهُ قَيْسُ بْنُ عَاصِمٍ بَعْدَ أَنْ قَطَعَ عَفِيفُ بْنُ الْمُنْذِرِ التَّيْمِيُّ رِجْلَهُ</a:t>
            </a:r>
          </a:p>
          <a:p>
            <a:r>
              <a:t>&gt; — الکامل فی التاریخ ج۲ ص۲۲۴ · https://shamela.ws/book/21712/915</a:t>
            </a:r>
          </a:p>
          <a:p>
            <a:r>
              <a:t>&gt; *English:* "As for Abjar, he escaped; and as for al-Ḥuṭam, he was killed — Qays b. ʿĀṣim killed him, after ʿAfīf b. al-Mundhir al-Taymī had cut off his leg."</a:t>
            </a:r>
          </a:p>
          <a:p>
            <a:r>
              <a:t>Who Qays b. ʿĀṣim is, in one line from the page — he is already named in RCT/E-RC25, and this is</a:t>
            </a:r>
          </a:p>
          <a:p>
            <a:r>
              <a:t>the line to use for him, because it is the one thing the books say he did:</a:t>
            </a:r>
          </a:p>
          <a:p/>
          <a:p>
            <a:r>
              <a:t>&gt; وقتل قيس بن عاصم الحطم بن ربيعة، ولحق جابر بن بحير وضربه فقطع عصبه ومات</a:t>
            </a:r>
          </a:p>
          <a:p>
            <a:r>
              <a:t>&gt; — تاریخ ابن خلدون ج۲ ص۵۰۵ · https://shamela.ws/book/12320/1302</a:t>
            </a:r>
          </a:p>
          <a:p>
            <a:r>
              <a:t>&gt; *English:* "And Qays b. ʿĀṣim killed al-Ḥuṭam b. Rabīʿa; and Jābir b. Buḥayr caught him and struck him and cut his tendon, and he died."</a:t>
            </a:r>
          </a:p>
          <a:p>
            <a:r>
              <a:t>and one page later, inside al-ʿAlāʾ's ؓ own despatch to Abū Bakr ؓ, on ج۲ ص۵۰۶:</a:t>
            </a:r>
          </a:p>
          <a:p/>
          <a:p>
            <a:r>
              <a:t>&gt; وكتب العلاء إلى أبي بكر بهزيمة أهل الخندق وقتل الخطم قتله زيد وسميفع</a:t>
            </a:r>
          </a:p>
          <a:p>
            <a:r>
              <a:t>&gt; — تاریخ ابن خلدون ج۲ ص۵۰۶ · https://shamela.ws/book/12320/1303</a:t>
            </a:r>
          </a:p>
          <a:p>
            <a:r>
              <a:t>&gt; *English:* "And al-ʿAlāʾ wrote to Abū Bakr with the rout of the people of the trench and the killing of al-Khuṭam — Zayd and Sumayfaʿ killed him."</a:t>
            </a:r>
          </a:p>
          <a:p>
            <a:r>
              <a:t>— and the editor's footnote to that very line records yet another copy reading «مسمع». Three</a:t>
            </a:r>
          </a:p>
          <a:p>
            <a:r>
              <a:t>readings, two pages, one book. He also mis-names the father, and then the man: ج۲ ص۵۰۴ has</a:t>
            </a:r>
          </a:p>
          <a:p>
            <a:r>
              <a:t>«الحطم بن ربيعة» where الکامل ج۲ ص۲۲۲ and البدایہ ج۷ ص۳۹ have الحُطَم بن ضُبَيعة, and ج۲ ص۵۰۶ spells</a:t>
            </a:r>
          </a:p>
          <a:p>
            <a:r>
              <a:t>the name «الخطم» against «الحطم» on his own previous page.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Why Dārīn was separate: everyone gathered to al-Ḥuṭam except the people of Dārīn. ⚠ al-Muthannā b. Ḥāritha sealed the roads — a name the Iraq evenings need; frame it. «وَضَرَبَ الْإِسْلَامُ فِيهَا بِجِرَانِهِ» is the statement, not a sub-note. The would-be king: captured, and he became a Muslim — ⚠ no page says pardoned</a:t>
            </a:r>
          </a:p>
          <a:p/>
          <a:p>
            <a:r>
              <a:t>SAY —</a:t>
            </a:r>
          </a:p>
          <a:p>
            <a:r>
              <a:t>1. One force had never come to the battle at all — Every one of them gathered to al-Ḥuṭam except the people of Dārīn (الکامل ج۲ ص۲۲۳). So this is not mopping up after a win; it is an enemy that still holds its own ground.</a:t>
            </a:r>
          </a:p>
          <a:p>
            <a:r>
              <a:t>▶ CLICK 1 — The beaten take ship for Dārīn.</a:t>
            </a:r>
          </a:p>
          <a:p>
            <a:r>
              <a:t>2. And the beaten went to join them — The main body of the broken took ship for Dārīn; the rest scattered home to their own tribes' country.</a:t>
            </a:r>
          </a:p>
          <a:p>
            <a:r>
              <a:t>3. What Dārīn is — An anchorage off the Bahrayn coast. A day and a night out, for ships.</a:t>
            </a:r>
          </a:p>
          <a:p>
            <a:r>
              <a:t>▶ CLICK 2 — The land roads are closed behind them — and then they go straight across the water.</a:t>
            </a:r>
          </a:p>
          <a:p>
            <a:r>
              <a:t>4. He closed the land before he opened the sea — Before he moved at all he wrote to the men of Bakr b. Wāʾil who had held firm on their Islam, to sit on every road and take the routed and the apostates.</a:t>
            </a:r>
          </a:p>
          <a:p>
            <a:r>
              <a:t>5. And he named two of them — ʿUtayba b. al-Nahhās and al-Muthannā b. Ḥāritha. Say aloud that al-Muthannā is a name we will meet again when the war moves into Iraq — he is the man who takes the banner at the Bridge.</a:t>
            </a:r>
          </a:p>
          <a:p>
            <a:r>
              <a:t>6. They did it, and sent word back — Only then did he order that the enemy be come at from behind his own back, and called the people to Dārīn.</a:t>
            </a:r>
          </a:p>
          <a:p>
            <a:r>
              <a:t>7. At the water's edge — The crossing was too far: by ship the enemy would be gone before he arrived. Say the words here — *The words at the water's edge*, below.</a:t>
            </a:r>
          </a:p>
          <a:p>
            <a:r>
              <a:t>8. He went in first — On his horse, saying the duʿāʾ aloud, and then ordering the whole army to say it and plunge in behind him. *The duʿāʾ going in*, below.</a:t>
            </a:r>
          </a:p>
          <a:p>
            <a:r>
              <a:t>9. What they were walking on — Soft sand with water over it, not deep enough to cover the camels' pads. A passage that takes ships a day and a night; across, fought, and back again — all of it in one day.</a:t>
            </a:r>
          </a:p>
          <a:p>
            <a:r>
              <a:t>10. And nothing was lost in the water — One man's horse-fodder, and al-ʿAlāʾ ؓ went back for it and brought it to him.</a:t>
            </a:r>
          </a:p>
          <a:p>
            <a:r>
              <a:t>11. The fight, and the man they had wanted for a king — Hard fighting; the Muslims won and left nobody behind to carry the news. ʿAfīf b. al-Mundhir took the Lakhmid claimant prisoner, and he became a Muslim. The spoils were divided (الکامل ج۲ ص۲۲۴).</a:t>
            </a:r>
          </a:p>
          <a:p>
            <a:r>
              <a:t>12. And the sentence the chapter closes on — Islam settled on that coast and did not move off it again.</a:t>
            </a:r>
          </a:p>
          <a:p>
            <a:r>
              <a:t>▶ NEXT SLIDE — the words: read the Arabic, then its English.</a:t>
            </a:r>
          </a:p>
          <a:p/>
          <a:p>
            <a:r>
              <a:t>BACKGROUND (read at home, not aloud) —</a:t>
            </a:r>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Both books describe the crossing the same way — «يمشون على مثل رملةٍ دمثةٍ فوقها ماء لا يغمر أخفاف</a:t>
            </a:r>
          </a:p>
          <a:p>
            <a:r>
              <a:t>الإبل» (البدایہ ج۷ ص۴۰), out and back in a single day, with nothing lost in the water except one</a:t>
            </a:r>
          </a:p>
          <a:p>
            <a:r>
              <a:t>man's horse-fodder, which al-ʿAlāʾ ؓ went back and brought him. البدایہ ج۷ ص۴۰ prints the duʿāʾ they</a:t>
            </a:r>
          </a:p>
          <a:p>
            <a:r>
              <a:t>said going in. And afterwards: «وَضَرَبَ الْإِسْلَامُ فِيهَا بِجِرَانِهِ» (الکامل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وَضَرَبَ الْإِسْلَامُ فِيهَا بِجِرَانِهِ.</a:t>
            </a:r>
          </a:p>
          <a:p>
            <a:r>
              <a:t>"And Islam settled its neck to the ground there." — the image is a camel kneeling and setting its neck down to stay: the front was not held, it was finished.</a:t>
            </a:r>
          </a:p>
          <a:p>
            <a:r>
              <a:t>— الکامل فی التاریخ ج۲ ص۲۲۴</a:t>
            </a:r>
          </a:p>
          <a:p/>
          <a:p>
            <a:r>
              <a:t>عبرت — He closed the roads behind the enemy before he opened one in front of himself.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Three reasons, from a man who was there. The closing card of the part, and it answers "how do we know that?" from inside the story</a:t>
            </a:r>
          </a:p>
          <a:p/>
          <a:p>
            <a:r>
              <a:t>⚠ MONK IS ESTABLISHED. BISHOP IS NOT. Both pages say راهب, a monk: the الکامل report opens with it</a:t>
            </a:r>
          </a:p>
          <a:p>
            <a:r>
              <a:t>(quoted above), and البدایہ ج۷ ص۴۰ has «رجل من أهل هَجَر راهب». So *the monk of Hajar* is exactly what the</a:t>
            </a:r>
          </a:p>
          <a:p>
            <a:r>
              <a:t>books support, and it is a plain factual descriptor from the source, not a coined title (CLAUDE.md §1.2).</a:t>
            </a:r>
          </a:p>
          <a:p>
            <a:r>
              <a:t>Do not upgrade him to a bishop, do not name him, and do not state what community he came from — no</a:t>
            </a:r>
          </a:p>
          <a:p>
            <a:r>
              <a:t>page we hold gives any of the three.</a:t>
            </a:r>
          </a:p>
          <a:p/>
          <a:p>
            <a:r>
              <a:t>⚠ NO HONORIFIC. No page we hold states that he ever saw the Prophet ﷺ, so he gets no ؓ. He became a</a:t>
            </a:r>
          </a:p>
          <a:p>
            <a:r>
              <a:t>Muslim in ۱۲ھ, after the Prophet ﷺ had died. If a slip asks whether he was a Companion: the books do not</a:t>
            </a:r>
          </a:p>
          <a:p>
            <a:r>
              <a:t>say, and neither do we.</a:t>
            </a:r>
          </a:p>
          <a:p/>
          <a:p>
            <a:r>
              <a:t>⚠ THIS IS A كرامہ-ADJACENT REPORT AND البدایہ FRAMES IT AS ONE — «وما أجرى الله على يديه من</a:t>
            </a:r>
          </a:p>
          <a:p>
            <a:r>
              <a:t>الكرامات» (البدایہ ج۷ ص۴۰). Narrate it as the book narrates it. Do not build a doctrinal point on it,</a:t>
            </a:r>
          </a:p>
          <a:p>
            <a:r>
              <a:t>do not defend it from the platform, and do not soften it either. If challenged: this is what the book</a:t>
            </a:r>
          </a:p>
          <a:p>
            <a:r>
              <a:t>records, with the name of the man it records it from, and we are reading a book.</a:t>
            </a:r>
          </a:p>
          <a:p/>
          <a:p>
            <a:r>
              <a:t>⚠ Eyeball every Arabic line on this card against the page image before it reaches a slide</a:t>
            </a:r>
          </a:p>
          <a:p>
            <a:r>
              <a:t>(CLAUDE.md §1.1). البدایہ's text here is lightly vocalised and الکامل's is fully vocalised, so the two</a:t>
            </a:r>
          </a:p>
          <a:p>
            <a:r>
              <a:t>will not look alike on screen even where they agree.</a:t>
            </a:r>
          </a:p>
          <a:p/>
          <a:p>
            <a:r>
              <a:t>⚠ ADD TO docs/catalogue/HOWWEKNOW.md. The bank has nothing from this front — it was grepped and</a:t>
            </a:r>
          </a:p>
          <a:p>
            <a:r>
              <a:t>carries no entry for هَجَر, دارين or العلاء ؓ — and this is its best entry in the whole part: an</a:t>
            </a:r>
          </a:p>
          <a:p>
            <a:r>
              <a:t>eyewitness from outside the community, explaining himself, with the chain stated on the page. It is also</a:t>
            </a:r>
          </a:p>
          <a:p>
            <a:r>
              <a:t>the licence for the one source remark this evening is allowed (DECISIONS.md #27) — at the moment a</a:t>
            </a:r>
          </a:p>
          <a:p>
            <a:r>
              <a:t>listener asks "how do we know that?", inside the story. Not a methodology slot, and not a recurring one.</a:t>
            </a:r>
          </a:p>
          <a:p/>
          <a:p>
            <a:r>
              <a:t>⚠ #43 — the row this card answers. No new proper name walks on stage here: the man is unnamed, and</a:t>
            </a:r>
          </a:p>
          <a:p>
            <a:r>
              <a:t>al-ʿAlāʾ ؓ, هَجَر, الدَّهْناء and دارين are all already on earlier cards of the same block. Answer the</a:t>
            </a:r>
          </a:p>
          <a:p>
            <a:r>
              <a:t>runsheet row "the monk of Hajar — no notice needed; the books do not name him".</a:t>
            </a:r>
          </a:p>
          <a:p/>
          <a:p>
            <a:r>
              <a:t>SAY —</a:t>
            </a:r>
          </a:p>
          <a:p>
            <a:r>
              <a:t>1. Who he was, and exactly what the page says — A monk of the people of Hajar, travelling with the Muslim army. Both books call him that. They do not give his name, and they do not say which religion he had been following — so neither do we.</a:t>
            </a:r>
          </a:p>
          <a:p>
            <a:r>
              <a:t>2. He was there for all of it — Ibn Kathīr says so plainly: he was with the Muslims through these scenes and sights of al-ʿAlāʾ's ؓ affair. The water in the sand, and then the sea.</a:t>
            </a:r>
          </a:p>
          <a:p>
            <a:r>
              <a:t>3. Note the order — First he became a Muslim. Then somebody asked him why. This is a man explaining himself after the fact, not a man being argued into anything.</a:t>
            </a:r>
          </a:p>
          <a:p>
            <a:r>
              <a:t>4. He did not argue. He counted — Three things, and he said he feared what Allah would do to him if he had seen them and gone on as he was. Quote.</a:t>
            </a:r>
          </a:p>
          <a:p>
            <a:r>
              <a:t>   ^ read the Arabic on the face here</a:t>
            </a:r>
          </a:p>
          <a:p>
            <a:r>
              <a:t>5. The three, in his own order — Water welling up in the sands. The sea's swells laid flat. And a supplication he heard in their camp, in the air, before dawn.</a:t>
            </a:r>
          </a:p>
          <a:p>
            <a:r>
              <a:t>6. He could repeat the third one — The book prints the words he says he heard, straight after the three. He had not been taught them; he had heard them.</a:t>
            </a:r>
          </a:p>
          <a:p>
            <a:r>
              <a:t>7. What he concluded — That men are not helped like that unless they are on the truth.</a:t>
            </a:r>
          </a:p>
          <a:p>
            <a:r>
              <a:t>8. And this is how it reached us — الکامل closes the whole Bahrayn chapter on it: the Companions of the Prophet ﷺ used to hear this from him afterwards. The one man in that army who had no reason to take their side is the man whose account they kept repeating. That is the answer to "how do we know?", and it is inside the story.</a:t>
            </a:r>
          </a:p>
          <a:p/>
          <a:p>
            <a:r>
              <a:t>QUOTE — ثَلَاثَةُ أَشْيَاءَ خَشِيتُ أَنْ يَمْسَخَنِي اللَّهُ بَعْدَهَا: فَيْضٌ فِي الرِّمَالِ، وَتَمْهِيدُ أَثْبَاجِ الْبَحْرِ، وَدُعَاءٌ سَمِعْتُهُ فِي عَسْكَرِهِمْ فِي الْهَوَاءِ سَحَرًا</a:t>
            </a:r>
          </a:p>
          <a:p>
            <a:r>
              <a:t>"Three things, after which I feared Allah would transform me: water welling up in the sands, the levelling of the sea's swells, and a supplication I heard in their camp, in the air, before dawn."</a:t>
            </a:r>
          </a:p>
          <a:p>
            <a:r>
              <a:t>— الکامل فی التاریخ ج۲ ص۲۲۴</a:t>
            </a:r>
          </a:p>
          <a:p/>
          <a:p>
            <a:r>
              <a:t>عبرت — The strongest witness for what happened on this front is the one man in it who had no reason to take their side.</a:t>
            </a:r>
          </a:p>
          <a:p/>
          <a:p>
            <a:r>
              <a:t>HANDS UP — Before beat 3: *"Hands up — who has been wondering, while I have been telling all this, how anybody knows that it happened?"*</a:t>
            </a:r>
          </a:p>
          <a:p/>
          <a:p>
            <a:r>
              <a:t>What the three refer to — the water in the sands is the night at الدَّهْناء, where the camels bolted</a:t>
            </a:r>
          </a:p>
          <a:p>
            <a:r>
              <a:t>with everything on them and water was found beside the men by morning (البدایہ ج۷ ص۳۹; الکامل ج۲ ص۲۲۳);</a:t>
            </a:r>
          </a:p>
          <a:p>
            <a:r>
              <a:t>the levelling of the sea is the دارين crossing of RC27. ⚠ The page lists the three without naming</a:t>
            </a:r>
          </a:p>
          <a:p>
            <a:r>
              <a:t>either episode. It is البدایہ ج۷ ص۴۰ that places this man at them. Say it the way the pages do — *he</a:t>
            </a:r>
          </a:p>
          <a:p>
            <a:r>
              <a:t>had been with them for all of it* — and do not assert a one-to-one match the page does not make.</a:t>
            </a:r>
          </a:p>
          <a:p/>
          <a:p>
            <a:r>
              <a:t>BACKGROUND (read at home, not aloud) —</a:t>
            </a:r>
          </a:p>
          <a:p>
            <a:r>
              <a:t>Travelling with al-ʿAlāʾ's ؓ column was a monk of the people of Hajar. The books say only that — a monk, of that town. They do not name him, and they do not say what he had been before. He had been with the army for all of it: the night in the sand, and the crossing. When it was over he became a Muslim, and somebody asked him what had brought him to it. He did not answer with an argument. He answered with three things he had seen himself, and said he had been afraid of what would be done to him if he saw them and stayed as he was. Then he said what he had concluded from them. And the account did not come down through an army report. It came down because he went on telling it, and the Companions heard him.</a:t>
            </a:r>
          </a:p>
          <a:p/>
          <a:p>
            <a:r>
              <a:t>How the question was put to him, in the words that open the report:</a:t>
            </a:r>
          </a:p>
          <a:p>
            <a:r>
              <a:t>&gt; وَكَانَ مَعَ الْمُسْلِمِينَ رَاهِبٌ مِنْ أَهْلِ هَجَرَ، فَأَسْلَمَ، فَقِيلَ لَهُ: مَا حَمَلَكَ عَلَى الْإِسْلَامِ؟</a:t>
            </a:r>
          </a:p>
          <a:p>
            <a:r>
              <a:t>&gt; — الکامل فی التاریخ ج۲ ص۲۲۴ · https://shamela.ws/book/21712/915</a:t>
            </a:r>
          </a:p>
          <a:p>
            <a:r>
              <a:t>&gt; *English:* "And there was with the Muslims a monk of the people of Hajar, and he became a Muslim. It</a:t>
            </a:r>
          </a:p>
          <a:p>
            <a:r>
              <a:t>&gt; was said to him: what brought you to Islam?"</a:t>
            </a:r>
          </a:p>
          <a:p/>
          <a:p>
            <a:r>
              <a:t>How the account reached us — the line الکامل ends the chapter on:</a:t>
            </a:r>
          </a:p>
          <a:p>
            <a:r>
              <a:t>&gt; فَعَلِمْتُ أَنَّ الْقَوْمَ لَمْ يُعَانُوا بِالْمَلَائِكَةِ إِلَّا وَهُمْ عَلَى حَقٍّ، فَكَانَ أَصْحَابُ النَّبِيِّ - صَلَّى اللَّهُ عَلَيْهِ وَسَلَّمَ - يَسْمَعُونَ هَذَا مِنْهُ بَعْدُ.</a:t>
            </a:r>
          </a:p>
          <a:p>
            <a:r>
              <a:t>&gt; — الکامل فی التاریخ ج۲ ص۲۲۵ · https://shamela.ws/book/21712/916</a:t>
            </a:r>
          </a:p>
          <a:p>
            <a:r>
              <a:t>&gt; *English:* "So I knew that these people would not be helped by the angels unless they were upon the</a:t>
            </a:r>
          </a:p>
          <a:p>
            <a:r>
              <a:t>&gt; truth. And the Companions of the Prophet ﷺ used to hear this from him afterwards."</a:t>
            </a:r>
          </a:p>
          <a:p/>
          <a:p>
            <a:r>
              <a:t>What البدایہ has instead, and whose report it is:</a:t>
            </a:r>
          </a:p>
          <a:p>
            <a:r>
              <a:t>&gt; أنه كان مع المسلمين في هذه المواقف والمشاهد التي رَأوْها من أمر العلاءَ، وما أجرى الله على يديه من الكرامات، رجل من أهل هَجَر راهب فأسلم حينئذ</a:t>
            </a:r>
          </a:p>
          <a:p>
            <a:r>
              <a:t>&gt; — البدایہ والنہایہ ج۷ ص۴۰ · https://shamela.ws/book/30097/3186</a:t>
            </a:r>
          </a:p>
          <a:p>
            <a:r>
              <a:t>&gt; *English:* "...that there was with the Muslims, in these scenes and sights which they saw of al-ʿAlāʾ's</a:t>
            </a:r>
          </a:p>
          <a:p>
            <a:r>
              <a:t>&gt; affair and of what Allah brought about by his hands, a man of the people of Hajar, a monk, who became a</a:t>
            </a:r>
          </a:p>
          <a:p>
            <a:r>
              <a:t>&gt; Muslim then and there."</a:t>
            </a:r>
          </a:p>
          <a:p/>
          <a:p>
            <a:r>
              <a:t>Ibn Kathīr gives this on the authority of سيف بن عمر التميمي, and says so on the page. His version is</a:t>
            </a:r>
          </a:p>
          <a:p>
            <a:r>
              <a:t>also shorter: his man gives one reason — that he feared being transformed, from the signs he had</a:t>
            </a:r>
          </a:p>
          <a:p>
            <a:r>
              <a:t>seen — and then the supplication he heard at سحر. The three-item list is الکامل's form. If the card</a:t>
            </a:r>
          </a:p>
          <a:p>
            <a:r>
              <a:t>says "three", cite الکامل ج۲ ص۲۲۴ for it, never البدایہ.</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Callback to evening 4. ⚠⚠ Not in al-Bidaya — cite al-Kamil, vol. 2, p. 224 only. ⚠ Discretion: killed by fellow Arabs after the surrender, over cloth. Plainly, briefly; skip if the room is heavy</a:t>
            </a:r>
          </a:p>
          <a:p/>
          <a:p>
            <a:r>
              <a:t>⚠ This is not in البدایہ. Cite الکامل ج۲ ص۲۲۴ (and ابن خلدون ج۲ ص۵۰۶) only.</a:t>
            </a:r>
          </a:p>
          <a:p/>
          <a:p>
            <a:r>
              <a:t>SAY —</a:t>
            </a:r>
          </a:p>
          <a:p>
            <a:r>
              <a:t>1. ⚠ Not an introduction — a callback — The room met him on evening 4: Thumāma b. Uthāl al-Ḥanafī ؓ, of Banū Ḥanīfa itself, Musaylima's own tribe, who was fighting Musaylima inside his own country before any army came from Medina (RCT/E-RC64, delivered, Part I). One sentence; do not re-introduce him.</a:t>
            </a:r>
          </a:p>
          <a:p>
            <a:r>
              <a:t>2. What he did after that — He joined al-ʿAlāʾ's ؓ column on the road to Bahrayn with the Muslims of Banū Ḥanīfa, and went through the whole war with it, as far as Dārīn.</a:t>
            </a:r>
          </a:p>
          <a:p>
            <a:r>
              <a:t>3. What he was given for it — When the spoils were divided al-ʿAlāʾ ؓ singled out the men who had borne the hardest of the fighting and gave them garments. Thumāma ؓ got al-Ḥuṭam's own embroidered cloak — the one al-Ḥuṭam used to show himself off in.</a:t>
            </a:r>
          </a:p>
          <a:p>
            <a:r>
              <a:t>4. On the road home from Dārīn — Banū Qays b. Thaʿlaba saw it on him. They were al-Ḥuṭam's own tribe, and they had surrendered.</a:t>
            </a:r>
          </a:p>
          <a:p>
            <a:r>
              <a:t>5. The exchange — They said: you killed al-Ḥuṭam. He said: I did not kill him; I came by it out of the spoils. They fell on him and killed him. Quote.</a:t>
            </a:r>
          </a:p>
          <a:p>
            <a:r>
              <a:t>   ^ read the Arabic on the face here</a:t>
            </a:r>
          </a:p>
          <a:p>
            <a:r>
              <a:t>6. Say exactly who, and say what the page withholds — Banū Qays b. Thaʿlaba, as a body: the words are plural and name nobody. The motive the page does give is on its face — they took the cloak for proof of their chief's blood. What the page does not give: no individual killer, no word on whether they believed him, and nothing at all about a reckoning afterwards or about Medina being told.</a:t>
            </a:r>
          </a:p>
          <a:p>
            <a:r>
              <a:t>7. ⚠ Tell it plainly and move — Two sentences, no dwelling, no lesson beyond the one line. If the room is heavy, cut the card — nothing later in the evening depends on it.</a:t>
            </a:r>
          </a:p>
          <a:p/>
          <a:p>
            <a:r>
              <a:t>QUOTE — فَقَالُوا لَهُ: أَنْتَ قَتَلْتَ الْحُطَمَ! فَقَالَ: لَمْ أَقْتُلْهُ، وَلَكِنِّي اشْتَرَيْتُهَا مِنَ الْمَغْنَمِ. فَوَثَبُوا عَلَيْهِ فَقَتَلُوهُ.</a:t>
            </a:r>
          </a:p>
          <a:p>
            <a:r>
              <a:t>"They said to him: You killed al-Ḥuṭam! He said: I did not kill him — I bought it from the spoils. So they fell on him and killed him."</a:t>
            </a:r>
          </a:p>
          <a:p>
            <a:r>
              <a:t>— الکامل فی التاریخ ج۲ ص۲۲۴</a:t>
            </a:r>
          </a:p>
          <a:p/>
          <a:p>
            <a:r>
              <a:t>عبرت — He survived the war and was killed for a piece of cloth by men who had already surrendered.</a:t>
            </a:r>
          </a:p>
          <a:p/>
          <a:p>
            <a:r>
              <a:t>BACKGROUND (read at home, not aloud) —</a:t>
            </a:r>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 — Tonight so far: the year opened with the armies still out — and the front that started before all of them, from Juwātha to Dārīn.</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 — When you came in, there was one grey patch on the Gulf coast. It is green. One front is left.</a:t>
            </a:r>
          </a:p>
          <a:p/>
          <a:p>
            <a:r>
              <a:t>⏱ Past 0:24 here and you are ahead; past 0:36, close here.</a:t>
            </a:r>
          </a:p>
          <a:p/>
          <a:p>
            <a:r>
              <a:t>CARRYING ON → say: "One front was left — and it began with a quarrel about camels." — and click on.</a:t>
            </a:r>
          </a:p>
          <a:p/>
          <a:p>
            <a:r>
              <a:t>OUT OF TIME → this is your ending. Stay on this map and say:</a:t>
            </a:r>
          </a:p>
          <a:p>
            <a:r>
              <a:t>   1. The word «ridda» names this whole front, and on this front it does not fit everyone inside it. Some of those men had never been Muslims to leave.</a:t>
            </a:r>
          </a:p>
          <a:p>
            <a:r>
              <a:t>   2. The state had almost no soldiers to send; what it sent instead was a commander and a piece of writing.</a:t>
            </a:r>
          </a:p>
          <a:p>
            <a:r>
              <a:t>   3. He closed the roads behind the enemy before he opened one in front of himself.</a:t>
            </a:r>
          </a:p>
          <a:p/>
          <a:p>
            <a:r>
              <a:t>Then next week: "One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One step back, and I will say when we take it. Two years before the Prophet ﷺ died, a delegation came to Medina from a tribe in the south — and the man at its head is the man this last front belongs to. After this we go forward, and we stay there.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Say the flashback aloud. The date is standard, not page-cited: "in the year of the delegations". The room meets al-Ashʿath b. Qays here, at the head of his people, in kohl and silk. Tree D (Kinda) opens the part</a:t>
            </a:r>
          </a:p>
          <a:p/>
          <a:p>
            <a:r>
              <a:t>SAY —</a:t>
            </a:r>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   ^ read the Arabic on the face here</a:t>
            </a:r>
          </a:p>
          <a:p>
            <a:r>
              <a:t>6. And al-Ashʿath closed it himself — Any man I hear say it again gets eighty lashes.</a:t>
            </a:r>
          </a:p>
          <a:p/>
          <a:p>
            <a:r>
              <a:t>QUOTE — لا، نحن بنو النَّضْر بن كنانة، لا نَقْفُو أمَّنا، ولا ننتفي من أبينا</a:t>
            </a:r>
          </a:p>
          <a:p>
            <a:r>
              <a:t>"No. We are the sons of al-Naḍr b. Kināna. We do not trace ourselves through our mother, and we do not disown our father."</a:t>
            </a:r>
          </a:p>
          <a:p>
            <a:r>
              <a:t>— البدایہ والنہایہ ج۵ ص۵۶</a:t>
            </a:r>
          </a:p>
          <a:p/>
          <a:p>
            <a:r>
              <a:t>عبرت — They offered him a royal ancestry as a gift, and he declined it with a smile.</a:t>
            </a:r>
          </a:p>
          <a:p/>
          <a:p>
            <a:r>
              <a:t>BACKGROUND (read at home, not aloud) —</a:t>
            </a:r>
          </a:p>
          <a:p>
            <a:r>
              <a:t>Kinda came to Medina in a large delegation — eighty riders in one report, seventy in another, ten-odd in a third — with al-Ashʿath b. Qays at their head. They walked into the Prophet's ﷺ mosque with their hair combed and kohl on their eyes, in Yemeni cloaks edged with silk. He asked: have you not accepted Islam? — yes — then what is this silk on your necks? They tore it off. Then al-Ashʿath said: we are the sons of Ākil al-Murār, and so are you. The Prophet ﷺ smiled. Traders of Quraysh used to claim that lineage abroad for the honour of it, the report explains, because Kinda had been kings. He answered: no — we are the sons of al-Naḍr b. Kināna; we do not trace ourselves through our mother, nor disown our father. al-Ashʿath turned to his people: any man I hear say it again gets eighty lashes.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Ziyād b. Labīd's ؓ notice in one breath first</a:t>
            </a:r>
          </a:p>
          <a:p/>
          <a:p>
            <a:r>
              <a:t>SAY —</a:t>
            </a:r>
          </a:p>
          <a:p>
            <a:r>
              <a:t>1. Who Ziyād b. Labīd ؓ is — Of the Anṣār, of Banū Bayāḍa of the Khazraj; the Prophet's ﷺ own appointee over Ḥaḍramawt, and he held the post through the whole war.</a:t>
            </a:r>
          </a:p>
          <a:p>
            <a:r>
              <a:t>▶ CLICK 1 — The arrangement: ṣadaqa carried both ways.</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 CLICK 2 — 'Carry it yourselves' — and it was not carried.</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r>
              <a:t>▶ NEXT SLIDE — the words: read the Arabic, then its English.</a:t>
            </a:r>
          </a:p>
          <a:p/>
          <a:p>
            <a:r>
              <a:t>Ziyād's ؓ waiting: «وَأَمْسَكَ عَنْهُمْ زِيَادٌ انْتِظَارًا لِلْمُهَاجِرِ» (ج۲ ص۲۳۰). ⚠ الکامل only — the</a:t>
            </a:r>
          </a:p>
          <a:p>
            <a:r>
              <a:t>Ḥaḍramawt campaign is not in البدایہ. Follow with RCT/E-RC33 (the she-camel called Shadhra).</a:t>
            </a:r>
          </a:p>
          <a:p/>
          <a:p>
            <a:r>
              <a:t>BACKGROUND (read at home, not aloud) —</a:t>
            </a:r>
          </a:p>
          <a:p>
            <a:r>
              <a:t>In the Prophet's ﷺ lifetime an arrangement had been made: part of Ḥaḍramawt's ṣadaqa went to Kinda, and part of Kinda's to Ḥaḍramawt. A clan of Kinda, Banū Walīʿa, had said to Ḥaḍramawt: we have no camels to carry it — send it to us loaded. And Ḥaḍramawt had said: we will look into it, and if you really have none, we will. Then the Prophet ﷺ died. Banū Walīʿa came and said: deliver it, the way you promised the Messenger of Allah ﷺ. And Ḥaḍramawt said: you do have camels — carry it yourselves. And Kinda turned to Ziyād b. Labīd ؓ, the governor, and said: you are with them against us. The men of Ḥaḍramawt would not carry it; the men of Kinda kept insisting, and went home with the matter still undecided. Ziyād ؓ did nothing yet. He was waiting for al-Muhājir ؓ.</a:t>
            </a:r>
          </a:p>
          <a:p/>
          <a:p>
            <a:r>
              <a:t>Ziyād b. Labīd ؓ, page-cited, for the one breath: of the Anṣār, of بنو بَيَاضة of the</a:t>
            </a:r>
          </a:p>
          <a:p>
            <a:r>
              <a:t>خزرج (البدایہ ج۳ ص۴۶۶ — see medina-ansar-structure.md); the Prophet's ﷺ appointee over حضرموت</a:t>
            </a:r>
          </a:p>
          <a:p>
            <a:r>
              <a:t>(البدایہ ج۷ ص۴۱); and he held that post through the whole ردة and ran the campaign there</a:t>
            </a:r>
          </a:p>
          <a:p>
            <a:r>
              <a:t>(الکامل ج۲ ص۲۲۹–۲۳۲ — where ج۲ ص۲۲۹ spells him زياد بن أبي لبيد الأنصاري and the following pages</a:t>
            </a:r>
          </a:p>
          <a:p>
            <a:r>
              <a:t>زياد بن لبيد). The room last heard his name in one clause of TSY/E-YK04 on evening 3.</a:t>
            </a:r>
          </a:p>
          <a:p>
            <a:r>
              <a:t>Also on the page:</a:t>
            </a:r>
          </a:p>
          <a:p/>
          <a:p>
            <a:r>
              <a:t>&gt;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ج۲ ص۲۳۰ · https://shamela.ws/book/21712/921</a:t>
            </a:r>
          </a:p>
          <a:p>
            <a:r>
              <a:t>&gt; *English:* "Some of Banū Walīʿa of Kinda said to Ḥaḍramawt: We have no mounts — if you see fit, send</a:t>
            </a:r>
          </a:p>
          <a:p>
            <a:r>
              <a:t>&gt; it to us on mounts. They said: We shall look into it; if you have no mounts, we will do it."</a:t>
            </a:r>
          </a:p>
          <a:p/>
          <a:p>
            <a:r>
              <a:t>&gt;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ج۲ ص۲۳۰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a:p/>
          <a:p>
            <a:r>
              <a:t>عبرت — A small promise made in the Prophet's ﷺ lifetime was tested the day after he died, and the province went to war over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البدایہ carries no Ḥaḍramawt campaign at all. Cite الکامل ج۲ ص۲۲۹–۲۳۲,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ج۲ ص۲۳۰).</a:t>
            </a:r>
          </a:p>
          <a:p/>
          <a:p>
            <a:r>
              <a:t>SAY —</a:t>
            </a:r>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r>
              <a:t>   ^ read the Arabic on the face here</a:t>
            </a:r>
          </a:p>
          <a:p/>
          <a:p>
            <a:r>
              <a:t>QUOTE — فَقَالَ حَارِثَةُ: ذَاكَ إِذَا كُنْتَ يَهُودِيًّا، وَأَطْلَقَ عِقَالَهَا وَبَعَثَهَا وَقَامَ دُونَهَا.</a:t>
            </a:r>
          </a:p>
          <a:p>
            <a:r>
              <a:t>"Ḥāritha said: That would be so if you were a Jew — and he untied her hobble and drove her off and stood in front of her."</a:t>
            </a:r>
          </a:p>
          <a:p>
            <a:r>
              <a:t>— الکامل فی التاریخ ج۲ ص۲۳۰</a:t>
            </a:r>
          </a:p>
          <a:p/>
          <a:p>
            <a:r>
              <a:t>عبرت — A province went to war over one animal, a naming mistake and a public insult, and every part of that is on one page.</a:t>
            </a:r>
          </a:p>
          <a:p/>
          <a:p>
            <a:r>
              <a:t>BACKGROUND (read at home, not aloud) —</a:t>
            </a:r>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البسوس has no page here — say only "an old war that had started the same way"</a:t>
            </a:r>
          </a:p>
          <a:p/>
          <a:p>
            <a:r>
              <a:t>⚠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(ج۲ ص۲۳۱).</a:t>
            </a:r>
          </a:p>
          <a:p/>
          <a:p>
            <a:r>
              <a:t>SAY —</a:t>
            </a:r>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 CLICK 1 — Two great camps face each other.</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 CLICK 2 — A strike by night.</a:t>
            </a:r>
          </a:p>
          <a:p>
            <a:r>
              <a:t>7. A strike by night — Ziyād ؓ hit them in the dark, and they scattered.</a:t>
            </a:r>
          </a:p>
          <a:p>
            <a:r>
              <a:t>▶ CLICK 3 — Kinda roused: no ṣadaqa.</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r>
              <a:t>▶ NEXT SLIDE — the words: read the Arabic, then its English.</a:t>
            </a:r>
          </a:p>
          <a:p/>
          <a:p>
            <a:r>
              <a:t>BACKGROUND (read at home, not aloud) —</a:t>
            </a:r>
          </a:p>
          <a:p>
            <a:r>
              <a:t>When Ziyād ؓ refused to give the camel back, a warning was spoken over her: do not let Shadhra be for you what al-Basūs was. And the owner, al-ʿAddāʾ, called out to his clan. Ḥāritha b. Surāqa raised the call too, came up to Ziyād ؓ, and untied her. Ziyād ؓ had young men of Ḥaḍramawt and al-Sakūn tie Ḥāritha up, and his companions, and take the camel back. Kinda shouted. Banū Muʿāwiya came out for Ḥāritha; Ḥaḍramawt and al-Sakūn came out for Ziyād ؓ; two great camps faced each other. Kinda did not attack, because their men were prisoners. Ziyād ؓ told them to put down their weapons; they refused and demanded their men; he refused. He hit them by night, and they scattered. Then he let Ḥāritha and the others go — and the men he let go went straight back and roused their people against him. A large force gathered, and they called out that they would pay no ṣadaqa. Al-Ḥuṣayn b. Numayr was sent between the two sides, and for a little while they held off from each other.</a:t>
            </a:r>
          </a:p>
          <a:p/>
          <a:p>
            <a:r>
              <a:t>Also on the page:</a:t>
            </a:r>
          </a:p>
          <a:p/>
          <a:p>
            <a:r>
              <a:t>&gt; فَلَجَأَ فِي أَخْذِهَا، فَقَالَ لَهَا: لَا تَكُونَنَّ شَذْرَةً عَلَيْكُمْ كَالْبَسُوسِ. فَنَادَى الْعَدَّاءُ: يَا آلَ عَمْرٍو، أُضَامُ وَأُضْطَهَدُ! إِنَّ الذَّلِيلَ مَنْ أُكِلَ فِي دَارِهِ!</a:t>
            </a:r>
          </a:p>
          <a:p>
            <a:r>
              <a:t>&gt; — الکامل فی التاریخ ج۲ ص۲۳۰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a:t>
            </a:r>
          </a:p>
          <a:p/>
          <a:p>
            <a:r>
              <a:t>&gt;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ج۲ ص۲۳۰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a:p/>
          <a:p>
            <a:r>
              <a:t>عبرت — Once the quarrel became a matter of honour, being right about the camel no longer decided anything. ⚠ البسوس needs a gloss, and we do not have one on a page we hold. The warning only works if the room knows what al-Basūs was — a pre-Islamic war between Bakr and Taghlib said to have started over a she-camel and run for decades. That is [STANDARD] and is NOT page-cited in this repo: it carries (to verify) and must be checked before it is spoken as fact. The safe spoken form, which claims nothing we cannot show, is in the beats: *a warning was spoken over her that named an old war which had started the same way.* If Daniyal wants the story itself, it needs one verification pass first.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Shuraḥbīl b. al-Simṭ and his son</a:t>
            </a:r>
          </a:p>
          <a:p/>
          <a:p>
            <a:r>
              <a:t>⚠ Quote only to «وَالْقَبِيحِ!» — the next clause reads against the sense. It was his son, not his</a:t>
            </a:r>
          </a:p>
          <a:p>
            <a:r>
              <a:t>father («وَابْنَهُ») — this corrects the campaign note §10.3.</a:t>
            </a:r>
          </a:p>
          <a:p/>
          <a:p>
            <a:r>
              <a:t>SAY —</a:t>
            </a:r>
          </a:p>
          <a:p>
            <a:r>
              <a:t>▶ CLICK 1 — Each chief takes his own pasture as a stronghold.</a:t>
            </a:r>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 CLICK 2 — One man and his son walk out, to Ziyād's ؓ camp.</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r>
              <a:t>▶ NEXT SLIDE — the words: read the Arabic, then its English.</a:t>
            </a:r>
          </a:p>
          <a:p/>
          <a:p>
            <a:r>
              <a:t>BACKGROUND (read at home, not aloud) —</a:t>
            </a:r>
          </a:p>
          <a:p>
            <a:r>
              <a:t>The whole of Banū Muʿāwiya agreed to withhold the ṣadaqa, and each of their chiefs took up his own reserved pasture as a stronghold. All of them — except one man, Shuraḥbīl b. al-Simṭ, and his son. The two of them told their own clan, Banū Muʿāwiya, why they would not come. Then they moved out, and camped with Ziyād ؓ, and they gave him advice: strike tonight, before the men of al-Sakāsik, al-Sakūn and Ḥaḍramawt who are drifting toward the rebels get there — because if you wait, we are afraid people will drift away from us to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a:p/>
          <a:p>
            <a:r>
              <a:t>عبرت — He used his tribe's own code of honour — never change sides — as the reason not to follow his tribe.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No source ties the old kingship to the ridda — imply nothing</a:t>
            </a:r>
          </a:p>
          <a:p/>
          <a:p>
            <a:r>
              <a:t>SAY —</a:t>
            </a:r>
          </a:p>
          <a:p>
            <a:r>
              <a:t>▶ CLICK 1 — They ring the pastures in the dark — from five sides.</a:t>
            </a:r>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 CLICK 2 — The four kings are killed.</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r>
              <a:t>▶ NEXT SLIDE — the words: read the Arabic, then its English.</a:t>
            </a:r>
          </a:p>
          <a:p/>
          <a:p>
            <a:r>
              <a:t>BACKGROUND (read at home, not aloud) —</a:t>
            </a:r>
          </a:p>
          <a:p>
            <a:r>
              <a:t>Ziyād ؓ agreed. They gathered in the dark and ringed the pastures, and they found the men sitting round their fires. Banū ʿAmr b. Muʿāwiya were the strongest of Kinda and had the numbers. The Muslims fell on them from five directions at once. Four brothers were killed that night — Mikhwaṣ, Mishraḥ, Jamad and Abḍaʿa — with their sister, al-ʿAmarrada. These were "the four kings", the chiefs of Banū ʿAmr. Many others were killed; whoever could run, ran. Ziyād ؓ turned back with the property and the captives. And his road home passed al-Ashʿath b. Qays. Al-Ashʿath rose with his people, took the captives back, and began to gather every man he could.</a:t>
            </a:r>
          </a:p>
          <a:p/>
          <a:p>
            <a:r>
              <a:t>Also on the page:</a:t>
            </a:r>
          </a:p>
          <a:p/>
          <a:p>
            <a:r>
              <a:t>&gt;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ج۲ ص۲۳۱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a:t>
            </a:r>
          </a:p>
          <a:p/>
          <a:p>
            <a:r>
              <a:t>Al-Dhahabī, from Ibn Isḥāq — four, and no sister:</a:t>
            </a:r>
          </a:p>
          <a:p/>
          <a:p>
            <a:r>
              <a:t>&gt; أن زيادا بيتهم فقتل ملوكا أربعة: جمدا، ومخوصا ومشرحا، وأبضعة.</a:t>
            </a:r>
          </a:p>
          <a:p>
            <a:r>
              <a:t>&gt; — سیر أعلام النبلاء، ج الراشدون ص۶۲ · https://shamela.ws/book/10906/1210</a:t>
            </a:r>
          </a:p>
          <a:p>
            <a:r>
              <a:t>&gt; *English:* "…that Ziyād fell on them by night and killed four kings: Jamad, Mikhwaṣ, Mishraḥ and</a:t>
            </a:r>
          </a:p>
          <a:p>
            <a:r>
              <a:t>&gt; Abḍaʿa."</a:t>
            </a:r>
          </a:p>
          <a:p/>
          <a:p>
            <a:r>
              <a:t>Record both counts side by side; do not choose. The origin of the Prophet's ﷺ curse is the</a:t>
            </a:r>
          </a:p>
          <a:p>
            <a:r>
              <a:t>Kinda-delegation note; do not explain it from the floor. Ibn Khaldūn adds that the captive women</a:t>
            </a:r>
          </a:p>
          <a:p>
            <a:r>
              <a:t>cried out as they passed (ج۲ ص۴۹۲)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a:p/>
          <a:p>
            <a:r>
              <a:t>عبرت — The night attack ended the four kings and brought the fifth man into the war.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Never cut. Where the war becomes his</a:t>
            </a:r>
          </a:p>
          <a:p/>
          <a:p>
            <a:r>
              <a:t>SAY —</a:t>
            </a:r>
          </a:p>
          <a:p>
            <a:r>
              <a:t>▶ CLICK 1 — The column turns for home.</a:t>
            </a:r>
          </a:p>
          <a:p>
            <a:r>
              <a:t>1. The column turns for home — Ziyād ؓ with the property and the captives of the four kings.</a:t>
            </a:r>
          </a:p>
          <a:p>
            <a:r>
              <a:t>▶ CLICK 2 — Its road passes one man: al-Ashʿath b. Qays.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 CLICK 3 — He takes the captives back.</a:t>
            </a:r>
          </a:p>
          <a:p>
            <a:r>
              <a:t>5. He rises with his people — And takes the captives back out of the column.</a:t>
            </a:r>
          </a:p>
          <a:p>
            <a:r>
              <a:t>6. And gathers everyone he can — From here, this war is his.</a:t>
            </a:r>
          </a:p>
          <a:p>
            <a:r>
              <a:t>▶ NEXT SLIDE — the words: read the Arabic, then its English.</a:t>
            </a:r>
          </a:p>
          <a:p/>
          <a:p>
            <a:r>
              <a:t>Who he is, page-cited: he led the Kinda delegation to Medina (KTK/E-KD05, and the Kinda note's</a:t>
            </a:r>
          </a:p>
          <a:p>
            <a:r>
              <a:t>pages behind it); and Ibn al-Athīr's "four kings" are of بنو عمرو بن معاوية, a different branch</a:t>
            </a:r>
          </a:p>
          <a:p>
            <a:r>
              <a:t>of Kinda from his (KTK/E-KD06). No source ties the old Kinda kingship to this ردة — say nothing</a:t>
            </a:r>
          </a:p>
          <a:p>
            <a:r>
              <a:t>that implies it (DECISIONS.md, the Kinda note §"the four kings").</a:t>
            </a:r>
          </a:p>
          <a:p>
            <a:r>
              <a:t>⚠ This card exists because KTK/E-KD05 sits in an optional block. Without it, al-Ashʿath walks</a:t>
            </a:r>
          </a:p>
          <a:p>
            <a:r>
              <a:t>onto the stage as a bare name and then carries seven cards. If the Kinda flashback is cut, this card</a:t>
            </a:r>
          </a:p>
          <a:p>
            <a:r>
              <a:t>is not cut.</a:t>
            </a:r>
          </a:p>
          <a:p/>
          <a:p>
            <a:r>
              <a:t>BACKGROUND (read at home, not aloud) —</a:t>
            </a:r>
          </a:p>
          <a:p>
            <a:r>
              <a:t>Ziyād b. Labīd ؓ turned for home with the property and the captives, and the road passed al-Ashʿath b. Qays. Up to that night he had not been in it. He is of Kinda but not of Banū ʿAmr — a different branch of the tribe from the four brothers just killed — and the room has a reason to know his name already: he is the man who had led Kinda's own delegation into the Prophet's ﷺ mosque, at their head, a year or so before. He rose with his people, took the captives back out of the column, and began gathering every man he could. From here the war in Ḥaḍramawt is 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a:p/>
          <a:p>
            <a:r>
              <a:t>عبرت — The man who had brought his tribe to the Prophet ﷺ himself is the man who now raises it against Medina — and that is not a contradiction the books explain.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road that began at al-Yamāma ends here</a:t>
            </a:r>
          </a:p>
          <a:p/>
          <a:p>
            <a:r>
              <a:t>SAY —</a:t>
            </a:r>
          </a:p>
          <a:p>
            <a:r>
              <a:t>1. A letter: hurry — Ziyād ؓ wrote to al-Muhājir ؓ, and the letter met him on the road.</a:t>
            </a:r>
          </a:p>
          <a:p>
            <a:r>
              <a:t>▶ CLICK 1 — al-Muhājir ؓ rides ahead with the fastest men.</a:t>
            </a:r>
          </a:p>
          <a:p>
            <a:r>
              <a:t>2. Al-Muhājir ؓ rides ahead — He handed the army to ʿIkrima ؓ and hurried on with the fastest men.</a:t>
            </a:r>
          </a:p>
          <a:p>
            <a:r>
              <a:t>▶ CLICK 2 — Maḥjar al-Zurqān: Kinda breaks, and runs.</a:t>
            </a:r>
          </a:p>
          <a:p>
            <a:r>
              <a:t>3. The battle at Maḥjar al-Zurqān — Al-Muhājir ؓ joined Ziyād ؓ and marched on Kinda; they met, and Kinda broke and ran.</a:t>
            </a:r>
          </a:p>
          <a:p>
            <a:r>
              <a:t>▶ CLICK 3 — Into al-Nujayr — and ʿIkrima ؓ brings up the main body. The ring closes.</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r>
              <a:t>▶ NEXT SLIDE — the words: read the Arabic, then its English.</a:t>
            </a:r>
          </a:p>
          <a:p/>
          <a:p>
            <a:r>
              <a:t>BACKGROUND (read at home, not aloud) —</a:t>
            </a:r>
          </a:p>
          <a:p>
            <a:r>
              <a:t>Ziyād ؓ wrote to al-Muhājir ؓ to hurry. The letter met him on the road. He handed the army to ʿIkrima ؓ and rode ahead with the fastest men, joined Ziyād ؓ, and marched on Kinda. They met at Maḥjar al-Zurqān, and Kinda broke and ran for the fort of al-Nujayr. And the book adds one detail: they had already repaired it and put it in order. The Muslims camped round it. ʿIkrima ؓ came up with the main body, and the siege tightened. Raiding parties went out through the country after the rest. The garrison came out to fight, lost many men, and went back in.</a:t>
            </a:r>
          </a:p>
          <a:p/>
          <a:p>
            <a:r>
              <a:t>Also on the page:</a:t>
            </a:r>
          </a:p>
          <a:p/>
          <a:p>
            <a:r>
              <a:t>&gt; وَكَتَبَ زِيَادٌ إِلَى الْمُهَاجِرِ يَسْتَحِثُّهُ، فَلَقِيَهُ الْكِتَابُ بِالطَّرِيقِ فَاسْتَخْلَفَ عَلَى الْجُنْدِ عِكْرِمَةَ بْنَ أَبِي جَهْلٍ، وَتَعَجَّلَ فِي سَرَعَانِ النَّاسِ</a:t>
            </a:r>
          </a:p>
          <a:p>
            <a:r>
              <a:t>&gt; — الکامل فی التاریخ ج۲ ص۲۳۱ · https://shamela.ws/book/21712/922</a:t>
            </a:r>
          </a:p>
          <a:p>
            <a:r>
              <a:t>&gt; *English:* "Ziyād wrote to al-Muhājir urging him on; the letter met him on the road, and he left</a:t>
            </a:r>
          </a:p>
          <a:p>
            <a:r>
              <a:t>&gt; ʿIkrima b. Abī Jahl in charge of the army and hurried ahead with the quickest of the men."</a:t>
            </a:r>
          </a:p>
          <a:p/>
          <a:p>
            <a:r>
              <a:t>&gt; فَانْهَزَمَتْ كِنْدَةُ وَقُتِلَتْ، وَخَرَجُوا هُرَّابًا فَالْتَجَئُوا إِلَى النُّجَيْرِ، وَقَدْ رَمُّوهُ وَأَصْلَحُوهُ.</a:t>
            </a:r>
          </a:p>
          <a:p>
            <a:r>
              <a:t>&gt; — الکامل فی التاریخ ج۲ ص۲۳۱ · https://shamela.ws/book/21712/922</a:t>
            </a:r>
          </a:p>
          <a:p>
            <a:r>
              <a:t>&gt; *English:* "Kinda was routed and cut down; they fled and took refuge in al-Nujayr — which they had</a:t>
            </a:r>
          </a:p>
          <a:p>
            <a:r>
              <a:t>&gt; already repaired and put in order."</a:t>
            </a:r>
          </a:p>
          <a:p/>
          <a:p>
            <a:r>
              <a:t>Where the letter met him: الکامل says only «بالطريق»; Ibn Khaldūn says «بالمفازة بين مأرب وحضرموت»</a:t>
            </a:r>
          </a:p>
          <a:p>
            <a:r>
              <a:t>(ج۲ ص۴۹۴) — his detail, not for the map as fact. Pairs with RCT/E-RC34's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فَرَجَعُوا إِلَى حِصْنِهِمْ، وَخَشَعَتْ نُفُوسُهُمْ وَخَافُوا الْقَتْلَ</a:t>
            </a:r>
          </a:p>
          <a:p>
            <a:r>
              <a:t>"They went back into their fort; their spirits sank, and they feared death."</a:t>
            </a:r>
          </a:p>
          <a:p>
            <a:r>
              <a:t>— الکامل فی التاریخ ج۲ ص۲۳۱</a:t>
            </a:r>
          </a:p>
          <a:p/>
          <a:p>
            <a:r>
              <a:t>عبرت — They had prepared the place to retreat to before they fought, and it became the place they could not leave.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Say "11 or 12 AH" — al-Kamil and Siyar differ. ⚠ YK13's second telling exists if a slip asks</a:t>
            </a:r>
          </a:p>
          <a:p/>
          <a:p>
            <a:r>
              <a:t>SAY —</a:t>
            </a:r>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   ^ read the Arabic on the face here</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QUOTE — 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الکامل فی التاریخ ج۲ ص۲۳۲</a:t>
            </a:r>
          </a:p>
          <a:p/>
          <a:p>
            <a:r>
              <a:t>عبرت — The decision about al-Ashʿath was not taken in anger at the gate; it was sent to the man whose job it was.</a:t>
            </a:r>
          </a:p>
          <a:p/>
          <a:p>
            <a:r>
              <a:t>Pairs with RCT/E-RC34,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a:p/>
          <a:p>
            <a:r>
              <a:t>BACKGROUND (read at home, not aloud) —</a:t>
            </a:r>
          </a:p>
          <a:p>
            <a:r>
              <a:t>When the leaders inside began to fear for their own lives, al-Ashʿath came out with nine men. They asked Ziyād ؓ for a guarantee for themselves and their families, in return for opening the gate. Ziyād ؓ said: write whatever you want, and bring it to me to seal. They wrote it. And while al-Ashʿath was writing, a man called Jaḥdam jumped at him with a knife and said: you write me in, or I kill you. Al-Ashʿath wrote him in — and forgot himself. The gate was opened. Every fighting man inside was killed. When it was over, al-Ashʿath called the men and brought out the document, and everyone named in it was spared. Al-Ashʿath's name was not there. Al-Muhājir ؓ had him bound. And someone said: hold him back — send him to Abū Bakr ؓ; he knows best what the ruling on this man is.</a:t>
            </a:r>
          </a:p>
          <a:p/>
          <a:p>
            <a:r>
              <a:t>Also on the page:</a:t>
            </a:r>
          </a:p>
          <a:p/>
          <a:p>
            <a:r>
              <a:t>&gt;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ج۲ ص۲۳۲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a:t>
            </a:r>
          </a:p>
          <a:p/>
          <a:p>
            <a:r>
              <a:t>&gt;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ج۲ ص۲۳۲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 — Tonight: Bahrayn, and then the last front — from a 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 — Every front we have told is settled. And one man is on his way to Medina, in bonds.</a:t>
            </a:r>
          </a:p>
          <a:p/>
          <a:p>
            <a:r>
              <a:t>⏱ Past 0:36 here → close here. The judgement at Medina opens next week.</a:t>
            </a:r>
          </a:p>
          <a:p/>
          <a:p>
            <a:r>
              <a:t>CARRYING ON → say: "He had left his own name off the paper. Now he stood in front of Abū Bakr ؓ." — and click on.</a:t>
            </a:r>
          </a:p>
          <a:p/>
          <a:p>
            <a:r>
              <a:t>OUT OF TIME → this is your ending. Stay on this map and say:</a:t>
            </a:r>
          </a:p>
          <a:p>
            <a:r>
              <a:t>   1. He closed the roads behind the enemy before he opened one in front of himself.</a:t>
            </a:r>
          </a:p>
          <a:p>
            <a:r>
              <a:t>   2. The night attack ended the four kings and brought the fifth man into the war.</a:t>
            </a:r>
          </a:p>
          <a:p>
            <a:r>
              <a:t>   3. The decision about al-Ashʿath was not taken in anger at the gate; it was sent to the man whose job it was.</a:t>
            </a:r>
          </a:p>
          <a:p/>
          <a:p>
            <a:r>
              <a:t>Then next week: "A man who had led a whole tribe out of Islam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Spare [HANDS]: ask the room before the answer. ⚠ Ten or seventy — the books differ</a:t>
            </a:r>
          </a:p>
          <a:p/>
          <a:p>
            <a:r>
              <a:t>⚠ Her name differs: *Umm Farwa* in الکامل, *Farwa bint Abī Quḥāfa* in سیر ج۲ ص۳۹,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POT/E-PG40 (the wedding feast in the camel market), which tells</a:t>
            </a:r>
          </a:p>
          <a:p>
            <a:r>
              <a:t>al-Dhahabī's version in its narrative.</a:t>
            </a:r>
          </a:p>
          <a:p/>
          <a:p>
            <a:r>
              <a:t>SAY —</a:t>
            </a:r>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   ^ read the Arabic on the face here</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QUOTE — 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الکامل فی التاریخ ج۲ ص۲۳۲</a:t>
            </a:r>
          </a:p>
          <a:p/>
          <a:p>
            <a:r>
              <a:t>عبرت — He won his life only after he stopped arguing that he was owed it.</a:t>
            </a:r>
          </a:p>
          <a:p/>
          <a:p>
            <a:r>
              <a:t>BACKGROUND (read at home, not aloud) —</a:t>
            </a:r>
          </a:p>
          <a:p>
            <a:r>
              <a:t>Al-Ashʿath was brought before Abū Bakr ؓ. Abū Bakr ؓ asked him what he thought would be done with him. He said he did not know. Abū Bakr ؓ said: then I will kill you. And al-Ashʿath argued the law. I am the man who negotiated that peace for ten, he said — my blood is not lawful. And Abū Bakr ؓ answered him on the law: the peace bound only the names in the document, once it was sealed; before the seal you were a negotiator, nothing more. And when he feared he would be killed, he stopped arguing and asked. Look for some good in me. Free me. Forgive my stumble. Treat me as you have treated others like me. And give me back my wife — when he had come to the Prophet ﷺ he had asked for Abū Bakr's ؓ own sister, and put the wedding off until his next visit; then the Prophet ﷺ died, and he apostatised. Do that, he said, and you will find me the best man in my country for the religion of Allah. Abū Bakr ؓ spared his life and gave him back his family.</a:t>
            </a:r>
          </a:p>
          <a:p/>
          <a:p>
            <a:r>
              <a:t>Also on the page:</a:t>
            </a:r>
          </a:p>
          <a:p/>
          <a:p>
            <a:r>
              <a:t>&gt;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ج۲ ص۲۳۲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a:t>
            </a:r>
          </a:p>
          <a:p/>
          <a:p>
            <a:r>
              <a:t>&gt; فَلَمَّا خَشِيَ الْقَتْلَ قَالَ: أَوَتَحْتَسِبُ فِيَّ خَيْرًا، فَتُطْلِقُ إِسَارِيْ وَتُقِيلُنِي عَثْرَتِي، وَتَفْعَلُ بِي مِثْلَ مَا فَعَلْتَ بِأَمْثَالِي، وَتَرُدُّ عَلَيَّ زَوْجَتِي؟</a:t>
            </a:r>
          </a:p>
          <a:p>
            <a:r>
              <a:t>&gt; — الکامل فی التاریخ ج۲ ص۲۳۲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a:t>
            </a:r>
          </a:p>
          <a:p/>
          <a:p>
            <a:r>
              <a:t>&gt; فَإِنْ فَعَلْتَ ذَلِكَ تَجِدُنِي خَيْرَ أَهْلِ بِلَادِي لِدِينِ اللَّهِ. فَحَقَنَ دَمَهُ وَرَدَّ عَلَيْهِ أَهْلَهُ</a:t>
            </a:r>
          </a:p>
          <a:p>
            <a:r>
              <a:t>&gt; — الکامل فی التاریخ ج۲ ص۲۳۲ · https://shamela.ws/book/21712/923</a:t>
            </a:r>
          </a:p>
          <a:p>
            <a:r>
              <a:t>&gt; *English:* "If you do that, you will find me the best of the people of my country for the religion</a:t>
            </a:r>
          </a:p>
          <a:p>
            <a:r>
              <a:t>&gt; of Allah. So he spared his blood and gave him back his family."</a:t>
            </a:r>
          </a:p>
          <a:p/>
          <a:p>
            <a:r>
              <a:t>Al-Dhahabī's shorter version (al-Nakhaʿī, via Abū ʿUbayd's *al-Amwāl*) — a variant, kept beside</a:t>
            </a:r>
          </a:p>
          <a:p>
            <a:r>
              <a:t>the first, not in place of it:</a:t>
            </a:r>
          </a:p>
          <a:p/>
          <a:p>
            <a:r>
              <a:t>&gt; فَأُتِيَ بِهِ الصِّدِّيْقَ، فَقَالَ: إِنَّا قَاتِلُوْكَ، لاَ أَمَانَ لَكَ. فَقَالَ: تَمُنُّ عَلَيَّ وَأُسْلِمُ؟ قَالَ: فَفَعَلَ، وَزَوَّجَهُ أُخْتَهُ.</a:t>
            </a:r>
          </a:p>
          <a:p>
            <a:r>
              <a:t>&gt; — سیر أعلام النبلاء ج۲ ص۳۹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Do not name Abū Bakr's ؓ sister — the books differ. –4</a:t>
            </a:r>
          </a:p>
          <a:p/>
          <a:p>
            <a:r>
              <a:t>SAY —</a:t>
            </a:r>
          </a:p>
          <a:p>
            <a:r>
              <a:t>1. Safe conduct, but not for himself — Besieged, he took safe conduct for seventy men, al-Dhahabī says, and not for himself.</a:t>
            </a:r>
          </a:p>
          <a:p>
            <a:r>
              <a:t>2. Brought captive to Abū Bakr ؓ — We are going to kill you, Abū Bakr ؓ told him plainly; you have no safe conduct.</a:t>
            </a:r>
          </a:p>
          <a:p>
            <a:r>
              <a:t>3. He asks for favour — Will you show me favour, he asked, and I become Muslim?</a:t>
            </a:r>
          </a:p>
          <a:p>
            <a:r>
              <a:t>4. Released, and married into the family — Abū Bakr ؓ showed him favour, loosed his bonds, and married his own sister to him.</a:t>
            </a:r>
          </a:p>
          <a:p>
            <a:r>
              <a:t>5. A sword in the camel market — He drew his sword, walked into the camel market of Medina, and began hamstringing every camel and bull he saw.</a:t>
            </a:r>
          </a:p>
          <a:p>
            <a:r>
              <a:t>6. Medina thinks he has turned again — The people shouted that he had apostatised again.</a:t>
            </a:r>
          </a:p>
          <a:p>
            <a:r>
              <a:t>7. He throws the sword down — Then he threw the sword down and explained himself.</a:t>
            </a:r>
          </a:p>
          <a:p>
            <a:r>
              <a:t>   ^ read the Arabic on the face here</a:t>
            </a:r>
          </a:p>
          <a:p/>
          <a:p>
            <a:r>
              <a:t>QUOTE — 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سیر أعلام النبلاء ج۲ ص۳۹</a:t>
            </a:r>
          </a:p>
          <a:p/>
          <a:p>
            <a:r>
              <a:t>عبرت — A man newly forgiven will sometimes announce it in the loudest and least convenient way available to him.</a:t>
            </a:r>
          </a:p>
          <a:p/>
          <a:p>
            <a:r>
              <a:t>BACKGROUND (read at home, not aloud) —</a:t>
            </a:r>
          </a:p>
          <a:p>
            <a:r>
              <a:t>al-Ashʿath ؓ had apostatised in the ridda with a number of Kinda. He was besieged, and he took safe conduct — for seventy men, and not for himself. He was brought captive to Abū Bakr ؓ, who told him plainly: we are going to kill you, you have no safe conduct. And he said: will you show me favour, and I become Muslim? Abū Bakr ؓ did, and loosed his bonds, and married his own sister to him. So al-Ashʿath ؓ drew his sword, walked into the camel market of Medina, and began hamstringing every camel and every bull he saw, while the people shouted that he had apostatised again. Then he threw the sword down and explained himself.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Forward, framed by beat 1 — al-Qādisiyya and Nahāwand are evenings ahead</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POT/E-PG41 («إِنَّ هَذَا لَمْ يَرْتَدَّ، وَإِنِّي ارْتَدَدْتُ»). Hand-off: al-Ashʿath's later house</a:t>
            </a:r>
          </a:p>
          <a:p>
            <a:r>
              <a:t>is the third sister note.</a:t>
            </a:r>
          </a:p>
          <a:p>
            <a:r>
              <a:t>Also on the page:</a:t>
            </a:r>
          </a:p>
          <a:p/>
          <a:p>
            <a:r>
              <a:t>⚠ The same notice goes on to say Qays was killed at Ṣiffīn among ʿAlī's ؓ commanders — that clause</a:t>
            </a:r>
          </a:p>
          <a:p>
            <a:r>
              <a:t>is not quoted here and does not go into this session. The books differ on Qays: «ارتدّ عن الإسلام»</a:t>
            </a:r>
          </a:p>
          <a:p>
            <a:r>
              <a:t>(البدایہ ج۷ ص۴۲) against a notice that is silent on it (سیر ج۳ ص۵۲۰). Record both; decide nothing.</a:t>
            </a:r>
          </a:p>
          <a:p/>
          <a:p>
            <a:r>
              <a:t>SAY —</a:t>
            </a:r>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   ^ read the Arabic on the face here</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QUOTE — 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البدایہ والنہایہ ج۷ ص۲۴۳</a:t>
            </a:r>
          </a:p>
          <a:p/>
          <a:p>
            <a:r>
              <a:t>عبرت — The army kept watching the men who had once turned, and the watching found nothing; both of those facts are in the record.</a:t>
            </a:r>
          </a:p>
          <a:p/>
          <a:p>
            <a:r>
              <a:t>BACKGROUND (read at home, not aloud) —</a:t>
            </a:r>
          </a:p>
          <a:p>
            <a:r>
              <a:t>Three of the men of this evening went north. Al-Ashʿath ؓ and ʿAmr b. Maʿdī Karib ؓ were in the delegation Saʿd ؓ sent to call Rustam to Islam before al-Qādisiyya. Qays b. Makshūḥ fought at the Yarmūk, came east with the reinforcements from Syria, and commanded the left wing at al-Qādisiyya. Qays and al-Ashʿath ؓ each lost an eye at the Yarmūk. At Nahāwand, Ibn Kathīr lists ʿAmr ؓ, Qays and Ṭulayḥa ؓ side by side among the leading men of the army. And he records what Jābir b. ʿAbd Allāh ؓ swore about the army at al-Qādisiyya. He said they had suspected three men of wanting this world — and when they looked into those three, they found nothing to match their honesty and their indifference to it. The three names are Ṭulayḥa, who had claimed prophethood; ʿAmr ؓ, who had followed al-Aswad; and Qays, who had turned on the Abnāʾ.</a:t>
            </a:r>
          </a:p>
          <a:p/>
          <a:p>
            <a:r>
              <a:t>&gt;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ج۷ ص۱۳۳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a:t>
            </a:r>
          </a:p>
          <a:p/>
          <a:p>
            <a:r>
              <a:t>&gt; وعلى الميسرة قيس بن مكشوح، وكان قيس والمغيرة بن شعبة قد قدما على سعد مددًا من عند أبي عبيدة من الشام بعدما شهدا وقعة اليرموك.</a:t>
            </a:r>
          </a:p>
          <a:p>
            <a:r>
              <a:t>&gt; — البدایہ والنہایہ ج۷ ص۱۳۹ · https://shamela.ws/book/30097/3285</a:t>
            </a:r>
          </a:p>
          <a:p>
            <a:r>
              <a:t>&gt; *English:* "And over the left wing, Qays b. Makshūḥ. Qays and al-Mughīra b. Shuʿba had come to Saʿd as</a:t>
            </a:r>
          </a:p>
          <a:p>
            <a:r>
              <a:t>&gt; reinforcements from Abū ʿUbayda in Syria, after they had fought at the Yarmūk."</a:t>
            </a:r>
          </a:p>
          <a:p/>
          <a:p>
            <a:r>
              <a:t>&gt;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ج۷ ص۲۴۳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a:t>
            </a:r>
          </a:p>
          <a:p/>
          <a:p>
            <a:r>
              <a:t>Al-Dhahabī's whole notice on Qays b. Makshūḥ — it does not mention the ridda at all:</a:t>
            </a:r>
          </a:p>
          <a:p/>
          <a:p>
            <a:r>
              <a:t>&gt; الأَمِيْرُ، أَبُو حَسَّانٍ المُرَادِيُّ، مِنْ وُجُوْهِ العَرَبِ المَوْصُوْفِيْنَ بِالشَّجَاعَةِ. وَكَانَ مِمَّنْ أَعَانَ عَلَى قَتْلِ الأَسْوَدِ العَنْسِيِّ، وَقُلِعَتْ عَيْنُهُ يَوْمَ اليَرْمُوْكِ.</a:t>
            </a:r>
          </a:p>
          <a:p>
            <a:r>
              <a:t>&gt; — سیر أعلام النبلاء ج۳ ص۵۲۰ · https://shamela.ws/book/10906/3128</a:t>
            </a:r>
          </a:p>
          <a:p>
            <a:r>
              <a:t>&gt; *English:* "The commander, Abū Ḥassān al-Murādī, one of the notable Arabs known for courage. He was</a:t>
            </a:r>
          </a:p>
          <a:p>
            <a:r>
              <a:t>&gt; among those who helped kill al-Aswad al-ʿAnsī, and his eye was put out on the day of the Yarmūk."</a:t>
            </a:r>
          </a:p>
          <a:p/>
          <a:p>
            <a:r>
              <a:t>## Kinda: the kingdom before Islam, and the house of al-Ashʿath</a:t>
            </a:r>
          </a:p>
          <a:p/>
          <a:p>
            <a:r>
              <a:t>*Source note: [kinda-the-kingdom-before-islam-and-the-house-of-al-ashath.md](../docs/research/kinda-the-kingdom-before-islam-and-the-house-of-al-ashath.md)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Years later, at a funeral. Closes on a man who came back — and on his own sentence about himself</a:t>
            </a:r>
          </a:p>
          <a:p/>
          <a:p>
            <a:r>
              <a:t>SAY —</a:t>
            </a:r>
          </a:p>
          <a:p>
            <a:r>
              <a:t>1. He steps back at a funeral — At a funeral, al-Ashʿath ؓ stepped back and put Jarīr b. ʿAbd Allāh ؓ forward to lead the prayer.</a:t>
            </a:r>
          </a:p>
          <a:p>
            <a:r>
              <a:t>2. Somebody asks him why — He gave the reason in six words.</a:t>
            </a:r>
          </a:p>
          <a:p>
            <a:r>
              <a:t>   ^ read the Arabic on the face here</a:t>
            </a:r>
          </a:p>
          <a:p>
            <a:r>
              <a:t>3. Said in public, years afterwards — Forgiven, married into al-Ṣiddīq's ؓ family, made a commander, and he still said it of himself.</a:t>
            </a:r>
          </a:p>
          <a:p/>
          <a:p>
            <a:r>
              <a:t>QUOTE — إِنَّ هَذَا لَمْ يَرْتَدَّ، وَإِنِّي ارْتَدَدْتُ.</a:t>
            </a:r>
          </a:p>
          <a:p>
            <a:r>
              <a:t>"This man did not apostatise. And I did."</a:t>
            </a:r>
          </a:p>
          <a:p>
            <a:r>
              <a:t>— سیر أعلام النبلاء ج۲ ص۴۰</a:t>
            </a:r>
          </a:p>
          <a:p/>
          <a:p>
            <a:r>
              <a:t>عبرت — A man who will say the worst thing about himself out loud has taken its power away from everybody else.</a:t>
            </a:r>
          </a:p>
          <a:p/>
          <a:p>
            <a:r>
              <a:t>BACKGROUND (read at home, not aloud) —</a:t>
            </a:r>
          </a:p>
          <a:p>
            <a:r>
              <a:t>At a funeral where both men were standing, al-Ashʿath b. Qays ؓ stepped back and put Jarīr b. ʿAbd Allāh ؓ forward to lead the prayer. Somebody asked him why, and he gave the reason in six words. He had been forgiven, married into the Ṣiddīq ؓ's own family, and made a commander; and he still said this about himself in public, years afterwards.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 — Tonight: the last two fronts — and a man who stood in bonds and then stood up again.</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 — When you came in, two patches were grey. The peninsula is one colour.</a:t>
            </a:r>
          </a:p>
          <a:p/>
          <a:p>
            <a:r>
              <a:t>⏱ Past 0:40 here → close here. This is the natural end of the evening.</a:t>
            </a:r>
          </a:p>
          <a:p/>
          <a:p>
            <a:r>
              <a:t>CARRYING ON → say: "The fighting is over. Now I want to ask what the whole of it was." — and click on.</a:t>
            </a:r>
          </a:p>
          <a:p/>
          <a:p>
            <a:r>
              <a:t>OUT OF TIME → this is your ending. Stay on this map and say:</a:t>
            </a:r>
          </a:p>
          <a:p>
            <a:r>
              <a:t>   1. The decision about al-Ashʿath was not taken in anger at the gate; it was sent to the man whose job it was.</a:t>
            </a:r>
          </a:p>
          <a:p>
            <a:r>
              <a:t>   2. He won his life only after he stopped arguing that he was owed it.</a:t>
            </a:r>
          </a:p>
          <a:p>
            <a:r>
              <a:t>   3. A man who will say the worst thing about himself out loud has taken its power away from everybody else.</a:t>
            </a:r>
          </a:p>
          <a:p/>
          <a:p>
            <a:r>
              <a:t>Then next week: "Two years after the Prophet ﷺ died, every man in Arabia was on the same side. Next week: what the books say the whole of it actually was."</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Everything so far tonight has been a front. Now I want to stop moving forward and look at the same months from the side — because a map that is all fire is a map that is lying. Not everyone broke. Some of the people who held are the ones you would least expect.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«وقد كانت ثقيفُ بالطائف ثَبَتوا على الإسلام، لم يفرُّوا ولا ارتدّوا» — al-Bidaya, vol. 7, p. 9. The newest Muslims in the peninsula held. The room will expect the opposite</a:t>
            </a:r>
          </a:p>
          <a:p/>
          <a:p>
            <a:r>
              <a:t>⚠ The famous line often attributed to عثمان بن أبي العاص ؓ — that Thaqīf were the last to enter</a:t>
            </a:r>
          </a:p>
          <a:p>
            <a:r>
              <a:t>Islam and would not be the first to leave it — could not be found on any page fetched in this pass.</a:t>
            </a:r>
          </a:p>
          <a:p>
            <a:r>
              <a:t>It is not at سیر ج۲ ص۳۷۴–۳۷۵ and not at البدایہ ج۷ ص۹. Do not use it. (to verify)</a:t>
            </a:r>
          </a:p>
          <a:p/>
          <a:p>
            <a:r>
              <a:t>SAY —</a:t>
            </a:r>
          </a:p>
          <a:p>
            <a:r>
              <a:t>1. Thaqīf at Ṭāʾif had come into Islam only in the year 9 — two years before all this.</a:t>
            </a:r>
          </a:p>
          <a:p>
            <a:r>
              <a:t>2. What was standing among them was one man: ʿUthmān b. Abī al-ʿĀṣ ؓ, whom the Prophet ﷺ put over them for what he saw of his intelligence and his eagerness for good — and he was the youngest man in the delegation.</a:t>
            </a:r>
          </a:p>
          <a:p>
            <a:r>
              <a:t>   ^ read the Arabic on the face here</a:t>
            </a:r>
          </a:p>
          <a:p/>
          <a:p>
            <a:r>
              <a:t>QUOTE — وقد كانت ثقيفُ بالطائف ثَبَتوا على الإسلام، لم يفرُّوا ولا ارتدّوا</a:t>
            </a:r>
          </a:p>
          <a:p>
            <a:r>
              <a:t>"Thaqīf at Ṭāʾif had stood firm upon Islam: they did not flee and they did not apostatise."</a:t>
            </a:r>
          </a:p>
          <a:p>
            <a:r>
              <a:t>— البدایہ والنہایہ ج۷ ص۹</a:t>
            </a:r>
          </a:p>
          <a:p/>
          <a:p>
            <a:r>
              <a:t>عبرت — The newest Muslims in the peninsula held, and what was standing among them was a man the Prophet ﷺ had chosen and Abū Bakr ؓ left exactly where he was.</a:t>
            </a:r>
          </a:p>
          <a:p/>
          <a:p>
            <a:r>
              <a:t>HANDS UP — Before beat 1: *"Who do you think held firmer that year — the oldest Muslims in Arabia, or the newest?"* newest?"*</a:t>
            </a:r>
          </a:p>
          <a:p/>
          <a:p>
            <a:r>
              <a:t>BACKGROUND (read at home, not aloud) —</a:t>
            </a:r>
          </a:p>
          <a:p>
            <a:r>
              <a:t>Thaqīf at Ṭāʾif had come into Islam only in the year 9 — two years before all this. They did not flee and they did not turn. And what was standing there was one man. The delegation of Thaqīf had come to the Prophet ﷺ in the year 9 and become Muslim, and he put ʿUthmān b. Abī al-ʿĀṣ ؓ over them for what he saw of his intelligence and his eagerness for good — and he was the youngest man in the delegation. Abū Bakr ؓ then confirmed him over Ṭāʾif, and after him ʿUmar ؓ. Tribes that had been inside Islam far longer broke. So the variable was not the age of the conversion.</a:t>
            </a:r>
          </a:p>
          <a:p/>
          <a:p>
            <a:r>
              <a:t>The man, from سیر أعلام النبلاء ج۲ ص۳۷۴ (https://shamela.ws/book/10906/2354), الذہبی رحمہ اللہ</a:t>
            </a:r>
          </a:p>
          <a:p>
            <a:r>
              <a:t>on عثمان بن أبي العاص ؓ الثقفي الطائفي:</a:t>
            </a:r>
          </a:p>
          <a:p>
            <a:r>
              <a:t>&gt; قَدِمَ فِي وَفْدِ ثَقِيْفٍ عَلَى النَّبِيِّ ﷺ فِي سَنَةِ تِسْعٍ، فَأَسْلَمُوا، وَأَمَّرَهُ عَلَيْهِم لِمَا رَأَى مِنْ عَقْلِهِ وَحِرْصِهِ عَلَى الخَيْرِ وَالدِّيْنِ، وَكَانَ أَصْغَرَ الوَفْدِ سِنّاً. ثُمَّ أَقَرَّهُ أَبُو بَكْرٍ عَلَى الطَّائِفِ، ثُمَّ عُمَرُ</a:t>
            </a:r>
          </a:p>
          <a:p>
            <a:r>
              <a:t>&gt; *English:* "He came in the delegation of Thaqīf to the Prophet ﷺ in the year 9, and they became</a:t>
            </a:r>
          </a:p>
          <a:p>
            <a:r>
              <a:t>&gt; Muslim; and he put him in command over them for what he saw of his intelligence and his eagerness</a:t>
            </a:r>
          </a:p>
          <a:p>
            <a:r>
              <a:t>&gt; for good and for religion — and he was the youngest of the delegation in years. Then Abū Bakr</a:t>
            </a:r>
          </a:p>
          <a:p>
            <a:r>
              <a:t>&gt; confirmed him over Ṭāʾif, and then ʿUmar."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al-Kamil, vol. 2, p. 227. While the peninsula broke, a community that was not Muslim came to Medina to renew its treaty — and got it in writing. It is the end-state RC36 names, "like the people of Najrān"</a:t>
            </a:r>
          </a:p>
          <a:p/>
          <a:p>
            <a:r>
              <a:t>⚠ Do not open the Najrān delegation of the Prophet's ﷺ lifetime, or the مباهلة. That is a different</a:t>
            </a:r>
          </a:p>
          <a:p>
            <a:r>
              <a:t>subject and a different evening; tonight Najrān is one line in a campaign chapter.</a:t>
            </a:r>
          </a:p>
          <a:p>
            <a:r>
              <a:t>⚠ Single-source. البدایہ carries Najrān in RC36's summing-up but not this delegation. Say</a:t>
            </a:r>
          </a:p>
          <a:p>
            <a:r>
              <a:t>*"Ibn al-Athīr records…"*.</a:t>
            </a:r>
          </a:p>
          <a:p/>
          <a:p>
            <a:r>
              <a:t>SAY —</a:t>
            </a:r>
          </a:p>
          <a:p>
            <a:r>
              <a:t>1. ⚠ Frame it: not every community in Arabia was Muslim — and not every community that was not Muslim rose.</a:t>
            </a:r>
          </a:p>
          <a:p>
            <a:r>
              <a:t>2. ⚠ The page gives no date inside 11–12 AH and no names — do not supply either.</a:t>
            </a:r>
          </a:p>
          <a:p>
            <a:r>
              <a:t>   ^ read the Arabic on the face here</a:t>
            </a:r>
          </a:p>
          <a:p/>
          <a:p>
            <a:r>
              <a:t>QUOTE — أَرْسَلُوا وَفْدًا لِيُجَدِّدُوا عَهْدَهُمْ مَعَ أَبِي بَكْرٍ، فَكَتَبَ بِذَلِكَ كِتَابًا</a:t>
            </a:r>
          </a:p>
          <a:p>
            <a:r>
              <a:t>"They sent a delegation to renew their covenant with Abū Bakr, and he wrote a document to that effect."</a:t>
            </a:r>
          </a:p>
          <a:p>
            <a:r>
              <a:t>— الکامل فی التاریخ ج۲ ص۲۲۷</a:t>
            </a:r>
          </a:p>
          <a:p/>
          <a:p>
            <a:r>
              <a:t>عبرت — The war ended with the peninsula in two conditions, not one — and the book names the second condition with a community that never left.</a:t>
            </a:r>
          </a:p>
          <a:p/>
          <a:p>
            <a:r>
              <a:t>BACKGROUND (read at home, not aloud) —</a:t>
            </a:r>
          </a:p>
          <a:p>
            <a:r>
              <a:t>While the peninsula was breaking, Najrān did the opposite of breaking. It was a Christian community holding a covenant from the Prophet ﷺ himself, and it sent a delegation to Medina to renew that covenant with Abū Bakr ؓ — who wrote them a document to that effect. Ibn al-Athīr records it in a single sentence among the campaigns, with no date inside the two years and no names. It is the end-state Ibn Kathīr reaches for when he sums the whole war up: nobody left in the peninsula but people in obedience and people under a covenant, *"like the people of Najrān."*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Banū Tamīm: some withheld, some sent the ṣadaqa to Medina, some waited. The room met Banū Tamīm on evening 4 — the same tribe, counted honestly</a:t>
            </a:r>
          </a:p>
          <a:p/>
          <a:p>
            <a:r>
              <a:t>SAY —</a:t>
            </a:r>
          </a:p>
          <a:p>
            <a:r>
              <a:t>1. The book stops its own narrative to say what Banū Tamīm did — and it is not one thing.</a:t>
            </a:r>
          </a:p>
          <a:p>
            <a:r>
              <a:t>   ^ read the Arabic on the face here</a:t>
            </a:r>
          </a:p>
          <a:p>
            <a:r>
              <a:t>2. One tribe, in three states, in the same month. ⚠ The room met Banū Tamīm on evening 4, at al-Buṭāḥ — this is that tribe, counted honestly.</a:t>
            </a:r>
          </a:p>
          <a:p/>
          <a:p>
            <a:r>
              <a:t>QUOTE — كانت بنو تميم قد اختلفتْ أراؤُهم أيام الرِّدَّة، فمنهم من ارتدَّ ومنعَ الزكاة، ومنهم منْ بعثَ بأموالِ الصَّدقات إلى الصدِّيق، ومنهم من توقف لينظر في أمره.</a:t>
            </a:r>
          </a:p>
          <a:p>
            <a:r>
              <a:t>"The views of Banū Tamīm differed in the days of the ridda: some of them apostatised and withheld the zakāt; some of them sent the ṣadaqa monies to al-Ṣiddīq; and some of them held back to see how the matter would go."</a:t>
            </a:r>
          </a:p>
          <a:p>
            <a:r>
              <a:t>— البدایہ والنہایہ ج۷ ص۲۸</a:t>
            </a:r>
          </a:p>
          <a:p/>
          <a:p>
            <a:r>
              <a:t>عبرت — The honest map has three colours inside one tribe, and the sentence that licenses it is the book's own.</a:t>
            </a:r>
          </a:p>
          <a:p/>
          <a:p>
            <a:r>
              <a:t>HANDS UP — Before showing it: *"One tribe. How many different answers can it give at the same moment?"*</a:t>
            </a:r>
          </a:p>
          <a:p/>
          <a:p>
            <a:r>
              <a:t>BACKGROUND (read at home, not aloud) —</a:t>
            </a:r>
          </a:p>
          <a:p>
            <a:r>
              <a:t>In the middle of the narrative the book stops and says what Banū Tamīm did, and it is not one thing. Their views differed in the days of the ridda. Some of them turned and withheld the zakāt. Some of them sent the ṣadaqa money in to Abū Bakr ؓ. And some of them held back to see how the matter would go. That is one tribe in three states at the same moment. Any map that shades Banū Tamīm a single colour is contradicted by the book it claims to be drawn from.</a:t>
            </a:r>
          </a:p>
          <a:p/>
          <a:p>
            <a:r>
              <a:t>Cross-reference: ridda-campaign-the-conduct-of-the-wars.md defers to this card rather than</a:t>
            </a:r>
          </a:p>
          <a:p>
            <a:r>
              <a:t>carding it again, and adds only the collectors' names 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«فواعَجَبًا ما بَالُ مُلْكِ أبي بَكْرِ» — al-Bidaya, vol. 7, p. 18. The refusal stated its own reason, and it was not theology</a:t>
            </a:r>
          </a:p>
          <a:p/>
          <a:p>
            <a:r>
              <a:t>SAY —</a:t>
            </a:r>
          </a:p>
          <a:p>
            <a:r>
              <a:t>1. The book twice prints a verse from the refusing side — so the objection can be heard in its own words, not in ours.</a:t>
            </a:r>
          </a:p>
          <a:p>
            <a:r>
              <a:t>2. *"We obeyed the Messenger of Allah while he was among us — so what is this about the rule of Abū Bakr?"*</a:t>
            </a:r>
          </a:p>
          <a:p>
            <a:r>
              <a:t>   ^ read the Arabic on the face here</a:t>
            </a:r>
          </a:p>
          <a:p>
            <a:r>
              <a:t>3. What is objected to is who is to be obeyed now. ⚠ Say that plainly and stop — it is an observation about what the verse says, not a verdict on anybody.</a:t>
            </a:r>
          </a:p>
          <a:p/>
          <a:p>
            <a:r>
              <a:t>QUOTE — أطعنَا رسولَ اللهِ إذْ كانَ بَيْننا … فواعَجَبًا ما بَالُ مُلْكِ أبي بَكْرِ</a:t>
            </a:r>
          </a:p>
          <a:p>
            <a:r>
              <a:t>"We obeyed the Messenger of Allah while he was among us — so how strange: what is this about the rule of Abū Bakr?"</a:t>
            </a:r>
          </a:p>
          <a:p>
            <a:r>
              <a:t>— البدایہ والنہایہ ج۷ ص۱۸ (and again ج۷ ص۲۰ · </a:t>
            </a:r>
          </a:p>
          <a:p/>
          <a:p>
            <a:r>
              <a:t>عبرت — The refusal stated itself in the language of who should rule, and the answer it was given was in the language of what is owed.</a:t>
            </a:r>
          </a:p>
          <a:p/>
          <a:p>
            <a:r>
              <a:t>The four-line version at ج۷ ص۲۰ (https://shamela.ws/book/30097/3166) adds:</a:t>
            </a:r>
          </a:p>
          <a:p>
            <a:r>
              <a:t>«أيورثنا بَكْرًا إذا ماتَ بعدَه … وتِلكَ لَعمرُ الله قاصِمَةُ الظَّهرِ» — *"Is he to leave us to Bakr as</a:t>
            </a:r>
          </a:p>
          <a:p>
            <a:r>
              <a:t>an inheritance when he dies? That, by God's life, breaks the back."*</a:t>
            </a:r>
          </a:p>
          <a:p>
            <a:r>
              <a:t>⚠ Say whose words these are before reading them. They are a rebel's verse, printed by the book as</a:t>
            </a:r>
          </a:p>
          <a:p>
            <a:r>
              <a:t>the objection that was being made against the caliphate — not as a description of it. Pair this card</a:t>
            </a:r>
          </a:p>
          <a:p>
            <a:r>
              <a:t>with E-TB07 and E-TB09 so the room hears the objection and the answer in the same minute, and do not</a:t>
            </a:r>
          </a:p>
          <a:p>
            <a:r>
              <a:t>leave the verse standing alone at the end of a block.</a:t>
            </a:r>
          </a:p>
          <a:p/>
          <a:p>
            <a:r>
              <a:t>BACKGROUND (read at home, not aloud) —</a:t>
            </a:r>
          </a:p>
          <a:p>
            <a:r>
              <a:t>The book twice prints a verse from the refusing side, and it is worth hearing exactly what the objection says. We obeyed the Messenger of Allah while he was among us — and then, in astonishment: what is this about the rule of Abū Bakr? The longer version at ج۷ ص۲۰ asks whether he is to leave it to Bakr after him, and calls that, by God's life, a thing that breaks the back. Nothing in those lines denies the prayer, and nothing in them denies the Prophet ﷺ. What they object to is who is to be obeyed now.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ibrah card of the whole Ridda, and the card says so of itself: "If only one sentence of survives the cut, keep this one." One tribe furnished a claimant in Oman and a commander against him</a:t>
            </a:r>
          </a:p>
          <a:p/>
          <a:p>
            <a:r>
              <a:t>SAY —</a:t>
            </a:r>
          </a:p>
          <a:p>
            <a:r>
              <a:t>1. In the same months, the Azd of Oman were in open revolt behind Laqīṭ b. Mālik al-Azdī — whom the room met last week (RC70).</a:t>
            </a:r>
          </a:p>
          <a:p>
            <a:r>
              <a:t>2. And the Azd of Medina were carrying the banner of the Anṣār at al-Yamāma under Thābit b. Qays ؓ — whom the room met on evening 4 — who dug his feet into the ground to his shins and died standing there.</a:t>
            </a:r>
          </a:p>
          <a:p>
            <a:r>
              <a:t>   ^ read the Arabic on the face here</a:t>
            </a:r>
          </a:p>
          <a:p/>
          <a:p>
            <a:r>
              <a:t>QUOTE — فنبغَ فيهم رجلٌ يقالَ له: ذو التاج لَقيطُ بن مالك الأَزدي، وكان يُسَمَّى في الجاهلية الجُلَنْدَى، فادّعى النُّبوَّة أيضًا</a:t>
            </a:r>
          </a:p>
          <a:p>
            <a:r>
              <a:t>"There arose among them a man called Dhū al-Tāj, Laqīṭ b. Mālik al-Azdī — who used to be called al-Julandā in the Jāhiliyya — and he too claimed prophethood."</a:t>
            </a:r>
          </a:p>
          <a:p>
            <a:r>
              <a:t>— البدایہ والنہایہ ج۷ ص۴۱</a:t>
            </a:r>
          </a:p>
          <a:p/>
          <a:p>
            <a:r>
              <a:t>عبرت — Descent explains the vocabulary people used that year. It does not predict where any of them stood.</a:t>
            </a:r>
          </a:p>
          <a:p/>
          <a:p>
            <a:r>
              <a:t>HANDS UP — Before telling it: *"The Anṣār of Medina, and the tribe that rose in Oman — how are the two related?"*</a:t>
            </a:r>
          </a:p>
          <a:p/>
          <a:p>
            <a:r>
              <a:t>BACKGROUND (read at home, not aloud) —</a:t>
            </a:r>
          </a:p>
          <a:p>
            <a:r>
              <a:t>This is the fact that stops the genealogy from turning into a theory. The Anṣār of Medina are of al-Azd, and so are the Azd of Oman. In the same months, the Azd of Oman were in open revolt behind Laqīṭ b. Mālik al-Azdī, who was called Dhū al-Tāj and who also claimed prophethood — while the Azd of Medina were carrying the banner of the Anṣār at al-Yamāma under Thābit b. Qays b. Shammās ؓ, who dug his feet into the ground to his shins and died standing there. One descent, two ends of the map, two opposite choices in the same year.</a:t>
            </a:r>
          </a:p>
          <a:p/>
          <a:p>
            <a:r>
              <a:t>This عبرت line is the safest and truest thing the speaker can say about the whole عدنان/قحطان</a:t>
            </a:r>
          </a:p>
          <a:p>
            <a:r>
              <a:t>strand, and it is what keeps the fault-line slides from becoming an ethnic theory. If only one</a:t>
            </a:r>
          </a:p>
          <a:p>
            <a:r>
              <a:t>sentence of §2 survives the cut, keep this 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Must come after Ḥaḍramawt, not before it. No region untouched; the armies sent as a support to believers already standing; the end-state obedience or covenant; and the duration «أواخر سنة إحدى عشرة وأوائل سنة ثنتي عشرة»</a:t>
            </a:r>
          </a:p>
          <a:p/>
          <a:p>
            <a:r>
              <a:t>SAY —</a:t>
            </a:r>
          </a:p>
          <a:p>
            <a:r>
              <a:t>1. And that Abū Bakr ؓ sent armies and commanders to be a support to whichever believers were already in that region — not to subdue it.</a:t>
            </a:r>
          </a:p>
          <a:p>
            <a:r>
              <a:t>2. And it went on that way until there was nobody left in the peninsula but people in obedience and people under a covenant — «like the people of Najrān», who are the card the room heard a few minutes ago.</a:t>
            </a:r>
          </a:p>
          <a:p>
            <a:r>
              <a:t>   ^ read the Arabic on the face here</a:t>
            </a:r>
          </a:p>
          <a:p/>
          <a:p>
            <a:r>
              <a:t>QUOTE — ما من ناحية من جزيرة العرب إلا وحصلَ في أهلها ردَّةٌ لبعض الناس، فبعثَ الصدِّيقُ إليهم جيوشًا وأمراء يكونون عونًا لمن في تلك الناحية من المؤمنين … ولم يزل الأمر كذلك حتى لم يبق بجزيرة العرب إلَّا أهل طاعة للّه ولرسوله، وأهل ذمة من الصديق، كأهل نجران وما جرى مجراهم ولله الحمد. وعامة ما وقع من هذه الحروب كان في أواخر سنة إحدى عشرة وأوائل سنة ثنتي عشرة.</a:t>
            </a:r>
          </a:p>
          <a:p>
            <a:r>
              <a:t>"There was no region of the Arabian peninsula in which apostasy did not occur among some of its people; so al-Ṣiddīq sent them armies and commanders to be a support to whichever believers were in that region … And matters continued so until there remained in the peninsula none but people obedient to Allah and His Messenger, and people under al-Ṣiddīq's protection, such as the people of Najrān. The general run of these wars was in the last part of the year 11 and the first part of the year 12."</a:t>
            </a:r>
          </a:p>
          <a:p>
            <a:r>
              <a:t>— البدایہ والنہایہ ج۷ ص۴۳</a:t>
            </a:r>
          </a:p>
          <a:p/>
          <a:p>
            <a:r>
              <a:t>عبرت — The armies were sent to hold up people who were already standing, and the whole thing was over in a little more than a year.</a:t>
            </a:r>
          </a:p>
          <a:p/>
          <a:p>
            <a:r>
              <a:t>BACKGROUND (read at home, not aloud) —</a:t>
            </a:r>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al-Kamil, vol. 2, p. 201, cached — «لَقَدْ قُمْنَا بَعْدَ رَسُولِ اللَّهِ ﷺ مَقَامًا كِدْنَا نَهْلِكُ فِيهِ، لَوْلَا أَنَّ اللَّهَ مَنَّ عَلَيْنَا بِأَبِي بَكْرٍ». On no card until now, and it is the best closing line in the material. A Companion saying plainly how near it came</a:t>
            </a:r>
          </a:p>
          <a:p/>
          <a:p>
            <a:r>
              <a:t>⚠ Ibn al-Athīr prints this at the head of the chapter with no isnād. Narrate it as what the book</a:t>
            </a:r>
          </a:p>
          <a:p>
            <a:r>
              <a:t>carries — *"Ibn al-Athīr opens his account by quoting Ibn Masʿūd ؓ"* — and build no ruling on it.</a:t>
            </a:r>
          </a:p>
          <a:p>
            <a:r>
              <a:t>⚠ This is not a مشاجرات card. It is a Companion praising Abū Bakr ؓ for a decision, and nothing in it</a:t>
            </a:r>
          </a:p>
          <a:p>
            <a:r>
              <a:t>judges anyone. Keep it there.</a:t>
            </a:r>
          </a:p>
          <a:p/>
          <a:p>
            <a:r>
              <a:t>SAY —</a:t>
            </a:r>
          </a:p>
          <a:p>
            <a:r>
              <a:t>1. Who is speaking: ʿAbd Allāh b. Masʿūd ؓ. No notice needed — the room knows him.</a:t>
            </a:r>
          </a:p>
          <a:p>
            <a:r>
              <a:t>2. *"We stood, after the Messenger of Allah ﷺ, in a position in which we nearly perished — had Allah not favoured us with Abū Bakr."*</a:t>
            </a:r>
          </a:p>
          <a:p>
            <a:r>
              <a:t>3. And he accepted nothing but الخُطّة المُخْزِية أو الحَرْب المُجْلِية — the two terms the room heard on evening 2 (RC10). The loop closes on the words it opened with.</a:t>
            </a:r>
          </a:p>
          <a:p>
            <a:r>
              <a:t>   ^ read the Arabic on the face here</a:t>
            </a:r>
          </a:p>
          <a:p/>
          <a:p>
            <a:r>
              <a:t>QUOTE — لَقَدْ قُمْنَا بَعْدَ رَسُولِ اللَّهِ - صَلَّى اللَّهُ عَلَيْهِ وَسَلَّمَ - مَقَامًا كِدْنَا نَهْلِكُ فِيهِ، لَوْلَا أَنَّ اللَّهَ مَنَّ عَلَيْنَا بِأَبِي بَكْرٍ، أَجْمَعْنَا عَلَى أَنْ لَا نُقَاتِلَ عَلَى ابْنَةِ مَخَاضٍ وَابْنَةِ لَبُونٍ، وَأَنْ نَأْكُلَ قُرًى عَرَبِيَّةً، وَنَعْبُدَ اللَّهَ حَتَّى يَأْتِيَنَا الْيَقِين</a:t>
            </a:r>
          </a:p>
          <a:p>
            <a:r>
              <a:t>"We stood, after the Messenger of Allah ﷺ, in a position in which we nearly perished, had Allah not favoured us with Abū Bakr. We had agreed not to fight over a bint makhāḍ or a bint labūn, and to live off the Arab settlements, and to worship Allah until certainty came to us."</a:t>
            </a:r>
          </a:p>
          <a:p>
            <a:r>
              <a:t>— الکامل فی التاریخ ج۲ ص۲۰۱</a:t>
            </a:r>
          </a:p>
          <a:p/>
          <a:p>
            <a:r>
              <a:t>عبرت — A Companion, looking back, says plainly that the right answer was not the one they had all agreed on.</a:t>
            </a:r>
          </a:p>
          <a:p/>
          <a:p>
            <a:r>
              <a:t>HANDS UP — Before beat 4: *"He says they had already agreed on something. What do you think they had agreed?"*</a:t>
            </a:r>
          </a:p>
          <a:p/>
          <a:p>
            <a:r>
              <a:t>BACKGROUND (read at home, not aloud) —</a:t>
            </a:r>
          </a:p>
          <a:p>
            <a:r>
              <a:t>Ibn al-Athīr opens his whole account of the Ridda not with an event but with a Companion's verdict on it. ʿAbd Allāh b. Masʿūd ؓ says that after the Messenger of Allah ﷺ they stood in a position in which they nearly perished, had Allah not favoured them with Abū Bakr ؓ. And then he says what the position was: they had agreed among themselves not to fight over a young she-camel — a bint makhāḍ and a bint labūn — but to live off the Arab settlements and worship Allah until certainty came to them. Then Allah resolved for Abū Bakr ؓ to fight them; and he accepted nothing from them but the humiliating terms or the war that drives out.</a:t>
            </a:r>
          </a:p>
          <a:p/>
          <a:p>
            <a:r>
              <a:t>## Yemen I: al-Aswad al-ʿAnsī, from the Abnāʾ to the dawn adhān</a:t>
            </a:r>
          </a:p>
          <a:p/>
          <a:p>
            <a:r>
              <a:t>*Source note: [al-aswad-al-ansi-and-yemen-before-the-ridda.md](../docs/research/al-aswad-al-ansi-and-yemen-before-the-ridda.md)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Abū Bakr ؓ «لَا أَسْتَعْمِلُ أَهْلَ بَدْرٍ» — and ʿUmar's ؓ different view, on the same page. A recorded difference of administrative judgement between the first two caliphs, and a very safe one for this room</a:t>
            </a:r>
          </a:p>
          <a:p/>
          <a:p>
            <a:r>
              <a:t>SAY —</a:t>
            </a:r>
          </a:p>
          <a:p>
            <a:r>
              <a:t>1. He would not put the men of Badr into office — *"I leave them so they may meet Allah with their good deeds."*</a:t>
            </a:r>
          </a:p>
          <a:p>
            <a:r>
              <a:t>2. Two men who agreed about the war disagreed about who should run it — and the book prints both views on one page.</a:t>
            </a:r>
          </a:p>
          <a:p>
            <a:r>
              <a:t>   ^ read the Arabic on the face here</a:t>
            </a:r>
          </a:p>
          <a:p/>
          <a:p>
            <a:r>
              <a:t>QUOTE — لَا أَسْتَعْمِلُ أَهْلَ بَدْرٍ، أَدَعُهُمْ حَتَّى يَلْقَوُا اللَّهَ بِصَالِحِ أَعْمَالِهِمْ، فَإِنَّ اللَّهَ يَدْفَعُ بِهِمْ وَبِالصَّالِحِينَ أَكْثَرَ مِمَّا يَنْتَصِرُ بِهِمْ. وَكَانَ عُمَرُ يَرَى اسْتِعْمَالَهُمْ عَلَى الْجُنْدِ وَغَيْرِهِ.</a:t>
            </a:r>
          </a:p>
          <a:p>
            <a:r>
              <a:t>"I do not put the men of Badr into office. I leave them so they may meet Allah with their good deeds — for Allah wards off by them and by the righteous more than He gives victory through them. And ʿUmar held that they should be employed over the troops and otherwise."</a:t>
            </a:r>
          </a:p>
          <a:p>
            <a:r>
              <a:t>— الکامل فی التاریخ ج۲ ص۲۱۵</a:t>
            </a:r>
          </a:p>
          <a:p/>
          <a:p>
            <a:r>
              <a:t>عبرت — Two men who agreed about the war disagreed about who should run it, and the book records both without making a quarrel of it.</a:t>
            </a:r>
          </a:p>
          <a:p/>
          <a:p>
            <a:r>
              <a:t>BACKGROUND (read at home, not aloud) —</a:t>
            </a:r>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This is the safest possible demonstration of how the sources handle disagreement — a real</a:t>
            </a:r>
          </a:p>
          <a:p>
            <a:r>
              <a:t>difference of judgement between the first two caliphs, recorded plainly,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 recap, not news — the room met the moment on evening 2 . The roster read back now, with every sector green</a:t>
            </a:r>
          </a:p>
          <a:p/>
          <a:p>
            <a:r>
              <a:t>SAY —</a:t>
            </a:r>
          </a:p>
          <a:p>
            <a:r>
              <a:t>1. ⚠ A recap, not news — say so. The room saw this moment on evening 2 (RC05); tonight the roster is read back with every sector settled.</a:t>
            </a:r>
          </a:p>
          <a:p>
            <a:r>
              <a:t>2. ⚠ Khālid b. Saʿīd b. al-ʿĀṣ ؓ has the Syrian marches on the roster and no engagement on any page we hold — the empty outline on the map (RC76). Say that aloud rather than skipping past it.</a:t>
            </a:r>
          </a:p>
          <a:p/>
          <a:p>
            <a:r>
              <a:t>عبرت — The whole war was ordered in one sitting, by a man who had just been turned back from leading it himself.</a:t>
            </a:r>
          </a:p>
          <a:p/>
          <a:p>
            <a:r>
              <a:t>HANDS UP — Before the table: *"Medina is one town. How many armies would you send out at once?"*</a:t>
            </a:r>
          </a:p>
          <a:p/>
          <a:p>
            <a:r>
              <a:t>BACKGROUND (read at home, not aloud) —</a:t>
            </a:r>
          </a:p>
          <a:p>
            <a:r>
              <a:t>In a single sitting at Dhū al-Qaṣṣa, one day's ride from Medina, Abū Bakr ؓ tied eleven banners and gave each commander a region. The two books disagree on the count, and the disagreement has a simple answer: one of them folds two commands into one. Ibn Kathīr announces eleven and prints ten (ج۷ ص۲۲–۲۳). Ibn al-Athīr prints eleven | # | Commander | Objective, as commissioned | البدایہ ج۷ ص۲۲–۲۳ | الکامل ج۲ ص۲۰۳–۲۰۴ | ابن خلدون ج۲ ص۴۹۵ | |---|---|---|---|---|---| | 1 | خالد بن الوليد ؓ | طليحة first; then مالك بن نويرة at البُطاح if he stands | ✓ | ✓ | ✓ | | 2 | عكرمة بن أبي جهل ؓ | مسيلمة | ✓ | ✓ | ✓ | | 3 | شُرَحبيل بن حَسَنة ؓ | in عكرمة's wake to مسيلمة, then بنو قُضاعة | ✓ | ✓ | ✓ | | 4 | المهاجر بن أبي أمية ؓ | the Ansī's troops + relieving الأبناء against قيس بن مكشوح — الکامل adds: «ثُمَّ يَمْضِي إِلَى كِنْدَةَ بِحَضْرَمَوْتَ» | ✓ | ✓ | absent from his list | | 5 | خالد بن سعيد بن العاص ؓ | مشارف الشام | ✓ | ✓ | ✓ | | 6 | عمرو بن العاص ؓ | البدایہ: «جِماع قُضاعة ووَديعة والحارث» · الکامل: قُضاعة | ✓ | ✓ | ✓ | | 7 | حذيفة بن مِحْصَن | أهل دَبا (عمان) | ✓ | ✓ | ✓ | | 8 | عرفجة بن هَرْثمة | مَهْرة — *the eleventh*, folded into ⑦'s entry by Ibn Kathīr | absorbed into ⑦ | ✓ separate | ✓ separate | | 9 | the son of حاجز/حاجب | بنو سُلَيم and the هوازن with them | «طَرَفة بن حاجب» | «مَعْن بن حاجز» | «طريفة بن حاجز» | | 10 | سُوَيد بن مُقَرِّن ؓ | تِهامة اليمن | ✓ | ✓ | ✓ | | 11 | العلاء بن الحَضْرمي ؓ | البحرين | ✓ | ✓ | ✓ |</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Line.</a:t>
            </a:r>
          </a:p>
          <a:p/>
          <a:p>
            <a:r>
              <a:t>SAY — Tonight: both fronts, and then the whole war looked at from the end of it.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map.</a:t>
            </a:r>
          </a:p>
          <a:p/>
          <a:p>
            <a:r>
              <a:t>SAY — Eleven banners went out of one sitting. Every one of those sectors is now this colour.</a:t>
            </a:r>
          </a:p>
          <a:p/>
          <a:p>
            <a:r>
              <a:t>⏱ Past 0:52 here → close here. This is the last checkpoint that is built.</a:t>
            </a:r>
          </a:p>
          <a:p/>
          <a:p>
            <a:r>
              <a:t>CARRYING ON → say: "One thing is left, and it is what ʿUmar ؓ did about it years afterwards." — and click on.</a:t>
            </a:r>
          </a:p>
          <a:p/>
          <a:p>
            <a:r>
              <a:t>OUT OF TIME → this is your ending. Stay on this map and say:</a:t>
            </a:r>
          </a:p>
          <a:p>
            <a:r>
              <a:t>   1. The armies were sent to hold up people who were already standing, and the whole thing was over in a little more than a year.</a:t>
            </a:r>
          </a:p>
          <a:p>
            <a:r>
              <a:t>   2. A Companion, looking back, says plainly that the right answer was not the one they had all agreed on.</a:t>
            </a:r>
          </a:p>
          <a:p>
            <a:r>
              <a:t>   3. Two men who agreed about the war disagreed about who should run it, and the book records both without making a quarrel of it.</a:t>
            </a:r>
          </a:p>
          <a:p/>
          <a:p>
            <a:r>
              <a:t>Then next week: "There were two empires on the other side of that desert. Next week: did either of them know?"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Forward to ʿUmar's ؓ caliphate — frame it aloud, the way AS18 was framed on evening 5. «إِنَّهُ لَقَبِيحٌ بِالْعَرَبِ أَنْ يَمْلِكَ بَعْضُهُمْ بَعْضًا» — the peninsula in one colour at last</a:t>
            </a:r>
          </a:p>
          <a:p/>
          <a:p>
            <a:r>
              <a:t>SAY —</a:t>
            </a:r>
          </a:p>
          <a:p>
            <a:r>
              <a:t>1. ↪ Frame the jump aloud: years later, in ʿUmar's ؓ caliphate. ⚠ The page does not fix the year — «لَمَّا وَلِيَ عُمَرُ», *when ʿUmar became caliph*.</a:t>
            </a:r>
          </a:p>
          <a:p>
            <a:r>
              <a:t>2. Lighter for Ḥanīfa and Kinda, because so many of their men had been killed — the two names the room has spent two evenings with.</a:t>
            </a:r>
          </a:p>
          <a:p>
            <a:r>
              <a:t>   ^ read the Arabic on the face here</a:t>
            </a:r>
          </a:p>
          <a:p/>
          <a:p>
            <a:r>
              <a:t>QUOTE — إِنَّهُ لَقَبِيحٌ بِالْعَرَبِ أَنْ يَمْلِكَ بَعْضُهُمْ بَعْضًا</a:t>
            </a:r>
          </a:p>
          <a:p>
            <a:r>
              <a:t>"It is a shameful thing for the Arabs that some of them should own others."</a:t>
            </a:r>
          </a:p>
          <a:p>
            <a:r>
              <a:t>— الکامل فی التاریخ ج۲ ص۲۳۲ (the ransom terms run on to ج۲ ص۲۳۳</a:t>
            </a:r>
          </a:p>
          <a:p/>
          <a:p>
            <a:r>
              <a:t>عبرت — The war's last act was the state buying back the people its own victory had taken.</a:t>
            </a:r>
          </a:p>
          <a:p/>
          <a:p>
            <a:r>
              <a:t>BACKGROUND (read at home, not aloud) —</a:t>
            </a:r>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 — Tonight began with a sentence from Ibn Kathīr: the year opened with the armies still out, roving right and left. Then the front that had started before all of them — Juwātha, al-Dahnāʾ, the trench, and the crossing to Dārīn. Then back two years, to a delegation in Medina, and forward again to the last front and the fort at al-Nujayr. And then the whole of it, looked at from the end: who did not break, what Ibn Kathīr says it was, and what Ibn Masʿūd ؓ said they had very nearly done instead.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 When you came in, two patches on this map were grey.</a:t>
            </a:r>
          </a:p>
          <a:p/>
          <a:p>
            <a:r>
              <a:t>▶ CLICK 1 — Bahrayn — the front that started first — settled.</a:t>
            </a:r>
          </a:p>
          <a:p/>
          <a:p>
            <a:r>
              <a:t>▶ CLICK 2 — Ḥaḍramawt — the last front — settled.</a:t>
            </a:r>
          </a:p>
          <a:p/>
          <a:p>
            <a:r>
              <a:t>▶ CLICK 3 — And the peninsula in one colour, which is where the books leave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heading, then its line:</a:t>
            </a:r>
          </a:p>
          <a:p>
            <a:r>
              <a:t>1. Right and left — The book does not open the year with a battle. It opens it with a map — and on that map the armies are out in every direction at the same time.</a:t>
            </a:r>
          </a:p>
          <a:p>
            <a:r>
              <a:t>2. The front that started first — He closed the roads behind the enemy before he opened one in front of himself.</a:t>
            </a:r>
          </a:p>
          <a:p>
            <a:r>
              <a:t>3. The last front — The decision about al-Ashʿath was not taken in anger at the gate; it was sent to the man whose job it was.</a:t>
            </a:r>
          </a:p>
          <a:p>
            <a:r>
              <a:t>4. The man who came back — A man who will say the worst thing about himself out loud has taken its power away from everybody else.</a:t>
            </a:r>
          </a:p>
          <a:p>
            <a:r>
              <a:t>5. What the whole of it was — A Companion, looking back, says plainly that the right answer was not the one they had all agreed 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ONE slide, not a block. Ibn Khaldun, vol. 1, p. 198. ibrah: "What changed in Arabia was not how many men there were, but which way they were all facing." ⚠⚠ : his name on the face, and the words "as he reads it" — he never wrote this about the Ridda; joining his chapter to year 11 is the course's doing, not his</a:t>
            </a:r>
          </a:p>
          <a:p/>
          <a:p>
            <a:r>
              <a:t>⚠ The slide must carry his name and the words "as he reads it". He never wrote this about the</a:t>
            </a:r>
          </a:p>
          <a:p>
            <a:r>
              <a:t>ridda; joining his chapter to the year eleven is our doing (§7.2).</a:t>
            </a:r>
          </a:p>
          <a:p/>
          <a:p>
            <a:r>
              <a:t>SAY —</a:t>
            </a:r>
          </a:p>
          <a:p>
            <a:r>
              <a:t>1. ⚠⚠ Say who he is before he says anything. Ibn Khaldūn رحمہ اللہ — a historian writing seven centuries after these events, whose book asks why peoples rise and fall. He is a reader of the event, never a witness to it.</a:t>
            </a:r>
          </a:p>
          <a:p>
            <a:r>
              <a:t>2. And once that happens nothing stands in front of them — because the direction is one, the object is equal in every eye, and they will die for it.</a:t>
            </a:r>
          </a:p>
          <a:p>
            <a:r>
              <a:t>3. ⚠ He names the conquests as his own example — but he never wrote this about the ردة. Joining his chapter to the year 11 is this course's doing, not his. Say *"this is how Ibn Khaldūn reads it"*, and leave it there.</a:t>
            </a:r>
          </a:p>
          <a:p>
            <a:r>
              <a:t>   ^ read the Arabic on the face here</a:t>
            </a:r>
          </a:p>
          <a:p/>
          <a:p>
            <a:r>
              <a:t>QUOTE — 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a:p>
            <a:r>
              <a:t>"The reason for it … is that the religious colouring takes away the rivalry and mutual envy that are in people of عصبية, and makes their direction single, towards the truth. Then, once clear sight in their affair is theirs, nothing stands in their way — because the direction is one, the object is equal in all their eyes, and they will die for it."</a:t>
            </a:r>
          </a:p>
          <a:p>
            <a:r>
              <a:t>— تاریخ ابن خلدون ج۱ ص۱۹۸</a:t>
            </a:r>
          </a:p>
          <a:p/>
          <a:p>
            <a:r>
              <a:t>عبرت — What changed in Arabia was not how many men there were, but which way they were all facing.</a:t>
            </a:r>
          </a:p>
          <a:p/>
          <a:p>
            <a:r>
              <a:t>HANDS UP — Before beat 3: *"What would you need, to turn that map into one army? More men?"* Take two answers, then read him. had changed?"*</a:t>
            </a:r>
          </a:p>
          <a:p/>
          <a:p>
            <a:r>
              <a:t>BACKGROUND (read at home, not aloud) —</a:t>
            </a:r>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5.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0.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4.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38.png"/><Relationship Id="rId10" Type="http://schemas.openxmlformats.org/officeDocument/2006/relationships/image" Target="../media/image48.png"/><Relationship Id="rId11" Type="http://schemas.openxmlformats.org/officeDocument/2006/relationships/image" Target="../media/image40.png"/><Relationship Id="rId12" Type="http://schemas.openxmlformats.org/officeDocument/2006/relationships/image" Target="../media/image49.png"/><Relationship Id="rId13"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image" Target="../media/image42.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55.png"/><Relationship Id="rId15" Type="http://schemas.openxmlformats.org/officeDocument/2006/relationships/image" Target="../media/image48.png"/><Relationship Id="rId16" Type="http://schemas.openxmlformats.org/officeDocument/2006/relationships/image" Target="../media/image56.png"/><Relationship Id="rId17"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37.png"/><Relationship Id="rId11" Type="http://schemas.openxmlformats.org/officeDocument/2006/relationships/image" Target="../media/image61.png"/><Relationship Id="rId12" Type="http://schemas.openxmlformats.org/officeDocument/2006/relationships/image" Target="../media/image70.png"/><Relationship Id="rId13" Type="http://schemas.openxmlformats.org/officeDocument/2006/relationships/image" Target="../media/image71.png"/><Relationship Id="rId14" Type="http://schemas.openxmlformats.org/officeDocument/2006/relationships/image" Target="../media/image62.png"/><Relationship Id="rId15" Type="http://schemas.openxmlformats.org/officeDocument/2006/relationships/image" Target="../media/image72.png"/><Relationship Id="rId16"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86.png"/><Relationship Id="rId11"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6</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Right and left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cp2_line.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cp2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Right and left (the frame)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opens, the whole peninsula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year opens with the armies still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Kathīr does not open his chapter for the year 12 with an event. He opens it with a situation. The year came in, he writes, with al-Ṣiddīq's armies and…. Landscape, architectur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as the eleven commanders rode…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march to Khaybar that never happened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واعده أنَّه سيلقاهُ من ناحيةِ خيبر بمن معه من الأمراء - وأظهروا ذلك ليرعبوا الأعرابَ</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promised him that he would meet him from the direction of Khaybar with the commanders who were with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Dhu al-Qassa — the…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b. Saʿīd ؓ — a banner, and no…</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وَتَوَسَّطَتْ خَيْلُ أُسَامَةَ بِبِلَادِ قُضَاعَةَ، فَشَنَّ الْغَارَةَ فِيهِمْ، فَغَنِمُوا وَعَادُوا سَالِمِينَ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Usāma's cavalry pushed into the middle of the country of Quḍāʿa, and he loosed the raid among them, and they took spoil and came back safe."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the south-western highlands…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Jundub b. Salmā, and three more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Four small actions in the south-west, and every one of them was run by a man who was already there. ʿAttāb b. Asīd ؓ wrote to Abū Bakr ؓ from…. Landscape, architecture, objects 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Bahrayn: the front that started first (11→12 AH)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11 AH, البحرين</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in the east</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we followed one man's road east, front by front</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we go back once — to the front that started before all of them</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to the last 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the king they…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وَاجْتَمَعَتْ رَبِيعَةُ بِالْبَحْرَيْنِ عَلَى الرِّدَّةِ إِلَّا الْجَارُودُ وَمَنْ تَبِعَهُ، وَقَالُوا: نَرُدُّ الْمُلْكَ</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Rabīʿa in Bahrayn agreed together upon the ridda — except al-Jārūd and those who followed him — and they said: we will restore the kingship."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pic>
        <p:nvPicPr>
          <p:cNvPr id="6" name="map" descr="bahrain-dari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al-Qaṭīf, Hajar</a:t>
            </a:r>
          </a:p>
        </p:txBody>
      </p:sp>
      <p:sp>
        <p:nvSpPr>
          <p:cNvPr id="9" name="TextBox 8"/>
          <p:cNvSpPr txBox="1"/>
          <p:nvPr/>
        </p:nvSpPr>
        <p:spPr>
          <a:xfrm>
            <a:off x="8819479" y="2340864"/>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al-Khaṭṭ</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drawn in</a:t>
            </a:r>
          </a:p>
        </p:txBody>
      </p:sp>
      <p:pic>
        <p:nvPicPr>
          <p:cNvPr id="13" name="map arrow r_0307" descr="bahrain-darin-r1-3-r_0307.png"/>
          <p:cNvPicPr>
            <a:picLocks noChangeAspect="1"/>
          </p:cNvPicPr>
          <p:nvPr/>
        </p:nvPicPr>
        <p:blipFill>
          <a:blip r:embed="rId3"/>
          <a:stretch>
            <a:fillRect/>
          </a:stretch>
        </p:blipFill>
        <p:spPr>
          <a:xfrm>
            <a:off x="4320257" y="2634271"/>
            <a:ext cx="935308" cy="2398744"/>
          </a:xfrm>
          <a:prstGeom prst="rect">
            <a:avLst/>
          </a:prstGeom>
        </p:spPr>
      </p:pic>
      <p:pic>
        <p:nvPicPr>
          <p:cNvPr id="14" name="map arrow r_0309" descr="bahrain-darin-r1-3-r_0309.png"/>
          <p:cNvPicPr>
            <a:picLocks noChangeAspect="1"/>
          </p:cNvPicPr>
          <p:nvPr/>
        </p:nvPicPr>
        <p:blipFill>
          <a:blip r:embed="rId4"/>
          <a:stretch>
            <a:fillRect/>
          </a:stretch>
        </p:blipFill>
        <p:spPr>
          <a:xfrm>
            <a:off x="4425076" y="2694744"/>
            <a:ext cx="1011907" cy="2326177"/>
          </a:xfrm>
          <a:prstGeom prst="rect">
            <a:avLst/>
          </a:prstGeom>
        </p:spPr>
      </p:pic>
      <p:pic>
        <p:nvPicPr>
          <p:cNvPr id="15" name="map army al-Ḥuṭam" descr="bahrain-darin-r1-3-a_0306.png"/>
          <p:cNvPicPr>
            <a:picLocks noChangeAspect="1"/>
          </p:cNvPicPr>
          <p:nvPr/>
        </p:nvPicPr>
        <p:blipFill>
          <a:blip r:embed="rId5"/>
          <a:stretch>
            <a:fillRect/>
          </a:stretch>
        </p:blipFill>
        <p:spPr>
          <a:xfrm>
            <a:off x="5013676" y="3549422"/>
            <a:ext cx="709544" cy="314457"/>
          </a:xfrm>
          <a:prstGeom prst="rect">
            <a:avLst/>
          </a:prstGeom>
        </p:spPr>
      </p:pic>
      <p:pic>
        <p:nvPicPr>
          <p:cNvPr id="16" name="map label al-Qaṭīf, then Hajar" descr="bahrain-darin-r1-3-l_0308.png"/>
          <p:cNvPicPr>
            <a:picLocks noChangeAspect="1"/>
          </p:cNvPicPr>
          <p:nvPr/>
        </p:nvPicPr>
        <p:blipFill>
          <a:blip r:embed="rId6"/>
          <a:stretch>
            <a:fillRect/>
          </a:stretch>
        </p:blipFill>
        <p:spPr>
          <a:xfrm>
            <a:off x="6057835" y="3613926"/>
            <a:ext cx="487811" cy="120945"/>
          </a:xfrm>
          <a:prstGeom prst="rect">
            <a:avLst/>
          </a:prstGeom>
        </p:spPr>
      </p:pic>
      <p:pic>
        <p:nvPicPr>
          <p:cNvPr id="17" name="map label and a force to Dārīn" descr="bahrain-darin-r1-3-l_0310.png"/>
          <p:cNvPicPr>
            <a:picLocks noChangeAspect="1"/>
          </p:cNvPicPr>
          <p:nvPr/>
        </p:nvPicPr>
        <p:blipFill>
          <a:blip r:embed="rId7"/>
          <a:stretch>
            <a:fillRect/>
          </a:stretch>
        </p:blipFill>
        <p:spPr>
          <a:xfrm>
            <a:off x="6142497" y="1872317"/>
            <a:ext cx="503937" cy="108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1"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up)">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childTnLst>
                          </p:cTn>
                        </p:par>
                      </p:childTnLst>
                    </p:cTn>
                  </p:par>
                  <p:par>
                    <p:cTn id="20" fill="hold">
                      <p:stCondLst>
                        <p:cond delay="indefinite"/>
                      </p:stCondLst>
                      <p:childTnLst>
                        <p:par>
                          <p:cTn id="21" fill="hold">
                            <p:stCondLst>
                              <p:cond delay="0"/>
                            </p:stCondLst>
                            <p:childTnLst>
                              <p:par>
                                <p:cTn id="16" presetID="22" presetClass="entr" presetSubtype="4"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down)">
                                      <p:cBhvr>
                                        <p:cTn id="15" dur="1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وَخَرَجَ الْحُطَمُ بْنُ ضُبَيْعَةَ أَخُو بَنِي قَيْسِ بْنِ ثَعْلَبَةَ فِي بَكْرِ بْنِ وَائِلٍ، فَاجْتَمَعَ إِلَيْهِ مِنْ غَيْرِ الْمُرْتَدِّينَ مِمَّنْ لَمْ يَزَلْ مُشْرِكًا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al-Ḥuṭam b. Ḍubayʿa, of Banū Qays b. Thaʿlaba, went out at the head of Bakr b. Wāʾil…"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Juwātha</a:t>
            </a:r>
          </a:p>
        </p:txBody>
      </p:sp>
      <p:pic>
        <p:nvPicPr>
          <p:cNvPr id="6" name="map" descr="bahrain-darin-r4-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Juwātha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besieged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ʿAbd al-Qays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hold, behind al-Jārūd ؓ</a:t>
            </a:r>
          </a:p>
        </p:txBody>
      </p:sp>
      <p:pic>
        <p:nvPicPr>
          <p:cNvPr id="13" name="map arrow r_0309" descr="bahrain-darin-r1-3-r_0309.png"/>
          <p:cNvPicPr>
            <a:picLocks noChangeAspect="1"/>
          </p:cNvPicPr>
          <p:nvPr/>
        </p:nvPicPr>
        <p:blipFill>
          <a:blip r:embed="rId3"/>
          <a:stretch>
            <a:fillRect/>
          </a:stretch>
        </p:blipFill>
        <p:spPr>
          <a:xfrm>
            <a:off x="4425076" y="2694744"/>
            <a:ext cx="1011907" cy="2326177"/>
          </a:xfrm>
          <a:prstGeom prst="rect">
            <a:avLst/>
          </a:prstGeom>
        </p:spPr>
      </p:pic>
      <p:pic>
        <p:nvPicPr>
          <p:cNvPr id="14" name="map army al-Jārūd ؓ" descr="bahrain-darin-r4-5-a_0313.png"/>
          <p:cNvPicPr>
            <a:picLocks noChangeAspect="1"/>
          </p:cNvPicPr>
          <p:nvPr/>
        </p:nvPicPr>
        <p:blipFill>
          <a:blip r:embed="rId4"/>
          <a:stretch>
            <a:fillRect/>
          </a:stretch>
        </p:blipFill>
        <p:spPr>
          <a:xfrm>
            <a:off x="4719376" y="5540985"/>
            <a:ext cx="423307" cy="463622"/>
          </a:xfrm>
          <a:prstGeom prst="rect">
            <a:avLst/>
          </a:prstGeom>
        </p:spPr>
      </p:pic>
      <p:pic>
        <p:nvPicPr>
          <p:cNvPr id="15" name="map label and a force to Dārīn" descr="bahrain-darin-r1-3-l_0310.png"/>
          <p:cNvPicPr>
            <a:picLocks noChangeAspect="1"/>
          </p:cNvPicPr>
          <p:nvPr/>
        </p:nvPicPr>
        <p:blipFill>
          <a:blip r:embed="rId5"/>
          <a:stretch>
            <a:fillRect/>
          </a:stretch>
        </p:blipFill>
        <p:spPr>
          <a:xfrm>
            <a:off x="6142497" y="1872317"/>
            <a:ext cx="503937" cy="108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 in Juwāthā?"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b. al-Muʿallā ؓ</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 — and I bear witness that there is no god but Allah and that Muḥammad is the Messenger of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pic>
        <p:nvPicPr>
          <p:cNvPr id="6" name="map" descr="bahrain-darin-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sixteen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Medina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al-Dahnāʾ</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camels, then the water</a:t>
            </a:r>
          </a:p>
        </p:txBody>
      </p:sp>
      <p:pic>
        <p:nvPicPr>
          <p:cNvPr id="13" name="map arrow r_0319" descr="bahrain-darin-r6-8-r_0319.png"/>
          <p:cNvPicPr>
            <a:picLocks noChangeAspect="1"/>
          </p:cNvPicPr>
          <p:nvPr/>
        </p:nvPicPr>
        <p:blipFill>
          <a:blip r:embed="rId3"/>
          <a:stretch>
            <a:fillRect/>
          </a:stretch>
        </p:blipFill>
        <p:spPr>
          <a:xfrm>
            <a:off x="2518175" y="4908039"/>
            <a:ext cx="2023814" cy="600693"/>
          </a:xfrm>
          <a:prstGeom prst="rect">
            <a:avLst/>
          </a:prstGeom>
        </p:spPr>
      </p:pic>
      <p:pic>
        <p:nvPicPr>
          <p:cNvPr id="14" name="map label sixteen riders, from Medina" descr="bahrain-darin-r6-8-l_0317.png"/>
          <p:cNvPicPr>
            <a:picLocks noChangeAspect="1"/>
          </p:cNvPicPr>
          <p:nvPr/>
        </p:nvPicPr>
        <p:blipFill>
          <a:blip r:embed="rId4"/>
          <a:stretch>
            <a:fillRect/>
          </a:stretch>
        </p:blipFill>
        <p:spPr>
          <a:xfrm>
            <a:off x="1615118" y="4484731"/>
            <a:ext cx="661166" cy="116913"/>
          </a:xfrm>
          <a:prstGeom prst="rect">
            <a:avLst/>
          </a:prstGeom>
        </p:spPr>
      </p:pic>
      <p:pic>
        <p:nvPicPr>
          <p:cNvPr id="15" name="map label al-Dahnāʾ" descr="bahrain-darin-r6-8-l_0318.png"/>
          <p:cNvPicPr>
            <a:picLocks noChangeAspect="1"/>
          </p:cNvPicPr>
          <p:nvPr/>
        </p:nvPicPr>
        <p:blipFill>
          <a:blip r:embed="rId5"/>
          <a:stretch>
            <a:fillRect/>
          </a:stretch>
        </p:blipFill>
        <p:spPr>
          <a:xfrm>
            <a:off x="2538333" y="4484731"/>
            <a:ext cx="286236" cy="108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6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1600"/>
                                        <p:tgtEl>
                                          <p:spTgt spid="13"/>
                                        </p:tgtEl>
                                      </p:cBhvr>
                                    </p:animEffect>
                                  </p:childTnLst>
                                </p:cTn>
                              </p:par>
                              <p:par>
                                <p:cTn id="13" presetID="10" presetClass="exit" presetSubtype="0" fill="hold" grpId="0" nodeType="withEffect">
                                  <p:stCondLst>
                                    <p:cond delay="0"/>
                                  </p:stCondLst>
                                  <p:childTnLst>
                                    <p:animEffect transition="out" filter="fade">
                                      <p:cBhvr>
                                        <p:cTn id="11" dur="600"/>
                                        <p:tgtEl>
                                          <p:spTgt spid="14"/>
                                        </p:tgtEl>
                                      </p:cBhvr>
                                    </p:animEffect>
                                    <p:set>
                                      <p:cBhvr>
                                        <p:cTn id="12" dur="1" fill="hold">
                                          <p:stCondLst>
                                            <p:cond delay="5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 enemy."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Ḥadhf, at the trench</a:t>
            </a:r>
          </a:p>
        </p:txBody>
      </p:sp>
      <p:pic>
        <p:nvPicPr>
          <p:cNvPr id="6" name="map" descr="bahrain-darin-r9-11-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comes up the other side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month, dug in</a:t>
            </a:r>
          </a:p>
        </p:txBody>
      </p:sp>
      <p:pic>
        <p:nvPicPr>
          <p:cNvPr id="13" name="map battle b_0311" descr="bahrain-darin-r9-11-b_0311.png"/>
          <p:cNvPicPr>
            <a:picLocks noChangeAspect="1"/>
          </p:cNvPicPr>
          <p:nvPr/>
        </p:nvPicPr>
        <p:blipFill>
          <a:blip r:embed="rId3"/>
          <a:stretch>
            <a:fillRect/>
          </a:stretch>
        </p:blipFill>
        <p:spPr>
          <a:xfrm>
            <a:off x="4848384" y="4690338"/>
            <a:ext cx="318488" cy="290268"/>
          </a:xfrm>
          <a:prstGeom prst="rect">
            <a:avLst/>
          </a:prstGeom>
        </p:spPr>
      </p:pic>
      <p:pic>
        <p:nvPicPr>
          <p:cNvPr id="14" name="map battle b_0322" descr="bahrain-darin-r9-11-b_0322.png"/>
          <p:cNvPicPr>
            <a:picLocks noChangeAspect="1"/>
          </p:cNvPicPr>
          <p:nvPr/>
        </p:nvPicPr>
        <p:blipFill>
          <a:blip r:embed="rId4"/>
          <a:stretch>
            <a:fillRect/>
          </a:stretch>
        </p:blipFill>
        <p:spPr>
          <a:xfrm>
            <a:off x="4324289" y="4819346"/>
            <a:ext cx="318488" cy="290268"/>
          </a:xfrm>
          <a:prstGeom prst="rect">
            <a:avLst/>
          </a:prstGeom>
        </p:spPr>
      </p:pic>
      <p:pic>
        <p:nvPicPr>
          <p:cNvPr id="15" name="map label the other side" descr="bahrain-darin-r9-11-l_0321.png"/>
          <p:cNvPicPr>
            <a:picLocks noChangeAspect="1"/>
          </p:cNvPicPr>
          <p:nvPr/>
        </p:nvPicPr>
        <p:blipFill>
          <a:blip r:embed="rId5"/>
          <a:stretch>
            <a:fillRect/>
          </a:stretch>
        </p:blipFill>
        <p:spPr>
          <a:xfrm>
            <a:off x="5219283" y="5686119"/>
            <a:ext cx="370898" cy="108850"/>
          </a:xfrm>
          <a:prstGeom prst="rect">
            <a:avLst/>
          </a:prstGeom>
        </p:spPr>
      </p:pic>
      <p:pic>
        <p:nvPicPr>
          <p:cNvPr id="16" name="map label a month, dug in" descr="bahrain-darin-r9-11-l_0323.png"/>
          <p:cNvPicPr>
            <a:picLocks noChangeAspect="1"/>
          </p:cNvPicPr>
          <p:nvPr/>
        </p:nvPicPr>
        <p:blipFill>
          <a:blip r:embed="rId6"/>
          <a:stretch>
            <a:fillRect/>
          </a:stretch>
        </p:blipFill>
        <p:spPr>
          <a:xfrm>
            <a:off x="4046115" y="5416008"/>
            <a:ext cx="411213" cy="120945"/>
          </a:xfrm>
          <a:prstGeom prst="rect">
            <a:avLst/>
          </a:prstGeom>
        </p:spPr>
      </p:pic>
      <p:pic>
        <p:nvPicPr>
          <p:cNvPr id="17" name="map label al-Ḥuṭam killed" descr="bahrain-darin-r9-11-l_0324.png"/>
          <p:cNvPicPr>
            <a:picLocks noChangeAspect="1"/>
          </p:cNvPicPr>
          <p:nvPr/>
        </p:nvPicPr>
        <p:blipFill>
          <a:blip r:embed="rId7"/>
          <a:stretch>
            <a:fillRect/>
          </a:stretch>
        </p:blipFill>
        <p:spPr>
          <a:xfrm>
            <a:off x="5973174" y="4581487"/>
            <a:ext cx="395087" cy="11691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xit" presetSubtype="0" fill="hold" grpId="0" nodeType="clickEffect">
                                  <p:stCondLst>
                                    <p:cond delay="0"/>
                                  </p:stCondLst>
                                  <p:childTnLst>
                                    <p:animEffect transition="out" filter="fade">
                                      <p:cBhvr>
                                        <p:cTn id="14" dur="600"/>
                                        <p:tgtEl>
                                          <p:spTgt spid="15"/>
                                        </p:tgtEl>
                                      </p:cBhvr>
                                    </p:animEffect>
                                    <p:set>
                                      <p:cBhvr>
                                        <p:cTn id="15" dur="1" fill="hold">
                                          <p:stCondLst>
                                            <p:cond delay="599"/>
                                          </p:stCondLst>
                                        </p:cTn>
                                        <p:tgtEl>
                                          <p:spTgt spid="15"/>
                                        </p:tgtEl>
                                        <p:attrNameLst>
                                          <p:attrName>style.visibility</p:attrName>
                                        </p:attrNameLst>
                                      </p:cBhvr>
                                      <p:to>
                                        <p:strVal val="hidden"/>
                                      </p:to>
                                    </p:set>
                                  </p:childTnLst>
                                </p:cTn>
                              </p:par>
                              <p:par>
                                <p:cTn id="19"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Ḥadhf, at the trench</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 into them as they pleased."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Abjar b. Bujayr — his uncle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إِنِّي لَأَظُنُّكَ بِئْسَ ابْنُ أُخْتٍ أَتَيْتَ اللَّيْلَةَ أَخْوَالَكَ</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Allāh, I think you a poor sort of sister's-son, coming to your uncles tonight."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over al-Ḥuṭam</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واسوأتاه، لو أعلمُ ما به لم أحرِّكْهُ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 shameful thing — had I known his condition, I would not have touched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pic>
        <p:nvPicPr>
          <p:cNvPr id="6" name="map" descr="bahrain-darin-r12-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Dārīn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day and a night by ship</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land roads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closed behind them</a:t>
            </a:r>
          </a:p>
        </p:txBody>
      </p:sp>
      <p:pic>
        <p:nvPicPr>
          <p:cNvPr id="13" name="map arrow r_0325" descr="bahrain-darin-r1-3-r_0309.png"/>
          <p:cNvPicPr>
            <a:picLocks noChangeAspect="1"/>
          </p:cNvPicPr>
          <p:nvPr/>
        </p:nvPicPr>
        <p:blipFill>
          <a:blip r:embed="rId3"/>
          <a:stretch>
            <a:fillRect/>
          </a:stretch>
        </p:blipFill>
        <p:spPr>
          <a:xfrm>
            <a:off x="4425076" y="2694744"/>
            <a:ext cx="1011907" cy="2326177"/>
          </a:xfrm>
          <a:prstGeom prst="rect">
            <a:avLst/>
          </a:prstGeom>
        </p:spPr>
      </p:pic>
      <p:pic>
        <p:nvPicPr>
          <p:cNvPr id="14" name="map arrow r_0329" descr="bahrain-darin-r12-14-r_0329.png"/>
          <p:cNvPicPr>
            <a:picLocks noChangeAspect="1"/>
          </p:cNvPicPr>
          <p:nvPr/>
        </p:nvPicPr>
        <p:blipFill>
          <a:blip r:embed="rId4"/>
          <a:stretch>
            <a:fillRect/>
          </a:stretch>
        </p:blipFill>
        <p:spPr>
          <a:xfrm>
            <a:off x="4421045" y="2694744"/>
            <a:ext cx="1011907" cy="2342303"/>
          </a:xfrm>
          <a:prstGeom prst="rect">
            <a:avLst/>
          </a:prstGeom>
        </p:spPr>
      </p:pic>
      <p:pic>
        <p:nvPicPr>
          <p:cNvPr id="15" name="map battle b_0330" descr="bahrain-darin-r12-14-b_0330.png"/>
          <p:cNvPicPr>
            <a:picLocks noChangeAspect="1"/>
          </p:cNvPicPr>
          <p:nvPr/>
        </p:nvPicPr>
        <p:blipFill>
          <a:blip r:embed="rId5"/>
          <a:stretch>
            <a:fillRect/>
          </a:stretch>
        </p:blipFill>
        <p:spPr>
          <a:xfrm>
            <a:off x="5118495" y="2602019"/>
            <a:ext cx="314457" cy="290268"/>
          </a:xfrm>
          <a:prstGeom prst="rect">
            <a:avLst/>
          </a:prstGeom>
        </p:spPr>
      </p:pic>
      <p:pic>
        <p:nvPicPr>
          <p:cNvPr id="16" name="map army the beaten" descr="bahrain-darin-r12-14-a_0326.png"/>
          <p:cNvPicPr>
            <a:picLocks noChangeAspect="1"/>
          </p:cNvPicPr>
          <p:nvPr/>
        </p:nvPicPr>
        <p:blipFill>
          <a:blip r:embed="rId6"/>
          <a:stretch>
            <a:fillRect/>
          </a:stretch>
        </p:blipFill>
        <p:spPr>
          <a:xfrm>
            <a:off x="5416826" y="2968886"/>
            <a:ext cx="753891" cy="314457"/>
          </a:xfrm>
          <a:prstGeom prst="rect">
            <a:avLst/>
          </a:prstGeom>
        </p:spPr>
      </p:pic>
      <p:pic>
        <p:nvPicPr>
          <p:cNvPr id="17" name="map label al-Ḥuṭam killed" descr="bahrain-darin-r9-11-l_0324.png"/>
          <p:cNvPicPr>
            <a:picLocks noChangeAspect="1"/>
          </p:cNvPicPr>
          <p:nvPr/>
        </p:nvPicPr>
        <p:blipFill>
          <a:blip r:embed="rId7"/>
          <a:stretch>
            <a:fillRect/>
          </a:stretch>
        </p:blipFill>
        <p:spPr>
          <a:xfrm>
            <a:off x="5973174" y="4581487"/>
            <a:ext cx="395087" cy="116913"/>
          </a:xfrm>
          <a:prstGeom prst="rect">
            <a:avLst/>
          </a:prstGeom>
        </p:spPr>
      </p:pic>
      <p:pic>
        <p:nvPicPr>
          <p:cNvPr id="18" name="map label they take ship" descr="bahrain-darin-r12-14-l_0327.png"/>
          <p:cNvPicPr>
            <a:picLocks noChangeAspect="1"/>
          </p:cNvPicPr>
          <p:nvPr/>
        </p:nvPicPr>
        <p:blipFill>
          <a:blip r:embed="rId8"/>
          <a:stretch>
            <a:fillRect/>
          </a:stretch>
        </p:blipFill>
        <p:spPr>
          <a:xfrm>
            <a:off x="3876792" y="3517170"/>
            <a:ext cx="378961" cy="120945"/>
          </a:xfrm>
          <a:prstGeom prst="rect">
            <a:avLst/>
          </a:prstGeom>
        </p:spPr>
      </p:pic>
      <p:pic>
        <p:nvPicPr>
          <p:cNvPr id="19" name="map label the land roads closed" descr="bahrain-darin-r12-14-l_0328.png"/>
          <p:cNvPicPr>
            <a:picLocks noChangeAspect="1"/>
          </p:cNvPicPr>
          <p:nvPr/>
        </p:nvPicPr>
        <p:blipFill>
          <a:blip r:embed="rId9"/>
          <a:stretch>
            <a:fillRect/>
          </a:stretch>
        </p:blipFill>
        <p:spPr>
          <a:xfrm>
            <a:off x="2788286" y="2549610"/>
            <a:ext cx="536189" cy="108850"/>
          </a:xfrm>
          <a:prstGeom prst="rect">
            <a:avLst/>
          </a:prstGeom>
        </p:spPr>
      </p:pic>
      <p:pic>
        <p:nvPicPr>
          <p:cNvPr id="20" name="map label straight across the water — a day and a " descr="bahrain-darin-r12-14-l_0331.png"/>
          <p:cNvPicPr>
            <a:picLocks noChangeAspect="1"/>
          </p:cNvPicPr>
          <p:nvPr/>
        </p:nvPicPr>
        <p:blipFill>
          <a:blip r:embed="rId10"/>
          <a:stretch>
            <a:fillRect/>
          </a:stretch>
        </p:blipFill>
        <p:spPr>
          <a:xfrm>
            <a:off x="6392450" y="3420414"/>
            <a:ext cx="1052222" cy="120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wipe(down)">
                                      <p:cBhvr>
                                        <p:cTn id="4" dur="1600"/>
                                        <p:tgtEl>
                                          <p:spTgt spid="14"/>
                                        </p:tgtEl>
                                      </p:cBhvr>
                                    </p:animEffect>
                                  </p:childTnLst>
                                </p:cTn>
                              </p:par>
                              <p:par>
                                <p:cTn id="8" presetID="10" presetClass="exit" presetSubtype="0" fill="hold" grpId="0" nodeType="withEffect">
                                  <p:stCondLst>
                                    <p:cond delay="0"/>
                                  </p:stCondLst>
                                  <p:childTnLst>
                                    <p:animEffect transition="out" filter="fade">
                                      <p:cBhvr>
                                        <p:cTn id="6" dur="600"/>
                                        <p:tgtEl>
                                          <p:spTgt spid="17"/>
                                        </p:tgtEl>
                                      </p:cBhvr>
                                    </p:animEffect>
                                    <p:set>
                                      <p:cBhvr>
                                        <p:cTn id="7" dur="1" fill="hold">
                                          <p:stCondLst>
                                            <p:cond delay="599"/>
                                          </p:stCondLst>
                                        </p:cTn>
                                        <p:tgtEl>
                                          <p:spTgt spid="17"/>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600"/>
                                        <p:tgtEl>
                                          <p:spTgt spid="19"/>
                                        </p:tgtEl>
                                      </p:cBhvr>
                                    </p:animEffect>
                                  </p:childTnLst>
                                </p:cTn>
                              </p:par>
                            </p:childTnLst>
                          </p:cTn>
                        </p:par>
                      </p:childTnLst>
                    </p:cTn>
                  </p:par>
                  <p:par>
                    <p:cTn id="29" fill="hold">
                      <p:stCondLst>
                        <p:cond delay="indefinite"/>
                      </p:stCondLst>
                      <p:childTnLst>
                        <p:par>
                          <p:cTn id="30"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600"/>
                                        <p:tgtEl>
                                          <p:spTgt spid="15"/>
                                        </p:tgtEl>
                                      </p:cBhvr>
                                    </p:animEffect>
                                  </p:childTnLst>
                                </p:cTn>
                              </p:par>
                              <p:par>
                                <p:cTn id="22" presetID="10" presetClass="exit" presetSubtype="0" fill="hold" grpId="0" nodeType="withEffect">
                                  <p:stCondLst>
                                    <p:cond delay="0"/>
                                  </p:stCondLst>
                                  <p:childTnLst>
                                    <p:animEffect transition="out" filter="fade">
                                      <p:cBhvr>
                                        <p:cTn id="20" dur="600"/>
                                        <p:tgtEl>
                                          <p:spTgt spid="16"/>
                                        </p:tgtEl>
                                      </p:cBhvr>
                                    </p:animEffect>
                                    <p:set>
                                      <p:cBhvr>
                                        <p:cTn id="21" dur="1" fill="hold">
                                          <p:stCondLst>
                                            <p:cond delay="599"/>
                                          </p:stCondLst>
                                        </p:cTn>
                                        <p:tgtEl>
                                          <p:spTgt spid="16"/>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3" dur="600"/>
                                        <p:tgtEl>
                                          <p:spTgt spid="18"/>
                                        </p:tgtEl>
                                      </p:cBhvr>
                                    </p:animEffect>
                                    <p:set>
                                      <p:cBhvr>
                                        <p:cTn id="24" dur="1" fill="hold">
                                          <p:stCondLst>
                                            <p:cond delay="599"/>
                                          </p:stCondLst>
                                        </p:cTn>
                                        <p:tgtEl>
                                          <p:spTgt spid="18"/>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sp>
        <p:nvSpPr>
          <p:cNvPr id="6" name="TextBox 5"/>
          <p:cNvSpPr txBox="1"/>
          <p:nvPr/>
        </p:nvSpPr>
        <p:spPr>
          <a:xfrm>
            <a:off x="566928" y="21488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وَضَرَبَ الْإِسْلَامُ فِيهَا بِجِرَانِهِ.</a:t>
            </a:r>
          </a:p>
        </p:txBody>
      </p:sp>
      <p:sp>
        <p:nvSpPr>
          <p:cNvPr id="7" name="Rectangle 6"/>
          <p:cNvSpPr/>
          <p:nvPr/>
        </p:nvSpPr>
        <p:spPr>
          <a:xfrm>
            <a:off x="566928" y="3579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9077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Islam settled its neck to the ground there." — the image is a camel kneeling and setting its neck down to stay: the front was not held, it was finished.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monk of Hajar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ثَلَاثَةُ أَشْيَاءَ خَشِيتُ أَنْ يَمْسَخَنِي اللَّهُ بَعْدَهَا: فَيْضٌ فِي الرِّمَالِ، وَتَمْهِيدُ أَثْبَاجِ الْبَحْرِ، وَدُعَاءٌ سَمِعْتُهُ فِي عَسْكَرِهِمْ فِي الْهَوَاءِ سَحَرًا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"Three things, after which I feared Allah would transform me: water welling up in the sands, the levelling of the sea's swells, and a supplication I heard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Darin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 on him and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1.trim.png"/>
          <p:cNvPicPr>
            <a:picLocks noChangeAspect="1"/>
          </p:cNvPicPr>
          <p:nvPr/>
        </p:nvPicPr>
        <p:blipFill>
          <a:blip r:embed="rId2"/>
          <a:stretch>
            <a:fillRect/>
          </a:stretch>
        </p:blipFill>
        <p:spPr>
          <a:xfrm>
            <a:off x="701765" y="1389888"/>
            <a:ext cx="10788165" cy="495604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2.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Kinda, before any of it (10 AH)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Before any of this</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Two years earlier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delegation comes to Medina</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its head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man the room will meet again tonight</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again, and we do not go back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at Medina</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 We do not trace ourselves through our mother, and we do not disown our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the last front (11→12 AH)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pic>
        <p:nvPicPr>
          <p:cNvPr id="6" name="map" descr="s05-10-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r_0095" descr="s05-10-kinda-r1-3-r_0095.png"/>
          <p:cNvPicPr>
            <a:picLocks noChangeAspect="1"/>
          </p:cNvPicPr>
          <p:nvPr/>
        </p:nvPicPr>
        <p:blipFill>
          <a:blip r:embed="rId3"/>
          <a:stretch>
            <a:fillRect/>
          </a:stretch>
        </p:blipFill>
        <p:spPr>
          <a:xfrm>
            <a:off x="3005987" y="2416570"/>
            <a:ext cx="3084100" cy="487811"/>
          </a:xfrm>
          <a:prstGeom prst="rect">
            <a:avLst/>
          </a:prstGeom>
        </p:spPr>
      </p:pic>
      <p:pic>
        <p:nvPicPr>
          <p:cNvPr id="14" name="map arrow r_0096" descr="s05-10-kinda-r1-3-r_0096.png"/>
          <p:cNvPicPr>
            <a:picLocks noChangeAspect="1"/>
          </p:cNvPicPr>
          <p:nvPr/>
        </p:nvPicPr>
        <p:blipFill>
          <a:blip r:embed="rId4"/>
          <a:stretch>
            <a:fillRect/>
          </a:stretch>
        </p:blipFill>
        <p:spPr>
          <a:xfrm>
            <a:off x="3010019" y="3976762"/>
            <a:ext cx="3084100" cy="524095"/>
          </a:xfrm>
          <a:prstGeom prst="rect">
            <a:avLst/>
          </a:prstGeom>
        </p:spPr>
      </p:pic>
      <p:pic>
        <p:nvPicPr>
          <p:cNvPr id="15" name="map label ṣadaqa, both ways" descr="s05-10-kinda-r1-3-l_0114.png"/>
          <p:cNvPicPr>
            <a:picLocks noChangeAspect="1"/>
          </p:cNvPicPr>
          <p:nvPr/>
        </p:nvPicPr>
        <p:blipFill>
          <a:blip r:embed="rId5"/>
          <a:stretch>
            <a:fillRect/>
          </a:stretch>
        </p:blipFill>
        <p:spPr>
          <a:xfrm>
            <a:off x="3296255" y="1908601"/>
            <a:ext cx="2056066" cy="302362"/>
          </a:xfrm>
          <a:prstGeom prst="rect">
            <a:avLst/>
          </a:prstGeom>
        </p:spPr>
      </p:pic>
      <p:pic>
        <p:nvPicPr>
          <p:cNvPr id="16" name="map label not carried" descr="s05-10-kinda-r1-3-l_0115.png"/>
          <p:cNvPicPr>
            <a:picLocks noChangeAspect="1"/>
          </p:cNvPicPr>
          <p:nvPr/>
        </p:nvPicPr>
        <p:blipFill>
          <a:blip r:embed="rId6"/>
          <a:stretch>
            <a:fillRect/>
          </a:stretch>
        </p:blipFill>
        <p:spPr>
          <a:xfrm>
            <a:off x="3610713" y="4940291"/>
            <a:ext cx="1427152"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 mounts — carry it yourselves."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 and Shadhra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 front of 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pic>
        <p:nvPicPr>
          <p:cNvPr id="6" name="map" descr="s05-10-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Ziyād's ؓ camp</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a:t>
            </a:r>
          </a:p>
        </p:txBody>
      </p:sp>
      <p:pic>
        <p:nvPicPr>
          <p:cNvPr id="13" name="map territory t_0119" descr="s05-10-kinda-r3-6-t_0119.png"/>
          <p:cNvPicPr>
            <a:picLocks noChangeAspect="1"/>
          </p:cNvPicPr>
          <p:nvPr/>
        </p:nvPicPr>
        <p:blipFill>
          <a:blip r:embed="rId3"/>
          <a:stretch>
            <a:fillRect/>
          </a:stretch>
        </p:blipFill>
        <p:spPr>
          <a:xfrm>
            <a:off x="1655433" y="2178711"/>
            <a:ext cx="2705138" cy="3245359"/>
          </a:xfrm>
          <a:prstGeom prst="rect">
            <a:avLst/>
          </a:prstGeom>
        </p:spPr>
      </p:pic>
      <p:pic>
        <p:nvPicPr>
          <p:cNvPr id="14" name="map arrow r_0097" descr="s05-10-kinda-r3-6-r_0097.png"/>
          <p:cNvPicPr>
            <a:picLocks noChangeAspect="1"/>
          </p:cNvPicPr>
          <p:nvPr/>
        </p:nvPicPr>
        <p:blipFill>
          <a:blip r:embed="rId4"/>
          <a:stretch>
            <a:fillRect/>
          </a:stretch>
        </p:blipFill>
        <p:spPr>
          <a:xfrm>
            <a:off x="3522020" y="3271249"/>
            <a:ext cx="1261860" cy="451528"/>
          </a:xfrm>
          <a:prstGeom prst="rect">
            <a:avLst/>
          </a:prstGeom>
        </p:spPr>
      </p:pic>
      <p:pic>
        <p:nvPicPr>
          <p:cNvPr id="15" name="map army Ḥaḍramawt, al-Sakūn" descr="s05-10-kinda-r3-6-a_0116.png"/>
          <p:cNvPicPr>
            <a:picLocks noChangeAspect="1"/>
          </p:cNvPicPr>
          <p:nvPr/>
        </p:nvPicPr>
        <p:blipFill>
          <a:blip r:embed="rId5"/>
          <a:stretch>
            <a:fillRect/>
          </a:stretch>
        </p:blipFill>
        <p:spPr>
          <a:xfrm>
            <a:off x="4703250" y="3327690"/>
            <a:ext cx="1846428" cy="483780"/>
          </a:xfrm>
          <a:prstGeom prst="rect">
            <a:avLst/>
          </a:prstGeom>
        </p:spPr>
      </p:pic>
      <p:pic>
        <p:nvPicPr>
          <p:cNvPr id="16" name="map army Banū Muʿāwiya" descr="s05-10-kinda-r3-6-a_0117.png"/>
          <p:cNvPicPr>
            <a:picLocks noChangeAspect="1"/>
          </p:cNvPicPr>
          <p:nvPr/>
        </p:nvPicPr>
        <p:blipFill>
          <a:blip r:embed="rId6"/>
          <a:stretch>
            <a:fillRect/>
          </a:stretch>
        </p:blipFill>
        <p:spPr>
          <a:xfrm>
            <a:off x="2760065" y="3109988"/>
            <a:ext cx="1068348" cy="778080"/>
          </a:xfrm>
          <a:prstGeom prst="rect">
            <a:avLst/>
          </a:prstGeom>
        </p:spPr>
      </p:pic>
      <p:pic>
        <p:nvPicPr>
          <p:cNvPr id="17" name="map label not carried" descr="s05-10-kinda-r1-3-l_0115.png"/>
          <p:cNvPicPr>
            <a:picLocks noChangeAspect="1"/>
          </p:cNvPicPr>
          <p:nvPr/>
        </p:nvPicPr>
        <p:blipFill>
          <a:blip r:embed="rId7"/>
          <a:stretch>
            <a:fillRect/>
          </a:stretch>
        </p:blipFill>
        <p:spPr>
          <a:xfrm>
            <a:off x="3610713" y="4940291"/>
            <a:ext cx="1427152" cy="274142"/>
          </a:xfrm>
          <a:prstGeom prst="rect">
            <a:avLst/>
          </a:prstGeom>
        </p:spPr>
      </p:pic>
      <p:pic>
        <p:nvPicPr>
          <p:cNvPr id="18" name="map label by night" descr="s05-10-kinda-r3-6-l_0118.png"/>
          <p:cNvPicPr>
            <a:picLocks noChangeAspect="1"/>
          </p:cNvPicPr>
          <p:nvPr/>
        </p:nvPicPr>
        <p:blipFill>
          <a:blip r:embed="rId8"/>
          <a:stretch>
            <a:fillRect/>
          </a:stretch>
        </p:blipFill>
        <p:spPr>
          <a:xfrm>
            <a:off x="3598618" y="2884224"/>
            <a:ext cx="987718" cy="302362"/>
          </a:xfrm>
          <a:prstGeom prst="rect">
            <a:avLst/>
          </a:prstGeom>
        </p:spPr>
      </p:pic>
      <p:pic>
        <p:nvPicPr>
          <p:cNvPr id="19" name="map label no ṣadaqa" descr="s05-10-kinda-r3-6-l_0120.png"/>
          <p:cNvPicPr>
            <a:picLocks noChangeAspect="1"/>
          </p:cNvPicPr>
          <p:nvPr/>
        </p:nvPicPr>
        <p:blipFill>
          <a:blip r:embed="rId9"/>
          <a:stretch>
            <a:fillRect/>
          </a:stretch>
        </p:blipFill>
        <p:spPr>
          <a:xfrm>
            <a:off x="2364978" y="1876349"/>
            <a:ext cx="128604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right)">
                                      <p:cBhvr>
                                        <p:cTn id="15" dur="1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600"/>
                                        <p:tgtEl>
                                          <p:spTgt spid="18"/>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7" presetID="10" presetClass="exit" presetSubtype="0" fill="hold" grpId="0" nodeType="withEffect">
                                  <p:stCondLst>
                                    <p:cond delay="0"/>
                                  </p:stCondLst>
                                  <p:childTnLst>
                                    <p:animEffect transition="out" filter="fade">
                                      <p:cBhvr>
                                        <p:cTn id="25" dur="600"/>
                                        <p:tgtEl>
                                          <p:spTgt spid="14"/>
                                        </p:tgtEl>
                                      </p:cBhvr>
                                    </p:animEffect>
                                    <p:set>
                                      <p:cBhvr>
                                        <p:cTn id="26" dur="1" fill="hold">
                                          <p:stCondLst>
                                            <p:cond delay="599"/>
                                          </p:stCondLst>
                                        </p:cTn>
                                        <p:tgtEl>
                                          <p:spTgt spid="14"/>
                                        </p:tgtEl>
                                        <p:attrNameLst>
                                          <p:attrName>style.visibility</p:attrName>
                                        </p:attrNameLst>
                                      </p:cBhvr>
                                      <p:to>
                                        <p:strVal val="hidden"/>
                                      </p:to>
                                    </p:set>
                                  </p:childTnLst>
                                </p:cTn>
                              </p:par>
                              <p:par>
                                <p:cTn id="30" presetID="10" presetClass="exit" presetSubtype="0" fill="hold" grpId="0" nodeType="withEffect">
                                  <p:stCondLst>
                                    <p:cond delay="0"/>
                                  </p:stCondLst>
                                  <p:childTnLst>
                                    <p:animEffect transition="out" filter="fade">
                                      <p:cBhvr>
                                        <p:cTn id="28" dur="600"/>
                                        <p:tgtEl>
                                          <p:spTgt spid="18"/>
                                        </p:tgtEl>
                                      </p:cBhvr>
                                    </p:animEffect>
                                    <p:set>
                                      <p:cBhvr>
                                        <p:cTn id="29" dur="1" fill="hold">
                                          <p:stCondLst>
                                            <p:cond delay="599"/>
                                          </p:stCondLst>
                                        </p:cTn>
                                        <p:tgtEl>
                                          <p:spTgt spid="18"/>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 The humbled man is the one who is devoured in his own home!"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pic>
        <p:nvPicPr>
          <p:cNvPr id="6" name="map" descr="s05-10-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pastures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chief's, held as a stronghold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and his son, to Ziyād ؓ</a:t>
            </a:r>
          </a:p>
        </p:txBody>
      </p:sp>
      <p:pic>
        <p:nvPicPr>
          <p:cNvPr id="13" name="map arrow r_0098" descr="s05-10-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settlement s_0121" descr="s05-10-kinda-r6-8-s_0121.png"/>
          <p:cNvPicPr>
            <a:picLocks noChangeAspect="1"/>
          </p:cNvPicPr>
          <p:nvPr/>
        </p:nvPicPr>
        <p:blipFill>
          <a:blip r:embed="rId4"/>
          <a:stretch>
            <a:fillRect/>
          </a:stretch>
        </p:blipFill>
        <p:spPr>
          <a:xfrm>
            <a:off x="2320632" y="2904382"/>
            <a:ext cx="229795" cy="233827"/>
          </a:xfrm>
          <a:prstGeom prst="rect">
            <a:avLst/>
          </a:prstGeom>
        </p:spPr>
      </p:pic>
      <p:pic>
        <p:nvPicPr>
          <p:cNvPr id="15" name="map settlement s_0122" descr="s05-10-kinda-r6-8-s_0122.png"/>
          <p:cNvPicPr>
            <a:picLocks noChangeAspect="1"/>
          </p:cNvPicPr>
          <p:nvPr/>
        </p:nvPicPr>
        <p:blipFill>
          <a:blip r:embed="rId5"/>
          <a:stretch>
            <a:fillRect/>
          </a:stretch>
        </p:blipFill>
        <p:spPr>
          <a:xfrm>
            <a:off x="2836664" y="2614114"/>
            <a:ext cx="229795" cy="233827"/>
          </a:xfrm>
          <a:prstGeom prst="rect">
            <a:avLst/>
          </a:prstGeom>
        </p:spPr>
      </p:pic>
      <p:pic>
        <p:nvPicPr>
          <p:cNvPr id="16" name="map settlement s_0123" descr="s05-10-kinda-r6-8-s_0123.png"/>
          <p:cNvPicPr>
            <a:picLocks noChangeAspect="1"/>
          </p:cNvPicPr>
          <p:nvPr/>
        </p:nvPicPr>
        <p:blipFill>
          <a:blip r:embed="rId6"/>
          <a:stretch>
            <a:fillRect/>
          </a:stretch>
        </p:blipFill>
        <p:spPr>
          <a:xfrm>
            <a:off x="3384949" y="2880193"/>
            <a:ext cx="229795" cy="229795"/>
          </a:xfrm>
          <a:prstGeom prst="rect">
            <a:avLst/>
          </a:prstGeom>
        </p:spPr>
      </p:pic>
      <p:pic>
        <p:nvPicPr>
          <p:cNvPr id="17" name="map settlement s_0124" descr="s05-10-kinda-r6-8-s_0124.png"/>
          <p:cNvPicPr>
            <a:picLocks noChangeAspect="1"/>
          </p:cNvPicPr>
          <p:nvPr/>
        </p:nvPicPr>
        <p:blipFill>
          <a:blip r:embed="rId7"/>
          <a:stretch>
            <a:fillRect/>
          </a:stretch>
        </p:blipFill>
        <p:spPr>
          <a:xfrm>
            <a:off x="2514144" y="3541359"/>
            <a:ext cx="233827" cy="229795"/>
          </a:xfrm>
          <a:prstGeom prst="rect">
            <a:avLst/>
          </a:prstGeom>
        </p:spPr>
      </p:pic>
      <p:pic>
        <p:nvPicPr>
          <p:cNvPr id="18" name="map settlement s_0125" descr="s05-10-kinda-r6-8-s_0125.png"/>
          <p:cNvPicPr>
            <a:picLocks noChangeAspect="1"/>
          </p:cNvPicPr>
          <p:nvPr/>
        </p:nvPicPr>
        <p:blipFill>
          <a:blip r:embed="rId8"/>
          <a:stretch>
            <a:fillRect/>
          </a:stretch>
        </p:blipFill>
        <p:spPr>
          <a:xfrm>
            <a:off x="3155153" y="3488950"/>
            <a:ext cx="229795" cy="229795"/>
          </a:xfrm>
          <a:prstGeom prst="rect">
            <a:avLst/>
          </a:prstGeom>
        </p:spPr>
      </p:pic>
      <p:pic>
        <p:nvPicPr>
          <p:cNvPr id="19" name="map army Banū Muʿāwiya" descr="s05-10-kinda-r3-6-a_0117.png"/>
          <p:cNvPicPr>
            <a:picLocks noChangeAspect="1"/>
          </p:cNvPicPr>
          <p:nvPr/>
        </p:nvPicPr>
        <p:blipFill>
          <a:blip r:embed="rId9"/>
          <a:stretch>
            <a:fillRect/>
          </a:stretch>
        </p:blipFill>
        <p:spPr>
          <a:xfrm>
            <a:off x="2760065" y="3109988"/>
            <a:ext cx="1068348" cy="778080"/>
          </a:xfrm>
          <a:prstGeom prst="rect">
            <a:avLst/>
          </a:prstGeom>
        </p:spPr>
      </p:pic>
      <p:pic>
        <p:nvPicPr>
          <p:cNvPr id="20" name="map army Shuraḥbīl and his son" descr="s05-10-kinda-r6-8-a_0127.png"/>
          <p:cNvPicPr>
            <a:picLocks noChangeAspect="1"/>
          </p:cNvPicPr>
          <p:nvPr/>
        </p:nvPicPr>
        <p:blipFill>
          <a:blip r:embed="rId10"/>
          <a:stretch>
            <a:fillRect/>
          </a:stretch>
        </p:blipFill>
        <p:spPr>
          <a:xfrm>
            <a:off x="3856634" y="2795531"/>
            <a:ext cx="1209451" cy="572473"/>
          </a:xfrm>
          <a:prstGeom prst="rect">
            <a:avLst/>
          </a:prstGeom>
        </p:spPr>
      </p:pic>
      <p:pic>
        <p:nvPicPr>
          <p:cNvPr id="21" name="map label no ṣadaqa" descr="s05-10-kinda-r3-6-l_0120.png"/>
          <p:cNvPicPr>
            <a:picLocks noChangeAspect="1"/>
          </p:cNvPicPr>
          <p:nvPr/>
        </p:nvPicPr>
        <p:blipFill>
          <a:blip r:embed="rId11"/>
          <a:stretch>
            <a:fillRect/>
          </a:stretch>
        </p:blipFill>
        <p:spPr>
          <a:xfrm>
            <a:off x="2364978" y="1876349"/>
            <a:ext cx="1286049" cy="318488"/>
          </a:xfrm>
          <a:prstGeom prst="rect">
            <a:avLst/>
          </a:prstGeom>
        </p:spPr>
      </p:pic>
      <p:pic>
        <p:nvPicPr>
          <p:cNvPr id="22" name="map label their pastures, as strongholds" descr="s05-10-kinda-r6-8-l_0126.png"/>
          <p:cNvPicPr>
            <a:picLocks noChangeAspect="1"/>
          </p:cNvPicPr>
          <p:nvPr/>
        </p:nvPicPr>
        <p:blipFill>
          <a:blip r:embed="rId12"/>
          <a:stretch>
            <a:fillRect/>
          </a:stretch>
        </p:blipFill>
        <p:spPr>
          <a:xfrm>
            <a:off x="1268409" y="4996732"/>
            <a:ext cx="3358242"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fade">
                                      <p:cBhvr>
                                        <p:cTn id="4" dur="600"/>
                                        <p:tgtEl>
                                          <p:spTgt spid="14"/>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1"/>
                                        </p:tgtEl>
                                      </p:cBhvr>
                                    </p:animEffect>
                                    <p:set>
                                      <p:cBhvr>
                                        <p:cTn id="22" dur="1" fill="hold">
                                          <p:stCondLst>
                                            <p:cond delay="599"/>
                                          </p:stCondLst>
                                        </p:cTn>
                                        <p:tgtEl>
                                          <p:spTgt spid="21"/>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6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1" presetID="22" presetClass="entr" presetSubtype="8"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1600"/>
                                        <p:tgtEl>
                                          <p:spTgt spid="13"/>
                                        </p:tgtEl>
                                      </p:cBhvr>
                                    </p:animEffect>
                                  </p:childTnLst>
                                </p:cTn>
                              </p:par>
                              <p:par>
                                <p:cTn id="33"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5" presetID="0" presetClass="path" presetSubtype="0" fill="hold" grpId="0" nodeType="withEffect">
                                  <p:stCondLst>
                                    <p:cond delay="0"/>
                                  </p:stCondLst>
                                  <p:childTnLst>
                                    <p:animMotion origin="layout" path="M -0.0788 -0.0462 L -0.0347 -0.0270 L 0.0000 0.0000 L 0 0 E" pathEditMode="relative" rAng="0" ptsTypes="">
                                      <p:cBhvr>
                                        <p:cTn id="34" dur="1600" fill="hold"/>
                                        <p:tgtEl>
                                          <p:spTgt spid="20"/>
                                        </p:tgtEl>
                                        <p:attrNameLst>
                                          <p:attrName>ppt_x</p:attrName>
                                          <p:attrName>ppt_y</p:attrName>
                                        </p:attrNameLst>
                                      </p:cBhvr>
                                    </p:animMotion>
                                  </p:childTnLst>
                                </p:cTn>
                              </p:par>
                              <p:par>
                                <p:cTn id="38" presetID="10" presetClass="exit" presetSubtype="0" fill="hold" grpId="0" nodeType="withEffect">
                                  <p:stCondLst>
                                    <p:cond delay="0"/>
                                  </p:stCondLst>
                                  <p:childTnLst>
                                    <p:animEffect transition="out" filter="fade">
                                      <p:cBhvr>
                                        <p:cTn id="36" dur="600"/>
                                        <p:tgtEl>
                                          <p:spTgt spid="22"/>
                                        </p:tgtEl>
                                      </p:cBhvr>
                                    </p:animEffect>
                                    <p:set>
                                      <p:cBhvr>
                                        <p:cTn id="37" dur="1" fill="hold">
                                          <p:stCondLst>
                                            <p:cond delay="5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 Men of honour will stay with a doubtful position,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pic>
        <p:nvPicPr>
          <p:cNvPr id="6" name="map" descr="s05-10-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ʿAmr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strongest of Kinda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at their fires</a:t>
            </a:r>
          </a:p>
        </p:txBody>
      </p:sp>
      <p:pic>
        <p:nvPicPr>
          <p:cNvPr id="13" name="map arrow r_0098" descr="s05-10-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arrow r_0099" descr="s05-10-kinda-r8-10-r_0099.png"/>
          <p:cNvPicPr>
            <a:picLocks noChangeAspect="1"/>
          </p:cNvPicPr>
          <p:nvPr/>
        </p:nvPicPr>
        <p:blipFill>
          <a:blip r:embed="rId4"/>
          <a:stretch>
            <a:fillRect/>
          </a:stretch>
        </p:blipFill>
        <p:spPr>
          <a:xfrm>
            <a:off x="2808444" y="2388349"/>
            <a:ext cx="286236" cy="745828"/>
          </a:xfrm>
          <a:prstGeom prst="rect">
            <a:avLst/>
          </a:prstGeom>
        </p:spPr>
      </p:pic>
      <p:pic>
        <p:nvPicPr>
          <p:cNvPr id="15" name="map arrow r_0100" descr="s05-10-kinda-r8-10-r_0100.png"/>
          <p:cNvPicPr>
            <a:picLocks noChangeAspect="1"/>
          </p:cNvPicPr>
          <p:nvPr/>
        </p:nvPicPr>
        <p:blipFill>
          <a:blip r:embed="rId5"/>
          <a:stretch>
            <a:fillRect/>
          </a:stretch>
        </p:blipFill>
        <p:spPr>
          <a:xfrm>
            <a:off x="3042271" y="2932602"/>
            <a:ext cx="794206" cy="346709"/>
          </a:xfrm>
          <a:prstGeom prst="rect">
            <a:avLst/>
          </a:prstGeom>
        </p:spPr>
      </p:pic>
      <p:pic>
        <p:nvPicPr>
          <p:cNvPr id="16" name="map arrow r_0101" descr="s05-10-kinda-r8-10-r_0101.png"/>
          <p:cNvPicPr>
            <a:picLocks noChangeAspect="1"/>
          </p:cNvPicPr>
          <p:nvPr/>
        </p:nvPicPr>
        <p:blipFill>
          <a:blip r:embed="rId6"/>
          <a:stretch>
            <a:fillRect/>
          </a:stretch>
        </p:blipFill>
        <p:spPr>
          <a:xfrm>
            <a:off x="2993893" y="3275280"/>
            <a:ext cx="592631" cy="665197"/>
          </a:xfrm>
          <a:prstGeom prst="rect">
            <a:avLst/>
          </a:prstGeom>
        </p:spPr>
      </p:pic>
      <p:pic>
        <p:nvPicPr>
          <p:cNvPr id="17" name="map arrow r_0102" descr="s05-10-kinda-r8-10-r_0102.png"/>
          <p:cNvPicPr>
            <a:picLocks noChangeAspect="1"/>
          </p:cNvPicPr>
          <p:nvPr/>
        </p:nvPicPr>
        <p:blipFill>
          <a:blip r:embed="rId7"/>
          <a:stretch>
            <a:fillRect/>
          </a:stretch>
        </p:blipFill>
        <p:spPr>
          <a:xfrm>
            <a:off x="2312569" y="3275280"/>
            <a:ext cx="596662" cy="665197"/>
          </a:xfrm>
          <a:prstGeom prst="rect">
            <a:avLst/>
          </a:prstGeom>
        </p:spPr>
      </p:pic>
      <p:pic>
        <p:nvPicPr>
          <p:cNvPr id="18" name="map arrow r_0103" descr="s05-10-kinda-r8-10-r_0103.png"/>
          <p:cNvPicPr>
            <a:picLocks noChangeAspect="1"/>
          </p:cNvPicPr>
          <p:nvPr/>
        </p:nvPicPr>
        <p:blipFill>
          <a:blip r:embed="rId8"/>
          <a:stretch>
            <a:fillRect/>
          </a:stretch>
        </p:blipFill>
        <p:spPr>
          <a:xfrm>
            <a:off x="2042458" y="2956791"/>
            <a:ext cx="814363" cy="334614"/>
          </a:xfrm>
          <a:prstGeom prst="rect">
            <a:avLst/>
          </a:prstGeom>
        </p:spPr>
      </p:pic>
      <p:pic>
        <p:nvPicPr>
          <p:cNvPr id="19" name="map settlement s_0121" descr="s05-10-kinda-r6-8-s_0121.png"/>
          <p:cNvPicPr>
            <a:picLocks noChangeAspect="1"/>
          </p:cNvPicPr>
          <p:nvPr/>
        </p:nvPicPr>
        <p:blipFill>
          <a:blip r:embed="rId9"/>
          <a:stretch>
            <a:fillRect/>
          </a:stretch>
        </p:blipFill>
        <p:spPr>
          <a:xfrm>
            <a:off x="2320632" y="2904382"/>
            <a:ext cx="229795" cy="233827"/>
          </a:xfrm>
          <a:prstGeom prst="rect">
            <a:avLst/>
          </a:prstGeom>
        </p:spPr>
      </p:pic>
      <p:pic>
        <p:nvPicPr>
          <p:cNvPr id="20" name="map settlement s_0122" descr="s05-10-kinda-r6-8-s_0122.png"/>
          <p:cNvPicPr>
            <a:picLocks noChangeAspect="1"/>
          </p:cNvPicPr>
          <p:nvPr/>
        </p:nvPicPr>
        <p:blipFill>
          <a:blip r:embed="rId10"/>
          <a:stretch>
            <a:fillRect/>
          </a:stretch>
        </p:blipFill>
        <p:spPr>
          <a:xfrm>
            <a:off x="2836664" y="2614114"/>
            <a:ext cx="229795" cy="233827"/>
          </a:xfrm>
          <a:prstGeom prst="rect">
            <a:avLst/>
          </a:prstGeom>
        </p:spPr>
      </p:pic>
      <p:pic>
        <p:nvPicPr>
          <p:cNvPr id="21" name="map settlement s_0123" descr="s05-10-kinda-r6-8-s_0123.png"/>
          <p:cNvPicPr>
            <a:picLocks noChangeAspect="1"/>
          </p:cNvPicPr>
          <p:nvPr/>
        </p:nvPicPr>
        <p:blipFill>
          <a:blip r:embed="rId11"/>
          <a:stretch>
            <a:fillRect/>
          </a:stretch>
        </p:blipFill>
        <p:spPr>
          <a:xfrm>
            <a:off x="3384949" y="2880193"/>
            <a:ext cx="229795" cy="229795"/>
          </a:xfrm>
          <a:prstGeom prst="rect">
            <a:avLst/>
          </a:prstGeom>
        </p:spPr>
      </p:pic>
      <p:pic>
        <p:nvPicPr>
          <p:cNvPr id="22" name="map settlement s_0124" descr="s05-10-kinda-r6-8-s_0124.png"/>
          <p:cNvPicPr>
            <a:picLocks noChangeAspect="1"/>
          </p:cNvPicPr>
          <p:nvPr/>
        </p:nvPicPr>
        <p:blipFill>
          <a:blip r:embed="rId12"/>
          <a:stretch>
            <a:fillRect/>
          </a:stretch>
        </p:blipFill>
        <p:spPr>
          <a:xfrm>
            <a:off x="2514144" y="3541359"/>
            <a:ext cx="233827" cy="229795"/>
          </a:xfrm>
          <a:prstGeom prst="rect">
            <a:avLst/>
          </a:prstGeom>
        </p:spPr>
      </p:pic>
      <p:pic>
        <p:nvPicPr>
          <p:cNvPr id="23" name="map settlement s_0125" descr="s05-10-kinda-r6-8-s_0125.png"/>
          <p:cNvPicPr>
            <a:picLocks noChangeAspect="1"/>
          </p:cNvPicPr>
          <p:nvPr/>
        </p:nvPicPr>
        <p:blipFill>
          <a:blip r:embed="rId13"/>
          <a:stretch>
            <a:fillRect/>
          </a:stretch>
        </p:blipFill>
        <p:spPr>
          <a:xfrm>
            <a:off x="3155153" y="3488950"/>
            <a:ext cx="229795" cy="229795"/>
          </a:xfrm>
          <a:prstGeom prst="rect">
            <a:avLst/>
          </a:prstGeom>
        </p:spPr>
      </p:pic>
      <p:pic>
        <p:nvPicPr>
          <p:cNvPr id="24" name="map battle the four kings" descr="s05-10-kinda-r8-10-b_0129.png"/>
          <p:cNvPicPr>
            <a:picLocks noChangeAspect="1"/>
          </p:cNvPicPr>
          <p:nvPr/>
        </p:nvPicPr>
        <p:blipFill>
          <a:blip r:embed="rId14"/>
          <a:stretch>
            <a:fillRect/>
          </a:stretch>
        </p:blipFill>
        <p:spPr>
          <a:xfrm>
            <a:off x="2385136" y="2775374"/>
            <a:ext cx="1124789" cy="697449"/>
          </a:xfrm>
          <a:prstGeom prst="rect">
            <a:avLst/>
          </a:prstGeom>
        </p:spPr>
      </p:pic>
      <p:pic>
        <p:nvPicPr>
          <p:cNvPr id="25" name="map army Shuraḥbīl and his son" descr="s05-10-kinda-r6-8-a_0127.png"/>
          <p:cNvPicPr>
            <a:picLocks noChangeAspect="1"/>
          </p:cNvPicPr>
          <p:nvPr/>
        </p:nvPicPr>
        <p:blipFill>
          <a:blip r:embed="rId15"/>
          <a:stretch>
            <a:fillRect/>
          </a:stretch>
        </p:blipFill>
        <p:spPr>
          <a:xfrm>
            <a:off x="3856634" y="2795531"/>
            <a:ext cx="1209451" cy="572473"/>
          </a:xfrm>
          <a:prstGeom prst="rect">
            <a:avLst/>
          </a:prstGeom>
        </p:spPr>
      </p:pic>
      <p:pic>
        <p:nvPicPr>
          <p:cNvPr id="26" name="map label from five sides" descr="s05-10-kinda-r8-10-l_0128.png"/>
          <p:cNvPicPr>
            <a:picLocks noChangeAspect="1"/>
          </p:cNvPicPr>
          <p:nvPr/>
        </p:nvPicPr>
        <p:blipFill>
          <a:blip r:embed="rId16"/>
          <a:stretch>
            <a:fillRect/>
          </a:stretch>
        </p:blipFill>
        <p:spPr>
          <a:xfrm>
            <a:off x="1808631" y="1827971"/>
            <a:ext cx="1705326"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 — who had the numbers and the strength — from five directions."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pic>
        <p:nvPicPr>
          <p:cNvPr id="6" name="map" descr="s05-10-kinda-r10-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column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property and the captives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the other branch</a:t>
            </a:r>
          </a:p>
        </p:txBody>
      </p:sp>
      <p:pic>
        <p:nvPicPr>
          <p:cNvPr id="13" name="map arrow r_0104" descr="s05-10-kinda-r10-13-r_0104.png"/>
          <p:cNvPicPr>
            <a:picLocks noChangeAspect="1"/>
          </p:cNvPicPr>
          <p:nvPr/>
        </p:nvPicPr>
        <p:blipFill>
          <a:blip r:embed="rId3"/>
          <a:stretch>
            <a:fillRect/>
          </a:stretch>
        </p:blipFill>
        <p:spPr>
          <a:xfrm>
            <a:off x="3058397" y="3412351"/>
            <a:ext cx="1096568" cy="911119"/>
          </a:xfrm>
          <a:prstGeom prst="rect">
            <a:avLst/>
          </a:prstGeom>
        </p:spPr>
      </p:pic>
      <p:pic>
        <p:nvPicPr>
          <p:cNvPr id="14" name="map arrow r_0105" descr="s05-10-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5" name="map army the captives" descr="s05-10-kinda-r10-13-a_0130.png"/>
          <p:cNvPicPr>
            <a:picLocks noChangeAspect="1"/>
          </p:cNvPicPr>
          <p:nvPr/>
        </p:nvPicPr>
        <p:blipFill>
          <a:blip r:embed="rId5"/>
          <a:stretch>
            <a:fillRect/>
          </a:stretch>
        </p:blipFill>
        <p:spPr>
          <a:xfrm>
            <a:off x="3925170" y="3892100"/>
            <a:ext cx="1104631" cy="427339"/>
          </a:xfrm>
          <a:prstGeom prst="rect">
            <a:avLst/>
          </a:prstGeom>
        </p:spPr>
      </p:pic>
      <p:pic>
        <p:nvPicPr>
          <p:cNvPr id="16" name="map army al-Ashʿath b. Qays" descr="s05-10-kinda-r10-13-a_0131.png"/>
          <p:cNvPicPr>
            <a:picLocks noChangeAspect="1"/>
          </p:cNvPicPr>
          <p:nvPr/>
        </p:nvPicPr>
        <p:blipFill>
          <a:blip r:embed="rId6"/>
          <a:stretch>
            <a:fillRect/>
          </a:stretch>
        </p:blipFill>
        <p:spPr>
          <a:xfrm>
            <a:off x="3735689" y="4275093"/>
            <a:ext cx="1290081" cy="818395"/>
          </a:xfrm>
          <a:prstGeom prst="rect">
            <a:avLst/>
          </a:prstGeom>
        </p:spPr>
      </p:pic>
      <p:pic>
        <p:nvPicPr>
          <p:cNvPr id="17" name="map label the captives taken back" descr="s05-10-kinda-r10-13-l_0132.png"/>
          <p:cNvPicPr>
            <a:picLocks noChangeAspect="1"/>
          </p:cNvPicPr>
          <p:nvPr/>
        </p:nvPicPr>
        <p:blipFill>
          <a:blip r:embed="rId7"/>
          <a:stretch>
            <a:fillRect/>
          </a:stretch>
        </p:blipFill>
        <p:spPr>
          <a:xfrm>
            <a:off x="3864697" y="4944322"/>
            <a:ext cx="2636603"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97 -0.1136 L -0.0375 -0.0501 L 0.0000 0.0000 L 0 0 E" pathEditMode="relative" rAng="0" ptsTypes="">
                                      <p:cBhvr>
                                        <p:cTn id="8" dur="16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xit" presetSubtype="0" fill="hold" grpId="0"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22" presetID="22" presetClass="entr" presetSubtype="4"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down)">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pic>
        <p:nvPicPr>
          <p:cNvPr id="6" name="map" descr="s05-10-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137" descr="s05-10-kinda-r13-16-t_0137.png"/>
          <p:cNvPicPr>
            <a:picLocks noChangeAspect="1"/>
          </p:cNvPicPr>
          <p:nvPr/>
        </p:nvPicPr>
        <p:blipFill>
          <a:blip r:embed="rId3"/>
          <a:stretch>
            <a:fillRect/>
          </a:stretch>
        </p:blipFill>
        <p:spPr>
          <a:xfrm>
            <a:off x="3840508" y="3867911"/>
            <a:ext cx="507969" cy="657134"/>
          </a:xfrm>
          <a:prstGeom prst="rect">
            <a:avLst/>
          </a:prstGeom>
        </p:spPr>
      </p:pic>
      <p:pic>
        <p:nvPicPr>
          <p:cNvPr id="17" name="map arrow r_0105" descr="s05-10-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8" name="map arrow r_0106" descr="s05-10-kinda-r13-16-r_0106.png"/>
          <p:cNvPicPr>
            <a:picLocks noChangeAspect="1"/>
          </p:cNvPicPr>
          <p:nvPr/>
        </p:nvPicPr>
        <p:blipFill>
          <a:blip r:embed="rId5"/>
          <a:stretch>
            <a:fillRect/>
          </a:stretch>
        </p:blipFill>
        <p:spPr>
          <a:xfrm>
            <a:off x="566928" y="4343628"/>
            <a:ext cx="5095820" cy="874836"/>
          </a:xfrm>
          <a:prstGeom prst="rect">
            <a:avLst/>
          </a:prstGeom>
        </p:spPr>
      </p:pic>
      <p:pic>
        <p:nvPicPr>
          <p:cNvPr id="19" name="map arrow r_0107" descr="s05-10-kinda-r13-16-r_0107.png"/>
          <p:cNvPicPr>
            <a:picLocks noChangeAspect="1"/>
          </p:cNvPicPr>
          <p:nvPr/>
        </p:nvPicPr>
        <p:blipFill>
          <a:blip r:embed="rId6"/>
          <a:stretch>
            <a:fillRect/>
          </a:stretch>
        </p:blipFill>
        <p:spPr>
          <a:xfrm>
            <a:off x="3602650" y="4424258"/>
            <a:ext cx="1870617" cy="499906"/>
          </a:xfrm>
          <a:prstGeom prst="rect">
            <a:avLst/>
          </a:prstGeom>
        </p:spPr>
      </p:pic>
      <p:pic>
        <p:nvPicPr>
          <p:cNvPr id="20" name="map arrow r_0108" descr="s05-10-kinda-r13-16-r_0108.png"/>
          <p:cNvPicPr>
            <a:picLocks noChangeAspect="1"/>
          </p:cNvPicPr>
          <p:nvPr/>
        </p:nvPicPr>
        <p:blipFill>
          <a:blip r:embed="rId7"/>
          <a:stretch>
            <a:fillRect/>
          </a:stretch>
        </p:blipFill>
        <p:spPr>
          <a:xfrm>
            <a:off x="566928" y="3771155"/>
            <a:ext cx="3265517" cy="1620664"/>
          </a:xfrm>
          <a:prstGeom prst="rect">
            <a:avLst/>
          </a:prstGeom>
        </p:spPr>
      </p:pic>
      <p:pic>
        <p:nvPicPr>
          <p:cNvPr id="21" name="map settlement al-Nujayr" descr="s05-10-kinda-r13-16-s_0136.png"/>
          <p:cNvPicPr>
            <a:picLocks noChangeAspect="1"/>
          </p:cNvPicPr>
          <p:nvPr/>
        </p:nvPicPr>
        <p:blipFill>
          <a:blip r:embed="rId8"/>
          <a:stretch>
            <a:fillRect/>
          </a:stretch>
        </p:blipFill>
        <p:spPr>
          <a:xfrm>
            <a:off x="3937265" y="4049329"/>
            <a:ext cx="1028033" cy="262047"/>
          </a:xfrm>
          <a:prstGeom prst="rect">
            <a:avLst/>
          </a:prstGeom>
        </p:spPr>
      </p:pic>
      <p:pic>
        <p:nvPicPr>
          <p:cNvPr id="22" name="map battle Maḥjar al-Zurqān" descr="s05-10-kinda-r13-16-b_0135.png"/>
          <p:cNvPicPr>
            <a:picLocks noChangeAspect="1"/>
          </p:cNvPicPr>
          <p:nvPr/>
        </p:nvPicPr>
        <p:blipFill>
          <a:blip r:embed="rId9"/>
          <a:stretch>
            <a:fillRect/>
          </a:stretch>
        </p:blipFill>
        <p:spPr>
          <a:xfrm>
            <a:off x="2727813" y="4408132"/>
            <a:ext cx="1406994" cy="721638"/>
          </a:xfrm>
          <a:prstGeom prst="rect">
            <a:avLst/>
          </a:prstGeom>
        </p:spPr>
      </p:pic>
      <p:pic>
        <p:nvPicPr>
          <p:cNvPr id="23" name="map army Ḥaḍramawt, al-Sakūn" descr="s05-10-kinda-r3-6-a_0116.png"/>
          <p:cNvPicPr>
            <a:picLocks noChangeAspect="1"/>
          </p:cNvPicPr>
          <p:nvPr/>
        </p:nvPicPr>
        <p:blipFill>
          <a:blip r:embed="rId10"/>
          <a:stretch>
            <a:fillRect/>
          </a:stretch>
        </p:blipFill>
        <p:spPr>
          <a:xfrm>
            <a:off x="4703250" y="3327690"/>
            <a:ext cx="1846428" cy="483780"/>
          </a:xfrm>
          <a:prstGeom prst="rect">
            <a:avLst/>
          </a:prstGeom>
        </p:spPr>
      </p:pic>
      <p:pic>
        <p:nvPicPr>
          <p:cNvPr id="24" name="map army al-Ashʿath b. Qays" descr="s05-10-kinda-r10-13-a_0131.png"/>
          <p:cNvPicPr>
            <a:picLocks noChangeAspect="1"/>
          </p:cNvPicPr>
          <p:nvPr/>
        </p:nvPicPr>
        <p:blipFill>
          <a:blip r:embed="rId11"/>
          <a:stretch>
            <a:fillRect/>
          </a:stretch>
        </p:blipFill>
        <p:spPr>
          <a:xfrm>
            <a:off x="3735689" y="4275093"/>
            <a:ext cx="1290081" cy="818395"/>
          </a:xfrm>
          <a:prstGeom prst="rect">
            <a:avLst/>
          </a:prstGeom>
        </p:spPr>
      </p:pic>
      <p:pic>
        <p:nvPicPr>
          <p:cNvPr id="25" name="map army al-Muhājir ؓ" descr="s05-10-kinda-r13-16-a_0133.png"/>
          <p:cNvPicPr>
            <a:picLocks noChangeAspect="1"/>
          </p:cNvPicPr>
          <p:nvPr/>
        </p:nvPicPr>
        <p:blipFill>
          <a:blip r:embed="rId12"/>
          <a:stretch>
            <a:fillRect/>
          </a:stretch>
        </p:blipFill>
        <p:spPr>
          <a:xfrm>
            <a:off x="5231377" y="3843722"/>
            <a:ext cx="770017" cy="665197"/>
          </a:xfrm>
          <a:prstGeom prst="rect">
            <a:avLst/>
          </a:prstGeom>
        </p:spPr>
      </p:pic>
      <p:pic>
        <p:nvPicPr>
          <p:cNvPr id="26" name="map army ʿIkrima ؓ" descr="s05-10-kinda-r13-16-a_0138.png"/>
          <p:cNvPicPr>
            <a:picLocks noChangeAspect="1"/>
          </p:cNvPicPr>
          <p:nvPr/>
        </p:nvPicPr>
        <p:blipFill>
          <a:blip r:embed="rId13"/>
          <a:stretch>
            <a:fillRect/>
          </a:stretch>
        </p:blipFill>
        <p:spPr>
          <a:xfrm>
            <a:off x="3501862" y="3234965"/>
            <a:ext cx="580536" cy="669229"/>
          </a:xfrm>
          <a:prstGeom prst="rect">
            <a:avLst/>
          </a:prstGeom>
        </p:spPr>
      </p:pic>
      <p:pic>
        <p:nvPicPr>
          <p:cNvPr id="27" name="map label the captives taken back" descr="s05-10-kinda-r10-13-l_0132.png"/>
          <p:cNvPicPr>
            <a:picLocks noChangeAspect="1"/>
          </p:cNvPicPr>
          <p:nvPr/>
        </p:nvPicPr>
        <p:blipFill>
          <a:blip r:embed="rId14"/>
          <a:stretch>
            <a:fillRect/>
          </a:stretch>
        </p:blipFill>
        <p:spPr>
          <a:xfrm>
            <a:off x="3864697" y="4944322"/>
            <a:ext cx="2636603" cy="302362"/>
          </a:xfrm>
          <a:prstGeom prst="rect">
            <a:avLst/>
          </a:prstGeom>
        </p:spPr>
      </p:pic>
      <p:pic>
        <p:nvPicPr>
          <p:cNvPr id="28" name="map label from Ṣanʿāʾ" descr="s05-10-kinda-r13-16-l_0134.png"/>
          <p:cNvPicPr>
            <a:picLocks noChangeAspect="1"/>
          </p:cNvPicPr>
          <p:nvPr/>
        </p:nvPicPr>
        <p:blipFill>
          <a:blip r:embed="rId15"/>
          <a:stretch>
            <a:fillRect/>
          </a:stretch>
        </p:blipFill>
        <p:spPr>
          <a:xfrm>
            <a:off x="1405480" y="5339410"/>
            <a:ext cx="1350553"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2" fill="hold">
                      <p:stCondLst>
                        <p:cond delay="indefinite"/>
                      </p:stCondLst>
                      <p:childTnLst>
                        <p:par>
                          <p:cTn id="23"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5076 0.0320 L -0.3020 0.1001 L 0.0000 0.0000 L 0 0 E" pathEditMode="relative" rAng="0" ptsTypes="">
                                      <p:cBhvr>
                                        <p:cTn id="14" dur="1600" fill="hold"/>
                                        <p:tgtEl>
                                          <p:spTgt spid="25"/>
                                        </p:tgtEl>
                                        <p:attrNameLst>
                                          <p:attrName>ppt_x</p:attrName>
                                          <p:attrName>ppt_y</p:attrName>
                                        </p:attrNameLst>
                                      </p:cBhvr>
                                    </p:animMotion>
                                  </p:childTnLst>
                                </p:cTn>
                              </p:par>
                              <p:par>
                                <p:cTn id="18" presetID="10" presetClass="exit" presetSubtype="0" fill="hold" grpId="0" nodeType="withEffect">
                                  <p:stCondLst>
                                    <p:cond delay="0"/>
                                  </p:stCondLst>
                                  <p:childTnLst>
                                    <p:animEffect transition="out" filter="fade">
                                      <p:cBhvr>
                                        <p:cTn id="16" dur="600"/>
                                        <p:tgtEl>
                                          <p:spTgt spid="27"/>
                                        </p:tgtEl>
                                      </p:cBhvr>
                                    </p:animEffect>
                                    <p:set>
                                      <p:cBhvr>
                                        <p:cTn id="17" dur="1" fill="hold">
                                          <p:stCondLst>
                                            <p:cond delay="599"/>
                                          </p:stCondLst>
                                        </p:cTn>
                                        <p:tgtEl>
                                          <p:spTgt spid="27"/>
                                        </p:tgtEl>
                                        <p:attrNameLst>
                                          <p:attrName>style.visibility</p:attrName>
                                        </p:attrNameLst>
                                      </p:cBhvr>
                                      <p:to>
                                        <p:strVal val="hidden"/>
                                      </p:to>
                                    </p:set>
                                  </p:childTnLst>
                                </p:cTn>
                              </p:par>
                              <p:par>
                                <p:cTn id="21"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600"/>
                                        <p:tgtEl>
                                          <p:spTgt spid="28"/>
                                        </p:tgtEl>
                                      </p:cBhvr>
                                    </p:animEffect>
                                  </p:childTnLst>
                                </p:cTn>
                              </p:par>
                            </p:childTnLst>
                          </p:cTn>
                        </p:par>
                      </p:childTnLst>
                    </p:cTn>
                  </p:par>
                  <p:par>
                    <p:cTn id="33" fill="hold">
                      <p:stCondLst>
                        <p:cond delay="indefinite"/>
                      </p:stCondLst>
                      <p:childTnLst>
                        <p:par>
                          <p:cTn id="34"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p:tgtEl>
                                          <p:spTgt spid="22"/>
                                        </p:tgtEl>
                                      </p:cBhvr>
                                    </p:animEffect>
                                  </p:childTnLst>
                                </p:cTn>
                              </p:par>
                              <p:par>
                                <p:cTn id="32" presetID="10" presetClass="exit" presetSubtype="0" fill="hold" grpId="0" nodeType="withEffect">
                                  <p:stCondLst>
                                    <p:cond delay="0"/>
                                  </p:stCondLst>
                                  <p:childTnLst>
                                    <p:animEffect transition="out" filter="fade">
                                      <p:cBhvr>
                                        <p:cTn id="30" dur="600"/>
                                        <p:tgtEl>
                                          <p:spTgt spid="24"/>
                                        </p:tgtEl>
                                      </p:cBhvr>
                                    </p:animEffect>
                                    <p:set>
                                      <p:cBhvr>
                                        <p:cTn id="31" dur="1" fill="hold">
                                          <p:stCondLst>
                                            <p:cond delay="599"/>
                                          </p:stCondLst>
                                        </p:cTn>
                                        <p:tgtEl>
                                          <p:spTgt spid="24"/>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37"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600"/>
                                        <p:tgtEl>
                                          <p:spTgt spid="16"/>
                                        </p:tgtEl>
                                      </p:cBhvr>
                                    </p:animEffect>
                                  </p:childTnLst>
                                </p:cTn>
                              </p:par>
                              <p:par>
                                <p:cTn id="40" presetID="10" presetClass="exit" presetSubtype="0" fill="hold" grpId="0" nodeType="withEffect">
                                  <p:stCondLst>
                                    <p:cond delay="0"/>
                                  </p:stCondLst>
                                  <p:childTnLst>
                                    <p:animEffect transition="out" filter="fade">
                                      <p:cBhvr>
                                        <p:cTn id="38" dur="600"/>
                                        <p:tgtEl>
                                          <p:spTgt spid="19"/>
                                        </p:tgtEl>
                                      </p:cBhvr>
                                    </p:animEffect>
                                    <p:set>
                                      <p:cBhvr>
                                        <p:cTn id="39" dur="1" fill="hold">
                                          <p:stCondLst>
                                            <p:cond delay="599"/>
                                          </p:stCondLst>
                                        </p:cTn>
                                        <p:tgtEl>
                                          <p:spTgt spid="19"/>
                                        </p:tgtEl>
                                        <p:attrNameLst>
                                          <p:attrName>style.visibility</p:attrName>
                                        </p:attrNameLst>
                                      </p:cBhvr>
                                      <p:to>
                                        <p:strVal val="hidden"/>
                                      </p:to>
                                    </p:set>
                                  </p:childTnLst>
                                </p:cTn>
                              </p:par>
                              <p:par>
                                <p:cTn id="43" presetID="22" presetClass="entr" presetSubtype="8"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wipe(left)">
                                      <p:cBhvr>
                                        <p:cTn id="42" dur="1600"/>
                                        <p:tgtEl>
                                          <p:spTgt spid="20"/>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600"/>
                                        <p:tgtEl>
                                          <p:spTgt spid="21"/>
                                        </p:tgtEl>
                                      </p:cBhvr>
                                    </p:animEffect>
                                  </p:childTnLst>
                                </p:cTn>
                              </p:par>
                              <p:par>
                                <p:cTn id="48" presetID="1"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childTnLst>
                                </p:cTn>
                              </p:par>
                              <p:par>
                                <p:cTn id="50" presetID="0" presetClass="path" presetSubtype="0" fill="hold" grpId="0" nodeType="withEffect">
                                  <p:stCondLst>
                                    <p:cond delay="0"/>
                                  </p:stCondLst>
                                  <p:childTnLst>
                                    <p:animMotion origin="layout" path="M -0.3576 0.1205 L -0.1613 0.2175 L -0.0675 0.0693 L 0.0000 0.0000 L 0 0 E" pathEditMode="relative" rAng="0" ptsTypes="">
                                      <p:cBhvr>
                                        <p:cTn id="49" dur="1600" fill="hold"/>
                                        <p:tgtEl>
                                          <p:spTgt spid="26"/>
                                        </p:tgtEl>
                                        <p:attrNameLst>
                                          <p:attrName>ppt_x</p:attrName>
                                          <p:attrName>ppt_y</p:attrName>
                                        </p:attrNameLst>
                                      </p:cBhvr>
                                    </p:animMotion>
                                  </p:childTnLst>
                                </p:cTn>
                              </p:par>
                              <p:par>
                                <p:cTn id="53" presetID="10" presetClass="exit" presetSubtype="0" fill="hold" grpId="0" nodeType="withEffect">
                                  <p:stCondLst>
                                    <p:cond delay="0"/>
                                  </p:stCondLst>
                                  <p:childTnLst>
                                    <p:animEffect transition="out" filter="fade">
                                      <p:cBhvr>
                                        <p:cTn id="51" dur="600"/>
                                        <p:tgtEl>
                                          <p:spTgt spid="28"/>
                                        </p:tgtEl>
                                      </p:cBhvr>
                                    </p:animEffect>
                                    <p:set>
                                      <p:cBhvr>
                                        <p:cTn id="52" dur="1" fill="hold">
                                          <p:stCondLst>
                                            <p:cond delay="599"/>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and Jaḥdam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 Jaḥdam leapt at him with a knife and said: Will you write me in, or shall I kill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2.trim.png"/>
          <p:cNvPicPr>
            <a:picLocks noChangeAspect="1"/>
          </p:cNvPicPr>
          <p:nvPr/>
        </p:nvPicPr>
        <p:blipFill>
          <a:blip r:embed="rId2"/>
          <a:stretch>
            <a:fillRect/>
          </a:stretch>
        </p:blipFill>
        <p:spPr>
          <a:xfrm>
            <a:off x="1327445" y="1389888"/>
            <a:ext cx="9536804" cy="4956048"/>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opened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bonds, for Medina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and after (12 AH → years later)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al-Ashʿath, at Medina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 document was sealed, only on those named in it; before that you were only negotiating."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 This man has married his sister to me, and had we been in our own…"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 ʿAmr b. Maʿdī Karib ؓ ·…</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 them we found nothing to match their trustworthiness…"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and Jarīr b. ʿAbd Allāh ؓ</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3.trim.png"/>
          <p:cNvPicPr>
            <a:picLocks noChangeAspect="1"/>
          </p:cNvPicPr>
          <p:nvPr/>
        </p:nvPicPr>
        <p:blipFill>
          <a:blip r:embed="rId2"/>
          <a:stretch>
            <a:fillRect/>
          </a:stretch>
        </p:blipFill>
        <p:spPr>
          <a:xfrm>
            <a:off x="2371316" y="1389888"/>
            <a:ext cx="7449063" cy="4956048"/>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Every front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One man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who came back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Who did not break away (11 AH)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year, looked at sideways</a:t>
            </a:r>
          </a:p>
        </p:txBody>
      </p:sp>
      <p:sp>
        <p:nvSpPr>
          <p:cNvPr id="6" name="card0"/>
          <p:cNvSpPr/>
          <p:nvPr/>
        </p:nvSpPr>
        <p:spPr>
          <a:xfrm>
            <a:off x="566928"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every front, one after another</a:t>
            </a:r>
          </a:p>
        </p:txBody>
      </p:sp>
      <p:sp>
        <p:nvSpPr>
          <p:cNvPr id="10" name="card1"/>
          <p:cNvSpPr/>
          <p:nvPr/>
        </p:nvSpPr>
        <p:spPr>
          <a:xfrm>
            <a:off x="4332122"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same months — and who did not break at all</a:t>
            </a:r>
          </a:p>
        </p:txBody>
      </p:sp>
      <p:sp>
        <p:nvSpPr>
          <p:cNvPr id="14" name="card2"/>
          <p:cNvSpPr/>
          <p:nvPr/>
        </p:nvSpPr>
        <p:spPr>
          <a:xfrm>
            <a:off x="8097316"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question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made the difference?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delegation was in …</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at al-Ṭāʾif</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وقد كانت ثقيفُ بالطائف ثَبَتوا على الإسلام، لم يفرُّوا ولا ارتدّوا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 did not flee and they did not apostatise."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Najrān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أَرْسَلُوا وَفْدًا لِيُجَدِّدُوا عَهْدَهُمْ مَعَ أَبِي بَكْرٍ، فَكَتَبَ بِذَلِكَ كِتَابًا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sent a delegation to renew their covenant with Abū Bakr, and he wrote a document to that effect."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Banū Tamīm — three answers</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 the ridda: some of them apostatised and withheld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from the other side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أطعنَا رسولَ اللهِ إذْ كانَ بَيْننا … فواعَجَبًا ما بَالُ مُلْكِ أبي بَكْرِ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obeyed the Messenger of Allah while he was among us — so how strange: what is this about the rule of Abū Bakr?"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 Medina, and Oman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 Laqīṭ b. Mālik al-Azdī — who used to be called al-Julandā in the Jāhiliyya — and he too claimed prophethood."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last word (12 AH)</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Kathīr, on the whole war</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looking back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Ibn al-Athīr opens his whole account of the Ridda not with an event but with a Companion's verdict on it. ʿAbd Allāh b. Masʿūd ؓ says that after the Messenger…. Landscape, archite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In a single sitting at Dhū al-Qaṣṣa, one day's ride from Medina, Abū Bakr ؓ tied eleven banners and gave each commander a region. The two books disagree on the…. Landscape, archit</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arrows out of…</a:t>
            </a:r>
          </a:p>
        </p:txBody>
      </p:sp>
      <p:sp>
        <p:nvSpPr>
          <p:cNvPr id="11" name="TextBox 10"/>
          <p:cNvSpPr txBox="1"/>
          <p:nvPr/>
        </p:nvSpPr>
        <p:spPr>
          <a:xfrm>
            <a:off x="7713695" y="2340864"/>
            <a:ext cx="3911072" cy="38862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a single sitting at Dhū al-Qaṣṣa, one…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4.trim.png"/>
          <p:cNvPicPr>
            <a:picLocks noChangeAspect="1"/>
          </p:cNvPicPr>
          <p:nvPr/>
        </p:nvPicPr>
        <p:blipFill>
          <a:blip r:embed="rId2"/>
          <a:stretch>
            <a:fillRect/>
          </a:stretch>
        </p:blipFill>
        <p:spPr>
          <a:xfrm>
            <a:off x="2414272" y="1389888"/>
            <a:ext cx="7363151" cy="4956048"/>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Ridda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whole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banners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every sector settled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in ʿUmar's ؓ caliphate —…</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 the captives bought back</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 shameful thing for the Arabs that some of them should own others."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cp4.trim.png"/>
          <p:cNvPicPr>
            <a:picLocks noChangeAspect="1"/>
          </p:cNvPicPr>
          <p:nvPr/>
        </p:nvPicPr>
        <p:blipFill>
          <a:blip r:embed="rId2"/>
          <a:stretch>
            <a:fillRect/>
          </a:stretch>
        </p:blipFill>
        <p:spPr>
          <a:xfrm>
            <a:off x="2414272" y="1389888"/>
            <a:ext cx="7363151" cy="4956048"/>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Tonight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two fronts, and the whole war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Next week</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other side of the desert</a:t>
            </a:r>
          </a:p>
        </p:txBody>
      </p:sp>
      <p:pic>
        <p:nvPicPr>
          <p:cNvPr id="13" name="map territory t_0146" descr="s06-arabia-r1-4-t_0146.png"/>
          <p:cNvPicPr>
            <a:picLocks noChangeAspect="1"/>
          </p:cNvPicPr>
          <p:nvPr/>
        </p:nvPicPr>
        <p:blipFill>
          <a:blip r:embed="rId3"/>
          <a:stretch>
            <a:fillRect/>
          </a:stretch>
        </p:blipFill>
        <p:spPr>
          <a:xfrm>
            <a:off x="4380730" y="2396412"/>
            <a:ext cx="540221" cy="870804"/>
          </a:xfrm>
          <a:prstGeom prst="rect">
            <a:avLst/>
          </a:prstGeom>
        </p:spPr>
      </p:pic>
      <p:pic>
        <p:nvPicPr>
          <p:cNvPr id="14" name="map territory t_0152" descr="s06-arabia-r1-4-t_0152.png"/>
          <p:cNvPicPr>
            <a:picLocks noChangeAspect="1"/>
          </p:cNvPicPr>
          <p:nvPr/>
        </p:nvPicPr>
        <p:blipFill>
          <a:blip r:embed="rId4"/>
          <a:stretch>
            <a:fillRect/>
          </a:stretch>
        </p:blipFill>
        <p:spPr>
          <a:xfrm>
            <a:off x="4219470" y="4718558"/>
            <a:ext cx="971592" cy="737765"/>
          </a:xfrm>
          <a:prstGeom prst="rect">
            <a:avLst/>
          </a:prstGeom>
        </p:spPr>
      </p:pic>
      <p:pic>
        <p:nvPicPr>
          <p:cNvPr id="15" name="map territory t_0157" descr="s06-arabia-r1-4-t_0157.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b_s06_1" descr="s06-arabia-r1-4-tb_s06_1.png"/>
          <p:cNvPicPr>
            <a:picLocks noChangeAspect="1"/>
          </p:cNvPicPr>
          <p:nvPr/>
        </p:nvPicPr>
        <p:blipFill>
          <a:blip r:embed="rId6"/>
          <a:stretch>
            <a:fillRect/>
          </a:stretch>
        </p:blipFill>
        <p:spPr>
          <a:xfrm>
            <a:off x="4380730" y="2396412"/>
            <a:ext cx="540221" cy="870804"/>
          </a:xfrm>
          <a:prstGeom prst="rect">
            <a:avLst/>
          </a:prstGeom>
        </p:spPr>
      </p:pic>
      <p:pic>
        <p:nvPicPr>
          <p:cNvPr id="17" name="map label right and left" descr="s06-arabia-r1-4-l_s06_18.png"/>
          <p:cNvPicPr>
            <a:picLocks noChangeAspect="1"/>
          </p:cNvPicPr>
          <p:nvPr/>
        </p:nvPicPr>
        <p:blipFill>
          <a:blip r:embed="rId7"/>
          <a:stretch>
            <a:fillRect/>
          </a:stretch>
        </p:blipFill>
        <p:spPr>
          <a:xfrm>
            <a:off x="4175123" y="2327877"/>
            <a:ext cx="362835" cy="141102"/>
          </a:xfrm>
          <a:prstGeom prst="rect">
            <a:avLst/>
          </a:prstGeom>
        </p:spPr>
      </p:pic>
      <p:pic>
        <p:nvPicPr>
          <p:cNvPr id="18" name="map label settled" descr="s06-arabia-r1-4-l_s06_19.png"/>
          <p:cNvPicPr>
            <a:picLocks noChangeAspect="1"/>
          </p:cNvPicPr>
          <p:nvPr/>
        </p:nvPicPr>
        <p:blipFill>
          <a:blip r:embed="rId8"/>
          <a:stretch>
            <a:fillRect/>
          </a:stretch>
        </p:blipFill>
        <p:spPr>
          <a:xfrm>
            <a:off x="4961266" y="2682649"/>
            <a:ext cx="237858" cy="129008"/>
          </a:xfrm>
          <a:prstGeom prst="rect">
            <a:avLst/>
          </a:prstGeom>
        </p:spPr>
      </p:pic>
      <p:pic>
        <p:nvPicPr>
          <p:cNvPr id="19" name="map label the last front, taken" descr="s06-arabia-r1-4-l_s06_20.png"/>
          <p:cNvPicPr>
            <a:picLocks noChangeAspect="1"/>
          </p:cNvPicPr>
          <p:nvPr/>
        </p:nvPicPr>
        <p:blipFill>
          <a:blip r:embed="rId9"/>
          <a:stretch>
            <a:fillRect/>
          </a:stretch>
        </p:blipFill>
        <p:spPr>
          <a:xfrm>
            <a:off x="4707282" y="5097519"/>
            <a:ext cx="512000" cy="141102"/>
          </a:xfrm>
          <a:prstGeom prst="rect">
            <a:avLst/>
          </a:prstGeom>
        </p:spPr>
      </p:pic>
      <p:pic>
        <p:nvPicPr>
          <p:cNvPr id="20" name="map label one colour" descr="s06-arabia-r1-4-l_s06_21.png"/>
          <p:cNvPicPr>
            <a:picLocks noChangeAspect="1"/>
          </p:cNvPicPr>
          <p:nvPr/>
        </p:nvPicPr>
        <p:blipFill>
          <a:blip r:embed="rId10"/>
          <a:stretch>
            <a:fillRect/>
          </a:stretch>
        </p:blipFill>
        <p:spPr>
          <a:xfrm>
            <a:off x="4171092" y="2331908"/>
            <a:ext cx="330583" cy="1290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600"/>
                                        <p:tgtEl>
                                          <p:spTgt spid="18"/>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xit" presetSubtype="0" fill="hold" grpId="0" nodeType="click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600"/>
                                        <p:tgtEl>
                                          <p:spTgt spid="15"/>
                                        </p:tgtEl>
                                      </p:cBhvr>
                                    </p:animEffect>
                                  </p:childTnLst>
                                </p:cTn>
                              </p:par>
                              <p:par>
                                <p:cTn id="25" presetID="10" presetClass="exit" presetSubtype="0" fill="hold" grpId="0" nodeType="withEffect">
                                  <p:stCondLst>
                                    <p:cond delay="0"/>
                                  </p:stCondLst>
                                  <p:childTnLst>
                                    <p:animEffect transition="out" filter="fade">
                                      <p:cBhvr>
                                        <p:cTn id="23" dur="600"/>
                                        <p:tgtEl>
                                          <p:spTgt spid="18"/>
                                        </p:tgtEl>
                                      </p:cBhvr>
                                    </p:animEffect>
                                    <p:set>
                                      <p:cBhvr>
                                        <p:cTn id="24" dur="1" fill="hold">
                                          <p:stCondLst>
                                            <p:cond delay="599"/>
                                          </p:stCondLst>
                                        </p:cTn>
                                        <p:tgtEl>
                                          <p:spTgt spid="18"/>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6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3" presetID="10" presetClass="exit" presetSubtype="0" fill="hold" grpId="0" nodeType="clickEffect">
                                  <p:stCondLst>
                                    <p:cond delay="0"/>
                                  </p:stCondLst>
                                  <p:childTnLst>
                                    <p:animEffect transition="out" filter="fade">
                                      <p:cBhvr>
                                        <p:cTn id="31" dur="600"/>
                                        <p:tgtEl>
                                          <p:spTgt spid="19"/>
                                        </p:tgtEl>
                                      </p:cBhvr>
                                    </p:animEffect>
                                    <p:set>
                                      <p:cBhvr>
                                        <p:cTn id="32" dur="1" fill="hold">
                                          <p:stCondLst>
                                            <p:cond delay="599"/>
                                          </p:stCondLst>
                                        </p:cTn>
                                        <p:tgtEl>
                                          <p:spTgt spid="19"/>
                                        </p:tgtEl>
                                        <p:attrNameLst>
                                          <p:attrName>style.visibility</p:attrName>
                                        </p:attrNameLst>
                                      </p:cBhvr>
                                      <p:to>
                                        <p:strVal val="hidden"/>
                                      </p:to>
                                    </p:set>
                                  </p:childTnLst>
                                </p:cTn>
                              </p:par>
                              <p:par>
                                <p:cTn id="36" presetID="10"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Right and left</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front that started first</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last front</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man who came back</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What the whole of it was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Traditional Arabic"/>
              </a:rPr>
              <a:t>Two years after the Prophet ﷺ died, every man in Arabia was on the same side. There were two empires on the other side of the desert. Did either of them know?</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Why it did not break again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Khaldūn — as he reads it</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