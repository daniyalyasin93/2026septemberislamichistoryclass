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ATA/E-TB01 · Arabia was a map of kin, not a map of provinces</a:t>
            </a:r>
          </a:p>
          <a:p>
            <a:r>
              <a:t>Tier: CORE   When: ۱۱ھ, before any arrow is drawn `[SOURCED]`</a:t>
            </a:r>
          </a:p>
          <a:p/>
          <a:p>
            <a:r>
              <a:t>Ibn Kathīr never once names a province of Arabia. He names tribes, and the men who led them. His genealogy of the whole peninsula runs back to two ancestors and no more. From ʿAdnān come the Arabs of the Ḥijāz and Najd, and Quraysh are of them. From Qaḥṭān come the Arabs of Yemen, and the Anṣār are of them. So if you had asked a man in that country who he was, the answer would have been a line of fathers, not a place on a map.</a:t>
            </a:r>
          </a:p>
          <a:p/>
          <a:p>
            <a:r>
              <a:t>MAP: The whole</a:t>
            </a:r>
          </a:p>
          <a:p/>
          <a:p>
            <a:r>
              <a:t>عبرت: The unit of that country was the line of fathers, and everything that happened next has to</a:t>
            </a:r>
          </a:p>
          <a:p/>
          <a:p>
            <a:r>
              <a:t>HANDS UP: Before telling it: *"If you had asked a man in Arabia that year where he was from,</a:t>
            </a:r>
          </a:p>
          <a:p/>
          <a:p>
            <a:r>
              <a:t>Source: البدایہ والنہایہ ج۲ ص۴۷۵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ATA/E-TB02 · Ten sons of Sabaʾ, in the Prophet's ﷺ own words</a:t>
            </a:r>
          </a:p>
          <a:p>
            <a:r>
              <a:t>Tier: CORE   When: n/a — this is the frame `[SOURCED]`</a:t>
            </a:r>
          </a:p>
          <a:p/>
          <a:p>
            <a:r>
              <a:t>A man asked the Prophet ﷺ about Sabaʾ — was it a man, or a woman, or a land? The answer was that Sabaʾ was a man who had ten children. Six of them settled in Yemen and four in Syria. And then he named all ten. Ibn Kathīr quotes it through Ibn ʿAbbās ؓ, and a few pages later he restates the same list as his own conclusion. One question, one answer, and the whole southern half of the tribal map is set out.</a:t>
            </a:r>
          </a:p>
          <a:p/>
          <a:p>
            <a:r>
              <a:t>MAP: Yemen fills with six names</a:t>
            </a:r>
          </a:p>
          <a:p/>
          <a:p>
            <a:r>
              <a:t>عبرت: Half the tribal map of that country is contained in one answer to one question.</a:t>
            </a:r>
          </a:p>
          <a:p/>
          <a:p>
            <a:r>
              <a:t>Source: البدایہ والنہایہ ج۲ ص۴۰۷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ATA/E-TB03 · The dam broke, and the tribes went out</a:t>
            </a:r>
          </a:p>
          <a:p>
            <a:r>
              <a:t>Tier: CORE   When: long before Islam `[SOURCED]`</a:t>
            </a:r>
          </a:p>
          <a:p/>
          <a:p>
            <a:r>
              <a:t>The book carries an account of why the southern tribes left Yemen — the dam at Maʾrib, and the flood. ʿAmr b. ʿĀmir left, and the Azd said they would not stay behind him. They sold their property and went out with him. Then they scattered through the lands, and Ibn Kathīr names in one sentence where each group came to rest. Two of those names matter for everything that follows: the Aws and the Khazraj, who came to Yathrib and were the first to live there — and the Azd of Oman, who went to the far eastern coast.</a:t>
            </a:r>
          </a:p>
          <a:p/>
          <a:p>
            <a:r>
              <a:t>MAP: **The biggest map moment of the</a:t>
            </a:r>
          </a:p>
          <a:p/>
          <a:p>
            <a:r>
              <a:t>عبرت: The people who would one day receive the hijra and the people who would one day rise in</a:t>
            </a:r>
          </a:p>
          <a:p/>
          <a:p>
            <a:r>
              <a:t>HANDS UP: Before telling it: *"The Anṣār of Medina — where were they from, before Medina?"*</a:t>
            </a:r>
          </a:p>
          <a:p/>
          <a:p>
            <a:r>
              <a:t>Source: البدایہ والنہایہ ج۲ ص۴۱۰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ATA/E-TB04 · Where Quraysh begins, and the two answers the book keeps</a:t>
            </a:r>
          </a:p>
          <a:p>
            <a:r>
              <a:t>Tier: GOOD   When: n/a `[SOURCED]`</a:t>
            </a:r>
          </a:p>
          <a:p/>
          <a:p>
            <a:r>
              <a:t>Ibn Kathīr runs the line of Quraysh back to ʿAdnān name by name. At the end of it he records a disagreement inside his own sources about where the name Quraysh actually begins. Ibn Hishām says it begins at al-Naḍr b. Kināna — whoever is of his children is a Qurashī, and whoever is not, is not. Others named in the book said it begins one generation later, at Fihr b. Mālik. Ibn Kathīr writes both down and does not choose between them.</a:t>
            </a:r>
          </a:p>
          <a:p/>
          <a:p>
            <a:r>
              <a:t>MAP: n/a. A short chain across the slide:</a:t>
            </a:r>
          </a:p>
          <a:p/>
          <a:p>
            <a:r>
              <a:t>عبرت: Even the boundary of the most famous tribe in Arabia had two answers, and the book keeps</a:t>
            </a:r>
          </a:p>
          <a:p/>
          <a:p>
            <a:r>
              <a:t>Source: البدایہ والنہایہ ج۲ ص۴۷۷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ATA/E-TB05 · Quraysh and the Anṣār were the two halves of the peninsula</a:t>
            </a:r>
          </a:p>
          <a:p>
            <a:r>
              <a:t>Tier: CORE   When: from the hijra onward `[SOURCED]`</a:t>
            </a:r>
          </a:p>
          <a:p/>
          <a:p>
            <a:r>
              <a:t>Quraysh are ʿAdnānī: northern Arabs of the Ḥijāz. The Anṣār are Qaḥṭānī: the Aws and the Khazraj, of al-Azd, of Kahlān, of Sabaʾ — southern Arabs whose ancestors had come north generations before and were the first to settle Yathrib. So the Muhājirūn and the Anṣār were not two clans of one people. They were the two ancestral halves of Arabia, put inside one city by the hijra. That is not an inference; it is on the pages.</a:t>
            </a:r>
          </a:p>
          <a:p/>
          <a:p>
            <a:r>
              <a:t>MAP: The peninsula tinted in two —</a:t>
            </a:r>
          </a:p>
          <a:p/>
          <a:p>
            <a:r>
              <a:t>عبرت: The first thing the hijra did was to put the two ends of Arabia inside one set of walls.</a:t>
            </a:r>
          </a:p>
          <a:p/>
          <a:p>
            <a:r>
              <a:t>Source: البدایہ والنہایہ ج۲ ص۴۰۹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ATA/E-TB06 · What the break actually was — Ibn Kathīr's own sorting</a:t>
            </a:r>
          </a:p>
          <a:p>
            <a:r>
              <a:t>Tier: CORE   When: ۱۱ھ `[SOURCED]`</a:t>
            </a:r>
          </a:p>
          <a:p/>
          <a:p>
            <a:r>
              <a:t>Do not import a modern classification onto this year. The book supplies one, and it is better. Before a word of narrative, Ibn Kathīr's own chapter heading has already split the crisis in two: the people of the ridda, and those who withheld the zakāt. Then his opening paragraph names four things happening at once. Many settlements of the bedouin turned. Hypocrisy surfaced inside Medina itself. Banū Ḥanīfa and a great many others in al-Yamāma went over to Musaylima. And Banū Asad and Ṭayyiʾ and many besides gathered round Ṭulayḥa — who had made the same claim.</a:t>
            </a:r>
          </a:p>
          <a:p/>
          <a:p>
            <a:r>
              <a:t>MAP: none. This is a `diagram_slide`, not a map.</a:t>
            </a:r>
          </a:p>
          <a:p/>
          <a:p>
            <a:r>
              <a:t>عبرت: The book refuses to call the whole year one thing, and the sorting on the screen is the</a:t>
            </a:r>
          </a:p>
          <a:p/>
          <a:p>
            <a:r>
              <a:t>HANDS UP: Before showing it: *"When the news went out to the tribes, was there one reaction, or</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ATA/E-TB07 · Two refusals, not one</a:t>
            </a:r>
          </a:p>
          <a:p>
            <a:r>
              <a:t>Tier: CORE   When: ۱۱ھ, as the delegations arrive `[SOURCED]`</a:t>
            </a:r>
          </a:p>
          <a:p/>
          <a:p>
            <a:r>
              <a:t>Delegations of the Arabs began arriving in Medina. They affirmed the prayer and refused to hand over the zakāt. And then Ibn Kathīr splits them again inside a single clause. Some refused the payment itself, and had a Qurʾānic argument for it: the verse tells the Prophet ﷺ to take a ṣadaqa from their wealth and pray over them, because his prayer is a repose for them — so, they said, we pay it only to a man whose prayer is a repose for us. And some of them refused to pay it to Abū Bakr ؓ. That second group is not refusing the obligation at all. It is refusing the addressee.</a:t>
            </a:r>
          </a:p>
          <a:p/>
          <a:p>
            <a:r>
              <a:t>MAP: المدینہ at the</a:t>
            </a:r>
          </a:p>
          <a:p/>
          <a:p>
            <a:r>
              <a:t>عبرت: Two men can refuse the same payment for two different reasons, and the book takes care to</a:t>
            </a:r>
          </a:p>
          <a:p/>
          <a:p>
            <a:r>
              <a:t>HANDS UP: Before telling it: *"A tribe says: we will pray, but we will not pay. Is that one</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ATA/E-TB08 · The Companions proposed going easy, and he refused</a:t>
            </a:r>
          </a:p>
          <a:p>
            <a:r>
              <a:t>Tier: CORE   When: ۱۱ھ `[SOURCED]`</a:t>
            </a:r>
          </a:p>
          <a:p/>
          <a:p>
            <a:r>
              <a:t>The Companions came to Abū Bakr ؓ with a proposal about the tribes that were withholding the zakāt. Leave them and what they are upon for now. Win them over until faith takes hold in their hearts, and after that they will pay. It is a serious proposal made by serious men, and the book records it without any embarrassment at all. He refused it, and would not have it.</a:t>
            </a:r>
          </a:p>
          <a:p/>
          <a:p>
            <a:r>
              <a:t>MAP: n/a — a large-statement slide.</a:t>
            </a:r>
          </a:p>
          <a:p/>
          <a:p>
            <a:r>
              <a:t>عبرت: The decision that held the state together was taken against the advice of the men best</a:t>
            </a:r>
          </a:p>
          <a:p/>
          <a:p>
            <a:r>
              <a:t>HANDS UP: Before telling it: *"Half the country will not pay. Your closest advisers say: let it</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ATA/E-TB09 · «لو مَنَعوني عِقالًا» — and what ʿUmar ؓ said afterwards</a:t>
            </a:r>
          </a:p>
          <a:p>
            <a:r>
              <a:t>Tier: CORE   When: ۱۱ھ `[SOURCED]`</a:t>
            </a:r>
          </a:p>
          <a:p/>
          <a:p>
            <a:r>
              <a:t>ʿUmar ؓ put the objection to Abū Bakr ؓ directly: on what basis are you fighting people who say the shahāda, when the Messenger of Allah ﷺ said that once they say it they have protected their blood and their property from me, except for its due? Abū Bakr's ؓ answer was not about politics. It was that the zakāt is one of the dues on that property — and that if they withheld from him a young goat, or a hobbling-cord, that they had been rendering to the Messenger of Allah ﷺ, he would fight them for withholding it. And ʿUmar ؓ, who had raised the objection, said afterwards that when he saw Allah had opened Abū Bakr's ؓ breast to fighting, he knew it was the truth.</a:t>
            </a:r>
          </a:p>
          <a:p/>
          <a:p>
            <a:r>
              <a:t>MAP: n/a — a large-statement slide.</a:t>
            </a:r>
          </a:p>
          <a:p/>
          <a:p>
            <a:r>
              <a:t>عبرت: The argument was settled on a point of law about a hobbling-cord, and the man who had</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ATA/E-TB10 · One tribe, three answers</a:t>
            </a:r>
          </a:p>
          <a:p>
            <a:r>
              <a:t>Tier: CORE   When: ۱۱ھ `[SOURCED]`</a:t>
            </a:r>
          </a:p>
          <a:p/>
          <a:p>
            <a:r>
              <a:t>In the middle of the narrative the book stops and says what Banū Tamīm did, and it is not one thing. Their views differed in the days of the ridda. Some of them turned and withheld the zakāt. Some of them sent the ṣadaqa money in to Abū Bakr ؓ. And some of them held back to see how the matter would go. That is one tribe in three states at the same moment. Any map that shades Banū Tamīm a single colour is contradicted by the book it claims to be drawn from.</a:t>
            </a:r>
          </a:p>
          <a:p/>
          <a:p>
            <a:r>
              <a:t>MAP: **بنو تَميم** in eastern Najd shaded in three</a:t>
            </a:r>
          </a:p>
          <a:p/>
          <a:p>
            <a:r>
              <a:t>عبرت: The honest map has three colours inside one tribe, and the sentence that licenses it is the</a:t>
            </a:r>
          </a:p>
          <a:p/>
          <a:p>
            <a:r>
              <a:t>HANDS UP: Before showing it: *"One tribe. How many different answers can it give at the same</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ATA/E-TB11 · ʿUyayna b. Ḥiṣn says why he followed Ṭulayḥa</a:t>
            </a:r>
          </a:p>
          <a:p>
            <a:r>
              <a:t>Tier: CORE   When: ۱۱ھ, and again at المدینہ afterwards `[SOURCED]`</a:t>
            </a:r>
          </a:p>
          <a:p/>
          <a:p>
            <a:r>
              <a:t>ʿUyayna b. Ḥiṣn brought Fazāra in behind Ṭulayḥa, and he told his own people why in one sentence. A prophet from Banū Asad, he said, is dearer to me than a prophet from Banū Hāshim. Muḥammad ﷺ has died, and here is Ṭulayḥa — follow him. His people agreed with him. Ibn Kathīr does not argue with the sentence; he prints it. And later, when ʿUyayna was brought into Medina in bonds and the children of the city crowded round and taunted him for having left Islam, he answered them: by Allah, I never believed at all.</a:t>
            </a:r>
          </a:p>
          <a:p/>
          <a:p>
            <a:r>
              <a:t>MAP: **فَزارة**'s</a:t>
            </a:r>
          </a:p>
          <a:p/>
          <a:p>
            <a:r>
              <a:t>عبرت: He was not choosing between two prophecies. He was choosing between two lines of descent,</a:t>
            </a:r>
          </a:p>
          <a:p/>
          <a:p>
            <a:r>
              <a:t>HANDS UP: Before telling it: *"He is fighting for a man he will soon call a liar to his face.</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ATA/E-TB12 · The man who followed Musaylima knowing he was lying</a:t>
            </a:r>
          </a:p>
          <a:p>
            <a:r>
              <a:t>Tier: CORE   When: ۱۱ھ–۱۲ھ, اليمامة `[SOURCED]`</a:t>
            </a:r>
          </a:p>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MAP: not a map — two trunk names on the</a:t>
            </a:r>
          </a:p>
          <a:p/>
          <a:p>
            <a:r>
              <a:t>عبرت: A man can know which of two claims is true and still act on which of two families is his.</a:t>
            </a:r>
          </a:p>
          <a:p/>
          <a:p>
            <a:r>
              <a:t>Source: البدایہ والنہایہ ج۷ ص۳۷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ATA/E-TB13 · The verse that puts the objection as politics</a:t>
            </a:r>
          </a:p>
          <a:p>
            <a:r>
              <a:t>Tier: CORE   When: ۱۱ھ `[SOURCED]`</a:t>
            </a:r>
          </a:p>
          <a:p/>
          <a:p>
            <a:r>
              <a:t>The book twice prints a verse from the refusing side, and it is worth hearing exactly what the objection says. We obeyed the Messenger of Allah while he was among us — and then, in astonishment: what is this about the rule of Abū Bakr? The longer version at ج۷ ص۲۰ asks whether he is to leave it to Bakr after him, and calls that, by God's life, a thing that breaks the back. Nothing in those lines denies the prayer, and nothing in them denies the Prophet ﷺ. What they object to is who is to be obeyed now.</a:t>
            </a:r>
          </a:p>
          <a:p/>
          <a:p>
            <a:r>
              <a:t>MAP: n/a — a large-statement slide.</a:t>
            </a:r>
          </a:p>
          <a:p/>
          <a:p>
            <a:r>
              <a:t>عبرت: The refusal stated itself in the language of who should rule, and the answer it was given</a:t>
            </a:r>
          </a:p>
          <a:p/>
          <a:p>
            <a:r>
              <a:t>Source: البدایہ والنہایہ ج۷ ص۱۸ (and again ج۷ ص۲۰ ·</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ATA/E-TB14 · Four claimants, and when each of them began</a:t>
            </a:r>
          </a:p>
          <a:p>
            <a:r>
              <a:t>Tier: CORE   When: ۱۰ھ–۱۲ھ `[SOURCED]`</a:t>
            </a:r>
          </a:p>
          <a:p/>
          <a:p>
            <a:r>
              <a:t>Four people claimed prophethood in this story, and the order matters more than the number. Al-Aswad al-ʿAnsī, of ʿAns of Madhḥij, rose in Yemen and was killed before the Prophet ﷺ died. Musaylima of Banū Ḥanīfa had come to Medina in the Prophet's ﷺ lifetime and written to him; he was killed after. Ṭulayḥa of Banū Asad — the book says it plainly — apostatised in the Prophet's ﷺ lifetime. Only Sajāḥ comes afterwards: she arrives from al-Jazīra in the middle of the ridda narrative itself. So three of the four had already begun while the Prophet ﷺ was alive.</a:t>
            </a:r>
          </a:p>
          <a:p/>
          <a:p>
            <a:r>
              <a:t>MAP: Four red marks — **صنعاء** (الأسود),</a:t>
            </a:r>
          </a:p>
          <a:p/>
          <a:p>
            <a:r>
              <a:t>عبرت: Most of what broke in that year had already begun before the year began.</a:t>
            </a:r>
          </a:p>
          <a:p/>
          <a:p>
            <a:r>
              <a:t>HANDS UP: Before telling it: *"Four people claimed prophethood. How many of them started only</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ATA/E-TB15 · Musaylima's letter, and the reply</a:t>
            </a:r>
          </a:p>
          <a:p>
            <a:r>
              <a:t>Tier: CORE   When: **آخر سنة عشر** `[SOURCED]`</a:t>
            </a:r>
          </a:p>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MAP: One line from **اليمامة** to **المدینہ** and one</a:t>
            </a:r>
          </a:p>
          <a:p/>
          <a:p>
            <a:r>
              <a:t>عبرت: One document divides the country between two tribes, and the other answers that the country</a:t>
            </a:r>
          </a:p>
          <a:p/>
          <a:p>
            <a:r>
              <a:t>HANDS UP: Before telling it: *"A man writes to the Prophet ﷺ proposing terms. What do you think</a:t>
            </a:r>
          </a:p>
          <a:p/>
          <a:p>
            <a:r>
              <a:t>Source: البدایہ والنہایہ ج۵ ص۲۴</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ATA/E-TB16 · Musaylima at Medina, and the piece of palm-branch</a:t>
            </a:r>
          </a:p>
          <a:p>
            <a:r>
              <a:t>Tier: GOOD   When: in the Prophet's ﷺ lifetime `[SOURCED]` — **صحيح البخاري ٤٣٧٣**</a:t>
            </a:r>
          </a:p>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MAP: n/a.</a:t>
            </a:r>
          </a:p>
          <a:p/>
          <a:p>
            <a:r>
              <a:t>عبرت: The claim was refused while it was still only a request, years before it had to be fought.</a:t>
            </a:r>
          </a:p>
          <a:p/>
          <a:p>
            <a:r>
              <a:t>Source: البدایہ والنہایہ ج۵ ص۲۱ — **صحيح البخاري ٤٣٧٣**,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ATA/E-TB17 · The two bracelets</a:t>
            </a:r>
          </a:p>
          <a:p>
            <a:r>
              <a:t>Tier: GOOD   When: in the Prophet's ﷺ lifetime `[SOURCED]` — **صحيح البخاري ٤٣٧٥**</a:t>
            </a:r>
          </a:p>
          <a:p/>
          <a:p>
            <a:r>
              <a:t>The Prophet ﷺ said that while he was asleep he was brought the treasures of the earth, and two bracelets of gold were placed in his hands, and they weighed on him. He was inspired to blow on them; he blew, and they went. And he interpreted them as the two liars between whom he stood — the one of Ṣanʿāʾ and the one of al-Yamāma. The two men who would break Arabia are named in one sentence, by their cities, before either of them had risen.</a:t>
            </a:r>
          </a:p>
          <a:p/>
          <a:p>
            <a:r>
              <a:t>MAP: two dots only, **صنعاء** and **اليمامة**, lit at the same moment.</a:t>
            </a:r>
          </a:p>
          <a:p/>
          <a:p>
            <a:r>
              <a:t>عبرت: The two claims that broke the peninsula are named together, by their cities, in one</a:t>
            </a:r>
          </a:p>
          <a:p/>
          <a:p>
            <a:r>
              <a:t>Source: البدایہ والنہایہ ج۵ ص۲۲ — **صحيح البخاري ٤٣٧٥**,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ATA/E-TB18 · Sajāḥ — who she actually was</a:t>
            </a:r>
          </a:p>
          <a:p>
            <a:r>
              <a:t>Tier: GOOD   When: ۱۱ھ `[SOURCED]`</a:t>
            </a:r>
          </a:p>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MAP: An arrow from **الجزيرة** in the far north,</a:t>
            </a:r>
          </a:p>
          <a:p/>
          <a:p>
            <a:r>
              <a:t>عبرت: The tribe that supplied her following was not the tribe she came from, and the book is</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ATA/E-TB19 · What her claim was worth to the other claimant</a:t>
            </a:r>
          </a:p>
          <a:p>
            <a:r>
              <a:t>Tier: GOOD   When: ۱۱ھ, at اليمامة, and afterwards `[SOURCED]`</a:t>
            </a:r>
          </a:p>
          <a:p/>
          <a:p>
            <a:r>
              <a:t>The two claimants met at al-Yamāma, and he bought her off. She took half the kharāj of his land and turned back to her own country, and she stayed among her people, Banū Taghlib, until the time of Muʿāwiya.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MAP: her arrow reaches</a:t>
            </a:r>
          </a:p>
          <a:p/>
          <a:p>
            <a:r>
              <a:t>عبرت: A claim that could be settled for half a land-tax was priced by the man who bought it.</a:t>
            </a:r>
          </a:p>
          <a:p/>
          <a:p>
            <a:r>
              <a:t>Source: البدایہ والنہایہ ج۷ ص۳۰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ATA/E-TB20 · Ṭulayḥa comes back, and the letter about how to use him</a:t>
            </a:r>
          </a:p>
          <a:p>
            <a:r>
              <a:t>Tier: CORE   When: after بُزاخة, in Abū Bakr's ؓ time `[SOURCED]`</a:t>
            </a:r>
          </a:p>
          <a:p/>
          <a:p>
            <a:r>
              <a:t>Ṭulayḥa returned to Islam. He went to Mecca to perform ʿumra in Abū Bakr's ؓ days, and he was ashamed to face him for as long as Abū Bakr ؓ lived. He came back and fought alongside Khālid ؓ. And Abū Bakr ؓ wrote to Khālid ؓ about him with a single instruction: consult him in the fighting, and do not put him in command. Ibn Kathīr explains why in his own words — he was dealt with by the opposite of the thing he had secretly been after, which was leadership. And then Ibn Kathīr says what he thinks of it: this is from the fiqh of al-Ṣiddīq ؓ.</a:t>
            </a:r>
          </a:p>
          <a:p/>
          <a:p>
            <a:r>
              <a:t>MAP: a thin blue line</a:t>
            </a:r>
          </a:p>
          <a:p/>
          <a:p>
            <a:r>
              <a:t>عبرت: The man's ability was taken and his ambition was not fed, and the book calls that a point</a:t>
            </a:r>
          </a:p>
          <a:p/>
          <a:p>
            <a:r>
              <a:t>HANDS UP: Before telling it: *"A man who had claimed prophethood comes back to Islam, and he is a</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ATA/E-TB21 · «ما خلا أهل المسجدين» — and the book's own corrections to it</a:t>
            </a:r>
          </a:p>
          <a:p>
            <a:r>
              <a:t>Tier: CORE   When: ۱۱ھ `[SOURCED]`</a:t>
            </a:r>
          </a:p>
          <a:p/>
          <a:p>
            <a:r>
              <a:t>Ibn Isḥāq states it in one sentence: the Arabs apostatised at the death of the Messenger of Allah ﷺ, except the people of the two mosques — Mecca and Medina. Then he lists which tribe went behind which man. Ibn Kathīr prints that sentence, and then, in his own pages, corrects it three times. Thaqīf at Ṭāʾif stood firm on Islam; they neither fled nor turned. Juwāthā in Bahrayn held out under siege. And Ṭayyiʾ, who are in the list, were brought back before the fighting reached them. The famous sentence is the headline. The same book is the correction.</a:t>
            </a:r>
          </a:p>
          <a:p/>
          <a:p>
            <a:r>
              <a:t>MAP: the whole peninsula goes red except **مكة** and **المدینہ**. Then the corrections are added</a:t>
            </a:r>
          </a:p>
          <a:p/>
          <a:p>
            <a:r>
              <a:t>عبرت: The most quotable sentence about that year is corrected three times by the same book that</a:t>
            </a:r>
          </a:p>
          <a:p/>
          <a:p>
            <a:r>
              <a:t>HANDS UP: Before showing it: *"When the news went out, how much of Arabia held?"*</a:t>
            </a:r>
          </a:p>
          <a:p/>
          <a:p>
            <a:r>
              <a:t>Source: البدایہ والنہایہ ج۷ ص۱۹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ATA/E-TB22 · Thaqīf had been Muslim for two years, and did not break</a:t>
            </a:r>
          </a:p>
          <a:p>
            <a:r>
              <a:t>Tier: CORE   When: ۱۱ھ; the delegation was in **سنة تسع** `[SOURCED]`</a:t>
            </a:r>
          </a:p>
          <a:p/>
          <a:p>
            <a:r>
              <a:t>Thaqīf at Ṭāʾif had come into Islam only in the year 9 — two years before all this. They did not flee and they did not turn. And what was standing there was one man. The delegation of Thaqīf had come to the Prophet ﷺ in the year 9 and become Muslim, and he put ʿUthmān b. Abī al-ʿĀṣ ؓ over them for what he saw of his intelligence and his eagerness for good — and he was the youngest man in the delegation. Abū Bakr ؓ then confirmed him over Ṭāʾif, and after him ʿUmar ؓ. Tribes that had been inside Islam far longer broke. So the variable was not the age of the conversion.</a:t>
            </a:r>
          </a:p>
          <a:p/>
          <a:p>
            <a:r>
              <a:t>MAP: **الطائف**</a:t>
            </a:r>
          </a:p>
          <a:p/>
          <a:p>
            <a:r>
              <a:t>عبرت: The newest Muslims in the peninsula held, and what was standing among them was a man the</a:t>
            </a:r>
          </a:p>
          <a:p/>
          <a:p>
            <a:r>
              <a:t>HANDS UP: Before telling it: *"Which would you expect to break first — the oldest Muslims, or the</a:t>
            </a:r>
          </a:p>
          <a:p/>
          <a:p>
            <a:r>
              <a:t>Source: البدایہ والنہایہ ج۷ ص۹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ATA/E-TB23 · ʿAdī b. Ḥātim ؓ, and the two names Ṭayyiʾ called Abū Bakr ؓ</a:t>
            </a:r>
          </a:p>
          <a:p>
            <a:r>
              <a:t>Tier: GOOD   When: ۱۱ھ, before بُزاخة `[SOURCED]`</a:t>
            </a:r>
          </a:p>
          <a:p/>
          <a:p>
            <a:r>
              <a:t>Abū Bakr ؓ sent ʿAdī b. Ḥātim ؓ ahead of the army to his own tribe with one instruction: reach your people before they join Ṭulayḥa, or it will be their destruction. Ṭayyiʾ refused him first. They said: we will never give the bayʿa to Abū al-Faḍl — meaning Abū Bakr ؓ. And he answered that an army was coming that would not stop fighting them until they knew he was Abū al-Faḥl al-Akbar. Three days later ʿAdī ؓ came back with five hundred fighting men who had returned to the truth. Then he went to Banū Jadīla and stayed with them until they followed him too, and a thousand riders of them joined the Muslims. Ibn Kathīr's verdict on him is one line.</a:t>
            </a:r>
          </a:p>
          <a:p/>
          <a:p>
            <a:r>
              <a:t>MAP: Ṭayyiʾ's country, between the two</a:t>
            </a:r>
          </a:p>
          <a:p/>
          <a:p>
            <a:r>
              <a:t>عبرت: A tribe that is on the list of those who broke is on it because of one of its own men, and</a:t>
            </a:r>
          </a:p>
          <a:p/>
          <a:p>
            <a:r>
              <a:t>Source: البدایہ والنہایہ ج۷ ص۲۵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ATA/E-TB24 · Al-Jārūd ؓ asks his tribe five questions</a:t>
            </a:r>
          </a:p>
          <a:p>
            <a:r>
              <a:t>Tier: CORE   When: ۱۱ھ, البحرين `[SOURCED]`</a:t>
            </a:r>
          </a:p>
          <a:p/>
          <a:p>
            <a:r>
              <a:t>In Bahrayn one side had a slogan: if Muḥammad had been a prophet, he would not have died. A man of ʿAbd al-Qays, al-Jārūd b. al-Muʿallā ؓ, gathered his people and answered it without arguing with anybody. He told them he was going to ask them about something, and that they should answer if they knew and stay silent if they did not. They said: ask. Do you know that Allah had prophets before Muḥammad ﷺ? They said yes. Do you know that, or do you merely think it? They said: we know it. What did they do? They said: they died. And he said: then Muḥammad ﷺ has died as they died — and I bear witness that there is no god but Allah and that Muḥammad is the Messenger of Allah. And they said: and we bear witness too. They held to their Islam and left the rest of the people to what they were in.</a:t>
            </a:r>
          </a:p>
          <a:p/>
          <a:p>
            <a:r>
              <a:t>MAP: **البحرين in two colours**, a few days'</a:t>
            </a:r>
          </a:p>
          <a:p/>
          <a:p>
            <a:r>
              <a:t>عبرت: Both sides in that region were arguing from the same fact, and the difference was one man</a:t>
            </a:r>
          </a:p>
          <a:p/>
          <a:p>
            <a:r>
              <a:t>HANDS UP: Before telling it: *"Their slogan was: if he had been a prophet, he would not have</a:t>
            </a:r>
          </a:p>
          <a:p/>
          <a:p>
            <a:r>
              <a:t>Source: البدایہ والنہایہ ج۷ ص۳۸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ATA/E-TB25 · The Azd stood on both sides of the map</a:t>
            </a:r>
          </a:p>
          <a:p>
            <a:r>
              <a:t>Tier: CORE   When: ۱۱ھ `[SOURCED]`</a:t>
            </a:r>
          </a:p>
          <a:p/>
          <a:p>
            <a:r>
              <a:t>This is the fact that stops the genealogy from turning into a theory. The Anṣār of Medina are of al-Azd, and so are the Azd of Oman. In the same months, the Azd of Oman were in open revolt behind Laqīṭ b. Mālik al-Azdī, who was called Dhū al-Tāj and who also claimed prophethood — while the Azd of Medina were carrying the banner of the Anṣār at al-Yamāma under Thābit b. Qays b. Shammās ؓ, who dug his feet into the ground to his shins and died standing there. One descent, two ends of the map, two opposite choices in the same year.</a:t>
            </a:r>
          </a:p>
          <a:p/>
          <a:p>
            <a:r>
              <a:t>MAP: **Two markers in the same colour-family at</a:t>
            </a:r>
          </a:p>
          <a:p/>
          <a:p>
            <a:r>
              <a:t>عبرت: Descent explains the vocabulary people used that year. It does not predict where any of</a:t>
            </a:r>
          </a:p>
          <a:p/>
          <a:p>
            <a:r>
              <a:t>HANDS UP: Before telling it: *"The Anṣār of Medina, and the tribe that rose in Oman — how are the</a:t>
            </a:r>
          </a:p>
          <a:p/>
          <a:p>
            <a:r>
              <a:t>Source: البدایہ والنہایہ ج۷ ص۴۱</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ATA/E-TB26 · «قُتل العنسيُّ البارحةَ»</a:t>
            </a:r>
          </a:p>
          <a:p>
            <a:r>
              <a:t>Tier: CORE   When: before the Prophet's ﷺ death `[SOURCED]`</a:t>
            </a:r>
          </a:p>
          <a:p/>
          <a:p>
            <a:r>
              <a:t>The first of the four claimants was killed inside Ṣanʿāʾ, by three men of the city, while the Prophet ﷺ was still alive. And Ibn Kathīr says the news reached the Prophet ﷺ that same night, from above, before any rider could have carried it. He told them: al-ʿAnsī was killed last night; a blessed man of a blessed household killed him. They asked who. He said: Fayrūz. Fayrūz.</a:t>
            </a:r>
          </a:p>
          <a:p/>
          <a:p>
            <a:r>
              <a:t>MAP: **صنعاء** in red, and</a:t>
            </a:r>
          </a:p>
          <a:p/>
          <a:p>
            <a:r>
              <a:t>عبرت: The first of the four claims was already finished before the crisis that is named after it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ATA/E-TB27 · Three days of prayer, and then the ground moved</a:t>
            </a:r>
          </a:p>
          <a:p>
            <a:r>
              <a:t>Tier: CORE   When: ربيع الأول ۱۱ھ, صنعاء `[SOURCED]`</a:t>
            </a:r>
          </a:p>
          <a:p/>
          <a:p>
            <a:r>
              <a:t>Fayrūz ؓ tells it himself, and it is the best account in the sources of what the news of the Prophet's ﷺ death actually did. We killed al-Aswad, he says, and our affair in Ṣanʿāʾ went back to what it had been. They sent for Muʿādh b. Jabal ؓ and agreed on him, and he led them in prayer in Ṣanʿāʾ. And by Allah, he says, he had led us in prayer for no more than three days when the news came to us of the death of the Messenger of Allah ﷺ. Then everything came apart. We found ourselves refusing much of what we used to acknowledge. And the earth shook.</a:t>
            </a:r>
          </a:p>
          <a:p/>
          <a:p>
            <a:r>
              <a:t>MAP: صنعاء turns from red back to</a:t>
            </a:r>
          </a:p>
          <a:p/>
          <a:p>
            <a:r>
              <a:t>عبرت: A man who had just put down a rebellion had three quiet days, and then heard the news that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ATA/E-TB28 · How long the first false prophet ruled</a:t>
            </a:r>
          </a:p>
          <a:p>
            <a:r>
              <a:t>Tier: GOOD   When: the months before ۱۱ھ `[SOURCED]`</a:t>
            </a:r>
          </a:p>
          <a:p/>
          <a:p>
            <a:r>
              <a:t>Al-Aswad al-ʿAnsī came out from a place called Kahf Khubbān with seven hundred fighting men. Ten nights from his coming out he had Najrān. Twenty-five nights from his coming out he had Ṣanʿāʾ, and he killed Shahr b. Bādhām and married his widow. The Prophet's ﷺ governors in Yemen fled or hid. And then the book says how long the whole thing lasted — and refuses to be certain even about that.</a:t>
            </a:r>
          </a:p>
          <a:p/>
          <a:p>
            <a:r>
              <a:t>MAP: **كهف خُبّان** → **نجران** →</a:t>
            </a:r>
          </a:p>
          <a:p/>
          <a:p>
            <a:r>
              <a:t>عبرت: The whole of it took less than a season, and the book still writes "Allah knows best" over</a:t>
            </a:r>
          </a:p>
          <a:p/>
          <a:p>
            <a:r>
              <a:t>HANDS UP: Before telling it: *"He starts with seven hundred men. How long do you think it took</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ATA/E-TB29 · Why the map has no lines on it</a:t>
            </a:r>
          </a:p>
          <a:p>
            <a:r>
              <a:t>Tier: CUT   When: n/a</a:t>
            </a:r>
          </a:p>
          <a:p/>
          <a:p>
            <a:r>
              <a:t>The sources place tribes **relatively** — «بأرض نجد»، «باليمامة»، «بالبحرين» — and almost never absolutely. Even the editor's own footnotes, quoting معجم البلدان, locate the famous places only against other places. **بُزاخة** is «a water of Ṭayyiʾ in the land of Najd, and it is said, of Banū Asad». **دارين** is «a landing-place in Bahrayn, between it and the coast a day and a night». So every polygon on every map of this course is a modern reconstruction. Draw feathered zones and arrows. Never a point, never a boundary line, never a coordinate on the slide face.</a:t>
            </a:r>
          </a:p>
          <a:p/>
          <a:p>
            <a:r>
              <a:t>MAP: the rule itself.</a:t>
            </a:r>
          </a:p>
          <a:p/>
          <a:p>
            <a:r>
              <a:t>عبرت: —</a:t>
            </a:r>
          </a:p>
          <a:p/>
          <a:p>
            <a:r>
              <a:t>Source: البدایہ والنہایہ, **the دار ابن كثير editor's footnote** at ج۷ ص۲۵ (quoting معجم البلدان), not</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RCT/E-RC41 · The reprisals, and the objection that was spoken aloud</a:t>
            </a:r>
          </a:p>
          <a:p>
            <a:r>
              <a:t>Tier: GOOD   When: ۱۱ھ, after بُزاخة `[SOURCED]`</a:t>
            </a:r>
          </a:p>
          <a:p/>
          <a:p>
            <a:r>
              <a:t>Khālid ؓ accepted no submission from Asad, Ghaṭafān, Ṭayyiʾ, Sulaym and ʿĀmir until they handed over the men who had burned and mutilated Muslims during the rising. When those men were handed over, he put them to death by fire, by stoning, and by throwing them from heights — and he wrote to Abū Bakr ؓ to tell him what he had done. Ibn Kathīr gives the reason in one clause: so that the apostate Arabs who heard of it would take warning. A separate report in al-Dhahabī, about Banū Sulaym, records that ʿUmar ؓ objected to Abū Bakr ؓ — and records Abū Bakr's ؓ answer.</a:t>
            </a:r>
          </a:p>
          <a:p/>
          <a:p>
            <a:r>
              <a:t>MAP: n/a</a:t>
            </a:r>
          </a:p>
          <a:p/>
          <a:p>
            <a:r>
              <a:t>عبرت: The first objection to the severity came from inside the leadership, and it was said aloud and answered.</a:t>
            </a:r>
          </a:p>
          <a:p/>
          <a:p>
            <a:r>
              <a:t>Source: سیر أعلام النبلاء ج۱ ص۳۷۲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RCT/E-RC42 · ʿAlī ؓ takes the reins: «sheathe your sword»</a:t>
            </a:r>
          </a:p>
          <a:p>
            <a:r>
              <a:t>Tier: CORE   When: ۱۱ھ `[SOURCED]`</a:t>
            </a:r>
          </a:p>
          <a:p/>
          <a:p>
            <a:r>
              <a:t>When the Arabs apostatised, Abū Bakr ؓ went out to Dhū al-Qaṣṣa with his sword drawn. ʿAlī ؓ came, took hold of the reins of his mount, and said to him: Where to, Khalīfa of the Messenger of Allah? I say to you what the Messenger of Allah ﷺ said to you on the day of Uḥud. Abū Bakr ؓ turned back — and sent the army on.</a:t>
            </a:r>
          </a:p>
          <a:p/>
          <a:p>
            <a:r>
              <a:t>MAP: المدينة to ذو القصّة, and the caliph turned back at the camp</a:t>
            </a:r>
          </a:p>
          <a:p/>
          <a:p>
            <a:r>
              <a:t>عبرت: Sometimes the truest counsel is to tell a brave man that the community cannot afford to lose him.</a:t>
            </a:r>
          </a:p>
          <a:p/>
          <a:p>
            <a:r>
              <a:t>Source: الکامل فی التاریخ ج۲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RCT/E-RC43 · The eleven banners — who went where</a:t>
            </a:r>
          </a:p>
          <a:p>
            <a:r>
              <a:t>Tier: CORE   When: ۱۱ھ `[SOURCED]`</a:t>
            </a:r>
          </a:p>
          <a:p/>
          <a:p>
            <a:r>
              <a:t>In a single sitting at Dhū al-Qaṣṣa, one day's ride from Medina, Abū Bakr ؓ tied eleven banners and gave each commander a region. The two books disagree on the count, and the disagreement has a simple answer: one of them folds two commands into one.</a:t>
            </a:r>
          </a:p>
          <a:p/>
          <a:p>
            <a:r>
              <a:t>MAP: eleven arrows out of ذو القصّة — scene dhu-al-qassa-the-columns</a:t>
            </a:r>
          </a:p>
          <a:p/>
          <a:p>
            <a:r>
              <a:t>عبرت: The whole war was ordered in one sitting, by a man who had just been turned back from leading it himself.</a:t>
            </a:r>
          </a:p>
          <a:p/>
          <a:p>
            <a:r>
              <a:t>HANDS UP: Before the table: *"Medina is one town. How many armies would you send out at once?"*</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 · The dower that was Islam</a:t>
            </a:r>
          </a:p>
          <a:p>
            <a:r>
              <a:t>Tier: CORE   When: before the Hijra, at Medina `[STANDARD]` (the sources fix no year)</a:t>
            </a:r>
          </a:p>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MAP: Medina — بنو النجار quarter</a:t>
            </a:r>
          </a:p>
          <a:p/>
          <a:p>
            <a:r>
              <a:t>عبرت: She set the terms of her own household before she entered it.</a:t>
            </a:r>
          </a:p>
          <a:p/>
          <a:p>
            <a:r>
              <a:t>HANDS UP: no — but ثابت's closing line is worth adding aloud: *"We never heard of a nobler dower than Umm Sulaym's dower: Islam."*</a:t>
            </a:r>
          </a:p>
          <a:p/>
          <a:p>
            <a:r>
              <a:t>Source: سیر أعلام النبلاء ج۲ ص۲۹</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THO/E-HS2 · The gift she had left</a:t>
            </a:r>
          </a:p>
          <a:p>
            <a:r>
              <a:t>Tier: GOOD   When: ۱ھ, soon after the Hijra `[SOURCED]` (سیر ج۳ ص۳۹۷: he was ten when the Prophet ﷺ reached Medina)</a:t>
            </a:r>
          </a:p>
          <a:p/>
          <a:p>
            <a:r>
              <a:t>Umm Sulaym dressed her son in half her own head-covering, brought him to the Prophet ﷺ, and asked that he be taken into service and prayed for. He was ten years old. He stayed ten years.</a:t>
            </a:r>
          </a:p>
          <a:p/>
          <a:p>
            <a:r>
              <a:t>MAP: Medina</a:t>
            </a:r>
          </a:p>
          <a:p/>
          <a:p>
            <a:r>
              <a:t>عبرت: She gave what she had, and what she had was a child's ten years.</a:t>
            </a:r>
          </a:p>
          <a:p/>
          <a:p>
            <a:r>
              <a:t>HANDS UP: yes — *"How old were you when you first learned something you still use?"*</a:t>
            </a:r>
          </a:p>
          <a:p/>
          <a:p>
            <a:r>
              <a:t>Source: سیر أعلام النبلاء ج۳ ص۳۹۸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THO/E-HS3 · Ten years, and not one rebuke</a:t>
            </a:r>
          </a:p>
          <a:p>
            <a:r>
              <a:t>Tier: CORE   When: ۱–۱۱ھ `[SOURCED]`</a:t>
            </a:r>
          </a:p>
          <a:p/>
          <a:p>
            <a:r>
              <a:t>Anas served in that household for ten years. He said afterwards, under oath, that in ten years he was never once told off — not for something he did, and not for something he failed to do. He said the word «uff» was never said to him.</a:t>
            </a:r>
          </a:p>
          <a:p/>
          <a:p>
            <a:r>
              <a:t>MAP: n/a</a:t>
            </a:r>
          </a:p>
          <a:p/>
          <a:p>
            <a:r>
              <a:t>عبرت: The measure of a man is what the people who work for him say afterwards.</a:t>
            </a:r>
          </a:p>
          <a:p/>
          <a:p>
            <a:r>
              <a:t>Source: سیر أعلام النبلاء، جلد السیرہ ۲ ص۳۸۶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THO/E-HS4 · «I find the scent of Paradise»</a:t>
            </a:r>
          </a:p>
          <a:p>
            <a:r>
              <a:t>Tier: CORE   When: أحد, شوال ۳ھ `[STANDARD]` (the year is not fixed on the pages read; سیر's chapter heading is «غزوة أحد وكانت في شوال»)</a:t>
            </a:r>
          </a:p>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MAP: أحد, north of Medina</a:t>
            </a:r>
          </a:p>
          <a:p/>
          <a:p>
            <a:r>
              <a:t>عبرت: He had made a promise in private, and he kept it on a day when nobody would have checked.</a:t>
            </a:r>
          </a:p>
          <a:p/>
          <a:p>
            <a:r>
              <a:t>HANDS UP: yes — *"Has anyone here ever missed something and spent years wishing they had been there?"*</a:t>
            </a:r>
          </a:p>
          <a:p/>
          <a:p>
            <a:r>
              <a:t>Source: البدایہ والنہایہ ج۴ ص۲۰۳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THO/E-HS5 · Known by his fingertips</a:t>
            </a:r>
          </a:p>
          <a:p>
            <a:r>
              <a:t>Tier: CORE   When: أحد, ۳ھ `[STANDARD]` (as E-HS4 — the year is not fixed on the pages read)</a:t>
            </a:r>
          </a:p>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MAP: the field at أحد</a:t>
            </a:r>
          </a:p>
          <a:p/>
          <a:p>
            <a:r>
              <a:t>عبرت: Some men are recognised by their faces, and some by what is left of their hands.</a:t>
            </a:r>
          </a:p>
          <a:p/>
          <a:p>
            <a:r>
              <a:t>Source: verse as quoted at البدایہ والنہایہ ج۴ ص۲۰۳ the reference</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THO/E-HS6 · «What will you do with life after him?»</a:t>
            </a:r>
          </a:p>
          <a:p>
            <a:r>
              <a:t>Tier: GOOD   When: أحد, ۳ھ `[STANDARD]`, at the moment the rumour spread</a:t>
            </a:r>
          </a:p>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MAP: أحد</a:t>
            </a:r>
          </a:p>
          <a:p/>
          <a:p>
            <a:r>
              <a:t>عبرت: A rumour stopped a whole line of men; one sentence started it moving again.</a:t>
            </a:r>
          </a:p>
          <a:p/>
          <a:p>
            <a:r>
              <a:t>Source: البدایہ والنہایہ ج۴ ص۲۰۷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THO/E-HS7 · The dagger at Ḥunayn</a:t>
            </a:r>
          </a:p>
          <a:p>
            <a:r>
              <a:t>Tier: CORE   When: حنين, ۸ھ `[STANDARD]` (the year is not on the pages read)</a:t>
            </a:r>
          </a:p>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MAP: the valley of حنين, near الطائف</a:t>
            </a:r>
          </a:p>
          <a:p/>
          <a:p>
            <a:r>
              <a:t>عبرت: She did not intend to be carried off a battlefield.</a:t>
            </a:r>
          </a:p>
          <a:p/>
          <a:p>
            <a:r>
              <a:t>Source: سیر أعلام النبلاء ج۲ ص۳۰۴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THO/E-HS8 · The water-carriers at Uḥud</a:t>
            </a:r>
          </a:p>
          <a:p>
            <a:r>
              <a:t>Tier: GOOD   When: أحد, ۳ھ `[STANDARD]`</a:t>
            </a:r>
          </a:p>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MAP: أحد</a:t>
            </a:r>
          </a:p>
          <a:p/>
          <a:p>
            <a:r>
              <a:t>عبرت: A boy remembers who was working, and he remembers it for the rest of his life.</a:t>
            </a:r>
          </a:p>
          <a:p/>
          <a:p>
            <a:r>
              <a:t>Source: سیر أعلام النبلاء ج۲ ص۳۱</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THO/E-HS9 · «It was a loan»</a:t>
            </a:r>
          </a:p>
          <a:p>
            <a:r>
              <a:t>Tier: CORE   When: at Medina `[STANDARD]` (no year on the page)</a:t>
            </a:r>
          </a:p>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MAP: Medina</a:t>
            </a:r>
          </a:p>
          <a:p/>
          <a:p>
            <a:r>
              <a:t>عبرت: She made him say the ruling before she told him it was his own case.</a:t>
            </a:r>
          </a:p>
          <a:p/>
          <a:p>
            <a:r>
              <a:t>Source: سیر أعلام النبلاء ج۲ ص۳۱۰</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THO/E-HS10 · Bayruḥāʾ</a:t>
            </a:r>
          </a:p>
          <a:p>
            <a:r>
              <a:t>Tier: GOOD   When: at Medina `[STANDARD]`</a:t>
            </a:r>
          </a:p>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MAP: the palm gardens of Medina</a:t>
            </a:r>
          </a:p>
          <a:p/>
          <a:p>
            <a:r>
              <a:t>عبرت: He gave away the thing he would miss, and he was told to give it to his own relatives.</a:t>
            </a:r>
          </a:p>
          <a:p/>
          <a:p>
            <a:r>
              <a:t>HANDS UP: yes — *"What is the one thing in your house you would find hardest to give away?"*</a:t>
            </a:r>
          </a:p>
          <a:p/>
          <a:p>
            <a:r>
              <a:t>Source: سیر أعلام النبلاء ج۲ ص۳۳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THO/E-HS11 · «I have won»</a:t>
            </a:r>
          </a:p>
          <a:p>
            <a:r>
              <a:t>Tier: CORE   When: بئر معونة, ۴ھ `[STANDARD]` (البدایہ ج۴ ص۲۵۶ places it four months after Uḥud, in صفر)</a:t>
            </a:r>
          </a:p>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MAP: بئر معونة, between the land of بنو عامر and the ḥarra of بنو سليم</a:t>
            </a:r>
          </a:p>
          <a:p/>
          <a:p>
            <a:r>
              <a:t>عبرت: He was killed in the middle of a sentence, and he called it winning.</a:t>
            </a:r>
          </a:p>
          <a:p/>
          <a:p>
            <a:r>
              <a:t>Source: البدایہ والنہایہ ج۴ ص۲۵۵ (the page cites البخاري ٤٠٩١، ٤٠٩٢)</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THO/E-HS12 · The reason the Prophet ﷺ came to that house</a:t>
            </a:r>
          </a:p>
          <a:p>
            <a:r>
              <a:t>Tier: CORE   When: after بئر معونة, ۴ھ onwards</a:t>
            </a:r>
          </a:p>
          <a:p/>
          <a:p>
            <a:r>
              <a:t>People noticed that the Prophet ﷺ went into no house in Medina except Umm Sulaym's. They asked him about it. He gave one reason, and it was not a compliment to the house. It was that her brother had been killed alongside him.</a:t>
            </a:r>
          </a:p>
          <a:p/>
          <a:p>
            <a:r>
              <a:t>MAP: Medina — the house of أم سليم ؓ</a:t>
            </a:r>
          </a:p>
          <a:p/>
          <a:p>
            <a:r>
              <a:t>عبرت: The debt a leader owes is to the family, and it is paid by turning up.</a:t>
            </a:r>
          </a:p>
          <a:p/>
          <a:p>
            <a:r>
              <a:t>HANDS UP: yes — *"Why do you think he went to that house and no other?"* (Then give the answer from the page.)</a:t>
            </a:r>
          </a:p>
          <a:p/>
          <a:p>
            <a:r>
              <a:t>Source: سیر أعلام النبلاء ج۲ ص۳۰۶–۳۰۷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THO/E-HS13 · Umm Ḥarām and the sea</a:t>
            </a:r>
          </a:p>
          <a:p>
            <a:r>
              <a:t>Tier: GOOD   When: the ḥadīth: at Medina, in the Prophet's ﷺ lifetime. The expedition: ۲۸ھ `[SOURCED]` — البدایہ ج۷ ص۲۹۰ records ۲۷، ۲۸ and ۳۳</a:t>
            </a:r>
          </a:p>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MAP: Medina → Cyprus. **This is the first point on the map that is across water.**</a:t>
            </a:r>
          </a:p>
          <a:p/>
          <a:p>
            <a:r>
              <a:t>عبرت: She was told where she would be a caliphate before the ships were built.</a:t>
            </a:r>
          </a:p>
          <a:p/>
          <a:p>
            <a:r>
              <a:t>HANDS UP: yes — *"How long between a promise and its keeping is too long?"*</a:t>
            </a:r>
          </a:p>
          <a:p/>
          <a:p>
            <a:r>
              <a:t>Source: سیر أعلام النبلاء ج۲ ص۳۱۶–۳۱۷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THO/E-HS14 · «Do not put al-Barāʾ over an army»</a:t>
            </a:r>
          </a:p>
          <a:p>
            <a:r>
              <a:t>Tier: GOOD   When: the caliphate of عمر ؓ, ۱۳–۲۳ھ `[SOURCED]` for the caliphate; the letter itself is undated</a:t>
            </a:r>
          </a:p>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MAP: n/a</a:t>
            </a:r>
          </a:p>
          <a:p/>
          <a:p>
            <a:r>
              <a:t>عبرت: Courage is not the same qualification as command, and a state has to know the difference.</a:t>
            </a:r>
          </a:p>
          <a:p/>
          <a:p>
            <a:r>
              <a:t>HANDS UP: yes — *"Would you put the bravest man in the room in charge of the room?"*</a:t>
            </a:r>
          </a:p>
          <a:p/>
          <a:p>
            <a:r>
              <a:t>Source: سیر أعلام النبلاء ج۱ ص۱۹۶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THO/E-HS15 · «Do you see me dying in my bed?»</a:t>
            </a:r>
          </a:p>
          <a:p>
            <a:r>
              <a:t>Tier: GOOD   When: at Medina or Basra, undated</a:t>
            </a:r>
          </a:p>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MAP: n/a</a:t>
            </a:r>
          </a:p>
          <a:p/>
          <a:p>
            <a:r>
              <a:t>عبرت: Two brothers in one house, and each thought the other needed correcting.</a:t>
            </a:r>
          </a:p>
          <a:p/>
          <a:p>
            <a:r>
              <a:t>Source: سیر أعلام النبلاء ج۱ ص۱۹۸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THO/E-HS16 · Over the wall at Ḥadīqat al-Mawt</a:t>
            </a:r>
          </a:p>
          <a:p>
            <a:r>
              <a:t>Tier: CORE   When: اليمامة, ۱۲ھ `[SOURCED]` (see `ridda-campaign-the-conduct-of-the-wars.md`)</a:t>
            </a:r>
          </a:p>
          <a:p/>
          <a:p>
            <a:r>
              <a:t>Banū Ḥanīfa had shut themselves inside a walled garden and barred the gate. Al-Barāʾ told the men to throw him over the wall on top of them. They refused. He swore an oath that they would do it. They lifted him on a shield on the points of their spears until he cleared the wall, and he went down among them alone. He fought his way to the gate and opened it. He came out of that garden with more than eighty wounds on him, and Khālid b. al-Walīd stayed a month treating them.</a:t>
            </a:r>
          </a:p>
          <a:p/>
          <a:p>
            <a:r>
              <a:t>MAP: اليمامة — the walled garden; the gate opens from the inside</a:t>
            </a:r>
          </a:p>
          <a:p/>
          <a:p>
            <a:r>
              <a:t>عبرت: The gate that decided the day was opened from the inside, by one man who had to argue his own side into throwing him.</a:t>
            </a:r>
          </a:p>
          <a:p/>
          <a:p>
            <a:r>
              <a:t>Source: الکامل فی التاریخ ج۲ ص۲۱۸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THO/E-HS17 · The oath at Tustar</a:t>
            </a:r>
          </a:p>
          <a:p>
            <a:r>
              <a:t>Tier: CORE   When: the conquest of تُسْتَر — سیر ج۱ ص۱۹۸ says ۲۰ھ; البدایہ and الکامل narrate it under ۱۷ھ `[SOURCED]` both ways</a:t>
            </a:r>
          </a:p>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MAP: خوزستان — تُسْتَر, east of البصرة; the Persian frontier moves past the Zagros</a:t>
            </a:r>
          </a:p>
          <a:p/>
          <a:p>
            <a:r>
              <a:t>عبرت: He was asked to pray for the army; he prayed for the army and put himself in the cost column.</a:t>
            </a:r>
          </a:p>
          <a:p/>
          <a:p>
            <a:r>
              <a:t>Source: الکامل فی التاریخ ج۲ ص۳۶۸ (identically at البدایہ ج۷ ص۱۹۷)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THO/E-HS18 · The dawn prayer at Tustar</a:t>
            </a:r>
          </a:p>
          <a:p>
            <a:r>
              <a:t>Tier: GOOD   When: the same morning as E-HS17</a:t>
            </a:r>
          </a:p>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MAP: تُسْتَر</a:t>
            </a:r>
          </a:p>
          <a:p/>
          <a:p>
            <a:r>
              <a:t>عبرت: The same morning is a conquest in one man's memory and a brother's grave in another's.</a:t>
            </a:r>
          </a:p>
          <a:p/>
          <a:p>
            <a:r>
              <a:t>Source: البدایہ والنہایہ ج۷ ص۱۹۸ (the page cites البخاري)</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THO/E-HS19 · «Equip me»</a:t>
            </a:r>
          </a:p>
          <a:p>
            <a:r>
              <a:t>Tier: GOOD   When: the caliphate of عثمان ؓ `[SOURCED]` (سیر ج۲ ص۲۸: عثمان ؓ prayed over him)</a:t>
            </a:r>
          </a:p>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MAP: Medina → the sea</a:t>
            </a:r>
          </a:p>
          <a:p/>
          <a:p>
            <a:r>
              <a:t>عبرت: He would not let his sons carry an obligation he read as his own.</a:t>
            </a:r>
          </a:p>
          <a:p/>
          <a:p>
            <a:r>
              <a:t>Source: سیر أعلام النبلاء ج۲ ص۳۴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AHA/E-AS01 · The ship they hired for half a dinar</a:t>
            </a:r>
          </a:p>
          <a:p>
            <a:r>
              <a:t>Tier: GOOD   When: ۵ years after the beginning of revelation `[SOURCED]` (البدایہ ج۳ ص۲۸۱,</a:t>
            </a:r>
          </a:p>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MAP: Mecca → the Red Sea coast → **Abyssinia**. The first arrow</a:t>
            </a:r>
          </a:p>
          <a:p/>
          <a:p>
            <a:r>
              <a:t>عبرت: The first thing this ummah did when it could not stay was to pool a fare and leave</a:t>
            </a:r>
          </a:p>
          <a:p/>
          <a:p>
            <a:r>
              <a:t>Source: البدایہ والنہایہ ج۳ ص۲۸۱</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AHA/E-AS02 · The son of the elder of the Jāhiliyya</a:t>
            </a:r>
          </a:p>
          <a:p>
            <a:r>
              <a:t>Tier: CORE   When: before دار الأرقم `[SOURCED]`</a:t>
            </a:r>
          </a:p>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MAP: n/a. One line of text, large.</a:t>
            </a:r>
          </a:p>
          <a:p/>
          <a:p>
            <a:r>
              <a:t>عبرت: A man's descent is recorded honestly, and it is not what he is judged by.</a:t>
            </a:r>
          </a:p>
          <a:p/>
          <a:p>
            <a:r>
              <a:t>HANDS UP: Before it: "Who here has a relative who did not agree with the biggest decision they</a:t>
            </a:r>
          </a:p>
          <a:p/>
          <a:p>
            <a:r>
              <a:t>Source: سیر أعلام النبلاء ج۱ ص۱۶۴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AHA/E-AS03 · Badr — the father and the brother</a:t>
            </a:r>
          </a:p>
          <a:p>
            <a:r>
              <a:t>Tier: CORE   When: ۲ھ `[SOURCED]`</a:t>
            </a:r>
          </a:p>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MAP: **بدر**, the first battle marker on the line.</a:t>
            </a:r>
          </a:p>
          <a:p/>
          <a:p>
            <a:r>
              <a:t>عبرت: He was not asked to stop being his father's son. He was asked which side of the field to</a:t>
            </a:r>
          </a:p>
          <a:p/>
          <a:p>
            <a:r>
              <a:t>Source: البدایہ والنہایہ ج۴ ص۶۰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AHA/E-AS04 · The face the Prophet ﷺ noticed at the well</a:t>
            </a:r>
          </a:p>
          <a:p>
            <a:r>
              <a:t>Tier: CORE   When: ۲ھ, after بدر `[SOURCED]`</a:t>
            </a:r>
          </a:p>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MAP: n/a — the same بدر marker.</a:t>
            </a:r>
          </a:p>
          <a:p/>
          <a:p>
            <a:r>
              <a:t>عبرت: He was not told that grief was a fault, and he did not pretend he had none.</a:t>
            </a:r>
          </a:p>
          <a:p/>
          <a:p>
            <a:r>
              <a:t>Source: سیر أعلام النبلاء (السیرة النبویة) ص۳۱۲</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AHA/E-AS05 · The sentence he was afraid of for ten years — ⚠ SPEAKER'S DISCRETION</a:t>
            </a:r>
          </a:p>
          <a:p>
            <a:r>
              <a:t>Tier: GOOD   When: ۲ھ, and answered ۱۲ھ `[SOURCED]`</a:t>
            </a:r>
          </a:p>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MAP: n/a.</a:t>
            </a:r>
          </a:p>
          <a:p/>
          <a:p>
            <a:r>
              <a:t>عبرت: He treated one sentence spoken in anger as a debt, and he carried it for ten years.</a:t>
            </a:r>
          </a:p>
          <a:p/>
          <a:p>
            <a:r>
              <a:t>Source: البدایہ والنہایہ ج۴ ص۷۷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AHA/E-AS06 · From Iṣṭakhr to the banner of the Muhājirūn</a:t>
            </a:r>
          </a:p>
          <a:p>
            <a:r>
              <a:t>Tier: CORE   When: before the hijra `[SOURCED]`</a:t>
            </a:r>
          </a:p>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MAP: a faint line from **إصطخر** (Fārs)</a:t>
            </a:r>
          </a:p>
          <a:p/>
          <a:p>
            <a:r>
              <a:t>عبرت: The books record where he came from in four words and what he became in four titles.</a:t>
            </a:r>
          </a:p>
          <a:p/>
          <a:p>
            <a:r>
              <a:t>HANDS UP: Before it: "Where do you think the man who led the Muhājirūn in prayer came from?"</a:t>
            </a:r>
          </a:p>
          <a:p/>
          <a:p>
            <a:r>
              <a:t>Source: سیر أعلام النبلاء ج۱ ص۱۶۷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AHA/E-AS07 · The imām at Qubāʾ</a:t>
            </a:r>
          </a:p>
          <a:p>
            <a:r>
              <a:t>Tier: CORE   When: before the Prophet ﷺ reached Medina `[SOURCED]`</a:t>
            </a:r>
          </a:p>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MAP: **قُباء**,</a:t>
            </a:r>
          </a:p>
          <a:p/>
          <a:p>
            <a:r>
              <a:t>عبرت: The first thing the Muhājirūn did on arriving was to put the best reciter in front,</a:t>
            </a:r>
          </a:p>
          <a:p/>
          <a:p>
            <a:r>
              <a:t>Source: سیر أعلام النبلاء ج۱ ص۱۶۸–۱۶۹ و</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AHA/E-AS08 · The night the Prophet ﷺ took his cloak and went out to listen</a:t>
            </a:r>
          </a:p>
          <a:p>
            <a:r>
              <a:t>Tier: CORE   When: Medina `[SOURCED]` — الذہبی: «إسناده جيد»</a:t>
            </a:r>
          </a:p>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MAP: n/a.</a:t>
            </a:r>
          </a:p>
          <a:p/>
          <a:p>
            <a:r>
              <a:t>عبرت: He was praised for what he carried, and the praise is recorded in the words the Prophet ﷺ</a:t>
            </a:r>
          </a:p>
          <a:p/>
          <a:p>
            <a:r>
              <a:t>Source: سیر أعلام النبلاء ج۱ ص۱۶۸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AHA/E-AS09 · Take the Qurʾān from four</a:t>
            </a:r>
          </a:p>
          <a:p>
            <a:r>
              <a:t>Tier: CORE   When: the Prophet's ﷺ lifetime `[SOURCED]`</a:t>
            </a:r>
          </a:p>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MAP: n/a.</a:t>
            </a:r>
          </a:p>
          <a:p/>
          <a:p>
            <a:r>
              <a:t>عبرت: Standing in this matter was decided by what a man carried, and by nothing else about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AHA/E-AS10 · The adoption undone, and the household that kept him anyway — ⚠ SPEAKER'S DISCRETION</a:t>
            </a:r>
          </a:p>
          <a:p>
            <a:r>
              <a:t>Tier: GOOD   When: Medina, after الأحزاب ۵ was revealed `[SOURCED]`</a:t>
            </a:r>
          </a:p>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MAP: n/a.</a:t>
            </a:r>
          </a:p>
          <a:p/>
          <a:p>
            <a:r>
              <a:t>عبرت: A ruling changed what he could be called, and it did not change what the household did</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AHA/E-AS11 · "A wretched bearer of the Qurʾān I should be"</a:t>
            </a:r>
          </a:p>
          <a:p>
            <a:r>
              <a:t>Tier: CORE   When: ۱۲ھ, at اليمامة `[SOURCED]`</a:t>
            </a:r>
          </a:p>
          <a:p/>
          <a:p>
            <a:r>
              <a:t>At al-Yamāma the Muslim line had already broken once. Sālim ؓ was holding the banner of the Muhājirūn — a banner the man before him had been killed carrying. The men around him asked him plainly whether he was afraid the line would be broken from his side. His answer was one sentence, and it is recorded in the same words by two separate books.</a:t>
            </a:r>
          </a:p>
          <a:p/>
          <a:p>
            <a:r>
              <a:t>MAP: **عَقْرَباء**, the Muhājirūn's</a:t>
            </a:r>
          </a:p>
          <a:p/>
          <a:p>
            <a:r>
              <a:t>عبرت: He answered a question about his courage by naming what he carried.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AHA/E-AS12 · "Adorn the Qurʾān with deeds"</a:t>
            </a:r>
          </a:p>
          <a:p>
            <a:r>
              <a:t>Tier: CORE   When: ۱۲ھ, at اليمامة `[SOURCED]`</a:t>
            </a:r>
          </a:p>
          <a:p/>
          <a:p>
            <a:r>
              <a:t>On the same field, in the same hour, Abū Ḥudhayfa ؓ was calling out to the men around him. He did not call them by tribe and he did not call them by clan. He called them the people of the Qurʾān, and told them what to do about it. Then he charged, drove the enemy back, and was struck down.</a:t>
            </a:r>
          </a:p>
          <a:p/>
          <a:p>
            <a:r>
              <a:t>MAP: **عَقْرَباء**, the Muhājirūn's wing.</a:t>
            </a:r>
          </a:p>
          <a:p/>
          <a:p>
            <a:r>
              <a:t>عبرت: The last thing he asked of anyone was that what they recited and what they did should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AHA/E-AS13 · The banner nobody would leave on the ground</a:t>
            </a:r>
          </a:p>
          <a:p>
            <a:r>
              <a:t>Tier: GOOD   When: ۱۲ھ, at اليمامة `[SOURCED]`</a:t>
            </a:r>
          </a:p>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MAP: **عَقْرَباء** — one marker, three</a:t>
            </a:r>
          </a:p>
          <a:p/>
          <a:p>
            <a:r>
              <a:t>عبرت: Every man who took it knew what had happened to the man before him.</a:t>
            </a:r>
          </a:p>
          <a:p/>
          <a:p>
            <a:r>
              <a:t>Source: سیر أعلام النبلاء ج۱ ص۲۹۸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AHA/E-AS14 · Two men who dug a pit and did not come out of it</a:t>
            </a:r>
          </a:p>
          <a:p>
            <a:r>
              <a:t>Tier: GOOD   When: ۱۲ھ, at اليمامة `[SOURCED]`</a:t>
            </a:r>
          </a:p>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MAP: **عَقْرَباء**, the point where the</a:t>
            </a:r>
          </a:p>
          <a:p/>
          <a:p>
            <a:r>
              <a:t>عبرت: They fixed the line by taking away their own ability to move back from it.</a:t>
            </a:r>
          </a:p>
          <a:p/>
          <a:p>
            <a:r>
              <a:t>Source: البدایہ والنہایہ ج۷ ص۴۸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AHA/E-AS15 · The hand, and the verse</a:t>
            </a:r>
          </a:p>
          <a:p>
            <a:r>
              <a:t>Tier: CORE   When: ۱۲ھ, at اليمامة `[SOURCED]`</a:t>
            </a:r>
          </a:p>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MAP: n/a — hold on the عَقْرَباء marker.</a:t>
            </a:r>
          </a:p>
          <a:p/>
          <a:p>
            <a:r>
              <a:t>عبرت: The verse that steadied Medina in the year eleven is the verse a man recited on the ground</a:t>
            </a:r>
          </a:p>
          <a:p/>
          <a:p>
            <a:r>
              <a:t>HANDS UP: Before it: "Does anyone remember the āya Abū Bakr ؓ read out the day the Prophet ﷺ</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AHA/E-AS16 · "Lay me down between them"</a:t>
            </a:r>
          </a:p>
          <a:p>
            <a:r>
              <a:t>Tier: CORE   When: ۱۲ھ, at اليمامة `[SOURCED]`</a:t>
            </a:r>
          </a:p>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MAP: n/a.</a:t>
            </a:r>
          </a:p>
          <a:p/>
          <a:p>
            <a:r>
              <a:t>عبرت: The freed slave's last request was to be put back beside the household that had taken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AHA/E-AS17 · How they were found</a:t>
            </a:r>
          </a:p>
          <a:p>
            <a:r>
              <a:t>Tier: GOOD   When: ۱۲ھ, after اليمامة `[SOURCED]` — reported by الذہبی as «وقيل»</a:t>
            </a:r>
          </a:p>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MAP: n/a.</a:t>
            </a:r>
          </a:p>
          <a:p/>
          <a:p>
            <a:r>
              <a:t>عبرت: The books that list the dead of that day put the master and the freedman on one line.</a:t>
            </a:r>
          </a:p>
          <a:p/>
          <a:p>
            <a:r>
              <a:t>Source: سیر أعلام النبلاء ج۱ ص۱۶۹</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AHA/E-AS18 · "Had Sālim been alive"</a:t>
            </a:r>
          </a:p>
          <a:p>
            <a:r>
              <a:t>Tier: CORE   When: ۲۳ھ, Medina `[SOURCED]`</a:t>
            </a:r>
          </a:p>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MAP: n/a — the timeline jumps forward eleven</a:t>
            </a:r>
          </a:p>
          <a:p/>
          <a:p>
            <a:r>
              <a:t>عبرت: Eleven years later, the man the Commander of the Faithful wished were still in the room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AHA/E-AS19 · The inheritance that was sent back</a:t>
            </a:r>
          </a:p>
          <a:p>
            <a:r>
              <a:t>Tier: GOOD   When: after ۱۲ھ `[SOURCED]`</a:t>
            </a:r>
          </a:p>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MAP: n/a.</a:t>
            </a:r>
          </a:p>
          <a:p/>
          <a:p>
            <a:r>
              <a:t>عبرت: She had a legal claim on what he left, and she said she had not freed him in order to</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 · The brother who went first</a:t>
            </a:r>
          </a:p>
          <a:p>
            <a:r>
              <a:t>Tier: CORE   When: بدر, ۲ھ `[SOURCED]`</a:t>
            </a:r>
          </a:p>
          <a:p/>
          <a:p>
            <a:r>
              <a:t>ʿUmar ؓ had an elder brother. His name was Zayd, and he accepted Islam before ʿUmar did. At Badr, ʿUmar ؓ offered him his own coat of mail to wear. Zayd ؓ would not take it. He told his younger brother that he wanted from martyrdom exactly what his brother wanted. So neither of them wore it, and both of them fought without it.</a:t>
            </a:r>
          </a:p>
          <a:p/>
          <a:p>
            <a:r>
              <a:t>MAP: n/a. Hold on the timeline strip; put a mark</a:t>
            </a:r>
          </a:p>
          <a:p/>
          <a:p>
            <a:r>
              <a:t>عبرت: He would not be protected past the point at which his brother was protected.</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ZIA/E-ZY2 · The banner, and the vow of silence</a:t>
            </a:r>
          </a:p>
          <a:p>
            <a:r>
              <a:t>Tier: CORE   When: اليمامة, ۱۲ھ `[SOURCED]`</a:t>
            </a:r>
          </a:p>
          <a:p/>
          <a:p>
            <a:r>
              <a:t>At al-Yamāma, Zayd ؓ was carrying a banner, and the line was going backwards. He told the men to bite down on their back teeth, strike into the enemy and go forward. Then he said that he would not speak again — not one more word — until either Allah routed them, or he met Allah and put his case to Him himself. He went forward with the banner and did not stop going forward. He was killed. The banner fell, and Sālim, the freedman of Abū Ḥudhayfa ؓ, picked it up.</a:t>
            </a:r>
          </a:p>
          <a:p/>
          <a:p>
            <a:r>
              <a:t>MAP: No movement. Hold on عَقْرَباء.</a:t>
            </a:r>
          </a:p>
          <a:p/>
          <a:p>
            <a:r>
              <a:t>عبرت: He put a limit on his own speech and none at all on his own advance.</a:t>
            </a:r>
          </a:p>
          <a:p/>
          <a:p>
            <a:r>
              <a:t>Source: البدایہ والنہایہ ج۷ ص۳۴</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ZIA/E-ZY3 · The first man out of their line</a:t>
            </a:r>
          </a:p>
          <a:p>
            <a:r>
              <a:t>Tier: GOOD   When: اليمامة, ۱۲ھ `[SOURCED]`</a:t>
            </a:r>
          </a:p>
          <a:p/>
          <a:p>
            <a:r>
              <a:t>The first man of Banū Ḥanīfa to reach the Muslim line that day was al-Rajjāl b. ʿUnfuwa. He had been a Muslim. He had memorised Sūrat al-Baqara. He had been sent to al-Yamāma as a teacher, and instead he had testified that the Prophet ﷺ had made Musaylima a partner in prophethood — and they believed him. Zayd b. al-Khaṭṭāb ؓ killed him.</a:t>
            </a:r>
          </a:p>
          <a:p/>
          <a:p>
            <a:r>
              <a:t>MAP: n/a.</a:t>
            </a:r>
          </a:p>
          <a:p/>
          <a:p>
            <a:r>
              <a:t>عبرت: The man who had carried the Qurʾān to them was the first thing that had to be stopped.</a:t>
            </a:r>
          </a:p>
          <a:p/>
          <a:p>
            <a:r>
              <a:t>Source: الکامل فی التاریخ ج۲ ص۲۱۶</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ZIA/E-ZY4 · The man who killed him</a:t>
            </a:r>
          </a:p>
          <a:p>
            <a:r>
              <a:t>Tier: CORE   When: اليمامة ۱۲ھ, and afterwards in المدینہ `[SOURCED]`</a:t>
            </a:r>
          </a:p>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MAP: n/a.</a:t>
            </a:r>
          </a:p>
          <a:p/>
          <a:p>
            <a:r>
              <a:t>عبرت: He did not ask to be forgiven; he told the brother what he thought Allah had done with</a:t>
            </a:r>
          </a:p>
          <a:p/>
          <a:p>
            <a:r>
              <a:t>HANDS UP: Before telling it: *"The man who killed your brother is standing in front of you, and</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ZIA/E-ZY5 · «He outstripped me to the two good things»</a:t>
            </a:r>
          </a:p>
          <a:p>
            <a:r>
              <a:t>Tier: CORE   When: ۱۲ھ, المدینہ `[SOURCED]`</a:t>
            </a:r>
          </a:p>
          <a:p/>
          <a:p>
            <a:r>
              <a:t>The news came back to Medina. What ʿUmar ؓ said when he heard it was not about the battle. It was a count of two things, and he had come second in both of them.</a:t>
            </a:r>
          </a:p>
          <a:p/>
          <a:p>
            <a:r>
              <a:t>MAP: n/a.</a:t>
            </a:r>
          </a:p>
          <a:p/>
          <a:p>
            <a:r>
              <a:t>عبرت: The measure he used on his own brother was the one he used on himself.</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ZIA/E-ZY6 · The east wind</a:t>
            </a:r>
          </a:p>
          <a:p>
            <a:r>
              <a:t>Tier: CORE   When: the years after ۱۲ھ `[SOURCED]`</a:t>
            </a:r>
          </a:p>
          <a:p/>
          <a:p>
            <a:r>
              <a:t>Al-Ṣabā is the east wind. It comes to Medina from the direction of al-Yamāma. ʿUmar ؓ used to say the same thing about it.</a:t>
            </a:r>
          </a:p>
          <a:p/>
          <a:p>
            <a:r>
              <a:t>MAP: n/a — or, if the map is up, put</a:t>
            </a:r>
          </a:p>
          <a:p/>
          <a:p>
            <a:r>
              <a:t>عبرت: The Companions' grief is recorded as carefully as their victories, and by the same men.</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ZIA/E-ZY7 · The poet, and the consolation</a:t>
            </a:r>
          </a:p>
          <a:p>
            <a:r>
              <a:t>Tier: GOOD   When: المدینہ, after ۱۲ھ `[SOURCED]`</a:t>
            </a:r>
          </a:p>
          <a:p/>
          <a:p>
            <a:r>
              <a:t>Mutammim b. Nuwayra was a poet of Banū Tamīm who had lost his brother in the same war, and he made an elegy for him. ʿUmar ؓ told him that if he were any good at poetry he would have said what Mutammim had said. Mutammim answered him. And ʿUmar ؓ said that nobody had ever consoled him like that.</a:t>
            </a:r>
          </a:p>
          <a:p/>
          <a:p>
            <a:r>
              <a:t>MAP: n/a.</a:t>
            </a:r>
          </a:p>
          <a:p/>
          <a:p>
            <a:r>
              <a:t>عبرت: He was consoled not by being told his grief was smaller, but by being told what his</a:t>
            </a:r>
          </a:p>
          <a:p/>
          <a:p>
            <a:r>
              <a:t>Source: البدایہ والنہایہ ج۷ ص۵۰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ZIA/E-ZY8 · Two brothers by appointment</a:t>
            </a:r>
          </a:p>
          <a:p>
            <a:r>
              <a:t>Tier: CORE   When: the مؤاخاة, on the arrival in المدینہ `[CONVENTIONAL-ESTIMATE]` — the</a:t>
            </a:r>
          </a:p>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MAP: Two dots — Mecca and</a:t>
            </a:r>
          </a:p>
          <a:p/>
          <a:p>
            <a:r>
              <a:t>عبرت: The tie was made in a year when they owned nothing, and it was still holding on the day</a:t>
            </a:r>
          </a:p>
          <a:p/>
          <a:p>
            <a:r>
              <a:t>HANDS UP: Before telling it: *"You are given a brother — not born to you, assigned to you. How</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ZIA/E-ZY9 · «So that I may confirm him dead»</a:t>
            </a:r>
          </a:p>
          <a:p>
            <a:r>
              <a:t>Tier: CORE   When: المدینہ ۱۱ھ → اليمامة ۱۲ھ `[SOURCED]`</a:t>
            </a:r>
          </a:p>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MAP: n/a.</a:t>
            </a:r>
          </a:p>
          <a:p/>
          <a:p>
            <a:r>
              <a:t>عبرت: He did not want to be spared what came next; he wanted to be there for it.</a:t>
            </a:r>
          </a:p>
          <a:p/>
          <a:p>
            <a:r>
              <a:t>Source: سیر أعلام النبلاء ج۱ ص۳۲۱</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ZIA/E-ZY10 · «Are you not content to live praised?»</a:t>
            </a:r>
          </a:p>
          <a:p>
            <a:r>
              <a:t>Tier: CORE   When: المدینہ, after the revelation of الحجرات `[SOURCED]`</a:t>
            </a:r>
          </a:p>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MAP: n/a.</a:t>
            </a:r>
          </a:p>
          <a:p/>
          <a:p>
            <a:r>
              <a:t>عبرت: He was told the end of his own life years before it happened, and then he lived as though</a:t>
            </a:r>
          </a:p>
          <a:p/>
          <a:p>
            <a:r>
              <a:t>Source: سیر أعلام النبلاء ج۱ ص۳۱۰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ZIA/E-ZY11 · The armour in the cooking pot</a:t>
            </a:r>
          </a:p>
          <a:p>
            <a:r>
              <a:t>Tier: CORE   When: اليمامة ۱۲ھ, and then المدینہ `[SOURCED]`</a:t>
            </a:r>
          </a:p>
          <a:p/>
          <a:p>
            <a:r>
              <a:t>Thābit b. Qays ؓ was killed at al-Yamāma and his coat of mail — a valuable one — was stolen off his body by a Muslim, who hid it. A man of the army then saw Thābit ؓ in a dream. In the dream, Thābit ؓ told him where the mail was: at the far end of the camp, under an upturned cooking pot with a pack-saddle set on top of it. Then he gave him three things to say to the caliph in Medina — a debt he owed, property he had, and a slave of his who was to be freed. And twice he told the man not to dismiss it as a dream and let it go to waste. The man went to Khālid ؓ. The mail was exactly where he had said. And in Medina Abū Bakr ؓ carried out the will of a man who was already dead.</a:t>
            </a:r>
          </a:p>
          <a:p/>
          <a:p>
            <a:r>
              <a:t>MAP: One line drawn from</a:t>
            </a:r>
          </a:p>
          <a:p/>
          <a:p>
            <a:r>
              <a:t>عبرت: The two things he sent back were the same two things: return what was taken, and pay what</a:t>
            </a:r>
          </a:p>
          <a:p/>
          <a:p>
            <a:r>
              <a:t>Source: البدایہ والنہایہ ج۷ ص۴۸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ZIA/E-ZY12 · The arrow he pulled out</a:t>
            </a:r>
          </a:p>
          <a:p>
            <a:r>
              <a:t>Tier: CORE   When: اليمامة, ۱۲ھ `[SOURCED]`</a:t>
            </a:r>
          </a:p>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MAP: No movement.</a:t>
            </a:r>
          </a:p>
          <a:p/>
          <a:p>
            <a:r>
              <a:t>عبرت: Nobody carried him out and nobody was asked to.</a:t>
            </a:r>
          </a:p>
          <a:p/>
          <a:p>
            <a:r>
              <a:t>Source: سیر أعلام النبلاء (سير الخلفاء الراشدين) ص۶۰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ZIA/E-ZY13 · The son of the head of the hypocrites</a:t>
            </a:r>
          </a:p>
          <a:p>
            <a:r>
              <a:t>Tier: GOOD   When: اليمامة, ۱۲ھ `[SOURCED]`</a:t>
            </a:r>
          </a:p>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MAP: n/a.</a:t>
            </a:r>
          </a:p>
          <a:p/>
          <a:p>
            <a:r>
              <a:t>عبرت: A man is not his father, and the books are careful to record that they were not confused</a:t>
            </a:r>
          </a:p>
          <a:p/>
          <a:p>
            <a:r>
              <a:t>Source: البدایہ والنہایہ ج۷ ص۵۳</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ZIA/E-ZY14 · Three generations, one morning</a:t>
            </a:r>
          </a:p>
          <a:p>
            <a:r>
              <a:t>Tier: GOOD   When: اليمامة, ۱۲ھ `[SOURCED]`</a:t>
            </a:r>
          </a:p>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MAP: n/a.</a:t>
            </a:r>
          </a:p>
          <a:p/>
          <a:p>
            <a:r>
              <a:t>عبرت: One household sent four men to one field and none of them came back.</a:t>
            </a:r>
          </a:p>
          <a:p/>
          <a:p>
            <a:r>
              <a:t>Source: البدایہ والنہایہ ج۷ ص۴۹ — the naming report: **صحيح البخاري ٦١٩٠**</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ZIA/E-ZY15 · The mother at al-Yamāma</a:t>
            </a:r>
          </a:p>
          <a:p>
            <a:r>
              <a:t>Tier: CORE   When: ۱۱ھ → ۱۲ھ `[SOURCED]`</a:t>
            </a:r>
          </a:p>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MAP: A single line from المدینہ to عَقْرَباء.</a:t>
            </a:r>
          </a:p>
          <a:p/>
          <a:p>
            <a:r>
              <a:t>عبرت: He was not asked to say anything; he was asked to hear something, and he would not.</a:t>
            </a:r>
          </a:p>
          <a:p/>
          <a:p>
            <a:r>
              <a:t>Source: البدایہ والنہایہ ج۳ ص۴۲۸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ZIA/E-ZY16 · The father at al-Yamāma, the son at al-Yarmūk</a:t>
            </a:r>
          </a:p>
          <a:p>
            <a:r>
              <a:t>Tier: GOOD   When: اليمامة ۱۲ھ, then اليرموك — whose own year is disputed in the sources</a:t>
            </a:r>
          </a:p>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MAP: Two marks a long way apart — عَقْرَباء in central Najd, and</a:t>
            </a:r>
          </a:p>
          <a:p/>
          <a:p>
            <a:r>
              <a:t>عبرت: He read his own end aloud before the battle, and then went into it anyway.</a:t>
            </a:r>
          </a:p>
          <a:p/>
          <a:p>
            <a:r>
              <a:t>Source: البدایہ والنہایہ ج۷ ص۵۲</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ZIA/E-ZY17 · The number nobody can give</a:t>
            </a:r>
          </a:p>
          <a:p>
            <a:r>
              <a:t>Tier: CORE   When: ۱۲ھ, after the battle `[SOURCED]`</a:t>
            </a:r>
          </a:p>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MAP: n/a — this is the last slide</a:t>
            </a:r>
          </a:p>
          <a:p/>
          <a:p>
            <a:r>
              <a:t>عبرت: They did not wait to find out how much had been lost before they secured what was left.</a:t>
            </a:r>
          </a:p>
          <a:p/>
          <a:p>
            <a:r>
              <a:t>HANDS UP: Before telling it: *"How many men who had the whole Qurʾān by heart died that day? What</a:t>
            </a:r>
          </a:p>
          <a:p/>
          <a:p>
            <a:r>
              <a:t>Source: البدایہ والنہایہ ج۷ ص۷۹ — **صحيح البخاري ٤٩٨٦**</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 · The order of battle at Uḥud</a:t>
            </a:r>
          </a:p>
          <a:p>
            <a:r>
              <a:t>Tier: CORE   When: شوال ۳ھ `[SOURCED]`</a:t>
            </a:r>
          </a:p>
          <a:p/>
          <a:p>
            <a:r>
              <a:t>At Uḥud, Quraysh brought three thousand men and two hundred horses. Ibn Isḥāq records exactly who led that cavalry. The right wing was under Khālid b. al-Walīd. The left wing was under ʿIkrima, the son of Abū Jahl. The whole army was commanded by Abū Sufyān b. Ḥarb. Hold those three names. Every one of them is a Muslim commander before this course reaches the year twenty-three.</a:t>
            </a:r>
          </a:p>
          <a:p/>
          <a:p>
            <a:r>
              <a:t>MAP: n/a — this is a picture, not a place. Put the two wings on a diagram.</a:t>
            </a:r>
          </a:p>
          <a:p/>
          <a:p>
            <a:r>
              <a:t>عبرت: A man's place in one line of battle is not his place in the next.</a:t>
            </a:r>
          </a:p>
          <a:p/>
          <a:p>
            <a:r>
              <a:t>HANDS UP: Yes — before naming them: "Who commanded the Meccan army at Uḥud?" Let the room answer, then give all three names.</a:t>
            </a:r>
          </a:p>
          <a:p/>
          <a:p>
            <a:r>
              <a:t>Source: البدایہ والنہایہ ج۴ ص۱۸۰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 · Waḥshī ؓ tells it himself, at Ḥimṣ</a:t>
            </a:r>
          </a:p>
          <a:p>
            <a:r>
              <a:t>Tier: CORE   When: the account was given in the days of Muʿāwiya ؓ `[SOURCED]`</a:t>
            </a:r>
          </a:p>
          <a:p/>
          <a:p>
            <a:r>
              <a:t>Two men travelling through Ḥimṣ decided to go and ask Waḥshī how he had killed Ḥamza ؓ. They were told they would find him outside his house. He was an old man by then. They greeted him; he raised his head and named one of them before they had asked him anything — he had last seen him as an infant being handed up to his wet-nurse, and he knew him by his feet. Then he told them the whole account. He began by saying he would tell it exactly as he had told it to the Prophet ﷺ.</a:t>
            </a:r>
          </a:p>
          <a:p/>
          <a:p>
            <a:r>
              <a:t>MAP: Ḥimṣ, northern Syria</a:t>
            </a:r>
          </a:p>
          <a:p/>
          <a:p>
            <a:r>
              <a:t>عبرت: Much of what we know about that day we know because someone went and asked the man who was there.</a:t>
            </a:r>
          </a:p>
          <a:p/>
          <a:p>
            <a:r>
              <a:t>Source: البدایہ والنہایہ ج۴ ص۱۸۴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TMW/E-TRN3 · "Keep your face away from me"</a:t>
            </a:r>
          </a:p>
          <a:p>
            <a:r>
              <a:t>Tier: CORE   When: after the fall of Ṭāʾif, ۸–۹ھ `[STANDARD]` (to verify — the page gives the sequence, not a year)</a:t>
            </a:r>
          </a:p>
          <a:p/>
          <a:p>
            <a:r>
              <a:t>After Mecca fell, Waḥshī ran to Ṭāʾif. When Ṭāʾif's delegation left to submit, he had nowhere left to go. A man told him the Prophet ﷺ kills no one who enters his religion. So he went to Medina and stood over the Prophet ﷺ and gave the testimony. The Prophet ﷺ saw him and knew him. He asked him to sit and tell how he had killed Ḥamza. Waḥshī told it. Then the Prophet ﷺ said what he said. Waḥshī ؓ kept out of his sight from that day until the Prophet ﷺ died.</a:t>
            </a:r>
          </a:p>
          <a:p/>
          <a:p>
            <a:r>
              <a:t>MAP: Ṭāʾif → Medina</a:t>
            </a:r>
          </a:p>
          <a:p/>
          <a:p>
            <a:r>
              <a:t>عبرت: He was accepted as a Muslim in the same moment, and what he was asked to spare was the sight of the man who had killed the Prophet's ﷺ uncle.</a:t>
            </a:r>
          </a:p>
          <a:p/>
          <a:p>
            <a:r>
              <a:t>HANDS UP: no — say the last sentence of the عبرت immediately, before the room draws its own conclusion.</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TMW/E-TRN4 · The same spear, at al-Yamāma</a:t>
            </a:r>
          </a:p>
          <a:p>
            <a:r>
              <a:t>Tier: CORE   When: ۱۲ھ `[STANDARD]` (to verify)</a:t>
            </a:r>
          </a:p>
          <a:p/>
          <a:p>
            <a:r>
              <a:t>When the army went out against Musaylima, Waḥshī ؓ went with it, and he took the same spear. He saw a man standing in a gap in a wall and did not know who it was. He threw. An Anṣārī came in from the other side with a sword. Waḥshī ؓ would never claim the kill for himself. What he said about the two throws of his life is on the page.</a:t>
            </a:r>
          </a:p>
          <a:p/>
          <a:p>
            <a:r>
              <a:t>MAP: ʿAqrabāʾ / al-Yamāma — sits directly beside the ḥadīqat al-mawt card</a:t>
            </a:r>
          </a:p>
          <a:p/>
          <a:p>
            <a:r>
              <a:t>عبرت: He never stopped weighing what he had done, and he never claimed more than he knew.</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TMW/E-TRN5 · The witness against the enemy</a:t>
            </a:r>
          </a:p>
          <a:p>
            <a:r>
              <a:t>Tier: GOOD   When: ۱۲ھ `[STANDARD]` (to verify)</a:t>
            </a:r>
          </a:p>
          <a:p/>
          <a:p>
            <a:r>
              <a:t>Waḥshī ؓ was asked about the men he had fought at al-Yamāma. He had spent his life among fighting men on both sides. His verdict on Musaylima's army was one sentence, and it was not the sentence anyone would expect from the winning side.</a:t>
            </a:r>
          </a:p>
          <a:p/>
          <a:p>
            <a:r>
              <a:t>MAP: al-Yamāma</a:t>
            </a:r>
          </a:p>
          <a:p/>
          <a:p>
            <a:r>
              <a:t>عبرت: The books preserved the enemy's courage in the words of the man who fought them.</a:t>
            </a:r>
          </a:p>
          <a:p/>
          <a:p>
            <a:r>
              <a:t>Source: سیر أعلام النبلاء، ج الخلفاء الراشدون ص۴۸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TMW/E-TRN6 · The ship, and the vow</a:t>
            </a:r>
          </a:p>
          <a:p>
            <a:r>
              <a:t>Tier: CORE   When: رمضان ۸ھ, at the Conquest `[STANDARD]` (to verify)</a:t>
            </a:r>
          </a:p>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a:p/>
          <a:p>
            <a:r>
              <a:t>MAP: Mecca → the Tihāma coast → the sea → back</a:t>
            </a:r>
          </a:p>
          <a:p/>
          <a:p>
            <a:r>
              <a:t>عبرت: He worked out the whole matter from one thing the people on the ship said, and he was right about what he would find.</a:t>
            </a:r>
          </a:p>
          <a:p/>
          <a:p>
            <a:r>
              <a:t>HANDS UP: Yes — "Whose son was ʿIkrima?" Let them say it. Then tell the card.</a:t>
            </a:r>
          </a:p>
          <a:p/>
          <a:p>
            <a:r>
              <a:t>Source: البدایہ والنہایہ ج۴ ص۵۵۰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TMW/E-TRN7 · Umm Ḥakīm ؓ goes after her husband</a:t>
            </a:r>
          </a:p>
          <a:p>
            <a:r>
              <a:t>Tier: CORE   When: رمضان ۸ھ `[STANDARD]` (to verify)</a:t>
            </a:r>
          </a:p>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MAP: Mecca → Yemen / Tihāma → Medina. This is a real journey; draw the arrow.</a:t>
            </a:r>
          </a:p>
          <a:p/>
          <a:p>
            <a:r>
              <a:t>عبرت: The safe-conduct that brought ʿIkrima ؓ back was asked for by his wife, in person.</a:t>
            </a:r>
          </a:p>
          <a:p/>
          <a:p>
            <a:r>
              <a:t>Source: سیر أعلام النبلاء، ج السیرۃ ۲ ص۱۶۴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TMW/E-TRN8 · The cloak</a:t>
            </a:r>
          </a:p>
          <a:p>
            <a:r>
              <a:t>Tier: CORE   When: ۸ھ `[STANDARD]` (to verify)</a:t>
            </a:r>
          </a:p>
          <a:p/>
          <a:p>
            <a:r>
              <a:t>ʿIkrima came in to the Prophet ﷺ with his wife. This is the son of the man who had led Quraysh against him at Badr, and who had been killed there. The books record what the Prophet ﷺ did when he saw him. He did not wait for him to reach the front. He got up.</a:t>
            </a:r>
          </a:p>
          <a:p/>
          <a:p>
            <a:r>
              <a:t>MAP: Medina</a:t>
            </a:r>
          </a:p>
          <a:p/>
          <a:p>
            <a:r>
              <a:t>عبرت: He was met by the man himself standing up, and the marriage he had come back to was left as it was.</a:t>
            </a:r>
          </a:p>
          <a:p/>
          <a:p>
            <a:r>
              <a:t>Source: سیر أعلام النبلاء، ج السیرۃ ۲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TMW/E-TRN9 · "Do not let me see you until you have proved yourself"</a:t>
            </a:r>
          </a:p>
          <a:p>
            <a:r>
              <a:t>Tier: CORE   When: ۱۱ھ `[SOURCED]` (البدایہ files it in the ridda year)</a:t>
            </a:r>
          </a:p>
          <a:p/>
          <a:p>
            <a:r>
              <a:t>Abū Bakr ؓ gave ʿIkrima ؓ one of the eleven banners and sent him against Musaylima, with Shuraḥbīl ؓ following. ʿIkrima ؓ attacked before Shuraḥbīl arrived, wanting the victory on his own, and was badly handled. The caliph wrote to him. Then he sent him on: first to ʿUmān, then to Mahra, then to Yemen and Ḥaḍramawt. He fought in every one of them.</a:t>
            </a:r>
          </a:p>
          <a:p/>
          <a:p>
            <a:r>
              <a:t>MAP: al-Yamāma → ʿUmān → Mahra → Yemen. Three arrows; this card carries a lot of the map.</a:t>
            </a:r>
          </a:p>
          <a:p/>
          <a:p>
            <a:r>
              <a:t>عبرت: He was corrected and kept, not corrected and dropped.</a:t>
            </a:r>
          </a:p>
          <a:p/>
          <a:p>
            <a:r>
              <a:t>Source: البدایہ والنہایہ ج۷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TMW/E-TRN10 · The muṣḥaf against his face</a:t>
            </a:r>
          </a:p>
          <a:p>
            <a:r>
              <a:t>Tier: CORE   When: his later life `[SOURCED]` (no year given)</a:t>
            </a:r>
          </a:p>
          <a:p/>
          <a:p>
            <a:r>
              <a:t>Ibn Kathīr records two things about ʿIkrima ؓ in his obituary notice. The first is a habit he had. The second is a remark other people made about him. Imām Aḥmad رحمہ اللہ later cited that habit as evidence in a question of law.</a:t>
            </a:r>
          </a:p>
          <a:p/>
          <a:p>
            <a:r>
              <a:t>MAP: n/a</a:t>
            </a:r>
          </a:p>
          <a:p/>
          <a:p>
            <a:r>
              <a:t>عبرت: The son of Abū Jahl kissed the Book and wept over it. (*Kissed* — «يُقبِّل» — is Ibn Kathīr's wording, which is what this card cites. "Held it to his face" is al-Dārimī's wording and must not be said under a Bidāya caption. See §3.6.)</a:t>
            </a:r>
          </a:p>
          <a:p/>
          <a:p>
            <a:r>
              <a:t>Source: البدایہ والنہایہ ج۷ ص۱۲۷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TMW/E-TRN11 · "And shall I run from you today?"</a:t>
            </a:r>
          </a:p>
          <a:p>
            <a:r>
              <a:t>Tier: CORE   When: يوم اليرموك, ۱۳ھ or ۱۵ھ — the books differ `[SOURCED]`</a:t>
            </a:r>
          </a:p>
          <a:p/>
          <a:p>
            <a:r>
              <a:t>The Byzantine line broke into the Muslim ranks and men gave ground. ʿIkrima ؓ stood up in front of Khālid's tent. He said one sentence about his own past, and then asked for men. His uncle al-Ḥārith b. Hishām ؓ was the first to answer him, and Ḍirār b. al-Azwar ؓ, and four hundred of the leading horsemen. Ibn Kathīr names his informant for this: Sayf b. ʿUmar.</a:t>
            </a:r>
          </a:p>
          <a:p/>
          <a:p>
            <a:r>
              <a:t>MAP: the Yarmūk</a:t>
            </a:r>
          </a:p>
          <a:p/>
          <a:p>
            <a:r>
              <a:t>عبرت: He used what he had been against Islam as the reason he would not fail it.</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TMW/E-TRN12 · The one cup</a:t>
            </a:r>
          </a:p>
          <a:p>
            <a:r>
              <a:t>Tier: CORE   When: the same day `[SOURCED]`</a:t>
            </a:r>
          </a:p>
          <a:p/>
          <a:p>
            <a:r>
              <a:t>The four hundred fought in front of Khālid's tent until every one of them was wounded. When they had been brought down they asked for water. One cup was brought. It was carried to one man; he looked at the man beside him and said, give it to him. It was carried to that man; he looked at the next and said the same. It went from hand to hand until they had all died and no one had drunk from it. Ibn Kathīr gives this from al-Wāqidī and others, and he does not name the men.</a:t>
            </a:r>
          </a:p>
          <a:p/>
          <a:p>
            <a:r>
              <a:t>MAP: the Yarmūk — tell it directly after E-TRN11, same slide</a:t>
            </a:r>
          </a:p>
          <a:p/>
          <a:p>
            <a:r>
              <a:t>عبرت: Each of them decided, while dying, that someone else needed it more.</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TMW/E-TRN13 · Ṭulayḥa at Buzākha — the question, and the answer he got</a:t>
            </a:r>
          </a:p>
          <a:p>
            <a:r>
              <a:t>Tier: GOOD   When: ۱۱ھ `[SOURCED]`</a:t>
            </a:r>
          </a:p>
          <a:p/>
          <a:p>
            <a:r>
              <a:t>At Buzākha, Ṭulayḥa's men were breaking. He asked one of them, plainly, what was defeating them. The answer he received explains the whole year better than any figure does.</a:t>
            </a:r>
          </a:p>
          <a:p/>
          <a:p>
            <a:r>
              <a:t>MAP: Buzākha, Najd — the map already carries this pin</a:t>
            </a:r>
          </a:p>
          <a:p/>
          <a:p>
            <a:r>
              <a:t>عبرت: The difference was not in the numbers, and the losing side could see it.</a:t>
            </a:r>
          </a:p>
          <a:p/>
          <a:p>
            <a:r>
              <a:t>HANDS UP: Yes — "Why did the ridda armies lose?" Take two or three answers, then read this.</a:t>
            </a:r>
          </a:p>
          <a:p/>
          <a:p>
            <a:r>
              <a:t>Source: سیر أعلام النبلاء، ج الخلفاء الراشدون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TMW/E-TRN14 · Ṭulayḥa ؓ comes back</a:t>
            </a:r>
          </a:p>
          <a:p>
            <a:r>
              <a:t>Tier: CORE   When: at the end of Abū Bakr ؓ's caliphate or just after — the books differ `[SOURCED]`</a:t>
            </a:r>
          </a:p>
          <a:p/>
          <a:p>
            <a:r>
              <a:t>Ṭulayḥa did not die at Buzākha. He escaped to Syria and lived among the Ghassānids. Then he returned to Islam. He went to Mecca for ʿumra. Ibn Kathīr says twice that he could not bring himself to face Abū Bakr ؓ. Then he came to greet ʿUmar ؓ. ʿUmar ؓ named the two men he had killed at Buzākha and told him to get away from him. Ṭulayḥa ؓ answered. The answer is on the page, and so is what ʿUmar ؓ did about it.</a:t>
            </a:r>
          </a:p>
          <a:p/>
          <a:p>
            <a:r>
              <a:t>MAP: Syria (Āl Jafna) → Mecca for ʿumra → Medina</a:t>
            </a:r>
          </a:p>
          <a:p/>
          <a:p>
            <a:r>
              <a:t>عبرت: He did not deny what he had done, and he did not excuse it either.</a:t>
            </a:r>
          </a:p>
          <a:p/>
          <a:p>
            <a:r>
              <a:t>HANDS UP: Yes — this is the payoff. "Last time we left Ṭulayḥa riding away from Buzākha. What do you think became of him?" Take answers. Then tell it.</a:t>
            </a:r>
          </a:p>
          <a:p/>
          <a:p>
            <a:r>
              <a:t>Source: البدایہ والنہایہ ج۷ ص۲۴۲</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TMW/E-TRN15 · Consulted, never commanded</a:t>
            </a:r>
          </a:p>
          <a:p>
            <a:r>
              <a:t>Tier: GOOD   When: the caliphates of Abū Bakr ؓ and ʿUmar ؓ `[SOURCED]`</a:t>
            </a:r>
          </a:p>
          <a:p/>
          <a:p>
            <a:r>
              <a:t>Ṭulayḥa ؓ went back into the armies and fought at Qādisiyya and Nahāwand. Ibn Saʿd says he was reckoned the equal of a thousand horsemen. But a standing instruction followed him: he was to be consulted about war, and given no command. Ibn Kathīr reads that as deliberate — a man who had wanted leadership was to be given everything except leadership — and he calls it part of Abū Bakr ؓ's fiqh.</a:t>
            </a:r>
          </a:p>
          <a:p/>
          <a:p>
            <a:r>
              <a:t>MAP: n/a</a:t>
            </a:r>
          </a:p>
          <a:p/>
          <a:p>
            <a:r>
              <a:t>عبرت: Trusting a man's judgement and trusting him with power are two different decisions.</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TMW/E-TRN16 · The night ride at Nahāwand</a:t>
            </a:r>
          </a:p>
          <a:p>
            <a:r>
              <a:t>Tier: CORE   When: ۲۱ھ `[SOURCED]` — as Ibn ʿAsākir transmits it</a:t>
            </a:r>
          </a:p>
          <a:p/>
          <a:p>
            <a:r>
              <a:t>Before Nahāwand, al-Nuʿmān b. Muqarrin ؓ sent three men ahead to scout. The party rode a day and a night; one of the three turned back, then the second after him. Ṭulayḥa ؓ rode on alone, more than twenty parasangs, right up to the Persian position. He was gone so long that the army decided he had gone over. Word went round that he had apostatised a second time. He heard about it when he came back, and he asked them what was wrong, and they told him. Then he answered.</a:t>
            </a:r>
          </a:p>
          <a:p/>
          <a:p>
            <a:r>
              <a:t>MAP: Nahāwand, on the Persian plateau</a:t>
            </a:r>
          </a:p>
          <a:p/>
          <a:p>
            <a:r>
              <a:t>عبرت: A man may carry a reputation for years after he has stopped deserving it.</a:t>
            </a:r>
          </a:p>
          <a:p/>
          <a:p>
            <a:r>
              <a:t>Source: الکامل فی التاریخ ج۲ ص۳۹۴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TMW/E-TRN17 · How Ṭulayḥa ؓ died, and how al-Dhahabī closes the entry</a:t>
            </a:r>
          </a:p>
          <a:p>
            <a:r>
              <a:t>Tier: GOOD   When: Nahāwand, ۲۱ھ `[SOURCED]` — Ibn ʿAsākir's transmission, in Ibn Kathīr</a:t>
            </a:r>
          </a:p>
          <a:p/>
          <a:p>
            <a:r>
              <a:t>Ibn Kathīr files his death notice under the year twenty-one and quotes Ibn ʿAsākir: he was martyred at Nahāwand, in the same battle as al-Nuʿmān b. Muqarrin ؓ and ʿAmr b. Maʿdī Karib ؓ. Al-Dhahabī gives no year at all. He gives one sentence, and then he adds a word to the usual formula that he does not add for most men.</a:t>
            </a:r>
          </a:p>
          <a:p/>
          <a:p>
            <a:r>
              <a:t>MAP: Nahāwand</a:t>
            </a:r>
          </a:p>
          <a:p/>
          <a:p>
            <a:r>
              <a:t>عبرت: The scholar who wrote his life would not drop either half of it.</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TMW/E-TRN18 · The voice under his son's banner</a:t>
            </a:r>
          </a:p>
          <a:p>
            <a:r>
              <a:t>Tier: CORE   When: يوم اليرموك `[SOURCED]`</a:t>
            </a:r>
          </a:p>
          <a:p/>
          <a:p>
            <a:r>
              <a:t>Abū Sufyān b. Ḥarb ؓ had commanded the Quraysh army at Uḥud and at the Trench. He had lost one eye at Ṭāʾif and lost the second at the Yarmūk. Saʿīd b. al-Musayyib's father was there. He says the noise of the battle dropped away, and there was one voice left carrying over the field. He looked up to see whose it was.</a:t>
            </a:r>
          </a:p>
          <a:p/>
          <a:p>
            <a:r>
              <a:t>MAP: the Yarmūk</a:t>
            </a:r>
          </a:p>
          <a:p/>
          <a:p>
            <a:r>
              <a:t>عبرت: He could no longer see the battle he was calling men into.</a:t>
            </a:r>
          </a:p>
          <a:p/>
          <a:p>
            <a:r>
              <a:t>HANDS UP: Yes — "Who commanded Quraysh at Uḥud?" Then this.</a:t>
            </a:r>
          </a:p>
          <a:p/>
          <a:p>
            <a:r>
              <a:t>Source: سیر أعلام النبلاء، ج الخلفاء الراشدون ص۱۰۸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TMW/E-TRN19 · Abū Bakr ؓ walks beside the stirrup</a:t>
            </a:r>
          </a:p>
          <a:p>
            <a:r>
              <a:t>Tier: GOOD   When: ۱۳ھ, the sending of the Syrian armies `[STANDARD]` (to verify)</a:t>
            </a:r>
          </a:p>
          <a:p/>
          <a:p>
            <a:r>
              <a:t>Yazīd b. Abī Sufyān ؓ was one of four commanders Abū Bakr ؓ appointed for the Syrian campaign. He was called Yazīd al-Khayr. He was the brother of Umm Ḥabība ؓ, the Mother of the Believers. His father had led the army at Uḥud. When Abū Bakr ؓ tied his standard for him, he did not stand and watch him ride out. Al-Dhahabī says plainly why.</a:t>
            </a:r>
          </a:p>
          <a:p/>
          <a:p>
            <a:r>
              <a:t>MAP: Medina → Syria</a:t>
            </a:r>
          </a:p>
          <a:p/>
          <a:p>
            <a:r>
              <a:t>عبرت: The caliph walked and the commander rode, and neither of them thought it strange.</a:t>
            </a:r>
          </a:p>
          <a:p/>
          <a:p>
            <a:r>
              <a:t>Source: سیر أعلام النبلاء ج۱ ص۳۲۹</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TMW/E-TRN20 · Two men on the same road</a:t>
            </a:r>
          </a:p>
          <a:p>
            <a:r>
              <a:t>Tier: GOOD   When: ṣafar ۸ھ `[SOURCED]` — al-Wāqidī's transmission</a:t>
            </a:r>
          </a:p>
          <a:p/>
          <a:p>
            <a:r>
              <a:t>ʿAmr b. al-ʿĀṣ had fought against the Muslims at Badr, Uḥud and the Trench and got away each time. He went to the Negus with a plan and came back with a different one. Riding north he saw two men ahead of him at a stopping place. One of them was Khālid b. al-Walīd. He asked him where he was going. Then a third man came out of the tent: ʿUthmān b. Ṭalḥa, the doorkeeper of the Kaʿba. All three were going to the same place for the same reason. They travelled the rest of the way together.</a:t>
            </a:r>
          </a:p>
          <a:p/>
          <a:p>
            <a:r>
              <a:t>MAP: the Red Sea coast → Medina</a:t>
            </a:r>
          </a:p>
          <a:p/>
          <a:p>
            <a:r>
              <a:t>عبرت: Neither of them knew the other was coming.</a:t>
            </a:r>
          </a:p>
          <a:p/>
          <a:p>
            <a:r>
              <a:t>Source: سیر أعلام النبلاء، ج السیرۃ ۲ ص۱۱۳</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TMW/E-TRN21 · The ḥadīth about the Sword of Allah, and who carries it</a:t>
            </a:r>
          </a:p>
          <a:p>
            <a:r>
              <a:t>Tier: CORE   When: ۱۱ھ, at the ridda appointment `[SOURCED]`</a:t>
            </a:r>
          </a:p>
          <a:p/>
          <a:p>
            <a:r>
              <a:t>When Abū Bakr ؓ gave Khālid ؓ the command over the ridda campaign, he quoted something he had heard the Prophet ﷺ say about him. Ibn Kathīr puts the ḥadīth on the page at exactly that moment. The man who transmits it is Waḥshī b. Ḥarb ؓ. Twelve years earlier, at Uḥud, the same two men had been on the same side of the field — and it was the other side.</a:t>
            </a:r>
          </a:p>
          <a:p/>
          <a:p>
            <a:r>
              <a:t>MAP: Medina / Dhū al-Qaṣṣa</a:t>
            </a:r>
          </a:p>
          <a:p/>
          <a:p>
            <a:r>
              <a:t>عبرت: The praise of one of them reaches us through the other.</a:t>
            </a:r>
          </a:p>
          <a:p/>
          <a:p>
            <a:r>
              <a:t>Source: البدایہ والنہایہ ج۷ ص۲۴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TMW/E-TRN22 · Where ʿIkrima ؓ died — and why we cannot say</a:t>
            </a:r>
          </a:p>
          <a:p>
            <a:r>
              <a:t>Tier: GOOD   When: ۱۳ھ or ۱۵ھ `[SOURCED]` for the disagreement itself</a:t>
            </a:r>
          </a:p>
          <a:p/>
          <a:p>
            <a:r>
              <a:t>ʿIkrima ؓ was killed in Syria. The books do not agree where. ʿUrwa, Ibn Saʿd and others say Ajnādayn. Abū Isḥāq al-Sabīʿī says the Yarmūk, and adds that he had dismounted from his horse and fought on foot, and when they found him there were more than seventy wounds on his body — stabs, arrow-strikes and sword-cuts. Ibn Kathīr carries both, in different chapters of the same book. This is what an honest history looks like when it has two reports and no way to choose.</a:t>
            </a:r>
          </a:p>
          <a:p/>
          <a:p>
            <a:r>
              <a:t>MAP: Ajnādayn and the Yarmūk — put both pins up, one struck through</a:t>
            </a:r>
          </a:p>
          <a:p/>
          <a:p>
            <a:r>
              <a:t>عبرت: Where the books disagree, we say they disagree.</a:t>
            </a:r>
          </a:p>
          <a:p/>
          <a:p>
            <a:r>
              <a:t>Source: سیر أعلام النبلاء ج۱ ص۳۲۴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TMW/E-TRN23 · The house of Abū Jahl at Ajnādayn</a:t>
            </a:r>
          </a:p>
          <a:p>
            <a:r>
              <a:t>Tier: GOOD   When: ۱۳ھ `[SOURCED]`</a:t>
            </a:r>
          </a:p>
          <a:p/>
          <a:p>
            <a:r>
              <a:t>When Ibn Kathīr lists the men killed at Ajnādayn he names, in one line, ʿIkrima b. Abī Jahl ؓ and his uncle Salama b. Hishām ؓ. Salama ؓ was one of the earliest Muslims; he had emigrated to Abyssinia, come back, and been imprisoned in Mecca by his own brother — and the Prophet ﷺ used to pray for him by name in the qunūt. Al-Ḥārith b. Hishām ؓ, another brother of Abū Jahl, survived to die in the plague five years later.</a:t>
            </a:r>
          </a:p>
          <a:p/>
          <a:p>
            <a:r>
              <a:t>MAP: Ajnādayn, Palestine</a:t>
            </a:r>
          </a:p>
          <a:p/>
          <a:p>
            <a:r>
              <a:t>عبرت: By the year thirteen the household of Abū Jahl was fighting as one, on the other side.</a:t>
            </a:r>
          </a:p>
          <a:p/>
          <a:p>
            <a:r>
              <a:t>Source: البدایہ والنہایہ ج۷ ص۱۲۱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TMW/E-TRN24 · Al-Dhahabī on Abū Sufyān ؓ, unsoftened</a:t>
            </a:r>
          </a:p>
          <a:p>
            <a:r>
              <a:t>Tier: GOOD   When: رمضان ۸ھ `[STANDARD]` (to verify)</a:t>
            </a:r>
          </a:p>
          <a:p/>
          <a:p>
            <a:r>
              <a:t>Al-Dhahabī رحمہ اللہ wrote a life of Abū Sufyān ؓ and did not smooth it. He states what the man had been, states that Allah rescued him, states plainly how he entered Islam, and then states, in four words, that it did not stay that way. It is worth reading exactly as he wrote it, because it shows how the tradition itself handles a difficult life.</a:t>
            </a:r>
          </a:p>
          <a:p/>
          <a:p>
            <a:r>
              <a:t>MAP: Mecca</a:t>
            </a:r>
          </a:p>
          <a:p/>
          <a:p>
            <a:r>
              <a:t>عبرت: The books record how a man began as well as how he ended.</a:t>
            </a:r>
          </a:p>
          <a:p/>
          <a:p>
            <a:r>
              <a:t>Source: سیر أعلام النبلاء ج۲ ص۱۰۶</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TMW/E-TRN25 · How Muʿāwiya ؓ came to hold Syria</a:t>
            </a:r>
          </a:p>
          <a:p>
            <a:r>
              <a:t>Tier: GOOD   When: ۱۸ھ, in the plague `[SOURCED]` — the name ʿAmwās is `[STANDARD]` (to verify; سیر ج۱ ص۳۳۰ says only «الطاعون»)</a:t>
            </a:r>
          </a:p>
          <a:p/>
          <a:p>
            <a:r>
              <a:t>Yazīd b. Abī Sufyān ؓ was governor of Damascus. When the plague took him he was dying, and he named his own brother Muʿāwiya ؓ over his command. ʿUmar ؓ confirmed it — al-Dhahabī says out of respect for Yazīd ؓ and to carry out his appointment. The same plague took Abū ʿUbayda ؓ, Muʿādh b. Jabal ؓ, Shuraḥbīl b. Ḥasana ؓ, al-Ḥārith b. Hishām ؓ and Abū Jandal b. Suhayl ؓ.</a:t>
            </a:r>
          </a:p>
          <a:p/>
          <a:p>
            <a:r>
              <a:t>MAP: Damascus</a:t>
            </a:r>
          </a:p>
          <a:p/>
          <a:p>
            <a:r>
              <a:t>عبرت: A great deal of what comes later begins in a single administrative decision made at a deathbed.</a:t>
            </a:r>
          </a:p>
          <a:p/>
          <a:p>
            <a:r>
              <a:t>HANDS UP: no — but say the last clause slowly. It is the seed of session 4.</a:t>
            </a:r>
          </a:p>
          <a:p/>
          <a:p>
            <a:r>
              <a:t>Source: سیر أعلام النبلاء ج۱ ص۳۳۰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375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Setting: the tribal map, and why the Ridda took its shape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any arrow is drawn…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was a map of kin, not a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معد: فوُلِد له أربعة: نزار، وقضاعة، وقُنُص، وإياد … وأما نزار: فولد لهم ربيعة ومضر وأنمار.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Maʿadd: four were born to him — Nizār, Quḍāʿa, Qunuṣ and Iyād … And as for Nizār: Rabīʿa, Muḍar and Anmār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Ten sons of Sabaʾ, in the Prophet's ﷺ own…</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 هو رجل ولد عشرة، فسكن اليمن منهم ستة، وبالشام منهم أربعة. فأما اليمانيون فمَذْحِج وكِنْدة والأَزْد والأشعريون وأَنْمار وحِمْيَر. وأما الشامية فلَخْم وجُذام وعامِلة وغَسّان.</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"Rather, he was a man who had ten children. Six of them settled in Yemen and four of them in Syria. As for the…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long before Islam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dam broke, and the tribes went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book carries an account of why the southern tribes left Yemen — the dam at Maʾrib, and the flood. ʿAmr b. ʿĀmir left, and the Azd said they would…. Landscape, architecture, ob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Quraysh begins, and the two answers the book…</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ابن هشام: النضر هو قُريش، فمن كان من ولده فهو قرشي، ومن لم يكن من ولده فليس بقرشي.</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"Ibn Hishām said: al-Naḍr is Quraysh. Whoever is of his children is a Qurashī, and whoever is not of his children is not a…</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the hijra onward</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Quraysh and the Anṣār were the two halves of…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ومنهم الأوس والخزرج، نزلوا بيثرب وهي المدينة النبوية اليوم، فكانوا أول من سكنها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among them were the Aws and the Khazraj: they settled at Yathrib — which today is the Prophet's city — and they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break actually was — Ibn Kathīr's own…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فصل في تصدّي الصِّدّيق لِقتالِ أهلِ الرِّدة ومانِعي الزَّكاة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section on al-Ṣiddīq's undertaking to fight the people of the ridda and those who withheld the zakāt."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as the delegations arrive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refusals, not one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وجَعَلَتْ وفودُ العرب تقدم المدينة يقرُّون بالصلاة ويمتنعون من أداء الزكاة، ومنهم من امتنعَ من دفعها إلى الصّدّيق</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delegations of the Arabs began coming to Medina, affirming the prayer and refusing to render the zakāt — and among them were those…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Companions proposed going easy, and he refused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تكلَّم الصحابةُ مع الصّديق في أن يتركهم وما هم عليه من منعِ الزكاةِ ويتألَّفهم حتى يمكّنَ الإيمانُ في قلوبهم: ثم هم بعد ذلك يُزَكُّونَ، فامتنعَ الصّديق من ذلك وأباه.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Companions spoke to al-Ṣiddīq about leaving them and what they were upon of withholding the zakāt, and conciliating them until faith took 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«لو مَنَعوني عِقالًا» — and what ʿUmar ؓ said…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ʿUmar ؓ put the objection to Abū Bakr ؓ directly: on what basis are you fighting people who say the shahāda, when the Messenger of Allah ﷺ said that once…. Landscape, architecture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tribe, three answers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 the ridda: some of them apostatised and withheld the zakāt; some of them sent…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again at afterwards…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ʿUyayna b. Ḥiṣn says why he followed Ṭulayḥa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لَنبيٌّ من بني أسدٍ أحبُّ إليَّ من نبيٍّ من بني هاشم، وقد مات محمدٌ وهذا طُلَيْحةُ فاتَّبعوه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a prophet from Banū Asad is dearer to me than a prophet from Banū Hāshim. Muḥammad has died, and this is Ṭulayḥa…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followed Musaylima knowing he was lying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bear witness that you are a liar and that Muḥammad is truthful — but a liar of Rabīʿa is dearer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that puts the objection as politics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أطعنَا رسولَ اللهِ إذْ كانَ بَيْننا … فواعَجَبًا ما بَالُ مُلْكِ أبي بَكْرِ</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(and again, vol. 7, p.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claimants, and when each of them began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 طُلَيْحةُ الأسديُّ ارتدَّ في حياةِ النبي ﷺ</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"Ṭulayḥa al-Asadī had apostatised in the lifetime of the Prophet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مُسَيْلَمة رسولِ اللهِ إلى محمدٍ رسولِ الله، سلامٌ عَلَيْكَ، أما بعدُ، فإني قد أُشْرِكْتُ في الأمْرِ معكَ، فإنّ لنا نِصْفَ الأمْرِ، ولقُرَيشٍ نصف الأمْرِ، ولكن قُريشًا قومٌ يَعْتدون.</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Musaylima the Messenger of Allah, to Muḥammad the Messenger of Allah. Peace be upon you. To proceed: I have been given a share…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 and the piece of palm-branch</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لو سألتني هذه القطعة ما أعطيتكها، ولن تعدوَ أمرَ اللهِ فيك، ولئن أدبرتَ ليعقرنَّك اللهُ</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4373, via, vol. 5, p.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two bracelets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بينا أنا نائم أتيتُ بخزائن الأرض، فوُضع في كفي سواران من ذهب، فكَبُرا عليّ، فأُوحي إليَّ أن انفُخْهما، فنفختُهما، فذهبا فأوَّلتهما الكَذَّابَيْن اللذين أنا بينهما؛ صاحبَ صَنْعاء، وصاحبَ اليَمامة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4375, via, vol. 5, p.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إذ أقبلت سجاح بنتُ الحارث بن سويد بن عقفان التغلبية من الجزيرة، وهي من نصارى العرب، وقد ادَّعتِ النبوَّة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Sajāḥ bint al-Ḥārith b. Suwayd b. ʿAqfān al-Taghlibiyya came forward from al-Jazīra — and she was of the Christians of the Arabs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al-Yamama, and afterwards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 to the other claimant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انثنت سَجَاح راجعةً إلى بلادها … فكرَّتْ راجعةً إلى الجزيرة بعدما قبضَتْ من مسيلمة نصفَ خراجِ أرضِهِ، فأقامت في قومها بني تَغْلِب، إلى زمان معاوية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Sajāḥ turned back to her own country … she went back to al-Jazīra after she had taken from Musaylima half the kharāj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after Buzakha, in Abū Bakr's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Ṭulayḥa comes back, and the letter about how to…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الصّدّيق إلى خالدٍ، أن استَشِرْهُ في الحرب ولا تُؤَمِّره — يعني معاملته له بنقيض ما كان قصده من الرئاسة في الباطن — وهذا من فقه الصّدّيق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al-Ṣiddīq wrote to Khālid: consult him in the fighting, and do not put him in command — meaning that he dealt with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«ما خلا أهل المسجدين» — and the book's own…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محمد بن إسحاق: ارتدَّتِ العربُ عند وفاةِ رسول الله ﷺ ما خلا أهل المسجدين، مكة، والمدينة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b. Isḥāq said: the Arabs apostatised at the death of the Messenger of Allah ﷺ, except the people of the two mosques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delegation was in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had been Muslim for two years, and did…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كانت ثقيفُ بالطائف ثَبَتوا على الإسلام، لم يفرُّوا ولا ارتدّوا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 did not flee and they did not apostatise."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ʿAdī b. Ḥātim ؓ, and the two names Ṭayyiʾ…</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فكان عديٌّ خيرَ مولودٍ وأعظمَهُ بركةً على قومه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"ʿAdī was the best child ever born and the greatest of them in blessing upon his own people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 asks his tribe five questions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 — and I bear witness that there is no god but Allah and that Muḥammad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stood on both sides of the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 Laqīṭ b. Mālik al-Azdī — who used to be called al-Julandā in the Jāhiliyya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Prophet's ﷺ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«قُتل العنسيُّ البارحةَ»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أتى الخبرُ إلى النبي ﷺ من السماء الليلةَ التي قُتل فيه العنسي ليبشّرنا، فقال: قُتل العنسيُّ البارحةَ، قتله رجلٌ مباركٌ من أهل بيتٍ مباركين، قيل: ومنْ؟ قال: فيروزُ فيروزُ.</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news came to the Prophet ﷺ from heaven on the night al-ʿAnsī was killed, to give us good tidings. He said: al-ʿAnsī was…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days of prayer, and then the ground moved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Fayrūz ؓ tells it himself, and it is the best account in the sources of what the news of the Prophet's ﷺ death actually did. We killed al-Aswad, he says,…. Landscape,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months before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long the first false prophet ruled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قيل: إنَّ مدةَ مُلكه منذ ظهر إلى أن قتل ثلاثة أشهر، ويقال: أربعة أشهر، فالله أعلم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been said that the duration of his rule, from when he appeared until he was killed, was three months —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the map has no lines on it</a:t>
            </a:r>
          </a:p>
        </p:txBody>
      </p:sp>
      <p:sp>
        <p:nvSpPr>
          <p:cNvPr id="5" name="TextBox 4"/>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بالضم والخاء المعجمة: ماء لطيِّئ بأرض نجد، وقيل لبني أسد، كانت فيه وقعة عظيمة في أيام أبي بكر الصديق مع طليحة الأسدي</a:t>
            </a:r>
          </a:p>
        </p:txBody>
      </p:sp>
      <p:sp>
        <p:nvSpPr>
          <p:cNvPr id="6" name="Rectangle 5"/>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editor's footnote at (quoting ), not, vol. 7, p. 25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Ridda wars: the campaign, front by front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within days of the delegation's…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same night as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rides out himself — al-Abraq</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after Usāma's ؓ army had…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Eleven banners at Dhu al-Qassa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 the eleven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approaching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Buzakha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Zaml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al-Fuja'a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al-Butah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(the speaker is Abu Bakr ؓ, vol. 2, p. 213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 — Aqraba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Hadiqat al-Mawt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Juwatha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Darin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Darin</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Daba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siege of the war…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in ʿUmar's ؓ caliphate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vol. 2, p. 232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reprisals, and the objection that was spoken aloud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 فَقَالَ عُمَرُ لأَبِي بَكْرٍ: أَتَدَعُ رَجُلاً يُعَذِّبُ بِعَذَابِ اللهِ؟ قَالَ: وَاللهِ لاَ أَشِيْمُ سَيْفاً سَلَّهُ اللهُ عَلَى عَدُوِّهِ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Abū Bakr: Will you leave a man who punishes with the punishment of Allah? He said: By Allah, I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372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ʿAlī ؓ takes the reins: «sheathe your sword»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 يَوْمَ أُحُدٍ: شِمْ سَيْفَكَ، لَا تُفْجِعْنَا بِنَفْسِكَ، فَوَاللَّهِ لَئِنْ أُصِبْنَا بِكَ لَا يَكُونُ لِلْإِسْلَامِ نِظَامٌ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day of Uḥud: Sheathe your sword, do not bereave us of yourself — for by Allah, if we are struck through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eleven banners — who went where</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In a single sitting at Dhū al-Qaṣṣa, one day's ride from Medina, Abū Bakr ؓ tied eleven banners and gave each commander a region. The two books disagree on the…. Landscape, archit</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eleven arrows out of…</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In a single sitting at Dhū al-Qaṣṣa, one…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Usama ؓ, and the Qur'an collected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day after the Prophet ﷺ…</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connected…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marched 11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told later, about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 : begun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undated — ؓ is speaking…</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 across two more…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onward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with…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death of Abu Bakr ؓ, and the succession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fifteen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Monday evening, 8 nights remaining of…</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burial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moment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the Syrian front…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of the burial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covenant was read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and six months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first six months of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 year before the death, 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Iraq, Shām, and Yarmuk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vol. 7, p. 83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nights remaining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91–92]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95–96]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and the death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mid 14 AH per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14 AH; the sequence…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13 AH, on ʿUmar ؓ's accession…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(after Qinnasrīn), and again…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at Homs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again…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vol. 7, p. 89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al-Qadisiyya, the embassy to Rustam, and al-Mada'</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morning after Abu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fourth day of the…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days after the Bridge…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1 14</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at the parting</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(the year is disputed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 of the embassies…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four days of al-Qadisiyya, 14…</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past noon on the fourth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wind, a mule, and the end of Rustam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four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at al-Mada'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 14 or 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 at al-Mada'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Bayt al-Maqdis and the the Umari Covenant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AH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arrival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stones at al-Jabiya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the road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at al-Jabiya; the document says…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entering the sanctuary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entry and the following dawn…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 before the surrender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sermon at al-Jabiya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meeting</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Ubayda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al-Jabiya → Bayt al-Maqdis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at al-Jabiya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year nobody can fix</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stories that are not in the books</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Umar ؓ builds a state — and the two trials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his accession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per ; 17 or…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per [SOURCED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near the end, before 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fixing of the stipends…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standing practice throughout the caliphate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 carries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after — same…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 at , the same…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letter Abu Ubayda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or 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when the spoils of…</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closing card for the whole strand…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Nahawand, the assassination, and the shura</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( 7 225;…</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 days before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Wednesday, four nights remaining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method, spoken inside the story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 — recorded,…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the house of Umm Sulaym ؓ</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إِنِّي فِيْكَ لَرَاغِبَةٌ، وَمَا مِثْلُكَ يُرَدُّ، وَلَكِنَّكَ كَافِرٌ، فَإِنْ تُسْلِمْ فَذَلِكَ مَهْرِي، لاَ أَسْأَلُكَ غَيْرَهُ.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indeed willing in your case, and a man like you is not refused; but you are a disbeliever. If you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soon after the Hijra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خدمته صلى الله عليه وسلم عشر سنين، فوالله ما قال لي: أف قط، ولا قال لشيء فعلته: لم فعلت كذا، ولا لشيء لم أفعله: ألا فعلت كذا؟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 he never said of anything I did, why…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(the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(as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 at the moment…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(the year is…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نَبِيَّ اللهِ، بِأَبِي أَنْتَ، لاَ تُشْرِفْ، لاَ يُصِيْبُكَ سَهْمٌ، نَحْرِي دُوْنَ نَحْرِكَ.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"Prophet of Allah — may my father be your ransom — do not look out, lest an arrow strike you. My throat before your…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(no year 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أَحَبَّ أَمْوَالِي إِلَيَّ بَيْرُحَاءُ، وَإِنَّهَا صَدَقَةٌ للهِ… فَقَالَ: (بَخٍ! ذَلِكَ مَالٌ رَابِحٌ، وَإِنِّي أَرَى أَنْ تَجْعَلَهَا فِي الأَقْرَبِيْنَ).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He said: 'Bakhkh! That is profitable property.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4 ( 4…</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اللَّهُ أَكْبَرُ، فُزْتُ وَرَبِّ الكَعْبَةِ.</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4091 4092), vol. 4, p. 255</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4 onwards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reason the Prophet ﷺ came to that house</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(إِنِّي أَرْحَمُهَا، قُتِلَ أَخُوْهَا مَعِي).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–307, vol. 2, p. 306</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ḥadīth: at Medina, in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(عُرِضَ عَلَيَّ نَاسٌ مِنْ أُمَّتِي يَرْكَبُوْنَ ظَهْرَ هَذَا البَحْرِ كَالمُلُوْكِ عَلَى الأَسِرَّةِ)… قَالَ: (أَنْتِ مِنَ الأَوَّلِيْنَ).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upon thrones'… He said: 'You are among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–317, vol. 2, p. 316</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Umar ؓ, 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or Basra, 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(see ridda-campaign-the-conduct-of-the-wars.md)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Over the wall at Ḥadīqat al-Mawt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conquest of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الْمُسْلِمُونَ: يَا بَرَاءُ أَقْسِمْ عَلَى رَبِّكَ لَيَهْزِمَنَّهُمْ لَنَا. قَالَ: اللَّهُمَّ اهْزِمْهُمْ لَنَا وَاسْتَشْهِدْنِي.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Barāʾ, swear upon your Lord that He will defeat them for us. He said: O Allah, defeat them for us,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(identically at ), vol. 2, p. 368</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morning as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شهدت فتح تُسْتَر، وذلك عند صلاة الفجر، فاشتغل الناس بالفتح فما صلوا الصبح إلا بعد طلوع الشمس فما أحب أن لي بتلك الصلاة حمرَ النعم.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was present at the conquest of Tustar, and it was at the time of the dawn prayer; the men were taken up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 vol. 7, p. 198</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Abu Hudhayfa ؓ and Salim ؓ</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5 years after the beginning of…</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فاستأجروا سفينةً بنصف دينار إلى الحبشة، وهم عثمان بن عفان، وامرأته رُقَيَّة بنت رسول الله ﷺ، وأبو حُذيفة بن عتبة، وامرأته سهلة بنت سُهيل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They were: ʿUthmān b. ʿAffān and his wife Ruqayya, daughter of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al-Qurashī, al-ʿAbshamī, the man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After the battle the dead of Quraysh were put into the well. ʿUtba b. Rabīʿa was taken and dragged to it. The Prophet ﷺ looked at the face of his…. Landscape, architecture, object</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and answered 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sentence he was afraid of for ten years…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أنا بآمنٍ من تلك الكلمة التي قُلتُ يومئذٍ، ولا أزالُ منها خائفًا إلّا أن تُكفّرها عنّي الشهادةُ، فقُتل يوم اليمامة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not safe from that word I said that day; I shall not stop fearing it unless martyrdom wipes it away from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 لأَنَّهُ كَانَ [ص١٦٩] أَكْثَرَهُم قُرْآناً، فِيْهِم عُمَرُ، وَأَبُو سَلَمَةَ بنُ عَبْدِ الأَسَدِ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camped at al-ʿUṣba beside Qubāʾ, and Sālim, the freedman of Abū Ḥudhayfa, led them in prayer, because he had the most Qurʾān…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–169, vol. 1, p. 168</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 : «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night the Prophet ﷺ took his cloak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فَأَخَذَ رِدَاءهُ، وَخَرَجَ يَسْمَعُهُ، فَإِذَا هُوَ سَالِمٌ مَوْلَى أَبِي حُذَيْفَةَ. فَقَالَ: (الحَمْدُ لِلِّهِ الَّذِي جَعَلَ فِي أُمَّتِي مِثْلَكَ)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he took his cloak and went out to listen to him — and it was Sālim, the freedman of Abū Ḥudhayfa. And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Qurʾān from four' — and he mentioned…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5 was revealed…</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adoption undone, and the household that kept him…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تَبنّاهُ أبو حُذَيْفة وزوَّجَهُ بابنةِ أخيه فاطمة بنت الوليد بن عُتْبة، فلما أنزل الله ﴿ادْعُوهُمْ لِآبَائِهِمْ﴾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Fāṭima bt. al-Walīd b. ʿUtba. Then Allah sent down: ﴾Call them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 I should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Ḥudhayfa said: People of the Qurʾān — adorn the Qurʾān with deeds. And he charged into them until he drove them back,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nobody would leave on the ground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وَكَانَتْ رَايَةُ المُسْلِمِيْنَ مَعَهُ يَوْمَ اليَمَامَةِ، فَلَمْ يَزَلْ يَقْدَمُ بِهَا فِي نَحْرِ العَدُوِّ، ثُمَّ قَاتَلَ حَتَّى قُتِلَ، فَوَقَعَتْ الرَّايَةُ، فَأَخَذَهَا سَالِمٌ مَوْلَى أَبِي حُذَيْفَةَ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banner was with him on the day of al-Yamāma, and he kept pressing forward with it into the enemy's throat, and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 and did 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ثابتٌ وسالمٌ مولى أبي حذيفة: ما هكذا كنَّا نقاتلُ مع رسول الله ﷺ، فجعلا لأنفسهما حفرة فدخلا فيها فقاتلا حتى قُتلا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"Thābit and Sālim, the freedman of Abū Ḥudhayfa, said: This is not how we used to fight alongside the Messenger of Allah ﷺ.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right hand was severed, so he took the banner in his left; that was cut off, so he clasped it to his chest,…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to his companions: What has become of Abū Ḥudhayfa? They said: He has been killed.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al-Yamama — reported…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they were found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ʿUmar that he said, when death was upon him: Had Sālim been alive I would not have made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بعثَ عمرُ بميراثه إلى مولاته التي أعْتَقَتْه "بثينة" فردَّتْه وقالتْ: إنّما أعْتَقَتْهُ سائبةٌ، فجعله عمر في بيت المال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Buthayna; and she sent it back and said: I freed him only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Zayd b. al-Khattab ؓ and the dead of al-Yamama</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brother who went first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وَلَقَدْ قَالَ لَهُ عُمَرُ يَوْم بَدْرٍ: الْبِسْ دِرْعِي. قَالَ: إِنِّي أُرِيْدُ مِنَ الشَّهَادَةِ مَا تُرِيْدُ. قَالَ: فَتَرَكَاهَا جَمِيْعاً.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him on the day of Badr: Wear my coat of mail. He said: I want from martyrdom what you want.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"Zayd b. al-Khaṭṭāb said: People — bite down on your back teeth, strike into your enemy and go forward. And he said: By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man out of their line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أَوَّلَ مَنْ لَقِيَ الْمُسْلِمِينَ نَهَارٌ الرَّجَّالُ بْنُ عُنْفُوَةَ فَقُتِلَ، قَتَلَهُ زَيْدُ بْنُ الْخَطَّابِ.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first of them to meet the Muslims was Nahār al-Rajjāl b. ʿUnfuwa, and he was killed — Zayd b. al-Khaṭṭāb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216</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and afterwards in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killed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قتلَ زيدًا رجل يقال له: أبو مريم الحنفي، وقد أسلم بعد ذلك وقال لعمر: يا أميرَ المؤمنين إن الله أكرم زيدًا بيدي ولم يُهنِّي على يده.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Zayd was killed by a man called Abū Maryam al-Ḥanafī, who afterwards became a Muslim and said to ʿUmar: Commander of the Faithful…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outstripped me to the two good things»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al-Khaṭṭāb reached ʿUmar he said: He outstripped me to the two good things — he accepted Islam before…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east wind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poet, and the consolation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متمِّم: لو أن أخي ذهب على ما ذهبَ عليه أخوك ما حزنتُ عليه، فقال له عمر: ما عزّاني أحد بمثل ما عزَّيْتني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to him: If my brother had gone the way your brother went, I would not have grieved for him. And ʿUmar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 on the arrival 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مَعْنٌ: لَكِنِّي -وَاللهِ- مَا أُحِبُّ أَنِّي مُتُّ قَبْلَهُ حَتَّى أُصَدِّقَهُ مَيْتاً، كَمَا صَدَّقْتُهُ حَيّاً.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I, by Allah, do not wish that I had died before him — so that I may confirm him dead as I confirmed…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revelation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and then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armour in the cooking pot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 executed his will after his death. And we know of no one else whose will was carried through after his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al-Yamāma and he pulled it out, bound himself up, took his sword and fought until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60</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أبوه رأسَ المنافقين، وكان أشدَّ الناس على أبيه، ولو أذن له رسول الله فيه لضربَ عُنُقه.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 — had the Messenger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wanted to name him Sahl, and he refused, saying: I will not change a name my parents gave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the naming report: Sahih al-Bukhari 6190, vol. 7, p. 49</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then Yarmuk — whose…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فأولها بأنه سيقتل ويدفن، وأن ابنه يحرص على الشهادةِ فلا ينالُها عامَه ذلك. وقد وقع الأمر كما أوّلها، ثم قُتل ابنُه شهيدًا يوم اليرموك.</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interpreted it himself: that he would be killed and buried, and that his son would press for martyrdom and not attain it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men who had fought against it</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 at Uḥud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وَتَعَبَّأَتْ قُرَيْشٌ، وَهُمْ ثَلَاثَةُ آلَافٍ، وَمَعَهُمْ مِئَتَا فَرَسٍ قَدْ جَنَّبُوهَا، فَجَعَلُوا عَلَى مَيْمَنَةِ الْخَيْلِ خَالِدَ بْنَ الْوَلِيدِ، وَعَلَى مَيْسَرَتِهَا عِكْرِمَةَ بْنَ أَبِي جَهْلِ بْنِ هِشَامٍ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"Quraysh drew up, three thousand of them, with two hundred horses they had led along; and they put Khālid b. al-Walīd over the right…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account was given in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Waḥshī ؓ tells it himself, at Ḥimṣ</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أَمَا إِنِّي سَأُحَدِّثُكُمَا كَمَا حَدَّثْتُ رَسُولَ اللَّهِ ﷺ حِينَ سَأَلَنِي عَنْ ذَلِكَ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shall tell you both exactly as I told the Messenger of Allah ﷺ when he asked me about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184</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fall of Ṭāʾif, 8–9…</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"Keep your face away from me"</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غَيِّبْ عَنِّي وَجْهَكَ فَلَا أَرَيَنَّكَ"</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keep your face away from me; let me not see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spear,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فَرَبُّكَ أَعْلَمُ أَيُّنَا قَتَلَهُ، فَإِنْ كُنْتُ قَتَلْتُهُ، فَقَدْ قَتَلْتُ خَيْرَ النَّاسِ بَعْدَ رَسُولِ اللَّهِ ﷺ، وَقَتَلْتُ شَرَّ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Lord knows best which of us killed him. If I killed him, then I have killed the best of men after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witness against the enemy</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لَمْ أَرَ قَطُّ أَصْبَرَ عَلَى الْمَوْتِ مِنْ أَصْحَابِ مُسَيْلِمَةَ</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at the Conquest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O Allah, I owe You a covenant: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فَاسْتَأْذَنَتْ رَسُولَ اللَّهِ ﷺ فِي طَلَبِ زَوْجِهَا، فَأَذِنَ لَهَا وَآمَنَهُ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164</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cloak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فَلَمَّا رَآهُ وَثَبَ فَرَحًا بِهِ، وَرَمَى عَلَيْهِ رِدَاءَهُ حَتَّى بَايَعَهُ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185</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files it 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let me see you until you have…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إِلَيْهِ الصِّدِّيقُ يَلُومُهُ عَلَى تَسَرُّعِهِ، قَالَ: لَا أَرَيَنَّكَ وَلَا أَسْمَعَنَّ بِكَ إِلَّا بَعْدَ بَلَاءٍ</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wrote blaming him for his haste, and said: let me not see you, and let me not hear of you, except after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his later life (no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muṣḥaf against his face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يُقَبِّلُ الْمُصْحَفَ وَيَبْكِي وَيَقُولُ: كَلَامُ رَبِّي، كَلَامُ رَبِّي … وَيُقَالُ: إِنَّهُ لَا يُعْرَفُ لَهُ ذَنْبٌ بَعْدَ مَا أَسْلَمَ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muṣḥaf and weep and say: my Lord's speech, my Lord's speech … And it is said that no sin…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13 or 15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shall I run from you today?"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قَاتَلْتُ رَسُولَ اللَّهِ ﷺ فِي مَوَاطِنَ وَأَفِرُّ مِنْكُمُ الْيَوْمَ؟ ثُمَّ نَادَى: مَنْ يُبَايِعُ عَلَى الْمَوْتِ؟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fought the Messenger of Allah ﷺ on many fields — and shall I run from you today? Then he called out: who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one cup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فَتَدَافَعُوهَا كُلُّهُمْ مِنْ وَاحِدٍ إِلَى وَاحِدٍ حَتَّى مَاتُوا جَمِيعًا وَلَمْ يَشْرَبْهَا أَحَدٌ مِنْهُمْ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passed it on, every one of them, from one to the next — until they had all died, and not one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Ṭulayḥa at Buzākha — the question, and the answer…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يَهْزِمُكُمْ؟ فَقَالَ رَجُلٌ: أَنَا أُحَدِّثُكَ، لَيْسَ مِنَّا رَجُلٌ إِلَّا وَهُوَ يُحِبُّ أَنْ يَمُوتَ صَاحِبُهُ قَبْلَهُ، وَإِنَّا نَلْقَى قَوْمًا كُلُّهُمْ يُحِبُّ أَنْ يَمُوتَ قَبْلَ صَاحِبِهِ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is defeating you?' A man said: I will tell you. There is not one of us but he would rather his companion died…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41</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end of Abū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comes back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ʿUkkāsha b. Miḥṣan and Thābit b. Aqram.' He said: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caliphates of Abū Bakr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Consulted, never commanded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أَنْ شَاوِرْ طُلَيْحَةَ فِي أَمْرِ الْحَرْبِ، وَلَا تُوَلِّهِ شَيْئًا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"Consult Ṭulayḥa in the matter of war, and give him no authority over anything."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 as Ibn ʿAsākir…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ride at Nahāwand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لَوْ لَمْ يَكُنْ دِينٌ إِلَّا الْعَرَبِيُّ مَا كُنْتُ لِأُجْزِرَ الْعُجْمَ الطَّمَاطِمَ هَذِهِ الْعَرَبَ الْعَارِبَةَ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 even if there were no religion at all but the Arab one, I would never hand these true Arabs over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394</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Nahāwand, 21 — Ibn ʿAsākir's…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How Ṭulayḥa ؓ died, and how al-Dhahabī closes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قُلْتُ: أَبْلَى يَوْمَ نَهَاوَنْدَ، ثُمَّ اسْتُشْهِدَ - رَضِيَ اللهُ عَنْهُ وَسَامَحَهُ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say: he distinguished himself on the day of Nahāwand, then he was martyred — may Allah be pleased with him, and pardon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voice under his son's banner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إِلَّا صَوْتَ رَجُلٍ يَقُولُ: "يَا نَصْرَ اللَّهِ اقْتَرِبْ، يَا نَصْرَ اللَّهِ اقْتَرِبْ"، فَرَفَعْتُ رَأْسِي فَإِذَا هُوَ أَبُو سُفْيَانَ بْنُ حَرْبٍ تَحْتَ رَايَةِ ابْنِهِ يَزِيدَ بْنِ أَبِي سُفْيَانَ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 but the voice of one man saying: 'Help of Allah, draw near! Help of Allah, draw near!' I raised my head,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108</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sending of the Syrian…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walks beside the stirrup</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عَقَدَ لَهُ أَبُو بَكْرٍ، وَمَشَى مَعَهُ تَحْتَ رِكَابِهِ يُسَايِرُهُ، وَيُوَدِّعُهُ، وَيُوصِيهِ، وَمَا ذَاكَ إِلَّا لِشَرَفِهِ، وَكَمَالِ دِينِهِ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tied his standard for him and walked beside him under his stirrup, keeping pace with him, seeing him off and instructing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ṣafar 8 — al-Wāqidī's transmission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on the same road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قُلْتُ: أَيْنَ تُرِيدُ؟ قَالَ: مُحَمَّدًا … قُلْتُ: وَأَنَا وَاللَّهِ قَدْ أَرَدْتُ مُحَمَّدًا وَأَرَدْتُ الْإِسْلَامَ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said: where are you going? He said: to Muhammad … I said: and I too, by God — I have set out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113</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the ridda appointment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ḥadīth about the Sword of Allah, and who…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"نِعْمَ عَبْدُ اللَّهِ وَأَخُو الْعَشِيرَةِ، خَالِدُ بْنُ الْوَلِيدِ، سَيْفٌ مِنْ سُيُوفِ اللَّهِ سَلَّهُ اللَّهُ عَلَى الْكُفَّارِ وَالْمُنَافِقِينَ"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Khālid b. al-Walīd; a sword among the swords of Allah, which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15 for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Where ʿIkrima ؓ died — and why we cannot…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أَبُو إِسْحَاقَ السَّبِيعِيُّ: نَزَلَ عِكْرِمَةُ يَوْمَ الْيَرْمُوكِ، فَقَاتَلَ قِتَالًا شَدِيدًا، ثُمَّ اسْتُشْهِدَ، فَوَجَدُوا بِهِ بِضْعًا وَسَبْعِينَ مِنْ طَعْنَةٍ، وَرَمْيَةٍ، وَضَرْبَةٍ. وَقَالَ عُرْوَةُ، وَابْنُ سَعْدٍ، وَطَائِفَةٌ: قُتِلَ يَوْمَ أَجْنَادِينَ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Isḥāq al-Sabīʿī said: ʿIkrima dismounted on the day of Yarmūk and fought hard, then was martyred; and they found on him seventy-odd wounds…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324</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Abū Jahl at Ajnādayn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وَضِرَارُ بْنُ الْأَزْوَرِ، وَعِكْرِمَةُ بْنُ أَبِي جَهْلٍ، وَعَمُّهُ سَلَمَةُ بْنُ هِشَامٍ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Ḍirār b. al-Azwar, and ʿIkrima b. Abī Jahl, and his uncle Salama b. Hishām, may Allah be pleased with them 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121</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Al-Dhahabī on Abū Sufyān ؓ, unsoftened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وَلَهُ هَنَاتٌ وَأُمُورٌ صَعْبَةٌ، لَكِنْ تَدَارَكَهُ اللَّهُ بِالْإِسْلَامِ يَوْمَ الْفَتْحِ، فَأَسْلَمَ شِبْهَ مُكْرَهٍ خَائِفٍ. ثُمَّ بَعْدَ أَيَّامٍ صَلُحَ إِسْلَامُهُ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has against him misdeeds and hard matters — but Allah rescued him with Islam on the day of the Conquest, and he accepted…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106</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in the plague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How Muʿāwiya ؓ came to hold Syria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احْتُضِرَ اسْتَعْمَلَ أَخَاهُ مُعَاوِيَةَ عَلَى عَمَلِهِ، فَأَقَرَّهُ عُمَرُ عَلَى ذَلِكَ احْتِرَامًا لِيَزِيدَ، وَتَنْفِيذًا لِتَوْلِيَتِهِ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dying he appointed his brother Muʿāwiya over his command, and ʿUmar confirmed him in it, out of respect for Yazīd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330</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statements bank — slide-ready, by speaker</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morning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Bakr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first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Bakr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Usama marched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zakāt refusers, and Umar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audit Abu Bakr ؓ left behind, and Umar…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Syrian expedition</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Yarmuk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days after the bayʿah…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day of Abu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 [SOURCED — the page says…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the year…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al-Mada'in — the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Nahawand, 21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al-Jabiya, 15 [SOURCED — prints…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[SOURCED — 5729]</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statement [SOURCED…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Ubayda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13–18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after Yarmuk</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[SOURCED — Ibn Ḥajar:…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[STANDARD —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13 [STANDARD — maqṭūʿ,…</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 before al-Qadisiyya [STANDARD — VIA…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[STANDARD — VIA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NOT in this window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 / )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later; a retrospective judgement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~8th c. AH about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various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recorded so it is never re-researched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Ibn Khaldun: how he reads it (framing only)</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count is the weakest part of the story</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figures for one army, in one book</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Seven ways a report goes wrong, and partisanship is…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fiqh test and a history test are not…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disease that only shows itself after centuries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point concerns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tests the method on a figure nobody is…</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calls al-Bukhārī a historian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actually holds a people together</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standing alone slips away in the dark</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Nothing gets carried without a people to carry it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Leadership does not leave the line it started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kinship-strength ends up</a:t>
            </a:r>
          </a:p>
        </p:txBody>
      </p:sp>
      <p:sp>
        <p:nvSpPr>
          <p:cNvPr id="5" name="TextBox 4"/>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6" name="Rectangle 5"/>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Many small loyalties, or one big one</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 The call does not add numbers; it removes…</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he grounds it on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test that runs the other way</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it had to be a religious call and…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call with no people behind it</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for the statement;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the year is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chapters that must be read whole before they…</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judgement that is not in the book</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