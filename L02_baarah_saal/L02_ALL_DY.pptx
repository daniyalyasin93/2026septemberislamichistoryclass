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203" autoAdjust="0"/>
  </p:normalViewPr>
  <p:slideViewPr>
    <p:cSldViewPr snapToGrid="0" snapToObjects="1">
      <p:cViewPr varScale="1">
        <p:scale>
          <a:sx n="61" d="100"/>
          <a:sy n="61" d="100"/>
        </p:scale>
        <p:origin x="2478"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presProps" Target="presProps.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viewProps" Target="viewProps.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theme" Target="theme/theme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tableStyles" Target="tableStyle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notesMaster" Target="notesMasters/notesMaster1.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A36E2-7DA8-4913-A37B-8A9563B3085C}" type="datetimeFigureOut">
              <a:rPr lang="en-PK" smtClean="0"/>
              <a:t>10/09/2026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E6FCD5-06A1-465A-9E93-CA06B5C1A04F}" type="slidenum">
              <a:rPr lang="en-PK" smtClean="0"/>
              <a:t>‹#›</a:t>
            </a:fld>
            <a:endParaRPr lang="en-PK"/>
          </a:p>
        </p:txBody>
      </p:sp>
    </p:spTree>
    <p:extLst>
      <p:ext uri="{BB962C8B-B14F-4D97-AF65-F5344CB8AC3E}">
        <p14:creationId xmlns:p14="http://schemas.microsoft.com/office/powerpoint/2010/main" val="2184354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2" Type="http://schemas.openxmlformats.org/officeDocument/2006/relationships/slide" Target="../slides/slide336.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2" Type="http://schemas.openxmlformats.org/officeDocument/2006/relationships/slide" Target="../slides/slide346.xml"/><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2" Type="http://schemas.openxmlformats.org/officeDocument/2006/relationships/slide" Target="../slides/slide347.xml"/><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2" Type="http://schemas.openxmlformats.org/officeDocument/2006/relationships/slide" Target="../slides/slide348.xml"/><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2" Type="http://schemas.openxmlformats.org/officeDocument/2006/relationships/slide" Target="../slides/slide349.xml"/><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2" Type="http://schemas.openxmlformats.org/officeDocument/2006/relationships/slide" Target="../slides/slide350.xml"/><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2" Type="http://schemas.openxmlformats.org/officeDocument/2006/relationships/slide" Target="../slides/slide351.xml"/><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2" Type="http://schemas.openxmlformats.org/officeDocument/2006/relationships/slide" Target="../slides/slide365.xml"/><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67.xml"/><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2" Type="http://schemas.openxmlformats.org/officeDocument/2006/relationships/slide" Target="../slides/slide368.xml"/><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2" Type="http://schemas.openxmlformats.org/officeDocument/2006/relationships/slide" Target="../slides/slide369.xml"/><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2" Type="http://schemas.openxmlformats.org/officeDocument/2006/relationships/slide" Target="../slides/slide372.xml"/><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2" Type="http://schemas.openxmlformats.org/officeDocument/2006/relationships/slide" Target="../slides/slide374.xml"/><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2" Type="http://schemas.openxmlformats.org/officeDocument/2006/relationships/slide" Target="../slides/slide375.xml"/><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2" Type="http://schemas.openxmlformats.org/officeDocument/2006/relationships/slide" Target="../slides/slide376.xml"/><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2" Type="http://schemas.openxmlformats.org/officeDocument/2006/relationships/slide" Target="../slides/slide377.xml"/><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2" Type="http://schemas.openxmlformats.org/officeDocument/2006/relationships/slide" Target="../slides/slide378.xml"/><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2" Type="http://schemas.openxmlformats.org/officeDocument/2006/relationships/slide" Target="../slides/slide379.xml"/><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2" Type="http://schemas.openxmlformats.org/officeDocument/2006/relationships/slide" Target="../slides/slide380.xml"/><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2" Type="http://schemas.openxmlformats.org/officeDocument/2006/relationships/slide" Target="../slides/slide382.xml"/><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2" Type="http://schemas.openxmlformats.org/officeDocument/2006/relationships/slide" Target="../slides/slide385.xml"/><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2" Type="http://schemas.openxmlformats.org/officeDocument/2006/relationships/slide" Target="../slides/slide386.xml"/><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2" Type="http://schemas.openxmlformats.org/officeDocument/2006/relationships/slide" Target="../slides/slide388.xml"/><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2" Type="http://schemas.openxmlformats.org/officeDocument/2006/relationships/slide" Target="../slides/slide3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ATA/E-TB01 · Arabia was a map of kin, not a map of provinces</a:t>
            </a:r>
          </a:p>
          <a:p>
            <a:r>
              <a:t>Tier: CORE   When: ۱۱ھ, before any arrow is drawn `[SOURCED]`</a:t>
            </a:r>
          </a:p>
          <a:p>
            <a:endParaRPr/>
          </a:p>
          <a:p>
            <a:r>
              <a:t>Ibn Kathīr never once names a province of Arabia. He names tribes, and the men who led them. His genealogy of the whole peninsula runs back to two ancestors and no more. From ʿAdnān come the Arabs of the Ḥijāz and Najd, and Quraysh are of them. From Qaḥṭān come the Arabs of Yemen, and the Anṣār are of them. So if you had asked a man in that country who he was, the answer would have been a line of fathers, not a place on a map.</a:t>
            </a:r>
          </a:p>
          <a:p>
            <a:endParaRPr/>
          </a:p>
          <a:p>
            <a:r>
              <a:t>MAP: The whole</a:t>
            </a:r>
          </a:p>
          <a:p>
            <a:endParaRPr/>
          </a:p>
          <a:p>
            <a:r>
              <a:t>عبرت: The unit of that country was the line of fathers, and everything that happened next has to</a:t>
            </a:r>
          </a:p>
          <a:p>
            <a:endParaRPr/>
          </a:p>
          <a:p>
            <a:r>
              <a:t>HANDS UP: Before telling it: *"If you had asked a man in Arabia that year where he was from,</a:t>
            </a:r>
          </a:p>
          <a:p>
            <a:endParaRPr/>
          </a:p>
          <a:p>
            <a:r>
              <a:t>Source: البدایہ والنہایہ ج۲ ص۴۷۵</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ATA/E-TB02 · Ten sons of Sabaʾ, in the Prophet's ﷺ own words</a:t>
            </a:r>
          </a:p>
          <a:p>
            <a:r>
              <a:t>Tier: CORE   When: n/a — this is the frame `[SOURCED]`</a:t>
            </a:r>
          </a:p>
          <a:p>
            <a:endParaRPr/>
          </a:p>
          <a:p>
            <a:r>
              <a:t>A man asked the Prophet ﷺ about Sabaʾ — was it a man, or a woman, or a land? The answer was that Sabaʾ was a man who had ten children. Six of them settled in Yemen and four in Syria. And then he named all ten. Ibn Kathīr quotes it through Ibn ʿAbbās ؓ, and a few pages later he restates the same list as his own conclusion. One question, one answer, and the whole southern half of the tribal map is set out.</a:t>
            </a:r>
          </a:p>
          <a:p>
            <a:endParaRPr/>
          </a:p>
          <a:p>
            <a:r>
              <a:t>MAP: Yemen fills with six names</a:t>
            </a:r>
          </a:p>
          <a:p>
            <a:endParaRPr/>
          </a:p>
          <a:p>
            <a:r>
              <a:t>عبرت: Half the tribal map of that country is contained in one answer to one question.</a:t>
            </a:r>
          </a:p>
          <a:p>
            <a:endParaRPr/>
          </a:p>
          <a:p>
            <a:r>
              <a:t>Source: البدایہ والنہایہ ج۲ ص۴۰۷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ATA/E-TB03 · The dam broke, and the tribes went out</a:t>
            </a:r>
          </a:p>
          <a:p>
            <a:r>
              <a:t>Tier: CORE   When: long before Islam `[SOURCED]`</a:t>
            </a:r>
          </a:p>
          <a:p>
            <a:endParaRPr/>
          </a:p>
          <a:p>
            <a:r>
              <a:t>The book carries an account of why the southern tribes left Yemen — the dam at Maʾrib, and the flood. ʿAmr b. ʿĀmir left, and the Azd said they would not stay behind him. They sold their property and went out with him. Then they scattered through the lands, and Ibn Kathīr names in one sentence where each group came to rest. Two of those names matter for everything that follows: the Aws and the Khazraj, who came to Yathrib and were the first to live there — and the Azd of Oman, who went to the far eastern coast.</a:t>
            </a:r>
          </a:p>
          <a:p>
            <a:endParaRPr/>
          </a:p>
          <a:p>
            <a:r>
              <a:t>MAP: **The biggest map moment of the</a:t>
            </a:r>
          </a:p>
          <a:p>
            <a:endParaRPr/>
          </a:p>
          <a:p>
            <a:r>
              <a:t>عبرت: The people who would one day receive the hijra and the people who would one day rise in</a:t>
            </a:r>
          </a:p>
          <a:p>
            <a:endParaRPr/>
          </a:p>
          <a:p>
            <a:r>
              <a:t>HANDS UP: Before telling it: *"The Anṣār of Medina — where were they from, before Medina?"*</a:t>
            </a:r>
          </a:p>
          <a:p>
            <a:endParaRPr/>
          </a:p>
          <a:p>
            <a:r>
              <a:t>Source: البدایہ والنہایہ ج۲ ص۴۱۰</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ATA/E-TB04 · Where Quraysh begins, and the two answers the book keeps</a:t>
            </a:r>
          </a:p>
          <a:p>
            <a:r>
              <a:t>Tier: GOOD   When: n/a `[SOURCED]`</a:t>
            </a:r>
          </a:p>
          <a:p>
            <a:endParaRPr/>
          </a:p>
          <a:p>
            <a:r>
              <a:t>Ibn Kathīr runs the line of Quraysh back to ʿAdnān name by name. At the end of it he records a disagreement inside his own sources about where the name Quraysh actually begins. Ibn Hishām says it begins at al-Naḍr b. Kināna — whoever is of his children is a Qurashī, and whoever is not, is not. Others named in the book said it begins one generation later, at Fihr b. Mālik. Ibn Kathīr writes both down and does not choose between them.</a:t>
            </a:r>
          </a:p>
          <a:p>
            <a:endParaRPr/>
          </a:p>
          <a:p>
            <a:r>
              <a:t>MAP: n/a. A short chain across the slide:</a:t>
            </a:r>
          </a:p>
          <a:p>
            <a:endParaRPr/>
          </a:p>
          <a:p>
            <a:r>
              <a:t>عبرت: Even the boundary of the most famous tribe in Arabia had two answers, and the book keeps</a:t>
            </a:r>
          </a:p>
          <a:p>
            <a:endParaRPr/>
          </a:p>
          <a:p>
            <a:r>
              <a:t>Source: البدایہ والنہایہ ج۲ ص۴۷۷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ATA/E-TB05 · Quraysh and the Anṣār were the two halves of the peninsula</a:t>
            </a:r>
          </a:p>
          <a:p>
            <a:r>
              <a:t>Tier: CORE   When: from the hijra onward `[SOURCED]`</a:t>
            </a:r>
          </a:p>
          <a:p>
            <a:endParaRPr/>
          </a:p>
          <a:p>
            <a:r>
              <a:t>Quraysh are ʿAdnānī: northern Arabs of the Ḥijāz. The Anṣār are Qaḥṭānī: the Aws and the Khazraj, of al-Azd, of Kahlān, of Sabaʾ — southern Arabs whose ancestors had come north generations before and were the first to settle Yathrib. So the Muhājirūn and the Anṣār were not two clans of one people. They were the two ancestral halves of Arabia, put inside one city by the hijra. That is not an inference; it is on the pages.</a:t>
            </a:r>
          </a:p>
          <a:p>
            <a:endParaRPr/>
          </a:p>
          <a:p>
            <a:r>
              <a:t>MAP: The peninsula tinted in two —</a:t>
            </a:r>
          </a:p>
          <a:p>
            <a:endParaRPr/>
          </a:p>
          <a:p>
            <a:r>
              <a:t>عبرت: The first thing the hijra did was to put the two ends of Arabia inside one set of walls.</a:t>
            </a:r>
          </a:p>
          <a:p>
            <a:endParaRPr/>
          </a:p>
          <a:p>
            <a:r>
              <a:t>Source: البدایہ والنہایہ ج۲ ص۴۰۹</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ATA/E-TB06 · What the break actually was — Ibn Kathīr's own sorting</a:t>
            </a:r>
          </a:p>
          <a:p>
            <a:r>
              <a:t>Tier: CORE   When: ۱۱ھ `[SOURCED]`</a:t>
            </a:r>
          </a:p>
          <a:p>
            <a:endParaRPr/>
          </a:p>
          <a:p>
            <a:r>
              <a:t>Do not import a modern classification onto this year. The book supplies one, and it is better. Before a word of narrative, Ibn Kathīr's own chapter heading has already split the crisis in two: the people of the ridda, and those who withheld the zakāt. Then his opening paragraph names four things happening at once. Many settlements of the bedouin turned. Hypocrisy surfaced inside Medina itself. Banū Ḥanīfa and a great many others in al-Yamāma went over to Musaylima. And Banū Asad and Ṭayyiʾ and many besides gathered round Ṭulayḥa — who had made the same claim.</a:t>
            </a:r>
          </a:p>
          <a:p>
            <a:endParaRPr/>
          </a:p>
          <a:p>
            <a:r>
              <a:t>MAP: none. This is a `diagram_slide`, not a map.</a:t>
            </a:r>
          </a:p>
          <a:p>
            <a:endParaRPr/>
          </a:p>
          <a:p>
            <a:r>
              <a:t>عبرت: The book refuses to call the whole year one thing, and the sorting on the screen is the</a:t>
            </a:r>
          </a:p>
          <a:p>
            <a:endParaRPr/>
          </a:p>
          <a:p>
            <a:r>
              <a:t>HANDS UP: Before showing it: *"When the news went out to the tribes, was there one reaction, or</a:t>
            </a:r>
          </a:p>
          <a:p>
            <a:endParaRPr/>
          </a:p>
          <a:p>
            <a:r>
              <a:t>Source: البدایہ والنہایہ ج۷ ص۱۷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ATA/E-TB07 · Two refusals, not one</a:t>
            </a:r>
          </a:p>
          <a:p>
            <a:r>
              <a:t>Tier: CORE   When: ۱۱ھ, as the delegations arrive `[SOURCED]`</a:t>
            </a:r>
          </a:p>
          <a:p>
            <a:endParaRPr/>
          </a:p>
          <a:p>
            <a:r>
              <a:t>Delegations of the Arabs began arriving in Medina. They affirmed the prayer and refused to hand over the zakāt. And then Ibn Kathīr splits them again inside a single clause. Some refused the payment itself, and had a Qurʾānic argument for it: the verse tells the Prophet ﷺ to take a ṣadaqa from their wealth and pray over them, because his prayer is a repose for them — so, they said, we pay it only to a man whose prayer is a repose for us. And some of them refused to pay it to Abū Bakr ؓ. That second group is not refusing the obligation at all. It is refusing the addressee.</a:t>
            </a:r>
          </a:p>
          <a:p>
            <a:endParaRPr/>
          </a:p>
          <a:p>
            <a:r>
              <a:t>MAP: المدینہ at the</a:t>
            </a:r>
          </a:p>
          <a:p>
            <a:endParaRPr/>
          </a:p>
          <a:p>
            <a:r>
              <a:t>عبرت: Two men can refuse the same payment for two different reasons, and the book takes care to</a:t>
            </a:r>
          </a:p>
          <a:p>
            <a:endParaRPr/>
          </a:p>
          <a:p>
            <a:r>
              <a:t>HANDS UP: Before telling it: *"A tribe says: we will pray, but we will not pay. Is that one</a:t>
            </a:r>
          </a:p>
          <a:p>
            <a:endParaRPr/>
          </a:p>
          <a:p>
            <a:r>
              <a:t>Source: البدایہ والنہایہ ج۷ ص۱۸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ATA/E-TB08 · The Companions proposed going easy, and he refused</a:t>
            </a:r>
          </a:p>
          <a:p>
            <a:r>
              <a:t>Tier: CORE   When: ۱۱ھ `[SOURCED]`</a:t>
            </a:r>
          </a:p>
          <a:p>
            <a:endParaRPr/>
          </a:p>
          <a:p>
            <a:r>
              <a:t>The Companions came to Abū Bakr ؓ with a proposal about the tribes that were withholding the zakāt. Leave them and what they are upon for now. Win them over until faith takes hold in their hearts, and after that they will pay. It is a serious proposal made by serious men, and the book records it without any embarrassment at all. He refused it, and would not have it.</a:t>
            </a:r>
          </a:p>
          <a:p>
            <a:endParaRPr/>
          </a:p>
          <a:p>
            <a:r>
              <a:t>MAP: n/a — a large-statement slide.</a:t>
            </a:r>
          </a:p>
          <a:p>
            <a:endParaRPr/>
          </a:p>
          <a:p>
            <a:r>
              <a:t>عبرت: The decision that held the state together was taken against the advice of the men best</a:t>
            </a:r>
          </a:p>
          <a:p>
            <a:endParaRPr/>
          </a:p>
          <a:p>
            <a:r>
              <a:t>HANDS UP: Before telling it: *"Half the country will not pay. Your closest advisers say: let it</a:t>
            </a:r>
          </a:p>
          <a:p>
            <a:endParaRPr/>
          </a:p>
          <a:p>
            <a:r>
              <a:t>Source: البدایہ والنہایہ ج۷ ص۱۸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ATA/E-TB09 · «لو مَنَعوني عِقالًا» — and what ʿUmar ؓ said afterwards</a:t>
            </a:r>
          </a:p>
          <a:p>
            <a:r>
              <a:t>Tier: CORE   When: ۱۱ھ `[SOURCED]`</a:t>
            </a:r>
          </a:p>
          <a:p>
            <a:endParaRPr/>
          </a:p>
          <a:p>
            <a:r>
              <a:t>ʿUmar ؓ put the objection to Abū Bakr ؓ directly: on what basis are you fighting people who say the shahāda, when the Messenger of Allah ﷺ said that once they say it they have protected their blood and their property from me, except for its due? Abū Bakr's ؓ answer was not about politics. It was that the zakāt is one of the dues on that property — and that if they withheld from him a young goat, or a hobbling-cord, that they had been rendering to the Messenger of Allah ﷺ, he would fight them for withholding it. And ʿUmar ؓ, who had raised the objection, said afterwards that when he saw Allah had opened Abū Bakr's ؓ breast to fighting, he knew it was the truth.</a:t>
            </a:r>
          </a:p>
          <a:p>
            <a:endParaRPr/>
          </a:p>
          <a:p>
            <a:r>
              <a:t>MAP: n/a — a large-statement slide.</a:t>
            </a:r>
          </a:p>
          <a:p>
            <a:endParaRPr/>
          </a:p>
          <a:p>
            <a:r>
              <a:t>عبرت: The argument was settled on a point of law about a hobbling-cord, and the man who had</a:t>
            </a:r>
          </a:p>
          <a:p>
            <a:endParaRPr/>
          </a:p>
          <a:p>
            <a:r>
              <a:t>Source: البدایہ والنہایہ ج۷ ص۱۸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ATA/E-TB10 · One tribe, three answers</a:t>
            </a:r>
          </a:p>
          <a:p>
            <a:r>
              <a:t>Tier: CORE   When: ۱۱ھ `[SOURCED]`</a:t>
            </a:r>
          </a:p>
          <a:p>
            <a:endParaRPr/>
          </a:p>
          <a:p>
            <a:r>
              <a:t>In the middle of the narrative the book stops and says what Banū Tamīm did, and it is not one thing. Their views differed in the days of the ridda. Some of them turned and withheld the zakāt. Some of them sent the ṣadaqa money in to Abū Bakr ؓ. And some of them held back to see how the matter would go. That is one tribe in three states at the same moment. Any map that shades Banū Tamīm a single colour is contradicted by the book it claims to be drawn from.</a:t>
            </a:r>
          </a:p>
          <a:p>
            <a:endParaRPr/>
          </a:p>
          <a:p>
            <a:r>
              <a:t>MAP: **بنو تَميم** in eastern Najd shaded in three</a:t>
            </a:r>
          </a:p>
          <a:p>
            <a:endParaRPr/>
          </a:p>
          <a:p>
            <a:r>
              <a:t>عبرت: The honest map has three colours inside one tribe, and the sentence that licenses it is the</a:t>
            </a:r>
          </a:p>
          <a:p>
            <a:endParaRPr/>
          </a:p>
          <a:p>
            <a:r>
              <a:t>HANDS UP: Before showing it: *"One tribe. How many different answers can it give at the same</a:t>
            </a:r>
          </a:p>
          <a:p>
            <a:endParaRPr/>
          </a:p>
          <a:p>
            <a:r>
              <a:t>Source: البدایہ والنہایہ ج۷ ص۲۸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ATA/E-TB11 · ʿUyayna b. Ḥiṣn says why he followed Ṭulayḥa</a:t>
            </a:r>
          </a:p>
          <a:p>
            <a:r>
              <a:t>Tier: CORE   When: ۱۱ھ, and again at المدینہ afterwards `[SOURCED]`</a:t>
            </a:r>
          </a:p>
          <a:p>
            <a:endParaRPr/>
          </a:p>
          <a:p>
            <a:r>
              <a:t>ʿUyayna b. Ḥiṣn brought Fazāra in behind Ṭulayḥa, and he told his own people why in one sentence. A prophet from Banū Asad, he said, is dearer to me than a prophet from Banū Hāshim. Muḥammad ﷺ has died, and here is Ṭulayḥa — follow him. His people agreed with him. Ibn Kathīr does not argue with the sentence; he prints it. And later, when ʿUyayna was brought into Medina in bonds and the children of the city crowded round and taunted him for having left Islam, he answered them: by Allah, I never believed at all.</a:t>
            </a:r>
          </a:p>
          <a:p>
            <a:endParaRPr/>
          </a:p>
          <a:p>
            <a:r>
              <a:t>MAP: **فَزارة**'s</a:t>
            </a:r>
          </a:p>
          <a:p>
            <a:endParaRPr/>
          </a:p>
          <a:p>
            <a:r>
              <a:t>عبرت: He was not choosing between two prophecies. He was choosing between two lines of descent,</a:t>
            </a:r>
          </a:p>
          <a:p>
            <a:endParaRPr/>
          </a:p>
          <a:p>
            <a:r>
              <a:t>HANDS UP: Before telling it: *"He is fighting for a man he will soon call a liar to his face.</a:t>
            </a:r>
          </a:p>
          <a:p>
            <a:endParaRPr/>
          </a:p>
          <a:p>
            <a:r>
              <a:t>Source: البدایہ والنہایہ ج۷ ص۲۶</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ATA/E-TB12 · The man who followed Musaylima knowing he was lying</a:t>
            </a:r>
          </a:p>
          <a:p>
            <a:r>
              <a:t>Tier: CORE   When: ۱۱ھ–۱۲ھ, اليمامة `[SOURCED]`</a:t>
            </a:r>
          </a:p>
          <a:p>
            <a:endParaRPr/>
          </a:p>
          <a:p>
            <a:r>
              <a:t>A bedouin said to Musaylima's face that he bore witness Musaylima was a liar and that Muḥammad ﷺ was truthful. And then he said the rest of it. But a liar of Rabīʿa, he said, is dearer to us than a truthful man of Muḍar. He followed him, and he was killed with him at ʿAqrabāʾ. Banū Ḥanīfa are of Rabīʿa and Quraysh are of Muḍar, and both trunks are ʿAdnānī. So the fault line is not only north against south. It forks again, one level down.</a:t>
            </a:r>
          </a:p>
          <a:p>
            <a:endParaRPr/>
          </a:p>
          <a:p>
            <a:r>
              <a:t>MAP: not a map — two trunk names on the</a:t>
            </a:r>
          </a:p>
          <a:p>
            <a:endParaRPr/>
          </a:p>
          <a:p>
            <a:r>
              <a:t>عبرت: A man can know which of two claims is true and still act on which of two families is his.</a:t>
            </a:r>
          </a:p>
          <a:p>
            <a:endParaRPr/>
          </a:p>
          <a:p>
            <a:r>
              <a:t>Source: البدایہ والنہایہ ج۷ ص۳۷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ATA/E-TB13 · The verse that puts the objection as politics</a:t>
            </a:r>
          </a:p>
          <a:p>
            <a:r>
              <a:t>Tier: CORE   When: ۱۱ھ `[SOURCED]`</a:t>
            </a:r>
          </a:p>
          <a:p>
            <a:endParaRPr/>
          </a:p>
          <a:p>
            <a:r>
              <a:t>The book twice prints a verse from the refusing side, and it is worth hearing exactly what the objection says. We obeyed the Messenger of Allah while he was among us — and then, in astonishment: what is this about the rule of Abū Bakr? The longer version at ج۷ ص۲۰ asks whether he is to leave it to Bakr after him, and calls that, by God's life, a thing that breaks the back. Nothing in those lines denies the prayer, and nothing in them denies the Prophet ﷺ. What they object to is who is to be obeyed now.</a:t>
            </a:r>
          </a:p>
          <a:p>
            <a:endParaRPr/>
          </a:p>
          <a:p>
            <a:r>
              <a:t>MAP: n/a — a large-statement slide.</a:t>
            </a:r>
          </a:p>
          <a:p>
            <a:endParaRPr/>
          </a:p>
          <a:p>
            <a:r>
              <a:t>عبرت: The refusal stated itself in the language of who should rule, and the answer it was given</a:t>
            </a:r>
          </a:p>
          <a:p>
            <a:endParaRPr/>
          </a:p>
          <a:p>
            <a:r>
              <a:t>Source: البدایہ والنہایہ ج۷ ص۱۸ (and again ج۷ ص۲۰ ·</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ATA/E-TB14 · Four claimants, and when each of them began</a:t>
            </a:r>
          </a:p>
          <a:p>
            <a:r>
              <a:t>Tier: CORE   When: ۱۰ھ–۱۲ھ `[SOURCED]`</a:t>
            </a:r>
          </a:p>
          <a:p>
            <a:endParaRPr/>
          </a:p>
          <a:p>
            <a:r>
              <a:t>Four people claimed prophethood in this story, and the order matters more than the number. Al-Aswad al-ʿAnsī, of ʿAns of Madhḥij, rose in Yemen and was killed before the Prophet ﷺ died. Musaylima of Banū Ḥanīfa had come to Medina in the Prophet's ﷺ lifetime and written to him; he was killed after. Ṭulayḥa of Banū Asad — the book says it plainly — apostatised in the Prophet's ﷺ lifetime. Only Sajāḥ comes afterwards: she arrives from al-Jazīra in the middle of the ridda narrative itself. So three of the four had already begun while the Prophet ﷺ was alive.</a:t>
            </a:r>
          </a:p>
          <a:p>
            <a:endParaRPr/>
          </a:p>
          <a:p>
            <a:r>
              <a:t>MAP: Four red marks — **صنعاء** (الأسود),</a:t>
            </a:r>
          </a:p>
          <a:p>
            <a:endParaRPr/>
          </a:p>
          <a:p>
            <a:r>
              <a:t>عبرت: Most of what broke in that year had already begun before the year began.</a:t>
            </a:r>
          </a:p>
          <a:p>
            <a:endParaRPr/>
          </a:p>
          <a:p>
            <a:r>
              <a:t>HANDS UP: Before telling it: *"Four people claimed prophethood. How many of them started only</a:t>
            </a:r>
          </a:p>
          <a:p>
            <a:endParaRPr/>
          </a:p>
          <a:p>
            <a:r>
              <a:t>Source: البدایہ والنہایہ ج۷ ص۲۶</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ATA/E-TB15 · Musaylima's letter, and the reply</a:t>
            </a:r>
          </a:p>
          <a:p>
            <a:r>
              <a:t>Tier: CORE   When: **آخر سنة عشر** `[SOURCED]`</a:t>
            </a:r>
          </a:p>
          <a:p>
            <a:endParaRPr/>
          </a:p>
          <a:p>
            <a:r>
              <a:t>Musaylima wrote to the Prophet ﷺ. The letter does not argue about revelation at all. It proposes a partition: I have been given a share in the matter with you, half the matter is ours and half is Quraysh's — but Quraysh are a people who transgress. The reply is on the same page, and it refuses the premise rather than the arithmetic. The earth belongs to Allah; He gives it in inheritance to whom He wills of His servants; and the outcome is for those who fear Him. The book dates the exchange to the end of the year 10.</a:t>
            </a:r>
          </a:p>
          <a:p>
            <a:endParaRPr/>
          </a:p>
          <a:p>
            <a:r>
              <a:t>MAP: One line from **اليمامة** to **المدینہ** and one</a:t>
            </a:r>
          </a:p>
          <a:p>
            <a:endParaRPr/>
          </a:p>
          <a:p>
            <a:r>
              <a:t>عبرت: One document divides the country between two tribes, and the other answers that the country</a:t>
            </a:r>
          </a:p>
          <a:p>
            <a:endParaRPr/>
          </a:p>
          <a:p>
            <a:r>
              <a:t>HANDS UP: Before telling it: *"A man writes to the Prophet ﷺ proposing terms. What do you think</a:t>
            </a:r>
          </a:p>
          <a:p>
            <a:endParaRPr/>
          </a:p>
          <a:p>
            <a:r>
              <a:t>Source: البدایہ والنہایہ ج۵ ص۲۴</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ATA/E-TB16 · Musaylima at Medina, and the piece of palm-branch</a:t>
            </a:r>
          </a:p>
          <a:p>
            <a:r>
              <a:t>Tier: GOOD   When: in the Prophet's ﷺ lifetime `[SOURCED]` — **صحيح البخاري ٤٣٧٣**</a:t>
            </a:r>
          </a:p>
          <a:p>
            <a:endParaRPr/>
          </a:p>
          <a:p>
            <a:r>
              <a:t>Musaylima came to Medina while the Prophet ﷺ was alive, with a large number of his own people, and kept saying that if Muḥammad ﷺ would make the succession his, he would follow him. The Prophet ﷺ came out to him with Thābit b. Qays b. Shammās ؓ, and there was a piece of a palm-branch in his hand. And what he said to him was about that piece.</a:t>
            </a:r>
          </a:p>
          <a:p>
            <a:endParaRPr/>
          </a:p>
          <a:p>
            <a:r>
              <a:t>MAP: n/a.</a:t>
            </a:r>
          </a:p>
          <a:p>
            <a:endParaRPr/>
          </a:p>
          <a:p>
            <a:r>
              <a:t>عبرت: The claim was refused while it was still only a request, years before it had to be fought.</a:t>
            </a:r>
          </a:p>
          <a:p>
            <a:endParaRPr/>
          </a:p>
          <a:p>
            <a:r>
              <a:t>Source: البدایہ والنہایہ ج۵ ص۲۱ — **صحيح البخاري ٤٣٧٣**, via</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ATA/E-TB17 · The two bracelets</a:t>
            </a:r>
          </a:p>
          <a:p>
            <a:r>
              <a:t>Tier: GOOD   When: in the Prophet's ﷺ lifetime `[SOURCED]` — **صحيح البخاري ٤٣٧٥**</a:t>
            </a:r>
          </a:p>
          <a:p>
            <a:endParaRPr/>
          </a:p>
          <a:p>
            <a:r>
              <a:t>The Prophet ﷺ said that while he was asleep he was brought the treasures of the earth, and two bracelets of gold were placed in his hands, and they weighed on him. He was inspired to blow on them; he blew, and they went. And he interpreted them as the two liars between whom he stood — the one of Ṣanʿāʾ and the one of al-Yamāma. The two men who would break Arabia are named in one sentence, by their cities, before either of them had risen.</a:t>
            </a:r>
          </a:p>
          <a:p>
            <a:endParaRPr/>
          </a:p>
          <a:p>
            <a:r>
              <a:t>MAP: two dots only, **صنعاء** and **اليمامة**, lit at the same moment.</a:t>
            </a:r>
          </a:p>
          <a:p>
            <a:endParaRPr/>
          </a:p>
          <a:p>
            <a:r>
              <a:t>عبرت: The two claims that broke the peninsula are named together, by their cities, in one</a:t>
            </a:r>
          </a:p>
          <a:p>
            <a:endParaRPr/>
          </a:p>
          <a:p>
            <a:r>
              <a:t>Source: البدایہ والنہایہ ج۵ ص۲۲ — **صحيح البخاري ٤٣٧٥**, via</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ATA/E-TB18 · Sajāḥ — who she actually was</a:t>
            </a:r>
          </a:p>
          <a:p>
            <a:r>
              <a:t>Tier: GOOD   When: ۱۱ھ `[SOURCED]`</a:t>
            </a:r>
          </a:p>
          <a:p>
            <a:endParaRPr/>
          </a:p>
          <a:p>
            <a:r>
              <a:t>Sajāḥ bint al-Ḥārith came down from al-Jazīra with troops of her own people and whoever had joined them, having claimed prophethood — and, the book says, they had resolved on making war on Abū Bakr ؓ. She was of Taghlib, and she was of the Christians of the Arabs. She was not of Tamīm, which is only the tribe she gathered on the way. When she passed through the country of Banū Tamīm she called them to her cause and most of them answered — Mālik b. Nuwayra ؓ among them, and ʿUṭārid b. Ḥājib, and a number of the chiefs of Tamīm. Others of them held back.</a:t>
            </a:r>
          </a:p>
          <a:p>
            <a:endParaRPr/>
          </a:p>
          <a:p>
            <a:r>
              <a:t>MAP: An arrow from **الجزيرة** in the far north,</a:t>
            </a:r>
          </a:p>
          <a:p>
            <a:endParaRPr/>
          </a:p>
          <a:p>
            <a:r>
              <a:t>عبرت: The tribe that supplied her following was not the tribe she came from, and the book is</a:t>
            </a:r>
          </a:p>
          <a:p>
            <a:endParaRPr/>
          </a:p>
          <a:p>
            <a:r>
              <a:t>Source: البدایہ والنہایہ ج۷ ص۲۸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ATA/E-TB19 · What her claim was worth to the other claimant</a:t>
            </a:r>
          </a:p>
          <a:p>
            <a:r>
              <a:t>Tier: GOOD   When: ۱۱ھ, at اليمامة, and afterwards `[SOURCED]`</a:t>
            </a:r>
          </a:p>
          <a:p>
            <a:endParaRPr/>
          </a:p>
          <a:p>
            <a:r>
              <a:t>The two claimants met at al-Yamāma, and he bought her off. She took half the kharāj of his land and turned back to her own country, and she stayed among her people, Banū Taghlib, until the time of Muʿāwiya. The dowry he paid her was the remission of two of the five prayers — the dawn prayer and the night prayer. That is what one claim to prophethood was worth to the other. And al-Suhaylī, whom Ibn Kathīr quotes, records that she became Muslim in the days of ʿUmar b. al-Khaṭṭāb ؓ, and that her Islam was good.</a:t>
            </a:r>
          </a:p>
          <a:p>
            <a:endParaRPr/>
          </a:p>
          <a:p>
            <a:r>
              <a:t>MAP: her arrow reaches</a:t>
            </a:r>
          </a:p>
          <a:p>
            <a:endParaRPr/>
          </a:p>
          <a:p>
            <a:r>
              <a:t>عبرت: A claim that could be settled for half a land-tax was priced by the man who bought it.</a:t>
            </a:r>
          </a:p>
          <a:p>
            <a:endParaRPr/>
          </a:p>
          <a:p>
            <a:r>
              <a:t>Source: البدایہ والنہایہ ج۷ ص۳۰</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ATA/E-TB20 · Ṭulayḥa comes back, and the letter about how to use him</a:t>
            </a:r>
          </a:p>
          <a:p>
            <a:r>
              <a:t>Tier: CORE   When: after بُزاخة, in Abū Bakr's ؓ time `[SOURCED]`</a:t>
            </a:r>
          </a:p>
          <a:p>
            <a:endParaRPr/>
          </a:p>
          <a:p>
            <a:r>
              <a:t>Ṭulayḥa returned to Islam. He went to Mecca to perform ʿumra in Abū Bakr's ؓ days, and he was ashamed to face him for as long as Abū Bakr ؓ lived. He came back and fought alongside Khālid ؓ. And Abū Bakr ؓ wrote to Khālid ؓ about him with a single instruction: consult him in the fighting, and do not put him in command. Ibn Kathīr explains why in his own words — he was dealt with by the opposite of the thing he had secretly been after, which was leadership. And then Ibn Kathīr says what he thinks of it: this is from the fiqh of al-Ṣiddīq ؓ.</a:t>
            </a:r>
          </a:p>
          <a:p>
            <a:endParaRPr/>
          </a:p>
          <a:p>
            <a:r>
              <a:t>MAP: a thin blue line</a:t>
            </a:r>
          </a:p>
          <a:p>
            <a:endParaRPr/>
          </a:p>
          <a:p>
            <a:r>
              <a:t>عبرت: The man's ability was taken and his ambition was not fed, and the book calls that a point</a:t>
            </a:r>
          </a:p>
          <a:p>
            <a:endParaRPr/>
          </a:p>
          <a:p>
            <a:r>
              <a:t>HANDS UP: Before telling it: *"A man who had claimed prophethood comes back to Islam, and he is a</a:t>
            </a:r>
          </a:p>
          <a:p>
            <a:endParaRPr/>
          </a:p>
          <a:p>
            <a:r>
              <a:t>Source: البدایہ والنہایہ ج۷ ص۲۶</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ATA/E-TB21 · «ما خلا أهل المسجدين» — and the book's own corrections to it</a:t>
            </a:r>
          </a:p>
          <a:p>
            <a:r>
              <a:t>Tier: CORE   When: ۱۱ھ `[SOURCED]`</a:t>
            </a:r>
          </a:p>
          <a:p>
            <a:endParaRPr/>
          </a:p>
          <a:p>
            <a:r>
              <a:t>Ibn Isḥāq states it in one sentence: the Arabs apostatised at the death of the Messenger of Allah ﷺ, except the people of the two mosques — Mecca and Medina. Then he lists which tribe went behind which man. Ibn Kathīr prints that sentence, and then, in his own pages, corrects it three times. Thaqīf at Ṭāʾif stood firm on Islam; they neither fled nor turned. Juwāthā in Bahrayn held out under siege. And Ṭayyiʾ, who are in the list, were brought back before the fighting reached them. The famous sentence is the headline. The same book is the correction.</a:t>
            </a:r>
          </a:p>
          <a:p>
            <a:endParaRPr/>
          </a:p>
          <a:p>
            <a:r>
              <a:t>MAP: the whole peninsula goes red except **مكة** and **المدینہ**. Then the corrections are added</a:t>
            </a:r>
          </a:p>
          <a:p>
            <a:endParaRPr/>
          </a:p>
          <a:p>
            <a:r>
              <a:t>عبرت: The most quotable sentence about that year is corrected three times by the same book that</a:t>
            </a:r>
          </a:p>
          <a:p>
            <a:endParaRPr/>
          </a:p>
          <a:p>
            <a:r>
              <a:t>HANDS UP: Before showing it: *"When the news went out, how much of Arabia held?"*</a:t>
            </a:r>
          </a:p>
          <a:p>
            <a:endParaRPr/>
          </a:p>
          <a:p>
            <a:r>
              <a:t>Source: البدایہ والنہایہ ج۷ ص۱۹</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ATA/E-TB22 · Thaqīf had been Muslim for two years, and did not break</a:t>
            </a:r>
          </a:p>
          <a:p>
            <a:r>
              <a:t>Tier: CORE   When: ۱۱ھ; the delegation was in **سنة تسع** `[SOURCED]`</a:t>
            </a:r>
          </a:p>
          <a:p>
            <a:endParaRPr/>
          </a:p>
          <a:p>
            <a:r>
              <a:t>Thaqīf at Ṭāʾif had come into Islam only in the year 9 — two years before all this. They did not flee and they did not turn. And what was standing there was one man. The delegation of Thaqīf had come to the Prophet ﷺ in the year 9 and become Muslim, and he put ʿUthmān b. Abī al-ʿĀṣ ؓ over them for what he saw of his intelligence and his eagerness for good — and he was the youngest man in the delegation. Abū Bakr ؓ then confirmed him over Ṭāʾif, and after him ʿUmar ؓ. Tribes that had been inside Islam far longer broke. So the variable was not the age of the conversion.</a:t>
            </a:r>
          </a:p>
          <a:p>
            <a:endParaRPr/>
          </a:p>
          <a:p>
            <a:r>
              <a:t>MAP: **الطائف**</a:t>
            </a:r>
          </a:p>
          <a:p>
            <a:endParaRPr/>
          </a:p>
          <a:p>
            <a:r>
              <a:t>عبرت: The newest Muslims in the peninsula held, and what was standing among them was a man the</a:t>
            </a:r>
          </a:p>
          <a:p>
            <a:endParaRPr/>
          </a:p>
          <a:p>
            <a:r>
              <a:t>HANDS UP: Before telling it: *"Which would you expect to break first — the oldest Muslims, or the</a:t>
            </a:r>
          </a:p>
          <a:p>
            <a:endParaRPr/>
          </a:p>
          <a:p>
            <a:r>
              <a:t>Source: البدایہ والنہایہ ج۷ ص۹</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ATA/E-TB23 · ʿAdī b. Ḥātim ؓ, and the two names Ṭayyiʾ called Abū Bakr ؓ</a:t>
            </a:r>
          </a:p>
          <a:p>
            <a:r>
              <a:t>Tier: GOOD   When: ۱۱ھ, before بُزاخة `[SOURCED]`</a:t>
            </a:r>
          </a:p>
          <a:p>
            <a:endParaRPr/>
          </a:p>
          <a:p>
            <a:r>
              <a:t>Abū Bakr ؓ sent ʿAdī b. Ḥātim ؓ ahead of the army to his own tribe with one instruction: reach your people before they join Ṭulayḥa, or it will be their destruction. Ṭayyiʾ refused him first. They said: we will never give the bayʿa to Abū al-Faḍl — meaning Abū Bakr ؓ. And he answered that an army was coming that would not stop fighting them until they knew he was Abū al-Faḥl al-Akbar. Three days later ʿAdī ؓ came back with five hundred fighting men who had returned to the truth. Then he went to Banū Jadīla and stayed with them until they followed him too, and a thousand riders of them joined the Muslims. Ibn Kathīr's verdict on him is one line.</a:t>
            </a:r>
          </a:p>
          <a:p>
            <a:endParaRPr/>
          </a:p>
          <a:p>
            <a:r>
              <a:t>MAP: Ṭayyiʾ's country, between the two</a:t>
            </a:r>
          </a:p>
          <a:p>
            <a:endParaRPr/>
          </a:p>
          <a:p>
            <a:r>
              <a:t>عبرت: A tribe that is on the list of those who broke is on it because of one of its own men, and</a:t>
            </a:r>
          </a:p>
          <a:p>
            <a:endParaRPr/>
          </a:p>
          <a:p>
            <a:r>
              <a:t>Source: البدایہ والنہایہ ج۷ ص۲۵</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ATA/E-TB24 · Al-Jārūd ؓ asks his tribe five questions</a:t>
            </a:r>
          </a:p>
          <a:p>
            <a:r>
              <a:t>Tier: CORE   When: ۱۱ھ, البحرين `[SOURCED]`</a:t>
            </a:r>
          </a:p>
          <a:p>
            <a:endParaRPr/>
          </a:p>
          <a:p>
            <a:r>
              <a:t>In Bahrayn one side had a slogan: if Muḥammad had been a prophet, he would not have died. A man of ʿAbd al-Qays, al-Jārūd b. al-Muʿallā ؓ, gathered his people and answered it without arguing with anybody. He told them he was going to ask them about something, and that they should answer if they knew and stay silent if they did not. They said: ask. Do you know that Allah had prophets before Muḥammad ﷺ? They said yes. Do you know that, or do you merely think it? They said: we know it. What did they do? They said: they died. And he said: then Muḥammad ﷺ has died as they died — and I bear witness that there is no god but Allah and that Muḥammad is the Messenger of Allah. And they said: and we bear witness too. They held to their Islam and left the rest of the people to what they were in.</a:t>
            </a:r>
          </a:p>
          <a:p>
            <a:endParaRPr/>
          </a:p>
          <a:p>
            <a:r>
              <a:t>MAP: **البحرين in two colours**, a few days'</a:t>
            </a:r>
          </a:p>
          <a:p>
            <a:endParaRPr/>
          </a:p>
          <a:p>
            <a:r>
              <a:t>عبرت: Both sides in that region were arguing from the same fact, and the difference was one man</a:t>
            </a:r>
          </a:p>
          <a:p>
            <a:endParaRPr/>
          </a:p>
          <a:p>
            <a:r>
              <a:t>HANDS UP: Before telling it: *"Their slogan was: if he had been a prophet, he would not have</a:t>
            </a:r>
          </a:p>
          <a:p>
            <a:endParaRPr/>
          </a:p>
          <a:p>
            <a:r>
              <a:t>Source: البدایہ والنہایہ ج۷ ص۳۸</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ATA/E-TB25 · The Azd stood on both sides of the map</a:t>
            </a:r>
          </a:p>
          <a:p>
            <a:r>
              <a:t>Tier: CORE   When: ۱۱ھ `[SOURCED]`</a:t>
            </a:r>
          </a:p>
          <a:p>
            <a:endParaRPr/>
          </a:p>
          <a:p>
            <a:r>
              <a:t>This is the fact that stops the genealogy from turning into a theory. The Anṣār of Medina are of al-Azd, and so are the Azd of Oman. In the same months, the Azd of Oman were in open revolt behind Laqīṭ b. Mālik al-Azdī, who was called Dhū al-Tāj and who also claimed prophethood — while the Azd of Medina were carrying the banner of the Anṣār at al-Yamāma under Thābit b. Qays b. Shammās ؓ, who dug his feet into the ground to his shins and died standing there. One descent, two ends of the map, two opposite choices in the same year.</a:t>
            </a:r>
          </a:p>
          <a:p>
            <a:endParaRPr/>
          </a:p>
          <a:p>
            <a:r>
              <a:t>MAP: **Two markers in the same colour-family at</a:t>
            </a:r>
          </a:p>
          <a:p>
            <a:endParaRPr/>
          </a:p>
          <a:p>
            <a:r>
              <a:t>عبرت: Descent explains the vocabulary people used that year. It does not predict where any of</a:t>
            </a:r>
          </a:p>
          <a:p>
            <a:endParaRPr/>
          </a:p>
          <a:p>
            <a:r>
              <a:t>HANDS UP: Before telling it: *"The Anṣār of Medina, and the tribe that rose in Oman — how are the</a:t>
            </a:r>
          </a:p>
          <a:p>
            <a:endParaRPr/>
          </a:p>
          <a:p>
            <a:r>
              <a:t>Source: البدایہ والنہایہ ج۷ ص۴۱</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ATA/E-TB26 · «قُتل العنسيُّ البارحةَ»</a:t>
            </a:r>
          </a:p>
          <a:p>
            <a:r>
              <a:t>Tier: CORE   When: before the Prophet's ﷺ death `[SOURCED]`</a:t>
            </a:r>
          </a:p>
          <a:p>
            <a:endParaRPr/>
          </a:p>
          <a:p>
            <a:r>
              <a:t>The first of the four claimants was killed inside Ṣanʿāʾ, by three men of the city, while the Prophet ﷺ was still alive. And Ibn Kathīr says the news reached the Prophet ﷺ that same night, from above, before any rider could have carried it. He told them: al-ʿAnsī was killed last night; a blessed man of a blessed household killed him. They asked who. He said: Fayrūz. Fayrūz.</a:t>
            </a:r>
          </a:p>
          <a:p>
            <a:endParaRPr/>
          </a:p>
          <a:p>
            <a:r>
              <a:t>MAP: **صنعاء** in red, and</a:t>
            </a:r>
          </a:p>
          <a:p>
            <a:endParaRPr/>
          </a:p>
          <a:p>
            <a:r>
              <a:t>عبرت: The first of the four claims was already finished before the crisis that is named after it</a:t>
            </a:r>
          </a:p>
          <a:p>
            <a:endParaRPr/>
          </a:p>
          <a:p>
            <a:r>
              <a:t>Source: البدایہ والنہایہ ج۷ ص۱۷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ATA/E-TB27 · Three days of prayer, and then the ground moved</a:t>
            </a:r>
          </a:p>
          <a:p>
            <a:r>
              <a:t>Tier: CORE   When: ربيع الأول ۱۱ھ, صنعاء `[SOURCED]`</a:t>
            </a:r>
          </a:p>
          <a:p>
            <a:endParaRPr/>
          </a:p>
          <a:p>
            <a:r>
              <a:t>Fayrūz ؓ tells it himself, and it is the best account in the sources of what the news of the Prophet's ﷺ death actually did. We killed al-Aswad, he says, and our affair in Ṣanʿāʾ went back to what it had been. They sent for Muʿādh b. Jabal ؓ and agreed on him, and he led them in prayer in Ṣanʿāʾ. And by Allah, he says, he had led us in prayer for no more than three days when the news came to us of the death of the Messenger of Allah ﷺ. Then everything came apart. We found ourselves refusing much of what we used to acknowledge. And the earth shook.</a:t>
            </a:r>
          </a:p>
          <a:p>
            <a:endParaRPr/>
          </a:p>
          <a:p>
            <a:r>
              <a:t>MAP: صنعاء turns from red back to</a:t>
            </a:r>
          </a:p>
          <a:p>
            <a:endParaRPr/>
          </a:p>
          <a:p>
            <a:r>
              <a:t>عبرت: A man who had just put down a rebellion had three quiet days, and then heard the news that</a:t>
            </a:r>
          </a:p>
          <a:p>
            <a:endParaRPr/>
          </a:p>
          <a:p>
            <a:r>
              <a:t>Source: البدایہ والنہایہ ج۷ ص۱۷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ATA/E-TB28 · How long the first false prophet ruled</a:t>
            </a:r>
          </a:p>
          <a:p>
            <a:r>
              <a:t>Tier: GOOD   When: the months before ۱۱ھ `[SOURCED]`</a:t>
            </a:r>
          </a:p>
          <a:p>
            <a:endParaRPr/>
          </a:p>
          <a:p>
            <a:r>
              <a:t>Al-Aswad al-ʿAnsī came out from a place called Kahf Khubbān with seven hundred fighting men. Ten nights from his coming out he had Najrān. Twenty-five nights from his coming out he had Ṣanʿāʾ, and he killed Shahr b. Bādhām and married his widow. The Prophet's ﷺ governors in Yemen fled or hid. And then the book says how long the whole thing lasted — and refuses to be certain even about that.</a:t>
            </a:r>
          </a:p>
          <a:p>
            <a:endParaRPr/>
          </a:p>
          <a:p>
            <a:r>
              <a:t>MAP: **كهف خُبّان** → **نجران** →</a:t>
            </a:r>
          </a:p>
          <a:p>
            <a:endParaRPr/>
          </a:p>
          <a:p>
            <a:r>
              <a:t>عبرت: The whole of it took less than a season, and the book still writes "Allah knows best" over</a:t>
            </a:r>
          </a:p>
          <a:p>
            <a:endParaRPr/>
          </a:p>
          <a:p>
            <a:r>
              <a:t>HANDS UP: Before telling it: *"He starts with seven hundred men. How long do you think it took</a:t>
            </a:r>
          </a:p>
          <a:p>
            <a:endParaRPr/>
          </a:p>
          <a:p>
            <a:r>
              <a:t>Source: البدایہ والنہایہ ج۷ ص۱۷</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ATA/E-TB29 · Why the map has no lines on it</a:t>
            </a:r>
          </a:p>
          <a:p>
            <a:r>
              <a:t>Tier: CUT   When: n/a</a:t>
            </a:r>
          </a:p>
          <a:p>
            <a:endParaRPr/>
          </a:p>
          <a:p>
            <a:r>
              <a:t>The sources place tribes **relatively** — «بأرض نجد»، «باليمامة»، «بالبحرين» — and almost never absolutely. Even the editor's own footnotes, quoting معجم البلدان, locate the famous places only against other places. **بُزاخة** is «a water of Ṭayyiʾ in the land of Najd, and it is said, of Banū Asad». **دارين** is «a landing-place in Bahrayn, between it and the coast a day and a night». So every polygon on every map of this course is a modern reconstruction. Draw feathered zones and arrows. Never a point, never a boundary line, never a coordinate on the slide face.</a:t>
            </a:r>
          </a:p>
          <a:p>
            <a:endParaRPr/>
          </a:p>
          <a:p>
            <a:r>
              <a:t>MAP: the rule itself.</a:t>
            </a:r>
          </a:p>
          <a:p>
            <a:endParaRPr/>
          </a:p>
          <a:p>
            <a:r>
              <a:t>عبرت: —</a:t>
            </a:r>
          </a:p>
          <a:p>
            <a:endParaRPr/>
          </a:p>
          <a:p>
            <a:r>
              <a:t>Source: البدایہ والنہایہ, **the دار ابن كثير editor's footnote** at ج۷ ص۲۵ (quoting معجم البلدان), not</a:t>
            </a:r>
          </a:p>
          <a:p>
            <a:endParaRPr/>
          </a:p>
          <a:p>
            <a:r>
              <a:t>From: Setting: the tribal map, and why the ردة took its shape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RCT/E-RC01 · The night raid on Medina</a:t>
            </a:r>
          </a:p>
          <a:p>
            <a:r>
              <a:t>Tier: CORE   When: ۱۱ھ, within days of the delegation's return `[SOURCED]`</a:t>
            </a:r>
          </a:p>
          <a:p>
            <a:endParaRPr/>
          </a:p>
          <a:p>
            <a:r>
              <a:t>The delegation that had offered the prayer and refused the zakāt went home. On the way out they counted the men in the city. Three days later the raiders came at night. Half of them stayed back at a valley called Dhū Ḥusā as a reserve. Abū Bakr ؓ came out with whoever was in the mosque, on the watering-camels, and drove the raiders off. Then he pursued them — straight into the reserve, which rolled inflated skins down at the Muslims' camels. The camels bolted and carried their riders all the way home.</a:t>
            </a:r>
          </a:p>
          <a:p>
            <a:endParaRPr/>
          </a:p>
          <a:p>
            <a:r>
              <a:t>MAP: المدينة</a:t>
            </a:r>
          </a:p>
          <a:p>
            <a:endParaRPr/>
          </a:p>
          <a:p>
            <a:r>
              <a:t>عبرت: The first engagement of the war was a setback, and the book records it without</a:t>
            </a:r>
          </a:p>
          <a:p>
            <a:endParaRPr/>
          </a:p>
          <a:p>
            <a:r>
              <a:t>HANDS UP: Before telling it: *"A delegation comes to negotiate, and goes home again. What have</a:t>
            </a:r>
          </a:p>
          <a:p>
            <a:endParaRPr/>
          </a:p>
          <a:p>
            <a:r>
              <a:t>Source: الکامل فی التاریخ ج۲ ص۲۰۲</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RCT/E-RC02 · The counter-attack before dawn</a:t>
            </a:r>
          </a:p>
          <a:p>
            <a:r>
              <a:t>Tier: CORE   When: ۱۱ھ, the same night as the reverse `[SOURCED]`</a:t>
            </a:r>
          </a:p>
          <a:p>
            <a:endParaRPr/>
          </a:p>
          <a:p>
            <a:r>
              <a:t>They thought the Muslims were finished. Abū Bakr ؓ spent that night forming his men up — the three brothers of Muqarrin on the right, the left and the rear. He marched in the dark. At first light the two forces were standing on the same ground, and the enemy had not heard them come. The swords were among them before the sun's rim showed. By sunrise they were running. He pursued and camped at Dhū al-Qaṣṣa, left a detachment there under al-Nuʿmān b. Muqarrin ؓ, and went home.</a:t>
            </a:r>
          </a:p>
          <a:p>
            <a:endParaRPr/>
          </a:p>
          <a:p>
            <a:r>
              <a:t>MAP: One blue arrow</a:t>
            </a:r>
          </a:p>
          <a:p>
            <a:endParaRPr/>
          </a:p>
          <a:p>
            <a:r>
              <a:t>عبرت: The recovery came out of the very night the reverse happened, spent preparing.</a:t>
            </a:r>
          </a:p>
          <a:p>
            <a:endParaRPr/>
          </a:p>
          <a:p>
            <a:r>
              <a:t>Source: الکامل ج۲ ص۲۰۳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RCT/E-RC03 · Abū Bakr ؓ rides out himself — الأبرق</a:t>
            </a:r>
          </a:p>
          <a:p>
            <a:r>
              <a:t>Tier: GOOD   When: **جمادى الآخرة ۱۱ھ** `[SOURCED]`</a:t>
            </a:r>
          </a:p>
          <a:p>
            <a:endParaRPr/>
          </a:p>
          <a:p>
            <a:r>
              <a:t>Usāma ؓ came back from the north. Abū Bakr ؓ put him in charge of Medina, told his troops to rest their mounts, and rode out again himself. The Muslims implored him to stay behind. He refused. They fought at al-Abraq, in the Rabadha, and the tribes there broke. He then stayed camped on that ground for some days and declared it forfeit — it became protected pasture for the state's own animals and its zakāt herds.</a:t>
            </a:r>
          </a:p>
          <a:p>
            <a:endParaRPr/>
          </a:p>
          <a:p>
            <a:r>
              <a:t>MAP: The blue arrow extends past</a:t>
            </a:r>
          </a:p>
          <a:p>
            <a:endParaRPr/>
          </a:p>
          <a:p>
            <a:r>
              <a:t>عبرت: He asked no man to stand anywhere he had not stood himself.</a:t>
            </a:r>
          </a:p>
          <a:p>
            <a:endParaRPr/>
          </a:p>
          <a:p>
            <a:r>
              <a:t>Source: الکامل ج۲ ص۲۰۳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RCT/E-RC04 · The rules the first army carried</a:t>
            </a:r>
          </a:p>
          <a:p>
            <a:r>
              <a:t>Tier: CORE   When: **ربيع الأول ۱۱ھ**, at الجُرْف `[SOURCED]` — البدایہ ج۷ ص۱۲: «أمضى أبو بكر</a:t>
            </a:r>
          </a:p>
          <a:p>
            <a:endParaRPr/>
          </a:p>
          <a:p>
            <a:r>
              <a:t>Usāma's ؓ army was the last thing the Prophet ﷺ had ordered, and Abū Bakr ؓ sent it out while Arabia was breaking apart. He walked the army out of camp on foot while its commander rode — and would not mount when Usāma ؓ protested. Then he gave them their instructions. He was sending soldiers into a country that had just turned against him, and what he told them was mostly a list of things they were not to do.</a:t>
            </a:r>
          </a:p>
          <a:p>
            <a:endParaRPr/>
          </a:p>
          <a:p>
            <a:r>
              <a:t>MAP: A single long arrow</a:t>
            </a:r>
          </a:p>
          <a:p>
            <a:endParaRPr/>
          </a:p>
          <a:p>
            <a:r>
              <a:t>عبرت: The first thing the state did when it had almost no strength was to limit what its own</a:t>
            </a:r>
          </a:p>
          <a:p>
            <a:endParaRPr/>
          </a:p>
          <a:p>
            <a:r>
              <a:t>HANDS UP: Before telling it: *"An army is marching out and the ruler has one minute to speak to</a:t>
            </a:r>
          </a:p>
          <a:p>
            <a:endParaRPr/>
          </a:p>
          <a:p>
            <a:r>
              <a:t>Source: الکامل فی التاریخ ج۲ ص۱۹۶</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RCT/E-RC05 · Eleven banners at ذو القصّة</a:t>
            </a:r>
          </a:p>
          <a:p>
            <a:r>
              <a:t>Tier: CORE   When: ۱۱ھ, after Usāma's ؓ army had rested `[SOURCED]`</a:t>
            </a:r>
          </a:p>
          <a:p>
            <a:endParaRPr/>
          </a:p>
          <a:p>
            <a:r>
              <a:t>He rode out a third time with his sword drawn, and ʿAlī ؓ walked at his camel's head. This time the Companions would not let him go on. He agreed, tied eleven banners on that ground, gave each commander his objective and his written orders, and went back to Medina. Then the eleven separated — each with his own troops joining him — and rode off in eleven directions from one spot of desert.</a:t>
            </a:r>
          </a:p>
          <a:p>
            <a:endParaRPr/>
          </a:p>
          <a:p>
            <a:r>
              <a:t>MAP: **The evening's</a:t>
            </a:r>
          </a:p>
          <a:p>
            <a:endParaRPr/>
          </a:p>
          <a:p>
            <a:r>
              <a:t>عبرت: The whole war was set moving from one camp, in one sitting, by a man who had just been told</a:t>
            </a:r>
          </a:p>
          <a:p>
            <a:endParaRPr/>
          </a:p>
          <a:p>
            <a:r>
              <a:t>HANDS UP: Ask the room to count with you as each arrow goes up.</a:t>
            </a:r>
          </a:p>
          <a:p>
            <a:endParaRPr/>
          </a:p>
          <a:p>
            <a:r>
              <a:t>Source: الکامل ج۲ ص۲۰۴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RCT/E-RC06 · The letter that went ahead of the armies</a:t>
            </a:r>
          </a:p>
          <a:p>
            <a:r>
              <a:t>Tier: CORE   When: ۱۱ھ, with the eleven `[SOURCED]`</a:t>
            </a:r>
          </a:p>
          <a:p>
            <a:endParaRPr/>
          </a:p>
          <a:p>
            <a:r>
              <a:t>Before the armies came, the letters came. One wording, copied out many times, sent with messengers who rode ahead of the columns. The messenger was to read it aloud in every assembly of the tribe. And the letter set a single test that any man could apply from a distance, with no lawyer and no court. Call the adhān when you halt. If they answer it, stop. If they do not, ask them what they owe.</a:t>
            </a:r>
          </a:p>
          <a:p>
            <a:endParaRPr/>
          </a:p>
          <a:p>
            <a:r>
              <a:t>MAP: Thin dotted lines running ahead</a:t>
            </a:r>
          </a:p>
          <a:p>
            <a:endParaRPr/>
          </a:p>
          <a:p>
            <a:r>
              <a:t>عبرت: The test was something the other side could pass, and passing it stopped the war where they</a:t>
            </a:r>
          </a:p>
          <a:p>
            <a:endParaRPr/>
          </a:p>
          <a:p>
            <a:r>
              <a:t>Source: البدایہ والنہایہ ج۷ ص۲۴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RCT/E-RC07 · ʿAdī b. Ḥātim ؓ buys three days</a:t>
            </a:r>
          </a:p>
          <a:p>
            <a:r>
              <a:t>Tier: GOOD   When: ۱۱ھ, before بُزاخة `[SOURCED]`</a:t>
            </a:r>
          </a:p>
          <a:p>
            <a:endParaRPr/>
          </a:p>
          <a:p>
            <a:r>
              <a:t>Abū Bakr ؓ had sent ʿAdī b. Ḥātim ؓ ahead of the army, to his own tribe. Ṭayyiʾ had already sent men to Ṭulayḥa. If they changed sides now, Ṭulayḥa would kill their kinsmen in his camp. So ʿAdī ؓ rode back out to meet Khālid ؓ and asked him to halt the army for three days while Ṭayyiʾ got their own men out. Khālid ؓ halted. Three days later Ṭayyiʾ came in — and then ʿAdī ؓ asked for more days, and went and brought in Banū Jadīla as well.</a:t>
            </a:r>
          </a:p>
          <a:p>
            <a:endParaRPr/>
          </a:p>
          <a:p>
            <a:r>
              <a:t>MAP: Khālid's ؓ arrow from ذو القصّة</a:t>
            </a:r>
          </a:p>
          <a:p>
            <a:endParaRPr/>
          </a:p>
          <a:p>
            <a:r>
              <a:t>عبرت: A commander in a hurry gave away three days, and a whole tribe came over instead of being</a:t>
            </a:r>
          </a:p>
          <a:p>
            <a:endParaRPr/>
          </a:p>
          <a:p>
            <a:r>
              <a:t>Source: الکامل ج۲ ص۲۰۴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RCT/E-RC08 · The two scouts</a:t>
            </a:r>
          </a:p>
          <a:p>
            <a:r>
              <a:t>Tier: GOOD   When: ۱۱ھ, approaching بُزاخة `[SOURCED]`</a:t>
            </a:r>
          </a:p>
          <a:p>
            <a:endParaRPr/>
          </a:p>
          <a:p>
            <a:r>
              <a:t>Khālid ؓ sent ʿUkkāsha b. Miḥṣan ؓ and Thābit b. Aqram ؓ forward to see what was in front of him. They ran into Ṭulayḥa's brother Ḥibāl, and killed him. Then Ṭulayḥa and his other brother came out after them, and killed them both. The army came up the road and found the two of them lying there.</a:t>
            </a:r>
          </a:p>
          <a:p>
            <a:endParaRPr/>
          </a:p>
          <a:p>
            <a:r>
              <a:t>MAP: Two small markers ahead of</a:t>
            </a:r>
          </a:p>
          <a:p>
            <a:endParaRPr/>
          </a:p>
          <a:p>
            <a:r>
              <a:t>عبرت: Two names are all that a whole army's reconnaissance amounted to, and the book keeps both.</a:t>
            </a:r>
          </a:p>
          <a:p>
            <a:endParaRPr/>
          </a:p>
          <a:p>
            <a:r>
              <a:t>Source: الکامل ج۲ ص۲۰۴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RCT/E-RC09 · بُزاخة — the man who walked off the field</a:t>
            </a:r>
          </a:p>
          <a:p>
            <a:r>
              <a:t>Tier: CORE   When: ۱۱ھ `[SOURCED]`</a:t>
            </a:r>
          </a:p>
          <a:p>
            <a:endParaRPr/>
          </a:p>
          <a:p>
            <a:r>
              <a:t>Ṭulayḥa sat wrapped in a cloak, waiting for revelation, while ʿUyayna b. Ḥiṣn did the fighting with seven hundred men of Fazāra. Nearby, Banū ʿĀmir sat armed and waited to see which way it would go. Three times ʿUyayna broke off the fighting, walked back to the cloak, and asked whether Jibrīl had come. Twice the answer was no. The third time it was yes — and then Ṭulayḥa told him what had been said.</a:t>
            </a:r>
          </a:p>
          <a:p>
            <a:endParaRPr/>
          </a:p>
          <a:p>
            <a:r>
              <a:t>MAP: Khālid's ؓ arrow moves from **أجَأ وسَلْمى** to</a:t>
            </a:r>
          </a:p>
          <a:p>
            <a:endParaRPr/>
          </a:p>
          <a:p>
            <a:r>
              <a:t>عبرت: The claim collapsed the moment somebody asked it for something specific.</a:t>
            </a:r>
          </a:p>
          <a:p>
            <a:endParaRPr/>
          </a:p>
          <a:p>
            <a:r>
              <a:t>HANDS UP: Before telling it: *"He had followed this man, and was fighting for him that morning.</a:t>
            </a:r>
          </a:p>
          <a:p>
            <a:endParaRPr/>
          </a:p>
          <a:p>
            <a:r>
              <a:t>Source: الکامل فی التاریخ ج۲ ص۲۰۵</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RCT/E-RC10 · The terms at Medina, and ʿUmar's ؓ objection</a:t>
            </a:r>
          </a:p>
          <a:p>
            <a:r>
              <a:t>Tier: CORE   When: ۱۱ھ, after بُزاخة `[SOURCED]`</a:t>
            </a:r>
          </a:p>
          <a:p>
            <a:endParaRPr/>
          </a:p>
          <a:p>
            <a:r>
              <a:t>The delegation of Buzākha came to Medina asking for terms. Abū Bakr ؓ gave them a choice of two, and named them: a war of expulsion, or a humbling settlement. They said they knew what war meant — what was the settlement? He listed it. Weapons and horses surrendered. Compensation for what you took from us, and none for what we took from you. You testify that our dead are in the Garden and yours in the Fire. And you pay blood-money for our dead, and we pay none for yours. And then ʿUmar ؓ interrupted him.</a:t>
            </a:r>
          </a:p>
          <a:p>
            <a:endParaRPr/>
          </a:p>
          <a:p>
            <a:r>
              <a:t>MAP: Asad and Ghaṭafān turn from red to</a:t>
            </a:r>
          </a:p>
          <a:p>
            <a:endParaRPr/>
          </a:p>
          <a:p>
            <a:r>
              <a:t>عبرت: The terms were read out in front of the men they applied to, and one clause of them was</a:t>
            </a:r>
          </a:p>
          <a:p>
            <a:endParaRPr/>
          </a:p>
          <a:p>
            <a:r>
              <a:t>Source: البدایہ والنہایہ ج۷ ص۲۷ — **صحيح البخاري ٧٢٢١**</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RCT/E-RC11 · The three things asked of the men who came back</a:t>
            </a:r>
          </a:p>
          <a:p>
            <a:r>
              <a:t>Tier: GOOD   When: ۱۱ھ, after بُزاخة `[SOURCED]`</a:t>
            </a:r>
          </a:p>
          <a:p>
            <a:endParaRPr/>
          </a:p>
          <a:p>
            <a:r>
              <a:t>When Ṭulayḥa was broken, the tribes who had been sitting and watching came in of their own accord. Khālid ؓ took a pledge from them. It was three items long. Believe in Allah and His Messenger; establish the prayer; pay the zakāt — and take the same pledge from your sons and your women. There was nothing in it about the caliph's person and nothing about tribute. And there was one thing he would not waive: the men who had killed Muslims during the rising were to be handed over.</a:t>
            </a:r>
          </a:p>
          <a:p>
            <a:endParaRPr/>
          </a:p>
          <a:p>
            <a:r>
              <a:t>MAP: Hawāzin, Sulaym and ʿĀmir all</a:t>
            </a:r>
          </a:p>
          <a:p>
            <a:endParaRPr/>
          </a:p>
          <a:p>
            <a:r>
              <a:t>عبرت: What was being demanded was short enough to say in one breath, and a chief who had asked to</a:t>
            </a:r>
          </a:p>
          <a:p>
            <a:endParaRPr/>
          </a:p>
          <a:p>
            <a:r>
              <a:t>Source: الکامل ج۲ ص۲۰۶</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RCT/E-RC12 · أم زمل</a:t>
            </a:r>
          </a:p>
          <a:p>
            <a:r>
              <a:t>Tier: GOOD   When: ۱۱ھ, after بُزاخة `[SOURCED]`</a:t>
            </a:r>
          </a:p>
          <a:p>
            <a:endParaRPr/>
          </a:p>
          <a:p>
            <a:r>
              <a:t>The men who ran from Buzākha did not go home. They gathered around a woman — Salmā, daughter of Mālik, the daughter of Umm Qirfa. She had once been a captive in Medina, and ʿĀʾisha ؓ had set her free; she had gone back to her people, and turned. Fugitives of five tribes came in to her, and she ordered them to fight — and what had been a rout was an army again. Khālid ؓ marched on her. She fought mounted on her mother's camel, the camel whose price was a hundred camels to whoever touched it. They hamstrung it and killed her, and a hundred men were killed around it.</a:t>
            </a:r>
          </a:p>
          <a:p>
            <a:endParaRPr/>
          </a:p>
          <a:p>
            <a:r>
              <a:t>MAP: An unlocated arrow inside the</a:t>
            </a:r>
          </a:p>
          <a:p>
            <a:endParaRPr/>
          </a:p>
          <a:p>
            <a:r>
              <a:t>عبرت: A defeat is not finished on the day of the battle; it is finished when the beaten have</a:t>
            </a:r>
          </a:p>
          <a:p>
            <a:endParaRPr/>
          </a:p>
          <a:p>
            <a:r>
              <a:t>Source: الکامل ج۲ ص۲۰۷</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RCT/E-RC13 · الفُجاءة — the man who asked for weapons</a:t>
            </a:r>
          </a:p>
          <a:p>
            <a:r>
              <a:t>Tier: GOOD   When: ۱۱ھ `[SOURCED]`</a:t>
            </a:r>
          </a:p>
          <a:p>
            <a:endParaRPr/>
          </a:p>
          <a:p>
            <a:r>
              <a:t>He came to Abū Bakr ؓ, said he was a Muslim, and asked to be armed and commissioned to fight the apostates. He was given weapons, and a command. Then he camped at al-Jiwāʾ, appointed a deputy over his raiding, and set about plundering every Muslim he could find among Sulaym, ʿĀmir and Hawāzin. It took two officers to bring him in. His deputy was killed and he ran; Ṭurayfa b. Ḥājiz ran him down, took him alive, and sent him to Medina.</a:t>
            </a:r>
          </a:p>
          <a:p>
            <a:endParaRPr/>
          </a:p>
          <a:p>
            <a:r>
              <a:t>MAP: An arrow from المدينة south-east into the Sulaym</a:t>
            </a:r>
          </a:p>
          <a:p>
            <a:endParaRPr/>
          </a:p>
          <a:p>
            <a:r>
              <a:t>عبرت: The one man the state armed on his own word did more damage with those weapons than the</a:t>
            </a:r>
          </a:p>
          <a:p>
            <a:endParaRPr/>
          </a:p>
          <a:p>
            <a:r>
              <a:t>HANDS UP: Before telling it: *"A stranger arrives, says he is with you, and asks for weapons.</a:t>
            </a:r>
          </a:p>
          <a:p>
            <a:endParaRPr/>
          </a:p>
          <a:p>
            <a:r>
              <a:t>Source: الکامل ج۲ ص۲۰۷</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RCT/E-RC14 · البُطاح and Mālik b. Nuwayra ؓ — ⚠ SPEAKER'S DISCRETION</a:t>
            </a:r>
          </a:p>
          <a:p>
            <a:r>
              <a:t>Tier: GOOD   When: ۱۱ھ `[SOURCED]`</a:t>
            </a:r>
          </a:p>
          <a:p>
            <a:endParaRPr/>
          </a:p>
          <a:p>
            <a:r>
              <a:t>Khālid's ؓ written orders had named al-Buṭāḥ as his third stop. The Anṣār with him refused to march: they said their orders ended at Buzākha. He told them he was the commander, that he would not compel them, and that he was going. They followed two days later. Mālik b. Nuwayra ؓ was at al-Buṭāḥ, undecided — he had dealt with Sajāḥ and then broken with her, and he had just told his own tribe to disperse and submit. A patrol brought him in with a group of his men. And then the patrol itself disagreed about what it had seen. Abū Qatāda ؓ testified that they had given the adhān and had prayed. Others said they had not. They were killed.</a:t>
            </a:r>
          </a:p>
          <a:p>
            <a:endParaRPr/>
          </a:p>
          <a:p>
            <a:r>
              <a:t>MAP: Khālid's ؓ arrow continues from بُزاخة to **البُطاح**, in the Tamīm country. Draw the Anṣār contingent</a:t>
            </a:r>
          </a:p>
          <a:p>
            <a:endParaRPr/>
          </a:p>
          <a:p>
            <a:r>
              <a:t>عبرت: Four books tell this and they do not tell it the same way, and that is the first thing to</a:t>
            </a:r>
          </a:p>
          <a:p>
            <a:endParaRPr/>
          </a:p>
          <a:p>
            <a:r>
              <a:t>HANDS UP: no — **and take no questions on it from the floor.**</a:t>
            </a:r>
          </a:p>
          <a:p>
            <a:endParaRPr/>
          </a:p>
          <a:p>
            <a:r>
              <a:t>Source: الکامل فی التاریخ ج۲ ص۲۱۳ (the speaker is أبو بكر ؓ,</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RCT/E-RC15 · ʿIkrima ؓ goes too early, and the letter that follows him</a:t>
            </a:r>
          </a:p>
          <a:p>
            <a:r>
              <a:t>Tier: CORE   When: ۱۱ھ, at اليمامة `[SOURCED]`</a:t>
            </a:r>
          </a:p>
          <a:p>
            <a:endParaRPr/>
          </a:p>
          <a:p>
            <a:r>
              <a:t>ʿIkrima ؓ had the banner for Musaylima, and Shuraḥbīl ؓ was sent behind him. ʿIkrima attacked before Shuraḥbīl came up — Ibn al-Athīr says he wanted to carry off the fame of it alone. He was beaten. He wrote to Medina and reported it, and waited for his recall. What came back was not a recall. He was not to come home and demoralise people. He was to keep going: join Ḥudhayfa and ʿArfaja, fight in Oman and Mahra, and keep marching after that until he met al-Muhājir ؓ in Yemen and Ḥaḍramawt.</a:t>
            </a:r>
          </a:p>
          <a:p>
            <a:endParaRPr/>
          </a:p>
          <a:p>
            <a:r>
              <a:t>MAP: ʿIkrima's ؓ arrow reaches **اليمامة**</a:t>
            </a:r>
          </a:p>
          <a:p>
            <a:endParaRPr/>
          </a:p>
          <a:p>
            <a:r>
              <a:t>عبرت: He was not dismissed for the defeat; he was given more ground to cross.</a:t>
            </a:r>
          </a:p>
          <a:p>
            <a:endParaRPr/>
          </a:p>
          <a:p>
            <a:r>
              <a:t>HANDS UP: Before telling it: *"A commander loses a battle by moving too soon. What should the</a:t>
            </a:r>
          </a:p>
          <a:p>
            <a:endParaRPr/>
          </a:p>
          <a:p>
            <a:r>
              <a:t>Source: الکامل فی التاریخ ج۲ ص۲۱۴ → ج۲ ص۲۱۵ ·</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RCT/E-RC16 · The tent and the prisoner — عَقْرَباء</a:t>
            </a:r>
          </a:p>
          <a:p>
            <a:r>
              <a:t>Tier: CORE   When: ۱۱ھ→۱۲ھ `[SOURCED]`</a:t>
            </a:r>
          </a:p>
          <a:p>
            <a:endParaRPr/>
          </a:p>
          <a:p>
            <a:r>
              <a:t>Musaylima had about forty thousand fighting men. He camped at ʿAqrabāʾ with the farmland and the families behind his back — which meant no man in his line could retreat without running through his own household. The night before, Khālid's ؓ vanguard picked up a raiding party coming home; he executed them and kept one man alive, because someone in the party had told him to: if you mean anything at all for the people of Yamāma tomorrow, keep this one. His name was Mujjāʿa b. Murāra, and he was put in irons in the tent with Khālid's ؓ wife.</a:t>
            </a:r>
          </a:p>
          <a:p>
            <a:endParaRPr/>
          </a:p>
          <a:p>
            <a:r>
              <a:t>MAP: Khālid's ؓ arrow runs from البُطاح east to</a:t>
            </a:r>
          </a:p>
          <a:p>
            <a:endParaRPr/>
          </a:p>
          <a:p>
            <a:r>
              <a:t>عبرت: He kept one prisoner alive on a stranger's advice, and that decision settled the end of the</a:t>
            </a:r>
          </a:p>
          <a:p>
            <a:endParaRPr/>
          </a:p>
          <a:p>
            <a:r>
              <a:t>Source: البدایہ والنہایہ ج۷ ص۳۳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RCT/E-RC17 · The line breaks</a:t>
            </a:r>
          </a:p>
          <a:p>
            <a:r>
              <a:t>Tier: CORE   When: ۱۱ھ→۱۲ھ, at عَقْرَباء `[SOURCED]`</a:t>
            </a:r>
          </a:p>
          <a:p>
            <a:endParaRPr/>
          </a:p>
          <a:p>
            <a:r>
              <a:t>One of their leaders told them that if they lost, their women would be taken. The armies collided, and the Muslim line broke. The bedouin contingents ran. Banū Ḥanīfa came through and into Khālid's ؓ own tent, and were going to kill his wife — and the prisoner in irons in that tent stood up and gave her his protection. Later in the same day Muslims came into the same tent meaning to kill him, and she gave him hers.</a:t>
            </a:r>
          </a:p>
          <a:p>
            <a:endParaRPr/>
          </a:p>
          <a:p>
            <a:r>
              <a:t>MAP: The blue block at عَقْرَباء is</a:t>
            </a:r>
          </a:p>
          <a:p>
            <a:endParaRPr/>
          </a:p>
          <a:p>
            <a:r>
              <a:t>عبرت: Each of them saved the other's life on the same day, and the book keeps both halves.</a:t>
            </a:r>
          </a:p>
          <a:p>
            <a:endParaRPr/>
          </a:p>
          <a:p>
            <a:r>
              <a:t>Source: البدایہ والنہایہ ج۷ ص۳۳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RCT/E-RC18 · Thābit b. Qays ؓ puts on his shroud</a:t>
            </a:r>
          </a:p>
          <a:p>
            <a:r>
              <a:t>Tier: CORE   When: ۱۱ھ→۱۲ھ, at عَقْرَباء `[SOURCED]`</a:t>
            </a:r>
          </a:p>
          <a:p>
            <a:endParaRPr/>
          </a:p>
          <a:p>
            <a:r>
              <a:t>Anas ؓ came to him while the line was going backwards and found him rubbing himself with burial perfume. He had put on two white garments — the ones he was buried in. Anas ؓ said: do you not see what is happening? He said: in a moment, nephew. Then he came forward past the men who were falling back, and told them to get out of his way, and said the thing that everyone in that generation would have understood. Then he took the Anṣār's banner, dug his feet into the ground to the middle of his shins, and did not move from there until he was killed.</a:t>
            </a:r>
          </a:p>
          <a:p>
            <a:endParaRPr/>
          </a:p>
          <a:p>
            <a:r>
              <a:t>MAP: No movement. Hold the map still</a:t>
            </a:r>
          </a:p>
          <a:p>
            <a:endParaRPr/>
          </a:p>
          <a:p>
            <a:r>
              <a:t>عبرت: He did not tell them what to do; he told them what they had already been.</a:t>
            </a:r>
          </a:p>
          <a:p>
            <a:endParaRPr/>
          </a:p>
          <a:p>
            <a:r>
              <a:t>Source: سیر أعلام النبلاء ج۱ ص۳۱۱ — **صحيح البخاري ٢٨٤٥**</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RCT/E-RC19 · «امتازوا» — the order that turned the day</a:t>
            </a:r>
          </a:p>
          <a:p>
            <a:r>
              <a:t>Tier: GOOD   When: ۱۱ھ→۱۲ھ, at عَقْرَباء `[SOURCED]`</a:t>
            </a:r>
          </a:p>
          <a:p>
            <a:endParaRPr/>
          </a:p>
          <a:p>
            <a:r>
              <a:t>Khālid ؓ looked at what was happening to his men and gave an order that had nothing to do with weapons. Separate out. Every clan under its own banner, fighting under it. He wanted two things: to know what each group was actually worth, and to know exactly where the line was being broken. They separated. And once they had, they started saying to one another that today, running would be shameful.</a:t>
            </a:r>
          </a:p>
          <a:p>
            <a:endParaRPr/>
          </a:p>
          <a:p>
            <a:r>
              <a:t>MAP: The blue block at عَقْرَباء</a:t>
            </a:r>
          </a:p>
          <a:p>
            <a:endParaRPr/>
          </a:p>
          <a:p>
            <a:r>
              <a:t>عبرت: He did not make them braver; he made it impossible for anyone's failure to be anonymous.</a:t>
            </a:r>
          </a:p>
          <a:p>
            <a:endParaRPr/>
          </a:p>
          <a:p>
            <a:r>
              <a:t>HANDS UP: Before telling it: *"The line is breaking and you do not know where. What do you</a:t>
            </a:r>
          </a:p>
          <a:p>
            <a:endParaRPr/>
          </a:p>
          <a:p>
            <a:r>
              <a:t>Source: الکامل فی التاریخ ج۲ ص۲۱۷</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RCT/E-RC20 · حديقة الموت — al-Barāʾ ؓ over the wall</a:t>
            </a:r>
          </a:p>
          <a:p>
            <a:r>
              <a:t>Tier: CORE   When: ۱۱ھ→۱۲ھ `[SOURCED]`</a:t>
            </a:r>
          </a:p>
          <a:p>
            <a:endParaRPr/>
          </a:p>
          <a:p>
            <a:r>
              <a:t>When Banū Ḥanīfa broke, one of their commanders called them into a walled garden and shut the gate behind them. There were thousands of them inside and the wall was solid. Al-Barāʾ b. Mālik ؓ — the brother of Anas ؓ, the Prophet's ﷺ servant — told the Muslims to throw him over it. They refused. He made them do it. They lifted him on a shield raised on spear-shafts until he topped the wall, and he went down among them alone, and fought his way to the gate, and opened it.</a:t>
            </a:r>
          </a:p>
          <a:p>
            <a:endParaRPr/>
          </a:p>
          <a:p>
            <a:r>
              <a:t>MAP: The red block collapses back from عَقْرَباء</a:t>
            </a:r>
          </a:p>
          <a:p>
            <a:endParaRPr/>
          </a:p>
          <a:p>
            <a:r>
              <a:t>عبرت: One man asked to be thrown where nobody could follow him, and the whole army came in behind</a:t>
            </a:r>
          </a:p>
          <a:p>
            <a:endParaRPr/>
          </a:p>
          <a:p>
            <a:r>
              <a:t>HANDS UP: Before telling it: *"The gate is shut, the wall is solid, and there are thousands</a:t>
            </a:r>
          </a:p>
          <a:p>
            <a:endParaRPr/>
          </a:p>
          <a:p>
            <a:r>
              <a:t>Source: الکامل فی التاریخ ج۲ ص۲۱۸</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RCT/E-RC21 · The death of Musaylima, and what Waḥshī ؓ said afterwards</a:t>
            </a:r>
          </a:p>
          <a:p>
            <a:r>
              <a:t>Tier: CORE   When: ۱۱ھ→۱۲ھ `[SOURCED]`</a:t>
            </a:r>
          </a:p>
          <a:p>
            <a:endParaRPr/>
          </a:p>
          <a:p>
            <a:r>
              <a:t>They got through to him standing in a gap in the wall. Waḥshī b. Ḥarb ؓ — the man who had killed Ḥamza ؓ at Uḥud, before he was a Muslim — threw his javelin, and it went through him and out the other side; a second man struck him with a sword and he fell. A woman cried out from the fort above. And afterwards, when Waḥshī ؓ was asked about the battle, what he said was not about himself.</a:t>
            </a:r>
          </a:p>
          <a:p>
            <a:endParaRPr/>
          </a:p>
          <a:p>
            <a:r>
              <a:t>MAP: The enclosure fills blue. اليمامة turns from</a:t>
            </a:r>
          </a:p>
          <a:p>
            <a:endParaRPr/>
          </a:p>
          <a:p>
            <a:r>
              <a:t>عبرت: The man who killed their leader is the one the book quotes praising their courage.</a:t>
            </a:r>
          </a:p>
          <a:p>
            <a:endParaRPr/>
          </a:p>
          <a:p>
            <a:r>
              <a:t>Source: سیر أعلام النبلاء (سير الخلفاء الراشدين) ص۴۸</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RCT/E-RC22 · The treaty he was tricked into, and kept</a:t>
            </a:r>
          </a:p>
          <a:p>
            <a:r>
              <a:t>Tier: CORE   When: ۱۲ھ `[SOURCED]`</a:t>
            </a:r>
          </a:p>
          <a:p>
            <a:endParaRPr/>
          </a:p>
          <a:p>
            <a:r>
              <a:t>The forts were still holding, and the Muslims were exhausted. The prisoner — Mujjāʿa, now the negotiator — went in to consult his people and came back saying they refused the terms. What he had actually done was dress the women and the old men in armour and put them up on the walls. Khālid ؓ looked at the battlements, saw them full of heads, and settled. Then the forts were opened and there was nobody inside but women, children and old men. And then a letter arrived from Medina ordering him to kill every grown man among them.</a:t>
            </a:r>
          </a:p>
          <a:p>
            <a:endParaRPr/>
          </a:p>
          <a:p>
            <a:r>
              <a:t>MAP: The forts of اليمامة, ringed and then unringed.</a:t>
            </a:r>
          </a:p>
          <a:p>
            <a:endParaRPr/>
          </a:p>
          <a:p>
            <a:r>
              <a:t>عبرت: He had been deceived into the agreement and he kept it anyway, because the agreement had</a:t>
            </a:r>
          </a:p>
          <a:p>
            <a:endParaRPr/>
          </a:p>
          <a:p>
            <a:r>
              <a:t>HANDS UP: Before telling it: *"You have signed terms. Then you find out you were tricked into</a:t>
            </a:r>
          </a:p>
          <a:p>
            <a:endParaRPr/>
          </a:p>
          <a:p>
            <a:r>
              <a:t>Source: الکامل فی التاریخ ج۲ ص۲۱۹</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RCT/E-RC23 · Zayd b. al-Khaṭṭāb ؓ, and his brother</a:t>
            </a:r>
          </a:p>
          <a:p>
            <a:r>
              <a:t>Tier: GOOD   When: ۱۲ھ, **ربيع الأول** `[SOURCED]`</a:t>
            </a:r>
          </a:p>
          <a:p>
            <a:endParaRPr/>
          </a:p>
          <a:p>
            <a:r>
              <a:t>He was older than ʿUmar ؓ and he had become a Muslim before him. At Badr, ʿUmar ؓ offered him his own mail coat and he refused it — he said he wanted from martyrdom what his brother wanted. At al-Yamāma he carried a banner and would not speak until it was over, and he was killed. When the army came home, ʿUmar ؓ turned on his own son ʿAbdullāh ؓ for coming back alive.</a:t>
            </a:r>
          </a:p>
          <a:p>
            <a:endParaRPr/>
          </a:p>
          <a:p>
            <a:r>
              <a:t>MAP: No movement.</a:t>
            </a:r>
          </a:p>
          <a:p>
            <a:endParaRPr/>
          </a:p>
          <a:p>
            <a:r>
              <a:t>عبرت: The Companions' grief is recorded as carefully as their victories, and by the same men.</a:t>
            </a:r>
          </a:p>
          <a:p>
            <a:endParaRPr/>
          </a:p>
          <a:p>
            <a:r>
              <a:t>Source: سیر أعلام النبلاء ج۱ ص۲۹۸</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RCT/E-RC24 · جُواثى under siege</a:t>
            </a:r>
          </a:p>
          <a:p>
            <a:r>
              <a:t>Tier: GOOD   When: ۱۱ھ, البحرين `[SOURCED]`</a:t>
            </a:r>
          </a:p>
          <a:p>
            <a:endParaRPr/>
          </a:p>
          <a:p>
            <a:r>
              <a:t>When al-Mundhir b. Sāwā died, Bahrayn rose. They took al-Qaṭīf and Hajar, drew in al-Khaṭṭ, sent a force to Dārīn, and made a king of the old Lakhmid line. And they besieged the Muslims in one village called Juwāthā, and starved them. One of the besieged put a message into four lines of verse, addressed to Abū Bakr ؓ and to the young men of Medina, and it is preserved.</a:t>
            </a:r>
          </a:p>
          <a:p>
            <a:endParaRPr/>
          </a:p>
          <a:p>
            <a:r>
              <a:t>MAP: البحرين goes red. One dot inside it —</a:t>
            </a:r>
          </a:p>
          <a:p>
            <a:endParaRPr/>
          </a:p>
          <a:p>
            <a:r>
              <a:t>عبرت: The place that held out longest was one village, and its message out was four lines of</a:t>
            </a:r>
          </a:p>
          <a:p>
            <a:endParaRPr/>
          </a:p>
          <a:p>
            <a:r>
              <a:t>Source: الکامل ج۲ ص۲۲۲ (also البدایہ ج۷ ص۳۸)</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RCT/E-RC25 · The sixteen riders</a:t>
            </a:r>
          </a:p>
          <a:p>
            <a:r>
              <a:t>Tier: CORE   When: ۱۱ھ `[SOURCED]`</a:t>
            </a:r>
          </a:p>
          <a:p>
            <a:endParaRPr/>
          </a:p>
          <a:p>
            <a:r>
              <a:t>Al-ʿAlāʾ b. al-Ḥaḍramī ؓ left Medina with sixteen riders and a letter. The letter said that every Muslim he passed on the road was to march out with him. And that is what happened. Thumāma b. Uthāl ؓ joined him with the Muslims of Banū Ḥanīfa. Qays b. ʿĀṣim joined him and brought the zakāt he had held back. ʿAmr, the Abnāʾ, Saʿd and the Rabāb joined — a body the size of the one he already had. A column of sixteen crossed the sand desert as an army.</a:t>
            </a:r>
          </a:p>
          <a:p>
            <a:endParaRPr/>
          </a:p>
          <a:p>
            <a:r>
              <a:t>MAP: A **thin** arrow leaves المدينة for البحرين and</a:t>
            </a:r>
          </a:p>
          <a:p>
            <a:endParaRPr/>
          </a:p>
          <a:p>
            <a:r>
              <a:t>عبرت: The state had almost no soldiers to send; what it sent instead was a commander and a piece</a:t>
            </a:r>
          </a:p>
          <a:p>
            <a:endParaRPr/>
          </a:p>
          <a:p>
            <a:r>
              <a:t>HANDS UP: Before telling it: *"You have sixteen men and a province in revolt. What do you send?"*</a:t>
            </a:r>
          </a:p>
          <a:p>
            <a:endParaRPr/>
          </a:p>
          <a:p>
            <a:r>
              <a:t>Source: سیر أعلام النبلاء ج۱ ص۲۶۴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RCT/E-RC26 · The trench month, and the nephew in the enemy camp</a:t>
            </a:r>
          </a:p>
          <a:p>
            <a:r>
              <a:t>Tier: GOOD   When: ۱۱ھ, البحرين `[SOURCED]`</a:t>
            </a:r>
          </a:p>
          <a:p>
            <a:endParaRPr/>
          </a:p>
          <a:p>
            <a:r>
              <a:t>Both sides dug in and fought for a month, going out and coming back to their trenches. One night the Muslims heard uproar in the enemy camp. ʿAbdullāh b. Ḥadhf volunteered to go and find out what it was, and was captured. His mother was of ʿIjl — so he shouted for his uncle by name, and his uncle came and recognised him, and fed him, and gave him a camel, and let him out. The uncle was too drunk to think about it. He came back and told al-ʿAlāʾ ؓ that the whole enemy camp was drunk.</a:t>
            </a:r>
          </a:p>
          <a:p>
            <a:endParaRPr/>
          </a:p>
          <a:p>
            <a:r>
              <a:t>MAP: Two trench lines facing each other</a:t>
            </a:r>
          </a:p>
          <a:p>
            <a:endParaRPr/>
          </a:p>
          <a:p>
            <a:r>
              <a:t>عبرت: A month of trenches was decided by one night on which one side could not think.</a:t>
            </a:r>
          </a:p>
          <a:p>
            <a:endParaRPr/>
          </a:p>
          <a:p>
            <a:r>
              <a:t>Source: الکامل ج۲ ص۲۲۳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RCT/E-RC27 · دارين — into the water</a:t>
            </a:r>
          </a:p>
          <a:p>
            <a:r>
              <a:t>Tier: CORE   When: ۱۱ھ→۱۲ھ `[SOURCED]`</a:t>
            </a:r>
          </a:p>
          <a:p>
            <a:endParaRPr/>
          </a:p>
          <a:p>
            <a:r>
              <a:t>The beaten took ship for Dārīn, an anchorage a day and a night out from the shore. Al-ʿAlāʾ ؓ did not chase them straight away. He first wrote to the Muslims of Bakr b. Wāʾil to sit on every road and close the land behind him. Then he brought his men to the water's edge — where the ships would have been too slow — and told them what he intended.</a:t>
            </a:r>
          </a:p>
          <a:p>
            <a:endParaRPr/>
          </a:p>
          <a:p>
            <a:r>
              <a:t>MAP: The survivors take ship from the البحرين</a:t>
            </a:r>
          </a:p>
          <a:p>
            <a:endParaRPr/>
          </a:p>
          <a:p>
            <a:r>
              <a:t>عبرت: He closed the roads behind the enemy before he opened one in front of himself.</a:t>
            </a:r>
          </a:p>
          <a:p>
            <a:endParaRPr/>
          </a:p>
          <a:p>
            <a:r>
              <a:t>Source: الکامل فی التاریخ ج۲ ص۲۲۴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RCT/E-RC28 · Thumāma b. Uthāl ؓ and the embroidered cloak</a:t>
            </a:r>
          </a:p>
          <a:p>
            <a:r>
              <a:t>Tier: GOOD   When: ۱۲ھ, after دارين `[SOURCED]`</a:t>
            </a:r>
          </a:p>
          <a:p>
            <a:endParaRPr/>
          </a:p>
          <a:p>
            <a:r>
              <a:t>He had held part of Banū Ḥanīfa against Musaylima while Musaylima was at his strongest, and then joined al-ʿAlāʾ ؓ on the road to Bahrayn. Al-ʿAlāʾ ؓ gave him a share of the spoils for it: al-Ḥuṭam's own embroidered cloak, the one the man used to show off in. Coming back from Dārīn he was seen wearing it by Banū Qays b. Thaʿlaba, and they decided it meant he had killed their chief.</a:t>
            </a:r>
          </a:p>
          <a:p>
            <a:endParaRPr/>
          </a:p>
          <a:p>
            <a:r>
              <a:t>MAP: A short return arrow from دارين</a:t>
            </a:r>
          </a:p>
          <a:p>
            <a:endParaRPr/>
          </a:p>
          <a:p>
            <a:r>
              <a:t>عبرت: He survived the war and was killed for a piece of cloth by men who had already surrendered.</a:t>
            </a:r>
          </a:p>
          <a:p>
            <a:endParaRPr/>
          </a:p>
          <a:p>
            <a:r>
              <a:t>Source: الکامل فی التاریخ ج۲ ص۲۲۴</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RCT/E-RC29 · دَبا — the relief that came from inside the theatre</a:t>
            </a:r>
          </a:p>
          <a:p>
            <a:r>
              <a:t>Tier: CORE   When: ۱۱ھ→۱۲ھ, عُمان `[SOURCED]`</a:t>
            </a:r>
          </a:p>
          <a:p>
            <a:endParaRPr/>
          </a:p>
          <a:p>
            <a:r>
              <a:t>Oman had gone to a man who called himself Dhū al-Tāj and claimed prophethood, and he had pushed the two lawful rulers to the edges of the country. One of them wrote to Abū Bakr ؓ and asked for help — so this front began with a request, not an invasion. Three Muslim columns joined before they arrived, wrote to the rulers, and also wrote to the rebel's own chiefs, some of whom left him. Then they fought at Dabā, the country's great market town. And they very nearly lost it.</a:t>
            </a:r>
          </a:p>
          <a:p>
            <a:endParaRPr/>
          </a:p>
          <a:p>
            <a:r>
              <a:t>MAP: Three arrows converge at **رِجام**,</a:t>
            </a:r>
          </a:p>
          <a:p>
            <a:endParaRPr/>
          </a:p>
          <a:p>
            <a:r>
              <a:t>عبرت: The men who saved that day were from the same country as the men they were fighting.</a:t>
            </a:r>
          </a:p>
          <a:p>
            <a:endParaRPr/>
          </a:p>
          <a:p>
            <a:r>
              <a:t>HANDS UP: Before telling it: *"The column from Medina is losing. Who is close enough to help?"*</a:t>
            </a:r>
          </a:p>
          <a:p>
            <a:endParaRPr/>
          </a:p>
          <a:p>
            <a:r>
              <a:t>Source: الکامل فی التاریخ ج۲ ص۲۲۶</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RCT/E-RC30 · مَهْرة — the front won with a letter</a:t>
            </a:r>
          </a:p>
          <a:p>
            <a:r>
              <a:t>Tier: GOOD   When: ۱۱ھ→۱۲ھ `[SOURCED]`</a:t>
            </a:r>
          </a:p>
          <a:p>
            <a:endParaRPr/>
          </a:p>
          <a:p>
            <a:r>
              <a:t>ʿIkrima ؓ came into Mahra and found not one enemy but two — two forces under two chiefs who would not work together. So he wrote to the smaller one. That man answered, came over, and became a Muslim; and with him the Muslims were strengthened and the other man's nerve failed. Then ʿIkrima ؓ called that one too, and he refused, and the fighting that followed was harder than Dabā had been. Afterwards, the fifth of the spoils was sent to Abū Bakr ؓ — carried to Medina by the man who had been leading half the rebellion.</a:t>
            </a:r>
          </a:p>
          <a:p>
            <a:endParaRPr/>
          </a:p>
          <a:p>
            <a:r>
              <a:t>MAP: ʿIkrima's ؓ long line continues from عمان</a:t>
            </a:r>
          </a:p>
          <a:p>
            <a:endParaRPr/>
          </a:p>
          <a:p>
            <a:r>
              <a:t>عبرت: He wrote before he marched, and half the enemy stopped being the enemy.</a:t>
            </a:r>
          </a:p>
          <a:p>
            <a:endParaRPr/>
          </a:p>
          <a:p>
            <a:r>
              <a:t>Source: البدایہ والنہایہ ج۷ ص۴۲</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RCT/E-RC31 · صنعاء — the two women in the street</a:t>
            </a:r>
          </a:p>
          <a:p>
            <a:r>
              <a:t>Tier: GOOD   When: ۱۱ھ, اليمن `[SOURCED]`</a:t>
            </a:r>
          </a:p>
          <a:p>
            <a:endParaRPr/>
          </a:p>
          <a:p>
            <a:r>
              <a:t>Qays b. Makshūḥ had been one of the three men who killed al-Aswad al-ʿAnsī. After the Prophet ﷺ died he wanted Yemen for himself, and turned. He made a meal and invited the other two separately. Dādhawayh came first and was killed. Fayrūz al-Daylamī ؓ was walking to the same house when he passed two women talking. Then Qays took the families of the Abnāʾ and deported them — one party overland, one by ship from Aden — and Fayrūz ؓ sent to ʿUqayl and to ʿAkk for help, and both of them rode out and brought the families back.</a:t>
            </a:r>
          </a:p>
          <a:p>
            <a:endParaRPr/>
          </a:p>
          <a:p>
            <a:r>
              <a:t>MAP: صنعاء goes red. A thin blue line escapes</a:t>
            </a:r>
          </a:p>
          <a:p>
            <a:endParaRPr/>
          </a:p>
          <a:p>
            <a:r>
              <a:t>عبرت: He was saved by a sentence spoken by someone who was not talking to him.</a:t>
            </a:r>
          </a:p>
          <a:p>
            <a:endParaRPr/>
          </a:p>
          <a:p>
            <a:r>
              <a:t>Source: الکامل ج۲ ص۲۲۸</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RCT/E-RC32 · Abū Bakr ؓ judges two men who fought against him</a:t>
            </a:r>
          </a:p>
          <a:p>
            <a:r>
              <a:t>Tier: CORE   When: ۱۱ھ→۱۲ھ `[SOURCED]`</a:t>
            </a:r>
          </a:p>
          <a:p>
            <a:endParaRPr/>
          </a:p>
          <a:p>
            <a:r>
              <a:t>Qays b. Makshūḥ and ʿAmr b. Maʿdī Karib were taken and sent to Medina as prisoners. One had killed a Muslim officer and led a revolt; the other had followed a false prophet and been beaten and captured more than once. Abū Bakr ؓ rebuked them both. They made their excuses. And then he accepted what they said openly, left what was inside them to Allah, released them, and sent them home to their own people.</a:t>
            </a:r>
          </a:p>
          <a:p>
            <a:endParaRPr/>
          </a:p>
          <a:p>
            <a:r>
              <a:t>MAP: Two prisoner markers move from صنعاء to</a:t>
            </a:r>
          </a:p>
          <a:p>
            <a:endParaRPr/>
          </a:p>
          <a:p>
            <a:r>
              <a:t>عبرت: The state judged what it could see and left what it could not see to the One who sees it.</a:t>
            </a:r>
          </a:p>
          <a:p>
            <a:endParaRPr/>
          </a:p>
          <a:p>
            <a:r>
              <a:t>HANDS UP: Before telling it: *"The men who fought you are standing in front of you and they say</a:t>
            </a:r>
          </a:p>
          <a:p>
            <a:endParaRPr/>
          </a:p>
          <a:p>
            <a:r>
              <a:t>Source: البدایہ والنہایہ ج۷ ص۴۳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RCT/E-RC33 · The she-camel called Shadhra</a:t>
            </a:r>
          </a:p>
          <a:p>
            <a:r>
              <a:t>Tier: CORE   When: ۱۱ھ→۱۲ھ, حضرموت `[SOURCED]`</a:t>
            </a:r>
          </a:p>
          <a:p>
            <a:endParaRPr/>
          </a:p>
          <a:p>
            <a:r>
              <a:t>Ziyād b. Labīd ؓ was collecting the zakāt in Kinda. A man handed over a young she-camel and Ziyād ؓ branded her. Then it turned out the animal was not his to give — she belonged to his brother, her name was Shadhra, and he had brought her by mistake. The brother said so. The first man agreed and asked for her back. Ziyād ؓ refused: she had already passed into the right of Allah. Then a third man rode up, told him to release her and take another, and when Ziyād ؓ said he had no way to do that, said one sentence — and untied her hobble himself and stood in front of her.</a:t>
            </a:r>
          </a:p>
          <a:p>
            <a:endParaRPr/>
          </a:p>
          <a:p>
            <a:r>
              <a:t>MAP: حضرموت, which has been quiet all</a:t>
            </a:r>
          </a:p>
          <a:p>
            <a:endParaRPr/>
          </a:p>
          <a:p>
            <a:r>
              <a:t>عبرت: A province went to war over one animal, a naming mistake and a public insult, and every</a:t>
            </a:r>
          </a:p>
          <a:p>
            <a:endParaRPr/>
          </a:p>
          <a:p>
            <a:r>
              <a:t>HANDS UP: Before telling it: *"How big does a quarrel have to be to start a war?"*</a:t>
            </a:r>
          </a:p>
          <a:p>
            <a:endParaRPr/>
          </a:p>
          <a:p>
            <a:r>
              <a:t>Source: الکامل فی التاریخ ج۲ ص۲۳۰</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RCT/E-RC34 · النُّجَير — the name he forgot to write</a:t>
            </a:r>
          </a:p>
          <a:p>
            <a:r>
              <a:t>Tier: CORE   When: **the last siege of the war** `[SOURCED as sequence]` — الکامل prints it</a:t>
            </a:r>
          </a:p>
          <a:p>
            <a:endParaRPr/>
          </a:p>
          <a:p>
            <a:r>
              <a:t>Kinda was broken in the field and shut itself into the fort of al-Nujayr. The Muslims closed every road. When the siege bit, al-Ashʿath b. Qays came out with nine men and offered to open the gate in exchange for a written safe-conduct for himself, his household and them. He was told to write whatever he wanted and bring it to be sealed. He wrote it. He opened the gate. And when it was over and the document was produced, every man named in it was spared — and his own name was not in it.</a:t>
            </a:r>
          </a:p>
          <a:p>
            <a:endParaRPr/>
          </a:p>
          <a:p>
            <a:r>
              <a:t>MAP: Ziyād ؓ and</a:t>
            </a:r>
          </a:p>
          <a:p>
            <a:endParaRPr/>
          </a:p>
          <a:p>
            <a:r>
              <a:t>عبرت: He wrote a safe-conduct for everyone he was bargaining with and left himself off it.</a:t>
            </a:r>
          </a:p>
          <a:p>
            <a:endParaRPr/>
          </a:p>
          <a:p>
            <a:r>
              <a:t>HANDS UP: Before telling it: *"He is allowed to write his own terms. What is the one thing he</a:t>
            </a:r>
          </a:p>
          <a:p>
            <a:endParaRPr/>
          </a:p>
          <a:p>
            <a:r>
              <a:t>Source: الکامل فی التاریخ ج۲ ص۲۳۲</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RCT/E-RC35 · The captives bought back</a:t>
            </a:r>
          </a:p>
          <a:p>
            <a:r>
              <a:t>Tier: GOOD   When: in ʿUmar's ؓ caliphate `[SOURCED]` — «لَمَّا وَلِيَ عُمَرُ»; **the year is</a:t>
            </a:r>
          </a:p>
          <a:p>
            <a:endParaRPr/>
          </a:p>
          <a:p>
            <a:r>
              <a:t>When ʿUmar ؓ became caliph he said that it was a shameful thing for Arabs to own one another. He consulted about ransoming the captives taken in these wars and set a price — six or seven camels a head — and made it lighter for Ḥanīfa and Kinda, because so many of their men had been killed. Then the women were sought out wherever they had been taken.</a:t>
            </a:r>
          </a:p>
          <a:p>
            <a:endParaRPr/>
          </a:p>
          <a:p>
            <a:r>
              <a:t>MAP: Nothing moves.</a:t>
            </a:r>
          </a:p>
          <a:p>
            <a:endParaRPr/>
          </a:p>
          <a:p>
            <a:r>
              <a:t>عبرت: The war's last act was the state buying back the people its own victory had taken.</a:t>
            </a:r>
          </a:p>
          <a:p>
            <a:endParaRPr/>
          </a:p>
          <a:p>
            <a:r>
              <a:t>Source: الکامل فی التاریخ ج۲ ص۲۳۲ (the ransom terms run on to</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RCT/E-RC36 · What Ibn Kathīr says the whole war was</a:t>
            </a:r>
          </a:p>
          <a:p>
            <a:r>
              <a:t>Tier: CORE   When: «أواخر سنة إحدى عشرة وأوائل سنة ثنتي عشرة»</a:t>
            </a:r>
          </a:p>
          <a:p>
            <a:endParaRPr/>
          </a:p>
          <a:p>
            <a:r>
              <a:t>When Ibn Kathīr finishes the whole account, he stops and sums it up himself. He does not describe a conquest. He says there was no region of Arabia in which some people did not turn — and that Abū Bakr ؓ sent armies and commanders to be a support to whichever believers were already in that region. The fifth of the spoils came back to Medina and was spent among the people. And it went on that way until there was nobody left in the peninsula except people in obedience, and people under a covenant of protection — like the people of Najrān, who had sent a delegation to renew theirs while Muslim tribes were breaking theirs.</a:t>
            </a:r>
          </a:p>
          <a:p>
            <a:endParaRPr/>
          </a:p>
          <a:p>
            <a:r>
              <a:t>MAP: The completed map. All eleven arrows filled in, every front resolved, نجران in</a:t>
            </a:r>
          </a:p>
          <a:p>
            <a:endParaRPr/>
          </a:p>
          <a:p>
            <a:r>
              <a:t>عبرت: The armies were sent to hold up people who were already standing, and the whole thing was</a:t>
            </a:r>
          </a:p>
          <a:p>
            <a:endParaRPr/>
          </a:p>
          <a:p>
            <a:r>
              <a:t>Source: البدایہ والنہایہ ج۷ ص۴۳</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RCT/E-RC37 · The Qurʾān was collected because of this</a:t>
            </a:r>
          </a:p>
          <a:p>
            <a:r>
              <a:t>Tier: CORE   When: **۱۲ھ** `[SOURCED]`</a:t>
            </a:r>
          </a:p>
          <a:p>
            <a:endParaRPr/>
          </a:p>
          <a:p>
            <a:r>
              <a:t>So many of the reciters were killed at al-Yamāma that Abū Bakr ؓ ordered the Qurʾān gathered — from the flat stones and the palm-stalks and the memories of men — so that it would not go with them. Two of the four books say it in the same place, and both of them point at al-Bukhārī for it.</a:t>
            </a:r>
          </a:p>
          <a:p>
            <a:endParaRPr/>
          </a:p>
          <a:p>
            <a:r>
              <a:t>MAP: The Line, not the map.</a:t>
            </a:r>
          </a:p>
          <a:p>
            <a:endParaRPr/>
          </a:p>
          <a:p>
            <a:r>
              <a:t>عبرت: The mushaf the room reads from was gathered because of the men who were killed in the</a:t>
            </a:r>
          </a:p>
          <a:p>
            <a:endParaRPr/>
          </a:p>
          <a:p>
            <a:r>
              <a:t>HANDS UP: no — end here and go straight to the closing bookend.</a:t>
            </a:r>
          </a:p>
          <a:p>
            <a:endParaRPr/>
          </a:p>
          <a:p>
            <a:r>
              <a:t>Source: البدایہ والنہایہ ج۷ ص۷۹ — **صحيح البخاري ٤٩٨٦**</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RCT/E-RC38 · ʿUmar ؓ to Quraysh — the framing card</a:t>
            </a:r>
          </a:p>
          <a:p>
            <a:r>
              <a:t>Tier: CORE   When: ۱۱ھ, at المدينة</a:t>
            </a:r>
          </a:p>
          <a:p>
            <a:endParaRPr/>
          </a:p>
          <a:p>
            <a:r>
              <a:t>ʿAmr b. al-ʿĀṣ ؓ came back from Oman and reported that there were armed camps all the way from Dabā to Medina. The senior Companions broke into knots, talking. ʿUmar ؓ walked past one of them and they went quiet. He asked what they were discussing, and they would not answer, so he said it for them: you are saying, how afraid we are for Quraysh, from the Arabs. They said: that is true. And then he turned it round.</a:t>
            </a:r>
          </a:p>
          <a:p>
            <a:endParaRPr/>
          </a:p>
          <a:p>
            <a:r>
              <a:t>MAP: The whole peninsula, before any arrow is drawn.</a:t>
            </a:r>
          </a:p>
          <a:p>
            <a:endParaRPr/>
          </a:p>
          <a:p>
            <a:r>
              <a:t>عبرت: He turned the question round: the danger was not what would be done to them, but what would</a:t>
            </a:r>
          </a:p>
          <a:p>
            <a:endParaRPr/>
          </a:p>
          <a:p>
            <a:r>
              <a:t>HANDS UP: Before telling it: *"The whole country is in arms against you. Who are you most worried</a:t>
            </a:r>
          </a:p>
          <a:p>
            <a:endParaRPr/>
          </a:p>
          <a:p>
            <a:r>
              <a:t>Source: الکامل فی التاریخ ج۲ ص۲۰۹</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RCT/E-RC39 · The men of Badr who were kept out of office</a:t>
            </a:r>
          </a:p>
          <a:p>
            <a:r>
              <a:t>Tier: GOOD   When: ۱۱ھ `[SOURCED]`</a:t>
            </a:r>
          </a:p>
          <a:p>
            <a:endParaRPr/>
          </a:p>
          <a:p>
            <a:r>
              <a:t>Abū Bakr ؓ had a policy about who did not get commands. He would not put the men of Badr into office. He said he left them so they would meet Allah with their good deeds, and that Allah wards off harm through such men more than He gives victory through them. And the book records, in the same breath and without embarrassment, that ʿUmar ؓ took the opposite view and held that they should be employed.</a:t>
            </a:r>
          </a:p>
          <a:p>
            <a:endParaRPr/>
          </a:p>
          <a:p>
            <a:r>
              <a:t>MAP: None.</a:t>
            </a:r>
          </a:p>
          <a:p>
            <a:endParaRPr/>
          </a:p>
          <a:p>
            <a:r>
              <a:t>عبرت: Two men who agreed about the war disagreed about who should run it, and the book records</a:t>
            </a:r>
          </a:p>
          <a:p>
            <a:endParaRPr/>
          </a:p>
          <a:p>
            <a:r>
              <a:t>Source: الکامل فی التاریخ ج۲ ص۲۱۵</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RCT/E-RC40 · The three-colour tribe — CUT, recorded so it is never re-researched</a:t>
            </a:r>
          </a:p>
          <a:p>
            <a:r>
              <a:t>Tier: CUT   When: ۱۱ھ</a:t>
            </a:r>
          </a:p>
          <a:p>
            <a:endParaRPr/>
          </a:p>
          <a:p>
            <a:r>
              <a:t>Already fully worked in `arabian-tribes-and-the-ridda-setup.md` §3.5, from البدایہ ج۷ ص۲۸: some of Banū Tamīm apostatised and withheld the zakāt; some sent their ṣadaqāt in to Medina; and some waited to see. **This note adds only the collectors' names and the mechanism** — الکامل ج۲ ص۲۰۹ gives the Prophet's ﷺ seven collectors among Tamīm by name and shows Qays b. ʿĀṣim holding his back purely to spite al-Zibriqān, then regretting it and bringing it out when al-ʿAlāʾ ؓ came past. **Use the setup note's card, not a new one.**</a:t>
            </a:r>
          </a:p>
          <a:p>
            <a:endParaRPr/>
          </a:p>
          <a:p>
            <a:r>
              <a:t>MAP: Banū Tamīm in three shades.</a:t>
            </a:r>
          </a:p>
          <a:p>
            <a:endParaRPr/>
          </a:p>
          <a:p>
            <a:r>
              <a:t>عبرت: —</a:t>
            </a:r>
          </a:p>
          <a:p>
            <a:endParaRPr/>
          </a:p>
          <a:p>
            <a:r>
              <a:t>From: The ردة wars: the campaign, front by front</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ABU/E-U1 · The appointment nobody liked</a:t>
            </a:r>
          </a:p>
          <a:p>
            <a:r>
              <a:t>Tier: CORE   When: in the Prophet's ﷺ lifetime, ۱۱ھ `[SOURCED]` (no page read gives the</a:t>
            </a:r>
          </a:p>
          <a:p>
            <a:endParaRPr/>
          </a:p>
          <a:p>
            <a:r>
              <a:t>In his last weeks the Prophet ﷺ raised an army for the Syrian frontier. He put أسامة بن زيد ؓ over it. أسامة ؓ was eighteen. In the ranks under him stood عمر بن الخطاب ؓ and the senior men of the مهاجرون and the أنصار. People said so out loud. The Prophet ﷺ heard it, stood up, and answered them himself.</a:t>
            </a:r>
          </a:p>
          <a:p>
            <a:endParaRPr/>
          </a:p>
          <a:p>
            <a:r>
              <a:t>MAP: a pin at</a:t>
            </a:r>
          </a:p>
          <a:p>
            <a:endParaRPr/>
          </a:p>
          <a:p>
            <a:r>
              <a:t>عبرت: A man is fit for a task because of what he can do, not because of how long he has been</a:t>
            </a:r>
          </a:p>
          <a:p>
            <a:endParaRPr/>
          </a:p>
          <a:p>
            <a:r>
              <a:t>HANDS UP: Ask the room: *how old do you have to be before people will take an order from you?*</a:t>
            </a:r>
          </a:p>
          <a:p>
            <a:endParaRPr/>
          </a:p>
          <a:p>
            <a:r>
              <a:t>Source: البدایہ والنہایہ ج۵ ص۳۱۱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ABU/E-U2 · The crier, the morning after</a:t>
            </a:r>
          </a:p>
          <a:p>
            <a:r>
              <a:t>Tier: CORE   When: the day after the Prophet ﷺ died, ۱۱ھ `[SOURCED]`</a:t>
            </a:r>
          </a:p>
          <a:p>
            <a:endParaRPr/>
          </a:p>
          <a:p>
            <a:r>
              <a:t>The Prophet ﷺ was buried. The bayʿah was taken. And the very next morning a crier went through المدینہ. Not to announce mourning. To order every man of أسامة ؓ's army out of the city and back to the camp at الجُرف. The first executive act of the caliphate was to carry out an order the Prophet ﷺ had already given.</a:t>
            </a:r>
          </a:p>
          <a:p>
            <a:endParaRPr/>
          </a:p>
          <a:p>
            <a:r>
              <a:t>MAP: المدینہ,</a:t>
            </a:r>
          </a:p>
          <a:p>
            <a:endParaRPr/>
          </a:p>
          <a:p>
            <a:r>
              <a:t>عبرت: The first day of an authority is what tells you what it thinks it is for.</a:t>
            </a:r>
          </a:p>
          <a:p>
            <a:endParaRPr/>
          </a:p>
          <a:p>
            <a:r>
              <a:t>Source: البدایہ والنہایہ ج۷ ص۸</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ABU/E-U3 · "I will not untie a knot"</a:t>
            </a:r>
          </a:p>
          <a:p>
            <a:r>
              <a:t>Tier: CORE   When: ربيع الأول ۱۱ھ `[SOURCED]` (the connected narrative runs through</a:t>
            </a:r>
          </a:p>
          <a:p>
            <a:endParaRPr/>
          </a:p>
          <a:p>
            <a:r>
              <a:t>The advice came from the best men he had. Tribes around المدینہ had broken away. Others were refusing the زکاۃ. The state's only field army was pointed at the Roman frontier, and it was outside the walls. Keep it here, they said. Among those who said it was عمر بن الخطاب ؓ. He refused, and he refused hard.</a:t>
            </a:r>
          </a:p>
          <a:p>
            <a:endParaRPr/>
          </a:p>
          <a:p>
            <a:r>
              <a:t>MAP: المدینہ ringed — the</a:t>
            </a:r>
          </a:p>
          <a:p>
            <a:endParaRPr/>
          </a:p>
          <a:p>
            <a:r>
              <a:t>عبرت: There is a kind of steadiness that is not stubbornness: it is refusing to treat an</a:t>
            </a:r>
          </a:p>
          <a:p>
            <a:endParaRPr/>
          </a:p>
          <a:p>
            <a:r>
              <a:t>HANDS UP: Ask before telling it: *the capital is surrounded and your only army is marching away.</a:t>
            </a:r>
          </a:p>
          <a:p>
            <a:endParaRPr/>
          </a:p>
          <a:p>
            <a:r>
              <a:t>Source: البدایہ والنہایہ ج۷ ص۱۰</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ABU/E-U4 · The beard, and the man who would not be deposed</a:t>
            </a:r>
          </a:p>
          <a:p>
            <a:r>
              <a:t>Tier: CORE   When: ربيع الأول ۱۱ھ `[SOURCED]`</a:t>
            </a:r>
          </a:p>
          <a:p>
            <a:endParaRPr/>
          </a:p>
          <a:p>
            <a:r>
              <a:t>The أنصار in the column sent عمر ؓ back with a second request. Not "cancel the march" — "give us an older commander." عمر ؓ carried the message. أبو بكر ؓ had been sitting. He came up off the ground, took عمر ؓ by the beard, and gave his answer in one sentence. Then he walked out to الجُرف himself, reviewed the army and sent it off.</a:t>
            </a:r>
          </a:p>
          <a:p>
            <a:endParaRPr/>
          </a:p>
          <a:p>
            <a:r>
              <a:t>MAP: الجُرْف, one march outside</a:t>
            </a:r>
          </a:p>
          <a:p>
            <a:endParaRPr/>
          </a:p>
          <a:p>
            <a:r>
              <a:t>عبرت: Authority that can be renegotiated the moment its author is gone was never authority.</a:t>
            </a:r>
          </a:p>
          <a:p>
            <a:endParaRPr/>
          </a:p>
          <a:p>
            <a:r>
              <a:t>Source: الکامل فی التاریخ ج۲ ص۱۹۵</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ABU/E-U5 · The caliph on foot</a:t>
            </a:r>
          </a:p>
          <a:p>
            <a:r>
              <a:t>Tier: CORE   When: آخر ربيع الأول ۱۱ھ `[SOURCED]`</a:t>
            </a:r>
          </a:p>
          <a:p>
            <a:endParaRPr/>
          </a:p>
          <a:p>
            <a:r>
              <a:t>He walked the army out. The caliph of the Muslims on foot in the dust; the eighteen-year-old commander in the saddle; عبد الرحمن بن عوف ؓ leading the caliph's riding-beast behind them, empty. أسامة ؓ could not bear it and offered to dismount. He was refused. Only at the end did أبو بكر ؓ ask a favour — and he asked it of أسامة ؓ, because أسامة ؓ was the commander and عمر ؓ was in his army: *would you release عمر to me?*</a:t>
            </a:r>
          </a:p>
          <a:p>
            <a:endParaRPr/>
          </a:p>
          <a:p>
            <a:r>
              <a:t>MAP: the arrow finally leaves</a:t>
            </a:r>
          </a:p>
          <a:p>
            <a:endParaRPr/>
          </a:p>
          <a:p>
            <a:r>
              <a:t>عبرت: Rank is a place in an order, not a claim about who is the better man.</a:t>
            </a:r>
          </a:p>
          <a:p>
            <a:endParaRPr/>
          </a:p>
          <a:p>
            <a:r>
              <a:t>Source: البدایہ والنہایہ ج۷ ص۱۱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ABU/E-U6 · Forty days, and what the tribes concluded</a:t>
            </a:r>
          </a:p>
          <a:p>
            <a:r>
              <a:t>Tier: CORE   When: marched **آخر ربيع الأول ۱۱ھ** `[SOURCED]`, away forty days — said</a:t>
            </a:r>
          </a:p>
          <a:p>
            <a:endParaRPr/>
          </a:p>
          <a:p>
            <a:r>
              <a:t>The column marched north through country that was ready to rise. It did not fight its way through. It simply passed. And the men watching it pass drew the obvious conclusion: nobody sends an army *away* unless he has more behind him. Forty days later — some say seventy — it came back whole and carrying spoil. The blow it struck is described differently in different books: a raid on أُبنى in the البلقاء, or on قُضاعة clans that had broken away, or a clash with Roman forces. The two books that comment on the *effect* — البدایہ ج۷ ص۱۱ and الکامل ج۲ ص۱۹۶ — agree on it. (سیر ج۲ ص۴۹۷ names the target and says nothing about the effect; do not enlist it for that.)</a:t>
            </a:r>
          </a:p>
          <a:p>
            <a:endParaRPr/>
          </a:p>
          <a:p>
            <a:r>
              <a:t>MAP: the arrow goes out, strikes,</a:t>
            </a:r>
          </a:p>
          <a:p>
            <a:endParaRPr/>
          </a:p>
          <a:p>
            <a:r>
              <a:t>عبرت: What people believe about your strength does as much work as your strength does.</a:t>
            </a:r>
          </a:p>
          <a:p>
            <a:endParaRPr/>
          </a:p>
          <a:p>
            <a:r>
              <a:t>Source: البدایہ والنہایہ ج۷ ص۱۱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ABU/E-U7 · "Peace be upon you, commander"</a:t>
            </a:r>
          </a:p>
          <a:p>
            <a:r>
              <a:t>Tier: GOOD   When: ۱۱ھ and after `[SOURCED]`</a:t>
            </a:r>
          </a:p>
          <a:p>
            <a:endParaRPr/>
          </a:p>
          <a:p>
            <a:r>
              <a:t>The army came home. أبو بكر ؓ made أسامة ؓ his deputy over المدینہ, told the men to rest their animals, and only then rode out himself against the breakaway clans. And عمر ؓ — who would himself be caliph after him — never again met أسامة ؓ without greeting him by his rank. He gave his reason: the Prophet ﷺ died while you were my commander.</a:t>
            </a:r>
          </a:p>
          <a:p>
            <a:endParaRPr/>
          </a:p>
          <a:p>
            <a:r>
              <a:t>MAP: المدینہ — أسامة ؓ, aged eighteen,</a:t>
            </a:r>
          </a:p>
          <a:p>
            <a:endParaRPr/>
          </a:p>
          <a:p>
            <a:r>
              <a:t>عبرت: Honour given for the right reason costs the giver nothing and is remembered for centuries.</a:t>
            </a:r>
          </a:p>
          <a:p>
            <a:endParaRPr/>
          </a:p>
          <a:p>
            <a:r>
              <a:t>Source: سیر أعلام النبلاء ج۲ ص۵۰۱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ABU/E-U8 · The oath of أبو ہریرہ ؓ</a:t>
            </a:r>
          </a:p>
          <a:p>
            <a:r>
              <a:t>Tier: GOOD   When: told later, about ۱۱ھ `[SOURCED]`</a:t>
            </a:r>
          </a:p>
          <a:p>
            <a:endParaRPr/>
          </a:p>
          <a:p>
            <a:r>
              <a:t>Years afterwards أبو ہریرہ ؓ was talking about that year. He swore an oath, and then he swore it again, and then a third time, until the men around him told him to stop. Then he explained what he meant: the army was pointed at Rome, the Arabs around المدینہ had broken away, and the Companions came and asked for it back — and one man said no.</a:t>
            </a:r>
          </a:p>
          <a:p>
            <a:endParaRPr/>
          </a:p>
          <a:p>
            <a:r>
              <a:t>MAP: none; this is a card the</a:t>
            </a:r>
          </a:p>
          <a:p>
            <a:endParaRPr/>
          </a:p>
          <a:p>
            <a:r>
              <a:t>عبرت: A hinge is a small thing, and the whole door turns on it.</a:t>
            </a:r>
          </a:p>
          <a:p>
            <a:endParaRPr/>
          </a:p>
          <a:p>
            <a:r>
              <a:t>Source: البدایہ والنہایہ ج۷ ص۱۱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ABU/E-Q1 · The killing ran hot among the reciters</a:t>
            </a:r>
          </a:p>
          <a:p>
            <a:r>
              <a:t>Tier: CORE   When: اليمامة — ابن كثير: begun ۱۱ھ, finished ۱۲ھ; «المشهور» ربيع ۱۲ھ;</a:t>
            </a:r>
          </a:p>
          <a:p>
            <a:endParaRPr/>
          </a:p>
          <a:p>
            <a:r>
              <a:t>At اليمامة the ردة was broken and مسيلمة was killed, and the cost is the one Ibn Kathīr stops to count: the dead in the garden and in the battle at close to ten thousand — though he adds that some say twenty-one thousand — and the Muslim dead at six hundred, or five hundred, and then he writes *and Allah knows best*. Among the fallen were men who carried the Qur'an in their memories. Ibn Kathīr's phrase for it is</a:t>
            </a:r>
          </a:p>
          <a:p>
            <a:endParaRPr/>
          </a:p>
          <a:p>
            <a:r>
              <a:t>MAP: **اليمامة** in central نجد, and</a:t>
            </a:r>
          </a:p>
          <a:p>
            <a:endParaRPr/>
          </a:p>
          <a:p>
            <a:r>
              <a:t>عبرت: A generation can carry something priceless and never notice how thin the carrying is until</a:t>
            </a:r>
          </a:p>
          <a:p>
            <a:endParaRPr/>
          </a:p>
          <a:p>
            <a:r>
              <a:t>HANDS UP: Ask: *if every copy of a book you loved lived only in people's memories, how many</a:t>
            </a:r>
          </a:p>
          <a:p>
            <a:endParaRPr/>
          </a:p>
          <a:p>
            <a:r>
              <a:t>Source: البدایہ والنہایہ ج۷ ص۳۵</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ABU/E-Q2 · "How can we do a thing the Messenger of Allah ﷺ did not do?"</a:t>
            </a:r>
          </a:p>
          <a:p>
            <a:r>
              <a:t>Tier: CORE   When: سنة ۱۲ھ `[SOURCED]`</a:t>
            </a:r>
          </a:p>
          <a:p>
            <a:endParaRPr/>
          </a:p>
          <a:p>
            <a:r>
              <a:t>After اليمامة, أبو بكر ؓ sent for زيد بن ثابت ؓ — a young man of بنو النجار who had been eleven years old when the Prophet ﷺ arrived in المدینہ, who had memorised seventeen سور before he was introduced, who had learned the Jews' script in a fortnight because the Prophet ﷺ asked him to, and who had written the revelation down as it came. أبو بكر ؓ told him to go and find the whole Qur'an and gather it. زيد ؓ balked — and his objection was the most serious objection there is.</a:t>
            </a:r>
          </a:p>
          <a:p>
            <a:endParaRPr/>
          </a:p>
          <a:p>
            <a:r>
              <a:t>MAP: المدینہ; no movement — this is the</a:t>
            </a:r>
          </a:p>
          <a:p>
            <a:endParaRPr/>
          </a:p>
          <a:p>
            <a:r>
              <a:t>عبرت: The men closest to the Prophet ﷺ were the most afraid of adding to what he ﷺ left — which</a:t>
            </a:r>
          </a:p>
          <a:p>
            <a:endParaRPr/>
          </a:p>
          <a:p>
            <a:r>
              <a:t>Source: سیر أعلام النبلاء ج۲ ص۴۳۱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ABU/E-Q3 · Parchment, shoulder-blades, palm-stalks, and the breasts of men</a:t>
            </a:r>
          </a:p>
          <a:p>
            <a:r>
              <a:t>Tier: CORE   When: سنة ۱۲ھ `[SOURCED]`</a:t>
            </a:r>
          </a:p>
          <a:p>
            <a:endParaRPr/>
          </a:p>
          <a:p>
            <a:r>
              <a:t>There was no volume to copy from. زيد ؓ had to go and track it down — the verb in his own account is تتبَّع, to follow a thing up piece by piece — and gather it off whatever the Companions had written it on: strips of parchment, the flat shoulder-blades of animals, the bare stalks of palm branches, thin white stones — and out of the memories of the men who had it by heart. Then it was one set of صحف, in one place, for the first time.</a:t>
            </a:r>
          </a:p>
          <a:p>
            <a:endParaRPr/>
          </a:p>
          <a:p>
            <a:r>
              <a:t>MAP: none. Show the four materials instead —</a:t>
            </a:r>
          </a:p>
          <a:p>
            <a:endParaRPr/>
          </a:p>
          <a:p>
            <a:r>
              <a:t>عبرت: Preservation is not one heroic act; it is somebody doing a careful, unglamorous job</a:t>
            </a:r>
          </a:p>
          <a:p>
            <a:endParaRPr/>
          </a:p>
          <a:p>
            <a:r>
              <a:t>HANDS UP: Ask the room to name the four things after you have said them once. It is the one line</a:t>
            </a:r>
          </a:p>
          <a:p>
            <a:endParaRPr/>
          </a:p>
          <a:p>
            <a:r>
              <a:t>Source: سیر أعلام النبلاء ج۲ ص۴۳۱</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ABU/E-Q4 · علی ؓ on who deserves the credit</a:t>
            </a:r>
          </a:p>
          <a:p>
            <a:r>
              <a:t>Tier: CORE   When: **undated** — علی ؓ is speaking about the جمع of ۱۲ھ, but no page read</a:t>
            </a:r>
          </a:p>
          <a:p>
            <a:endParaRPr/>
          </a:p>
          <a:p>
            <a:r>
              <a:t>The judgement on this decision does not have to come from us, and it does not have to come from a later historian. It comes from علی بن أبی طالب ؓ, and الذہبی records his chain and grades it good.</a:t>
            </a:r>
          </a:p>
          <a:p>
            <a:endParaRPr/>
          </a:p>
          <a:p>
            <a:r>
              <a:t>MAP: none.</a:t>
            </a:r>
          </a:p>
          <a:p>
            <a:endParaRPr/>
          </a:p>
          <a:p>
            <a:r>
              <a:t>عبرت: When a man's rival in nothing and his equal in much says the thing for you, you do not</a:t>
            </a:r>
          </a:p>
          <a:p>
            <a:endParaRPr/>
          </a:p>
          <a:p>
            <a:r>
              <a:t>Source: سیر أعلام النبلاء، سیر الخلفاء الراشدين ص۱۵</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ABU/E-Q5 · Where the صحف went</a:t>
            </a:r>
          </a:p>
          <a:p>
            <a:r>
              <a:t>Tier: GOOD   When: ۱۲ھ, and then across two more caliphates `[SOURCED]` for the endpoint</a:t>
            </a:r>
          </a:p>
          <a:p>
            <a:endParaRPr/>
          </a:p>
          <a:p>
            <a:r>
              <a:t>The صحف زيد ؓ gathered did not go into a library or a treasury. They stayed in the household. Twenty-odd years later, when حذيفة ؓ came back from the Armenian front alarmed at how differently the men of الشام and the men of العراق were reciting, عثمان ؓ sent for them — and he sent to حفصة بنت عمر ؓ, a wife of the Prophet ﷺ and the daughter of the second caliph. She sent them. They were copied. Then he sent them back to her.</a:t>
            </a:r>
          </a:p>
          <a:p>
            <a:endParaRPr/>
          </a:p>
          <a:p>
            <a:r>
              <a:t>MAP: a single arrow: المدینہ → المدینہ. Nothing moves. That is the point.</a:t>
            </a:r>
          </a:p>
          <a:p>
            <a:endParaRPr/>
          </a:p>
          <a:p>
            <a:r>
              <a:t>عبرت: What is entrusted is returned. The whole transmission of this book is a chain of things</a:t>
            </a:r>
          </a:p>
          <a:p>
            <a:endParaRPr/>
          </a:p>
          <a:p>
            <a:r>
              <a:t>Source: سیر أعلام النبلاء، سیر الخلفاء الراشدين ص۱۵۷</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ABU/E-Q6 · Four men had it by heart</a:t>
            </a:r>
          </a:p>
          <a:p>
            <a:r>
              <a:t>Tier: GOOD   When: in the Prophet's ﷺ lifetime `[SOURCED]`</a:t>
            </a:r>
          </a:p>
          <a:p>
            <a:endParaRPr/>
          </a:p>
          <a:p>
            <a:r>
              <a:t>أنس بن مالك ؓ named the men who had gathered the Qur'an in the Prophet's ﷺ own lifetime, and both of our books carry the list. All four were أنصار. زيد بن ثابت ؓ is one of them. This is the reason he was the man asked — not because he was pious, but because he was one of the few who already had the whole of it and had also physically written it down.</a:t>
            </a:r>
          </a:p>
          <a:p>
            <a:endParaRPr/>
          </a:p>
          <a:p>
            <a:r>
              <a:t>MAP: none.</a:t>
            </a:r>
          </a:p>
          <a:p>
            <a:endParaRPr/>
          </a:p>
          <a:p>
            <a:r>
              <a:t>عبرت: Being ready is not something you do on the day you are needed.</a:t>
            </a:r>
          </a:p>
          <a:p>
            <a:endParaRPr/>
          </a:p>
          <a:p>
            <a:r>
              <a:t>Source: سیر أعلام النبلاء ج۲ ص۴۳۱ (also البدایہ ج۵ ص۴۸۸</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ABU/E-Q7 · The boy who learned the Jews' script in a fortnight</a:t>
            </a:r>
          </a:p>
          <a:p>
            <a:r>
              <a:t>Tier: GOOD   When: ۱ھ onward `[SOURCED]`</a:t>
            </a:r>
          </a:p>
          <a:p>
            <a:endParaRPr/>
          </a:p>
          <a:p>
            <a:r>
              <a:t>زيد بن ثابت ؓ was eleven when the Prophet ﷺ came to المدینہ. His father had already been killed at بُعاث, so he grew up an orphan. They brought him forward and said: this boy of بنو النجار has already memorised seventeen of the سور that came down to you. He recited, and the Prophet ﷺ was pleased, and gave him a task on the spot.</a:t>
            </a:r>
          </a:p>
          <a:p>
            <a:endParaRPr/>
          </a:p>
          <a:p>
            <a:r>
              <a:t>MAP: المدینہ.</a:t>
            </a:r>
          </a:p>
          <a:p>
            <a:endParaRPr/>
          </a:p>
          <a:p>
            <a:r>
              <a:t>عبرت: The people who end up carrying something were given small jobs first, and did them.</a:t>
            </a:r>
          </a:p>
          <a:p>
            <a:endParaRPr/>
          </a:p>
          <a:p>
            <a:r>
              <a:t>Source: سیر أعلام النبلاء ج۲ ص۴۲۸–۴۲۹ (the last word falls on ص۴۲۹)</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ABU/E-U8b · What المدینہ felt like, in عائشة ؓ's words</a:t>
            </a:r>
          </a:p>
          <a:p>
            <a:r>
              <a:t>Tier: GOOD   When: ۱۱ھ `[SOURCED]`</a:t>
            </a:r>
          </a:p>
          <a:p>
            <a:endParaRPr/>
          </a:p>
          <a:p>
            <a:r>
              <a:t>The daughter of the caliph described what fell on her father in that year. Not what he did — what landed on him. She reached for two images: mountains, and livestock.</a:t>
            </a:r>
          </a:p>
          <a:p>
            <a:endParaRPr/>
          </a:p>
          <a:p>
            <a:r>
              <a:t>MAP: المدینہ, alone on the board.</a:t>
            </a:r>
          </a:p>
          <a:p>
            <a:endParaRPr/>
          </a:p>
          <a:p>
            <a:r>
              <a:t>عبرت: Steadiness is not the absence of fear; it is what a frightened man does next.</a:t>
            </a:r>
          </a:p>
          <a:p>
            <a:endParaRPr/>
          </a:p>
          <a:p>
            <a:r>
              <a:t>Source: البدایہ والنہایہ ج۷ ص۱۰</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ABU/E-U9 · The first victory he never fought</a:t>
            </a:r>
          </a:p>
          <a:p>
            <a:r>
              <a:t>Tier: CUT   When: آخر ربيع الأول ۱۱ھ `[SOURCED]`, with a competing report Ibn Kathīr records and does not</a:t>
            </a:r>
          </a:p>
          <a:p>
            <a:endParaRPr/>
          </a:p>
          <a:p>
            <a:r>
              <a:t>Days after the column marched, word reached المدینہ from اليمن that الأسود العنسي — the false prophet who had taken صنعاء in the Prophet's ﷺ own last months — had been killed inside the city. Ibn Kathīr calls it the first فتح of أبو بكر ؓ's caliphate, and notes that he won it sitting in المدینہ.</a:t>
            </a:r>
          </a:p>
          <a:p>
            <a:endParaRPr/>
          </a:p>
          <a:p>
            <a:r>
              <a:t>MAP: صنعاء lights up while المدینہ is still counting its dead.</a:t>
            </a:r>
          </a:p>
          <a:p>
            <a:endParaRPr/>
          </a:p>
          <a:p>
            <a:r>
              <a:t>عبرت: Some of what a man is credited with was decided before he sat down, by people he never</a:t>
            </a:r>
          </a:p>
          <a:p>
            <a:endParaRPr/>
          </a:p>
          <a:p>
            <a:r>
              <a:t>Source: البدایہ والنہایہ ج۷ ص۱۲</a:t>
            </a:r>
          </a:p>
          <a:p>
            <a:endParaRPr/>
          </a:p>
          <a:p>
            <a:r>
              <a:t>From: جيش أسامة ؓ, and the Qur'an collected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 · The bath on a cold day</a:t>
            </a:r>
          </a:p>
          <a:p>
            <a:r>
              <a:t>Tier: CORE   When: جمادى الآخرة 13 AH `[SOURCED]`</a:t>
            </a:r>
          </a:p>
          <a:p>
            <a:endParaRPr/>
          </a:p>
          <a:p>
            <a:r>
              <a:t>He washed on a cold day. The fever came, and it did not leave. For fifteen days he did not walk out to the mosque. He sent عمر ؓ to lead the prayer in his place. People came in to sit with him, and عثمان ؓ came more than anyone. On the fifteenth day the state that had held Arabia together was being run from a bed.</a:t>
            </a:r>
          </a:p>
          <a:p>
            <a:endParaRPr/>
          </a:p>
          <a:p>
            <a:r>
              <a:t>MAP: nothing moves. The pin stays on</a:t>
            </a:r>
          </a:p>
          <a:p>
            <a:endParaRPr/>
          </a:p>
          <a:p>
            <a:r>
              <a:t>عبرت: A man may be carrying a whole community and still be, that week, only a sick man in a room.</a:t>
            </a:r>
          </a:p>
          <a:p>
            <a:endParaRPr/>
          </a:p>
          <a:p>
            <a:r>
              <a:t>Source: سیر أعلام النبلاء، ج الراشدون ص۱۶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 · "The doctor has already been"</a:t>
            </a:r>
          </a:p>
          <a:p>
            <a:r>
              <a:t>Tier: CORE   When: during the fifteen days `[SOURCED]`</a:t>
            </a:r>
          </a:p>
          <a:p>
            <a:endParaRPr/>
          </a:p>
          <a:p>
            <a:r>
              <a:t>They asked whether they should call a physician for him. He told them the physician had already come. They asked what he had said. He said: *I do what I will.* They understood who he meant. Nobody said anything more about doctors.</a:t>
            </a:r>
          </a:p>
          <a:p>
            <a:endParaRPr/>
          </a:p>
          <a:p>
            <a:r>
              <a:t>MAP: nothing moves.</a:t>
            </a:r>
          </a:p>
          <a:p>
            <a:endParaRPr/>
          </a:p>
          <a:p>
            <a:r>
              <a:t>عبرت: A man who has spent his life in submission does not change his vocabulary when he is dying.</a:t>
            </a:r>
          </a:p>
          <a:p>
            <a:endParaRPr/>
          </a:p>
          <a:p>
            <a:r>
              <a:t>Source: الکامل فی التاریخ ج۲ ص۲۶۲</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ABD/E-B3 · He asks عبد الرحمن بن عوف ؓ about عمر ؓ</a:t>
            </a:r>
          </a:p>
          <a:p>
            <a:r>
              <a:t>Tier: CORE   When: the last days of the illness `[SOURCED]`</a:t>
            </a:r>
          </a:p>
          <a:p>
            <a:endParaRPr/>
          </a:p>
          <a:p>
            <a:r>
              <a:t>He called عبد الرحمن بن عوف ؓ in and asked him to tell him about عمر ؓ. عبد الرحمن ؓ said what everyone in المدینہ already thought: he is better than you think — except there is harshness in him. أبو بكر ؓ did not argue with the description. He explained it. *He is hard because he sees me being soft. When I was angry with a man, عمر showed me leniency; when I was gentle with a man, عمر showed me severity. Put the office in his hands and much of that will go.*</a:t>
            </a:r>
          </a:p>
          <a:p>
            <a:endParaRPr/>
          </a:p>
          <a:p>
            <a:r>
              <a:t>MAP: nothing moves.</a:t>
            </a:r>
          </a:p>
          <a:p>
            <a:endParaRPr/>
          </a:p>
          <a:p>
            <a:r>
              <a:t>عبرت: A man's edge is often the shape of the gap he thinks he is filling.</a:t>
            </a:r>
          </a:p>
          <a:p>
            <a:endParaRPr/>
          </a:p>
          <a:p>
            <a:r>
              <a:t>HANDS UP: Before telling it: *"Hands up — who here has worked with someone whose hardness was a</a:t>
            </a:r>
          </a:p>
          <a:p>
            <a:endParaRPr/>
          </a:p>
          <a:p>
            <a:r>
              <a:t>Source: الکامل فی التاریخ ج۲ ص۲۶۶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ABD/E-B4 · He asks عثمان ؓ, and hears about himself in return</a:t>
            </a:r>
          </a:p>
          <a:p>
            <a:r>
              <a:t>Tier: CORE   When: immediately after `[SOURCED]`</a:t>
            </a:r>
          </a:p>
          <a:p>
            <a:endParaRPr/>
          </a:p>
          <a:p>
            <a:r>
              <a:t>Then he called عثمان ؓ and asked him the same question. عثمان ؓ answered in one line: *what I know of him is that his inside is better than his outside, and there is nobody among us like him.* أبو بكر ؓ told both men to repeat nothing. And then he said something about عثمان ؓ himself: had I passed عمر over, I would not have passed you over.</a:t>
            </a:r>
          </a:p>
          <a:p>
            <a:endParaRPr/>
          </a:p>
          <a:p>
            <a:r>
              <a:t>MAP: nothing moves.</a:t>
            </a:r>
          </a:p>
          <a:p>
            <a:endParaRPr/>
          </a:p>
          <a:p>
            <a:r>
              <a:t>عبرت: He asked the men most likely to tell him something he did not want to hear.</a:t>
            </a:r>
          </a:p>
          <a:p>
            <a:endParaRPr/>
          </a:p>
          <a:p>
            <a:r>
              <a:t>Source: سیر أعلام النبلاء، ج الراشدون ص۱۶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ABD/E-B5 · The objection, and "sit me up"</a:t>
            </a:r>
          </a:p>
          <a:p>
            <a:r>
              <a:t>Tier: CORE   When: the last days of the illness `[SOURCED]`</a:t>
            </a:r>
          </a:p>
          <a:p>
            <a:endParaRPr/>
          </a:p>
          <a:p>
            <a:r>
              <a:t>Somebody came in and said it to his face. *You have put عمر over the people. You have seen what they get from him while you are still standing beside him — what will it be when he is alone with them? And you are going to meet your Lord, and He will ask you about your flock.* أبو بكر ؓ was lying down. He said: sit me up. They sat him up. Then he answered: *Do you frighten me with God? When I meet Him and He asks me, I will say — I appointed over Your people the best of Your people.*</a:t>
            </a:r>
          </a:p>
          <a:p>
            <a:endParaRPr/>
          </a:p>
          <a:p>
            <a:r>
              <a:t>MAP: nothing moves.</a:t>
            </a:r>
          </a:p>
          <a:p>
            <a:endParaRPr/>
          </a:p>
          <a:p>
            <a:r>
              <a:t>عبرت: A decision worth making is a decision you are willing to be sat upright to defend.</a:t>
            </a:r>
          </a:p>
          <a:p>
            <a:endParaRPr/>
          </a:p>
          <a:p>
            <a:r>
              <a:t>Source: الکامل فی التاریخ ج۲ ص۲۶۷</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ABD/E-B6 · The pen keeps writing while he is unconscious</a:t>
            </a:r>
          </a:p>
          <a:p>
            <a:r>
              <a:t>Tier: CORE   When: the last days `[SOURCED]`</a:t>
            </a:r>
          </a:p>
          <a:p>
            <a:endParaRPr/>
          </a:p>
          <a:p>
            <a:r>
              <a:t>He brought عثمان ؓ in privately and began dictating. *In the name of God, the Merciful, the Compassionate. This is what Abū Bakr ibn Abī Quḥāfa covenants to the Muslims. To proceed —* and there he lost consciousness. عثمان ؓ did not put the pen down and did not wait. He wrote عمر ؓ's name himself. When أبو بكر ؓ came round he asked for it to be read back. When he heard the name he said "Allāhu akbar", and then: *I see you were afraid the people would split if I died in that faint.* عثمان ؓ said yes. He said: may God reward you well on behalf of Islam.</a:t>
            </a:r>
          </a:p>
          <a:p>
            <a:endParaRPr/>
          </a:p>
          <a:p>
            <a:r>
              <a:t>MAP: nothing moves.</a:t>
            </a:r>
          </a:p>
          <a:p>
            <a:endParaRPr/>
          </a:p>
          <a:p>
            <a:r>
              <a:t>عبرت: He was not angry that a man had acted without instruction — he thanked him, because the man</a:t>
            </a:r>
          </a:p>
          <a:p>
            <a:endParaRPr/>
          </a:p>
          <a:p>
            <a:r>
              <a:t>HANDS UP: Before telling it: *"Hands up — if your chief fell unconscious mid-sentence, would you</a:t>
            </a:r>
          </a:p>
          <a:p>
            <a:endParaRPr/>
          </a:p>
          <a:p>
            <a:r>
              <a:t>Source: الکامل فی التاریخ ج۲ ص۲۶۷</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ABD/E-B7 · "I have not appointed a relative over you"</a:t>
            </a:r>
          </a:p>
          <a:p>
            <a:r>
              <a:t>Tier: CORE   When: the last days `[SOURCED]`</a:t>
            </a:r>
          </a:p>
          <a:p>
            <a:endParaRPr/>
          </a:p>
          <a:p>
            <a:r>
              <a:t>The document was finished and he ordered it read out. The people were gathered. The letter went with a freedman of his, and عمر ؓ walked beside him telling the crowd to be quiet and listen. It was read. They said: we hear and we obey. Then أبو بكر ؓ looked out over them himself and asked them a question — are you content with the man I have appointed? And then he told them the thing nobody had asked him: *I have not appointed a relative over you.*</a:t>
            </a:r>
          </a:p>
          <a:p>
            <a:endParaRPr/>
          </a:p>
          <a:p>
            <a:r>
              <a:t>MAP: nothing moves; المدینہ's mosque fills.</a:t>
            </a:r>
          </a:p>
          <a:p>
            <a:endParaRPr/>
          </a:p>
          <a:p>
            <a:r>
              <a:t>عبرت: He had a son and a family in that city, and he named the hardest man in it instead.</a:t>
            </a:r>
          </a:p>
          <a:p>
            <a:endParaRPr/>
          </a:p>
          <a:p>
            <a:r>
              <a:t>Source: الکامل فی التاریخ ج۲ ص۲۶۷</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ABD/E-B8 · The covenant itself</a:t>
            </a:r>
          </a:p>
          <a:p>
            <a:r>
              <a:t>Tier: GOOD   When: the last days `[SOURCED]`</a:t>
            </a:r>
          </a:p>
          <a:p>
            <a:endParaRPr/>
          </a:p>
          <a:p>
            <a:r>
              <a:t>The wording he dictated is preserved. It opens by placing itself at a specific moment — the last hour a man has of this world and the first hour he has of the next, the hour when the disbeliever believes and the liar tells the truth. Then, in that frame, one sentence of business: I have appointed ʿUmar; hear him and obey. And then a clause that most rulers would have left out — *if he changes, every man has what he has earned. Good is what I intended. I do not know the unseen.*</a:t>
            </a:r>
          </a:p>
          <a:p>
            <a:endParaRPr/>
          </a:p>
          <a:p>
            <a:r>
              <a:t>MAP: nothing moves. Full-bleed slide: the</a:t>
            </a:r>
          </a:p>
          <a:p>
            <a:endParaRPr/>
          </a:p>
          <a:p>
            <a:r>
              <a:t>عبرت: He wrote his own limits into the appointment: I chose, I meant well, and I do not know what</a:t>
            </a:r>
          </a:p>
          <a:p>
            <a:endParaRPr/>
          </a:p>
          <a:p>
            <a:r>
              <a:t>Source: سیر أعلام النبلاء، ج الراشدون ص۱۶–۱۷ و</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ABD/E-B9 · The list of what he owned</a:t>
            </a:r>
          </a:p>
          <a:p>
            <a:r>
              <a:t>Tier: CORE   When: the last day `[SOURCED]`</a:t>
            </a:r>
          </a:p>
          <a:p>
            <a:endParaRPr/>
          </a:p>
          <a:p>
            <a:r>
              <a:t>He called عائشة ؓ. He told her that since the day he took charge of the Muslims' affair he had not eaten a dinar or a dirham of theirs — only the coarsest of their food, only the roughest of their clothing. Then he listed what was in the house that belonged to the Muslims and not to him. An Abyssinian servant. A camel used for carrying water. The worn nap of one blanket. *When I die, send them to ʿUmar.* She did.</a:t>
            </a:r>
          </a:p>
          <a:p>
            <a:endParaRPr/>
          </a:p>
          <a:p>
            <a:r>
              <a:t>MAP: nothing moves.</a:t>
            </a:r>
          </a:p>
          <a:p>
            <a:endParaRPr/>
          </a:p>
          <a:p>
            <a:r>
              <a:t>عبرت: He kept an account of what was not his, and he closed it before he died.</a:t>
            </a:r>
          </a:p>
          <a:p>
            <a:endParaRPr/>
          </a:p>
          <a:p>
            <a:r>
              <a:t>HANDS UP: Before telling it: *"Hands up — could you list, right now, everything in your house that</a:t>
            </a:r>
          </a:p>
          <a:p>
            <a:endParaRPr/>
          </a:p>
          <a:p>
            <a:r>
              <a:t>Source: سیر أعلام النبلاء، ج الراشدون ص۱۹</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ABD/E-B10 · عمر ؓ weeps, and refuses to give it back</a:t>
            </a:r>
          </a:p>
          <a:p>
            <a:r>
              <a:t>Tier: CORE   When: after his death `[SOURCED]`</a:t>
            </a:r>
          </a:p>
          <a:p>
            <a:endParaRPr/>
          </a:p>
          <a:p>
            <a:r>
              <a:t>The three things arrived at عمر ؓ. He wept until his tears ran onto the ground, repeating one sentence: *God have mercy on Abū Bakr — he has exhausted whoever comes after him.* Then he ordered them taken into the treasury. عبد الرحمن بن عوف ؓ objected: you are stripping his family of a servant, a water-camel and a threadbare blanket worth five dirhams — send them back. عمر ؓ refused. *Abū Bakr did not get clear of this for me to hang it round my own neck.*</a:t>
            </a:r>
          </a:p>
          <a:p>
            <a:endParaRPr/>
          </a:p>
          <a:p>
            <a:r>
              <a:t>MAP: nothing moves.</a:t>
            </a:r>
          </a:p>
          <a:p>
            <a:endParaRPr/>
          </a:p>
          <a:p>
            <a:r>
              <a:t>عبرت: A standard is only a standard once the next man refuses to lower it.</a:t>
            </a:r>
          </a:p>
          <a:p>
            <a:endParaRPr/>
          </a:p>
          <a:p>
            <a:r>
              <a:t>Source: الکامل فی التاریخ ج۲ ص۲۶۵</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ABD/E-B11 · Sell my land and pay them back</a:t>
            </a:r>
          </a:p>
          <a:p>
            <a:r>
              <a:t>Tier: CORE   When: the last days `[SOURCED]`</a:t>
            </a:r>
          </a:p>
          <a:p>
            <a:endParaRPr/>
          </a:p>
          <a:p>
            <a:r>
              <a:t>He had been given a maintenance out of the treasury — the community had voted it to him when he gave up trading, because a man cannot run a market stall and a state at once. On his deathbed he gave an instruction about it. Sell a piece of land of mine. Take the price. Pay it in against every dirham I have drawn.</a:t>
            </a:r>
          </a:p>
          <a:p>
            <a:endParaRPr/>
          </a:p>
          <a:p>
            <a:r>
              <a:t>MAP: nothing moves.</a:t>
            </a:r>
          </a:p>
          <a:p>
            <a:endParaRPr/>
          </a:p>
          <a:p>
            <a:r>
              <a:t>عبرت: He treated a lawful salary as a debt.</a:t>
            </a:r>
          </a:p>
          <a:p>
            <a:endParaRPr/>
          </a:p>
          <a:p>
            <a:r>
              <a:t>Source: الکامل فی التاریخ ج۲ ص۲۶۶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ABD/E-B12 · One dinar</a:t>
            </a:r>
          </a:p>
          <a:p>
            <a:r>
              <a:t>Tier: GOOD   When: after his death `[SOURCED]`</a:t>
            </a:r>
          </a:p>
          <a:p>
            <a:endParaRPr/>
          </a:p>
          <a:p>
            <a:r>
              <a:t>When أبو بكر ؓ died, عمر ؓ called the trustees together and had the treasury opened. They went through it. There was one dinar in it, fallen out of a sack. They asked God's mercy on him.</a:t>
            </a:r>
          </a:p>
          <a:p>
            <a:endParaRPr/>
          </a:p>
          <a:p>
            <a:r>
              <a:t>MAP: nothing moves.</a:t>
            </a:r>
          </a:p>
          <a:p>
            <a:endParaRPr/>
          </a:p>
          <a:p>
            <a:r>
              <a:t>عبرت: He did not build a reserve; he spent it on the people it belonged to, and left the shelf</a:t>
            </a:r>
          </a:p>
          <a:p>
            <a:endParaRPr/>
          </a:p>
          <a:p>
            <a:r>
              <a:t>Source: الکامل فی التاریخ ج۲ ص۲۶۵</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ABD/E-B13 · The daughter's verse, and the father's correction</a:t>
            </a:r>
          </a:p>
          <a:p>
            <a:r>
              <a:t>Tier: CORE   When: the last hours `[SOURCED]`</a:t>
            </a:r>
          </a:p>
          <a:p>
            <a:endParaRPr/>
          </a:p>
          <a:p>
            <a:r>
              <a:t>عائشة ؓ was with him at the end. A faintness took him. She said a line of poetry aloud — the old Arab line about tears that must one day be poured out. He lifted his head and stopped her. *Little daughter, it is not like that.* And he gave her the verse instead: **"and the agony of death comes with the truth — that is what you were shying away from."**</a:t>
            </a:r>
          </a:p>
          <a:p>
            <a:endParaRPr/>
          </a:p>
          <a:p>
            <a:r>
              <a:t>MAP: nothing moves.</a:t>
            </a:r>
          </a:p>
          <a:p>
            <a:endParaRPr/>
          </a:p>
          <a:p>
            <a:r>
              <a:t>عبرت: In his last hour he was still correcting a beautiful sentence into a true one.</a:t>
            </a:r>
          </a:p>
          <a:p>
            <a:endParaRPr/>
          </a:p>
          <a:p>
            <a:r>
              <a:t>Source: سیر أعلام النبلاء، ج الراشدون ص۱۸</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ABD/E-B14 · The shroud</a:t>
            </a:r>
          </a:p>
          <a:p>
            <a:r>
              <a:t>Tier: CORE   When: the last hours `[SOURCED]`</a:t>
            </a:r>
          </a:p>
          <a:p>
            <a:endParaRPr/>
          </a:p>
          <a:p>
            <a:r>
              <a:t>He gave instructions for his own washing — his wife أسماء بنت عميس ؓ, and his son عبد الرحمن ؓ. Then the shroud. Use the two garments I am wearing, and buy one more to go with them. And he said: the living need the new more than the dead.</a:t>
            </a:r>
          </a:p>
          <a:p>
            <a:endParaRPr/>
          </a:p>
          <a:p>
            <a:r>
              <a:t>MAP: nothing moves.</a:t>
            </a:r>
          </a:p>
          <a:p>
            <a:endParaRPr/>
          </a:p>
          <a:p>
            <a:r>
              <a:t>عبرت: The last instruction he gave about himself was an instruction to spend less on himself.</a:t>
            </a:r>
          </a:p>
          <a:p>
            <a:endParaRPr/>
          </a:p>
          <a:p>
            <a:r>
              <a:t>Source: الکامل فی التاریخ ج۲ ص۲۶۲</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ABD/E-B15 · Monday night, and a grave already dug beside another</a:t>
            </a:r>
          </a:p>
          <a:p>
            <a:r>
              <a:t>Tier: CORE   When: Monday evening, 8 nights remaining of جمادى الآخرة 13 AH `[SOURCED]`</a:t>
            </a:r>
          </a:p>
          <a:p>
            <a:endParaRPr/>
          </a:p>
          <a:p>
            <a:r>
              <a:t>He died on the Monday evening. He had asked to be buried beside the Messenger of God ﷺ, so they dug there. عمر ؓ prayed over him in the Prophet's ﷺ mosque, four takbīrs. They carried him on the same bier the Prophet ﷺ had been carried on. Four men went down into the grave: his son عبد الرحمن ؓ, عمر ؓ, عثمان ؓ, and طلحة ؓ. They laid his head at the Prophet's ﷺ shoulders and put his niche against the Prophet's ﷺ niche. He was buried before morning came. He was sixty-three — the age at which the Prophet ﷺ had died.</a:t>
            </a:r>
          </a:p>
          <a:p>
            <a:endParaRPr/>
          </a:p>
          <a:p>
            <a:r>
              <a:t>MAP: the pin on المدینہ. Then, on the diagram of the three graves: three positions, one behind</a:t>
            </a:r>
          </a:p>
          <a:p>
            <a:endParaRPr/>
          </a:p>
          <a:p>
            <a:r>
              <a:t>عبرت: Two years and three months of authority, and it ended in a room, at night, with four men</a:t>
            </a:r>
          </a:p>
          <a:p>
            <a:endParaRPr/>
          </a:p>
          <a:p>
            <a:r>
              <a:t>Source: سیر أعلام النبلاء، ج الراشدون ص۱۹</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ABD/E-B16 · علي ؓ speaks over the body</a:t>
            </a:r>
          </a:p>
          <a:p>
            <a:r>
              <a:t>Tier: GOOD   When: before the burial `[SOURCED]`</a:t>
            </a:r>
          </a:p>
          <a:p>
            <a:endParaRPr/>
          </a:p>
          <a:p>
            <a:r>
              <a:t>The body had been laid out and covered. علي ؓ came in, looked at it, and said one sentence: there is nobody whose record I would rather meet God carrying than this man lying here.</a:t>
            </a:r>
          </a:p>
          <a:p>
            <a:endParaRPr/>
          </a:p>
          <a:p>
            <a:r>
              <a:t>MAP: nothing moves.</a:t>
            </a:r>
          </a:p>
          <a:p>
            <a:endParaRPr/>
          </a:p>
          <a:p>
            <a:r>
              <a:t>عبرت: The men who were there are the best witnesses to each other, and this is one of them</a:t>
            </a:r>
          </a:p>
          <a:p>
            <a:endParaRPr/>
          </a:p>
          <a:p>
            <a:r>
              <a:t>Source: سیر أعلام النبلاء، ج الراشدون ص۱۹</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ABD/E-B17 · The last words</a:t>
            </a:r>
          </a:p>
          <a:p>
            <a:r>
              <a:t>Tier: GOOD   When: the last moment `[SOURCED]`</a:t>
            </a:r>
          </a:p>
          <a:p>
            <a:endParaRPr/>
          </a:p>
          <a:p>
            <a:r>
              <a:t>The last thing he said was not about the state, or the armies, or the succession he had spent his final days arranging. It was four words of duʿāʾ.</a:t>
            </a:r>
          </a:p>
          <a:p>
            <a:endParaRPr/>
          </a:p>
          <a:p>
            <a:r>
              <a:t>MAP: nothing moves.</a:t>
            </a:r>
          </a:p>
          <a:p>
            <a:endParaRPr/>
          </a:p>
          <a:p>
            <a:r>
              <a:t>عبرت: He asked, at the end, for the only thing he had ever actually been working for.</a:t>
            </a:r>
          </a:p>
          <a:p>
            <a:endParaRPr/>
          </a:p>
          <a:p>
            <a:r>
              <a:t>Source: الکامل فی التاریخ ج۲ ص۲۶۳</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ABD/E-B18 · The news reaches اليرموك</a:t>
            </a:r>
          </a:p>
          <a:p>
            <a:r>
              <a:t>Tier: GOOD   When: 13 AH, at the Syrian front `[SOURCED]`</a:t>
            </a:r>
          </a:p>
          <a:p>
            <a:endParaRPr/>
          </a:p>
          <a:p>
            <a:r>
              <a:t>Letters went out to the commanders in الشام carrying the news, with شدّاد بن أوس ؓ and مَحْميَة بن جَزْء ؓ. The messengers arrived while the army was drawn up facing the Byzantines at اليرموك. Afterwards, standing among the captured tents and the spoils, خالد ؓ told the men. ابن کثیر records what that morning was like in one sentence.</a:t>
            </a:r>
          </a:p>
          <a:p>
            <a:endParaRPr/>
          </a:p>
          <a:p>
            <a:r>
              <a:t>MAP: this is the card where</a:t>
            </a:r>
          </a:p>
          <a:p>
            <a:endParaRPr/>
          </a:p>
          <a:p>
            <a:r>
              <a:t>عبرت: The work outlived the man, and that is the whole test of whether the work was ever his.</a:t>
            </a:r>
          </a:p>
          <a:p>
            <a:endParaRPr/>
          </a:p>
          <a:p>
            <a:r>
              <a:t>Source: البدایہ والنہایہ ج۷ ص۹۷</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ABD/E-B19 · عمر ؓ takes the minbar</a:t>
            </a:r>
          </a:p>
          <a:p>
            <a:r>
              <a:t>Tier: GOOD   When: the day of the burial `[SOURCED]`</a:t>
            </a:r>
          </a:p>
          <a:p>
            <a:endParaRPr/>
          </a:p>
          <a:p>
            <a:r>
              <a:t>Once أبو بكر ؓ was in the ground, عمر ؓ went up and addressed the people. He did not begin with condolences. He began with a picture of what he thought he had taken charge of — a camel with a ring through its nose, which will follow whoever holds the rope, so the man holding the rope had better look where he is going. And then: *as for me, by the Lord of the Kaʿba, I will carry you on the road.*</a:t>
            </a:r>
          </a:p>
          <a:p>
            <a:endParaRPr/>
          </a:p>
          <a:p>
            <a:r>
              <a:t>MAP: المدینہ.</a:t>
            </a:r>
          </a:p>
          <a:p>
            <a:endParaRPr/>
          </a:p>
          <a:p>
            <a:r>
              <a:t>عبرت: The second man did not promise to be gentle; he promised to keep them on the road.</a:t>
            </a:r>
          </a:p>
          <a:p>
            <a:endParaRPr/>
          </a:p>
          <a:p>
            <a:r>
              <a:t>Source: الکامل فی التاریخ ج۲ ص۲۶۸</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ABD/E-B20 · The وصية to عمر ؓ — the two rights and the scales</a:t>
            </a:r>
          </a:p>
          <a:p>
            <a:r>
              <a:t>Tier: GOOD   When: after the covenant was read `[SOURCED]`</a:t>
            </a:r>
          </a:p>
          <a:p>
            <a:endParaRPr/>
          </a:p>
          <a:p>
            <a:r>
              <a:t>He had عمر ؓ brought in and told him he had appointed him over the Companions of the Messenger of God ﷺ. Then he gave him a piece of advice that had nothing to do with governing. God has a right by night He will not accept by day, and a right by day He will not accept by night; and He accepts nothing voluntary until the obligation is discharged. Then he took him through the scales of the Day of Judgement, and closed: keep this, and let nothing absent be dearer to you than the one present thing — death — and you will not escape it.</a:t>
            </a:r>
          </a:p>
          <a:p>
            <a:endParaRPr/>
          </a:p>
          <a:p>
            <a:r>
              <a:t>MAP: nothing moves.</a:t>
            </a:r>
          </a:p>
          <a:p>
            <a:endParaRPr/>
          </a:p>
          <a:p>
            <a:r>
              <a:t>عبرت: The handover instruction to the most powerful man alive was about the five prayers.</a:t>
            </a:r>
          </a:p>
          <a:p>
            <a:endParaRPr/>
          </a:p>
          <a:p>
            <a:r>
              <a:t>Source: الکامل فی التاریخ ج۲ ص۲۶۷</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ABD/E-B21 · His father outlives him</a:t>
            </a:r>
          </a:p>
          <a:p>
            <a:r>
              <a:t>Tier: GOOD   When: 13 AH, and six months after `[SOURCED]`</a:t>
            </a:r>
          </a:p>
          <a:p>
            <a:endParaRPr/>
          </a:p>
          <a:p>
            <a:r>
              <a:t>أبو بكر ؓ was the first caliph to hold the office while his own father was still alive. When he died, his father inherited a share of him — and returned it to his son's children. أبو قحافة ؓ lived on for six months and some days, and died at ninety-seven.</a:t>
            </a:r>
          </a:p>
          <a:p>
            <a:endParaRPr/>
          </a:p>
          <a:p>
            <a:r>
              <a:t>MAP: nothing moves.</a:t>
            </a:r>
          </a:p>
          <a:p>
            <a:endParaRPr/>
          </a:p>
          <a:p>
            <a:r>
              <a:t>عبرت: Nobody in that family took what they could have taken.</a:t>
            </a:r>
          </a:p>
          <a:p>
            <a:endParaRPr/>
          </a:p>
          <a:p>
            <a:r>
              <a:t>Source: سیر أعلام النبلاء، ج الراشدون ص۱۹</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ABD/E-B22 · He kept milking their goats</a:t>
            </a:r>
          </a:p>
          <a:p>
            <a:r>
              <a:t>Tier: GOOD   When: the first six months of the caliphate `[SOURCED]`</a:t>
            </a:r>
          </a:p>
          <a:p>
            <a:endParaRPr/>
          </a:p>
          <a:p>
            <a:r>
              <a:t>For the first six months after the بیعت he went on living at السُّنْح with his wife and walking into المدینہ on foot to lead the prayer, and he went on going to the market to buy and sell. He also used to milk the neighbourhood's sheep for them. When the بیعت happened a girl of the quarter said out loud: well, he won't be milking our sheep for us now. He heard her, and answered her directly. Six months later he gave up trade — *a people's affairs are not put right alongside a business* — and moved into the city.</a:t>
            </a:r>
          </a:p>
          <a:p>
            <a:endParaRPr/>
          </a:p>
          <a:p>
            <a:r>
              <a:t>MAP: السُّنْح, the</a:t>
            </a:r>
          </a:p>
          <a:p>
            <a:endParaRPr/>
          </a:p>
          <a:p>
            <a:r>
              <a:t>عبرت: He said out loud, on the first week, the thing office usually takes from a man — and then he</a:t>
            </a:r>
          </a:p>
          <a:p>
            <a:endParaRPr/>
          </a:p>
          <a:p>
            <a:r>
              <a:t>HANDS UP: Before telling it: *"Hands up — think of someone who got a promotion and stayed exactly</a:t>
            </a:r>
          </a:p>
          <a:p>
            <a:endParaRPr/>
          </a:p>
          <a:p>
            <a:r>
              <a:t>Source: الکامل فی التاریخ ج۲ ص۲۶۶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ABD/E-B23 · The illness, second account — the poison</a:t>
            </a:r>
          </a:p>
          <a:p>
            <a:r>
              <a:t>Tier: CUT   When: a year before the death, on this account `[SOURCED]`</a:t>
            </a:r>
          </a:p>
          <a:p>
            <a:endParaRPr/>
          </a:p>
          <a:p>
            <a:r>
              <a:t>Our sources also carry a second account of the cause. الزهري relates that أبو بكر ؓ and الحارث بن كلدة were eating a dish sent to him, and الحارث said: lift your hand, Caliph of the Messenger of God — there is a year's poison in this, and you and I will die on the same day. They both remained ill and died on one day at the end of the year. سیر elsewhere gives it flatly as «يقال», and الکامل gives both this and the cold-bath account without choosing.</a:t>
            </a:r>
          </a:p>
          <a:p>
            <a:endParaRPr/>
          </a:p>
          <a:p>
            <a:r>
              <a:t>MAP: none.</a:t>
            </a:r>
          </a:p>
          <a:p>
            <a:endParaRPr/>
          </a:p>
          <a:p>
            <a:r>
              <a:t>عبرت: — (none offered; the card is recorded, not delivered.)</a:t>
            </a:r>
          </a:p>
          <a:p>
            <a:endParaRPr/>
          </a:p>
          <a:p>
            <a:r>
              <a:t>Source: سیر أعلام النبلاء، ج الراشدون ص۱۵–۱۶</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ABD/E-B24 · The three regrets</a:t>
            </a:r>
          </a:p>
          <a:p>
            <a:r>
              <a:t>Tier: CUT   When: the last days `[SOURCED]`</a:t>
            </a:r>
          </a:p>
          <a:p>
            <a:endParaRPr/>
          </a:p>
          <a:p>
            <a:r>
              <a:t>الذہبی carries, through صالح بن كيسان, a long deathbed report in which أبو بكر ؓ lists three things he wishes he had not done, three he wishes he had done, and three he wishes he had asked the Prophet ﷺ. The list is at سیر الراشدون ص۱۷–۱۸.</a:t>
            </a:r>
          </a:p>
          <a:p>
            <a:endParaRPr/>
          </a:p>
          <a:p>
            <a:r>
              <a:t>MAP: none.</a:t>
            </a:r>
          </a:p>
          <a:p>
            <a:endParaRPr/>
          </a:p>
          <a:p>
            <a:r>
              <a:t>عبرت: — (none offered.)</a:t>
            </a:r>
          </a:p>
          <a:p>
            <a:endParaRPr/>
          </a:p>
          <a:p>
            <a:r>
              <a:t>From: The death of أبو بكر ؓ, and the succession</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 · The order to Iraq</a:t>
            </a:r>
          </a:p>
          <a:p>
            <a:r>
              <a:t>Tier: CORE   When: المحرم 12 AH `[SOURCED — البدایہ ج۷ ص۶۲]`</a:t>
            </a:r>
          </a:p>
          <a:p>
            <a:endParaRPr/>
          </a:p>
          <a:p>
            <a:r>
              <a:t>Khālid ؓ had just finished al-Yamāma. A letter came from Abū Bakr ؓ in Medina. It did not say "conquer Iraq." It said: come at Iraq from its lower end. Call the people to God. If they answer, they are Muslims — what is yours is theirs. If they refuse, take the jizya. If they refuse that, fight. And then two restrictions that are easy to miss. Do not compel any man to march with you. And do not use any man who apostatised, even if he has come back.</a:t>
            </a:r>
          </a:p>
          <a:p>
            <a:endParaRPr/>
          </a:p>
          <a:p>
            <a:r>
              <a:t>MAP: first arrow leaves</a:t>
            </a:r>
          </a:p>
          <a:p>
            <a:endParaRPr/>
          </a:p>
          <a:p>
            <a:r>
              <a:t>عبرت: A state that has just won a civil war and still refuses to conscript the defeated is</a:t>
            </a:r>
          </a:p>
          <a:p>
            <a:endParaRPr/>
          </a:p>
          <a:p>
            <a:r>
              <a:t>Source: البدایہ والنہایہ ج۷ ص۶۲</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ISA/E-C2 · The letter to the marzubāns of Persia</a:t>
            </a:r>
          </a:p>
          <a:p>
            <a:r>
              <a:t>Tier: CORE   When: 12 AH `[SOURCED — البدایہ ج۷ ص۶۴]`</a:t>
            </a:r>
          </a:p>
          <a:p>
            <a:endParaRPr/>
          </a:p>
          <a:p>
            <a:r>
              <a:t>Khālid ؓ had taken al-Ḥīra. Upriver from it stood al-Madāʾin — the throne of Persia, the iwān of Chosroes. He did not march on it. He wrote to it. The letter was short and it survives, because al-Shaʿbī says the family of Buqayla in al-Ḥīra read it out to him. It sets out one offer, one alternative, and one warning. Ibn Kathīr رحمہ اللہ ends the page on their reaction: when they read it, they were left marvelling.</a:t>
            </a:r>
          </a:p>
          <a:p>
            <a:endParaRPr/>
          </a:p>
          <a:p>
            <a:r>
              <a:t>MAP: a line drawn from الحيرة to</a:t>
            </a:r>
          </a:p>
          <a:p>
            <a:endParaRPr/>
          </a:p>
          <a:p>
            <a:r>
              <a:t>عبرت: A man who has made peace with his own death is very difficult to bargain with.</a:t>
            </a:r>
          </a:p>
          <a:p>
            <a:endParaRPr/>
          </a:p>
          <a:p>
            <a:r>
              <a:t>HANDS UP: Ask the room: how far is Medina from the Persian capital? Then tell them a letter went,</a:t>
            </a:r>
          </a:p>
          <a:p>
            <a:endParaRPr/>
          </a:p>
          <a:p>
            <a:r>
              <a:t>Source: البدایہ والنہایہ ج۷ ص۶۴</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ISA/E-C3 · The poison cup at al-Ḥīra</a:t>
            </a:r>
          </a:p>
          <a:p>
            <a:r>
              <a:t>Tier: GOOD   When: 12 AH `[SOURCED — البدایہ ج۷ ص۷۰; also سیر ج۱ ص۳۷۶, where the chain is</a:t>
            </a:r>
          </a:p>
          <a:p>
            <a:endParaRPr/>
          </a:p>
          <a:p>
            <a:r>
              <a:t>The man who negotiated for al-Ḥīra was ʿAmr b. ʿAbd al-Masīḥ b. Buqayla, a Christian Arab, very old. Khālid ؓ noticed a pouch on him and asked what was in it. Poison, the man said — enough to kill within the hour. And why do you carry it? So that if I see ruin coming on my people, I can take it. Khālid ؓ took the pouch out of his hand, said the name of God over it, and — as the commanders reached out to stop him — swallowed it. Ibn Buqayla, watching, said that he had never seen a day of plainer good fortune than this; and he turned to the people of al-Ḥīra, who then asked Khālid ؓ for terms. (The page does not add a sentence about the poison's effect; it moves straight to the treaty. Narrate only that far.)</a:t>
            </a:r>
          </a:p>
          <a:p>
            <a:endParaRPr/>
          </a:p>
          <a:p>
            <a:r>
              <a:t>MAP: al-Ḥīra pinned — the old Arab-Christian capital of the Lakhmids, now negotiating.</a:t>
            </a:r>
          </a:p>
          <a:p>
            <a:endParaRPr/>
          </a:p>
          <a:p>
            <a:r>
              <a:t>عبرت: Certainty about the appointed hour is not recklessness; it is what makes a man usable.</a:t>
            </a:r>
          </a:p>
          <a:p>
            <a:endParaRPr/>
          </a:p>
          <a:p>
            <a:r>
              <a:t>Source: البدایہ والنہایہ ج۷ ص۷۰</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ISA/E-C4 · The secret ḥajj and the letter of reproof</a:t>
            </a:r>
          </a:p>
          <a:p>
            <a:r>
              <a:t>Tier: GOOD   When: ذو القعدة–ذو الحجة 12 AH `[SOURCED — البدایہ ج۷ ص۷۸]`</a:t>
            </a:r>
          </a:p>
          <a:p>
            <a:endParaRPr/>
          </a:p>
          <a:p>
            <a:r>
              <a:t>After the fighting at al-Firāḍ, Khālid ؓ sent the army back to al-Ḥīra and let them believe he was riding in the rear. Instead he turned south with a few companions and rode to Mecca by a road nobody had used, performed the pilgrimage, and caught up with the rearguard before it got home. Almost nobody knew. Abū Bakr ؓ only found out when the pilgrims came back to Medina and mentioned it. He wrote to him. The punishment was to be moved from the Iraq front to the Syrian one. And with the reprimand came a warning about something other than absence.</a:t>
            </a:r>
          </a:p>
          <a:p>
            <a:endParaRPr/>
          </a:p>
          <a:p>
            <a:r>
              <a:t>MAP: a thin</a:t>
            </a:r>
          </a:p>
          <a:p>
            <a:endParaRPr/>
          </a:p>
          <a:p>
            <a:r>
              <a:t>عبرت: The reprimand a commander needs is rarely about the rule he broke.</a:t>
            </a:r>
          </a:p>
          <a:p>
            <a:endParaRPr/>
          </a:p>
          <a:p>
            <a:r>
              <a:t>Source: البدایہ والنہایہ ج۷ ص۷۸</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ISA/E-C5 · The march across the waterless desert</a:t>
            </a:r>
          </a:p>
          <a:p>
            <a:r>
              <a:t>Tier: CORE   When: 13 AH `[SOURCED — البدایہ ج۷ ص۸۷; الکامل ج۲ ص۲۵۳; سیر ج۱ ص۳۶۶]`</a:t>
            </a:r>
          </a:p>
          <a:p>
            <a:endParaRPr/>
          </a:p>
          <a:p>
            <a:r>
              <a:t>The commanders in Syria wrote to Abū Bakr ؓ asking for reinforcement and telling him what the Romans had gathered at the Yarmūk. He wrote back to Khālid ؓ in Iraq: put a deputy over Iraq, bring the men you have to Syria, and when you reach them you are the commander over them. The letter reached Iraq and Khālid ؓ set off at once — but not by any road. He chose the Samāwa, five days of waterless country. His guide was Rāfiʿ b. ʿUmayra al-Ṭāʾī, and Rāfiʿ told him plainly it could not be done with cavalry and baggage: a lone rider fears that road. Khālid ؓ said he had no choice; he had to come out behind the Romans. So they prepared. The strongest camels were made thirsty, then watered twice over, their lips cut and their mouths bound so they could not chew and lose the water. Every day they opened the bellies of ten of them and watered the horses from what was inside. On the last stretch Rāfiʿ, whose eyes were bad, asked the men whether they could see a box-thorn bush the height of a seated man. They said no. He said: then by God you are dead, and I am dead with you. They looked again. The bush was there, cut down to a stump. They dug at its root and found the spring.</a:t>
            </a:r>
          </a:p>
          <a:p>
            <a:endParaRPr/>
          </a:p>
          <a:p>
            <a:r>
              <a:t>MAP: THE map moment of the evening. A line strikes north-west out of Iraq at Qurāqir, crosses</a:t>
            </a:r>
          </a:p>
          <a:p>
            <a:endParaRPr/>
          </a:p>
          <a:p>
            <a:r>
              <a:t>عبرت: The march was survived on preparation and on one man's memory; neither was an accident.</a:t>
            </a:r>
          </a:p>
          <a:p>
            <a:endParaRPr/>
          </a:p>
          <a:p>
            <a:r>
              <a:t>HANDS UP: Ask: how do you carry water for an army across five days of desert, with no wells? Take</a:t>
            </a:r>
          </a:p>
          <a:p>
            <a:endParaRPr/>
          </a:p>
          <a:p>
            <a:r>
              <a:t>Source: الکامل فی التاریخ ج۲ ص۲۵۳</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ISA/E-C6 · "At daybreak the people praise the night march"</a:t>
            </a:r>
          </a:p>
          <a:p>
            <a:r>
              <a:t>Tier: GOOD   When: 13 AH `[SOURCED — البدایہ ج۷ ص۸۸]`</a:t>
            </a:r>
          </a:p>
          <a:p>
            <a:endParaRPr/>
          </a:p>
          <a:p>
            <a:r>
              <a:t>On that crossing an Arab of the country had told Khālid ؓ that if he reached a certain tree by morning he and his men would live, and if he missed it they would die. They rode through the night, hard, and came up to it at first light. Khālid ؓ said one sentence. Ibn Kathīr رحمہ اللہ notes that it became a proverb in Arabic and that Khālid ؓ was the first man to say it.</a:t>
            </a:r>
          </a:p>
          <a:p>
            <a:endParaRPr/>
          </a:p>
          <a:p>
            <a:r>
              <a:t>MAP: the same line, arriving.</a:t>
            </a:r>
          </a:p>
          <a:p>
            <a:endParaRPr/>
          </a:p>
          <a:p>
            <a:r>
              <a:t>عبرت: The night the effort is made and the morning it is judged are never the same morning.</a:t>
            </a:r>
          </a:p>
          <a:p>
            <a:endParaRPr/>
          </a:p>
          <a:p>
            <a:r>
              <a:t>Source: البدایہ والنہایہ ج۷ ص۸۸</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ISA/E-C7 · Four commanders, four roads</a:t>
            </a:r>
          </a:p>
          <a:p>
            <a:r>
              <a:t>Tier: CORE   When: early 13 AH `[SOURCED — البدایہ ج۷ ص۸۳–۸۴]`</a:t>
            </a:r>
          </a:p>
          <a:p>
            <a:endParaRPr/>
          </a:p>
          <a:p>
            <a:r>
              <a:t>Abū Bakr ؓ finished with Arabia and turned to Syria. He did not send one army. He appointed four commanders and gave each of them a province before it was taken: Yazīd b. Abī Sufyān ؓ Damascus, Abū ʿUbayda ؓ Homs, ʿAmr b. al-ʿĀṣ ؓ Palestine, Shuraḥbīl b. Ḥasana ؓ Jordan. He ordered each to take a different road. And he walked out of Medina on foot beside each of them while they rode, giving his instructions. Ibn Kathīr رحمہ اللہ says the four roads were not a military trick: the caliph was following a verse.</a:t>
            </a:r>
          </a:p>
          <a:p>
            <a:endParaRPr/>
          </a:p>
          <a:p>
            <a:r>
              <a:t>MAP: four arrows leave</a:t>
            </a:r>
          </a:p>
          <a:p>
            <a:endParaRPr/>
          </a:p>
          <a:p>
            <a:r>
              <a:t>عبرت: A plan is safer when it is not one plan.</a:t>
            </a:r>
          </a:p>
          <a:p>
            <a:endParaRPr/>
          </a:p>
          <a:p>
            <a:r>
              <a:t>Source: البدایہ والنہایہ ج۷ ص۸۳–۸۴ (opening words) and</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ISA/E-C8 · The spy's report</a:t>
            </a:r>
          </a:p>
          <a:p>
            <a:r>
              <a:t>Tier: CORE   When: أجنادين, 2 nights remaining of جمادى الأولى 13 AH `[SOURCED — الکامل</a:t>
            </a:r>
          </a:p>
          <a:p>
            <a:endParaRPr/>
          </a:p>
          <a:p>
            <a:r>
              <a:t>Before the battle at Ajnādayn the Roman commander wanted to know what he was facing, so he sent a Christian Arab into the Muslim camp to look. The man stayed a day and a night and came back. He did not report numbers or weapons. He reported a description. And the commander, hearing it, gave the reply of a man who has understood something before his own army has.</a:t>
            </a:r>
          </a:p>
          <a:p>
            <a:endParaRPr/>
          </a:p>
          <a:p>
            <a:r>
              <a:t>MAP: Ajnādayn pinned, between al-Ramla and Bayt Jibrīn in Palestine.</a:t>
            </a:r>
          </a:p>
          <a:p>
            <a:endParaRPr/>
          </a:p>
          <a:p>
            <a:r>
              <a:t>عبرت: What frightened the enemy was not the cavalry; it was that the law was the same for the</a:t>
            </a:r>
          </a:p>
          <a:p>
            <a:endParaRPr/>
          </a:p>
          <a:p>
            <a:r>
              <a:t>HANDS UP: Ask: if you sent a man to look at an army, what would you want him to count? Then read</a:t>
            </a:r>
          </a:p>
          <a:p>
            <a:endParaRPr/>
          </a:p>
          <a:p>
            <a:r>
              <a:t>Source: الکامل فی التاریخ ج۲ ص۲۶۱</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ISA/E-C9 · Khālid ؓ hands the command round</a:t>
            </a:r>
          </a:p>
          <a:p>
            <a:r>
              <a:t>Tier: CORE   When: the morning of اليرموك `[SOURCED — البدایہ ج۷ ص۸۹; الکامل ج۲ ص۲۵۵]`</a:t>
            </a:r>
          </a:p>
          <a:p>
            <a:endParaRPr/>
          </a:p>
          <a:p>
            <a:r>
              <a:t>The Muslim armies had come to the Yarmūk still divided — four commanders, each over his own men, nobody over all of them. On the morning of the battle Khālid ؓ stood up and made a proposal. He did not ask for the command. He proposed that they pass it round: one of us today, another tomorrow, another the day after, until every one of us has held it — and let me have today. They made him commander, expecting the thing to last a long time. It lasted one day.</a:t>
            </a:r>
          </a:p>
          <a:p>
            <a:endParaRPr/>
          </a:p>
          <a:p>
            <a:r>
              <a:t>MAP: the Yarmūk. Roman camp at al-Wāqūṣa with the ravine at its back; the Muslim line sitting</a:t>
            </a:r>
          </a:p>
          <a:p>
            <a:endParaRPr/>
          </a:p>
          <a:p>
            <a:r>
              <a:t>عبرت: The man who asked for one day got the day; a man who had demanded the whole command might</a:t>
            </a:r>
          </a:p>
          <a:p>
            <a:endParaRPr/>
          </a:p>
          <a:p>
            <a:r>
              <a:t>Source: البدایہ والنہایہ ج۷ ص۸۹</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ISA/E-C10 · "Armies are made many by victory"</a:t>
            </a:r>
          </a:p>
          <a:p>
            <a:r>
              <a:t>Tier: CORE   When: اليرموك `[SOURCED — البدایہ ج۷ ص۹۱–۹۲]`</a:t>
            </a:r>
          </a:p>
          <a:p>
            <a:endParaRPr/>
          </a:p>
          <a:p>
            <a:r>
              <a:t>Khālid ؓ had come in from Iraq and was looking at the Roman lines. A Christian Arab standing near him said out loud what everyone could see: how many the Romans are, and how few the Muslims. He got an answer that had nothing to do with counting.</a:t>
            </a:r>
          </a:p>
          <a:p>
            <a:endParaRPr/>
          </a:p>
          <a:p>
            <a:r>
              <a:t>MAP: the numbers panel goes</a:t>
            </a:r>
          </a:p>
          <a:p>
            <a:endParaRPr/>
          </a:p>
          <a:p>
            <a:r>
              <a:t>عبرت: Counting the enemy is useful; being governed by the count is not.</a:t>
            </a:r>
          </a:p>
          <a:p>
            <a:endParaRPr/>
          </a:p>
          <a:p>
            <a:r>
              <a:t>HANDS UP: Ask the room to guess the two army sizes. Take three guesses. Then show that the books</a:t>
            </a:r>
          </a:p>
          <a:p>
            <a:endParaRPr/>
          </a:p>
          <a:p>
            <a:r>
              <a:t>Source: البدایہ والنہایہ ج۷ ص۹۲</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ISA/E-C11 · Jirja and the two rakʿas</a:t>
            </a:r>
          </a:p>
          <a:p>
            <a:r>
              <a:t>Tier: CORE   When: اليرموك `[SOURCED — البدایہ ج۷ ص۹۵–۹۶]`</a:t>
            </a:r>
          </a:p>
          <a:p>
            <a:endParaRPr/>
          </a:p>
          <a:p>
            <a:r>
              <a:t>One of the senior Roman commanders, Jirja, rode out from his own line and called Khālid ؓ to him. They met between the armies, close enough that their horses' necks crossed. He asked one question: is it true God sent your Prophet a sword from heaven, and gave it to you, so that you never draw it without routing them? Khālid ؓ said: no. Then why are you called the Sword of God? And Khālid ؓ answered by telling him what he had been — one of the men who called the Prophet ﷺ a liar and kept away from him. Jirja kept asking. What do you call people to. What if a man refuses. What does a man get who joins you today, having missed everything. Khālid ؓ said: the same reward — and better, because you did not see what we saw and you still came. At that Jirja turned his shield over and crossed to the Muslim side. Khālid ؓ took him to his tent, poured a waterskin over him, and prayed two rakʿas with him. Jirja was killed later that same day.</a:t>
            </a:r>
          </a:p>
          <a:p>
            <a:endParaRPr/>
          </a:p>
          <a:p>
            <a:r>
              <a:t>MAP: no change; a single</a:t>
            </a:r>
          </a:p>
          <a:p>
            <a:endParaRPr/>
          </a:p>
          <a:p>
            <a:r>
              <a:t>عبرت: A whole life can turn on one honest question asked of an opponent instead of about him.</a:t>
            </a:r>
          </a:p>
          <a:p>
            <a:endParaRPr/>
          </a:p>
          <a:p>
            <a:r>
              <a:t>Source: البدایہ والنہایہ ج۷ ص۹۶</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ISA/E-C12 · The courier in the middle of the battle</a:t>
            </a:r>
          </a:p>
          <a:p>
            <a:r>
              <a:t>Tier: CORE   When: اليرموك, and the death of أبو بكر ؓ on Monday, 8 nights remaining of</a:t>
            </a:r>
          </a:p>
          <a:p>
            <a:endParaRPr/>
          </a:p>
          <a:p>
            <a:r>
              <a:t>In the middle of the fighting a courier arrived from the Ḥijāz and was brought to Khālid ؓ. Khālid ؓ asked him what the news was. The man told him quietly: Abū Bakr ؓ is dead. ʿUmar ؓ is caliph. And Abū ʿUbayda ؓ has been put over the armies in your place. Khālid ؓ heard both pieces of news at once. He said, loudly enough for the men to hear, "You have done well." Then he took the letter, put it in his quiver, and went back to running the battle. The army learned neither thing until it was over. Ibn Kathīr رحمہ اللہ records what happened when they did: they did not rejoice at the spoil as much as they grieved for Abū Bakr ؓ.</a:t>
            </a:r>
          </a:p>
          <a:p>
            <a:endParaRPr/>
          </a:p>
          <a:p>
            <a:r>
              <a:t>MAP: a small arrow from Medina to the</a:t>
            </a:r>
          </a:p>
          <a:p>
            <a:endParaRPr/>
          </a:p>
          <a:p>
            <a:r>
              <a:t>عبرت: He was told he had been replaced and finished the day's work anyway; that is what obedience</a:t>
            </a:r>
          </a:p>
          <a:p>
            <a:endParaRPr/>
          </a:p>
          <a:p>
            <a:r>
              <a:t>Source: البدایہ والنہایہ ج۷ ص۹۵</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ISA/E-C13 · Damascus, taken two ways at once</a:t>
            </a:r>
          </a:p>
          <a:p>
            <a:r>
              <a:t>Tier: CORE   When: mid رجب 14 AH per the majority `[SOURCED — البدایہ ج۷ ص۱۰۸]`; the storming</a:t>
            </a:r>
          </a:p>
          <a:p>
            <a:endParaRPr/>
          </a:p>
          <a:p>
            <a:r>
              <a:t>The siege had gone through the winter and stalled. Then a son was born to the Byzantine commander of the city, and he made a feast; the men on the wall ate, drank and slept. One man noticed. Khālid ؓ, Ibn Kathīr رحمہ اللہ says, neither slept nor let anyone else sleep, and had scouts reporting the state of the garrison morning and evening. He had already made ladders out of rope. That night his party swam the moat with waterskins at their necks, fixed the ladders to the battlements, climbed, and shouted the takbīr from the top of the wall. He came down inside, killed the gatekeepers and cut the bolts. At the same hour, at the other gates, the townspeople — hearing the noise and not knowing what it was — accepted the terms the Muslims had been offering all along and opened their own gates. The commanders met in the middle of the city: one side had come in by force, the other by treaty.</a:t>
            </a:r>
          </a:p>
          <a:p>
            <a:endParaRPr/>
          </a:p>
          <a:p>
            <a:r>
              <a:t>MAP: Damascus falls. Colour it **half and</a:t>
            </a:r>
          </a:p>
          <a:p>
            <a:endParaRPr/>
          </a:p>
          <a:p>
            <a:r>
              <a:t>عبرت: Where they could not tell which had come first, they gave the city the gentler ruling — and</a:t>
            </a:r>
          </a:p>
          <a:p>
            <a:endParaRPr/>
          </a:p>
          <a:p>
            <a:r>
              <a:t>HANDS UP: Ask: if half a city surrenders and half is stormed on the same night, what are the</a:t>
            </a:r>
          </a:p>
          <a:p>
            <a:endParaRPr/>
          </a:p>
          <a:p>
            <a:r>
              <a:t>Source: الکامل فی التاریخ ج۲ ص۲۷۰</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ISA/E-C14 · Fiḥl — the mud they laid themselves</a:t>
            </a:r>
          </a:p>
          <a:p>
            <a:r>
              <a:t>Tier: GOOD   When: 13 or 14 AH; the sequence relative to Damascus is disputed `[SOURCED —</a:t>
            </a:r>
          </a:p>
          <a:p>
            <a:endParaRPr/>
          </a:p>
          <a:p>
            <a:r>
              <a:t>The Romans who had gathered at Fiḥl did something clever. They opened the irrigation channels and flooded the ground between themselves and the Muslim camp until it was deep mud, so that no charge could reach them. The Arabs afterwards called that whole campaign "the muddy one." Then, thinking the Muslims must be off their guard, they attacked in the night. But the commander there was Shuraḥbīl b. Ḥasana ؓ, who never spent a night or a morning out of battle order. The camp came up as one man. The fighting ran through the night and the whole of the next day. When the Romans finally broke, the rout carried them straight back into their own mud.</a:t>
            </a:r>
          </a:p>
          <a:p>
            <a:endParaRPr/>
          </a:p>
          <a:p>
            <a:r>
              <a:t>MAP: Fiḥl / Baysān in the Ghawr, below the Jordan.</a:t>
            </a:r>
          </a:p>
          <a:p>
            <a:endParaRPr/>
          </a:p>
          <a:p>
            <a:r>
              <a:t>عبرت: The trap a man builds is still there when he is the one running.</a:t>
            </a:r>
          </a:p>
          <a:p>
            <a:endParaRPr/>
          </a:p>
          <a:p>
            <a:r>
              <a:t>Source: البدایہ والنہایہ ج۷ ص۱۱۳</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ISA/E-C15 · The removal, and what the two men said</a:t>
            </a:r>
          </a:p>
          <a:p>
            <a:r>
              <a:t>Tier: CORE   When: 13 AH, on ʿUmar ؓ's accession `[SOURCED — البدایہ ج۷ ص۱۰۳، ص۲۳۶; سیر</a:t>
            </a:r>
          </a:p>
          <a:p>
            <a:endParaRPr/>
          </a:p>
          <a:p>
            <a:r>
              <a:t>The first thing ʿUmar ؓ did as caliph was to remove Khālid ؓ from the command of Syria and put Abū ʿUbayda ؓ in his place. The letter was blunt: take his turban off his head and divide his property with him. Abū ʿUbayda ؓ carried it out — the books say he divided even the pair of sandals, taking one and leaving him the other. Khālid ؓ said one sentence while it was being done: I hear and obey the Commander of the Faithful. And then, at the handover, each of the two men said something about the other — and neither of them said it in his own words. Each quoted the Prophet ﷺ.</a:t>
            </a:r>
          </a:p>
          <a:p>
            <a:endParaRPr/>
          </a:p>
          <a:p>
            <a:r>
              <a:t>MAP: no change. The name over Syria changes; nothing else does.</a:t>
            </a:r>
          </a:p>
          <a:p>
            <a:endParaRPr/>
          </a:p>
          <a:p>
            <a:r>
              <a:t>عبرت: Each of them met the other's promotion by quoting the Prophet ﷺ in the other's favour; that</a:t>
            </a:r>
          </a:p>
          <a:p>
            <a:endParaRPr/>
          </a:p>
          <a:p>
            <a:r>
              <a:t>Source: البدایہ والنہایہ ج۷ ص۲۳۶</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ISA/E-C16 · "I did not remove him for any suspicion"</a:t>
            </a:r>
          </a:p>
          <a:p>
            <a:r>
              <a:t>Tier: CORE   When: 15 AH (after Qinnasrīn), and again in writing in 17 AH `[SOURCED —</a:t>
            </a:r>
          </a:p>
          <a:p>
            <a:endParaRPr/>
          </a:p>
          <a:p>
            <a:r>
              <a:t>After Khālid ؓ had been removed from the command he stayed in Syria and went on fighting under Abū ʿUbayda ؓ. At Qinnasrīn he took the town, and when the reports reached Medina, ʿUmar ؓ said something about Abū Bakr ؓ, and about himself. Two years later, when he removed Khālid ؓ a second time, he did not leave the matter to talk: he wrote a circular to every garrison city setting out his reason. Both times the reason is the same, and neither time is it a charge of wrongdoing.</a:t>
            </a:r>
          </a:p>
          <a:p>
            <a:endParaRPr/>
          </a:p>
          <a:p>
            <a:r>
              <a:t>MAP: no change.</a:t>
            </a:r>
          </a:p>
          <a:p>
            <a:endParaRPr/>
          </a:p>
          <a:p>
            <a:r>
              <a:t>عبرت: A commander can be removed for being too successful, and both men can be right.</a:t>
            </a:r>
          </a:p>
          <a:p>
            <a:endParaRPr/>
          </a:p>
          <a:p>
            <a:r>
              <a:t>Source: البدایہ والنہایہ ج۷ ص۱۵۳</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ISA/E-C17 · The death on the bed</a:t>
            </a:r>
          </a:p>
          <a:p>
            <a:r>
              <a:t>Tier: GOOD   When: 21 AH, at Homs `[SOURCED — سیر ج۱ ص۳۶۷، ص۳۸۱، ص۳۸۳; البدایہ ج۷ ص۲۳۷</a:t>
            </a:r>
          </a:p>
          <a:p>
            <a:endParaRPr/>
          </a:p>
          <a:p>
            <a:r>
              <a:t>He died in bed, and he minded. He had looked for death in the places death is found, he said, and it had not been decreed for him. He was asked what of his own deeds he hoped in most, and he named neither Yarmūk nor Damascus nor Iraq — he named one cold night spent under his shield in the rain, waiting for the light. Then he gave his instructions: when I am dead, take my weapons and my horse and make them equipment in the way of God. He left nothing else — a horse, his weapons, and a servant. When ʿUmar ؓ heard, on the Mecca road, he said "innā li-Llāh" over and over and lowered his head. And when the women of Banū al-Mughīra gathered in his house to weep and someone suggested the caliph forbid them, ʿUmar ؓ refused.</a:t>
            </a:r>
          </a:p>
          <a:p>
            <a:endParaRPr/>
          </a:p>
          <a:p>
            <a:r>
              <a:t>MAP: a last pin at Homs — where the man who crossed the Samāwa is buried.</a:t>
            </a:r>
          </a:p>
          <a:p>
            <a:endParaRPr/>
          </a:p>
          <a:p>
            <a:r>
              <a:t>عبرت: The deed he hoped in was the one no one had watched.</a:t>
            </a:r>
          </a:p>
          <a:p>
            <a:endParaRPr/>
          </a:p>
          <a:p>
            <a:r>
              <a:t>HANDS UP: Ask: of everything this man did, which act do you think he hoped in most? Take three</a:t>
            </a:r>
          </a:p>
          <a:p>
            <a:endParaRPr/>
          </a:p>
          <a:p>
            <a:r>
              <a:t>Source: البدایہ والنہایہ ج۷ ص۲۳۹</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ISA/E-C18 · What the Romans said about why they lost</a:t>
            </a:r>
          </a:p>
          <a:p>
            <a:r>
              <a:t>Tier: GOOD   When: after اليرموك `[SOURCED — البدایہ ج۷ ص۹۹]`</a:t>
            </a:r>
          </a:p>
          <a:p>
            <a:endParaRPr/>
          </a:p>
          <a:p>
            <a:r>
              <a:t>The defeated troops came back to Heraclius. He asked them a plain question: are these men not human beings like you? They said yes. Are you not more numerous? They said many times over. Then why do you keep getting routed? One of their elders answered, and the answer was a list — half of it about the Muslims and half of it about themselves. Heraclius did not argue with him.</a:t>
            </a:r>
          </a:p>
          <a:p>
            <a:endParaRPr/>
          </a:p>
          <a:p>
            <a:r>
              <a:t>MAP: Heraclius withdraws</a:t>
            </a:r>
          </a:p>
          <a:p>
            <a:endParaRPr/>
          </a:p>
          <a:p>
            <a:r>
              <a:t>عبرت: They were beaten, and they knew exactly why; knowing it is not the same as changing it.</a:t>
            </a:r>
          </a:p>
          <a:p>
            <a:endParaRPr/>
          </a:p>
          <a:p>
            <a:r>
              <a:t>Source: البدایہ والنہایہ ج۷ ص۹۹</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ISA/E-C19 · The Romans in chains</a:t>
            </a:r>
          </a:p>
          <a:p>
            <a:r>
              <a:t>Tier: CUT   When: ذات السلاسل 12 AH, and again at اليرموك `[SOURCED — البدایہ ج۷ ص۶۵، ص۸۹]`</a:t>
            </a:r>
          </a:p>
          <a:p>
            <a:endParaRPr/>
          </a:p>
          <a:p>
            <a:r>
              <a:t>Twice the sources describe an enemy army chaining its own ranks together so that no man could run. At Kāẓima the Persians did it, and Ibn Kathīr records that the Muslims took it as a bad omen against them and said so out loud. At the Yarmūk the figure given is tens of thousands chained in tens — though on the same page Sayf gives a much smaller figure and Ibn Kathīr writes "God knows best" after it. At the end, when the Roman line broke, the chains did what chains do.</a:t>
            </a:r>
          </a:p>
          <a:p>
            <a:endParaRPr/>
          </a:p>
          <a:p>
            <a:r>
              <a:t>MAP: none.</a:t>
            </a:r>
          </a:p>
          <a:p>
            <a:endParaRPr/>
          </a:p>
          <a:p>
            <a:r>
              <a:t>عبرت: An army that has to chain its men in place has already told you what it thinks of them.</a:t>
            </a:r>
          </a:p>
          <a:p>
            <a:endParaRPr/>
          </a:p>
          <a:p>
            <a:r>
              <a:t>Source: البدایہ والنہایہ ج۷ ص۶۵</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ISA/E-C20 · The judge and the reciter</a:t>
            </a:r>
          </a:p>
          <a:p>
            <a:r>
              <a:t>Tier: GOOD   When: the morning of اليرموك `[SOURCED — البدایہ ج۷ ص۸۹–۹۰]`</a:t>
            </a:r>
          </a:p>
          <a:p>
            <a:endParaRPr/>
          </a:p>
          <a:p>
            <a:r>
              <a:t>When the line was drawn up at the Yarmūk, the appointments made that morning are worth reading in full. Qubāth b. Ashyam ؓ over the scouts. ʿAbd Allāh b. Masʿūd ؓ over the spoils. Abū Sufyān ؓ to walk the ranks exhorting. And two more that no army list would think to include: Abū al-Dardāʾ ؓ as the judge of the day, and al-Miqdād ؓ to ride round the ranks reciting Sūrat al-Anfāl and the verses of jihād. Abū ʿUbayda ؓ, on Khālid ؓ's advice, moved himself out of the centre and stood behind the whole army — so that any man who broke would see him and turn back out of shame.</a:t>
            </a:r>
          </a:p>
          <a:p>
            <a:endParaRPr/>
          </a:p>
          <a:p>
            <a:r>
              <a:t>MAP: the</a:t>
            </a:r>
          </a:p>
          <a:p>
            <a:endParaRPr/>
          </a:p>
          <a:p>
            <a:r>
              <a:t>عبرت: They appointed a judge before the battle, not after it.</a:t>
            </a:r>
          </a:p>
          <a:p>
            <a:endParaRPr/>
          </a:p>
          <a:p>
            <a:r>
              <a:t>HANDS UP: Ask: what posts would you fill before a battle? Take answers. Then read the list.</a:t>
            </a:r>
          </a:p>
          <a:p>
            <a:endParaRPr/>
          </a:p>
          <a:p>
            <a:r>
              <a:t>Source: البدایہ والنہایہ ج۷ ص۸۹–۹۰ · the list begins at (ص۸۹) and</a:t>
            </a:r>
          </a:p>
          <a:p>
            <a:endParaRPr/>
          </a:p>
          <a:p>
            <a:r>
              <a:t>From: Iraq, Shām, and يرموك</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 · Nobody would go to Persia</a:t>
            </a:r>
          </a:p>
          <a:p>
            <a:r>
              <a:t>Tier: CORE   When: ۱۳ھ, the morning after أبو بكر ؓ was buried — the first days of عمر ؓ's</a:t>
            </a:r>
          </a:p>
          <a:p>
            <a:endParaRPr/>
          </a:p>
          <a:p>
            <a:r>
              <a:t>أبو بكر ؓ was buried at night. The next morning عمر ؓ stood up and asked for volunteers to go and fight Persia. Nobody moved. He asked again the second day. Nobody moved. He asked a third time, while men were still filing past to give him their pledge. Still nobody. Ibn al-Athīr says plainly why: of all the fronts, Persia was the heaviest on the Muslims and the most hateful to them, because of the severity of that empire and its power and its subjugation of nations. On the fourth day one man stood up. After that, the rest followed.</a:t>
            </a:r>
          </a:p>
          <a:p>
            <a:endParaRPr/>
          </a:p>
          <a:p>
            <a:r>
              <a:t>MAP: المدینہ lights. A single dotted arrow points north-east toward العراق and stops short.</a:t>
            </a:r>
          </a:p>
          <a:p>
            <a:endParaRPr/>
          </a:p>
          <a:p>
            <a:r>
              <a:t>عبرت: Fear in a believing community is not a scandal; what is asked of it is that somebody</a:t>
            </a:r>
          </a:p>
          <a:p>
            <a:endParaRPr/>
          </a:p>
          <a:p>
            <a:r>
              <a:t>HANDS UP: "Who here thinks the Companions were never afraid of anything?"</a:t>
            </a:r>
          </a:p>
          <a:p>
            <a:endParaRPr/>
          </a:p>
          <a:p>
            <a:r>
              <a:t>Source: الکامل فی التاریخ ج۲ ص۲۷۳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 · The command goes to the first man who volunteered</a:t>
            </a:r>
          </a:p>
          <a:p>
            <a:r>
              <a:t>Tier: CORE   When: ۱۳ھ, **the fourth day** of the call for volunteers — that is all either</a:t>
            </a:r>
          </a:p>
          <a:p>
            <a:endParaRPr/>
          </a:p>
          <a:p>
            <a:r>
              <a:t>The man who stood up on the fourth day was أبو عُبَيد بن مسعود الثقفي. He was not a Companion. عمر ؓ put him in command of the whole army — over men who had fought at Badr. People objected: appoint one of the Companions. عمر ؓ refused. God raised the Companions by their precedence, he said; if another man does what they did while they hang back, he has the better right to command. He would appoint no one but the first to answer. He then called أبو عبيد, سعد بن عُبَيد ؓ and سَليط بن قيس ؓ — سَليط a man of Badr — and told the last two to their faces: *had you outstripped him, I would have appointed you.* And to أبو عبيد, about سَليط, he gave a second reason: Salīṭ was too quick to war, and haste in war ruins an army.</a:t>
            </a:r>
          </a:p>
          <a:p>
            <a:endParaRPr/>
          </a:p>
          <a:p>
            <a:r>
              <a:t>MAP: the arrow from المدینہ to</a:t>
            </a:r>
          </a:p>
          <a:p>
            <a:endParaRPr/>
          </a:p>
          <a:p>
            <a:r>
              <a:t>عبرت: Precedence is earned again every time it is claimed; it does not carry forward on its own.</a:t>
            </a:r>
          </a:p>
          <a:p>
            <a:endParaRPr/>
          </a:p>
          <a:p>
            <a:r>
              <a:t>Source: الکامل فی التاریخ ج۲ ص۲۷۳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QMA/E-Q3 · The Bridge — the defeat that opened the Iraq front</a:t>
            </a:r>
          </a:p>
          <a:p>
            <a:r>
              <a:t>Tier: CORE   When: شعبان ۱۳ھ `[SOURCED]`</a:t>
            </a:r>
          </a:p>
          <a:p>
            <a:endParaRPr/>
          </a:p>
          <a:p>
            <a:r>
              <a:t>The Persians came to the river with elephants and the great standard of the empire. They sent word across: either you cross to us, or we cross to you. His men told him not to cross. He crossed. On the far bank the ground was tight and the Arab horses would not go near the elephants. أبو عبيد ordered the elephants cut down and went at the great white one himself with his sword. It trampled him and stood over his body. Seven men of Thaqīf, whom he had named in advance, took the banner one after another, and each of them was killed. Then المثنى بن حارثة ؓ took it. Men crowded back onto the bridge and it broke. About four thousand were killed or drowned; two thousand scattered into the countryside; three thousand were left.</a:t>
            </a:r>
          </a:p>
          <a:p>
            <a:endParaRPr/>
          </a:p>
          <a:p>
            <a:r>
              <a:t>MAP: a river line drawn across the arrow; the</a:t>
            </a:r>
          </a:p>
          <a:p>
            <a:endParaRPr/>
          </a:p>
          <a:p>
            <a:r>
              <a:t>عبرت: Courage that refuses counsel is not courage; it is the same fault wearing better clothes.</a:t>
            </a:r>
          </a:p>
          <a:p>
            <a:endParaRPr/>
          </a:p>
          <a:p>
            <a:r>
              <a:t>Source: البدایہ والنہایہ ج۷ ص۱۱۶</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QMA/E-Q4 · «أنا فئة كل مسلم» — the caliph takes the blame</a:t>
            </a:r>
          </a:p>
          <a:p>
            <a:r>
              <a:t>Tier: CORE   When: شعبان ۱۳ھ, days after the Bridge `[SOURCED]`</a:t>
            </a:r>
          </a:p>
          <a:p>
            <a:endParaRPr/>
          </a:p>
          <a:p>
            <a:r>
              <a:t>Some of the survivors did not stop at the army. They kept going, all the way back to Medina, and then some of them scattered into the countryside because they were too ashamed to be seen. عمر ؓ was told. It weighed on him — and what he said was not a reprimand. He absolved every Muslim, said he himself was the refuge every one of them was entitled to fall back on, and then asked God's mercy on أبو عبيد, saying that if the man had fallen back to him, he would have been a refuge for him too. Ibn Kathīr's summary is a single clause: he did not reproach the people.</a:t>
            </a:r>
          </a:p>
          <a:p>
            <a:endParaRPr/>
          </a:p>
          <a:p>
            <a:r>
              <a:t>MAP: small figures</a:t>
            </a:r>
          </a:p>
          <a:p>
            <a:endParaRPr/>
          </a:p>
          <a:p>
            <a:r>
              <a:t>عبرت: A leader who will not stand under his people's defeat has no right to stand on top of</a:t>
            </a:r>
          </a:p>
          <a:p>
            <a:endParaRPr/>
          </a:p>
          <a:p>
            <a:r>
              <a:t>HANDS UP: "What would most rulers have done with an army that ran?"</a:t>
            </a:r>
          </a:p>
          <a:p>
            <a:endParaRPr/>
          </a:p>
          <a:p>
            <a:r>
              <a:t>Source: الکامل فی التاریخ ج۲ ص۲۷۸</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QMA/E-Q5 · عمر ؓ is talked out of leading the campaign himself</a:t>
            </a:r>
          </a:p>
          <a:p>
            <a:r>
              <a:t>Tier: GOOD   When: ۱ المحرم ۱۴ھ `[SOURCED]`</a:t>
            </a:r>
          </a:p>
          <a:p>
            <a:endParaRPr/>
          </a:p>
          <a:p>
            <a:r>
              <a:t>On the first day of Muharram, عمر ؓ rode out of Medina at the head of the army, intending to fight Persia in person. He camped at a water three miles out, left علي ؓ over Medina, took عثمان ؓ and the senior Companions with him, and called a council. Everyone agreed with him. One man did not: عبد الرحمن بن عوف ؓ said that if the caliph were broken, Muslims everywhere on earth would be weakened — send a man, and go home. عمر ؓ asked whom. Ibn ʿAwf said: I have found him — the lion in his claws, Saʿd ibn Mālik az-Zuhrī. عمر ؓ and the people accepted it, and he went back to Medina.</a:t>
            </a:r>
          </a:p>
          <a:p>
            <a:endParaRPr/>
          </a:p>
          <a:p>
            <a:r>
              <a:t>MAP: عمر ؓ's own marker moves a short way</a:t>
            </a:r>
          </a:p>
          <a:p>
            <a:endParaRPr/>
          </a:p>
          <a:p>
            <a:r>
              <a:t>عبرت: The one man in the room who disagrees is worth the whole room, if he is listened to.</a:t>
            </a:r>
          </a:p>
          <a:p>
            <a:endParaRPr/>
          </a:p>
          <a:p>
            <a:r>
              <a:t>Source: البدایہ والنہایہ ج۷ ص۱۲۹</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QMA/E-Q6 · «لا يغرنَّك من الله أن قيل: خالُ رسول الله ﷺ»</a:t>
            </a:r>
          </a:p>
          <a:p>
            <a:r>
              <a:t>Tier: CORE   When: المحرم ۱۴ھ, at the parting `[SOURCED]`</a:t>
            </a:r>
          </a:p>
          <a:p>
            <a:endParaRPr/>
          </a:p>
          <a:p>
            <a:r>
              <a:t>سعد بن أبي وقاص ؓ was a Zuhrī, of the clan of the Prophet's ﷺ own mother. People called him "the maternal uncle of the Messenger of God ﷺ." He was one of the Ten, one of the first to accept Islam, present at Badr and Ḥudaybiya. عمر ؓ handed him an empire to conquer, and the first thing he said to him was that none of that would help him. God does not blot out an evil with an evil, he told him; He blots out an evil with a good. Between God and any man there is no kinship except obedience. And then the line that flattens every rank in the army at once: the noble and the low are equal before God, He is their Lord and they are His servants.</a:t>
            </a:r>
          </a:p>
          <a:p>
            <a:endParaRPr/>
          </a:p>
          <a:p>
            <a:r>
              <a:t>MAP: none — this is a</a:t>
            </a:r>
          </a:p>
          <a:p>
            <a:endParaRPr/>
          </a:p>
          <a:p>
            <a:r>
              <a:t>عبرت: A relationship to a righteous man is a gift to be grateful for, never a claim to be traded</a:t>
            </a:r>
          </a:p>
          <a:p>
            <a:endParaRPr/>
          </a:p>
          <a:p>
            <a:r>
              <a:t>Source: البدایہ والنہایہ ج۷ ص۱۲۹</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QMA/E-Q7 · رِبْعي بن عامر ؓ walks his horse across the carpet</a:t>
            </a:r>
          </a:p>
          <a:p>
            <a:r>
              <a:t>Tier: CORE   When: ۱۴ھ (the year is disputed — see E-Q11) `[SOURCED]`</a:t>
            </a:r>
          </a:p>
          <a:p>
            <a:endParaRPr/>
          </a:p>
          <a:p>
            <a:r>
              <a:t>The Persian commander sent word: send us a man to talk to. سعد ؓ gathered a group to send. رِبْعي بن عامر ؓ said: if we all go, they will see that we have made much of them — send one man. So he went alone. They had gilded the audience-hall for him: cushions worked with gold, silk rugs, jewels laid out, the commander on a throne of gold with his crown on. رِbʿī rode in on a short horse and did not get off until it was standing on the edge of the carpet. He dismounted, slit two of the cushions, and tied his horse to them with the rope through the slits. They told him to put down his weapons. He said: I did not come to you; you sent for me. Leave me as I am, or I go back. They let him through. He walked in leaning on his spear, and left them not one cushion and not one carpet that he did not tear. When he reached the commander he sat down on the bare floor. They asked him why. He said: we do not care to sit on your finery. Then they asked him what had brought them.</a:t>
            </a:r>
          </a:p>
          <a:p>
            <a:endParaRPr/>
          </a:p>
          <a:p>
            <a:r>
              <a:t>MAP: **القادسية** marker; the Persian camp across the water at **العتيق**; a line between the two.</a:t>
            </a:r>
          </a:p>
          <a:p>
            <a:endParaRPr/>
          </a:p>
          <a:p>
            <a:r>
              <a:t>عبرت: A man who is not impressed by a room cannot be bought by it.</a:t>
            </a:r>
          </a:p>
          <a:p>
            <a:endParaRPr/>
          </a:p>
          <a:p>
            <a:r>
              <a:t>HANDS UP: "One envoy or seven — which would you have sent?"</a:t>
            </a:r>
          </a:p>
          <a:p>
            <a:endParaRPr/>
          </a:p>
          <a:p>
            <a:r>
              <a:t>Source: البدایہ والنہایہ ج۷ ص۱۳۴</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QMA/E-Q8 · «ولكن المسلمون كالجسد الواحد» — and رستم's own verdict</a:t>
            </a:r>
          </a:p>
          <a:p>
            <a:r>
              <a:t>Tier: CORE   When: immediately after E-Q7 `[SOURCED]`</a:t>
            </a:r>
          </a:p>
          <a:p>
            <a:endParaRPr/>
          </a:p>
          <a:p>
            <a:r>
              <a:t>رستم asked for time to consider. رِبْعي ؓ said: how much — a day, two? The commander said: until I write to our men of judgement and our chiefs. رِبْعي ؓ told him the Messenger of God ﷺ had laid down that they do not hold off an enemy at the point of contact more than three days; choose within that. Then رستم asked him: are you their chief? And he said no — and gave the reason. After he left, رستم turned to his own nobles and asked whether they had ever heard speech more dignified. They told him not to be taken in by a dog in rags. His answer was the last word in the room.</a:t>
            </a:r>
          </a:p>
          <a:p>
            <a:endParaRPr/>
          </a:p>
          <a:p>
            <a:r>
              <a:t>MAP: none — statement slide,</a:t>
            </a:r>
          </a:p>
          <a:p>
            <a:endParaRPr/>
          </a:p>
          <a:p>
            <a:r>
              <a:t>عبرت: A community is judged by what its least important member may promise in its name.</a:t>
            </a:r>
          </a:p>
          <a:p>
            <a:endParaRPr/>
          </a:p>
          <a:p>
            <a:r>
              <a:t>Source: البدایہ والنہایہ ج۷ ص۱۳۴–۱۳۵ **و**</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QMA/E-Q9 · «إِنَّا مَعْشَرَ الْعَرَبِ لَا نَسْتَعْبِدُ بَعْضَنَا بَعْضًا»</a:t>
            </a:r>
          </a:p>
          <a:p>
            <a:r>
              <a:t>Tier: GOOD   When: the third day of the embassies `[SOURCED]`</a:t>
            </a:r>
          </a:p>
          <a:p>
            <a:endParaRPr/>
          </a:p>
          <a:p>
            <a:r>
              <a:t>On the third day it was المغيرة بن شعبة ؓ. He walked up and sat down on the throne, beside the Persian commander. They sprang on him, dragged him off and shoved him about. He did not apologise. He told them that reports of their good sense had reached the Arabs, and that he had never seen a more foolish people; that Arabs do not enslave one another, and he had assumed they shared with their own people as Arabs did. Then he told them what he had learnt that day. Ibn al-Athīr records who said what next: the low-born of the court said the Arab had spoken the truth; the landholders said he had thrown out a word their slaves would never stop reaching for.</a:t>
            </a:r>
          </a:p>
          <a:p>
            <a:endParaRPr/>
          </a:p>
          <a:p>
            <a:r>
              <a:t>MAP: none — statement</a:t>
            </a:r>
          </a:p>
          <a:p>
            <a:endParaRPr/>
          </a:p>
          <a:p>
            <a:r>
              <a:t>عبرت: An order that has to keep men beneath it in order to stand is already standing on</a:t>
            </a:r>
          </a:p>
          <a:p>
            <a:endParaRPr/>
          </a:p>
          <a:p>
            <a:r>
              <a:t>Source: الکامل فی التاریخ ج۲ ص۲۹۹</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QMA/E-Q10 · «فبعث الله إلينا رجلًا معروفًا نعرف نسبَه» — before the king</a:t>
            </a:r>
          </a:p>
          <a:p>
            <a:r>
              <a:t>Tier: GOOD   When: before the battle `[SOURCED]`</a:t>
            </a:r>
          </a:p>
          <a:p>
            <a:endParaRPr/>
          </a:p>
          <a:p>
            <a:r>
              <a:t>A second delegation went past the army to the king himself. النعمان بن مقرن ؓ put the three choices. The king answered with contempt: he knew of no people on earth more wretched, fewer in number or worse in their dealings with one another than the Arabs; Persia had kept border villages simply to keep them off. The delegation fell silent. Then المغيرة بن شعبة ؓ stood up and agreed with every word of it. Nobody was in a worse state than we were, he said. We ate beetles and scorpions and snakes and counted it food. We lived on bare ground and wore what we spun from camel hair. Our religion was that we killed one another and wronged one another, and a man would bury his daughter alive rather than have her eat his food. And then he turned it.</a:t>
            </a:r>
          </a:p>
          <a:p>
            <a:endParaRPr/>
          </a:p>
          <a:p>
            <a:r>
              <a:t>MAP: the delegation's line runs from</a:t>
            </a:r>
          </a:p>
          <a:p>
            <a:endParaRPr/>
          </a:p>
          <a:p>
            <a:r>
              <a:t>عبرت: A man who is honest about where he came from can afford to say plainly what changed him.</a:t>
            </a:r>
          </a:p>
          <a:p>
            <a:endParaRPr/>
          </a:p>
          <a:p>
            <a:r>
              <a:t>Source: البدایہ والنہایہ ج۷ ص۱۳۷</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QMA/E-Q11 · The commander who could not sit up</a:t>
            </a:r>
          </a:p>
          <a:p>
            <a:r>
              <a:t>Tier: CORE   When: the four days of القادسية, ۱۴ھ — *and the tradition disputes the year:</a:t>
            </a:r>
          </a:p>
          <a:p>
            <a:endParaRPr/>
          </a:p>
          <a:p>
            <a:r>
              <a:t>When the lines faced each other, سعد ؓ could not ride and could not sit. He had sciatica and boils. He lay face-down on a cushion on the roof of a small fort, looking out over the army and giving orders, and he handed the actual fighting to خالد بن عُرفطة. The Muslim line was at the foot of his wall — Ibn al-Athīr says that if the line had left him uncovered for as long as it takes to milk a camel, he would have been taken alive; and he never shut the fort's door. A soldier made a couplet mocking him for it. Saʿd came down to the men, showed them the open sores on his thighs and his hips, and they accepted it.</a:t>
            </a:r>
          </a:p>
          <a:p>
            <a:endParaRPr/>
          </a:p>
          <a:p>
            <a:r>
              <a:t>MAP: **القادسية**; the Muslim line drawn hard up</a:t>
            </a:r>
          </a:p>
          <a:p>
            <a:endParaRPr/>
          </a:p>
          <a:p>
            <a:r>
              <a:t>عبرت: Explaining yourself to the people you lead costs less than the rumour you leave standing.</a:t>
            </a:r>
          </a:p>
          <a:p>
            <a:endParaRPr/>
          </a:p>
          <a:p>
            <a:r>
              <a:t>Source: البدایہ والنہایہ ج۷ ص۱۴۱</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QMA/E-Q12 · Four days, and a night called الهرير</a:t>
            </a:r>
          </a:p>
          <a:p>
            <a:r>
              <a:t>Tier: CORE   When: أرماث · أغواث · عِماس · ليلة الهرير `[SOURCED]`</a:t>
            </a:r>
          </a:p>
          <a:p>
            <a:endParaRPr/>
          </a:p>
          <a:p>
            <a:r>
              <a:t>Saʿd led the noon prayer, then addressed the army and recited the verse about the earth being inherited by God's righteous servants. The reciters read Sūrat al-Anfāl. He had told them: at the first takbīr, make ready; at the second, put on your gear; at the third, let the horsemen stir the men; at the fourth, advance together and say lā ḥawla wa-lā quwwata illā billāh. They fought to nightfall on the first day; the second day and most of its night; the third day; and then, through the third night, they stopped speaking altogether. Ibn al-Athīr says that is where the night's name comes from — they only snarled. The sound of iron in it, he says, was like a smithy, all night until morning.</a:t>
            </a:r>
          </a:p>
          <a:p>
            <a:endParaRPr/>
          </a:p>
          <a:p>
            <a:r>
              <a:t>MAP: the القادسية</a:t>
            </a:r>
          </a:p>
          <a:p>
            <a:endParaRPr/>
          </a:p>
          <a:p>
            <a:r>
              <a:t>عبرت: Endurance is not one heroic hour; it is the fourth day, when nobody is watching and</a:t>
            </a:r>
          </a:p>
          <a:p>
            <a:endParaRPr/>
          </a:p>
          <a:p>
            <a:r>
              <a:t>HANDS UP: "How many nights without sleep before you would have gone home?"</a:t>
            </a:r>
          </a:p>
          <a:p>
            <a:endParaRPr/>
          </a:p>
          <a:p>
            <a:r>
              <a:t>Source: الکامل فی التاریخ ج۲ ص۳۱۱</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QMA/E-Q13 · The elephants, and the two spears</a:t>
            </a:r>
          </a:p>
          <a:p>
            <a:r>
              <a:t>Tier: GOOD   When: the third day, يوم عِماس `[SOURCED]`</a:t>
            </a:r>
          </a:p>
          <a:p>
            <a:endParaRPr/>
          </a:p>
          <a:p>
            <a:r>
              <a:t>Thirty-three elephants, and among them the old white elephant of Sābūr, which the rest of the herd followed. Eighteen stood in the Persian centre. The Arab horses would not face them. On the third day سعد ؓ sent two orders: القعقاع and عاصم, sons of ʿAmr, take charge of the white one for me; Ḥammāl and ar-Ribbīl, take charge of the mangy one. The first pair put their two spears into the white elephant's eye; it threw its driver and dropped its trunk, and القعقاع cut it down. The second pair blinded the other, and it turned, threw itself into the river, and the whole herd followed it — straight out through the Persian line and away. Once the elephants were gone, Ibn Kathīr says simply that the Companions destroyed them and those on them and put out their eyes.</a:t>
            </a:r>
          </a:p>
          <a:p>
            <a:endParaRPr/>
          </a:p>
          <a:p>
            <a:r>
              <a:t>MAP: the القادسية inset; a</a:t>
            </a:r>
          </a:p>
          <a:p>
            <a:endParaRPr/>
          </a:p>
          <a:p>
            <a:r>
              <a:t>عبرت: What terrifies an army is usually one thing, and it usually has a weak point somebody has</a:t>
            </a:r>
          </a:p>
          <a:p>
            <a:endParaRPr/>
          </a:p>
          <a:p>
            <a:r>
              <a:t>Source: البدایہ والنہایہ ج۷ ص۱۳۹</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QMA/E-Q14 · A wind, a mule, and the end of رستم</a:t>
            </a:r>
          </a:p>
          <a:p>
            <a:r>
              <a:t>Tier: CORE   When: past noon on the fourth day `[SOURCED]`</a:t>
            </a:r>
          </a:p>
          <a:p>
            <a:endParaRPr/>
          </a:p>
          <a:p>
            <a:r>
              <a:t>Past noon on the fourth day the Persian centre opened. A violent wind got up, tore the canopy off Rustam's throne and carried it into the water. He got down from the throne and went to shelter in the shade of a baggage mule. A Muslim named Hilāl cut the ropes of the load above him — not knowing he was there — and a pannier came down on him and broke his back. He made for the river and threw himself in; Hilāl went in after him, dragged him out by the legs and killed him, then climbed onto the empty throne and shouted. The Persian centre broke. Thirty thousand chained infantry could not run, and did not survive.</a:t>
            </a:r>
          </a:p>
          <a:p>
            <a:endParaRPr/>
          </a:p>
          <a:p>
            <a:r>
              <a:t>MAP: the Persian centre</a:t>
            </a:r>
          </a:p>
          <a:p>
            <a:endParaRPr/>
          </a:p>
          <a:p>
            <a:r>
              <a:t>عبرت: Empires do not usually fall to a plan; they fall on the day their weight finally shifts.</a:t>
            </a:r>
          </a:p>
          <a:p>
            <a:endParaRPr/>
          </a:p>
          <a:p>
            <a:r>
              <a:t>Source: الکامل فی التاریخ ج۲ ص۳۱۳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QMA/E-Q15 · أبو مِحْجَن ؓ comes back to his chains</a:t>
            </a:r>
          </a:p>
          <a:p>
            <a:r>
              <a:t>Tier: GOOD   When: during the four days `[SOURCED]`</a:t>
            </a:r>
          </a:p>
          <a:p>
            <a:endParaRPr/>
          </a:p>
          <a:p>
            <a:r>
              <a:t>There was a man in irons inside Saʿd's own fort, under punishment. From where he sat he could hear the fighting. He asked the woman of the household to strike off his fetters and lend him the commander's horse, and he swore to her that at the end of the day he would come back and put his own leg back in the shackle. She did it. He fought all day. Saʿd watched from the roof and half-recognised his own horse and could not make sense of it, because the man was supposed to be in chains. At dusk the man came back, put his foot in the iron, and sat down. Saʿd came down, found his horse wet with sweat, asked what had happened, and was told. He forgave him and set him free.</a:t>
            </a:r>
          </a:p>
          <a:p>
            <a:endParaRPr/>
          </a:p>
          <a:p>
            <a:r>
              <a:t>MAP: none — inside the fort.</a:t>
            </a:r>
          </a:p>
          <a:p>
            <a:endParaRPr/>
          </a:p>
          <a:p>
            <a:r>
              <a:t>عبرت: A man under punishment is still a man who can keep his word — and a community that</a:t>
            </a:r>
          </a:p>
          <a:p>
            <a:endParaRPr/>
          </a:p>
          <a:p>
            <a:r>
              <a:t>Source: الکامل فی التاریخ ج۲ ص۳۰۹</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QMA/E-Q16 · The caliph on foot under the messenger's camel</a:t>
            </a:r>
          </a:p>
          <a:p>
            <a:r>
              <a:t>Tier: CORE   When: after القادسية `[SOURCED]`</a:t>
            </a:r>
          </a:p>
          <a:p>
            <a:endParaRPr/>
          </a:p>
          <a:p>
            <a:r>
              <a:t>عمر ؓ could not wait for the news. He questioned every rider he met, and he took to walking out of Medina up the Iraq road to breathe in whatever word was coming. One day he saw a rider in the distance and went to meet him. The man told him: God has given the Muslims victory at al-Qādisiyya — and went on talking. He had no idea who he was talking to. The caliph walked the rest of the way on foot, beneath the man's mount, listening. Near the town people began greeting ʿUmar by his title. The rider understood, and was mortified.</a:t>
            </a:r>
          </a:p>
          <a:p>
            <a:endParaRPr/>
          </a:p>
          <a:p>
            <a:r>
              <a:t>MAP: the road from العراق to المدینہ;</a:t>
            </a:r>
          </a:p>
          <a:p>
            <a:endParaRPr/>
          </a:p>
          <a:p>
            <a:r>
              <a:t>عبرت: Authority that has to be announced to be felt is not yet authority.</a:t>
            </a:r>
          </a:p>
          <a:p>
            <a:endParaRPr/>
          </a:p>
          <a:p>
            <a:r>
              <a:t>HANDS UP: "If you had just conquered Persia, how would you expect the news to be received at</a:t>
            </a:r>
          </a:p>
          <a:p>
            <a:endParaRPr/>
          </a:p>
          <a:p>
            <a:r>
              <a:t>Source: البدایہ والنہایہ ج۷ ص۱۴۰</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QMA/E-Q17 · «أتخافون من هذه النطفة؟» — crossing the Tigris</a:t>
            </a:r>
          </a:p>
          <a:p>
            <a:r>
              <a:t>Tier: CORE   When: صفر ۱۶ھ `[SOURCED]`</a:t>
            </a:r>
          </a:p>
          <a:p>
            <a:endParaRPr/>
          </a:p>
          <a:p>
            <a:r>
              <a:t>The Persians had taken every boat across with them. The Tigris was in flood, black and foaming, and word came that the king was three days from carrying the treasury away. Saʿd preached on the bank and said he had resolved to cross the water, and the army answered as one: may God resolve us and you on right guidance — do it. Sixty men went first, then six hundred. One of them looked at the flood and asked the rest a question, then recited a verse and put his horse in. The Persians on the far bank watched men floating on the surface of the river and shouted that they were madmen. Not one man was lost. One cup went into the water and washed up on the bank they were making for.</a:t>
            </a:r>
          </a:p>
          <a:p>
            <a:endParaRPr/>
          </a:p>
          <a:p>
            <a:r>
              <a:t>MAP: the Tigris; **بَهُرَسِير** on the west</a:t>
            </a:r>
          </a:p>
          <a:p>
            <a:endParaRPr/>
          </a:p>
          <a:p>
            <a:r>
              <a:t>عبرت: Fear measures the obstacle; faith measures the One who appointed the term.</a:t>
            </a:r>
          </a:p>
          <a:p>
            <a:endParaRPr/>
          </a:p>
          <a:p>
            <a:r>
              <a:t>HANDS UP: "Would you have gone in?"</a:t>
            </a:r>
          </a:p>
          <a:p>
            <a:endParaRPr/>
          </a:p>
          <a:p>
            <a:r>
              <a:t>Source: البدایہ والنہایہ ج۷ ص۱۷۰</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QMA/E-Q18 · Eight rakʿas in the Īwān of Chosroes</a:t>
            </a:r>
          </a:p>
          <a:p>
            <a:r>
              <a:t>Tier: CORE   When: صفر ۱۶ھ `[SOURCED]`</a:t>
            </a:r>
          </a:p>
          <a:p>
            <a:endParaRPr/>
          </a:p>
          <a:p>
            <a:r>
              <a:t>They came out of the water and rode into the capital, and there was nobody in it. The king had taken his family and what he could carry and gone. The White Palace held out three days and then came down; سلمان الفارسي ؓ made the summons, as he had at Bahurasīr. Saʿd took the great audience-hall of the Persian kings as a place of prayer. Ibn al-Athīr adds that he did not even alter the images in it. When he entered he recited four verses of Sūrat ad-Dukhān, walked to the front of the hall, and prayed the prayer of the conquest — eight rakʿas. The first Friday prayer ever held in Iraq was prayed there, in Ṣafar of the year sixteen.</a:t>
            </a:r>
          </a:p>
          <a:p>
            <a:endParaRPr/>
          </a:p>
          <a:p>
            <a:r>
              <a:t>MAP: **المدائن** taken; the first Jumuʿa marker</a:t>
            </a:r>
          </a:p>
          <a:p>
            <a:endParaRPr/>
          </a:p>
          <a:p>
            <a:r>
              <a:t>عبرت: The verse was revealed about Pharaoh's people; a man standing in an emperor's hall read it</a:t>
            </a:r>
          </a:p>
          <a:p>
            <a:endParaRPr/>
          </a:p>
          <a:p>
            <a:r>
              <a:t>Source: البدایہ والنہایہ ج۷ ص۱۷۱</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QMA/E-Q19 · The carpet, and «إِنَّكَ عَفَفْتَ فَعَفَّتِ الرَّعِيَّةُ»</a:t>
            </a:r>
          </a:p>
          <a:p>
            <a:r>
              <a:t>Tier: CORE   When: ۱۶ھ `[SOURCED]`</a:t>
            </a:r>
          </a:p>
          <a:p>
            <a:endParaRPr/>
          </a:p>
          <a:p>
            <a:r>
              <a:t>Among the spoils was a thing the Arabs called the qiṭf: one carpet, sixty cubits by sixty, that the Persian kings set out in winter when the flowers were gone so that they could sit as if in a garden. Its leaves were silk on rods of gold; its blossom was gold and silver; its fruit was jewels. It could not be divided into fifths, so Saʿd asked the army to give up their share and let it go whole to Medina, and they agreed. When the regalia of Chosroes was laid in front of ʿUmar, he said that a people who handed this over were trustworthy indeed — and ʿAlī ؓ told him why they had. Then ʿUmar asked for advice about the carpet, and ʿAlī ؓ told him that a man owns nothing of this world but what he has given away, or worn out, or eaten. So ʿUmar cut it up and divided it. A piece fell to ʿAlī ؓ, and he sold it for twenty thousand.</a:t>
            </a:r>
          </a:p>
          <a:p>
            <a:endParaRPr/>
          </a:p>
          <a:p>
            <a:r>
              <a:t>MAP: the fifth travels from **المدائن** to</a:t>
            </a:r>
          </a:p>
          <a:p>
            <a:endParaRPr/>
          </a:p>
          <a:p>
            <a:r>
              <a:t>عبرت: The honesty of a whole administration is usually a copy of one man's habits.</a:t>
            </a:r>
          </a:p>
          <a:p>
            <a:endParaRPr/>
          </a:p>
          <a:p>
            <a:r>
              <a:t>HANDS UP: "What would you have done with a carpet like that?"</a:t>
            </a:r>
          </a:p>
          <a:p>
            <a:endParaRPr/>
          </a:p>
          <a:p>
            <a:r>
              <a:t>Source: البدایہ والنہایہ ج۷ ص۱۷۳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QMA/E-Q20 · The man who would not give his name</a:t>
            </a:r>
          </a:p>
          <a:p>
            <a:r>
              <a:t>Tier: GOOD   When: ۱۶ھ, at المدائن `[SOURCED]`</a:t>
            </a:r>
          </a:p>
          <a:p>
            <a:endParaRPr/>
          </a:p>
          <a:p>
            <a:r>
              <a:t>The treasure of the Persian kings was being carried in and written down, item by item, by an officer appointed for it. A man walked in with a casket and put it down. The officer and the men with him said they had never seen anything like it; nothing already in the store came near it. They asked him whether he had taken anything from it. He said that were it not for God he would not have brought it to them at all. They asked him who he was. He refused to say, so that they would not praise him. They sent a man after him to find out, and he turned out to be ʿĀmir ibn ʿAbd Qays. Saʿd, looking at the whole of it, said that if it were not for the standing that belongs to the men of Badr he would have said this army was above them.</a:t>
            </a:r>
          </a:p>
          <a:p>
            <a:endParaRPr/>
          </a:p>
          <a:p>
            <a:r>
              <a:t>MAP: none — the spoils tent.</a:t>
            </a:r>
          </a:p>
          <a:p>
            <a:endParaRPr/>
          </a:p>
          <a:p>
            <a:r>
              <a:t>عبرت: The deeds that hold a community together are mostly the ones nobody was meant to find out</a:t>
            </a:r>
          </a:p>
          <a:p>
            <a:endParaRPr/>
          </a:p>
          <a:p>
            <a:r>
              <a:t>Source: الکامل فی التاریخ ج۲ ص۳۴۳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QMA/E-Q21 · جَلولاء — the charge of one man</a:t>
            </a:r>
          </a:p>
          <a:p>
            <a:r>
              <a:t>Tier: GOOD   When: صفر ۱۶ھ `[SOURCED]`</a:t>
            </a:r>
          </a:p>
          <a:p>
            <a:endParaRPr/>
          </a:p>
          <a:p>
            <a:r>
              <a:t>The king fell back to Ḥulwān and left an army dug in behind a ditch at Jalūlāʾ, ringed with iron caltrops. They swore by fire that they would not run until the Arabs were finished. ʿUmar ordered Saʿd to stay at al-Madāʾin and send his nephew Hāshim ibn ʿUtba with about twelve thousand, al-Qaʿqāʿ ibn ʿAmr on the vanguard. On the last day they fought from morning until the arrows were gone on both sides and the spears were shattered, prayed the noon prayer by gesture because they could not stop, and then a fresh Persian division came up against a spent Muslim line. Al-Qaʿqāʿ asked his men whether what they had seen had broken them. They said: we are worn out and they are fresh. Then, in the dark, he took a body of horsemen straight through to the gate of the enemy's own ditch and held it, and had a crier tell the army where he was.</a:t>
            </a:r>
          </a:p>
          <a:p>
            <a:endParaRPr/>
          </a:p>
          <a:p>
            <a:r>
              <a:t>MAP: **جلولاء** north-east of المدائن;</a:t>
            </a:r>
          </a:p>
          <a:p>
            <a:endParaRPr/>
          </a:p>
          <a:p>
            <a:r>
              <a:t>عبرت: The difference between an exhausted army and a beaten one is usually one man who has not</a:t>
            </a:r>
          </a:p>
          <a:p>
            <a:endParaRPr/>
          </a:p>
          <a:p>
            <a:r>
              <a:t>Source: البدایہ والنہایہ ج۷ ص۱۷۶</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QMA/E-Q22 · Why الكوفة and البصرة exist</a:t>
            </a:r>
          </a:p>
          <a:p>
            <a:r>
              <a:t>Tier: CORE   When: المحرم ۱۷ھ (الكوفة); ۱۴ or ۱۶ھ (البصرة — disputed) `[SOURCED]`</a:t>
            </a:r>
          </a:p>
          <a:p>
            <a:endParaRPr/>
          </a:p>
          <a:p>
            <a:r>
              <a:t>After the conquest the army stayed at al-Madāʾin, and it began to sicken. A delegation came to ʿUmar and he asked them why their colour had changed. They said the country did not agree with them. Saʿd wrote the same: nothing suits the Arabs but land that suits their camels. So ʿUmar sent back an order with a condition in it that explains both cities at once — find a place with dry ground and water, and with no sea and no bridge between me and you. Salmān and Ḥudhayfa went out and found a stretch of red sand and gravel with three monasteries on it, prayed there, and sent word. The mosque was laid out first. An archer stood in the middle of it and shot an arrow to each of the four sides, and nothing was built inside where the arrows fell.</a:t>
            </a:r>
          </a:p>
          <a:p>
            <a:endParaRPr/>
          </a:p>
          <a:p>
            <a:r>
              <a:t>MAP: two new city markers, **الكوفة** west of the Euphrates and **البصرة** to the south — the</a:t>
            </a:r>
          </a:p>
          <a:p>
            <a:endParaRPr/>
          </a:p>
          <a:p>
            <a:r>
              <a:t>عبرت: A conquest that does not think about how the conquerors will live has not finished</a:t>
            </a:r>
          </a:p>
          <a:p>
            <a:endParaRPr/>
          </a:p>
          <a:p>
            <a:r>
              <a:t>HANDS UP: "Where would you have put the new city?"</a:t>
            </a:r>
          </a:p>
          <a:p>
            <a:endParaRPr/>
          </a:p>
          <a:p>
            <a:r>
              <a:t>Source: الکامل فی التاریخ ج۲ ص۳۵۲</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QMA/E-Q23 · «فَلَيْسَ بِقَصْرِكَ وَلَكِنَّهُ قَصْرُ الْخَبَالِ»</a:t>
            </a:r>
          </a:p>
          <a:p>
            <a:r>
              <a:t>Tier: CORE   When: ۱۷ھ `[SOURCED]`</a:t>
            </a:r>
          </a:p>
          <a:p>
            <a:endParaRPr/>
          </a:p>
          <a:p>
            <a:r>
              <a:t>Saʿd built himself a house next to the mosque, with the treasury behind it. The markets were loud, and he was heard to say "quiet that little noise" — and people had started calling the building Saʿd's palace. Word reached Medina. ʿUmar sent Muhammad ibn Maslama with a single instruction: when you get to Kufa, strike your flint, gather firewood, burn the gate of that palace, and come straight back. He did it. He would not go in when Saʿd sent for him, so Saʿd came out to him; he refused the money he was offered; and he handed over the letter. Saʿd swore he had never said the words people were reporting — and ʿUmar believed him. He governed Kufa three and a half more years, and when ʿUmar removed him, Ibn Kathīr says plainly it was for no incapacity and no breach of trust.</a:t>
            </a:r>
          </a:p>
          <a:p>
            <a:endParaRPr/>
          </a:p>
          <a:p>
            <a:r>
              <a:t>MAP: the الكوفة inset; the governor's house beside</a:t>
            </a:r>
          </a:p>
          <a:p>
            <a:endParaRPr/>
          </a:p>
          <a:p>
            <a:r>
              <a:t>عبرت: A door between a governor and the people is the first thing that has to be burnt, even</a:t>
            </a:r>
          </a:p>
          <a:p>
            <a:endParaRPr/>
          </a:p>
          <a:p>
            <a:r>
              <a:t>Source: الکامل فی التاریخ ج۲ ص۳۵۴</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QMA/E-Q24 · «أنا أشرفهم» — the load of earth</a:t>
            </a:r>
          </a:p>
          <a:p>
            <a:r>
              <a:t>Tier: GOOD   When: before the battle, at المدائن `[SOURCED]`</a:t>
            </a:r>
          </a:p>
          <a:p>
            <a:endParaRPr/>
          </a:p>
          <a:p>
            <a:r>
              <a:t>When the king had finished with the delegation he called for a load of earth, to be put on the neck of their noblest man and driven out of the city as an insult. He asked: who is the noblest of you? They were silent. ʿĀṣim ibn ʿAmr claimed — falsely — that he was, so that he could be the one to carry it, and they let him. He carried it out on his neck, loaded it on his mount, and rode. Rustam, when the king told him, understood at once what had been done and sent a rider to get the earth back. He was too late. ʿĀṣim reached Saʿd first, and Saʿd read it the same way.</a:t>
            </a:r>
          </a:p>
          <a:p>
            <a:endParaRPr/>
          </a:p>
          <a:p>
            <a:r>
              <a:t>MAP: the delegation's line</a:t>
            </a:r>
          </a:p>
          <a:p>
            <a:endParaRPr/>
          </a:p>
          <a:p>
            <a:r>
              <a:t>عبرت: A humiliation only lands where somebody agrees to be humiliated.</a:t>
            </a:r>
          </a:p>
          <a:p>
            <a:endParaRPr/>
          </a:p>
          <a:p>
            <a:r>
              <a:t>Source: البدایہ والنہایہ ج۷ ص۱۳۸</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QMA/E-Q25 · «كانوا يُدَوُّون بالقرآن … كدويّ النَّحْل»</a:t>
            </a:r>
          </a:p>
          <a:p>
            <a:r>
              <a:t>Tier: GOOD   When: after القادسية `[SOURCED]`</a:t>
            </a:r>
          </a:p>
          <a:p>
            <a:endParaRPr/>
          </a:p>
          <a:p>
            <a:r>
              <a:t>Saʿd wrote his dispatch to Medina and had it carried by hand. He reported the victory, the length of the fighting, the size of the force that had come against them. Then he listed the dead he could name — and stopped, because he could not name the rest. What he wrote about them instead is the reason the letter survives. ʿUmar read it out to the people from the pulpit, and then spoke about himself: he was not a king, that he should own them; he was a servant of God who had been offered a trust.</a:t>
            </a:r>
          </a:p>
          <a:p>
            <a:endParaRPr/>
          </a:p>
          <a:p>
            <a:r>
              <a:t>MAP: none — statement slide, pairs with</a:t>
            </a:r>
          </a:p>
          <a:p>
            <a:endParaRPr/>
          </a:p>
          <a:p>
            <a:r>
              <a:t>عبرت: The ones who decided it are almost always the ones nobody wrote down.</a:t>
            </a:r>
          </a:p>
          <a:p>
            <a:endParaRPr/>
          </a:p>
          <a:p>
            <a:r>
              <a:t>Source: البدایہ والنہایہ ج۷ ص۱۴۳</a:t>
            </a:r>
          </a:p>
          <a:p>
            <a:endParaRPr/>
          </a:p>
          <a:p>
            <a:r>
              <a:t>From: القادسية, the embassy to رستم, and المدائن</a:t>
            </a:r>
          </a:p>
        </p:txBody>
      </p:sp>
      <p:sp>
        <p:nvSpPr>
          <p:cNvPr id="4" name="Slide Number Placeholder 3"/>
          <p:cNvSpPr>
            <a:spLocks noGrp="1"/>
          </p:cNvSpPr>
          <p:nvPr>
            <p:ph type="sldNum" sz="quarter" idx="5"/>
          </p:nvPr>
        </p:nvSpPr>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 · The condition the city set</a:t>
            </a:r>
          </a:p>
          <a:p>
            <a:r>
              <a:t>Tier: CORE   When: 15 or 16 AH `[SOURCED]` — البدایہ ج۷ ص۱۵۷–۱۵۸ and الکامل ج۲ ص۳۲۹ for 15,</a:t>
            </a:r>
          </a:p>
          <a:p>
            <a:endParaRPr/>
          </a:p>
          <a:p>
            <a:r>
              <a:t>أبو عبيدة بن الجراح ؓ finished at دمشق, left سعيد بن زيد ؓ in charge there, and rode south. He wrote to the people of إيلياء first — Islam, or the جزية, or notice of war. They refused all three. So he besieged the city and pressed it hard. In the end they agreed to terms. But they attached one condition. They would surrender, and they would pay — to the Commander of the Believers, in person, and to nobody else. أبو عبيدة ؓ wrote to المدینہ.</a:t>
            </a:r>
          </a:p>
          <a:p>
            <a:endParaRPr/>
          </a:p>
          <a:p>
            <a:r>
              <a:t>MAP: دمشق already</a:t>
            </a:r>
          </a:p>
          <a:p>
            <a:endParaRPr/>
          </a:p>
          <a:p>
            <a:r>
              <a:t>عبرت: A city that had refused an army's terms would accept one man's word — which tells you what</a:t>
            </a:r>
          </a:p>
          <a:p>
            <a:endParaRPr/>
          </a:p>
          <a:p>
            <a:r>
              <a:t>HANDS UP: Ask before telling: *"They were losing. They could name one condition. What would you</a:t>
            </a:r>
          </a:p>
          <a:p>
            <a:endParaRPr/>
          </a:p>
          <a:p>
            <a:r>
              <a:t>Source: البدایہ والنہایہ ج۷ ص۱۵۷</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BAM/E-Q2 · Two Companions, two opinions, one decision</a:t>
            </a:r>
          </a:p>
          <a:p>
            <a:r>
              <a:t>Tier: CORE   When: immediately after E-Q1 `[SOURCED]`</a:t>
            </a:r>
          </a:p>
          <a:p>
            <a:endParaRPr/>
          </a:p>
          <a:p>
            <a:r>
              <a:t>عمر ؓ did not decide alone. He put the letter to the people of المدینہ. عثمان بن عفان ؓ said: do not go. Let them come to us. It humbles them more. علي بن أبي طالب ؓ said: go. Our men are tied down outside those walls, and going will lift the siege off them sooner. عمر ؓ liked علي ؓ's answer and did not like عثمان ؓ's. He left علي ؓ himself in charge of المدینہ, put العباس بن عبد المطلب ؓ at the head of the column, and rode out.</a:t>
            </a:r>
          </a:p>
          <a:p>
            <a:endParaRPr/>
          </a:p>
          <a:p>
            <a:r>
              <a:t>MAP: المدینہ lights up; a line is</a:t>
            </a:r>
          </a:p>
          <a:p>
            <a:endParaRPr/>
          </a:p>
          <a:p>
            <a:r>
              <a:t>عبرت: Two of the best of them read the same letter and reached opposite conclusions — and</a:t>
            </a:r>
          </a:p>
          <a:p>
            <a:endParaRPr/>
          </a:p>
          <a:p>
            <a:r>
              <a:t>HANDS UP: no. *(Delivery note: this is the model of a Companion disagreement being ordinary</a:t>
            </a:r>
          </a:p>
          <a:p>
            <a:endParaRPr/>
          </a:p>
          <a:p>
            <a:r>
              <a:t>Source: البدایہ والنہایہ ج۷ ص۱۵۷</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BAM/E-Q3 · The stones at الجابية</a:t>
            </a:r>
          </a:p>
          <a:p>
            <a:r>
              <a:t>Tier: CORE   When: on arrival in الشام `[SOURCED]`</a:t>
            </a:r>
          </a:p>
          <a:p>
            <a:endParaRPr/>
          </a:p>
          <a:p>
            <a:r>
              <a:t>The commanders rode out to meet the caliph. Two years earlier these had been hungry men. They came in brocade and silk, on horses — يزيد بن أبي سفيان ؓ first, then أبو عبيدة ؓ, then خالد بن الوليد ؓ. عمر ؓ got down off his mount, picked up stones off the ground, and threw them at them. Then they explained: the silk is only the outer coat; the armour is underneath, and we need it. He accepted that at once and said nothing more about it.</a:t>
            </a:r>
          </a:p>
          <a:p>
            <a:endParaRPr/>
          </a:p>
          <a:p>
            <a:r>
              <a:t>MAP: the pin moves to الجابية in</a:t>
            </a:r>
          </a:p>
          <a:p>
            <a:endParaRPr/>
          </a:p>
          <a:p>
            <a:r>
              <a:t>عبرت: He was not angry at silk; he was angry at how fast comfort had arrived after hunger — and</a:t>
            </a:r>
          </a:p>
          <a:p>
            <a:endParaRPr/>
          </a:p>
          <a:p>
            <a:r>
              <a:t>HANDS UP: Ask: *"Two years earlier these men were hungry. What is the danger he saw?"*</a:t>
            </a:r>
          </a:p>
          <a:p>
            <a:endParaRPr/>
          </a:p>
          <a:p>
            <a:r>
              <a:t>Source: الکامل فی التاریخ ج۲ ص۳۳۰</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BAM/E-Q4 · The ford</a:t>
            </a:r>
          </a:p>
          <a:p>
            <a:r>
              <a:t>Tier: CORE   When: on the road in الشام `[SOURCED]`</a:t>
            </a:r>
          </a:p>
          <a:p>
            <a:endParaRPr/>
          </a:p>
          <a:p>
            <a:r>
              <a:t>A water crossing lay in his path. He got down off the camel. He pulled off his shoes and held them in one hand, and walked into the water leading the animal behind him. أبو عبيدة بن الجراح ؓ — his own commander in الشام — was watching, and it embarrassed him. *You have done a great thing today in front of the people of this country*, he said. عمر ؓ struck him on the chest.</a:t>
            </a:r>
          </a:p>
          <a:p>
            <a:endParaRPr/>
          </a:p>
          <a:p>
            <a:r>
              <a:t>MAP: no change — the pin is on the</a:t>
            </a:r>
          </a:p>
          <a:p>
            <a:endParaRPr/>
          </a:p>
          <a:p>
            <a:r>
              <a:t>عبرت: He was not being modest in front of the Romans; he was refusing to let his own men start</a:t>
            </a:r>
          </a:p>
          <a:p>
            <a:endParaRPr/>
          </a:p>
          <a:p>
            <a:r>
              <a:t>HANDS UP: no. *(This is the still point of the evening. Let the sentence land and stop talking.)*</a:t>
            </a:r>
          </a:p>
          <a:p>
            <a:endParaRPr/>
          </a:p>
          <a:p>
            <a:r>
              <a:t>Source: البدایہ والنہایہ ج۷ ص۱۶۳</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BAM/E-Q5 · The linen shirt, and the horse he called the devil</a:t>
            </a:r>
          </a:p>
          <a:p>
            <a:r>
              <a:t>Tier: CORE   When: at الجابية `[SOURCED]`</a:t>
            </a:r>
          </a:p>
          <a:p>
            <a:endParaRPr/>
          </a:p>
          <a:p>
            <a:r>
              <a:t>His shirt was worn through and split at the side. He sent for the local headman and asked for it to be washed and stitched, and for something to wear meanwhile. They brought a linen shirt. He asked what the cloth was. They told him it was linen. He asked what linen was. When his own shirt came back washed and patched he took theirs off and put his back on. Then the headman made a suggestion: better clothes and a better horse, *because it would look greater in the eyes of the Romans*. They brought a برذون with a blanket over it, no saddle. He rode a few paces and stopped it.</a:t>
            </a:r>
          </a:p>
          <a:p>
            <a:endParaRPr/>
          </a:p>
          <a:p>
            <a:r>
              <a:t>MAP: no change.</a:t>
            </a:r>
          </a:p>
          <a:p>
            <a:endParaRPr/>
          </a:p>
          <a:p>
            <a:r>
              <a:t>عبرت: The advice was not malicious — it was practical, and it was about appearances; that is</a:t>
            </a:r>
          </a:p>
          <a:p>
            <a:endParaRPr/>
          </a:p>
          <a:p>
            <a:r>
              <a:t>HANDS UP: Ask: *"What did the headman actually want him to do? And was it bad advice?"*</a:t>
            </a:r>
          </a:p>
          <a:p>
            <a:endParaRPr/>
          </a:p>
          <a:p>
            <a:r>
              <a:t>Source: البدایہ والنہایہ ج۷ ص۱۶۳</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BAM/E-Q6 · What he arrived on</a:t>
            </a:r>
          </a:p>
          <a:p>
            <a:r>
              <a:t>Tier: GOOD   When: at الجابية `[SOURCED]`</a:t>
            </a:r>
          </a:p>
          <a:p>
            <a:endParaRPr/>
          </a:p>
          <a:p>
            <a:r>
              <a:t>An eyewitness described him coming in. An ash-grey camel. No turban, no cap — his bald head bare in the sun. His legs swinging loose between the forks of the saddle, no stirrups. A rough woollen wrap that served as his seat when he rode and his bed when he stopped. A saddlebag stuffed with palm fibre that was his pillow when he stopped. And a coarse cotton shirt worn to nothing and torn at the side.</a:t>
            </a:r>
          </a:p>
          <a:p>
            <a:endParaRPr/>
          </a:p>
          <a:p>
            <a:r>
              <a:t>MAP: no change; this is the portrait slide.</a:t>
            </a:r>
          </a:p>
          <a:p>
            <a:endParaRPr/>
          </a:p>
          <a:p>
            <a:r>
              <a:t>عبرت: Nothing about this was arranged for the occasion — الذہبی records that he dressed this way</a:t>
            </a:r>
          </a:p>
          <a:p>
            <a:endParaRPr/>
          </a:p>
          <a:p>
            <a:r>
              <a:t>Source: البدایہ والنہایہ ج۷ ص۱۶۲</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BAM/E-Q7 · The covenant of إيلياء</a:t>
            </a:r>
          </a:p>
          <a:p>
            <a:r>
              <a:t>Tier: CORE   When: written at الجابية; the document says 15 AH `[SOURCED]`</a:t>
            </a:r>
          </a:p>
          <a:p>
            <a:endParaRPr/>
          </a:p>
          <a:p>
            <a:r>
              <a:t>While عمر ؓ was still at الجابية, a squadron of Roman horsemen appeared with drawn swords. The Muslims reached for their weapons. عمر ؓ stopped them: these men are coming for terms, not for a fight. They were the delegation from بيت المقدس. He granted what they asked, fixed the جزية, and had the document written out. معاوية بن أبي سفيان ؓ held the pen. خالد بن الوليد ؓ, عمرو بن العاص ؓ and عبد الرحمن بن عوف ؓ signed as witnesses. The Romans in the city had three days to leave.</a:t>
            </a:r>
          </a:p>
          <a:p>
            <a:endParaRPr/>
          </a:p>
          <a:p>
            <a:r>
              <a:t>MAP: the</a:t>
            </a:r>
          </a:p>
          <a:p>
            <a:endParaRPr/>
          </a:p>
          <a:p>
            <a:r>
              <a:t>عبرت: The four names at the bottom of that page are the reason it is a public act of the state</a:t>
            </a:r>
          </a:p>
          <a:p>
            <a:endParaRPr/>
          </a:p>
          <a:p>
            <a:r>
              <a:t>Source: البدایہ والنہایہ ج۷ ص۱۵۸</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BAM/E-Q8 · "Where do you think I should pray?"</a:t>
            </a:r>
          </a:p>
          <a:p>
            <a:r>
              <a:t>Tier: CORE   When: on entering the sanctuary `[SOURCED]`</a:t>
            </a:r>
          </a:p>
          <a:p>
            <a:endParaRPr/>
          </a:p>
          <a:p>
            <a:r>
              <a:t>Inside, عمر ؓ turned to كعب الأحبار — the man who had shown him where the Rock lay in the first place. *Where do you think I should pray?* كعب's answer was reasonable: pray behind the Rock, and the whole of القدس lies in front of you. عمر ؓ refused it in one sentence, and then went forward to the qiblah and prayed. The mosque was built at the southern end, in front — not behind the Rock. ابن کثیر, who is careful about such things, examined the chain of this report and called it good.</a:t>
            </a:r>
          </a:p>
          <a:p>
            <a:endParaRPr/>
          </a:p>
          <a:p>
            <a:r>
              <a:t>MAP: the pin moves inside the</a:t>
            </a:r>
          </a:p>
          <a:p>
            <a:endParaRPr/>
          </a:p>
          <a:p>
            <a:r>
              <a:t>عبرت: The city was his that morning and the advice came from an expert — and it still did not</a:t>
            </a:r>
          </a:p>
          <a:p>
            <a:endParaRPr/>
          </a:p>
          <a:p>
            <a:r>
              <a:t>HANDS UP: Ask: *"He has just taken the city. Whose practice does he look to?"*</a:t>
            </a:r>
          </a:p>
          <a:p>
            <a:endParaRPr/>
          </a:p>
          <a:p>
            <a:r>
              <a:t>Source: البدایہ والنہایہ ج۷ ص۱۶۱</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BAM/E-Q9 · Sweeping the Rock</a:t>
            </a:r>
          </a:p>
          <a:p>
            <a:r>
              <a:t>Tier: CORE   When: the same day `[SOURCED]`</a:t>
            </a:r>
          </a:p>
          <a:p>
            <a:endParaRPr/>
          </a:p>
          <a:p>
            <a:r>
              <a:t>The Rock was under a rubbish tip. ابن کثیر explains why: the Byzantines had dumped refuse on it because it was the Jews' qiblah, in requital for something older still. هرقل had seen it himself — he was at إيلياء when the Prophet's ﷺ letter reached him — and he told the Christians they deserved to be killed for degrading a sanctuary that way, and ordered it cleared. But less than a third had been moved when the Muslims arrived. عمر ؓ finished the job. He spread out his own cloak, swept the rubbish into it with his hands, and carried it off. The people saw the caliph doing it and swept with him. The rest was carried away by the people of الأردن.</a:t>
            </a:r>
          </a:p>
          <a:p>
            <a:endParaRPr/>
          </a:p>
          <a:p>
            <a:r>
              <a:t>MAP: the Rock is marked and cleared.</a:t>
            </a:r>
          </a:p>
          <a:p>
            <a:endParaRPr/>
          </a:p>
          <a:p>
            <a:r>
              <a:t>عبرت: He did not order the place cleaned; he cleaned it, and then there was no one left who</a:t>
            </a:r>
          </a:p>
          <a:p>
            <a:endParaRPr/>
          </a:p>
          <a:p>
            <a:r>
              <a:t>Source: البدایہ والنہایہ ج۷ ص۱۶۱</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BAM/E-Q10 · The gate, and the two prayers</a:t>
            </a:r>
          </a:p>
          <a:p>
            <a:r>
              <a:t>Tier: GOOD   When: the entry and the following dawn `[SOURCED]`</a:t>
            </a:r>
          </a:p>
          <a:p>
            <a:endParaRPr/>
          </a:p>
          <a:p>
            <a:r>
              <a:t>He entered the sanctuary by the same gate the Prophet ﷺ had entered on the night of الإسراء. It is said he made the talbiyah as he came in. He prayed the greeting of the mosque at the miḥrāb of داود. And the next morning he led the dawn prayer there: سورة ص in the first rakʿah, with the prostration in it, and the whole congregation went down with him; and سورة بني إسرائيل — the sūrah that opens with الإسراء — in the second.</a:t>
            </a:r>
          </a:p>
          <a:p>
            <a:endParaRPr/>
          </a:p>
          <a:p>
            <a:r>
              <a:t>MAP: mark the gate and</a:t>
            </a:r>
          </a:p>
          <a:p>
            <a:endParaRPr/>
          </a:p>
          <a:p>
            <a:r>
              <a:t>عبرت: He chose the two sūrahs the place itself would have chosen — and that is the whole of what</a:t>
            </a:r>
          </a:p>
          <a:p>
            <a:endParaRPr/>
          </a:p>
          <a:p>
            <a:r>
              <a:t>HANDS UP: Ask: *"Of all the sūrahs — why that one, in that mosque?"*</a:t>
            </a:r>
          </a:p>
          <a:p>
            <a:endParaRPr/>
          </a:p>
          <a:p>
            <a:r>
              <a:t>Source: البدایہ والنہایہ ج۷ ص۱۵۷</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BAM/E-Q11 · The sermon at الجابية</a:t>
            </a:r>
          </a:p>
          <a:p>
            <a:r>
              <a:t>Tier: GOOD   When: at الجابية, before the surrender `[SOURCED]`</a:t>
            </a:r>
          </a:p>
          <a:p>
            <a:endParaRPr/>
          </a:p>
          <a:p>
            <a:r>
              <a:t>Before any of it — before the delegation, before the document — he stood up at الجابية and preached. ابن کثیر gives an abridgement and says openly that he has abridged it; the full chains, he says, are in his own مسند عمر. الذہبی calls the sermon famous and mass-transmitted.</a:t>
            </a:r>
          </a:p>
          <a:p>
            <a:endParaRPr/>
          </a:p>
          <a:p>
            <a:r>
              <a:t>MAP: no change.</a:t>
            </a:r>
          </a:p>
          <a:p>
            <a:endParaRPr/>
          </a:p>
          <a:p>
            <a:r>
              <a:t>عبرت: The first thing he said on that ground was that no one there had a claim on Allah by</a:t>
            </a:r>
          </a:p>
          <a:p>
            <a:endParaRPr/>
          </a:p>
          <a:p>
            <a:r>
              <a:t>Source: البدایہ والنہایہ ج۷ ص۱۵۸</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BAM/E-Q12 · أبو عبيدة ؓ and the caliph, each refusing to be honoured</a:t>
            </a:r>
          </a:p>
          <a:p>
            <a:r>
              <a:t>Tier: GOOD   When: the meeting in الشام `[SOURCED]`</a:t>
            </a:r>
          </a:p>
          <a:p>
            <a:endParaRPr/>
          </a:p>
          <a:p>
            <a:r>
              <a:t>When عمر ؓ reached الشام, أبو عبيدة ؓ came out to him with the senior commanders — خالد بن الوليد ؓ, يزيد بن أبي سفيان ؓ. أبو عبيدة ؓ got down off his mount. عمر ؓ got down off his. أبو عبيدة ؓ moved to kiss the caliph's hand; عمر ؓ moved to kiss أبو عبيدة ؓ's foot. Each stopped. Later, when عمرو بن العاص ؓ and شرحبيل بن حسنة ؓ finally arrived from أجنادين, they found him mounted, threw themselves on his knees and kissed them — and he took them both in his arms.</a:t>
            </a:r>
          </a:p>
          <a:p>
            <a:endParaRPr/>
          </a:p>
          <a:p>
            <a:r>
              <a:t>MAP: no change.</a:t>
            </a:r>
          </a:p>
          <a:p>
            <a:endParaRPr/>
          </a:p>
          <a:p>
            <a:r>
              <a:t>عبرت: Neither of them would be the one honoured, and both of them stopped short — which is what</a:t>
            </a:r>
          </a:p>
          <a:p>
            <a:endParaRPr/>
          </a:p>
          <a:p>
            <a:r>
              <a:t>Source: البدایہ والنہایہ ج۷ ص۱۵۷</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BAM/E-Q13 · The برذون that swaggered</a:t>
            </a:r>
          </a:p>
          <a:p>
            <a:r>
              <a:t>Tier: GOOD   When: الجابية → بيت المقدس `[SOURCED]`</a:t>
            </a:r>
          </a:p>
          <a:p>
            <a:endParaRPr/>
          </a:p>
          <a:p>
            <a:r>
              <a:t>He set out from الجابية for بيت المقدس and his horse went lame. They brought him a برذون. It began to amble under him with a showy, rolling gait. He got straight down off it and struck its face. He never rode one again, before or after.</a:t>
            </a:r>
          </a:p>
          <a:p>
            <a:endParaRPr/>
          </a:p>
          <a:p>
            <a:r>
              <a:t>MAP: the line from الجابية to</a:t>
            </a:r>
          </a:p>
          <a:p>
            <a:endParaRPr/>
          </a:p>
          <a:p>
            <a:r>
              <a:t>عبرت: He would not be carried into that city by anything that looked as though it were showing</a:t>
            </a:r>
          </a:p>
          <a:p>
            <a:endParaRPr/>
          </a:p>
          <a:p>
            <a:r>
              <a:t>Source: البدایہ والنہایہ ج۷ ص۱۵۹</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BAM/E-Q14 · The man at الجابية who knew what was coming</a:t>
            </a:r>
          </a:p>
          <a:p>
            <a:r>
              <a:t>Tier: GOOD   When: at الجابية `[SOURCED]`</a:t>
            </a:r>
          </a:p>
          <a:p>
            <a:endParaRPr/>
          </a:p>
          <a:p>
            <a:r>
              <a:t>A Jewish scholar met him on the road, or at الجابية — the two accounts differ. *Peace be upon you, Fārūq. Are you the one for إيلياء? By Allah, you will not go home until Allah opens إيلياء to you.* He was at the signing when it happened. And عمر ؓ, who asked about الدجال more than he asked about most things, asked him. The man answered with a place and a distance.</a:t>
            </a:r>
          </a:p>
          <a:p>
            <a:endParaRPr/>
          </a:p>
          <a:p>
            <a:r>
              <a:t>MAP: mark لُدّ, west of the hills — a small</a:t>
            </a:r>
          </a:p>
          <a:p>
            <a:endParaRPr/>
          </a:p>
          <a:p>
            <a:r>
              <a:t>عبرت: He was standing in the country the reports were about, and he still asked, and still wrote</a:t>
            </a:r>
          </a:p>
          <a:p>
            <a:endParaRPr/>
          </a:p>
          <a:p>
            <a:r>
              <a:t>HANDS UP: no. *(Tell it as reported speech and do not build on it. It is a report at a signing,</a:t>
            </a:r>
          </a:p>
          <a:p>
            <a:endParaRPr/>
          </a:p>
          <a:p>
            <a:r>
              <a:t>Source: الکامل فی التاریخ ج۲ ص۳۳۰</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BAM/E-Q15 · The year nobody can fix</a:t>
            </a:r>
          </a:p>
          <a:p>
            <a:r>
              <a:t>Tier: GOOD   When: — `[SOURCED]`</a:t>
            </a:r>
          </a:p>
          <a:p>
            <a:endParaRPr/>
          </a:p>
          <a:p>
            <a:r>
              <a:t>Ask when بيت المقدس was taken and the books do not agree. ابن کثیر narrates the whole chapter under the year 15 and ends the covenant paragraph "and that was in the year fifteen" — then, one page later, tells you plainly that other leading authorities put it in 16. ابن الاثیر puts it in 15 and adds "and it is said: 16, in ربيع الأول". الذہبی's own annals place it in 16 — but at another page he relays الليث بن سعد, who puts إيلياء in 17. The document itself, as الطبری transmits it, is dated 15.</a:t>
            </a:r>
          </a:p>
          <a:p>
            <a:endParaRPr/>
          </a:p>
          <a:p>
            <a:r>
              <a:t>MAP: the timeline strip, with a **band** rather than a</a:t>
            </a:r>
          </a:p>
          <a:p>
            <a:endParaRPr/>
          </a:p>
          <a:p>
            <a:r>
              <a:t>عبرت: The historian wrote down the disagreement instead of hiding it — which is why we can still</a:t>
            </a:r>
          </a:p>
          <a:p>
            <a:endParaRPr/>
          </a:p>
          <a:p>
            <a:r>
              <a:t>HANDS UP: Ask: *"Two great books, and they give different years. Is that a problem?"*</a:t>
            </a:r>
          </a:p>
          <a:p>
            <a:endParaRPr/>
          </a:p>
          <a:p>
            <a:r>
              <a:t>Source: البدایہ والنہایہ ج۷ ص۱۵۹</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BAM/E-Q16 · The stories that are not in the books</a:t>
            </a:r>
          </a:p>
          <a:p>
            <a:r>
              <a:t>Tier: CUT   When: —</a:t>
            </a:r>
          </a:p>
          <a:p>
            <a:endParaRPr/>
          </a:p>
          <a:p>
            <a:r>
              <a:t>Three of the best-loved details of this event are not in ابن کثیر, not in ابن الاثیر and not in الذہبی: the Patriarch صفرونيوس handing over the keys; عمر ؓ being invited to pray inside the Church and refusing lest Muslims later turn it into a mosque; and عمر ؓ and his servant taking turns on one camel all the way from المدینہ, so that he entered the city on foot leading it while the servant rode. The first appears in no source we hold. The second traces to ابن خلدون, seven centuries later and without a chain. The third is in none of the three, nor in الطبری. What the books do carry instead — the ford, the patched shirt, the refused horse — is better, and it is sourced.</a:t>
            </a:r>
          </a:p>
          <a:p>
            <a:endParaRPr/>
          </a:p>
          <a:p>
            <a:r>
              <a:t>MAP: none.</a:t>
            </a:r>
          </a:p>
          <a:p>
            <a:endParaRPr/>
          </a:p>
          <a:p>
            <a:r>
              <a:t>عبرت: A course that will not tell you a story it cannot show you in a book is a course you can</a:t>
            </a:r>
          </a:p>
          <a:p>
            <a:endParaRPr/>
          </a:p>
          <a:p>
            <a:r>
              <a:t>HANDS UP: no. *(If a written question asks for any of the three, the answer is in `QA_BANK.md`:</a:t>
            </a:r>
          </a:p>
          <a:p>
            <a:endParaRPr/>
          </a:p>
          <a:p>
            <a:r>
              <a:t>From: بيت المقدس and the العهدة العمرية</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 · The name of the office</a:t>
            </a:r>
          </a:p>
          <a:p>
            <a:r>
              <a:t>Tier: CORE   When: 13 AH, at his accession — البدایہ ج۷ ص۱۲۰ dates it «يوم الثلاثاء لثمان بقين من جمادى الآخرة» of that year (https://shamela.ws/book/30097/3266) `[SOURCED]`</a:t>
            </a:r>
          </a:p>
          <a:p>
            <a:endParaRPr/>
          </a:p>
          <a:p>
            <a:r>
              <a:t>When أبو بكر ؓ died, the people had to find something to call the new man. They tried the obvious thing. They called him *khalīfat khalīfat rasūl Allāh* — the successor of the successor of the Messenger of God. عمر ؓ heard it and did the arithmetic. The next man would need four terms. The one after him, five. So he stopped it and proposed something shorter. He said: you are the believers; I am your commander. أمير المؤمنين. The title he coined outlived him by a very long way. The first man to greet him with it was المغيرة بن شعبة ؓ — and ابن کثیر adds that another name is reported, without giving it.</a:t>
            </a:r>
          </a:p>
          <a:p>
            <a:endParaRPr/>
          </a:p>
          <a:p>
            <a:r>
              <a:t>MAP: no change — this is a Medina interior. Put the Line up instead: the caliphate is two years old.</a:t>
            </a:r>
          </a:p>
          <a:p>
            <a:endParaRPr/>
          </a:p>
          <a:p>
            <a:r>
              <a:t>عبرت: A title is not decoration; a man who trims his own title is telling you what he thinks the office is for.</a:t>
            </a:r>
          </a:p>
          <a:p>
            <a:endParaRPr/>
          </a:p>
          <a:p>
            <a:r>
              <a:t>HANDS UP: "Who here has heard the words أمير المؤمنين? Keep your hand up if you know where they come from."</a:t>
            </a:r>
          </a:p>
          <a:p>
            <a:endParaRPr/>
          </a:p>
          <a:p>
            <a:r>
              <a:t>Source: البدایہ والنہایہ ج۷ ص۲۶۸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 · The bond that had no year on it</a:t>
            </a:r>
          </a:p>
          <a:p>
            <a:r>
              <a:t>Tier: CORE   When: 16 AH per البدایہ; 17 or 18 per الکامل `[SOURCED — disputed]`</a:t>
            </a:r>
          </a:p>
          <a:p>
            <a:endParaRPr/>
          </a:p>
          <a:p>
            <a:r>
              <a:t>A piece of paper was brought up to عمر ؓ. It was a bond — one man owed another money, and the debt fell due in شعبان. عمر ؓ looked at it and asked one question. Which شعبان? This year's? Last year's? Next year's? Nobody could answer, because there was no answer. The Muslims had months but no years. A second complaint had come from أبو موسى الأشعري ؓ in Basra, saying much the same thing about official letters: they arrive from you with no date on them. So عمر ؓ gathered the Companions and put the problem to them.</a:t>
            </a:r>
          </a:p>
          <a:p>
            <a:endParaRPr/>
          </a:p>
          <a:p>
            <a:r>
              <a:t>MAP: no change. This is the moment to show the Line with no numbers on it yet.</a:t>
            </a:r>
          </a:p>
          <a:p>
            <a:endParaRPr/>
          </a:p>
          <a:p>
            <a:r>
              <a:t>عبرت: Big institutions start from small unbearable problems, and the man who notices the small problem is doing the work.</a:t>
            </a:r>
          </a:p>
          <a:p>
            <a:endParaRPr/>
          </a:p>
          <a:p>
            <a:r>
              <a:t>HANDS UP: "What is today's date? Now — what is today's Hijri date?"</a:t>
            </a:r>
          </a:p>
          <a:p>
            <a:endParaRPr/>
          </a:p>
          <a:p>
            <a:r>
              <a:t>Source: البدایہ والنہایہ ج۷ ص۱۸۱</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UTS/E-U3 · Five ways to count a year, and the one they chose</a:t>
            </a:r>
          </a:p>
          <a:p>
            <a:r>
              <a:t>Tier: CORE   When: same council `[SOURCED]`</a:t>
            </a:r>
          </a:p>
          <a:p>
            <a:endParaRPr/>
          </a:p>
          <a:p>
            <a:r>
              <a:t>Five proposals went on the table. Count the way the Persians count, restarting at every new king — they disliked it, and الکامل notes the obvious flaw: each king wipes out the era before him. Count from Alexander, the way the Romans do — they disliked that, and it was too long besides. Count from the Prophet's ﷺ birth. Count from the day he was sent as Prophet. And then علي ؓ, and others with him, said: count from the هجرة. The reason given is not sentimental. It is that the هجرة is the plainest of the four — it is public, it is dateable, everyone knows when it happened. عمر ؓ and the Companions approved it.</a:t>
            </a:r>
          </a:p>
          <a:p>
            <a:endParaRPr/>
          </a:p>
          <a:p>
            <a:r>
              <a:t>MAP: no change. Use a five-line diagram slide, four struck through.</a:t>
            </a:r>
          </a:p>
          <a:p>
            <a:endParaRPr/>
          </a:p>
          <a:p>
            <a:r>
              <a:t>عبرت: They chose the date that could be checked, not the date that felt greatest — which is what taking a decision seriously looks like.</a:t>
            </a:r>
          </a:p>
          <a:p>
            <a:endParaRPr/>
          </a:p>
          <a:p>
            <a:r>
              <a:t>Source: البدایہ والنہایہ ج۷ ص۱۸۲</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UTS/E-U4 · Why the year begins in المحرم</a:t>
            </a:r>
          </a:p>
          <a:p>
            <a:r>
              <a:t>Tier: CORE   When: same council `[SOURCED]`</a:t>
            </a:r>
          </a:p>
          <a:p>
            <a:endParaRPr/>
          </a:p>
          <a:p>
            <a:r>
              <a:t>One more question remained. If the count starts from the هجرة, which month does the year begin in? Not ربيع الأول, when he ﷺ actually arrived — Imām Mālik رحمہ اللہ is reported to have held that view, but the majority did not. Not رمضان, which was proposed and dropped. They fixed on المحرم, and the two books give two different reasons. ابن کثیر: it is the more exact, so the months do not drift, because المحرم is where the Arab lunar year already began. ابن الاثیر: المحرم is the month people come home from Hajj, and it is a sacred month. Both reasons are on the page. This is why your calendar starts where it starts.</a:t>
            </a:r>
          </a:p>
          <a:p>
            <a:endParaRPr/>
          </a:p>
          <a:p>
            <a:r>
              <a:t>MAP: no change.</a:t>
            </a:r>
          </a:p>
          <a:p>
            <a:endParaRPr/>
          </a:p>
          <a:p>
            <a:r>
              <a:t>عبرت: The calendar on your wall is the residue of one afternoon's careful argument, and nothing you use daily is as accidental as it looks.</a:t>
            </a:r>
          </a:p>
          <a:p>
            <a:endParaRPr/>
          </a:p>
          <a:p>
            <a:r>
              <a:t>HANDS UP: "Hands up if you thought the Islamic year begins on the day of the هجرة itself."</a:t>
            </a:r>
          </a:p>
          <a:p>
            <a:endParaRPr/>
          </a:p>
          <a:p>
            <a:r>
              <a:t>Source: الکامل فی التاریخ ج۱ ص۱۳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UTS/E-U5 · The register: paid on precedence, not on blood</a:t>
            </a:r>
          </a:p>
          <a:p>
            <a:r>
              <a:t>Tier: CORE   When: 15 AH per الکامل `[SOURCED — disputed, see note §3.1]`</a:t>
            </a:r>
          </a:p>
          <a:p>
            <a:endParaRPr/>
          </a:p>
          <a:p>
            <a:r>
              <a:t>Money was now arriving in Medina from Syria and Iraq in quantities no one had ever handled. عمر ؓ built a register — a ديوان — and fixed a yearly stipend for every Muslim on it. The grading was by السابقة: how early you came to Islam and what you were present at. بدر at the top; then those between بدر and الحديبية; then those who came in at the Conquest and fought the ردة; then القادسية and اليرموك; and so on down. Then three of the greatest men of قريش by birth — صفوان بن أمية, الحارث بن هشام, سہیل بن عمرو ؓ — found themselves in a lower band than men whose grandfathers no one could name. They refused the money. عمر ؓ told them why. They took it.</a:t>
            </a:r>
          </a:p>
          <a:p>
            <a:endParaRPr/>
          </a:p>
          <a:p>
            <a:r>
              <a:t>MAP: no change; put the ladder on screen.</a:t>
            </a:r>
          </a:p>
          <a:p>
            <a:endParaRPr/>
          </a:p>
          <a:p>
            <a:r>
              <a:t>عبرت: They accepted the answer, and that acceptance is the achievement — a principle is only real when the people it costs agree to it.</a:t>
            </a:r>
          </a:p>
          <a:p>
            <a:endParaRPr/>
          </a:p>
          <a:p>
            <a:r>
              <a:t>HANDS UP: "Suppose the state has to pay everybody something. What do you pay them for?"</a:t>
            </a:r>
          </a:p>
          <a:p>
            <a:endParaRPr/>
          </a:p>
          <a:p>
            <a:r>
              <a:t>Source: الکامل فی التاریخ ج۲ ص۳۳۱</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UTS/E-U6 · Begin with the Prophet's ﷺ uncle</a:t>
            </a:r>
          </a:p>
          <a:p>
            <a:r>
              <a:t>Tier: GOOD   When: at the founding of the ديوان `[SOURCED]`</a:t>
            </a:r>
          </a:p>
          <a:p>
            <a:endParaRPr/>
          </a:p>
          <a:p>
            <a:r>
              <a:t>When the register was ready, علي ؓ and عبد الرحمن بن عوف ؓ told him the sensible thing: begin with yourself. He refused. He said he would begin with the Prophet's ﷺ uncle, and then work outward from the Prophet ﷺ, nearest first. So the first name written into the register of the Muslim state was العباس ؓ. عمر ؓ's own name is somewhere further down. Within each band, the register made no distinction at all — strong and weak, Arab and non-Arab, the same figure.</a:t>
            </a:r>
          </a:p>
          <a:p>
            <a:endParaRPr/>
          </a:p>
          <a:p>
            <a:r>
              <a:t>MAP: no change.</a:t>
            </a:r>
          </a:p>
          <a:p>
            <a:endParaRPr/>
          </a:p>
          <a:p>
            <a:r>
              <a:t>عبرت: Where a man puts his own name on a list he himself is writing is a fact about him that no speech can contradict.</a:t>
            </a:r>
          </a:p>
          <a:p>
            <a:endParaRPr/>
          </a:p>
          <a:p>
            <a:r>
              <a:t>Source: الکامل فی التاریخ ج۲ ص۳۳۱</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UTS/E-U7 · The register argued with in public</a:t>
            </a:r>
          </a:p>
          <a:p>
            <a:r>
              <a:t>Tier: GOOD   When: 15 AH `[SOURCED]`</a:t>
            </a:r>
          </a:p>
          <a:p>
            <a:endParaRPr/>
          </a:p>
          <a:p>
            <a:r>
              <a:t>People objected to the grading, and the objections were not private. Why not put القادسية on a level with the earlier campaigns? Why is a man who fought far from home paid the same as a man who fought on his own doorstep? He answered both. To the first: I was not going to place them in a rank belonging to what they did not live through. To the second, he turned the question around — the man defending his own doorstep has the better claim, not the worse; and he reminded them that nobody had raised this objection when the Anṣār were levelled with the foremost of the المهاجرون, although the Anṣār too were fighting from their own courtyard.</a:t>
            </a:r>
          </a:p>
          <a:p>
            <a:endParaRPr/>
          </a:p>
          <a:p>
            <a:r>
              <a:t>MAP: no change.</a:t>
            </a:r>
          </a:p>
          <a:p>
            <a:endParaRPr/>
          </a:p>
          <a:p>
            <a:r>
              <a:t>عبرت: A rule you can be argued with about in public is a different kind of rule from one you cannot.</a:t>
            </a:r>
          </a:p>
          <a:p>
            <a:endParaRPr/>
          </a:p>
          <a:p>
            <a:r>
              <a:t>Source: الکامل فی التاریخ ج۲ ص۳۳۲</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UTS/E-U8 · What he meant to change, and did not live to do</a:t>
            </a:r>
          </a:p>
          <a:p>
            <a:r>
              <a:t>Tier: CORE   When: near the end, before 23 AH `[SOURCED]`</a:t>
            </a:r>
          </a:p>
          <a:p>
            <a:endParaRPr/>
          </a:p>
          <a:p>
            <a:r>
              <a:t>He built the ladder. And at the end of his life he said he had intended to take it away. Four thousand for everyone, he said — and he had even worked out what the four thousand were for: a thousand you leave with your family, a thousand you take with you as provision, a thousand to equip yourself, a thousand to keep for ease. He died before he did it. The graded register he built is the one his successors inherited, and the flat one he intended never existed.</a:t>
            </a:r>
          </a:p>
          <a:p>
            <a:endParaRPr/>
          </a:p>
          <a:p>
            <a:r>
              <a:t>MAP: no change. Pair on screen with the ladder from E-U5.</a:t>
            </a:r>
          </a:p>
          <a:p>
            <a:endParaRPr/>
          </a:p>
          <a:p>
            <a:r>
              <a:t>عبرت: He treated his own arrangement as a first attempt rather than a finished thing; the men who came after inherited the attempt and not the intention.</a:t>
            </a:r>
          </a:p>
          <a:p>
            <a:endParaRPr/>
          </a:p>
          <a:p>
            <a:r>
              <a:t>Source: الکامل فی التاریخ ج۲ ص۳۳۲</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UTS/E-U9 · The reserve fund he refused to keep</a:t>
            </a:r>
          </a:p>
          <a:p>
            <a:r>
              <a:t>Tier: GOOD   When: at the fixing of the stipends `[SOURCED]`</a:t>
            </a:r>
          </a:p>
          <a:p>
            <a:endParaRPr/>
          </a:p>
          <a:p>
            <a:r>
              <a:t>Someone at the register made an entirely reasonable suggestion. Leave something in the treasury, أمير المؤمنين — a reserve, in case something comes. عمر ؓ's answer was not gentle. He called the suggestion something Satan had put on the man's tongue, and said it would be a fitna for those who came after him. What he would leave to his successors, he said, was what God and His Messenger had prepared — obedience, the thing that had actually got them this far.</a:t>
            </a:r>
          </a:p>
          <a:p>
            <a:endParaRPr/>
          </a:p>
          <a:p>
            <a:r>
              <a:t>MAP: no change.</a:t>
            </a:r>
          </a:p>
          <a:p>
            <a:endParaRPr/>
          </a:p>
          <a:p>
            <a:r>
              <a:t>عبرت: He was more afraid of what a full treasury would do to the men who inherited it than of what an empty one would do to him.</a:t>
            </a:r>
          </a:p>
          <a:p>
            <a:endParaRPr/>
          </a:p>
          <a:p>
            <a:r>
              <a:t>Source: الکامل فی التاریخ ج۲ ص۳۳۳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UTS/E-U10 · Four conditions, in writing, with witnesses</a:t>
            </a:r>
          </a:p>
          <a:p>
            <a:r>
              <a:t>Tier: CORE   When: standing practice throughout the caliphate `[SOURCED]`</a:t>
            </a:r>
          </a:p>
          <a:p>
            <a:endParaRPr/>
          </a:p>
          <a:p>
            <a:r>
              <a:t>By 16 AH عمر ؓ had governors in a dozen provinces, some of them a month's ride away. He could not watch them. So he wrote down what they were not allowed to do, had a group of المهاجرون witness it against them, and attached a penalty. Four conditions. Do not ride a Persian horse. Do not eat fine bread. Do not wear fine cloth. And do not shut your door against people with needs. Two of the three great books of the safe list record the same four conditions, independently.</a:t>
            </a:r>
          </a:p>
          <a:p>
            <a:endParaRPr/>
          </a:p>
          <a:p>
            <a:r>
              <a:t>MAP: put the governor list from ج۷ ص۱۸۱ on screen — Mecca, Syria, Iraq, Yemen, Baḥrayn, ʿUmān, Baṣra, Mosul, the Jazīra.</a:t>
            </a:r>
          </a:p>
          <a:p>
            <a:endParaRPr/>
          </a:p>
          <a:p>
            <a:r>
              <a:t>عبرت: Three of the four conditions are about appetite and the fourth is about access — and it is the fourth that tells you what he thought a governor was.</a:t>
            </a:r>
          </a:p>
          <a:p>
            <a:endParaRPr/>
          </a:p>
          <a:p>
            <a:r>
              <a:t>HANDS UP: "Three of those four are about what a governor may eat, wear and ride. What do you suppose the fourth one is?"</a:t>
            </a:r>
          </a:p>
          <a:p>
            <a:endParaRPr/>
          </a:p>
          <a:p>
            <a:r>
              <a:t>Source: البدایہ والنہایہ ج۷ ص۲۶۴</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UTS/E-U11 · The door of the palace at Kufa</a:t>
            </a:r>
          </a:p>
          <a:p>
            <a:r>
              <a:t>Tier: GOOD   When: 17 AH `[SOURCED]`</a:t>
            </a:r>
          </a:p>
          <a:p>
            <a:endParaRPr/>
          </a:p>
          <a:p>
            <a:r>
              <a:t>The Companions could not live at المدائن. The flies and the dust made them ill, their colour changed, their bodies weakened. عمر ؓ wrote back a single sentence of policy: the Arabs will not do well except where their camels do well. So a site was found, and Kufa was laid out from scratch — the mosque first, then an archer shooting in four directions to mark how far the houses would go; roads of forty cubits, thirty, twenty; alleys of seven. Reed houses, which burned; then mud brick, on عمر ؓ's order, on condition of no extravagance. Then سعد ؓ built himself a palace near the market, and the noise of the crowd made it hard to hear, so he took to shutting his door. The phrase reached Medina. عمر ؓ sent محمد بن مسلمة ؓ with instructions: reach Kufa, strike your flint, gather firewood, burn the palace door, come straight back.</a:t>
            </a:r>
          </a:p>
          <a:p>
            <a:endParaRPr/>
          </a:p>
          <a:p>
            <a:r>
              <a:t>MAP: **Kufa appears on the map.** The Muslims leave المدائن and found a new city.</a:t>
            </a:r>
          </a:p>
          <a:p>
            <a:endParaRPr/>
          </a:p>
          <a:p>
            <a:r>
              <a:t>عبرت: The fourth condition was not decorative — he burned a door to prove it.</a:t>
            </a:r>
          </a:p>
          <a:p>
            <a:endParaRPr/>
          </a:p>
          <a:p>
            <a:r>
              <a:t>Source: البدایہ والنہایہ ج۷ ص۱۸۳–۱۸۴</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UTS/E-U12 · خالد ؓ made to stand, and removed</a:t>
            </a:r>
          </a:p>
          <a:p>
            <a:r>
              <a:t>Tier: CORE   When: 17 AH `[SOURCED]`</a:t>
            </a:r>
          </a:p>
          <a:p>
            <a:endParaRPr/>
          </a:p>
          <a:p>
            <a:r>
              <a:t>خالد بن الوليد ؓ came back from a raid with great wealth, and gave الأشعث بن قيس ؓ ten thousand. عمر ؓ heard, and wrote to أبو عبيدة ؓ. Stand him up. Uncover his turban. Take off his cap. Bind him with his own turban and ask him where the ten thousand came from — because if it was his own money it is extravagance, and if it was the campaign's money it is a betrayal. Then remove him. It was done in the mosque, in front of everyone. أبو عبيدة ؓ said nothing the whole time, then came down from the pulpit and apologised for what had not been his own doing or his own wish; خالد ؓ accepted the apology and knew he had meant nothing by it. In Medina, عمر ؓ valued his property, took twenty thousand, and told him — in the same breath — that he was noble in his sight and beloved to him, and that he would never work for him again. And then he wrote to every province so that no one could invent a reason.</a:t>
            </a:r>
          </a:p>
          <a:p>
            <a:endParaRPr/>
          </a:p>
          <a:p>
            <a:r>
              <a:t>MAP: قنسرين and حمص, northern Syria.</a:t>
            </a:r>
          </a:p>
          <a:p>
            <a:endParaRPr/>
          </a:p>
          <a:p>
            <a:r>
              <a:t>عبرت: He did not accuse the man of anything; he removed him and then told everyone that no accusation had been made — which is harder than either accusing or keeping silent.</a:t>
            </a:r>
          </a:p>
          <a:p>
            <a:endParaRPr/>
          </a:p>
          <a:p>
            <a:r>
              <a:t>Source: البدایہ والنہایہ ج۷ ص۱۹۱</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UTS/E-U13 · The spoils of جلولاء, and a man weeping over them</a:t>
            </a:r>
          </a:p>
          <a:p>
            <a:r>
              <a:t>Tier: CORE   When: 16 AH — الکامل carries جلولاء inside its سنة ست عشرة block (ج۲ ص۳۳۷–۳۵۱); but الليث بن سعد, in سیر جراشدون ص۸۸, puts جلولاء in **19 AH** (§6.1). `[SOURCED — and disputed]`</a:t>
            </a:r>
          </a:p>
          <a:p>
            <a:endParaRPr/>
          </a:p>
          <a:p>
            <a:r>
              <a:t>The fifth of the spoils of جلولاء came to Medina. عمر ؓ swore no roof would cover it until it was divided, so عبد الرحمن بن عوف ؓ and عبد الله بن الأرقم ؓ spent the night guarding it in the mosque. In the morning he came out among the people and uncovered it — ruby, chrysolite, jewels — and he wept. عبد الرحمن ؓ asked him why; by God, he said, this is a place for thanks, not tears. And عمر ؓ told him what he was actually looking at.</a:t>
            </a:r>
          </a:p>
          <a:p>
            <a:endParaRPr/>
          </a:p>
          <a:p>
            <a:r>
              <a:t>MAP: جلولاء and حلوان, east of المدائن — the Persian frontier.</a:t>
            </a:r>
          </a:p>
          <a:p>
            <a:endParaRPr/>
          </a:p>
          <a:p>
            <a:r>
              <a:t>عبرت: He was looking at the treasure and seeing what it usually does to the people who win it.</a:t>
            </a:r>
          </a:p>
          <a:p>
            <a:endParaRPr/>
          </a:p>
          <a:p>
            <a:r>
              <a:t>Source: الکامل فی التاریخ ج۲ ص۳۴۷–۳۴۸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UTS/E-U14 · The land that was not divided</a:t>
            </a:r>
          </a:p>
          <a:p>
            <a:r>
              <a:t>Tier: GOOD   When: 16 AH, after جلولاء — same dispute as E-U13 `[SOURCED — and disputed]`</a:t>
            </a:r>
          </a:p>
          <a:p>
            <a:endParaRPr/>
          </a:p>
          <a:p>
            <a:r>
              <a:t>The richest farmland any Muslim army had ever taken was now in Muslim hands. By one reading of the rules it belonged to the fighters, to be divided like any other spoil. عمر ؓ refused to divide it. ابن الاثیر gives practical reasons — thickets, woodland, water-sinks, land that had belonged to the fire-temples and the post roads and to Chosroes himself, none of it parcellable — and then one reason that is not practical at all: he feared fitna among the Muslims. Having refused to divide it, he then forbade its sale, on the ground that it had never been divided in the first place. جرير ؓ bought a field on the Euphrates bank; عمر ؓ cancelled the purchase.</a:t>
            </a:r>
          </a:p>
          <a:p>
            <a:endParaRPr/>
          </a:p>
          <a:p>
            <a:r>
              <a:t>MAP: the السواد — the whole irrigated belt of southern Iraq, between حلوان and القادسية. Shade it and leave it shaded.</a:t>
            </a:r>
          </a:p>
          <a:p>
            <a:endParaRPr/>
          </a:p>
          <a:p>
            <a:r>
              <a:t>عبرت: The generation that took the land did not take the land, and what they gave up was given up for a generation they would never meet.</a:t>
            </a:r>
          </a:p>
          <a:p>
            <a:endParaRPr/>
          </a:p>
          <a:p>
            <a:r>
              <a:t>Source: الکامل فی التاریخ ج۲ ص۳۴۸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UTS/E-U15 · Judges for the new cities</a:t>
            </a:r>
          </a:p>
          <a:p>
            <a:r>
              <a:t>Tier: GOOD   When: 18 AH `[SOURCED]`</a:t>
            </a:r>
          </a:p>
          <a:p>
            <a:endParaRPr/>
          </a:p>
          <a:p>
            <a:r>
              <a:t>A state that has just invented a calendar, a payroll and two cities eventually needs somebody to settle disputes in them. In 18 AH عمر ؓ appointed شريح بن الحارث الكندي judge over Kufa and كعب بن سور الأزدي judge over Basra. The detail worth noticing is not the appointment; it is what the chronicles do afterwards. From that year on, the year-by-year record lists the judges alongside the governors, as a standing office — this year's judges were last year's judges. That is what an institution looks like from the outside.</a:t>
            </a:r>
          </a:p>
          <a:p>
            <a:endParaRPr/>
          </a:p>
          <a:p>
            <a:r>
              <a:t>MAP: الكوفة and البصرة, both of them cities that did not exist ten years earlier.</a:t>
            </a:r>
          </a:p>
          <a:p>
            <a:endParaRPr/>
          </a:p>
          <a:p>
            <a:r>
              <a:t>عبرت: Conquest is an event and a judiciary is a habit, and only one of the two is still working the following year.</a:t>
            </a:r>
          </a:p>
          <a:p>
            <a:endParaRPr/>
          </a:p>
          <a:p>
            <a:r>
              <a:t>Source: البدایہ والنہایہ ج۷ ص۲۰۷</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UTS/E-U16 · عام الرمادة: the oath</a:t>
            </a:r>
          </a:p>
          <a:p>
            <a:r>
              <a:t>Tier: CORE   When: 18 AH `[SOURCED]`</a:t>
            </a:r>
          </a:p>
          <a:p>
            <a:endParaRPr/>
          </a:p>
          <a:p>
            <a:r>
              <a:t>The rain failed across the Ḥijāz and the ground went black — so black that they named the year after ashes. The wild animals came in among the people. The tribes broke camp and came to Medina because there was nowhere else, and nobody had any food left. عمر ؓ opened the treasury and spent it until there was nothing in it. And he bound himself: no ghee, no fat — ابن الاثیر says no ghee, no milk, no meat — until the people were relieved. In good years his bread was crumbled with milk and ghee. That year it was oil and vinegar. His colour blackened and his body changed until they were afraid for him. It lasted nine months. When his servant bought him a skin of ghee and a skin of milk, thinking to release him, he told him to give both away.</a:t>
            </a:r>
          </a:p>
          <a:p>
            <a:endParaRPr/>
          </a:p>
          <a:p>
            <a:r>
              <a:t>MAP: the whole Ḥijāz. Show the tribes converging on Medina from every direction.</a:t>
            </a:r>
          </a:p>
          <a:p>
            <a:endParaRPr/>
          </a:p>
          <a:p>
            <a:r>
              <a:t>عبرت: He did not go hungry in order to feed anyone — he went hungry so that the hunger of others would not be something he could think about at a distance.</a:t>
            </a:r>
          </a:p>
          <a:p>
            <a:endParaRPr/>
          </a:p>
          <a:p>
            <a:r>
              <a:t>Source: الکامل فی التاریخ ج۲ ص۳۷۵</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UTS/E-U17 · The night he found nobody laughing</a:t>
            </a:r>
          </a:p>
          <a:p>
            <a:r>
              <a:t>Tier: CORE   When: 18 AH `[SOURCED — ابن کثیر calls the chain جيد]`</a:t>
            </a:r>
          </a:p>
          <a:p>
            <a:endParaRPr/>
          </a:p>
          <a:p>
            <a:r>
              <a:t>He went out at night to walk the city, as he did. And something was wrong that he could not name at first. Nobody was laughing. Nobody was talking in their houses the way people talk. And there were no beggars. He asked why, and was told: the beggars asked and were given nothing, so they stopped asking; and the people are in grief and hardship, so they neither talk nor laugh. So he wrote two letters. One to أبو موسى ؓ in Basra, one to عمرو بن العاص ؓ in Egypt. Each was three words long. Each of them sent back a great caravan. The first man through the gate was أبو عبيدة ؓ, with four thousand mounts of food — the last thing he does in this story before the next one kills him. On عمر ؓ's own instruction, the food went out to the country round Medina first.</a:t>
            </a:r>
          </a:p>
          <a:p>
            <a:endParaRPr/>
          </a:p>
          <a:p>
            <a:r>
              <a:t>MAP: the relief routes: Basra overland, Egypt by the Qulzum sea to Jeddah and up to Mecca.</a:t>
            </a:r>
          </a:p>
          <a:p>
            <a:endParaRPr/>
          </a:p>
          <a:p>
            <a:r>
              <a:t>عبرت: He noticed the silence before anyone reported the hunger, and a man who is out walking at night notices things that no report contains.</a:t>
            </a:r>
          </a:p>
          <a:p>
            <a:endParaRPr/>
          </a:p>
          <a:p>
            <a:r>
              <a:t>HANDS UP: "Seven thousand men ate supper at his table one night. How many people do you think were being fed in total?" *(الذہبی: forty thousand, then sixty thousand.)*</a:t>
            </a:r>
          </a:p>
          <a:p>
            <a:endParaRPr/>
          </a:p>
          <a:p>
            <a:r>
              <a:t>Source: البدایہ والنہایہ ج۷ ص۲۰۳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UTS/E-U18 · The prayer for rain</a:t>
            </a:r>
          </a:p>
          <a:p>
            <a:r>
              <a:t>Tier: GOOD   When: 18 AH `[SOURCED — البخاري]`</a:t>
            </a:r>
          </a:p>
          <a:p>
            <a:endParaRPr/>
          </a:p>
          <a:p>
            <a:r>
              <a:t>He went out to pray for rain, and he took العباس ؓ out with him. And the prayer he made is one of the most quoted sentences in the whole of his caliphate, because of what it concedes: we used to ask through our Prophet ﷺ, and now we ask through his uncle. The report is in صحيح البخاري. On another such occasion people complained that they had not actually heard him ask for rain at all; he answered that he had sought the rain by the heaven's own rain-bringers, and recited سورة نوح — *ask forgiveness of your Lord; He will send the sky upon you in torrents.*</a:t>
            </a:r>
          </a:p>
          <a:p>
            <a:endParaRPr/>
          </a:p>
          <a:p>
            <a:r>
              <a:t>MAP: the muṣallā outside Medina.</a:t>
            </a:r>
          </a:p>
          <a:p>
            <a:endParaRPr/>
          </a:p>
          <a:p>
            <a:r>
              <a:t>عبرت: Nine months of drought, a treasury spent to nothing, and the last thing left to try was استغفار.</a:t>
            </a:r>
          </a:p>
          <a:p>
            <a:endParaRPr/>
          </a:p>
          <a:p>
            <a:r>
              <a:t>Source: البدایہ والنہایہ ج۷ ص۲۰۵ · (البخاري ۳۷۱۰)</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UTS/E-U19 · سرغ: the caliph turns the army around</a:t>
            </a:r>
          </a:p>
          <a:p>
            <a:r>
              <a:t>Tier: CORE   When: 17 AH `[SOURCED]`</a:t>
            </a:r>
          </a:p>
          <a:p>
            <a:endParaRPr/>
          </a:p>
          <a:p>
            <a:r>
              <a:t>He was riding north into Syria with the leading men of the Muhājirūn and Anṣār. At سرغ the commanders of the Syrian armies rode out to meet him — أبو عبيدة ؓ, يزيد بن أبي سفيان ؓ, خالد بن الوليد ؓ — with news. The pestilence had fallen on Syria. He consulted, and the room split: you set out for a purpose, do not turn back — against — we do not think you should take the leading Companions into this. In the morning he ordered the return. And أبو عبيدة ؓ said the one thing that could stop him: are you running from God's decree? The answer came back without a pause.</a:t>
            </a:r>
          </a:p>
          <a:p>
            <a:endParaRPr/>
          </a:p>
          <a:p>
            <a:r>
              <a:t>MAP: **سرغ**, on the road from Medina into Syria — mark it. This is the furthest north he gets, and then the arrow reverses.</a:t>
            </a:r>
          </a:p>
          <a:p>
            <a:endParaRPr/>
          </a:p>
          <a:p>
            <a:r>
              <a:t>عبرت: Trust in God's decree is not a reason to walk into the barren half of the valley.</a:t>
            </a:r>
          </a:p>
          <a:p>
            <a:endParaRPr/>
          </a:p>
          <a:p>
            <a:r>
              <a:t>Source: البدایہ والنہایہ ج۷ ص۱۸۶</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UTS/E-U20 · The man who had been away</a:t>
            </a:r>
          </a:p>
          <a:p>
            <a:r>
              <a:t>Tier: CORE   When: 17 AH, at سرغ, the same hour `[SOURCED — البخاري ۵۷۲۹]`</a:t>
            </a:r>
          </a:p>
          <a:p>
            <a:endParaRPr/>
          </a:p>
          <a:p>
            <a:r>
              <a:t>The argument was not settled by rank. عبد الرحمن بن عوف ؓ had been away on business and arrived late, into the middle of it. He said: I have knowledge of this. And he gave them a ḥadīth of the Prophet ﷺ that answered the exact question in front of them — do not enter a land where it is, and do not leave a land where you are. عمر ؓ praised God, and took the people home. ابن الاثیر notes, in his own voice, that this is the sounder of the two versions, because البخاري and مسلم both carry it.</a:t>
            </a:r>
          </a:p>
          <a:p>
            <a:endParaRPr/>
          </a:p>
          <a:p>
            <a:r>
              <a:t>MAP: same as E-U19.</a:t>
            </a:r>
          </a:p>
          <a:p>
            <a:endParaRPr/>
          </a:p>
          <a:p>
            <a:r>
              <a:t>عبرت: The decision was already right; what the latecomer brought was the knowledge that it was right, and the caliph thanked God rather than himself.</a:t>
            </a:r>
          </a:p>
          <a:p>
            <a:endParaRPr/>
          </a:p>
          <a:p>
            <a:r>
              <a:t>HANDS UP: "The Commander of the Believers has already given the order. A man walks in late with something to say. What should happen?"</a:t>
            </a:r>
          </a:p>
          <a:p>
            <a:endParaRPr/>
          </a:p>
          <a:p>
            <a:r>
              <a:t>Source: البدایہ والنہایہ ج۷ ص۱۸۶ · (البخاري ۵۷۲۹)</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UTS/E-U21 · The letter أبو عبيدة ؓ saw through</a:t>
            </a:r>
          </a:p>
          <a:p>
            <a:r>
              <a:t>Tier: CORE   When: 18 AH `[SOURCED]`</a:t>
            </a:r>
          </a:p>
          <a:p>
            <a:endParaRPr/>
          </a:p>
          <a:p>
            <a:r>
              <a:t>The plague was burning through the army in Syria, and عمر ؓ wanted أبو عبيدة ؓ out of it. He could not order it — أبو عبيدة ؓ would not leave his men. So he wrote something clever: a need has arisen that I must speak to you about face to face; when you read this letter, do not put it down until you come to me. أبو عبيدة ؓ read it, understood exactly what it was, and said: may God forgive the Commander of the Believers. Then he wrote back, and refused. And when عمر ؓ read the reply, he wept — and the people around him thought the news had come.</a:t>
            </a:r>
          </a:p>
          <a:p>
            <a:endParaRPr/>
          </a:p>
          <a:p>
            <a:r>
              <a:t>MAP: حمص / the Syrian camp.</a:t>
            </a:r>
          </a:p>
          <a:p>
            <a:endParaRPr/>
          </a:p>
          <a:p>
            <a:r>
              <a:t>عبرت: أمين الأمة would not be lifted out of a danger he was leaving his men inside.</a:t>
            </a:r>
          </a:p>
          <a:p>
            <a:endParaRPr/>
          </a:p>
          <a:p>
            <a:r>
              <a:t>Source: البدایہ والنہایہ ج۷ ص۱۸۸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UTS/E-U22 · Three sermons, three graves, one day</a:t>
            </a:r>
          </a:p>
          <a:p>
            <a:r>
              <a:t>Tier: CORE   When: 18 AH `[SOURCED]`</a:t>
            </a:r>
          </a:p>
          <a:p>
            <a:endParaRPr/>
          </a:p>
          <a:p>
            <a:r>
              <a:t>أبو عبيدة ؓ stood up in front of the dying army and preached. He called the affliction their Lord's mercy, their Prophet's ﷺ prayer, and the death of the righteous before them — and asked God to give أبو عبيدة his share of it. He was struck, and he died. He appointed معاذ بن جبل ؓ over the people. معاذ ؓ stood in the same place and preached the same words, and asked God to give the family of معاذ their share. His son عبد الرحمن was struck and died. Then معاذ ؓ prayed for himself, and was struck in the palm of his hand, and would look at it and turn it over and say that he would not take anything of this world in exchange for what was in it. أبو عبيدة ؓ, معاذ ؓ and أبو مالك الأشعري ؓ were struck on one and the same day; البدایہ names شرحبيل بن حسنة ؓ with them on that day too. The same plague killed يزيد بن أبي سفيان ؓ, الحارث بن هشام ؓ, سہیل بن عمرو ؓ and his son أبو جندل ؓ, and الفضل بن العباس ؓ — but the sources say only that they died in it, not that they died on that day, and the speaker should not say so. الحارث بن هشام ؓ had gone out to Syria with seventy of his household. Four came back.</a:t>
            </a:r>
          </a:p>
          <a:p>
            <a:endParaRPr/>
          </a:p>
          <a:p>
            <a:r>
              <a:t>MAP: عمواس, between Jerusalem and al-Ramla — the town the plague is named after. Then the whole of Syria.</a:t>
            </a:r>
          </a:p>
          <a:p>
            <a:endParaRPr/>
          </a:p>
          <a:p>
            <a:r>
              <a:t>عبرت: The generation that had seen the Prophet ﷺ was thinning out, and it was thinning out in one place at one time.</a:t>
            </a:r>
          </a:p>
          <a:p>
            <a:endParaRPr/>
          </a:p>
          <a:p>
            <a:r>
              <a:t>Source: البدایہ والنہایہ ج۷ ص۱۸۸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UTS/E-U23 · What a caliph does after a plague</a:t>
            </a:r>
          </a:p>
          <a:p>
            <a:r>
              <a:t>Tier: GOOD   When: 18 AH, after عمواس `[SOURCED]`</a:t>
            </a:r>
          </a:p>
          <a:p>
            <a:endParaRPr/>
          </a:p>
          <a:p>
            <a:r>
              <a:t>So many people died in the same houses, in unknown order, that the inheritances of Syria could not be settled. Nobody could say who had predeceased whom. عمر ؓ was minded to tour the provinces and asked which to start with; كعب الأحبار and علي ؓ both argued for Iraq or against it, and he cut the discussion short: the inheritances of the ʿAmwās dead are lost — I begin with Syria. He went, divided the estates himself, reassigned the commands — معاوية ؓ to Damascus, and later شرحبيل ؓ moved with a public explanation that it was not out of anger — and came home in ذو القعدة. On the way, at أيلة, he gave the bishop his own torn shirt to wash and mend, wore it back, and refused the new one the man made him. And in Syria the people asked for بلال ؓ to give the adhān once more; every man there who had known the Prophet ﷺ wept, and عمر ؓ wept hardest of all.</a:t>
            </a:r>
          </a:p>
          <a:p>
            <a:endParaRPr/>
          </a:p>
          <a:p>
            <a:r>
              <a:t>MAP: عمر ؓ's journey to الشام — Medina → أيلة → الجابية.</a:t>
            </a:r>
          </a:p>
          <a:p>
            <a:endParaRPr/>
          </a:p>
          <a:p>
            <a:r>
              <a:t>عبرت: The catastrophe was over and the paperwork was not, and he treated the paperwork as part of the catastrophe.</a:t>
            </a:r>
          </a:p>
          <a:p>
            <a:endParaRPr/>
          </a:p>
          <a:p>
            <a:r>
              <a:t>Source: الکامل فی التاریخ ج۲ ص۳۷۹</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UTS/E-U24 · Jerusalem asks for him by name</a:t>
            </a:r>
          </a:p>
          <a:p>
            <a:r>
              <a:t>Tier: GOOD   When: 15 or 16 or 17 AH `[SOURCED — disputed]`</a:t>
            </a:r>
          </a:p>
          <a:p>
            <a:endParaRPr/>
          </a:p>
          <a:p>
            <a:r>
              <a:t>أبو عبيدة ؓ besieged Jerusalem, and the city agreed to terms — on one condition. The Commander of the Believers must come himself. The letter reached Medina and the counsel split: عثمان ؓ said do not go, it will humble them more; علي ؓ said go, it will be easier on the Muslims sitting in the siege lines. He took علي ؓ's advice, left علي ؓ over Medina, and rode. On the road from الجابية his own horse was worn out, so they brought him a برذون — a heavy non-Arab mount; it began to amble under him and he got off at once and struck its face. He never rode one before that or after it. At الجابية he preached, and the sermon survives.</a:t>
            </a:r>
          </a:p>
          <a:p>
            <a:endParaRPr/>
          </a:p>
          <a:p>
            <a:r>
              <a:t>MAP: **بيت المقدس.** The single biggest move on the Syrian map.</a:t>
            </a:r>
          </a:p>
          <a:p>
            <a:endParaRPr/>
          </a:p>
          <a:p>
            <a:r>
              <a:t>عبرت: The city set the terms of its own surrender, and the term it chose was to see the man in person.</a:t>
            </a:r>
          </a:p>
          <a:p>
            <a:endParaRPr/>
          </a:p>
          <a:p>
            <a:r>
              <a:t>Source: البدایہ والنہایہ ج۷ ص۱۵۸</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UTS/E-U25 · "You restrained yourself, so they restrained themselves"</a:t>
            </a:r>
          </a:p>
          <a:p>
            <a:r>
              <a:t>Tier: GOOD   When: 16 AH, when the spoils of المدائن arrive — الکامل carries فتح المدائن inside its سنة ست عشرة block (ج۲ ص۳۳۸–), and البدایہ ج۷ ص۱۶۳ records the split in so many words: ابن جرير/سيف put the Persian campaigns in 15, «وقال ابن إسحاق والواقدي: إنما كان ذلك في سنة ست عشرة» (https://shamela.ws/book/30097/3309). `[SOURCED — and disputed]`</a:t>
            </a:r>
          </a:p>
          <a:p>
            <a:endParaRPr/>
          </a:p>
          <a:p>
            <a:r>
              <a:t>The spoils of المدائن were beyond anything anyone had seen — jewelled carpets, the Persian king's own robes, houses filled to the ceiling with gold and silver vessels, and so much camphor the soldiers mistook it for salt and tried to bake with it. Every horseman's share came to twelve thousand. And the whole of it, down to a mule loaded with the king's crown that a soldier had chased down and taken back off looters, was handed in intact. عمر ؓ looked at it and said one sentence about the men who had sent it. علي ؓ answered him with one sentence about why they had.</a:t>
            </a:r>
          </a:p>
          <a:p>
            <a:endParaRPr/>
          </a:p>
          <a:p>
            <a:r>
              <a:t>MAP: المدائن — Chosroes' capital.</a:t>
            </a:r>
          </a:p>
          <a:p>
            <a:endParaRPr/>
          </a:p>
          <a:p>
            <a:r>
              <a:t>عبرت: Honesty at the far end of an empire is a report on the man at the near end of it.</a:t>
            </a:r>
          </a:p>
          <a:p>
            <a:endParaRPr/>
          </a:p>
          <a:p>
            <a:r>
              <a:t>Source: البدایہ والنہایہ ج۷ ص۱۷۳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UTS/E-U26 · What is lawful for me out of this money?</a:t>
            </a:r>
          </a:p>
          <a:p>
            <a:r>
              <a:t>Tier: GOOD   When: at the founding of the ديوان `[SOURCED]`</a:t>
            </a:r>
          </a:p>
          <a:p>
            <a:endParaRPr/>
          </a:p>
          <a:p>
            <a:r>
              <a:t>He put a question to the Muslims that no one had asked him to answer. I was a merchant, he said, and God provided for my household out of my trade; and you have occupied me with this business of yours. So what do you hold is lawful for me out of this money? The people talked a great deal. علي ؓ said nothing until asked directly, and then gave the shortest answer in the room: what keeps you and your household in what is fitting, and nothing beyond that. The people said: the word is علي ؓ's word. He took that, and it was hard. Later عثمان, علي, طلحة and الزبير ؓ agreed among themselves that his allowance ought to be raised, and sent حفصة ؓ to sound him out without naming them. He worked out at once that there were names and demanded them; she would not give them. So he asked her three questions instead — what was the best garment the Prophet ﷺ ever owned in your house, the finest food he ever had here, the softest thing he ever lay on — and sent the answers back as his reply.</a:t>
            </a:r>
          </a:p>
          <a:p>
            <a:endParaRPr/>
          </a:p>
          <a:p>
            <a:r>
              <a:t>MAP: no change.</a:t>
            </a:r>
          </a:p>
          <a:p>
            <a:endParaRPr/>
          </a:p>
          <a:p>
            <a:r>
              <a:t>عبرت: He did not set his own salary; he asked, and then he lived with the answer.</a:t>
            </a:r>
          </a:p>
          <a:p>
            <a:endParaRPr/>
          </a:p>
          <a:p>
            <a:r>
              <a:t>Source: الکامل فی التاریخ ج۲ ص۳۳۳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UTS/E-U27 · The list of firsts</a:t>
            </a:r>
          </a:p>
          <a:p>
            <a:r>
              <a:t>Tier: GOOD   When: closing card for the whole strand `[SOURCED]`</a:t>
            </a:r>
          </a:p>
          <a:p>
            <a:endParaRPr/>
          </a:p>
          <a:p>
            <a:r>
              <a:t>When ابن کثیر رحمہ اللہ comes to write the death of عمر ؓ, he does not begin with the death. He begins with a list, and the list runs for half a page without pausing. First to be called Commander of the Believers. First to write the dating era. Gathered the people for tarāwīḥ. First to patrol Medina at night. Carried the whip and disciplined with it. Founded the garrison cities and raised the armies. Laid down the land tax. Compiled the registers. Fixed the stipends. Appointed the judges. Organised the provinces. Ten years and five months.</a:t>
            </a:r>
          </a:p>
          <a:p>
            <a:endParaRPr/>
          </a:p>
          <a:p>
            <a:r>
              <a:t>MAP: the finished map of 23 AH, everything lit.</a:t>
            </a:r>
          </a:p>
          <a:p>
            <a:endParaRPr/>
          </a:p>
          <a:p>
            <a:r>
              <a:t>عبرت: Almost nothing on that list is a battle, and the things on it are the things that were still standing a hundred years later.</a:t>
            </a:r>
          </a:p>
          <a:p>
            <a:endParaRPr/>
          </a:p>
          <a:p>
            <a:r>
              <a:t>HANDS UP: "How many of the things on this list do you still use?"</a:t>
            </a:r>
          </a:p>
          <a:p>
            <a:endParaRPr/>
          </a:p>
          <a:p>
            <a:r>
              <a:t>Source: البدایہ والنہایہ ج۷ ص۲۶۳</a:t>
            </a:r>
          </a:p>
          <a:p>
            <a:endParaRPr/>
          </a:p>
          <a:p>
            <a:r>
              <a:t>From: عمر ؓ builds a state — and the two trials</a:t>
            </a:r>
          </a:p>
        </p:txBody>
      </p:sp>
      <p:sp>
        <p:nvSpPr>
          <p:cNvPr id="4" name="Slide Number Placeholder 3"/>
          <p:cNvSpPr>
            <a:spLocks noGrp="1"/>
          </p:cNvSpPr>
          <p:nvPr>
            <p:ph type="sldNum" sz="quarter" idx="5"/>
          </p:nvPr>
        </p:nvSpPr>
        <p:spPr/>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 · Persia decides it has no choice</a:t>
            </a:r>
          </a:p>
          <a:p>
            <a:r>
              <a:t>Tier: CORE   When: 21 AH `[SOURCED]` (البدایہ ج۷ ص۲۲۵; the sources also record 17 and 19)</a:t>
            </a:r>
          </a:p>
          <a:p>
            <a:endParaRPr/>
          </a:p>
          <a:p>
            <a:r>
              <a:t>Ten years of defeats have pushed the last Sasanian king out of his own capital and eastward, city by city. He writes to every governor still standing. They meet and they argue, and the argument that decides them is not about religion. It is that the fighting has reached the seat of the kingdom itself, and will not stop there. A hundred and fifty thousand men gather at نهاوند under a commander the sources name three different ways. Word reaches سعد بن أبي وقاص ؓ at الکوفہ, and سعد ؓ writes to المدینہ.</a:t>
            </a:r>
          </a:p>
          <a:p>
            <a:endParaRPr/>
          </a:p>
          <a:p>
            <a:r>
              <a:t>MAP: The Persian heartland east of the Zagros lights up: a single mass of colour gathering at نهاوند, south of همذان.</a:t>
            </a:r>
          </a:p>
          <a:p>
            <a:endParaRPr/>
          </a:p>
          <a:p>
            <a:r>
              <a:t>عبرت: A state that will not answer a summons is eventually made to answer a question it did not choose.</a:t>
            </a:r>
          </a:p>
          <a:p>
            <a:endParaRPr/>
          </a:p>
          <a:p>
            <a:r>
              <a:t>HANDS UP: Hands up — who can tell me roughly how far Islam had reached when the Prophet ﷺ died? (Answer on the map: two mosques and a peninsula.) Now look where we are ten years later.</a:t>
            </a:r>
          </a:p>
          <a:p>
            <a:endParaRPr/>
          </a:p>
          <a:p>
            <a:r>
              <a:t>Source: البدایہ والنہایہ ج۷ ص۲۲۷</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 · The caliph proposes to march, and is talked out of it</a:t>
            </a:r>
          </a:p>
          <a:p>
            <a:r>
              <a:t>Tier: GOOD   When: 21 AH `[SOURCED]`</a:t>
            </a:r>
          </a:p>
          <a:p>
            <a:endParaRPr/>
          </a:p>
          <a:p>
            <a:r>
              <a:t>عمر ؓ calls the people to the mosque. His plan is to march himself and take up a position between the two garrison cities, so he can feed men forward as they are needed. Five men answer him — عثمان ؓ, علی ؓ, طلحة ؓ, الزبير ؓ and عبد الرحمن بن عوف ؓ — each speaking separately. Every one of them tells him to stay where he is. علی ؓ gives him the image that decides it. عمر ؓ takes the advice he did not come in with, and — as he always did — puts it to العباس ؓ before he acts on it.</a:t>
            </a:r>
          </a:p>
          <a:p>
            <a:endParaRPr/>
          </a:p>
          <a:p>
            <a:r>
              <a:t>MAP: A pin on المدینہ, with a dotted line running north-east toward a point between الکوفہ and البصرہ — then the dotted line is rubbed out.</a:t>
            </a:r>
          </a:p>
          <a:p>
            <a:endParaRPr/>
          </a:p>
          <a:p>
            <a:r>
              <a:t>عبرت: A man is not always most useful at the place where the danger is.</a:t>
            </a:r>
          </a:p>
          <a:p>
            <a:endParaRPr/>
          </a:p>
          <a:p>
            <a:r>
              <a:t>Source: البدایہ والنہایہ ج۷ ص۲۲۸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NTS/E-U3 · The first at the spear-points</a:t>
            </a:r>
          </a:p>
          <a:p>
            <a:r>
              <a:t>Tier: CORE   When: 21 AH `[SOURCED]`</a:t>
            </a:r>
          </a:p>
          <a:p>
            <a:endParaRPr/>
          </a:p>
          <a:p>
            <a:r>
              <a:t>عمر ؓ asks the council to name him a commander for the Persian front, and says the man must be an Iraqi. They tell him he knows his own soldiers better. So he states the qualification before he states the name — and then names النعمان بن مُقَرِّن ؓ, who had already written asking to be moved from his post so he could fight this war. Then عمر ؓ does something a modern room notices: he writes down, in advance, who takes command if the commander is killed, and who after that, seven deep.</a:t>
            </a:r>
          </a:p>
          <a:p>
            <a:endParaRPr/>
          </a:p>
          <a:p>
            <a:r>
              <a:t>MAP: A named commander pin appears on the Persian front: النعمان بن مُقَرِّن ؓ.</a:t>
            </a:r>
          </a:p>
          <a:p>
            <a:endParaRPr/>
          </a:p>
          <a:p>
            <a:r>
              <a:t>عبرت: The test of a commander was set before the name was, and the name had to meet the test.</a:t>
            </a:r>
          </a:p>
          <a:p>
            <a:endParaRPr/>
          </a:p>
          <a:p>
            <a:r>
              <a:t>Source: البدایہ والنہایہ ج۷ ص۲۲۸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NTS/E-U4 · One man is worth a hundred thousand dinars</a:t>
            </a:r>
          </a:p>
          <a:p>
            <a:r>
              <a:t>Tier: GOOD   When: 21 AH `[SOURCED]`</a:t>
            </a:r>
          </a:p>
          <a:p>
            <a:endParaRPr/>
          </a:p>
          <a:p>
            <a:r>
              <a:t>The written orders go out from المدینہ. Most of the letter is the ordinary business of moving an army — march by this route, join at ماه, the Kufans will meet you there. But in the middle of it عمر ؓ puts three prohibitions and a reason, and the reason is a valuation. A room that has just heard the figure 150,000 hears this sentence differently.</a:t>
            </a:r>
          </a:p>
          <a:p>
            <a:endParaRPr/>
          </a:p>
          <a:p>
            <a:r>
              <a:t>MAP: No map move. The letter itself on screen, in Naskh, with the English beneath.</a:t>
            </a:r>
          </a:p>
          <a:p>
            <a:endParaRPr/>
          </a:p>
          <a:p>
            <a:r>
              <a:t>عبرت: The orders that survive are the ones that say what a life is worth.</a:t>
            </a:r>
          </a:p>
          <a:p>
            <a:endParaRPr/>
          </a:p>
          <a:p>
            <a:r>
              <a:t>Source: البدایہ والنہایہ ج۷ ص۲۲۹</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NTS/E-U5 · The head and the two wings</a:t>
            </a:r>
          </a:p>
          <a:p>
            <a:r>
              <a:t>Tier: GOOD   When: 21 AH `[SOURCED]`</a:t>
            </a:r>
          </a:p>
          <a:p>
            <a:endParaRPr/>
          </a:p>
          <a:p>
            <a:r>
              <a:t>The Persian commander of تُستر, الهرمزان, had been captured and brought to المدینہ. When عمر ؓ has to decide where to strike first — أصبهان, or فارس, or أذربيجان — he puts the question to him. The answer is one sentence of pure strategy, from a man who had commanded on the other side, and عمر ؓ acts on it.</a:t>
            </a:r>
          </a:p>
          <a:p>
            <a:endParaRPr/>
          </a:p>
          <a:p>
            <a:r>
              <a:t>MAP: Three labels on the Persian plateau — أصبهان at the centre, فارس and أذربيجان to either side — with an arrow through the centre.</a:t>
            </a:r>
          </a:p>
          <a:p>
            <a:endParaRPr/>
          </a:p>
          <a:p>
            <a:r>
              <a:t>عبرت: Counsel was taken from the man best placed to give it, and where he had come from was not the question.</a:t>
            </a:r>
          </a:p>
          <a:p>
            <a:endParaRPr/>
          </a:p>
          <a:p>
            <a:r>
              <a:t>HANDS UP: Hands up — who would you ask, if you had to plan a campaign against an empire you had never governed?</a:t>
            </a:r>
          </a:p>
          <a:p>
            <a:endParaRPr/>
          </a:p>
          <a:p>
            <a:r>
              <a:t>Source: سیر أعلام النبلاء جراشدون ص۱۲۷</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NTS/E-U6 · The deadlock, and the man who had once claimed prophethood</a:t>
            </a:r>
          </a:p>
          <a:p>
            <a:r>
              <a:t>Tier: GOOD   When: 21 AH `[SOURCED]`</a:t>
            </a:r>
          </a:p>
          <a:p>
            <a:endParaRPr/>
          </a:p>
          <a:p>
            <a:r>
              <a:t>The Persians go behind their walls and their ditch, and come out only when they choose. It drags on — البدایہ says only «فلما طال على المسلمين هذا الحالُ واستمرَّ» and gives no length, so do not put a number of days or weeks on it. النعمان ؓ calls his senior men and asks how to draw them into the open. The oldest speaks first, by custom, and says wait. عمرو بن معدي كرب ؓ says charge, and is told the walls are fighting for the other side. Then طُلَيْحة الأسدي ؓ speaks — the same طليحة who had claimed prophethood in the ردة and come back to Islam, and whom أبو بكر ؓ had ordered خالد ؓ to consult but never to put in command. His plan is the one the army adopts.</a:t>
            </a:r>
          </a:p>
          <a:p>
            <a:endParaRPr/>
          </a:p>
          <a:p>
            <a:r>
              <a:t>MAP: The map holds still: a besieged town, the besiegers unable to force it. Nothing moves for the length of the card.</a:t>
            </a:r>
          </a:p>
          <a:p>
            <a:endParaRPr/>
          </a:p>
          <a:p>
            <a:r>
              <a:t>عبرت: A man can be kept out of command and still be listened to, and the two are not the same decision.</a:t>
            </a:r>
          </a:p>
          <a:p>
            <a:endParaRPr/>
          </a:p>
          <a:p>
            <a:r>
              <a:t>HANDS UP: Hands up — does anyone remember, from last week, the name of the man who claimed prophethood in نجد and then came back?</a:t>
            </a:r>
          </a:p>
          <a:p>
            <a:endParaRPr/>
          </a:p>
          <a:p>
            <a:r>
              <a:t>Source: البدایہ والنہایہ ج۷ ص۲۳۱</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NTS/E-U7 · Three takbīrs, and a commander who asks to be the first killed</a:t>
            </a:r>
          </a:p>
          <a:p>
            <a:r>
              <a:t>Tier: CORE   When: 21 AH `[SOURCED]`</a:t>
            </a:r>
          </a:p>
          <a:p>
            <a:endParaRPr/>
          </a:p>
          <a:p>
            <a:r>
              <a:t>The trap works. The Persians pour out of the town. النعمان ؓ has the army lie flat under their shields and take the arrows, and refuses to charge — men beg him and he says "gently, gently" — until the sun passes the meridian, the hour the Prophet ﷺ used to choose. Then he rides down the line, tells them he will say the takbīr three times and charge on the third, recites the chain of succession one more time, and prays out loud. He asks for two things. He is given both before dark.</a:t>
            </a:r>
          </a:p>
          <a:p>
            <a:endParaRPr/>
          </a:p>
          <a:p>
            <a:r>
              <a:t>MAP: The single largest map beat of the evening: the Persian front breaks and the line jumps east.</a:t>
            </a:r>
          </a:p>
          <a:p>
            <a:endParaRPr/>
          </a:p>
          <a:p>
            <a:r>
              <a:t>عبرت: He asked for the victory first and for himself second, and that is the order the words are in.</a:t>
            </a:r>
          </a:p>
          <a:p>
            <a:endParaRPr/>
          </a:p>
          <a:p>
            <a:r>
              <a:t>Source: الکامل فی التاریخ ج۲ ص۳۹۶</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NTS/E-U8 · The names the Commander of the Believers did not know</a:t>
            </a:r>
          </a:p>
          <a:p>
            <a:r>
              <a:t>Tier: CORE   When: 21 AH `[SOURCED]`</a:t>
            </a:r>
          </a:p>
          <a:p>
            <a:endParaRPr/>
          </a:p>
          <a:p>
            <a:r>
              <a:t>The standard passes to حذيفة ؓ, who hides the commander's death until the battle is decided. When it is over, the army asks for النعمان ؓ and his brother tells them where he is. In المدینہ, عمر ؓ has been sleepless, going out at night to meet the road. السائب ؓ arrives with the news: a great victory, and the commander dead. عمر ؓ says the words of return and weeps until his shoulders shake. Then he asks who else was killed. السائب ؓ names the men of standing — and then says there were others, whose names the Commander of the Believers would not know.</a:t>
            </a:r>
          </a:p>
          <a:p>
            <a:endParaRPr/>
          </a:p>
          <a:p>
            <a:r>
              <a:t>MAP: A dispatch rider on the road from نهاوند to المدینہ.</a:t>
            </a:r>
          </a:p>
          <a:p>
            <a:endParaRPr/>
          </a:p>
          <a:p>
            <a:r>
              <a:t>عبرت: The register that matters was never the one kept in المدینہ.</a:t>
            </a:r>
          </a:p>
          <a:p>
            <a:endParaRPr/>
          </a:p>
          <a:p>
            <a:r>
              <a:t>Source: الکامل فی التاریخ ج۲ ص۳۹۸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NTS/E-U9 · Why they called it the victory of victories</a:t>
            </a:r>
          </a:p>
          <a:p>
            <a:r>
              <a:t>Tier: CORE   When: 21 AH `[SOURCED]`</a:t>
            </a:r>
          </a:p>
          <a:p>
            <a:endParaRPr/>
          </a:p>
          <a:p>
            <a:r>
              <a:t>The name is not about the size of the plunder, though the plunder was enormous — six thousand to each horseman, two thousand to each man on foot, and two caskets of jewels that sold in الکوفہ for two million and again beyond the frontier for four. Three separate books give the same reason for the name, in almost the same words. After نهاوند the Persians never again assembled as a state. Everything that follows — الري, قومس, جرجان, أذربيجان, خراسان — is provinces falling one by one.</a:t>
            </a:r>
          </a:p>
          <a:p>
            <a:endParaRPr/>
          </a:p>
          <a:p>
            <a:r>
              <a:t>MAP: The closing state of the Persian half of the map: the Sasanian block, previously one colour, dissolves into separate provinces taken one at a time.</a:t>
            </a:r>
          </a:p>
          <a:p>
            <a:endParaRPr/>
          </a:p>
          <a:p>
            <a:r>
              <a:t>عبرت: The battle that is remembered is not always the largest one; it is the one after which nothing was the same.</a:t>
            </a:r>
          </a:p>
          <a:p>
            <a:endParaRPr/>
          </a:p>
          <a:p>
            <a:r>
              <a:t>Source: الکامل فی التاریخ ج۲ ص۳۹۹</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NTS/E-U10 · The captives of Nahāwand, and the man who wept over them</a:t>
            </a:r>
          </a:p>
          <a:p>
            <a:r>
              <a:t>Tier: CORE   When: 21 AH `[SOURCED]`</a:t>
            </a:r>
          </a:p>
          <a:p>
            <a:endParaRPr/>
          </a:p>
          <a:p>
            <a:r>
              <a:t>The captives from نهاوند are brought to المدینہ. And in the streets of the city there is a slave, a Persian craftsman — a carpenter, an engraver, a smith — who is not permitted in المدینہ at all except by a special exemption his master had written for. When he meets the children among the captives he strokes their heads and weeps, and says one sentence. Both البدایہ and الکامل then explain, in the same breath, where he was from. He was from نهاوند.</a:t>
            </a:r>
          </a:p>
          <a:p>
            <a:endParaRPr/>
          </a:p>
          <a:p>
            <a:r>
              <a:t>MAP: The map does not move. One line drawn back from نهاوند to المدینہ — the only line on the map that runs westward.</a:t>
            </a:r>
          </a:p>
          <a:p>
            <a:endParaRPr/>
          </a:p>
          <a:p>
            <a:r>
              <a:t>عبرت: The books set the victory and what came of it on the same page, and left the reader to hold both.</a:t>
            </a:r>
          </a:p>
          <a:p>
            <a:endParaRPr/>
          </a:p>
          <a:p>
            <a:r>
              <a:t>Source: البدایہ والنہایہ ج۷ ص۲۳۴</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NTS/E-U11 · A slave stops the caliph in the market</a:t>
            </a:r>
          </a:p>
          <a:p>
            <a:r>
              <a:t>Tier: CORE   When: 23 AH `[SOURCED]`, days before the attack — **the month is not given on any page held**; سیر ص۸۹ places it only «فلبث عمر ليالي، ثم دعاه» ("ʿUmar waited some nights, then summoned him"), so ذو الحجة is an inference, `[CONVENTIONAL-ESTIMATE]`, and must not be printed as a date</a:t>
            </a:r>
          </a:p>
          <a:p>
            <a:endParaRPr/>
          </a:p>
          <a:p>
            <a:r>
              <a:t>عمر ؓ is walking through the market. أبو لؤلؤة meets him and asks for redress against his own master: the daily levy is too heavy. عمر ؓ asks how much, and what his trade is, and then tells him that for the work he does the levy is not heavy. The reports differ on the figure — two dirhams a day, four a day, a hundred a month. They do not differ on what happened next. عمر ؓ mentions the wind-mill he has heard the man boast he could build, and asks him to build one. The answer is the last thing either of them says to the other.</a:t>
            </a:r>
          </a:p>
          <a:p>
            <a:endParaRPr/>
          </a:p>
          <a:p>
            <a:r>
              <a:t>MAP: No map. The street of المدینہ.</a:t>
            </a:r>
          </a:p>
          <a:p>
            <a:endParaRPr/>
          </a:p>
          <a:p>
            <a:r>
              <a:t>عبرت: The complaint reached the head of the state in the street, and was heard, and was refused; all three of those are facts about the same government.</a:t>
            </a:r>
          </a:p>
          <a:p>
            <a:endParaRPr/>
          </a:p>
          <a:p>
            <a:r>
              <a:t>HANDS UP: Hands up — in how many governments, in any century, can the man with the smallest grievance stop the ruler in the street and be answered by him personally?</a:t>
            </a:r>
          </a:p>
          <a:p>
            <a:endParaRPr/>
          </a:p>
          <a:p>
            <a:r>
              <a:t>Source: الکامل فی التاریخ ج۲ ص۴۲۷</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NTS/E-U12 · The فجر of Wednesday</a:t>
            </a:r>
          </a:p>
          <a:p>
            <a:r>
              <a:t>Tier: CORE   When: Wednesday, four nights remaining of ذو الحجة 23 AH `[SOURCED]`; the sources also give three, and seven</a:t>
            </a:r>
          </a:p>
          <a:p>
            <a:endParaRPr/>
          </a:p>
          <a:p>
            <a:r>
              <a:t>عمر ؓ used to appoint men to straighten the rows, and would not say the takbīr until they were straight. أبو لؤلؤة came into the mosque in the last dark and stood in the row facing him with a two-headed dagger, its handle in the middle. He struck him six times — البدایہ says three, and it is said six — and one blow below the navel was the one that killed him. Then he turned and struck his way out through the congregation. Thirteen men were struck; six of them died. A man of العراق threw a cloak over him, and he killed himself.</a:t>
            </a:r>
          </a:p>
          <a:p>
            <a:endParaRPr/>
          </a:p>
          <a:p>
            <a:r>
              <a:t>MAP: No map. A single dark slide.</a:t>
            </a:r>
          </a:p>
          <a:p>
            <a:endParaRPr/>
          </a:p>
          <a:p>
            <a:r>
              <a:t>عبرت: He was struck in the one place he could not be guarded, doing the one thing he would not delegate.</a:t>
            </a:r>
          </a:p>
          <a:p>
            <a:endParaRPr/>
          </a:p>
          <a:p>
            <a:r>
              <a:t>Source: الکامل فی التاریخ ج۲ ص۴۲۸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NTS/E-U13 · What the man beside him heard</a:t>
            </a:r>
          </a:p>
          <a:p>
            <a:r>
              <a:t>Tier: CORE   When: 23 AH `[SOURCED]`</a:t>
            </a:r>
          </a:p>
          <a:p>
            <a:endParaRPr/>
          </a:p>
          <a:p>
            <a:r>
              <a:t>One report in سیر comes from a man who was actually in the congregation. He had walked back from the market that day with عمر ؓ leaning on his arm, and أبو لؤلؤة had passed them and looked at عمر ؓ in a way he never forgot. The next morning he was in the mosque, half asleep, when he heard the voice from the front of the rows. Then the whole congregation surged. And then — this is the detail that tells you the prayer never stopped — he heard someone else's recitation begin.</a:t>
            </a:r>
          </a:p>
          <a:p>
            <a:endParaRPr/>
          </a:p>
          <a:p>
            <a:r>
              <a:t>MAP: No map.</a:t>
            </a:r>
          </a:p>
          <a:p>
            <a:endParaRPr/>
          </a:p>
          <a:p>
            <a:r>
              <a:t>عبرت: The congregation was thrown into confusion for a moment, and then the prayer went on, because he had said who was to lead it before he fell.</a:t>
            </a:r>
          </a:p>
          <a:p>
            <a:endParaRPr/>
          </a:p>
          <a:p>
            <a:r>
              <a:t>Source: سیر أعلام النبلاء جراشدون ص۹۰</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NTS/E-U14 · He asks who it was, and gives thanks for the answer</a:t>
            </a:r>
          </a:p>
          <a:p>
            <a:r>
              <a:t>Tier: GOOD   When: 23 AH `[SOURCED]`</a:t>
            </a:r>
          </a:p>
          <a:p>
            <a:endParaRPr/>
          </a:p>
          <a:p>
            <a:r>
              <a:t>They carry him to his house before sunrise with the blood running. He faints and comes round and faints again. When he can speak he asks one question: who struck me? They tell him it was أبو لؤلؤة, المغيرة ؓ's slave. His answer is not about the man at all. It is thanks that his killer was not from among the Muslims — that no man who prayed had done this. Then, البدایہ says, he adds quietly: "may God abase him; we had ordered good treatment for him."</a:t>
            </a:r>
          </a:p>
          <a:p>
            <a:endParaRPr/>
          </a:p>
          <a:p>
            <a:r>
              <a:t>MAP: No map.</a:t>
            </a:r>
          </a:p>
          <a:p>
            <a:endParaRPr/>
          </a:p>
          <a:p>
            <a:r>
              <a:t>عبرت: The first thing he wanted to know about his own killing was what it would mean for the community, not what it meant for him.</a:t>
            </a:r>
          </a:p>
          <a:p>
            <a:endParaRPr/>
          </a:p>
          <a:p>
            <a:r>
              <a:t>Source: البدایہ والنہایہ ج۷ ص۲۶۸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NTS/E-U15 · Roused for the prayer</a:t>
            </a:r>
          </a:p>
          <a:p>
            <a:r>
              <a:t>Tier: CORE   When: 23 AH `[SOURCED]`</a:t>
            </a:r>
          </a:p>
          <a:p>
            <a:endParaRPr/>
          </a:p>
          <a:p>
            <a:r>
              <a:t>He lay three days. In that time they gave him نبيذ to drink and it came out of the wound; they gave him milk and it came out of the wound; and the physician told him plainly to make his bequest. Through all of it, whenever the time of prayer came, they woke him. The wound was still open. He prayed anyway, and said the sentence, and المسور بن مخرمة ؓ, who was there, records what the wound was doing while he prayed.</a:t>
            </a:r>
          </a:p>
          <a:p>
            <a:endParaRPr/>
          </a:p>
          <a:p>
            <a:r>
              <a:t>MAP: No map.</a:t>
            </a:r>
          </a:p>
          <a:p>
            <a:endParaRPr/>
          </a:p>
          <a:p>
            <a:r>
              <a:t>عبرت: The one obligation he would not be excused from was the one he was dying of.</a:t>
            </a:r>
          </a:p>
          <a:p>
            <a:endParaRPr/>
          </a:p>
          <a:p>
            <a:r>
              <a:t>Source: سیر أعلام النبلاء جراشدون ص۹۲</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NTS/E-U16 · The debt, and a place he had to ask for</a:t>
            </a:r>
          </a:p>
          <a:p>
            <a:r>
              <a:t>Tier: CORE   When: 23 AH `[SOURCED]`</a:t>
            </a:r>
          </a:p>
          <a:p>
            <a:endParaRPr/>
          </a:p>
          <a:p>
            <a:r>
              <a:t>He calls his son and tells him to work out what he owes. They count it: about eighty-six thousand. He gives the order of recourse — his own family's property first, then بنو عدي, then قريش. Then he sends the same son on a different errand. He does not order it; he asks. And the answer he gets back is the sentence that ends the card. He had asked to be buried beside the Prophet ﷺ and أبو بكر ؓ, and the place he was asking for was the place she had kept for herself.</a:t>
            </a:r>
          </a:p>
          <a:p>
            <a:endParaRPr/>
          </a:p>
          <a:p>
            <a:r>
              <a:t>MAP: No map. The Prophetic chamber, with two graves in it.</a:t>
            </a:r>
          </a:p>
          <a:p>
            <a:endParaRPr/>
          </a:p>
          <a:p>
            <a:r>
              <a:t>عبرت: The most powerful man alive could not take three cubits of ground; he had to ask, and be given.</a:t>
            </a:r>
          </a:p>
          <a:p>
            <a:endParaRPr/>
          </a:p>
          <a:p>
            <a:r>
              <a:t>HANDS UP: Hands up — who can name the two men already buried in that room?</a:t>
            </a:r>
          </a:p>
          <a:p>
            <a:endParaRPr/>
          </a:p>
          <a:p>
            <a:r>
              <a:t>Source: سیر أعلام النبلاء جراشدون ص۹۱</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NTS/E-U17 · The charge to whoever comes next</a:t>
            </a:r>
          </a:p>
          <a:p>
            <a:r>
              <a:t>Tier: CORE   When: 23 AH `[SOURCED]`</a:t>
            </a:r>
          </a:p>
          <a:p>
            <a:endParaRPr/>
          </a:p>
          <a:p>
            <a:r>
              <a:t>With the wound open and the room full, he dictates what the next caliph is to be told. He does not talk about policy or about the frontier. He names groups of people and says what is owed to each — in الکامل's transmission the أنصار «who settled the abode and the faith»; the Arab tribes, whose zakāt is to go to their own poor; and the non-Muslims under the Prophet's ﷺ covenant, whose covenant is to be kept. Then he asks whether he has discharged the duty, and says what condition he believes he is leaving the office in.</a:t>
            </a:r>
          </a:p>
          <a:p>
            <a:endParaRPr/>
          </a:p>
          <a:p>
            <a:r>
              <a:t>MAP: No map. Three words on screen, one at a time — الأنصار · العرب · ذمة رسول الله ﷺ — which is الکامل's list, the one the quotation below carries. **Do not add المهاجرون to these three: that comes from a different transmission in سیر (§6.3, §0 no. 13), which also drops the other two.**</a:t>
            </a:r>
          </a:p>
          <a:p>
            <a:endParaRPr/>
          </a:p>
          <a:p>
            <a:r>
              <a:t>عبرت: The last order he gave was a list of people he would never meet again and what was still owed to them.</a:t>
            </a:r>
          </a:p>
          <a:p>
            <a:endParaRPr/>
          </a:p>
          <a:p>
            <a:r>
              <a:t>Source: الکامل فی التاریخ ج۲ ص۴۲۸</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NTS/E-U18 · He refuses to name his own son</a:t>
            </a:r>
          </a:p>
          <a:p>
            <a:r>
              <a:t>Tier: GOOD   When: 23 AH `[SOURCED]`</a:t>
            </a:r>
          </a:p>
          <a:p>
            <a:endParaRPr/>
          </a:p>
          <a:p>
            <a:r>
              <a:t>They press him to appoint a successor. He says that if أبو عبيدة ؓ were alive he would appoint him, and tell his Lord why; and if سالم مولى أبي حذيفة ؓ were alive, the same. Both are dead. Then someone suggests his own son. عبد الله بن عمر ؓ, who was in the room, says he wished at that moment that the whole breadth of المدینہ lay between him and his father. The refusal that follows is reported in two books, and the reasoning is the same in both.</a:t>
            </a:r>
          </a:p>
          <a:p>
            <a:endParaRPr/>
          </a:p>
          <a:p>
            <a:r>
              <a:t>MAP: No map.</a:t>
            </a:r>
          </a:p>
          <a:p>
            <a:endParaRPr/>
          </a:p>
          <a:p>
            <a:r>
              <a:t>عبرت: The question he could not get past was not who deserved it but what he would say when asked.</a:t>
            </a:r>
          </a:p>
          <a:p>
            <a:endParaRPr/>
          </a:p>
          <a:p>
            <a:r>
              <a:t>Source: سیر أعلام النبلاء جراشدون ص۹۳</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NTS/E-U19 · Six names, and the cousin who was left off the list</a:t>
            </a:r>
          </a:p>
          <a:p>
            <a:r>
              <a:t>Tier: CORE   When: 23 AH `[SOURCED]`</a:t>
            </a:r>
          </a:p>
          <a:p>
            <a:endParaRPr/>
          </a:p>
          <a:p>
            <a:r>
              <a:t>He will not appoint one man and he will not leave a vacancy. So he names six, and gives the reason for the six: they are the men the Prophet ﷺ died pleased with. He had already announced them from the منبر weeks before, in a Friday sermon, after a dream he read as his own notice. And there is a seventh man who belongs on any such list — سعيد بن زيد ؓ, one of the ten given the promise of Paradise. He is left off. Both البدایہ passages give the same reason, and it is not a criticism of سعيد ؓ.</a:t>
            </a:r>
          </a:p>
          <a:p>
            <a:endParaRPr/>
          </a:p>
          <a:p>
            <a:r>
              <a:t>MAP: No map. Six names on screen, and a seventh name greyed out beside them.</a:t>
            </a:r>
          </a:p>
          <a:p>
            <a:endParaRPr/>
          </a:p>
          <a:p>
            <a:r>
              <a:t>عبرت: He removed his own clan from the succession before anyone else could ask him to.</a:t>
            </a:r>
          </a:p>
          <a:p>
            <a:endParaRPr/>
          </a:p>
          <a:p>
            <a:r>
              <a:t>HANDS UP: Hands up — can anyone name three of the six? (Then put all six up.)</a:t>
            </a:r>
          </a:p>
          <a:p>
            <a:endParaRPr/>
          </a:p>
          <a:p>
            <a:r>
              <a:t>Source: البدایہ والنہایہ ج۷ ص۲۶۹</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NTS/E-U20 · The rules: three days, and a fourth day that must not dawn</a:t>
            </a:r>
          </a:p>
          <a:p>
            <a:r>
              <a:t>Tier: CORE   When: 23 AH `[SOURCED]`</a:t>
            </a:r>
          </a:p>
          <a:p>
            <a:endParaRPr/>
          </a:p>
          <a:p>
            <a:r>
              <a:t>He does not leave the six to work it out. He sets a procedure. Three days, no more. صهيب ؓ leads the prayer meanwhile — the books state the instruction and give no reason for it, so **do not supply one from the platform.** His own son attends and advises and is ineligible. طلحة ؓ is away, and is given the three days to arrive; after that they proceed without him. أبو طلحة الأنصاري ؓ takes fifty men of the أنصار and keeps the door. And a fourth day is not to dawn on المدینہ without a commander.</a:t>
            </a:r>
          </a:p>
          <a:p>
            <a:endParaRPr/>
          </a:p>
          <a:p>
            <a:r>
              <a:t>MAP: No map. A three-day counter.</a:t>
            </a:r>
          </a:p>
          <a:p>
            <a:endParaRPr/>
          </a:p>
          <a:p>
            <a:r>
              <a:t>عبرت: He could not choose the man, so he built the thing that would: a deadline, a doorkeeper, and a rule that his own son could speak but not inherit.</a:t>
            </a:r>
          </a:p>
          <a:p>
            <a:endParaRPr/>
          </a:p>
          <a:p>
            <a:r>
              <a:t>Source: الکامل فی التاریخ ج۲ ص۴۴۱</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NTS/E-U21 · The one who could have had it takes himself out</a:t>
            </a:r>
          </a:p>
          <a:p>
            <a:r>
              <a:t>Tier: CORE   When: المحرم 24 AH `[SOURCED]`</a:t>
            </a:r>
          </a:p>
          <a:p>
            <a:endParaRPr/>
          </a:p>
          <a:p>
            <a:r>
              <a:t>عمر ؓ is buried. المقداد ؓ gathers the six in a house and أبو طلحة ؓ stands at the door. Voices rise inside, and أبو طلحة ؓ tells them he had feared they would refuse the thing, not compete for it, and that they will get their three days and not an hour more. Then عبد الرحمن بن عوف ؓ asks which of them will take himself out of the running and choose for the rest. Nobody answers. So he does it himself — and علی ؓ makes him swear to conditions first.</a:t>
            </a:r>
          </a:p>
          <a:p>
            <a:endParaRPr/>
          </a:p>
          <a:p>
            <a:r>
              <a:t>MAP: No map. Six names; one steps forward and out of the frame.</a:t>
            </a:r>
          </a:p>
          <a:p>
            <a:endParaRPr/>
          </a:p>
          <a:p>
            <a:r>
              <a:t>عبرت: The man who decided it was the one man who had made himself ineligible to benefit from the decision.</a:t>
            </a:r>
          </a:p>
          <a:p>
            <a:endParaRPr/>
          </a:p>
          <a:p>
            <a:r>
              <a:t>Source: الکامل فی التاریخ ج۲ ص۴۴۳</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NTS/E-U22 · Three days and three nights, asking the city</a:t>
            </a:r>
          </a:p>
          <a:p>
            <a:r>
              <a:t>Tier: CORE   When: المحرم 24 AH `[SOURCED]`</a:t>
            </a:r>
          </a:p>
          <a:p>
            <a:endParaRPr/>
          </a:p>
          <a:p>
            <a:r>
              <a:t>He does not deliberate in a room. He goes out into the city and asks it. ابن کثیر lists who he asked, and the list is the point: the chiefs of the tribes and the commanders of the armies; men in assembly and men one at a time; openly and in private; the secluded women behind their curtains; the boys in the schools; the travellers and bedouin coming in off the road. Three days and three nights, sleeping only between prayers. And he found the city of one mind, with two named exceptions that ابن کثیر records rather than suppresses.</a:t>
            </a:r>
          </a:p>
          <a:p>
            <a:endParaRPr/>
          </a:p>
          <a:p>
            <a:r>
              <a:t>MAP: No map. المدینہ, and a figure moving through it.</a:t>
            </a:r>
          </a:p>
          <a:p>
            <a:endParaRPr/>
          </a:p>
          <a:p>
            <a:r>
              <a:t>عبرت: He was asked to choose and he went and asked everybody, including the people nobody would have thought to ask.</a:t>
            </a:r>
          </a:p>
          <a:p>
            <a:endParaRPr/>
          </a:p>
          <a:p>
            <a:r>
              <a:t>HANDS UP: Hands up — before I read the list: who do you think a man in the year 24 would have consulted? (Then read it.)</a:t>
            </a:r>
          </a:p>
          <a:p>
            <a:endParaRPr/>
          </a:p>
          <a:p>
            <a:r>
              <a:t>Source: البدایہ والنہایہ ج۷ ص۲۸۱</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NTS/E-U23 · The pledge, at the minbar, on a condition</a:t>
            </a:r>
          </a:p>
          <a:p>
            <a:r>
              <a:t>Tier: CORE   When: المحرم 24 AH `[SOURCED]`</a:t>
            </a:r>
          </a:p>
          <a:p>
            <a:endParaRPr/>
          </a:p>
          <a:p>
            <a:r>
              <a:t>On the fourth morning he calls المدینہ to the mosque, and it fills until there is no room left. عبد الرحمن ؓ goes up onto the منبر, prays a long silent prayer, and then tells the city what he found. He calls علی ؓ first, takes his hand, and puts the condition. Then he calls عثمان ؓ and puts the same condition. Then he raises his head to the roof of the mosque and repeats one sentence three times. The city crowds in to give the pledge, and علی ؓ gives it — البدایہ says first, and it is said last. طلحة ؓ arrives afterwards, is offered the chance to refuse, and gives it too.</a:t>
            </a:r>
          </a:p>
          <a:p>
            <a:endParaRPr/>
          </a:p>
          <a:p>
            <a:r>
              <a:t>MAP: No map. The mosque, full.</a:t>
            </a:r>
          </a:p>
          <a:p>
            <a:endParaRPr/>
          </a:p>
          <a:p>
            <a:r>
              <a:t>عبرت: The pledge was given in public, on a stated condition, in front of the people it bound.</a:t>
            </a:r>
          </a:p>
          <a:p>
            <a:endParaRPr/>
          </a:p>
          <a:p>
            <a:r>
              <a:t>Source: البدایہ والنہایہ ج۷ ص۲۸۲</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NTS/E-U24 · The man who took it all, and wrote twice ordering it to stop</a:t>
            </a:r>
          </a:p>
          <a:p>
            <a:r>
              <a:t>Tier: GOOD   When: 22–23 AH `[SOURCED]`</a:t>
            </a:r>
          </a:p>
          <a:p>
            <a:endParaRPr/>
          </a:p>
          <a:p>
            <a:r>
              <a:t>Two dispatches reach المدینہ within a year of each other. One is from the far south-east: مُكران is taken, and the Sindī king's relief force is broken. The messenger describes the country and عمر ؓ asks whether he is making rhymed prose or reporting — and then forbids any army of his to go there again. The other is from the north-east: الأحنف بن قيس ؓ has secured خراسان to بلخ. عمر ؓ's reply is not congratulation. It is a wish, a prediction, and a written order to hold the line at the river.</a:t>
            </a:r>
          </a:p>
          <a:p>
            <a:endParaRPr/>
          </a:p>
          <a:p>
            <a:r>
              <a:t>MAP: The closing map: the full extent shaded — برقة to بلخ — and then two short bars drawn in, one east of مُكران and one at the river beyond خراسان.</a:t>
            </a:r>
          </a:p>
          <a:p>
            <a:endParaRPr/>
          </a:p>
          <a:p>
            <a:r>
              <a:t>عبرت: Knowing where to stop is a decision, and it has to be made in writing like any other.</a:t>
            </a:r>
          </a:p>
          <a:p>
            <a:endParaRPr/>
          </a:p>
          <a:p>
            <a:r>
              <a:t>HANDS UP: Hands up — where do you think the boundary was when he died? (Then show it, and then show the two bars.)</a:t>
            </a:r>
          </a:p>
          <a:p>
            <a:endParaRPr/>
          </a:p>
          <a:p>
            <a:r>
              <a:t>Source: الکامل فی التاریخ ج۲ ص۴۲۵</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NTS/E-U25 · What the historian throws out</a:t>
            </a:r>
          </a:p>
          <a:p>
            <a:r>
              <a:t>Tier: GOOD   When: method, spoken inside the story `[SOURCED]`</a:t>
            </a:r>
          </a:p>
          <a:p>
            <a:endParaRPr/>
          </a:p>
          <a:p>
            <a:r>
              <a:t>ابن کثیر, writing six hundred years later, sets down the reports about the شورى — and then does something worth watching. He lists the reports that make the whole thing a stitch-up, states that they contradict what is established in the authentic collections, and rejects them by name. This is the moment to say, once and briefly, what the whole course rests on: a report being in a history book is not the same as a report being established. The historian sorts. Here we can watch him do it.</a:t>
            </a:r>
          </a:p>
          <a:p>
            <a:endParaRPr/>
          </a:p>
          <a:p>
            <a:r>
              <a:t>MAP: No map. One page of البدایہ on screen.</a:t>
            </a:r>
          </a:p>
          <a:p>
            <a:endParaRPr/>
          </a:p>
          <a:p>
            <a:r>
              <a:t>عبرت: A book that keeps a report it disbelieves, and says so, is more trustworthy than a book with no disagreements in it.</a:t>
            </a:r>
          </a:p>
          <a:p>
            <a:endParaRPr/>
          </a:p>
          <a:p>
            <a:r>
              <a:t>Source: البدایہ والنہایہ ج۷ ص۲۸۳</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NTS/E-U26 · The first case the new caliph had to judge</a:t>
            </a:r>
          </a:p>
          <a:p>
            <a:r>
              <a:t>Tier: CUT   When: المحرم 24 AH `[SOURCED]` — recorded, not planned for delivery</a:t>
            </a:r>
          </a:p>
          <a:p>
            <a:endParaRPr/>
          </a:p>
          <a:p>
            <a:r>
              <a:t>عمر ؓ had ordered his son عبيد الله ؓ held in custody so that the next caliph could rule on his case. What he had done was go out on the day of the killing and kill three people he believed were part of it — الهرمزان, a Christian named جفينة, and أبو لؤلؤة's young daughter. It was the first matter brought to عثمان ؓ as caliph. علی ؓ held that the law required the execution; others said the father was killed yesterday and the son today; عمرو بن العاص ؓ pointed out the case had not arisen in عثمان ؓ's own term. عثمان ؓ paid the blood-money out of his own property.</a:t>
            </a:r>
          </a:p>
          <a:p>
            <a:endParaRPr/>
          </a:p>
          <a:p>
            <a:r>
              <a:t>MAP: No map.</a:t>
            </a:r>
          </a:p>
          <a:p>
            <a:endParaRPr/>
          </a:p>
          <a:p>
            <a:r>
              <a:t>عبرت: The first case the new caliph heard was against the son of the caliph just buried, and it was heard rather than waved away.</a:t>
            </a:r>
          </a:p>
          <a:p>
            <a:endParaRPr/>
          </a:p>
          <a:p>
            <a:r>
              <a:t>HANDS UP: no — do NOT raise this from the platform. It belongs to session 3. If a written slip asks, answer from the page and defer.</a:t>
            </a:r>
          </a:p>
          <a:p>
            <a:endParaRPr/>
          </a:p>
          <a:p>
            <a:r>
              <a:t>Source: البدایہ والنہایہ ج۷ ص۲۸۴</a:t>
            </a:r>
          </a:p>
          <a:p>
            <a:endParaRPr/>
          </a:p>
          <a:p>
            <a:r>
              <a:t>From: نهاوند, the assassination, and the شورى</a:t>
            </a:r>
          </a:p>
        </p:txBody>
      </p:sp>
      <p:sp>
        <p:nvSpPr>
          <p:cNvPr id="4" name="Slide Number Placeholder 3"/>
          <p:cNvSpPr>
            <a:spLocks noGrp="1"/>
          </p:cNvSpPr>
          <p:nvPr>
            <p:ph type="sldNum" sz="quarter" idx="5"/>
          </p:nvPr>
        </p:nvSpPr>
        <p:spPr/>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 · The dower that was Islam</a:t>
            </a:r>
          </a:p>
          <a:p>
            <a:r>
              <a:t>Tier: CORE   When: before the Hijra, at Medina `[STANDARD]` (the sources fix no year)</a:t>
            </a:r>
          </a:p>
          <a:p>
            <a:endParaRPr/>
          </a:p>
          <a:p>
            <a:r>
              <a:t>Abū Ṭalḥa came to ask for Umm Sulaym in marriage. He was still a pagan; she had already believed. She told him she would not refuse a man like him, but that he was a disbeliever. Then she named her price. If he accepted Islam, that would be her dower, and she would ask for nothing else. He accepted Islam, and he married her.</a:t>
            </a:r>
          </a:p>
          <a:p>
            <a:endParaRPr/>
          </a:p>
          <a:p>
            <a:r>
              <a:t>MAP: Medina — بنو النجار quarter</a:t>
            </a:r>
          </a:p>
          <a:p>
            <a:endParaRPr/>
          </a:p>
          <a:p>
            <a:r>
              <a:t>عبرت: She set the terms of her own household before she entered it.</a:t>
            </a:r>
          </a:p>
          <a:p>
            <a:endParaRPr/>
          </a:p>
          <a:p>
            <a:r>
              <a:t>HANDS UP: no — but ثابت's closing line is worth adding aloud: *"We never heard of a nobler dower than Umm Sulaym's dower: Islam."*</a:t>
            </a:r>
          </a:p>
          <a:p>
            <a:endParaRPr/>
          </a:p>
          <a:p>
            <a:r>
              <a:t>Source: سیر أعلام النبلاء ج۲ ص۲۹</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THO/E-HS2 · The gift she had left</a:t>
            </a:r>
          </a:p>
          <a:p>
            <a:r>
              <a:t>Tier: GOOD   When: ۱ھ, soon after the Hijra `[SOURCED]` (سیر ج۳ ص۳۹۷: he was ten when the Prophet ﷺ reached Medina)</a:t>
            </a:r>
          </a:p>
          <a:p>
            <a:endParaRPr/>
          </a:p>
          <a:p>
            <a:r>
              <a:t>Umm Sulaym dressed her son in half her own head-covering, brought him to the Prophet ﷺ, and asked that he be taken into service and prayed for. He was ten years old. He stayed ten years.</a:t>
            </a:r>
          </a:p>
          <a:p>
            <a:endParaRPr/>
          </a:p>
          <a:p>
            <a:r>
              <a:t>MAP: Medina</a:t>
            </a:r>
          </a:p>
          <a:p>
            <a:endParaRPr/>
          </a:p>
          <a:p>
            <a:r>
              <a:t>عبرت: She gave what she had, and what she had was a child's ten years.</a:t>
            </a:r>
          </a:p>
          <a:p>
            <a:endParaRPr/>
          </a:p>
          <a:p>
            <a:r>
              <a:t>HANDS UP: yes — *"How old were you when you first learned something you still use?"*</a:t>
            </a:r>
          </a:p>
          <a:p>
            <a:endParaRPr/>
          </a:p>
          <a:p>
            <a:r>
              <a:t>Source: سیر أعلام النبلاء ج۳ ص۳۹۸</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THO/E-HS3 · Ten years, and not one rebuke</a:t>
            </a:r>
          </a:p>
          <a:p>
            <a:r>
              <a:t>Tier: CORE   When: ۱–۱۱ھ `[SOURCED]`</a:t>
            </a:r>
          </a:p>
          <a:p>
            <a:endParaRPr/>
          </a:p>
          <a:p>
            <a:r>
              <a:t>Anas served in that household for ten years. He said afterwards, under oath, that in ten years he was never once told off — not for something he did, and not for something he failed to do. He said the word «uff» was never said to him.</a:t>
            </a:r>
          </a:p>
          <a:p>
            <a:endParaRPr/>
          </a:p>
          <a:p>
            <a:r>
              <a:t>MAP: n/a</a:t>
            </a:r>
          </a:p>
          <a:p>
            <a:endParaRPr/>
          </a:p>
          <a:p>
            <a:r>
              <a:t>عبرت: The measure of a man is what the people who work for him say afterwards.</a:t>
            </a:r>
          </a:p>
          <a:p>
            <a:endParaRPr/>
          </a:p>
          <a:p>
            <a:r>
              <a:t>Source: سیر أعلام النبلاء، جلد السیرہ ۲ ص۳۸۶</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THO/E-HS4 · «I find the scent of Paradise»</a:t>
            </a:r>
          </a:p>
          <a:p>
            <a:r>
              <a:t>Tier: CORE   When: أحد, شوال ۳ھ `[STANDARD]` (the year is not fixed on the pages read; سیر's chapter heading is «غزوة أحد وكانت في شوال»)</a:t>
            </a:r>
          </a:p>
          <a:p>
            <a:endParaRPr/>
          </a:p>
          <a:p>
            <a:r>
              <a:t>Anas b. al-Naḍr had missed Badr, and it weighed on him. He said that if Allah ever gave him a battle, Allah would see what he did. At Uḥud the Muslim line broke. He walked forward with his sword, and met Saʿd b. Muʿādh on the way. He told Saʿd he could smell Paradise, on this side of the mountain. Then he went in, and fought until he was killed. Saʿd said afterwards that he himself could not do what that man had done.</a:t>
            </a:r>
          </a:p>
          <a:p>
            <a:endParaRPr/>
          </a:p>
          <a:p>
            <a:r>
              <a:t>MAP: أحد, north of Medina</a:t>
            </a:r>
          </a:p>
          <a:p>
            <a:endParaRPr/>
          </a:p>
          <a:p>
            <a:r>
              <a:t>عبرت: He had made a promise in private, and he kept it on a day when nobody would have checked.</a:t>
            </a:r>
          </a:p>
          <a:p>
            <a:endParaRPr/>
          </a:p>
          <a:p>
            <a:r>
              <a:t>HANDS UP: yes — *"Has anyone here ever missed something and spent years wishing they had been there?"*</a:t>
            </a:r>
          </a:p>
          <a:p>
            <a:endParaRPr/>
          </a:p>
          <a:p>
            <a:r>
              <a:t>Source: البدایہ والنہایہ ج۴ ص۲۰۳</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THO/E-HS5 · Known by his fingertips</a:t>
            </a:r>
          </a:p>
          <a:p>
            <a:r>
              <a:t>Tier: CORE   When: أحد, ۳ھ `[STANDARD]` (as E-HS4 — the year is not fixed on the pages read)</a:t>
            </a:r>
          </a:p>
          <a:p>
            <a:endParaRPr/>
          </a:p>
          <a:p>
            <a:r>
              <a:t>When the fighting stopped they went out to identify the dead. They found Anas b. al-Naḍr, and there were more than eighty wounds on his body — sword, spear and arrow. His own family could not tell who he was. His sister came, and she recognised her brother by his fingertips. His nephew, who was still a boy, later said that the verse of Sūrat al-Aḥzāb was held to have come down about him and men like him.</a:t>
            </a:r>
          </a:p>
          <a:p>
            <a:endParaRPr/>
          </a:p>
          <a:p>
            <a:r>
              <a:t>MAP: the field at أحد</a:t>
            </a:r>
          </a:p>
          <a:p>
            <a:endParaRPr/>
          </a:p>
          <a:p>
            <a:r>
              <a:t>عبرت: Some men are recognised by their faces, and some by what is left of their hands.</a:t>
            </a:r>
          </a:p>
          <a:p>
            <a:endParaRPr/>
          </a:p>
          <a:p>
            <a:r>
              <a:t>Source: verse as quoted at البدایہ والنہایہ ج۴ ص۲۰۳ the reference</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THO/E-HS6 · «What will you do with life after him?»</a:t>
            </a:r>
          </a:p>
          <a:p>
            <a:r>
              <a:t>Tier: GOOD   When: أحد, ۳ھ `[STANDARD]`, at the moment the rumour spread</a:t>
            </a:r>
          </a:p>
          <a:p>
            <a:endParaRPr/>
          </a:p>
          <a:p>
            <a:r>
              <a:t>The word went round the field that the Prophet ﷺ had been killed. Men sat down where they were and let their hands fall — among them ʿUmar and Ṭalḥa. Anas b. al-Naḍr came on them sitting and asked what was keeping them there. They told him. He said one sentence and walked past them into the fighting.</a:t>
            </a:r>
          </a:p>
          <a:p>
            <a:endParaRPr/>
          </a:p>
          <a:p>
            <a:r>
              <a:t>MAP: أحد</a:t>
            </a:r>
          </a:p>
          <a:p>
            <a:endParaRPr/>
          </a:p>
          <a:p>
            <a:r>
              <a:t>عبرت: A rumour stopped a whole line of men; one sentence started it moving again.</a:t>
            </a:r>
          </a:p>
          <a:p>
            <a:endParaRPr/>
          </a:p>
          <a:p>
            <a:r>
              <a:t>Source: البدایہ والنہایہ ج۴ ص۲۰۷</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THO/E-HS7 · The dagger at Ḥunayn</a:t>
            </a:r>
          </a:p>
          <a:p>
            <a:r>
              <a:t>Tier: CORE   When: حنين, ۸ھ `[STANDARD]` (the year is not on the pages read)</a:t>
            </a:r>
          </a:p>
          <a:p>
            <a:endParaRPr/>
          </a:p>
          <a:p>
            <a:r>
              <a:t>The Muslims had been driven back at the start of the day. Abū Ṭalḥa found his wife standing there with a dagger in her hand. He asked her what it was for. She said that if any of the enemy came near her she would use it on him. Abū Ṭalḥa turned to the Prophet ﷺ and asked whether he had heard what she was saying. And the Prophet ﷺ laughed.</a:t>
            </a:r>
          </a:p>
          <a:p>
            <a:endParaRPr/>
          </a:p>
          <a:p>
            <a:r>
              <a:t>MAP: the valley of حنين, near الطائف</a:t>
            </a:r>
          </a:p>
          <a:p>
            <a:endParaRPr/>
          </a:p>
          <a:p>
            <a:r>
              <a:t>عبرت: She did not intend to be carried off a battlefield.</a:t>
            </a:r>
          </a:p>
          <a:p>
            <a:endParaRPr/>
          </a:p>
          <a:p>
            <a:r>
              <a:t>Source: سیر أعلام النبلاء ج۲ ص۳۰۴</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THO/E-HS8 · The water-carriers at Uḥud</a:t>
            </a:r>
          </a:p>
          <a:p>
            <a:r>
              <a:t>Tier: GOOD   When: أحد, ۳ھ `[STANDARD]`</a:t>
            </a:r>
          </a:p>
          <a:p>
            <a:endParaRPr/>
          </a:p>
          <a:p>
            <a:r>
              <a:t>Anas was a boy at Uḥud, and he remembered two things from that day. One was his stepfather standing in front of the Prophet ﷺ with a buckler, breaking bow after bow, saying: my throat before your throat. The other was two women with their skirts tucked up, running with waterskins on their backs, emptying them into the mouths of the men and going back to fill them again. One of them was ʿĀʾisha. The other was his mother.</a:t>
            </a:r>
          </a:p>
          <a:p>
            <a:endParaRPr/>
          </a:p>
          <a:p>
            <a:r>
              <a:t>MAP: أحد</a:t>
            </a:r>
          </a:p>
          <a:p>
            <a:endParaRPr/>
          </a:p>
          <a:p>
            <a:r>
              <a:t>عبرت: A boy remembers who was working, and he remembers it for the rest of his life.</a:t>
            </a:r>
          </a:p>
          <a:p>
            <a:endParaRPr/>
          </a:p>
          <a:p>
            <a:r>
              <a:t>Source: سیر أعلام النبلاء ج۲ ص۳۱</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THO/E-HS9 · «It was a loan»</a:t>
            </a:r>
          </a:p>
          <a:p>
            <a:r>
              <a:t>Tier: CORE   When: at Medina `[STANDARD]` (no year on the page)</a:t>
            </a:r>
          </a:p>
          <a:p>
            <a:endParaRPr/>
          </a:p>
          <a:p>
            <a:r>
              <a:t>Their small son was gravely ill. Abū Ṭalḥa went out to the mosque, and while he was gone the boy died. Umm Sulaym prepared the body herself and told the household to say nothing. Her husband came home; she had his supper ready, and he ate it. At the end of the night she asked him a question about some neighbours who had borrowed something and then would not give it back. He said they had not been fair. She said: your son was a loan from Allah, and He has taken him back. He said the words of return to Allah, and praised Him. In the morning he went to the Prophet ﷺ, who saw him and prayed for them both.</a:t>
            </a:r>
          </a:p>
          <a:p>
            <a:endParaRPr/>
          </a:p>
          <a:p>
            <a:r>
              <a:t>MAP: Medina</a:t>
            </a:r>
          </a:p>
          <a:p>
            <a:endParaRPr/>
          </a:p>
          <a:p>
            <a:r>
              <a:t>عبرت: She made him say the ruling before she told him it was his own case.</a:t>
            </a:r>
          </a:p>
          <a:p>
            <a:endParaRPr/>
          </a:p>
          <a:p>
            <a:r>
              <a:t>Source: سیر أعلام النبلاء ج۲ ص۳۱۰</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THO/E-HS10 · Bayruḥāʾ</a:t>
            </a:r>
          </a:p>
          <a:p>
            <a:r>
              <a:t>Tier: GOOD   When: at Medina `[STANDARD]`</a:t>
            </a:r>
          </a:p>
          <a:p>
            <a:endParaRPr/>
          </a:p>
          <a:p>
            <a:r>
              <a:t>Abū Ṭalḥa owned more date-palms than any other man of the Anṣār at Medina. The one he loved most was a garden called Bayruḥāʾ. He came and gave it away, and said plainly that he was giving away the piece he loved most, and asked the Prophet ﷺ to place it wherever he was shown. He was told to put it among his own near kin.</a:t>
            </a:r>
          </a:p>
          <a:p>
            <a:endParaRPr/>
          </a:p>
          <a:p>
            <a:r>
              <a:t>MAP: the palm gardens of Medina</a:t>
            </a:r>
          </a:p>
          <a:p>
            <a:endParaRPr/>
          </a:p>
          <a:p>
            <a:r>
              <a:t>عبرت: He gave away the thing he would miss, and he was told to give it to his own relatives.</a:t>
            </a:r>
          </a:p>
          <a:p>
            <a:endParaRPr/>
          </a:p>
          <a:p>
            <a:r>
              <a:t>HANDS UP: yes — *"What is the one thing in your house you would find hardest to give away?"*</a:t>
            </a:r>
          </a:p>
          <a:p>
            <a:endParaRPr/>
          </a:p>
          <a:p>
            <a:r>
              <a:t>Source: سیر أعلام النبلاء ج۲ ص۳۳</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THO/E-HS11 · «I have won»</a:t>
            </a:r>
          </a:p>
          <a:p>
            <a:r>
              <a:t>Tier: CORE   When: بئر معونة, ۴ھ `[STANDARD]` (البدایہ ج۴ ص۲۵۶ places it four months after Uḥud, in صفر)</a:t>
            </a:r>
          </a:p>
          <a:p>
            <a:endParaRPr/>
          </a:p>
          <a:p>
            <a:r>
              <a:t>A party was sent out to Najd to teach. Umm Sulaym's brother Ḥarām carried the letter forward. He asked for safe conduct until he had delivered the message, and began to speak to them. While he was speaking they signalled to a man, who came round behind him and ran a spear through him. He took the blood in his hand and threw it over his own face and head, and said what he said.</a:t>
            </a:r>
          </a:p>
          <a:p>
            <a:endParaRPr/>
          </a:p>
          <a:p>
            <a:r>
              <a:t>MAP: بئر معونة, between the land of بنو عامر and the ḥarra of بنو سليم</a:t>
            </a:r>
          </a:p>
          <a:p>
            <a:endParaRPr/>
          </a:p>
          <a:p>
            <a:r>
              <a:t>عبرت: He was killed in the middle of a sentence, and he called it winning.</a:t>
            </a:r>
          </a:p>
          <a:p>
            <a:endParaRPr/>
          </a:p>
          <a:p>
            <a:r>
              <a:t>Source: البدایہ والنہایہ ج۴ ص۲۵۵ (the page cites البخاري ٤٠٩١، ٤٠٩٢)</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THO/E-HS12 · The reason the Prophet ﷺ came to that house</a:t>
            </a:r>
          </a:p>
          <a:p>
            <a:r>
              <a:t>Tier: CORE   When: after بئر معونة, ۴ھ onwards</a:t>
            </a:r>
          </a:p>
          <a:p>
            <a:endParaRPr/>
          </a:p>
          <a:p>
            <a:r>
              <a:t>People noticed that the Prophet ﷺ went into no house in Medina except Umm Sulaym's. They asked him about it. He gave one reason, and it was not a compliment to the house. It was that her brother had been killed alongside him.</a:t>
            </a:r>
          </a:p>
          <a:p>
            <a:endParaRPr/>
          </a:p>
          <a:p>
            <a:r>
              <a:t>MAP: Medina — the house of أم سليم ؓ</a:t>
            </a:r>
          </a:p>
          <a:p>
            <a:endParaRPr/>
          </a:p>
          <a:p>
            <a:r>
              <a:t>عبرت: The debt a leader owes is to the family, and it is paid by turning up.</a:t>
            </a:r>
          </a:p>
          <a:p>
            <a:endParaRPr/>
          </a:p>
          <a:p>
            <a:r>
              <a:t>HANDS UP: yes — *"Why do you think he went to that house and no other?"* (Then give the answer from the page.)</a:t>
            </a:r>
          </a:p>
          <a:p>
            <a:endParaRPr/>
          </a:p>
          <a:p>
            <a:r>
              <a:t>Source: سیر أعلام النبلاء ج۲ ص۳۰۶–۳۰۷</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THO/E-HS13 · Umm Ḥarām and the sea</a:t>
            </a:r>
          </a:p>
          <a:p>
            <a:r>
              <a:t>Tier: GOOD   When: the ḥadīth: at Medina, in the Prophet's ﷺ lifetime. The expedition: ۲۸ھ `[SOURCED]` — البدایہ ج۷ ص۲۹۰ records ۲۷، ۲۸ and ۳۳</a:t>
            </a:r>
          </a:p>
          <a:p>
            <a:endParaRPr/>
          </a:p>
          <a:p>
            <a:r>
              <a:t>The Prophet ﷺ rested in her house one afternoon and woke up laughing. She asked what had made him laugh. He said people of his umma had been shown to him riding the sea like kings on thrones. She asked him to pray that she be one of them, and he told her she was among the first. Years later, under ʿUthmān, Muʿāwiya took a fleet to Cyprus, and her husband ʿUbāda b. al-Ṣāmit carried her with him. When they came ashore on the way back, a mule threw her, and she died there.</a:t>
            </a:r>
          </a:p>
          <a:p>
            <a:endParaRPr/>
          </a:p>
          <a:p>
            <a:r>
              <a:t>MAP: Medina → Cyprus. **This is the first point on the map that is across water.**</a:t>
            </a:r>
          </a:p>
          <a:p>
            <a:endParaRPr/>
          </a:p>
          <a:p>
            <a:r>
              <a:t>عبرت: She was told where she would be a caliphate before the ships were built.</a:t>
            </a:r>
          </a:p>
          <a:p>
            <a:endParaRPr/>
          </a:p>
          <a:p>
            <a:r>
              <a:t>HANDS UP: yes — *"How long between a promise and its keeping is too long?"*</a:t>
            </a:r>
          </a:p>
          <a:p>
            <a:endParaRPr/>
          </a:p>
          <a:p>
            <a:r>
              <a:t>Source: سیر أعلام النبلاء ج۲ ص۳۱۶–۳۱۷</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THO/E-HS14 · «Do not put al-Barāʾ over an army»</a:t>
            </a:r>
          </a:p>
          <a:p>
            <a:r>
              <a:t>Tier: GOOD   When: the caliphate of عمر ؓ, ۱۳–۲۳ھ `[SOURCED]` for the caliphate; the letter itself is undated</a:t>
            </a:r>
          </a:p>
          <a:p>
            <a:endParaRPr/>
          </a:p>
          <a:p>
            <a:r>
              <a:t>Anas b. Mālik's elder brother al-Barāʾ was the kind of fighter other men lined up behind. It is reported that ʿUmar wrote to his army commanders about him, and the instruction was not to give him a command. The reason given was not that he was unreliable. It was the opposite.</a:t>
            </a:r>
          </a:p>
          <a:p>
            <a:endParaRPr/>
          </a:p>
          <a:p>
            <a:r>
              <a:t>MAP: n/a</a:t>
            </a:r>
          </a:p>
          <a:p>
            <a:endParaRPr/>
          </a:p>
          <a:p>
            <a:r>
              <a:t>عبرت: Courage is not the same qualification as command, and a state has to know the difference.</a:t>
            </a:r>
          </a:p>
          <a:p>
            <a:endParaRPr/>
          </a:p>
          <a:p>
            <a:r>
              <a:t>HANDS UP: yes — *"Would you put the bravest man in the room in charge of the room?"*</a:t>
            </a:r>
          </a:p>
          <a:p>
            <a:endParaRPr/>
          </a:p>
          <a:p>
            <a:r>
              <a:t>Source: سیر أعلام النبلاء ج۱ ص۱۹۶</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THO/E-HS15 · «Do you see me dying in my bed?»</a:t>
            </a:r>
          </a:p>
          <a:p>
            <a:r>
              <a:t>Tier: GOOD   When: at Medina or Basra, undated</a:t>
            </a:r>
          </a:p>
          <a:p>
            <a:endParaRPr/>
          </a:p>
          <a:p>
            <a:r>
              <a:t>Anas came in on his brother and found him singing over his bow. He asked him how long that was going to go on. His brother answered with a question of his own, and then with a number: ninety-nine men killed in single combat, not counting what he had shared in with everyone else. In a second telling Anas puts the question the other way and asks him why he sings poetry when Allah has given him the Qurʾān instead.</a:t>
            </a:r>
          </a:p>
          <a:p>
            <a:endParaRPr/>
          </a:p>
          <a:p>
            <a:r>
              <a:t>MAP: n/a</a:t>
            </a:r>
          </a:p>
          <a:p>
            <a:endParaRPr/>
          </a:p>
          <a:p>
            <a:r>
              <a:t>عبرت: Two brothers in one house, and each thought the other needed correcting.</a:t>
            </a:r>
          </a:p>
          <a:p>
            <a:endParaRPr/>
          </a:p>
          <a:p>
            <a:r>
              <a:t>Source: سیر أعلام النبلاء ج۱ ص۱۹۸</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THO/E-HS16 · Over the wall at Ḥadīqat al-Mawt</a:t>
            </a:r>
          </a:p>
          <a:p>
            <a:r>
              <a:t>Tier: CORE   When: اليمامة, ۱۲ھ `[SOURCED]` (see `ridda-campaign-the-conduct-of-the-wars.md`)</a:t>
            </a:r>
          </a:p>
          <a:p>
            <a:endParaRPr/>
          </a:p>
          <a:p>
            <a:r>
              <a:t>Banū Ḥanīfa had shut themselves inside a walled garden and barred the gate. Al-Barāʾ told the men to throw him over the wall on top of them. They refused. He swore an oath that they would do it. They lifted him on a shield on the points of their spears until he cleared the wall, and he went down among them alone. He fought his way to the gate and opened it. He came out of that garden with more than eighty wounds on him, and Khālid b. al-Walīd stayed a month treating them.</a:t>
            </a:r>
          </a:p>
          <a:p>
            <a:endParaRPr/>
          </a:p>
          <a:p>
            <a:r>
              <a:t>MAP: اليمامة — the walled garden; the gate opens from the inside</a:t>
            </a:r>
          </a:p>
          <a:p>
            <a:endParaRPr/>
          </a:p>
          <a:p>
            <a:r>
              <a:t>عبرت: The gate that decided the day was opened from the inside, by one man who had to argue his own side into throwing him.</a:t>
            </a:r>
          </a:p>
          <a:p>
            <a:endParaRPr/>
          </a:p>
          <a:p>
            <a:r>
              <a:t>Source: الکامل فی التاریخ ج۲ ص۲۱۸</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THO/E-HS17 · The oath at Tustar</a:t>
            </a:r>
          </a:p>
          <a:p>
            <a:r>
              <a:t>Tier: CORE   When: the conquest of تُسْتَر — سیر ج۱ ص۱۹۸ says ۲۰ھ; البدایہ and الکامل narrate it under ۱۷ھ `[SOURCED]` both ways</a:t>
            </a:r>
          </a:p>
          <a:p>
            <a:endParaRPr/>
          </a:p>
          <a:p>
            <a:r>
              <a:t>The siege had gone on for months and the assaults kept failing. The men knew there was a ḥadīth about al-Barāʾ — that if he swore an oath upon Allah, Allah would answer it. So in the last assault they asked him to swear that oath for them. He made the prayer they asked for, and then added something to it that they had not asked for. They broke the enemy that day. He was killed inside the city.</a:t>
            </a:r>
          </a:p>
          <a:p>
            <a:endParaRPr/>
          </a:p>
          <a:p>
            <a:r>
              <a:t>MAP: خوزستان — تُسْتَر, east of البصرة; the Persian frontier moves past the Zagros</a:t>
            </a:r>
          </a:p>
          <a:p>
            <a:endParaRPr/>
          </a:p>
          <a:p>
            <a:r>
              <a:t>عبرت: He was asked to pray for the army; he prayed for the army and put himself in the cost column.</a:t>
            </a:r>
          </a:p>
          <a:p>
            <a:endParaRPr/>
          </a:p>
          <a:p>
            <a:r>
              <a:t>Source: الکامل فی التاریخ ج۲ ص۳۶۸ (identically at البدایہ ج۷ ص۱۹۷)</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THO/E-HS18 · The dawn prayer at Tustar</a:t>
            </a:r>
          </a:p>
          <a:p>
            <a:r>
              <a:t>Tier: GOOD   When: the same morning as E-HS17</a:t>
            </a:r>
          </a:p>
          <a:p>
            <a:endParaRPr/>
          </a:p>
          <a:p>
            <a:r>
              <a:t>Anas b. Mālik was there. Volunteers went into the town at night with the water — «كالبطّ», like ducks — put the gatekeepers to sleep and opened the gates at Fajr, and the fighting ran on into the morning; nobody prayed Ṣubḥ until after the sun was up (البدایہ ج۷ ص۱۹۸). Anas said afterwards that he would not have traded that prayer for red camels. He was the one who took the captured lord of the city, al-Hurmuzān, back to ʿUmar. He was also the brother of the man who had been killed at that wall.</a:t>
            </a:r>
          </a:p>
          <a:p>
            <a:endParaRPr/>
          </a:p>
          <a:p>
            <a:r>
              <a:t>MAP: تُسْتَر</a:t>
            </a:r>
          </a:p>
          <a:p>
            <a:endParaRPr/>
          </a:p>
          <a:p>
            <a:r>
              <a:t>عبرت: The same morning is a conquest in one man's memory and a brother's grave in another's.</a:t>
            </a:r>
          </a:p>
          <a:p>
            <a:endParaRPr/>
          </a:p>
          <a:p>
            <a:r>
              <a:t>Source: البدایہ والنہایہ ج۷ ص۱۹۸ (the page cites البخاري)</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THO/E-HS19 · «Equip me»</a:t>
            </a:r>
          </a:p>
          <a:p>
            <a:r>
              <a:t>Tier: GOOD   When: the caliphate of عثمان ؓ `[SOURCED]` (سیر ج۲ ص۲۸: عثمان ؓ prayed over him)</a:t>
            </a:r>
          </a:p>
          <a:p>
            <a:endParaRPr/>
          </a:p>
          <a:p>
            <a:r>
              <a:t>Abū Ṭalḥa was old. He read the verse that says go forth, light and heavy, and took it as addressed to him. He told his sons to equip him. They tried to talk him out of it: he had fought under the Prophet ﷺ, under Abū Bakr and under ʿUmar, and they would fight in his place now. He refused. He went to sea, and died on the ship, and they found no island to bury him on for seven days.</a:t>
            </a:r>
          </a:p>
          <a:p>
            <a:endParaRPr/>
          </a:p>
          <a:p>
            <a:r>
              <a:t>MAP: Medina → the sea</a:t>
            </a:r>
          </a:p>
          <a:p>
            <a:endParaRPr/>
          </a:p>
          <a:p>
            <a:r>
              <a:t>عبرت: He would not let his sons carry an obligation he read as his own.</a:t>
            </a:r>
          </a:p>
          <a:p>
            <a:endParaRPr/>
          </a:p>
          <a:p>
            <a:r>
              <a:t>Source: سیر أعلام النبلاء ج۲ ص۳۴</a:t>
            </a:r>
          </a:p>
          <a:p>
            <a:endParaRPr/>
          </a:p>
          <a:p>
            <a:r>
              <a:t>From: The people: the house of أم سليم ؓ</a:t>
            </a:r>
          </a:p>
        </p:txBody>
      </p:sp>
      <p:sp>
        <p:nvSpPr>
          <p:cNvPr id="4" name="Slide Number Placeholder 3"/>
          <p:cNvSpPr>
            <a:spLocks noGrp="1"/>
          </p:cNvSpPr>
          <p:nvPr>
            <p:ph type="sldNum" sz="quarter" idx="5"/>
          </p:nvPr>
        </p:nvSpPr>
        <p:spPr/>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AHA/E-AS01 · The ship they hired for half a dinar</a:t>
            </a:r>
          </a:p>
          <a:p>
            <a:r>
              <a:t>Tier: GOOD   When: ۵ years after the beginning of revelation `[SOURCED]` (البدایہ ج۳ ص۲۸۱,</a:t>
            </a:r>
          </a:p>
          <a:p>
            <a:endParaRPr/>
          </a:p>
          <a:p>
            <a:r>
              <a:t>The persecution in Mecca got past bearing. A small party left for Abyssinia, because the Prophet ﷺ had told them there was a king there under whom no one was wronged. Eleven men and four women went down to the sea, some walking and some riding. They hired a ship for half a dinar. On it were ʿUthmān ؓ and his wife Ruqayya ؓ, the Prophet's ﷺ daughter — and Abū Ḥudhayfa b. ʿUtba ؓ and his wife Sahla ؓ, the daughter of Suhayl b. ʿAmr ؓ.</a:t>
            </a:r>
          </a:p>
          <a:p>
            <a:endParaRPr/>
          </a:p>
          <a:p>
            <a:r>
              <a:t>MAP: Mecca → the Red Sea coast → **Abyssinia**. The first arrow</a:t>
            </a:r>
          </a:p>
          <a:p>
            <a:endParaRPr/>
          </a:p>
          <a:p>
            <a:r>
              <a:t>عبرت: The first thing this ummah did when it could not stay was to pool a fare and leave</a:t>
            </a:r>
          </a:p>
          <a:p>
            <a:endParaRPr/>
          </a:p>
          <a:p>
            <a:r>
              <a:t>Source: البدایہ والنہایہ ج۳ ص۲۸۱</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AHA/E-AS02 · The son of the elder of the Jāhiliyya</a:t>
            </a:r>
          </a:p>
          <a:p>
            <a:r>
              <a:t>Tier: CORE   When: before دار الأرقم `[SOURCED]`</a:t>
            </a:r>
          </a:p>
          <a:p>
            <a:endParaRPr/>
          </a:p>
          <a:p>
            <a:r>
              <a:t>Abū Ḥudhayfa ؓ was the son of ʿUtba b. Rabīʿa — one of the great men of Quraysh before Islam. Al-Dhahabī رحمہ اللہ, opening his notice, does not soften the position at all. In one sentence he calls him a martyr, calls his father the elder of the Jāhiliyya, and calls him a man of Badr. He had accepted Islam before the Companions were even meeting in the house of al-Arqam.</a:t>
            </a:r>
          </a:p>
          <a:p>
            <a:endParaRPr/>
          </a:p>
          <a:p>
            <a:r>
              <a:t>MAP: n/a. One line of text, large.</a:t>
            </a:r>
          </a:p>
          <a:p>
            <a:endParaRPr/>
          </a:p>
          <a:p>
            <a:r>
              <a:t>عبرت: A man's descent is recorded honestly, and it is not what he is judged by.</a:t>
            </a:r>
          </a:p>
          <a:p>
            <a:endParaRPr/>
          </a:p>
          <a:p>
            <a:r>
              <a:t>HANDS UP: Before it: "Who here has a relative who did not agree with the biggest decision they</a:t>
            </a:r>
          </a:p>
          <a:p>
            <a:endParaRPr/>
          </a:p>
          <a:p>
            <a:r>
              <a:t>Source: سیر أعلام النبلاء ج۱ ص۱۶۴</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AHA/E-AS03 · Badr — the father and the brother</a:t>
            </a:r>
          </a:p>
          <a:p>
            <a:r>
              <a:t>Tier: CORE   When: ۲ھ `[SOURCED]`</a:t>
            </a:r>
          </a:p>
          <a:p>
            <a:endParaRPr/>
          </a:p>
          <a:p>
            <a:r>
              <a:t>Badr opened with single combat. Quraysh called for their equals to come out. The Prophet ﷺ sent ʿUbayda b. al-Ḥārith ؓ, Ḥamza ؓ and ʿAlī ؓ. Against them came ʿUtba b. Rabīʿa, his brother Shayba, and ʿUtba's son al-Walīd. All three of the Meccans were killed. ʿUtba was the father of Abū Ḥudhayfa ؓ, and al-Walīd was his brother — and Abū Ḥudhayfa ؓ was standing with the Muslims.</a:t>
            </a:r>
          </a:p>
          <a:p>
            <a:endParaRPr/>
          </a:p>
          <a:p>
            <a:r>
              <a:t>MAP: **بدر**, the first battle marker on the line.</a:t>
            </a:r>
          </a:p>
          <a:p>
            <a:endParaRPr/>
          </a:p>
          <a:p>
            <a:r>
              <a:t>عبرت: He was not asked to stop being his father's son. He was asked which side of the field to</a:t>
            </a:r>
          </a:p>
          <a:p>
            <a:endParaRPr/>
          </a:p>
          <a:p>
            <a:r>
              <a:t>Source: البدایہ والنہایہ ج۴ ص۶۰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AHA/E-AS04 · The face the Prophet ﷺ noticed at the well</a:t>
            </a:r>
          </a:p>
          <a:p>
            <a:r>
              <a:t>Tier: CORE   When: ۲ھ, after بدر `[SOURCED]`</a:t>
            </a:r>
          </a:p>
          <a:p>
            <a:endParaRPr/>
          </a:p>
          <a:p>
            <a:r>
              <a:t>After the battle the dead of Quraysh were put into the well. ʿUtba b. Rabīʿa was taken and dragged to it. The Prophet ﷺ looked at the face of his son, and saw it had gone pale. So he asked him whether something had entered him about his father. The answer was not a denial of grief. He said he had never doubted his father's fate, but that he had known a judgement and a forbearance in the man and had hoped it would bring him to Islam — and it had not. The Prophet ﷺ prayed for him, and spoke kindly to him.</a:t>
            </a:r>
          </a:p>
          <a:p>
            <a:endParaRPr/>
          </a:p>
          <a:p>
            <a:r>
              <a:t>MAP: n/a — the same بدر marker.</a:t>
            </a:r>
          </a:p>
          <a:p>
            <a:endParaRPr/>
          </a:p>
          <a:p>
            <a:r>
              <a:t>عبرت: He was not told that grief was a fault, and he did not pretend he had none.</a:t>
            </a:r>
          </a:p>
          <a:p>
            <a:endParaRPr/>
          </a:p>
          <a:p>
            <a:r>
              <a:t>Source: سیر أعلام النبلاء (السیرة النبویة) ص۳۱۲</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AHA/E-AS05 · The sentence he was afraid of for ten years — ⚠ SPEAKER'S DISCRETION</a:t>
            </a:r>
          </a:p>
          <a:p>
            <a:r>
              <a:t>Tier: GOOD   When: ۲ھ, and answered ۱۲ھ `[SOURCED]`</a:t>
            </a:r>
          </a:p>
          <a:p>
            <a:endParaRPr/>
          </a:p>
          <a:p>
            <a:r>
              <a:t>Before the fighting at Badr, the Prophet ﷺ named men who had been brought out against their will and were not to be killed. Al-ʿAbbās ؓ, his own uncle, was among them. Abū Ḥudhayfa ؓ objected out loud: were they to kill their own fathers and sons and brothers and leave al-ʿAbbās? Word of it reached the Prophet ﷺ. Abū Ḥudhayfa ؓ never forgave himself for it. He said afterwards that he would not stop fearing that word unless martyrdom wiped it away. Three separate books record the sentence, and all three end it in the same place: and he was killed a martyr at al-Yamāma.</a:t>
            </a:r>
          </a:p>
          <a:p>
            <a:endParaRPr/>
          </a:p>
          <a:p>
            <a:r>
              <a:t>MAP: n/a.</a:t>
            </a:r>
          </a:p>
          <a:p>
            <a:endParaRPr/>
          </a:p>
          <a:p>
            <a:r>
              <a:t>عبرت: He treated one sentence spoken in anger as a debt, and he carried it for ten years.</a:t>
            </a:r>
          </a:p>
          <a:p>
            <a:endParaRPr/>
          </a:p>
          <a:p>
            <a:r>
              <a:t>Source: البدایہ والنہایہ ج۴ ص۷۷</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AHA/E-AS06 · From Iṣṭakhr to the banner of the Muhājirūn</a:t>
            </a:r>
          </a:p>
          <a:p>
            <a:r>
              <a:t>Tier: CORE   When: before the hijra `[SOURCED]`</a:t>
            </a:r>
          </a:p>
          <a:p>
            <a:endParaRPr/>
          </a:p>
          <a:p>
            <a:r>
              <a:t>Sālim ؓ was a slave. His origin was Iṣṭakhr, in Persia. The woman of Abū Ḥudhayfa's ؓ household freed him, and Abū Ḥudhayfa ؓ took him as his own — adopted him outright. Al-Dhahabī رحمہ اللہ opens his notice on him with four descriptions in a row, and not one of them is about where he came from.</a:t>
            </a:r>
          </a:p>
          <a:p>
            <a:endParaRPr/>
          </a:p>
          <a:p>
            <a:r>
              <a:t>MAP: a faint line from **إصطخر** (Fārs)</a:t>
            </a:r>
          </a:p>
          <a:p>
            <a:endParaRPr/>
          </a:p>
          <a:p>
            <a:r>
              <a:t>عبرت: The books record where he came from in four words and what he became in four titles.</a:t>
            </a:r>
          </a:p>
          <a:p>
            <a:endParaRPr/>
          </a:p>
          <a:p>
            <a:r>
              <a:t>HANDS UP: Before it: "Where do you think the man who led the Muhājirūn in prayer came from?"</a:t>
            </a:r>
          </a:p>
          <a:p>
            <a:endParaRPr/>
          </a:p>
          <a:p>
            <a:r>
              <a:t>Source: سیر أعلام النبلاء ج۱ ص۱۶۷</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AHA/E-AS07 · The imām at Qubāʾ</a:t>
            </a:r>
          </a:p>
          <a:p>
            <a:r>
              <a:t>Tier: CORE   When: before the Prophet ﷺ reached Medina `[SOURCED]`</a:t>
            </a:r>
          </a:p>
          <a:p>
            <a:endParaRPr/>
          </a:p>
          <a:p>
            <a:r>
              <a:t>The Muhājirūn reached Medina before the Prophet ﷺ did. They camped at al-ʿUṣba, beside Qubāʾ, and they had to pray. Someone had to lead. They put forward a freed slave, because he had more of the Qurʾān than any of them. Among the men praying behind him was ʿUmar b. al-Khaṭṭāb ؓ.</a:t>
            </a:r>
          </a:p>
          <a:p>
            <a:endParaRPr/>
          </a:p>
          <a:p>
            <a:r>
              <a:t>MAP: **قُباء**,</a:t>
            </a:r>
          </a:p>
          <a:p>
            <a:endParaRPr/>
          </a:p>
          <a:p>
            <a:r>
              <a:t>عبرت: The first thing the Muhājirūn did on arriving was to put the best reciter in front,</a:t>
            </a:r>
          </a:p>
          <a:p>
            <a:endParaRPr/>
          </a:p>
          <a:p>
            <a:r>
              <a:t>Source: سیر أعلام النبلاء ج۱ ص۱۶۸–۱۶۹ و</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AHA/E-AS08 · The night the Prophet ﷺ took his cloak and went out to listen</a:t>
            </a:r>
          </a:p>
          <a:p>
            <a:r>
              <a:t>Tier: CORE   When: Medina `[SOURCED]` — الذہبی: «إسناده جيد»</a:t>
            </a:r>
          </a:p>
          <a:p>
            <a:endParaRPr/>
          </a:p>
          <a:p>
            <a:r>
              <a:t>One night ʿĀʾisha ؓ came in late. The Prophet ﷺ asked her what had kept her. She said there was a voice reciting in the mosque, finer than any she had heard. He took his cloak and went out to listen. It was Sālim ؓ, the freedman of Abū Ḥudhayfa. Al-Dhahabī رحمہ اللہ records the chain of this one and marks it good.</a:t>
            </a:r>
          </a:p>
          <a:p>
            <a:endParaRPr/>
          </a:p>
          <a:p>
            <a:r>
              <a:t>MAP: n/a.</a:t>
            </a:r>
          </a:p>
          <a:p>
            <a:endParaRPr/>
          </a:p>
          <a:p>
            <a:r>
              <a:t>عبرت: He was praised for what he carried, and the praise is recorded in the words the Prophet ﷺ</a:t>
            </a:r>
          </a:p>
          <a:p>
            <a:endParaRPr/>
          </a:p>
          <a:p>
            <a:r>
              <a:t>Source: سیر أعلام النبلاء ج۱ ص۱۶۸</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AHA/E-AS09 · Take the Qurʾān from four</a:t>
            </a:r>
          </a:p>
          <a:p>
            <a:r>
              <a:t>Tier: CORE   When: the Prophet's ﷺ lifetime `[SOURCED]`</a:t>
            </a:r>
          </a:p>
          <a:p>
            <a:endParaRPr/>
          </a:p>
          <a:p>
            <a:r>
              <a:t>Ibn Kathīr رحمہ اللہ, writing Sālim's ؓ death notice, gives the reason the ummah remembered him. He was one of four men the Prophet ﷺ named when he told the Companions from whom to take the Qurʾān. One of the four was a freed slave of the house of Abū Ḥudhayfa ؓ.</a:t>
            </a:r>
          </a:p>
          <a:p>
            <a:endParaRPr/>
          </a:p>
          <a:p>
            <a:r>
              <a:t>MAP: n/a.</a:t>
            </a:r>
          </a:p>
          <a:p>
            <a:endParaRPr/>
          </a:p>
          <a:p>
            <a:r>
              <a:t>عبرت: Standing in this matter was decided by what a man carried, and by nothing else about him.</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AHA/E-AS10 · The adoption undone, and the household that kept him anyway — ⚠ SPEAKER'S DISCRETION</a:t>
            </a:r>
          </a:p>
          <a:p>
            <a:r>
              <a:t>Tier: GOOD   When: Medina, after الأحزاب ۵ was revealed `[SOURCED]`</a:t>
            </a:r>
          </a:p>
          <a:p>
            <a:endParaRPr/>
          </a:p>
          <a:p>
            <a:r>
              <a:t>Abū Ḥudhayfa ؓ had adopted Sālim ؓ, and had married him to his own niece — Fāṭima, the daughter of his brother al-Walīd, the brother who had been killed at Badr on the other side. Then the verse came down: *call them by their fathers*. Adoption was no longer a legal fact, and Sālim ؓ was no longer a son of the house in law. The household did not put him out. It kept him by every other means it had.</a:t>
            </a:r>
          </a:p>
          <a:p>
            <a:endParaRPr/>
          </a:p>
          <a:p>
            <a:r>
              <a:t>MAP: n/a.</a:t>
            </a:r>
          </a:p>
          <a:p>
            <a:endParaRPr/>
          </a:p>
          <a:p>
            <a:r>
              <a:t>عبرت: A ruling changed what he could be called, and it did not change what the household did</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AHA/E-AS11 · "A wretched bearer of the Qurʾān I should be"</a:t>
            </a:r>
          </a:p>
          <a:p>
            <a:r>
              <a:t>Tier: CORE   When: ۱۲ھ, at اليمامة `[SOURCED]`</a:t>
            </a:r>
          </a:p>
          <a:p>
            <a:endParaRPr/>
          </a:p>
          <a:p>
            <a:r>
              <a:t>At al-Yamāma the Muslim line had already broken once. Sālim ؓ was holding the banner of the Muhājirūn — a banner the man before him had been killed carrying. The men around him asked him plainly whether he was afraid the line would be broken from his side. His answer was one sentence, and it is recorded in the same words by two separate books.</a:t>
            </a:r>
          </a:p>
          <a:p>
            <a:endParaRPr/>
          </a:p>
          <a:p>
            <a:r>
              <a:t>MAP: **عَقْرَباء**, the Muhājirūn's</a:t>
            </a:r>
          </a:p>
          <a:p>
            <a:endParaRPr/>
          </a:p>
          <a:p>
            <a:r>
              <a:t>عبرت: He answered a question about his courage by naming what he carried.</a:t>
            </a:r>
          </a:p>
          <a:p>
            <a:endParaRPr/>
          </a:p>
          <a:p>
            <a:r>
              <a:t>Source: البدایہ والنہایہ ج۷ ص۳۴</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AHA/E-AS12 · "Adorn the Qurʾān with deeds"</a:t>
            </a:r>
          </a:p>
          <a:p>
            <a:r>
              <a:t>Tier: CORE   When: ۱۲ھ, at اليمامة `[SOURCED]`</a:t>
            </a:r>
          </a:p>
          <a:p>
            <a:endParaRPr/>
          </a:p>
          <a:p>
            <a:r>
              <a:t>On the same field, in the same hour, Abū Ḥudhayfa ؓ was calling out to the men around him. He did not call them by tribe and he did not call them by clan. He called them the people of the Qurʾān, and told them what to do about it. Then he charged, drove the enemy back, and was struck down.</a:t>
            </a:r>
          </a:p>
          <a:p>
            <a:endParaRPr/>
          </a:p>
          <a:p>
            <a:r>
              <a:t>MAP: **عَقْرَباء**, the Muhājirūn's wing.</a:t>
            </a:r>
          </a:p>
          <a:p>
            <a:endParaRPr/>
          </a:p>
          <a:p>
            <a:r>
              <a:t>عبرت: The last thing he asked of anyone was that what they recited and what they did should</a:t>
            </a:r>
          </a:p>
          <a:p>
            <a:endParaRPr/>
          </a:p>
          <a:p>
            <a:r>
              <a:t>Source: البدایہ والنہایہ ج۷ ص۳۴</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AHA/E-AS13 · The banner nobody would leave on the ground</a:t>
            </a:r>
          </a:p>
          <a:p>
            <a:r>
              <a:t>Tier: GOOD   When: ۱۲ھ, at اليمامة `[SOURCED]`</a:t>
            </a:r>
          </a:p>
          <a:p>
            <a:endParaRPr/>
          </a:p>
          <a:p>
            <a:r>
              <a:t>Zayd b. al-Khaṭṭāb ؓ — the elder brother of ʿUmar ؓ — carried the banner forward into the enemy until he was killed. The banner fell. Sālim ؓ picked it up. Al-Dhahabī رحمہ اللہ records it in one sentence in Zayd's ؓ own notice, and Ibn Kathīr رحمہ اللہ records it twice, in two separate death notices on consecutive pages (ج۷ ص۴۹ and ج۷ ص۵۰).</a:t>
            </a:r>
          </a:p>
          <a:p>
            <a:endParaRPr/>
          </a:p>
          <a:p>
            <a:r>
              <a:t>MAP: **عَقْرَباء** — one marker, three</a:t>
            </a:r>
          </a:p>
          <a:p>
            <a:endParaRPr/>
          </a:p>
          <a:p>
            <a:r>
              <a:t>عبرت: Every man who took it knew what had happened to the man before him.</a:t>
            </a:r>
          </a:p>
          <a:p>
            <a:endParaRPr/>
          </a:p>
          <a:p>
            <a:r>
              <a:t>Source: سیر أعلام النبلاء ج۱ ص۲۹۸</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AHA/E-AS14 · Two men who dug a pit and did not come out of it</a:t>
            </a:r>
          </a:p>
          <a:p>
            <a:r>
              <a:t>Tier: GOOD   When: ۱۲ھ, at اليمامة `[SOURCED]`</a:t>
            </a:r>
          </a:p>
          <a:p>
            <a:endParaRPr/>
          </a:p>
          <a:p>
            <a:r>
              <a:t>Banū Ḥanīfa had driven the Muslims back three times. Thābit b. Qays ؓ and Sālim ؓ said the same thing to each other: this is not how we used to fight alongside the Messenger of Allah ﷺ. So they dug a pit, stood in it, and fought from there. Neither came out.</a:t>
            </a:r>
          </a:p>
          <a:p>
            <a:endParaRPr/>
          </a:p>
          <a:p>
            <a:r>
              <a:t>MAP: **عَقْرَباء**, the point where the</a:t>
            </a:r>
          </a:p>
          <a:p>
            <a:endParaRPr/>
          </a:p>
          <a:p>
            <a:r>
              <a:t>عبرت: They fixed the line by taking away their own ability to move back from it.</a:t>
            </a:r>
          </a:p>
          <a:p>
            <a:endParaRPr/>
          </a:p>
          <a:p>
            <a:r>
              <a:t>Source: البدایہ والنہایہ ج۷ ص۴۸</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AHA/E-AS15 · The hand, and the verse</a:t>
            </a:r>
          </a:p>
          <a:p>
            <a:r>
              <a:t>Tier: CORE   When: ۱۲ھ, at اليمامة `[SOURCED]`</a:t>
            </a:r>
          </a:p>
          <a:p>
            <a:endParaRPr/>
          </a:p>
          <a:p>
            <a:r>
              <a:t>Sālim ؓ was holding the banner when his right hand was severed. He took the banner in his left. That hand was cut too. So he clasped the banner to his chest, and he recited. The verse he recited was the one Abū Bakr ؓ had recited to the people of Medina the day the Prophet ﷺ died, the year before: *Muḥammad is no more than a Messenger; messengers have passed away before him.* Then he recited the verse that follows it: *and how many a prophet fought, and with him many devoted men.*</a:t>
            </a:r>
          </a:p>
          <a:p>
            <a:endParaRPr/>
          </a:p>
          <a:p>
            <a:r>
              <a:t>MAP: n/a — hold on the عَقْرَباء marker.</a:t>
            </a:r>
          </a:p>
          <a:p>
            <a:endParaRPr/>
          </a:p>
          <a:p>
            <a:r>
              <a:t>عبرت: The verse that steadied Medina in the year eleven is the verse a man recited on the ground</a:t>
            </a:r>
          </a:p>
          <a:p>
            <a:endParaRPr/>
          </a:p>
          <a:p>
            <a:r>
              <a:t>HANDS UP: Before it: "Does anyone remember the āya Abū Bakr ؓ read out the day the Prophet ﷺ</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AHA/E-AS16 · "Lay me down between them"</a:t>
            </a:r>
          </a:p>
          <a:p>
            <a:r>
              <a:t>Tier: CORE   When: ۱۲ھ, at اليمامة `[SOURCED]`</a:t>
            </a:r>
          </a:p>
          <a:p>
            <a:endParaRPr/>
          </a:p>
          <a:p>
            <a:r>
              <a:t>Struck down, Sālim ؓ asked the men near him a question. What had become of Abū Ḥudhayfa? They told him he had been killed. He asked about one other man. They told him he was dead too. Then he asked them for one thing, and it was the last thing he asked for.</a:t>
            </a:r>
          </a:p>
          <a:p>
            <a:endParaRPr/>
          </a:p>
          <a:p>
            <a:r>
              <a:t>MAP: n/a.</a:t>
            </a:r>
          </a:p>
          <a:p>
            <a:endParaRPr/>
          </a:p>
          <a:p>
            <a:r>
              <a:t>عبرت: The freed slave's last request was to be put back beside the household that had taken him</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AHA/E-AS17 · How they were found</a:t>
            </a:r>
          </a:p>
          <a:p>
            <a:r>
              <a:t>Tier: GOOD   When: ۱۲ھ, after اليمامة `[SOURCED]` — reported by الذہبی as «وقيل»</a:t>
            </a:r>
          </a:p>
          <a:p>
            <a:endParaRPr/>
          </a:p>
          <a:p>
            <a:r>
              <a:t>In his notice on Sālim ؓ, al-Dhahabī رحمہ اللہ gives a report he introduces with the word *it is said* — which is his way of passing something on without vouching for it. And elsewhere, in the roll of the day's martyrs (سیر ج۱ ص۲۹۸), he lists the two of them first, and in that order: Abū Ḥudhayfa b. ʿUtba al-ʿAbshamī, and his freedman Sālim, one of the reciters.</a:t>
            </a:r>
          </a:p>
          <a:p>
            <a:endParaRPr/>
          </a:p>
          <a:p>
            <a:r>
              <a:t>MAP: n/a.</a:t>
            </a:r>
          </a:p>
          <a:p>
            <a:endParaRPr/>
          </a:p>
          <a:p>
            <a:r>
              <a:t>عبرت: The books that list the dead of that day put the master and the freedman on one line.</a:t>
            </a:r>
          </a:p>
          <a:p>
            <a:endParaRPr/>
          </a:p>
          <a:p>
            <a:r>
              <a:t>Source: سیر أعلام النبلاء ج۱ ص۱۶۹</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AHA/E-AS18 · "Had Sālim been alive"</a:t>
            </a:r>
          </a:p>
          <a:p>
            <a:r>
              <a:t>Tier: CORE   When: ۲۳ھ, Medina `[SOURCED]`</a:t>
            </a:r>
          </a:p>
          <a:p>
            <a:endParaRPr/>
          </a:p>
          <a:p>
            <a:r>
              <a:t>Eleven years after al-Yamāma, ʿUmar ؓ was dying of the assassin's wound, and the question of who would follow him would not wait. He refused to name one man and set up a council of six instead. And it is related that he said that had Sālim ؓ been alive, he would not have made it a council at all. Ibn ʿAbd al-Barr رحمہ اللہ explains what that means: he would have gone by Sālim's ؓ judgement about whom to appoint.</a:t>
            </a:r>
          </a:p>
          <a:p>
            <a:endParaRPr/>
          </a:p>
          <a:p>
            <a:r>
              <a:t>MAP: n/a — the timeline jumps forward eleven</a:t>
            </a:r>
          </a:p>
          <a:p>
            <a:endParaRPr/>
          </a:p>
          <a:p>
            <a:r>
              <a:t>عبرت: Eleven years later, the man the Commander of the Faithful wished were still in the room</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AHA/E-AS19 · The inheritance that was sent back</a:t>
            </a:r>
          </a:p>
          <a:p>
            <a:r>
              <a:t>Tier: GOOD   When: after ۱۲ھ `[SOURCED]`</a:t>
            </a:r>
          </a:p>
          <a:p>
            <a:endParaRPr/>
          </a:p>
          <a:p>
            <a:r>
              <a:t>Sālim ؓ died leaving property and no heir of his own. Under the law of walāʾ it went to the woman who had freed him, so ʿUmar ؓ sent it to her. She sent it back. Her reason was that she had freed him outright — sāʾiba — and had never freed him expecting a return. ʿUmar ؓ put the estate into the treasury instead.</a:t>
            </a:r>
          </a:p>
          <a:p>
            <a:endParaRPr/>
          </a:p>
          <a:p>
            <a:r>
              <a:t>MAP: n/a.</a:t>
            </a:r>
          </a:p>
          <a:p>
            <a:endParaRPr/>
          </a:p>
          <a:p>
            <a:r>
              <a:t>عبرت: She had a legal claim on what he left, and she said she had not freed him in order to</a:t>
            </a:r>
          </a:p>
          <a:p>
            <a:endParaRPr/>
          </a:p>
          <a:p>
            <a:r>
              <a:t>Source: البدایہ والنہایہ ج۷ ص۵۰</a:t>
            </a:r>
          </a:p>
          <a:p>
            <a:endParaRPr/>
          </a:p>
          <a:p>
            <a:r>
              <a:t>From: The people: أبو حذيفة ؓ and سالم ؓ</a:t>
            </a:r>
          </a:p>
        </p:txBody>
      </p:sp>
      <p:sp>
        <p:nvSpPr>
          <p:cNvPr id="4" name="Slide Number Placeholder 3"/>
          <p:cNvSpPr>
            <a:spLocks noGrp="1"/>
          </p:cNvSpPr>
          <p:nvPr>
            <p:ph type="sldNum" sz="quarter" idx="5"/>
          </p:nvPr>
        </p:nvSpPr>
        <p:spPr/>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 · The brother who went first</a:t>
            </a:r>
          </a:p>
          <a:p>
            <a:r>
              <a:t>Tier: CORE   When: بدر, ۲ھ `[SOURCED]`</a:t>
            </a:r>
          </a:p>
          <a:p>
            <a:endParaRPr/>
          </a:p>
          <a:p>
            <a:r>
              <a:t>ʿUmar ؓ had an elder brother. His name was Zayd, and he accepted Islam before ʿUmar did. At Badr, ʿUmar ؓ offered him his own coat of mail to wear. Zayd ؓ would not take it. He told his younger brother that he wanted from martyrdom exactly what his brother wanted. So neither of them wore it, and both of them fought without it.</a:t>
            </a:r>
          </a:p>
          <a:p>
            <a:endParaRPr/>
          </a:p>
          <a:p>
            <a:r>
              <a:t>MAP: n/a. Hold on the timeline strip; put a mark</a:t>
            </a:r>
          </a:p>
          <a:p>
            <a:endParaRPr/>
          </a:p>
          <a:p>
            <a:r>
              <a:t>عبرت: He would not be protected past the point at which his brother was protected.</a:t>
            </a:r>
          </a:p>
          <a:p>
            <a:endParaRPr/>
          </a:p>
          <a:p>
            <a:r>
              <a:t>Source: سیر أعلام النبلاء ج۱ ص۲۹۸</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ZIA/E-ZY2 · The banner, and the vow of silence</a:t>
            </a:r>
          </a:p>
          <a:p>
            <a:r>
              <a:t>Tier: CORE   When: اليمامة, ۱۲ھ `[SOURCED]`</a:t>
            </a:r>
          </a:p>
          <a:p>
            <a:endParaRPr/>
          </a:p>
          <a:p>
            <a:r>
              <a:t>At al-Yamāma, Zayd ؓ was carrying a banner, and the line was going backwards. He told the men to bite down on their back teeth, strike into the enemy and go forward. Then he said that he would not speak again — not one more word — until either Allah routed them, or he met Allah and put his case to Him himself. He went forward with the banner and did not stop going forward. He was killed. The banner fell, and Sālim, the freedman of Abū Ḥudhayfa ؓ, picked it up.</a:t>
            </a:r>
          </a:p>
          <a:p>
            <a:endParaRPr/>
          </a:p>
          <a:p>
            <a:r>
              <a:t>MAP: No movement. Hold on عَقْرَباء.</a:t>
            </a:r>
          </a:p>
          <a:p>
            <a:endParaRPr/>
          </a:p>
          <a:p>
            <a:r>
              <a:t>عبرت: He put a limit on his own speech and none at all on his own advance.</a:t>
            </a:r>
          </a:p>
          <a:p>
            <a:endParaRPr/>
          </a:p>
          <a:p>
            <a:r>
              <a:t>Source: البدایہ والنہایہ ج۷ ص۳۴</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ZIA/E-ZY3 · The first man out of their line</a:t>
            </a:r>
          </a:p>
          <a:p>
            <a:r>
              <a:t>Tier: GOOD   When: اليمامة, ۱۲ھ `[SOURCED]`</a:t>
            </a:r>
          </a:p>
          <a:p>
            <a:endParaRPr/>
          </a:p>
          <a:p>
            <a:r>
              <a:t>The first man of Banū Ḥanīfa to reach the Muslim line that day was al-Rajjāl b. ʿUnfuwa. He had been a Muslim. He had memorised Sūrat al-Baqara. He had been sent to al-Yamāma as a teacher, and instead he had testified that the Prophet ﷺ had made Musaylima a partner in prophethood — and they believed him. Zayd b. al-Khaṭṭāb ؓ killed him.</a:t>
            </a:r>
          </a:p>
          <a:p>
            <a:endParaRPr/>
          </a:p>
          <a:p>
            <a:r>
              <a:t>MAP: n/a.</a:t>
            </a:r>
          </a:p>
          <a:p>
            <a:endParaRPr/>
          </a:p>
          <a:p>
            <a:r>
              <a:t>عبرت: The man who had carried the Qurʾān to them was the first thing that had to be stopped.</a:t>
            </a:r>
          </a:p>
          <a:p>
            <a:endParaRPr/>
          </a:p>
          <a:p>
            <a:r>
              <a:t>Source: الکامل فی التاریخ ج۲ ص۲۱۶</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ZIA/E-ZY4 · The man who killed him</a:t>
            </a:r>
          </a:p>
          <a:p>
            <a:r>
              <a:t>Tier: CORE   When: اليمامة ۱۲ھ, and afterwards in المدینہ `[SOURCED]`</a:t>
            </a:r>
          </a:p>
          <a:p>
            <a:endParaRPr/>
          </a:p>
          <a:p>
            <a:r>
              <a:t>The man who killed Zayd ؓ was called Abū Maryam al-Ḥanafī. He fought that day on the other side. Afterwards he became a Muslim. And at some point after that he stood in front of ʿUmar ؓ — the dead man's younger brother, now the Commander of the Faithful — and said this to him. ʿUmar ؓ later appointed him a judge. Ibn Kathīr records a second report naming a different killer, and records that Ibn ʿAbd al-Barr preferred it, and then says the second report does not disprove the first.</a:t>
            </a:r>
          </a:p>
          <a:p>
            <a:endParaRPr/>
          </a:p>
          <a:p>
            <a:r>
              <a:t>MAP: n/a.</a:t>
            </a:r>
          </a:p>
          <a:p>
            <a:endParaRPr/>
          </a:p>
          <a:p>
            <a:r>
              <a:t>عبرت: He did not ask to be forgiven; he told the brother what he thought Allah had done with</a:t>
            </a:r>
          </a:p>
          <a:p>
            <a:endParaRPr/>
          </a:p>
          <a:p>
            <a:r>
              <a:t>HANDS UP: Before telling it: *"The man who killed your brother is standing in front of you, and</a:t>
            </a:r>
          </a:p>
          <a:p>
            <a:endParaRPr/>
          </a:p>
          <a:p>
            <a:r>
              <a:t>Source: البدایہ والنہایہ ج۷ ص۴۹</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ZIA/E-ZY5 · «He outstripped me to the two good things»</a:t>
            </a:r>
          </a:p>
          <a:p>
            <a:r>
              <a:t>Tier: CORE   When: ۱۲ھ, المدینہ `[SOURCED]`</a:t>
            </a:r>
          </a:p>
          <a:p>
            <a:endParaRPr/>
          </a:p>
          <a:p>
            <a:r>
              <a:t>The news came back to Medina. What ʿUmar ؓ said when he heard it was not about the battle. It was a count of two things, and he had come second in both of them.</a:t>
            </a:r>
          </a:p>
          <a:p>
            <a:endParaRPr/>
          </a:p>
          <a:p>
            <a:r>
              <a:t>MAP: n/a.</a:t>
            </a:r>
          </a:p>
          <a:p>
            <a:endParaRPr/>
          </a:p>
          <a:p>
            <a:r>
              <a:t>عبرت: The measure he used on his own brother was the one he used on himself.</a:t>
            </a:r>
          </a:p>
          <a:p>
            <a:endParaRPr/>
          </a:p>
          <a:p>
            <a:r>
              <a:t>Source: البدایہ والنہایہ ج۷ ص۴۹</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ZIA/E-ZY6 · The east wind</a:t>
            </a:r>
          </a:p>
          <a:p>
            <a:r>
              <a:t>Tier: CORE   When: the years after ۱۲ھ `[SOURCED]`</a:t>
            </a:r>
          </a:p>
          <a:p>
            <a:endParaRPr/>
          </a:p>
          <a:p>
            <a:r>
              <a:t>Al-Ṣabā is the east wind. It comes to Medina from the direction of al-Yamāma. ʿUmar ؓ used to say the same thing about it.</a:t>
            </a:r>
          </a:p>
          <a:p>
            <a:endParaRPr/>
          </a:p>
          <a:p>
            <a:r>
              <a:t>MAP: n/a — or, if the map is up, put</a:t>
            </a:r>
          </a:p>
          <a:p>
            <a:endParaRPr/>
          </a:p>
          <a:p>
            <a:r>
              <a:t>عبرت: The Companions' grief is recorded as carefully as their victories, and by the same men.</a:t>
            </a:r>
          </a:p>
          <a:p>
            <a:endParaRPr/>
          </a:p>
          <a:p>
            <a:r>
              <a:t>Source: سیر أعلام النبلاء ج۱ ص۲۹۸</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ZIA/E-ZY7 · The poet, and the consolation</a:t>
            </a:r>
          </a:p>
          <a:p>
            <a:r>
              <a:t>Tier: GOOD   When: المدینہ, after ۱۲ھ `[SOURCED]`</a:t>
            </a:r>
          </a:p>
          <a:p>
            <a:endParaRPr/>
          </a:p>
          <a:p>
            <a:r>
              <a:t>Mutammim b. Nuwayra was a poet of Banū Tamīm who had lost his brother in the same war, and he made an elegy for him. ʿUmar ؓ told him that if he were any good at poetry he would have said what Mutammim had said. Mutammim answered him. And ʿUmar ؓ said that nobody had ever consoled him like that.</a:t>
            </a:r>
          </a:p>
          <a:p>
            <a:endParaRPr/>
          </a:p>
          <a:p>
            <a:r>
              <a:t>MAP: n/a.</a:t>
            </a:r>
          </a:p>
          <a:p>
            <a:endParaRPr/>
          </a:p>
          <a:p>
            <a:r>
              <a:t>عبرت: He was consoled not by being told his grief was smaller, but by being told what his</a:t>
            </a:r>
          </a:p>
          <a:p>
            <a:endParaRPr/>
          </a:p>
          <a:p>
            <a:r>
              <a:t>Source: البدایہ والنہایہ ج۷ ص۵۰</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ZIA/E-ZY8 · Two brothers by appointment</a:t>
            </a:r>
          </a:p>
          <a:p>
            <a:r>
              <a:t>Tier: CORE   When: the مؤاخاة, on the arrival in المدینہ `[CONVENTIONAL-ESTIMATE]` — the</a:t>
            </a:r>
          </a:p>
          <a:p>
            <a:endParaRPr/>
          </a:p>
          <a:p>
            <a:r>
              <a:t>When the Muhājirūn arrived in Medina with nothing, the Prophet ﷺ paired each of them with a man of the Anṣār and made the two of them brothers. Zayd b. al-Khaṭṭāb ؓ, of Quraysh, was paired with Maʿn b. ʿAdī ؓ of Banū al-ʿAjlān, an ally of the Anṣār. Years later, both of them were on the field at al-Yamāma. Both of them were killed there, on the same day. And they were not the only such pair: Abū Ḥudhayfa ؓ and ʿAbbād b. Bishr ؓ had been paired the same way, and they died there too.</a:t>
            </a:r>
          </a:p>
          <a:p>
            <a:endParaRPr/>
          </a:p>
          <a:p>
            <a:r>
              <a:t>MAP: Two dots — Mecca and</a:t>
            </a:r>
          </a:p>
          <a:p>
            <a:endParaRPr/>
          </a:p>
          <a:p>
            <a:r>
              <a:t>عبرت: The tie was made in a year when they owned nothing, and it was still holding on the day</a:t>
            </a:r>
          </a:p>
          <a:p>
            <a:endParaRPr/>
          </a:p>
          <a:p>
            <a:r>
              <a:t>HANDS UP: Before telling it: *"You are given a brother — not born to you, assigned to you. How</a:t>
            </a:r>
          </a:p>
          <a:p>
            <a:endParaRPr/>
          </a:p>
          <a:p>
            <a:r>
              <a:t>Source: البدایہ والنہایہ ج۷ ص۴۹</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ZIA/E-ZY9 · «So that I may confirm him dead»</a:t>
            </a:r>
          </a:p>
          <a:p>
            <a:r>
              <a:t>Tier: CORE   When: المدینہ ۱۱ھ → اليمامة ۱۲ھ `[SOURCED]`</a:t>
            </a:r>
          </a:p>
          <a:p>
            <a:endParaRPr/>
          </a:p>
          <a:p>
            <a:r>
              <a:t>When the Prophet ﷺ died, the people in Medina wept and said they wished they had died before him, because they were afraid of what would happen to them after him. One man said the opposite. He said he did not want to have died first — he wanted to be alive afterwards, so that he could confirm the Prophet ﷺ dead the same way he had confirmed him alive. His name was Maʿn b. ʿAdī ؓ. He was one of the two men who met Abū Bakr ؓ and ʿUmar ؓ on the road to the Saqīfa. And in the following year he was killed at al-Yamāma, in the war fought to hold what he had said he would confirm.</a:t>
            </a:r>
          </a:p>
          <a:p>
            <a:endParaRPr/>
          </a:p>
          <a:p>
            <a:r>
              <a:t>MAP: n/a.</a:t>
            </a:r>
          </a:p>
          <a:p>
            <a:endParaRPr/>
          </a:p>
          <a:p>
            <a:r>
              <a:t>عبرت: He did not want to be spared what came next; he wanted to be there for it.</a:t>
            </a:r>
          </a:p>
          <a:p>
            <a:endParaRPr/>
          </a:p>
          <a:p>
            <a:r>
              <a:t>Source: سیر أعلام النبلاء ج۱ ص۳۲۱</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ZIA/E-ZY10 · «Are you not content to live praised?»</a:t>
            </a:r>
          </a:p>
          <a:p>
            <a:r>
              <a:t>Tier: CORE   When: المدینہ, after the revelation of الحجرات `[SOURCED]`</a:t>
            </a:r>
          </a:p>
          <a:p>
            <a:endParaRPr/>
          </a:p>
          <a:p>
            <a:r>
              <a:t>Thābit b. Qays ؓ was the orator of the Anṣār and he had a very loud voice. When the verse came down forbidding the believers to raise their voices above the Prophet's ﷺ, he concluded that he was of the people of the Fire, and he shut himself in his house and stopped coming. The Prophet ﷺ noticed he was missing and sent for the reason. When he heard it, he said Thābit was of the people of the Garden. And in another report he told him what would happen to him: that he would live praised, be killed a martyr, and enter the Garden.</a:t>
            </a:r>
          </a:p>
          <a:p>
            <a:endParaRPr/>
          </a:p>
          <a:p>
            <a:r>
              <a:t>MAP: n/a.</a:t>
            </a:r>
          </a:p>
          <a:p>
            <a:endParaRPr/>
          </a:p>
          <a:p>
            <a:r>
              <a:t>عبرت: He was told the end of his own life years before it happened, and then he lived as though</a:t>
            </a:r>
          </a:p>
          <a:p>
            <a:endParaRPr/>
          </a:p>
          <a:p>
            <a:r>
              <a:t>Source: سیر أعلام النبلاء ج۱ ص۳۱۰</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ZIA/E-ZY11 · The armour in the cooking pot</a:t>
            </a:r>
          </a:p>
          <a:p>
            <a:r>
              <a:t>Tier: CORE   When: اليمامة ۱۲ھ, and then المدینہ `[SOURCED]`</a:t>
            </a:r>
          </a:p>
          <a:p>
            <a:endParaRPr/>
          </a:p>
          <a:p>
            <a:r>
              <a:t>Thābit b. Qays ؓ was killed at al-Yamāma and his coat of mail — a valuable one — was stolen off his body by a Muslim, who hid it. A man of the army then saw Thābit ؓ in a dream. In the dream, Thābit ؓ told him where the mail was: at the far end of the camp, under an upturned cooking pot with a pack-saddle set on top of it. Then he gave him three things to say to the caliph in Medina — a debt he owed, property he had, and a slave of his who was to be freed. And twice he told the man not to dismiss it as a dream and let it go to waste. The man went to Khālid ؓ. The mail was exactly where he had said. And in Medina Abū Bakr ؓ carried out the will of a man who was already dead.</a:t>
            </a:r>
          </a:p>
          <a:p>
            <a:endParaRPr/>
          </a:p>
          <a:p>
            <a:r>
              <a:t>MAP: One line drawn from</a:t>
            </a:r>
          </a:p>
          <a:p>
            <a:endParaRPr/>
          </a:p>
          <a:p>
            <a:r>
              <a:t>عبرت: The two things he sent back were the same two things: return what was taken, and pay what</a:t>
            </a:r>
          </a:p>
          <a:p>
            <a:endParaRPr/>
          </a:p>
          <a:p>
            <a:r>
              <a:t>Source: البدایہ والنہایہ ج۷ ص۴۸</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ZIA/E-ZY12 · The arrow he pulled out</a:t>
            </a:r>
          </a:p>
          <a:p>
            <a:r>
              <a:t>Tier: CORE   When: اليمامة, ۱۲ھ `[SOURCED]`</a:t>
            </a:r>
          </a:p>
          <a:p>
            <a:endParaRPr/>
          </a:p>
          <a:p>
            <a:r>
              <a:t>Abū ʿAqīl ؓ was one of the chiefs of the Anṣār and a man of Badr. At al-Yamāma an arrow hit him. He pulled it out himself. Then he bound himself up, took his sword, and went back to fighting. He fought until he was killed. When they came to him afterwards, they found many wounds on him.</a:t>
            </a:r>
          </a:p>
          <a:p>
            <a:endParaRPr/>
          </a:p>
          <a:p>
            <a:r>
              <a:t>MAP: No movement.</a:t>
            </a:r>
          </a:p>
          <a:p>
            <a:endParaRPr/>
          </a:p>
          <a:p>
            <a:r>
              <a:t>عبرت: Nobody carried him out and nobody was asked to.</a:t>
            </a:r>
          </a:p>
          <a:p>
            <a:endParaRPr/>
          </a:p>
          <a:p>
            <a:r>
              <a:t>Source: سیر أعلام النبلاء (سير الخلفاء الراشدين) ص۶۰</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ZIA/E-ZY13 · The son of the head of the hypocrites</a:t>
            </a:r>
          </a:p>
          <a:p>
            <a:r>
              <a:t>Tier: GOOD   When: اليمامة, ۱۲ھ `[SOURCED]`</a:t>
            </a:r>
          </a:p>
          <a:p>
            <a:endParaRPr/>
          </a:p>
          <a:p>
            <a:r>
              <a:t>ʿAbd Allāh b. ʿAbd Allāh b. Ubayy ؓ was the son of the man the Qurʾān calls the head of the hypocrites. He was a Muslim, he was at Badr and at everything after it, and the books call him one of the best of the Companions. He was the hardest of all people on his own father. When that father died, the Prophet ﷺ gave his own shirt for the burial and prayed over him — as an honour to the son. And a few years after that, the son was killed at al-Yamāma.</a:t>
            </a:r>
          </a:p>
          <a:p>
            <a:endParaRPr/>
          </a:p>
          <a:p>
            <a:r>
              <a:t>MAP: n/a.</a:t>
            </a:r>
          </a:p>
          <a:p>
            <a:endParaRPr/>
          </a:p>
          <a:p>
            <a:r>
              <a:t>عبرت: A man is not his father, and the books are careful to record that they were not confused</a:t>
            </a:r>
          </a:p>
          <a:p>
            <a:endParaRPr/>
          </a:p>
          <a:p>
            <a:r>
              <a:t>Source: البدایہ والنہایہ ج۷ ص۵۳</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ZIA/E-ZY14 · Three generations, one morning</a:t>
            </a:r>
          </a:p>
          <a:p>
            <a:r>
              <a:t>Tier: GOOD   When: اليمامة, ۱۲ھ `[SOURCED]`</a:t>
            </a:r>
          </a:p>
          <a:p>
            <a:endParaRPr/>
          </a:p>
          <a:p>
            <a:r>
              <a:t>Ḥazn al-Makhzūmī ؓ was a man of Mecca of Banū Makhzūm, and the grandfather of Saʿīd b. al-Musayyab رحمہ اللہ, one of the great jurists of the next generation. The Prophet ﷺ once wanted to change his name — Ḥazn means rough ground — to Sahl, which means smooth. He refused: he would not change a name his parents had given him. And the report ends: *so the roughness never left us.* At al-Yamāma, Ḥazn ؓ was killed. So were two of his sons. So was a grandson.</a:t>
            </a:r>
          </a:p>
          <a:p>
            <a:endParaRPr/>
          </a:p>
          <a:p>
            <a:r>
              <a:t>MAP: n/a.</a:t>
            </a:r>
          </a:p>
          <a:p>
            <a:endParaRPr/>
          </a:p>
          <a:p>
            <a:r>
              <a:t>عبرت: One household sent four men to one field and none of them came back.</a:t>
            </a:r>
          </a:p>
          <a:p>
            <a:endParaRPr/>
          </a:p>
          <a:p>
            <a:r>
              <a:t>Source: البدایہ والنہایہ ج۷ ص۴۹ — the naming report: **صحيح البخاري ٦١٩٠**</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ZIA/E-ZY15 · The mother at al-Yamāma</a:t>
            </a:r>
          </a:p>
          <a:p>
            <a:r>
              <a:t>Tier: CORE   When: ۱۱ھ → ۱۲ھ `[SOURCED]`</a:t>
            </a:r>
          </a:p>
          <a:p>
            <a:endParaRPr/>
          </a:p>
          <a:p>
            <a:r>
              <a:t>Musaylima had a man named Ḥabīb b. Zayd ؓ in his hands. He asked him whether he testified that Muḥammad ﷺ was the Messenger of Allah, and Ḥabīb ؓ said yes. Then he asked whether he testified that he, Musaylima, was a messenger of Allah — and Ḥabīb ؓ said: I do not hear. So he began to cut him apart, one limb at a time, and Ḥabīb ؓ never gave him more than that answer, until he died in his hands. Ḥabīb's ؓ mother was Umm ʿUmāra Nusayba bint Kaʿb رضي الله عنها, who had been at al-ʿAqaba, at Uḥud, at al-Ḥudaybiya and at Ḥunayn. When the army marched to al-Yamāma, she went with it. Her hand was cut off there. She came back to Medina covered in wounds, and Abū Bakr ؓ, while he was caliph, was seen coming to her to ask after her.</a:t>
            </a:r>
          </a:p>
          <a:p>
            <a:endParaRPr/>
          </a:p>
          <a:p>
            <a:r>
              <a:t>MAP: A single line from المدینہ to عَقْرَباء.</a:t>
            </a:r>
          </a:p>
          <a:p>
            <a:endParaRPr/>
          </a:p>
          <a:p>
            <a:r>
              <a:t>عبرت: He was not asked to say anything; he was asked to hear something, and he would not.</a:t>
            </a:r>
          </a:p>
          <a:p>
            <a:endParaRPr/>
          </a:p>
          <a:p>
            <a:r>
              <a:t>Source: البدایہ والنہایہ ج۳ ص۴۲۸</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ZIA/E-ZY16 · The father at al-Yamāma, the son at al-Yarmūk</a:t>
            </a:r>
          </a:p>
          <a:p>
            <a:r>
              <a:t>Tier: GOOD   When: اليمامة ۱۲ھ, then اليرموك — whose own year is disputed in the sources</a:t>
            </a:r>
          </a:p>
          <a:p>
            <a:endParaRPr/>
          </a:p>
          <a:p>
            <a:r>
              <a:t>Al-Ṭufayl b. ʿAmr al-Dawsī ؓ was the man who took Islam back to his own tribe and brought ninety households of Daws to Medina. He went out to al-Yamāma with his son ʿAmr. Before the battle he had a dream, and he read it aloud himself: that he would be killed and buried, and that his son would press hard for martyrdom and would not get it that year. Both halves came true. The father was killed at al-Yamāma. The son was killed a few years later, at al-Yarmūk.</a:t>
            </a:r>
          </a:p>
          <a:p>
            <a:endParaRPr/>
          </a:p>
          <a:p>
            <a:r>
              <a:t>MAP: Two marks a long way apart — عَقْرَباء in central Najd, and</a:t>
            </a:r>
          </a:p>
          <a:p>
            <a:endParaRPr/>
          </a:p>
          <a:p>
            <a:r>
              <a:t>عبرت: He read his own end aloud before the battle, and then went into it anyway.</a:t>
            </a:r>
          </a:p>
          <a:p>
            <a:endParaRPr/>
          </a:p>
          <a:p>
            <a:r>
              <a:t>Source: البدایہ والنہایہ ج۷ ص۵۲</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ZIA/E-ZY17 · The number nobody can give</a:t>
            </a:r>
          </a:p>
          <a:p>
            <a:r>
              <a:t>Tier: CORE   When: ۱۲ھ, after the battle `[SOURCED]`</a:t>
            </a:r>
          </a:p>
          <a:p>
            <a:endParaRPr/>
          </a:p>
          <a:p>
            <a:r>
              <a:t>After al-Yamāma, Abū Bakr ؓ ordered the Qurʾān collected, and the reason the books give is that the killing had run hot among the reciters. That is the phrase all three of them use. What none of them gives is a number. Ibn Kathīr's own summary of the Muslim dead is four hundred and fifty — and he says in the same breath that he is counting bearers of the Qurʾān, Companions and others together in that one figure. So we know why the Qurʾān was collected. We do not know how many reciters died. We only know that it was enough.</a:t>
            </a:r>
          </a:p>
          <a:p>
            <a:endParaRPr/>
          </a:p>
          <a:p>
            <a:r>
              <a:t>MAP: n/a — this is the last slide</a:t>
            </a:r>
          </a:p>
          <a:p>
            <a:endParaRPr/>
          </a:p>
          <a:p>
            <a:r>
              <a:t>عبرت: They did not wait to find out how much had been lost before they secured what was left.</a:t>
            </a:r>
          </a:p>
          <a:p>
            <a:endParaRPr/>
          </a:p>
          <a:p>
            <a:r>
              <a:t>HANDS UP: Before telling it: *"How many men who had the whole Qurʾān by heart died that day? What</a:t>
            </a:r>
          </a:p>
          <a:p>
            <a:endParaRPr/>
          </a:p>
          <a:p>
            <a:r>
              <a:t>Source: البدایہ والنہایہ ج۷ ص۷۹ — **صحيح البخاري ٤٩٨٦**</a:t>
            </a:r>
          </a:p>
          <a:p>
            <a:endParaRPr/>
          </a:p>
          <a:p>
            <a:r>
              <a:t>From: The people: زيد بن الخطاب ؓ and the dead of اليمامة</a:t>
            </a:r>
          </a:p>
        </p:txBody>
      </p:sp>
      <p:sp>
        <p:nvSpPr>
          <p:cNvPr id="4" name="Slide Number Placeholder 3"/>
          <p:cNvSpPr>
            <a:spLocks noGrp="1"/>
          </p:cNvSpPr>
          <p:nvPr>
            <p:ph type="sldNum" sz="quarter" idx="5"/>
          </p:nvPr>
        </p:nvSpPr>
        <p:spPr/>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 · The order of battle at Uḥud</a:t>
            </a:r>
          </a:p>
          <a:p>
            <a:r>
              <a:t>Tier: CORE   When: شوال ۳ھ `[SOURCED]`</a:t>
            </a:r>
          </a:p>
          <a:p>
            <a:endParaRPr/>
          </a:p>
          <a:p>
            <a:r>
              <a:t>At Uḥud, Quraysh brought three thousand men and two hundred horses. Ibn Isḥāq records exactly who led that cavalry. The right wing was under Khālid b. al-Walīd. The left wing was under ʿIkrima, the son of Abū Jahl. The whole army was commanded by Abū Sufyān b. Ḥarb. Hold those three names. Every one of them is a Muslim commander before this course reaches the year twenty-three.</a:t>
            </a:r>
          </a:p>
          <a:p>
            <a:endParaRPr/>
          </a:p>
          <a:p>
            <a:r>
              <a:t>MAP: n/a — this is a picture, not a place. Put the two wings on a diagram.</a:t>
            </a:r>
          </a:p>
          <a:p>
            <a:endParaRPr/>
          </a:p>
          <a:p>
            <a:r>
              <a:t>عبرت: A man's place in one line of battle is not his place in the next.</a:t>
            </a:r>
          </a:p>
          <a:p>
            <a:endParaRPr/>
          </a:p>
          <a:p>
            <a:r>
              <a:t>HANDS UP: Yes — before naming them: "Who commanded the Meccan army at Uḥud?" Let the room answer, then give all three names.</a:t>
            </a:r>
          </a:p>
          <a:p>
            <a:endParaRPr/>
          </a:p>
          <a:p>
            <a:r>
              <a:t>Source: البدایہ والنہایہ ج۴ ص۱۸۰</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 · Waḥshī ؓ tells it himself, at Ḥimṣ</a:t>
            </a:r>
          </a:p>
          <a:p>
            <a:r>
              <a:t>Tier: CORE   When: the account was given in the days of Muʿāwiya ؓ `[SOURCED]`</a:t>
            </a:r>
          </a:p>
          <a:p>
            <a:endParaRPr/>
          </a:p>
          <a:p>
            <a:r>
              <a:t>Two men travelling through Ḥimṣ decided to go and ask Waḥshī how he had killed Ḥamza ؓ. They were told they would find him outside his house. He was an old man by then. They greeted him; he raised his head and named one of them before they had asked him anything — he had last seen him as an infant being handed up to his wet-nurse, and he knew him by his feet. Then he told them the whole account. He began by saying he would tell it exactly as he had told it to the Prophet ﷺ.</a:t>
            </a:r>
          </a:p>
          <a:p>
            <a:endParaRPr/>
          </a:p>
          <a:p>
            <a:r>
              <a:t>MAP: Ḥimṣ, northern Syria</a:t>
            </a:r>
          </a:p>
          <a:p>
            <a:endParaRPr/>
          </a:p>
          <a:p>
            <a:r>
              <a:t>عبرت: Much of what we know about that day we know because someone went and asked the man who was there.</a:t>
            </a:r>
          </a:p>
          <a:p>
            <a:endParaRPr/>
          </a:p>
          <a:p>
            <a:r>
              <a:t>Source: البدایہ والنہایہ ج۴ ص۱۸۴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TMW/E-TRN3 · "Keep your face away from me"</a:t>
            </a:r>
          </a:p>
          <a:p>
            <a:r>
              <a:t>Tier: CORE   When: after the fall of Ṭāʾif, ۸–۹ھ `[STANDARD]` (to verify — the page gives the sequence, not a year)</a:t>
            </a:r>
          </a:p>
          <a:p>
            <a:endParaRPr/>
          </a:p>
          <a:p>
            <a:r>
              <a:t>After Mecca fell, Waḥshī ran to Ṭāʾif. When Ṭāʾif's delegation left to submit, he had nowhere left to go. A man told him the Prophet ﷺ kills no one who enters his religion. So he went to Medina and stood over the Prophet ﷺ and gave the testimony. The Prophet ﷺ saw him and knew him. He asked him to sit and tell how he had killed Ḥamza. Waḥshī told it. Then the Prophet ﷺ said what he said. Waḥshī ؓ kept out of his sight from that day until the Prophet ﷺ died.</a:t>
            </a:r>
          </a:p>
          <a:p>
            <a:endParaRPr/>
          </a:p>
          <a:p>
            <a:r>
              <a:t>MAP: Ṭāʾif → Medina</a:t>
            </a:r>
          </a:p>
          <a:p>
            <a:endParaRPr/>
          </a:p>
          <a:p>
            <a:r>
              <a:t>عبرت: He was accepted as a Muslim in the same moment, and what he was asked to spare was the sight of the man who had killed the Prophet's ﷺ uncle.</a:t>
            </a:r>
          </a:p>
          <a:p>
            <a:endParaRPr/>
          </a:p>
          <a:p>
            <a:r>
              <a:t>HANDS UP: no — say the last sentence of the عبرت immediately, before the room draws its own conclusion.</a:t>
            </a:r>
          </a:p>
          <a:p>
            <a:endParaRPr/>
          </a:p>
          <a:p>
            <a:r>
              <a:t>Source: البدایہ والنہایہ ج۴ ص۱۸۵</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TMW/E-TRN4 · The same spear, at al-Yamāma</a:t>
            </a:r>
          </a:p>
          <a:p>
            <a:r>
              <a:t>Tier: CORE   When: ۱۲ھ `[STANDARD]` (to verify)</a:t>
            </a:r>
          </a:p>
          <a:p>
            <a:endParaRPr/>
          </a:p>
          <a:p>
            <a:r>
              <a:t>When the army went out against Musaylima, Waḥshī ؓ went with it, and he took the same spear. He saw a man standing in a gap in a wall and did not know who it was. He threw. An Anṣārī came in from the other side with a sword. Waḥshī ؓ would never claim the kill for himself. What he said about the two throws of his life is on the page.</a:t>
            </a:r>
          </a:p>
          <a:p>
            <a:endParaRPr/>
          </a:p>
          <a:p>
            <a:r>
              <a:t>MAP: ʿAqrabāʾ / al-Yamāma — sits directly beside the ḥadīqat al-mawt card</a:t>
            </a:r>
          </a:p>
          <a:p>
            <a:endParaRPr/>
          </a:p>
          <a:p>
            <a:r>
              <a:t>عبرت: He never stopped weighing what he had done, and he never claimed more than he knew.</a:t>
            </a:r>
          </a:p>
          <a:p>
            <a:endParaRPr/>
          </a:p>
          <a:p>
            <a:r>
              <a:t>Source: البدایہ والنہایہ ج۴ ص۱۸۵</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TMW/E-TRN5 · The witness against the enemy</a:t>
            </a:r>
          </a:p>
          <a:p>
            <a:r>
              <a:t>Tier: GOOD   When: ۱۲ھ `[STANDARD]` (to verify)</a:t>
            </a:r>
          </a:p>
          <a:p>
            <a:endParaRPr/>
          </a:p>
          <a:p>
            <a:r>
              <a:t>Waḥshī ؓ was asked about the men he had fought at al-Yamāma. He had spent his life among fighting men on both sides. His verdict on Musaylima's army was one sentence, and it was not the sentence anyone would expect from the winning side.</a:t>
            </a:r>
          </a:p>
          <a:p>
            <a:endParaRPr/>
          </a:p>
          <a:p>
            <a:r>
              <a:t>MAP: al-Yamāma</a:t>
            </a:r>
          </a:p>
          <a:p>
            <a:endParaRPr/>
          </a:p>
          <a:p>
            <a:r>
              <a:t>عبرت: The books preserved the enemy's courage in the words of the man who fought them.</a:t>
            </a:r>
          </a:p>
          <a:p>
            <a:endParaRPr/>
          </a:p>
          <a:p>
            <a:r>
              <a:t>Source: سیر أعلام النبلاء، ج الخلفاء الراشدون ص۴۸</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TMW/E-TRN6 · The ship, and the vow</a:t>
            </a:r>
          </a:p>
          <a:p>
            <a:r>
              <a:t>Tier: CORE   When: رمضان ۸ھ, at the Conquest `[STANDARD]` (to verify)</a:t>
            </a:r>
          </a:p>
          <a:p>
            <a:endParaRPr/>
          </a:p>
          <a:p>
            <a:r>
              <a:t>When Mecca fell, ʿIkrima b. Abī Jahl was one of the few whose blood was not covered by the amnesty. He rode for the coast and took ship. A squall struck. The people on board told one another to be sincere to God alone, because their gods would be no use out there. ʿIkrima heard it. What he said next he said there, in the storm.</a:t>
            </a:r>
          </a:p>
          <a:p>
            <a:endParaRPr/>
          </a:p>
          <a:p>
            <a:r>
              <a:t>MAP: Mecca → the Tihāma coast → the sea → back</a:t>
            </a:r>
          </a:p>
          <a:p>
            <a:endParaRPr/>
          </a:p>
          <a:p>
            <a:r>
              <a:t>عبرت: He worked out the whole matter from one thing the people on the ship said, and he was right about what he would find.</a:t>
            </a:r>
          </a:p>
          <a:p>
            <a:endParaRPr/>
          </a:p>
          <a:p>
            <a:r>
              <a:t>HANDS UP: Yes — "Whose son was ʿIkrima?" Let them say it. Then tell the card.</a:t>
            </a:r>
          </a:p>
          <a:p>
            <a:endParaRPr/>
          </a:p>
          <a:p>
            <a:r>
              <a:t>Source: البدایہ والنہایہ ج۴ ص۵۵۰</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TMW/E-TRN7 · Umm Ḥakīm ؓ goes after her husband</a:t>
            </a:r>
          </a:p>
          <a:p>
            <a:r>
              <a:t>Tier: CORE   When: رمضان ۸ھ `[STANDARD]` (to verify)</a:t>
            </a:r>
          </a:p>
          <a:p>
            <a:endParaRPr/>
          </a:p>
          <a:p>
            <a:r>
              <a:t>Umm Ḥakīm bint al-Ḥārith b. Hishām accepted Islam on the day of the Conquest. Her husband had fled. She went to the Prophet ﷺ herself and asked leave to go after him, and asked safe-conduct for him. He gave her both. She travelled with a servant who tried to force himself on her; she put him off until she reached some people who bound him for her. She caught her husband somewhere in Tihāma, with him already aboard the ship. She brought him back.</a:t>
            </a:r>
          </a:p>
          <a:p>
            <a:endParaRPr/>
          </a:p>
          <a:p>
            <a:r>
              <a:t>MAP: Mecca → Yemen / Tihāma → Medina. This is a real journey; draw the arrow.</a:t>
            </a:r>
          </a:p>
          <a:p>
            <a:endParaRPr/>
          </a:p>
          <a:p>
            <a:r>
              <a:t>عبرت: The safe-conduct that brought ʿIkrima ؓ back was asked for by his wife, in person.</a:t>
            </a:r>
          </a:p>
          <a:p>
            <a:endParaRPr/>
          </a:p>
          <a:p>
            <a:r>
              <a:t>Source: سیر أعلام النبلاء، ج السیرۃ ۲ ص۱۶۴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TMW/E-TRN8 · The cloak</a:t>
            </a:r>
          </a:p>
          <a:p>
            <a:r>
              <a:t>Tier: CORE   When: ۸ھ `[STANDARD]` (to verify)</a:t>
            </a:r>
          </a:p>
          <a:p>
            <a:endParaRPr/>
          </a:p>
          <a:p>
            <a:r>
              <a:t>ʿIkrima came in to the Prophet ﷺ with his wife. This is the son of the man who had led Quraysh against him at Badr, and who had been killed there. The books record what the Prophet ﷺ did when he saw him. He did not wait for him to reach the front. He got up.</a:t>
            </a:r>
          </a:p>
          <a:p>
            <a:endParaRPr/>
          </a:p>
          <a:p>
            <a:r>
              <a:t>MAP: Medina</a:t>
            </a:r>
          </a:p>
          <a:p>
            <a:endParaRPr/>
          </a:p>
          <a:p>
            <a:r>
              <a:t>عبرت: He was met by the man himself standing up, and the marriage he had come back to was left as it was.</a:t>
            </a:r>
          </a:p>
          <a:p>
            <a:endParaRPr/>
          </a:p>
          <a:p>
            <a:r>
              <a:t>Source: سیر أعلام النبلاء، ج السیرۃ ۲ ص۱۸۵</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TMW/E-TRN9 · "Do not let me see you until you have proved yourself"</a:t>
            </a:r>
          </a:p>
          <a:p>
            <a:r>
              <a:t>Tier: CORE   When: ۱۱ھ `[SOURCED]` (البدایہ files it in the ridda year)</a:t>
            </a:r>
          </a:p>
          <a:p>
            <a:endParaRPr/>
          </a:p>
          <a:p>
            <a:r>
              <a:t>Abū Bakr ؓ gave ʿIkrima ؓ one of the eleven banners and sent him against Musaylima, with Shuraḥbīl ؓ following. ʿIkrima ؓ attacked before Shuraḥbīl arrived, wanting the victory on his own, and was badly handled. The caliph wrote to him. Then he sent him on: first to ʿUmān, then to Mahra, then to Yemen and Ḥaḍramawt. He fought in every one of them.</a:t>
            </a:r>
          </a:p>
          <a:p>
            <a:endParaRPr/>
          </a:p>
          <a:p>
            <a:r>
              <a:t>MAP: al-Yamāma → ʿUmān → Mahra → Yemen. Three arrows; this card carries a lot of the map.</a:t>
            </a:r>
          </a:p>
          <a:p>
            <a:endParaRPr/>
          </a:p>
          <a:p>
            <a:r>
              <a:t>عبرت: He was corrected and kept, not corrected and dropped.</a:t>
            </a:r>
          </a:p>
          <a:p>
            <a:endParaRPr/>
          </a:p>
          <a:p>
            <a:r>
              <a:t>Source: البدایہ والنہایہ ج۷ ص۴۱</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TMW/E-TRN10 · The muṣḥaf against his face</a:t>
            </a:r>
          </a:p>
          <a:p>
            <a:r>
              <a:t>Tier: CORE   When: his later life `[SOURCED]` (no year given)</a:t>
            </a:r>
          </a:p>
          <a:p>
            <a:endParaRPr/>
          </a:p>
          <a:p>
            <a:r>
              <a:t>Ibn Kathīr records two things about ʿIkrima ؓ in his obituary notice. The first is a habit he had. The second is a remark other people made about him. Imām Aḥmad رحمہ اللہ later cited that habit as evidence in a question of law.</a:t>
            </a:r>
          </a:p>
          <a:p>
            <a:endParaRPr/>
          </a:p>
          <a:p>
            <a:r>
              <a:t>MAP: n/a</a:t>
            </a:r>
          </a:p>
          <a:p>
            <a:endParaRPr/>
          </a:p>
          <a:p>
            <a:r>
              <a:t>عبرت: The son of Abū Jahl kissed the Book and wept over it. (*Kissed* — «يُقبِّل» — is Ibn Kathīr's wording, which is what this card cites. "Held it to his face" is al-Dārimī's wording and must not be said under a Bidāya caption. See §3.6.)</a:t>
            </a:r>
          </a:p>
          <a:p>
            <a:endParaRPr/>
          </a:p>
          <a:p>
            <a:r>
              <a:t>Source: البدایہ والنہایہ ج۷ ص۱۲۷</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TMW/E-TRN11 · "And shall I run from you today?"</a:t>
            </a:r>
          </a:p>
          <a:p>
            <a:r>
              <a:t>Tier: CORE   When: يوم اليرموك, ۱۳ھ or ۱۵ھ — the books differ `[SOURCED]`</a:t>
            </a:r>
          </a:p>
          <a:p>
            <a:endParaRPr/>
          </a:p>
          <a:p>
            <a:r>
              <a:t>The Byzantine line broke into the Muslim ranks and men gave ground. ʿIkrima ؓ stood up in front of Khālid's tent. He said one sentence about his own past, and then asked for men. His uncle al-Ḥārith b. Hishām ؓ was the first to answer him, and Ḍirār b. al-Azwar ؓ, and four hundred of the leading horsemen. Ibn Kathīr names his informant for this: Sayf b. ʿUmar.</a:t>
            </a:r>
          </a:p>
          <a:p>
            <a:endParaRPr/>
          </a:p>
          <a:p>
            <a:r>
              <a:t>MAP: the Yarmūk</a:t>
            </a:r>
          </a:p>
          <a:p>
            <a:endParaRPr/>
          </a:p>
          <a:p>
            <a:r>
              <a:t>عبرت: He used what he had been against Islam as the reason he would not fail it.</a:t>
            </a:r>
          </a:p>
          <a:p>
            <a:endParaRPr/>
          </a:p>
          <a:p>
            <a:r>
              <a:t>Source: البدایہ والنہایہ ج۷ ص۹۴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TMW/E-TRN12 · The one cup</a:t>
            </a:r>
          </a:p>
          <a:p>
            <a:r>
              <a:t>Tier: CORE   When: the same day `[SOURCED]`</a:t>
            </a:r>
          </a:p>
          <a:p>
            <a:endParaRPr/>
          </a:p>
          <a:p>
            <a:r>
              <a:t>The four hundred fought in front of Khālid's tent until every one of them was wounded. When they had been brought down they asked for water. One cup was brought. It was carried to one man; he looked at the man beside him and said, give it to him. It was carried to that man; he looked at the next and said the same. It went from hand to hand until they had all died and no one had drunk from it. Ibn Kathīr gives this from al-Wāqidī and others, and he does not name the men.</a:t>
            </a:r>
          </a:p>
          <a:p>
            <a:endParaRPr/>
          </a:p>
          <a:p>
            <a:r>
              <a:t>MAP: the Yarmūk — tell it directly after E-TRN11, same slide</a:t>
            </a:r>
          </a:p>
          <a:p>
            <a:endParaRPr/>
          </a:p>
          <a:p>
            <a:r>
              <a:t>عبرت: Each of them decided, while dying, that someone else needed it more.</a:t>
            </a:r>
          </a:p>
          <a:p>
            <a:endParaRPr/>
          </a:p>
          <a:p>
            <a:r>
              <a:t>Source: البدایہ والنہایہ ج۷ ص۹۴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TMW/E-TRN13 · Ṭulayḥa at Buzākha — the question, and the answer he got</a:t>
            </a:r>
          </a:p>
          <a:p>
            <a:r>
              <a:t>Tier: GOOD   When: ۱۱ھ `[SOURCED]`</a:t>
            </a:r>
          </a:p>
          <a:p>
            <a:endParaRPr/>
          </a:p>
          <a:p>
            <a:r>
              <a:t>At Buzākha, Ṭulayḥa's men were breaking. He asked one of them, plainly, what was defeating them. The answer he received explains the whole year better than any figure does.</a:t>
            </a:r>
          </a:p>
          <a:p>
            <a:endParaRPr/>
          </a:p>
          <a:p>
            <a:r>
              <a:t>MAP: Buzākha, Najd — the map already carries this pin</a:t>
            </a:r>
          </a:p>
          <a:p>
            <a:endParaRPr/>
          </a:p>
          <a:p>
            <a:r>
              <a:t>عبرت: The difference was not in the numbers, and the losing side could see it.</a:t>
            </a:r>
          </a:p>
          <a:p>
            <a:endParaRPr/>
          </a:p>
          <a:p>
            <a:r>
              <a:t>HANDS UP: Yes — "Why did the ridda armies lose?" Take two or three answers, then read this.</a:t>
            </a:r>
          </a:p>
          <a:p>
            <a:endParaRPr/>
          </a:p>
          <a:p>
            <a:r>
              <a:t>Source: سیر أعلام النبلاء، ج الخلفاء الراشدون ص۴۱</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TMW/E-TRN14 · Ṭulayḥa ؓ comes back</a:t>
            </a:r>
          </a:p>
          <a:p>
            <a:r>
              <a:t>Tier: CORE   When: at the end of Abū Bakr ؓ's caliphate or just after — the books differ `[SOURCED]`</a:t>
            </a:r>
          </a:p>
          <a:p>
            <a:endParaRPr/>
          </a:p>
          <a:p>
            <a:r>
              <a:t>Ṭulayḥa did not die at Buzākha. He escaped to Syria and lived among the Ghassānids. Then he returned to Islam. He went to Mecca for ʿumra. Ibn Kathīr says twice that he could not bring himself to face Abū Bakr ؓ. Then he came to greet ʿUmar ؓ. ʿUmar ؓ named the two men he had killed at Buzākha and told him to get away from him. Ṭulayḥa ؓ answered. The answer is on the page, and so is what ʿUmar ؓ did about it.</a:t>
            </a:r>
          </a:p>
          <a:p>
            <a:endParaRPr/>
          </a:p>
          <a:p>
            <a:r>
              <a:t>MAP: Syria (Āl Jafna) → Mecca for ʿumra → Medina</a:t>
            </a:r>
          </a:p>
          <a:p>
            <a:endParaRPr/>
          </a:p>
          <a:p>
            <a:r>
              <a:t>عبرت: He did not deny what he had done, and he did not excuse it either.</a:t>
            </a:r>
          </a:p>
          <a:p>
            <a:endParaRPr/>
          </a:p>
          <a:p>
            <a:r>
              <a:t>HANDS UP: Yes — this is the payoff. "Last time we left Ṭulayḥa riding away from Buzākha. What do you think became of him?" Take answers. Then tell it.</a:t>
            </a:r>
          </a:p>
          <a:p>
            <a:endParaRPr/>
          </a:p>
          <a:p>
            <a:r>
              <a:t>Source: البدایہ والنہایہ ج۷ ص۲۴۲</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TMW/E-TRN15 · Consulted, never commanded</a:t>
            </a:r>
          </a:p>
          <a:p>
            <a:r>
              <a:t>Tier: GOOD   When: the caliphates of Abū Bakr ؓ and ʿUmar ؓ `[SOURCED]`</a:t>
            </a:r>
          </a:p>
          <a:p>
            <a:endParaRPr/>
          </a:p>
          <a:p>
            <a:r>
              <a:t>Ṭulayḥa ؓ went back into the armies and fought at Qādisiyya and Nahāwand. Ibn Saʿd says he was reckoned the equal of a thousand horsemen. But a standing instruction followed him: he was to be consulted about war, and given no command. Ibn Kathīr reads that as deliberate — a man who had wanted leadership was to be given everything except leadership — and he calls it part of Abū Bakr ؓ's fiqh.</a:t>
            </a:r>
          </a:p>
          <a:p>
            <a:endParaRPr/>
          </a:p>
          <a:p>
            <a:r>
              <a:t>MAP: n/a</a:t>
            </a:r>
          </a:p>
          <a:p>
            <a:endParaRPr/>
          </a:p>
          <a:p>
            <a:r>
              <a:t>عبرت: Trusting a man's judgement and trusting him with power are two different decisions.</a:t>
            </a:r>
          </a:p>
          <a:p>
            <a:endParaRPr/>
          </a:p>
          <a:p>
            <a:r>
              <a:t>Source: سیر أعلام النبلاء ج۱ ص۳۱۷</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TMW/E-TRN16 · The night ride at Nahāwand</a:t>
            </a:r>
          </a:p>
          <a:p>
            <a:r>
              <a:t>Tier: CORE   When: ۲۱ھ `[SOURCED]` — as Ibn ʿAsākir transmits it</a:t>
            </a:r>
          </a:p>
          <a:p>
            <a:endParaRPr/>
          </a:p>
          <a:p>
            <a:r>
              <a:t>Before Nahāwand, al-Nuʿmān b. Muqarrin ؓ sent three men ahead to scout. The party rode a day and a night; one of the three turned back, then the second after him. Ṭulayḥa ؓ rode on alone, more than twenty parasangs, right up to the Persian position. He was gone so long that the army decided he had gone over. Word went round that he had apostatised a second time. He heard about it when he came back, and he asked them what was wrong, and they told him. Then he answered.</a:t>
            </a:r>
          </a:p>
          <a:p>
            <a:endParaRPr/>
          </a:p>
          <a:p>
            <a:r>
              <a:t>MAP: Nahāwand, on the Persian plateau</a:t>
            </a:r>
          </a:p>
          <a:p>
            <a:endParaRPr/>
          </a:p>
          <a:p>
            <a:r>
              <a:t>عبرت: A man may carry a reputation for years after he has stopped deserving it.</a:t>
            </a:r>
          </a:p>
          <a:p>
            <a:endParaRPr/>
          </a:p>
          <a:p>
            <a:r>
              <a:t>Source: الکامل فی التاریخ ج۲ ص۳۹۴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TMW/E-TRN17 · How Ṭulayḥa ؓ died, and how al-Dhahabī closes the entry</a:t>
            </a:r>
          </a:p>
          <a:p>
            <a:r>
              <a:t>Tier: GOOD   When: Nahāwand, ۲۱ھ `[SOURCED]` — Ibn ʿAsākir's transmission, in Ibn Kathīr</a:t>
            </a:r>
          </a:p>
          <a:p>
            <a:endParaRPr/>
          </a:p>
          <a:p>
            <a:r>
              <a:t>Ibn Kathīr files his death notice under the year twenty-one and quotes Ibn ʿAsākir: he was martyred at Nahāwand, in the same battle as al-Nuʿmān b. Muqarrin ؓ and ʿAmr b. Maʿdī Karib ؓ. Al-Dhahabī gives no year at all. He gives one sentence, and then he adds a word to the usual formula that he does not add for most men.</a:t>
            </a:r>
          </a:p>
          <a:p>
            <a:endParaRPr/>
          </a:p>
          <a:p>
            <a:r>
              <a:t>MAP: Nahāwand</a:t>
            </a:r>
          </a:p>
          <a:p>
            <a:endParaRPr/>
          </a:p>
          <a:p>
            <a:r>
              <a:t>عبرت: The scholar who wrote his life would not drop either half of it.</a:t>
            </a:r>
          </a:p>
          <a:p>
            <a:endParaRPr/>
          </a:p>
          <a:p>
            <a:r>
              <a:t>Source: سیر أعلام النبلاء ج۱ ص۳۱۷</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TMW/E-TRN18 · The voice under his son's banner</a:t>
            </a:r>
          </a:p>
          <a:p>
            <a:r>
              <a:t>Tier: CORE   When: يوم اليرموك `[SOURCED]`</a:t>
            </a:r>
          </a:p>
          <a:p>
            <a:endParaRPr/>
          </a:p>
          <a:p>
            <a:r>
              <a:t>Abū Sufyān b. Ḥarb ؓ had commanded the Quraysh army at Uḥud and at the Trench. He had lost one eye at Ṭāʾif and lost the second at the Yarmūk. Saʿīd b. al-Musayyib's father was there. He says the noise of the battle dropped away, and there was one voice left carrying over the field. He looked up to see whose it was.</a:t>
            </a:r>
          </a:p>
          <a:p>
            <a:endParaRPr/>
          </a:p>
          <a:p>
            <a:r>
              <a:t>MAP: the Yarmūk</a:t>
            </a:r>
          </a:p>
          <a:p>
            <a:endParaRPr/>
          </a:p>
          <a:p>
            <a:r>
              <a:t>عبرت: He could no longer see the battle he was calling men into.</a:t>
            </a:r>
          </a:p>
          <a:p>
            <a:endParaRPr/>
          </a:p>
          <a:p>
            <a:r>
              <a:t>HANDS UP: Yes — "Who commanded Quraysh at Uḥud?" Then this.</a:t>
            </a:r>
          </a:p>
          <a:p>
            <a:endParaRPr/>
          </a:p>
          <a:p>
            <a:r>
              <a:t>Source: سیر أعلام النبلاء، ج الخلفاء الراشدون ص۱۰۸</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TMW/E-TRN19 · Abū Bakr ؓ walks beside the stirrup</a:t>
            </a:r>
          </a:p>
          <a:p>
            <a:r>
              <a:t>Tier: GOOD   When: ۱۳ھ, the sending of the Syrian armies `[STANDARD]` (to verify)</a:t>
            </a:r>
          </a:p>
          <a:p>
            <a:endParaRPr/>
          </a:p>
          <a:p>
            <a:r>
              <a:t>Yazīd b. Abī Sufyān ؓ was one of four commanders Abū Bakr ؓ appointed for the Syrian campaign. He was called Yazīd al-Khayr. He was the brother of Umm Ḥabība ؓ, the Mother of the Believers. His father had led the army at Uḥud. When Abū Bakr ؓ tied his standard for him, he did not stand and watch him ride out. Al-Dhahabī says plainly why.</a:t>
            </a:r>
          </a:p>
          <a:p>
            <a:endParaRPr/>
          </a:p>
          <a:p>
            <a:r>
              <a:t>MAP: Medina → Syria</a:t>
            </a:r>
          </a:p>
          <a:p>
            <a:endParaRPr/>
          </a:p>
          <a:p>
            <a:r>
              <a:t>عبرت: The caliph walked and the commander rode, and neither of them thought it strange.</a:t>
            </a:r>
          </a:p>
          <a:p>
            <a:endParaRPr/>
          </a:p>
          <a:p>
            <a:r>
              <a:t>Source: سیر أعلام النبلاء ج۱ ص۳۲۹</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TMW/E-TRN20 · Two men on the same road</a:t>
            </a:r>
          </a:p>
          <a:p>
            <a:r>
              <a:t>Tier: GOOD   When: ṣafar ۸ھ `[SOURCED]` — al-Wāqidī's transmission</a:t>
            </a:r>
          </a:p>
          <a:p>
            <a:endParaRPr/>
          </a:p>
          <a:p>
            <a:r>
              <a:t>ʿAmr b. al-ʿĀṣ had fought against the Muslims at Badr, Uḥud and the Trench and got away each time. He went to the Negus with a plan and came back with a different one. Riding north he saw two men ahead of him at a stopping place. One of them was Khālid b. al-Walīd. He asked him where he was going. Then a third man came out of the tent: ʿUthmān b. Ṭalḥa, the doorkeeper of the Kaʿba. All three were going to the same place for the same reason. They travelled the rest of the way together.</a:t>
            </a:r>
          </a:p>
          <a:p>
            <a:endParaRPr/>
          </a:p>
          <a:p>
            <a:r>
              <a:t>MAP: the Red Sea coast → Medina</a:t>
            </a:r>
          </a:p>
          <a:p>
            <a:endParaRPr/>
          </a:p>
          <a:p>
            <a:r>
              <a:t>عبرت: Neither of them knew the other was coming.</a:t>
            </a:r>
          </a:p>
          <a:p>
            <a:endParaRPr/>
          </a:p>
          <a:p>
            <a:r>
              <a:t>Source: سیر أعلام النبلاء، ج السیرۃ ۲ ص۱۱۳</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TMW/E-TRN21 · The ḥadīth about the Sword of Allah, and who carries it</a:t>
            </a:r>
          </a:p>
          <a:p>
            <a:r>
              <a:t>Tier: CORE   When: ۱۱ھ, at the ridda appointment `[SOURCED]`</a:t>
            </a:r>
          </a:p>
          <a:p>
            <a:endParaRPr/>
          </a:p>
          <a:p>
            <a:r>
              <a:t>When Abū Bakr ؓ gave Khālid ؓ the command over the ridda campaign, he quoted something he had heard the Prophet ﷺ say about him. Ibn Kathīr puts the ḥadīth on the page at exactly that moment. The man who transmits it is Waḥshī b. Ḥarb ؓ. Twelve years earlier, at Uḥud, the same two men had been on the same side of the field — and it was the other side.</a:t>
            </a:r>
          </a:p>
          <a:p>
            <a:endParaRPr/>
          </a:p>
          <a:p>
            <a:r>
              <a:t>MAP: Medina / Dhū al-Qaṣṣa</a:t>
            </a:r>
          </a:p>
          <a:p>
            <a:endParaRPr/>
          </a:p>
          <a:p>
            <a:r>
              <a:t>عبرت: The praise of one of them reaches us through the other.</a:t>
            </a:r>
          </a:p>
          <a:p>
            <a:endParaRPr/>
          </a:p>
          <a:p>
            <a:r>
              <a:t>Source: البدایہ والنہایہ ج۷ ص۲۴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TMW/E-TRN22 · Where ʿIkrima ؓ died — and why we cannot say</a:t>
            </a:r>
          </a:p>
          <a:p>
            <a:r>
              <a:t>Tier: GOOD   When: ۱۳ھ or ۱۵ھ `[SOURCED]` for the disagreement itself</a:t>
            </a:r>
          </a:p>
          <a:p>
            <a:endParaRPr/>
          </a:p>
          <a:p>
            <a:r>
              <a:t>ʿIkrima ؓ was killed in Syria. The books do not agree where. ʿUrwa, Ibn Saʿd and others say Ajnādayn. Abū Isḥāq al-Sabīʿī says the Yarmūk, and adds that he had dismounted from his horse and fought on foot, and when they found him there were more than seventy wounds on his body — stabs, arrow-strikes and sword-cuts. Ibn Kathīr carries both, in different chapters of the same book. This is what an honest history looks like when it has two reports and no way to choose.</a:t>
            </a:r>
          </a:p>
          <a:p>
            <a:endParaRPr/>
          </a:p>
          <a:p>
            <a:r>
              <a:t>MAP: Ajnādayn and the Yarmūk — put both pins up, one struck through</a:t>
            </a:r>
          </a:p>
          <a:p>
            <a:endParaRPr/>
          </a:p>
          <a:p>
            <a:r>
              <a:t>عبرت: Where the books disagree, we say they disagree.</a:t>
            </a:r>
          </a:p>
          <a:p>
            <a:endParaRPr/>
          </a:p>
          <a:p>
            <a:r>
              <a:t>Source: سیر أعلام النبلاء ج۱ ص۳۲۴</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TMW/E-TRN23 · The house of Abū Jahl at Ajnādayn</a:t>
            </a:r>
          </a:p>
          <a:p>
            <a:r>
              <a:t>Tier: GOOD   When: ۱۳ھ `[SOURCED]`</a:t>
            </a:r>
          </a:p>
          <a:p>
            <a:endParaRPr/>
          </a:p>
          <a:p>
            <a:r>
              <a:t>When Ibn Kathīr lists the men killed at Ajnādayn he names, in one line, ʿIkrima b. Abī Jahl ؓ and his uncle Salama b. Hishām ؓ. Salama ؓ was one of the earliest Muslims; he had emigrated to Abyssinia, come back, and been imprisoned in Mecca by his own brother — and the Prophet ﷺ used to pray for him by name in the qunūt. Al-Ḥārith b. Hishām ؓ, another brother of Abū Jahl, survived to die in the plague five years later.</a:t>
            </a:r>
          </a:p>
          <a:p>
            <a:endParaRPr/>
          </a:p>
          <a:p>
            <a:r>
              <a:t>MAP: Ajnādayn, Palestine</a:t>
            </a:r>
          </a:p>
          <a:p>
            <a:endParaRPr/>
          </a:p>
          <a:p>
            <a:r>
              <a:t>عبرت: By the year thirteen the household of Abū Jahl was fighting as one, on the other side.</a:t>
            </a:r>
          </a:p>
          <a:p>
            <a:endParaRPr/>
          </a:p>
          <a:p>
            <a:r>
              <a:t>Source: البدایہ والنہایہ ج۷ ص۱۲۱</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TMW/E-TRN24 · Al-Dhahabī on Abū Sufyān ؓ, unsoftened</a:t>
            </a:r>
          </a:p>
          <a:p>
            <a:r>
              <a:t>Tier: GOOD   When: رمضان ۸ھ `[STANDARD]` (to verify)</a:t>
            </a:r>
          </a:p>
          <a:p>
            <a:endParaRPr/>
          </a:p>
          <a:p>
            <a:r>
              <a:t>Al-Dhahabī رحمہ اللہ wrote a life of Abū Sufyān ؓ and did not smooth it. He states what the man had been, states that Allah rescued him, states plainly how he entered Islam, and then states, in four words, that it did not stay that way. It is worth reading exactly as he wrote it, because it shows how the tradition itself handles a difficult life.</a:t>
            </a:r>
          </a:p>
          <a:p>
            <a:endParaRPr/>
          </a:p>
          <a:p>
            <a:r>
              <a:t>MAP: Mecca</a:t>
            </a:r>
          </a:p>
          <a:p>
            <a:endParaRPr/>
          </a:p>
          <a:p>
            <a:r>
              <a:t>عبرت: The books record how a man began as well as how he ended.</a:t>
            </a:r>
          </a:p>
          <a:p>
            <a:endParaRPr/>
          </a:p>
          <a:p>
            <a:r>
              <a:t>Source: سیر أعلام النبلاء ج۲ ص۱۰۶</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TMW/E-TRN25 · How Muʿāwiya ؓ came to hold Syria</a:t>
            </a:r>
          </a:p>
          <a:p>
            <a:r>
              <a:t>Tier: GOOD   When: ۱۸ھ, in the plague `[SOURCED]` — the name ʿAmwās is `[STANDARD]` (to verify; سیر ج۱ ص۳۳۰ says only «الطاعون»)</a:t>
            </a:r>
          </a:p>
          <a:p>
            <a:endParaRPr/>
          </a:p>
          <a:p>
            <a:r>
              <a:t>Yazīd b. Abī Sufyān ؓ was governor of Damascus. When the plague took him he was dying, and he named his own brother Muʿāwiya ؓ over his command. ʿUmar ؓ confirmed it — al-Dhahabī says out of respect for Yazīd ؓ and to carry out his appointment. The same plague took Abū ʿUbayda ؓ, Muʿādh b. Jabal ؓ, Shuraḥbīl b. Ḥasana ؓ, al-Ḥārith b. Hishām ؓ and Abū Jandal b. Suhayl ؓ.</a:t>
            </a:r>
          </a:p>
          <a:p>
            <a:endParaRPr/>
          </a:p>
          <a:p>
            <a:r>
              <a:t>MAP: Damascus</a:t>
            </a:r>
          </a:p>
          <a:p>
            <a:endParaRPr/>
          </a:p>
          <a:p>
            <a:r>
              <a:t>عبرت: A great deal of what comes later begins in a single administrative decision made at a deathbed.</a:t>
            </a:r>
          </a:p>
          <a:p>
            <a:endParaRPr/>
          </a:p>
          <a:p>
            <a:r>
              <a:t>HANDS UP: no — but say the last clause slowly. It is the seed of session 4.</a:t>
            </a:r>
          </a:p>
          <a:p>
            <a:endParaRPr/>
          </a:p>
          <a:p>
            <a:r>
              <a:t>Source: سیر أعلام النبلاء ج۱ ص۳۳۰</a:t>
            </a:r>
          </a:p>
          <a:p>
            <a:endParaRPr/>
          </a:p>
          <a:p>
            <a:r>
              <a:t>From: The people: the men who had fought against it</a:t>
            </a:r>
          </a:p>
        </p:txBody>
      </p:sp>
      <p:sp>
        <p:nvSpPr>
          <p:cNvPr id="4" name="Slide Number Placeholder 3"/>
          <p:cNvSpPr>
            <a:spLocks noGrp="1"/>
          </p:cNvSpPr>
          <p:nvPr>
            <p:ph type="sldNum" sz="quarter" idx="5"/>
          </p:nvPr>
        </p:nvSpPr>
        <p:spPr/>
      </p:sp>
    </p:spTree>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 · أبو بكر ؓ takes the office and tells the room to correct him</a:t>
            </a:r>
          </a:p>
          <a:p>
            <a:r>
              <a:t>Tier: CORE   When: ۱۱ھ, the morning after السقيفة `[SOURCED]`</a:t>
            </a:r>
          </a:p>
          <a:p>
            <a:endParaRPr/>
          </a:p>
          <a:p>
            <a:r>
              <a:t>The general pledge had just been given in the mosque, the morning after السقيفة. أبو بكر ؓ stood up to speak for the first time as the man in charge. He did not open with a claim. He opened by saying he was not the best of them, and by asking to be corrected if he went wrong. Then he set out how the weak and the strong would be treated in his court. ابن كثير, who copies the whole address, adds four words of his own after it: *this chain is sound.*</a:t>
            </a:r>
          </a:p>
          <a:p>
            <a:endParaRPr/>
          </a:p>
          <a:p>
            <a:r>
              <a:t>MAP: n/a</a:t>
            </a:r>
          </a:p>
          <a:p>
            <a:endParaRPr/>
          </a:p>
          <a:p>
            <a:r>
              <a:t>عبرت: Authority that asks to be corrected has already conceded that it is not the highest thing in the room.</a:t>
            </a:r>
          </a:p>
          <a:p>
            <a:endParaRPr/>
          </a:p>
          <a:p>
            <a:r>
              <a:t>HANDS UP: Ask before telling it: *when a new leader speaks for the first time, what does he usually say about himself?*</a:t>
            </a:r>
          </a:p>
          <a:p>
            <a:endParaRPr/>
          </a:p>
          <a:p>
            <a:r>
              <a:t>Source: البدایہ والنہایہ ج۷ ص۶</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 · أبو بكر ؓ will not untie a knot the Prophet ﷺ tied</a:t>
            </a:r>
          </a:p>
          <a:p>
            <a:r>
              <a:t>Tier: CORE   When: ۱۱ھ, the first days `[SOURCED]`</a:t>
            </a:r>
          </a:p>
          <a:p>
            <a:endParaRPr/>
          </a:p>
          <a:p>
            <a:r>
              <a:t>The Prophet ﷺ had appointed أسامة ؓ over an expedition and it had not yet marched. Then he died, and tribes across Arabia broke away. Senior Companions asked أبو بكر ؓ to hold the army back and use it to defend Medina. He refused. He said he would not undo something the Messenger of God ﷺ had settled — not if wild animals came to the edges of the city, and not if he were the last man left in the settlements.</a:t>
            </a:r>
          </a:p>
          <a:p>
            <a:endParaRPr/>
          </a:p>
          <a:p>
            <a:r>
              <a:t>MAP: the arrow north to الجُرْف and out toward الشام, drawn while every other frontier is on fire</a:t>
            </a:r>
          </a:p>
          <a:p>
            <a:endParaRPr/>
          </a:p>
          <a:p>
            <a:r>
              <a:t>عبرت: A commitment that is only kept while it is safe was never a commitment.</a:t>
            </a:r>
          </a:p>
          <a:p>
            <a:endParaRPr/>
          </a:p>
          <a:p>
            <a:r>
              <a:t>HANDS UP: *Your house is surrounded and you have one unit left. Do you send it away, or keep it?*</a:t>
            </a:r>
          </a:p>
          <a:p>
            <a:endParaRPr/>
          </a:p>
          <a:p>
            <a:r>
              <a:t>Source: البدایہ والنہایہ ج۷ ص۱۰</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 · The caliph walks and the eighteen-year-old rides</a:t>
            </a:r>
          </a:p>
          <a:p>
            <a:r>
              <a:t>Tier: CORE   When: ۱۱ھ, at الجُرْف `[SOURCED]`</a:t>
            </a:r>
          </a:p>
          <a:p>
            <a:endParaRPr/>
          </a:p>
          <a:p>
            <a:r>
              <a:t>أبو بكر ؓ went out on foot to see the army off. أسامة ؓ, who was about eighteen, was mounted. The caliph walked beside his horse. أسامة ؓ said: either you ride, or I get down. أبو بكر ؓ refused both. Then, before he turned back, he asked أسامة ؓ — the young commander — for permission to keep عمر ؓ back in Medina. عمر ؓ never met him afterwards without greeting him as *commander*.</a:t>
            </a:r>
          </a:p>
          <a:p>
            <a:endParaRPr/>
          </a:p>
          <a:p>
            <a:r>
              <a:t>MAP: الجُرْف, just outside Medina</a:t>
            </a:r>
          </a:p>
          <a:p>
            <a:endParaRPr/>
          </a:p>
          <a:p>
            <a:r>
              <a:t>عبرت: Rank inside an office and rank before God are two different measurements, and confusing them is where rulers go wrong.</a:t>
            </a:r>
          </a:p>
          <a:p>
            <a:endParaRPr/>
          </a:p>
          <a:p>
            <a:r>
              <a:t>HANDS UP: *How old was the commander of the first army the first caliph sent out?*</a:t>
            </a:r>
          </a:p>
          <a:p>
            <a:endParaRPr/>
          </a:p>
          <a:p>
            <a:r>
              <a:t>Source: الکامل فی التاریخ ج۲ ص۱۹۵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GSA/E-ST4 · The ten rules given to an army before it marched</a:t>
            </a:r>
          </a:p>
          <a:p>
            <a:r>
              <a:t>Tier: CORE   When: ۱۱ھ, before جيش أسامة marched `[SOURCED]`</a:t>
            </a:r>
          </a:p>
          <a:p>
            <a:endParaRPr/>
          </a:p>
          <a:p>
            <a:r>
              <a:t>With the army drawn up and about to leave, أبو بكر ؓ gave it its standing orders. They are not tactics. They are a list of things the army is forbidden to do — to people, to animals, and to trees — and they were given before a single one of the great conquests had begun. The last of them concerns men who have withdrawn into cells and given their lives to worship: leave them alone.</a:t>
            </a:r>
          </a:p>
          <a:p>
            <a:endParaRPr/>
          </a:p>
          <a:p>
            <a:r>
              <a:t>MAP: n/a</a:t>
            </a:r>
          </a:p>
          <a:p>
            <a:endParaRPr/>
          </a:p>
          <a:p>
            <a:r>
              <a:t>عبرت: The limits on an army are set before it marches, or they are not set at all.</a:t>
            </a:r>
          </a:p>
          <a:p>
            <a:endParaRPr/>
          </a:p>
          <a:p>
            <a:r>
              <a:t>HANDS UP: no — but the ellipsis on the slide is deliberate and §1.5 tells the speaker what to say if it is challenged.</a:t>
            </a:r>
          </a:p>
          <a:p>
            <a:endParaRPr/>
          </a:p>
          <a:p>
            <a:r>
              <a:t>Source: الکامل فی التاریخ ج۲ ص۱۹۶</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GSA/E-ST5 · The zakāt refusers, and عمر ؓ saying out loud that he had been wrong</a:t>
            </a:r>
          </a:p>
          <a:p>
            <a:r>
              <a:t>Tier: CORE   When: ۱۱ھ `[SOURCED]`</a:t>
            </a:r>
          </a:p>
          <a:p>
            <a:endParaRPr/>
          </a:p>
          <a:p>
            <a:r>
              <a:t>Delegations came into Medina accepting the prayer and refusing the zakāt. عمر ؓ argued against fighting them, and he had a ḥadīth to argue with. أبو بكر ؓ answered him with a single distinction: the zakāt is a due upon wealth, and it cannot be separated from the prayer. The report is in the Six except ابن ماجه — ابن كثير says so on the page. And the last thing in it is not أبو بكر ؓ's oath. It is عمر ؓ saying, on the record, that he came to see his companion was right.</a:t>
            </a:r>
          </a:p>
          <a:p>
            <a:endParaRPr/>
          </a:p>
          <a:p>
            <a:r>
              <a:t>MAP: the delegations arriving into Medina from every direction</a:t>
            </a:r>
          </a:p>
          <a:p>
            <a:endParaRPr/>
          </a:p>
          <a:p>
            <a:r>
              <a:t>عبرت: Two men can disagree at the top of a state, settle it by argument, and leave the record of the disagreement standing.</a:t>
            </a:r>
          </a:p>
          <a:p>
            <a:endParaRPr/>
          </a:p>
          <a:p>
            <a:r>
              <a:t>HANDS UP: *Who was right — the one who wanted to fight, or the one who did not?* Then read the last line and let it answer itself.</a:t>
            </a:r>
          </a:p>
          <a:p>
            <a:endParaRPr/>
          </a:p>
          <a:p>
            <a:r>
              <a:t>Source: البدایہ والنہایہ ج۷ ص۱۸</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GSA/E-ST6 · The audit أبو بكر ؓ left behind, and عمر ؓ weeping over a blanket</a:t>
            </a:r>
          </a:p>
          <a:p>
            <a:r>
              <a:t>Tier: CORE   When: جمادى الآخرة ۱۳ھ `[SOURCED]`</a:t>
            </a:r>
          </a:p>
          <a:p>
            <a:endParaRPr/>
          </a:p>
          <a:p>
            <a:r>
              <a:t>Dying, أبو بكر ؓ told عائشة ؓ what he had taken from the Muslims in two years as caliph. Not a dinar, not a dirham. He had eaten their coarse food and worn their rough cloth. Three items were in the house that belonged to the treasury: a servant, a camel and a blanket. He told her to send all three to عمر ؓ the moment he died. When they arrived, عمر ؓ wept until his tears ran onto the ground.</a:t>
            </a:r>
          </a:p>
          <a:p>
            <a:endParaRPr/>
          </a:p>
          <a:p>
            <a:r>
              <a:t>MAP: n/a</a:t>
            </a:r>
          </a:p>
          <a:p>
            <a:endParaRPr/>
          </a:p>
          <a:p>
            <a:r>
              <a:t>عبرت: The standard a man sets by his own conduct is the heaviest thing he can leave to his successor.</a:t>
            </a:r>
          </a:p>
          <a:p>
            <a:endParaRPr/>
          </a:p>
          <a:p>
            <a:r>
              <a:t>HANDS UP: no. This is the hinge of the evening from أبو بكر ؓ to عمر ؓ — let the last five words carry it.</a:t>
            </a:r>
          </a:p>
          <a:p>
            <a:endParaRPr/>
          </a:p>
          <a:p>
            <a:r>
              <a:t>Source: الکامل فی التاریخ ج۲ ص۲۶۵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GSA/E-ST7 · طلحة ؓ objects to the appointment of عمر ؓ, in public</a:t>
            </a:r>
          </a:p>
          <a:p>
            <a:r>
              <a:t>Tier: GOOD   When: ۱۳ھ `[SOURCED]`</a:t>
            </a:r>
          </a:p>
          <a:p>
            <a:endParaRPr/>
          </a:p>
          <a:p>
            <a:r>
              <a:t>أبو بكر ؓ intended to appoint عمر ؓ. طلحة ؓ came to him and objected to his face: you have seen what people get from him while you are standing beside him — what happens when he is alone with them, and you are going to meet your Lord and be asked about your flock? أبو بكر ؓ had himself sat up to answer.</a:t>
            </a:r>
          </a:p>
          <a:p>
            <a:endParaRPr/>
          </a:p>
          <a:p>
            <a:r>
              <a:t>MAP: n/a</a:t>
            </a:r>
          </a:p>
          <a:p>
            <a:endParaRPr/>
          </a:p>
          <a:p>
            <a:r>
              <a:t>عبرت: A decision that can be objected to in the open, and answered in the open, is a decision the community can live with.</a:t>
            </a:r>
          </a:p>
          <a:p>
            <a:endParaRPr/>
          </a:p>
          <a:p>
            <a:r>
              <a:t>Source: الکامل فی التاریخ ج۲ ص۲۶۷</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GSA/E-ST8 · The charge to يزيد بن أبي سفيان ؓ, walking beside his horse</a:t>
            </a:r>
          </a:p>
          <a:p>
            <a:r>
              <a:t>Tier: CORE   When: ۱۳ھ, the Syrian expedition `[SOURCED]`</a:t>
            </a:r>
          </a:p>
          <a:p>
            <a:endParaRPr/>
          </a:p>
          <a:p>
            <a:r>
              <a:t>أبو بكر ؓ put يزيد بن أبي سفيان ؓ over the largest column going to Syria and walked it out of Medina on foot. What he said to him is not a speech about victory. It is a job description: you are being tested; if you do well I will extend your post, and if you do badly I will dismiss you. Then he warned him against the one thing that could destroy the whole enterprise — the pride of the old tribal order. ابن الأثير, printing it, calls it one of the best charges ever given to a man in office.</a:t>
            </a:r>
          </a:p>
          <a:p>
            <a:endParaRPr/>
          </a:p>
          <a:p>
            <a:r>
              <a:t>MAP: the four columns leaving Medina for فلسطين، البلقاء، الأردن، الجابية</a:t>
            </a:r>
          </a:p>
          <a:p>
            <a:endParaRPr/>
          </a:p>
          <a:p>
            <a:r>
              <a:t>عبرت: An appointment is a trial, not a reward, and saying so at the start is what makes the dismissal fair later.</a:t>
            </a:r>
          </a:p>
          <a:p>
            <a:endParaRPr/>
          </a:p>
          <a:p>
            <a:r>
              <a:t>Source: الکامل فی التاریخ ج۲ ص۲۴۹</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GSA/E-ST9 · «I am one arrow — shoot me where it is hardest»</a:t>
            </a:r>
          </a:p>
          <a:p>
            <a:r>
              <a:t>Tier: GOOD   When: ۱۳ھ `[SOURCED]`</a:t>
            </a:r>
          </a:p>
          <a:p>
            <a:endParaRPr/>
          </a:p>
          <a:p>
            <a:r>
              <a:t>أبو بكر ؓ wrote to عمرو بن العاص ؓ offering him the Syrian command, and expressly left him free to keep the post he already had if he preferred it. عمرو ؓ wrote back in one sentence.</a:t>
            </a:r>
          </a:p>
          <a:p>
            <a:endParaRPr/>
          </a:p>
          <a:p>
            <a:r>
              <a:t>MAP: n/a</a:t>
            </a:r>
          </a:p>
          <a:p>
            <a:endParaRPr/>
          </a:p>
          <a:p>
            <a:r>
              <a:t>عبرت: A man who lets himself be aimed by someone else has settled the question of who he is working for.</a:t>
            </a:r>
          </a:p>
          <a:p>
            <a:endParaRPr/>
          </a:p>
          <a:p>
            <a:r>
              <a:t>Source: الکامل فی التاریخ ج۲ ص۲۴۹</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GSA/E-ST10 · «Ten thousand are not beaten by being few»</a:t>
            </a:r>
          </a:p>
          <a:p>
            <a:r>
              <a:t>Tier: GOOD   When: ۱۳ھ, before اليرموك `[SOURCED]`</a:t>
            </a:r>
          </a:p>
          <a:p>
            <a:endParaRPr/>
          </a:p>
          <a:p>
            <a:r>
              <a:t>Heraclius had put a separate army in front of each Muslim column so that no two could join. The commanders wrote to عمرو بن العاص ؓ asking what to do, and then to أبو بكر ؓ. Both answers were the same: concentrate. And أبو بكر ؓ added a sentence that refused to discuss the numbers at all.</a:t>
            </a:r>
          </a:p>
          <a:p>
            <a:endParaRPr/>
          </a:p>
          <a:p>
            <a:r>
              <a:t>MAP: the four Muslim columns converging on اليرموك</a:t>
            </a:r>
          </a:p>
          <a:p>
            <a:endParaRPr/>
          </a:p>
          <a:p>
            <a:r>
              <a:t>عبرت: Counting the enemy is a smaller question than what you have made of yourselves.</a:t>
            </a:r>
          </a:p>
          <a:p>
            <a:endParaRPr/>
          </a:p>
          <a:p>
            <a:r>
              <a:t>HANDS UP: *They were outnumbered several times over. What do you write back?*</a:t>
            </a:r>
          </a:p>
          <a:p>
            <a:endParaRPr/>
          </a:p>
          <a:p>
            <a:r>
              <a:t>Source: الکامل فی التاریخ ج۲ ص۲۵۱</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GSA/E-ST11 · «I shall still milk your sheep»</a:t>
            </a:r>
          </a:p>
          <a:p>
            <a:r>
              <a:t>Tier: GOOD   When: ۱۱ھ, the days after the bayʿah `[SOURCED]`</a:t>
            </a:r>
          </a:p>
          <a:p>
            <a:endParaRPr/>
          </a:p>
          <a:p>
            <a:r>
              <a:t>أبو بكر ؓ used to milk the flocks of his neighbourhood. When the pledge was given to him, a girl of the quarter said out loud that now he would not milk their sheep any more. He heard her.</a:t>
            </a:r>
          </a:p>
          <a:p>
            <a:endParaRPr/>
          </a:p>
          <a:p>
            <a:r>
              <a:t>MAP: السُّنْح, the outlying quarter where أبو بكر ؓ lived</a:t>
            </a:r>
          </a:p>
          <a:p>
            <a:endParaRPr/>
          </a:p>
          <a:p>
            <a:r>
              <a:t>عبرت: The test of an office is whether the small duties survive it.</a:t>
            </a:r>
          </a:p>
          <a:p>
            <a:endParaRPr/>
          </a:p>
          <a:p>
            <a:r>
              <a:t>Source: الکامل فی التاریخ ج۲ ص۲۶۶</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GSA/E-ST12 · The blind woman in the night</a:t>
            </a:r>
          </a:p>
          <a:p>
            <a:r>
              <a:t>Tier: GOOD   When: ۱۱–۱۳ھ `[SOURCED]`</a:t>
            </a:r>
          </a:p>
          <a:p>
            <a:endParaRPr/>
          </a:p>
          <a:p>
            <a:r>
              <a:t>عمر ؓ used to go by night to a blind woman in Medina and do what needed doing in her house. He kept finding it already done. So he waited to see who had got there before him. It was أبو بكر ؓ — still doing it after he became caliph. عمر ؓ said four words.</a:t>
            </a:r>
          </a:p>
          <a:p>
            <a:endParaRPr/>
          </a:p>
          <a:p>
            <a:r>
              <a:t>MAP: n/a</a:t>
            </a:r>
          </a:p>
          <a:p>
            <a:endParaRPr/>
          </a:p>
          <a:p>
            <a:r>
              <a:t>عبرت: The work nobody is watching is the work that tells you who a man is.</a:t>
            </a:r>
          </a:p>
          <a:p>
            <a:endParaRPr/>
          </a:p>
          <a:p>
            <a:r>
              <a:t>HANDS UP: *Someone was getting there first, every night. Who do you think it was?*</a:t>
            </a:r>
          </a:p>
          <a:p>
            <a:endParaRPr/>
          </a:p>
          <a:p>
            <a:r>
              <a:t>Source: الکامل فی التاریخ ج۲ ص۲۶۵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GSA/E-ST13 · عمر ؓ's first words as caliph</a:t>
            </a:r>
          </a:p>
          <a:p>
            <a:r>
              <a:t>Tier: CORE   When: ۱۳ھ, the day of أبو بكر ؓ's burial `[SOURCED]`</a:t>
            </a:r>
          </a:p>
          <a:p>
            <a:endParaRPr/>
          </a:p>
          <a:p>
            <a:r>
              <a:t>They buried أبو بكر ؓ. Then عمر ؓ went up and spoke. Where his predecessor had begun by saying he was not the best of them, عمر ؓ began with a picture of a camel with a ring in its nose, and of the man holding the rope. Then he told them what he intended to do with it.</a:t>
            </a:r>
          </a:p>
          <a:p>
            <a:endParaRPr/>
          </a:p>
          <a:p>
            <a:r>
              <a:t>MAP: n/a</a:t>
            </a:r>
          </a:p>
          <a:p>
            <a:endParaRPr/>
          </a:p>
          <a:p>
            <a:r>
              <a:t>عبرت: Two men can hold the same office and be honest in completely different registers; the office does not prescribe the man.</a:t>
            </a:r>
          </a:p>
          <a:p>
            <a:endParaRPr/>
          </a:p>
          <a:p>
            <a:r>
              <a:t>HANDS UP: Put E-ST1 on the screen beside it and ask: *same job — same opening?*</a:t>
            </a:r>
          </a:p>
          <a:p>
            <a:endParaRPr/>
          </a:p>
          <a:p>
            <a:r>
              <a:t>Source: الکامل فی التاریخ ج۲ ص۲۶۸</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GSA/E-ST14 · The title that was getting longer</a:t>
            </a:r>
          </a:p>
          <a:p>
            <a:r>
              <a:t>Tier: GOOD   When: ۱۳ھ `[SOURCED]`</a:t>
            </a:r>
          </a:p>
          <a:p>
            <a:endParaRPr/>
          </a:p>
          <a:p>
            <a:r>
              <a:t>People began greeting عمر ؓ as *Successor of the Successor of the Messenger of God*. He pointed out where that was heading — every caliph would add a link — and replaced it with something shorter and flatter. It is the title the Muslim world used for the next thirteen hundred years.</a:t>
            </a:r>
          </a:p>
          <a:p>
            <a:endParaRPr/>
          </a:p>
          <a:p>
            <a:r>
              <a:t>MAP: n/a</a:t>
            </a:r>
          </a:p>
          <a:p>
            <a:endParaRPr/>
          </a:p>
          <a:p>
            <a:r>
              <a:t>عبرت: He shortened his own title, and the shorter title said less about him and more about them.</a:t>
            </a:r>
          </a:p>
          <a:p>
            <a:endParaRPr/>
          </a:p>
          <a:p>
            <a:r>
              <a:t>HANDS UP: *What would the fifth caliph have been called if nobody had stopped it?*</a:t>
            </a:r>
          </a:p>
          <a:p>
            <a:endParaRPr/>
          </a:p>
          <a:p>
            <a:r>
              <a:t>Source: البدایہ والنہایہ ج۷ ص۲۶۸</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GSA/E-ST15 · عمر ؓ overheard talking to himself behind a wall</a:t>
            </a:r>
          </a:p>
          <a:p>
            <a:r>
              <a:t>Tier: CORE   When: ۱۳–۲۳ھ `[SOURCED]`</a:t>
            </a:r>
          </a:p>
          <a:p>
            <a:endParaRPr/>
          </a:p>
          <a:p>
            <a:r>
              <a:t>أنس ؓ went out with عمر ؓ, who stepped into a walled garden for a private need. With a wall between them, أنس ؓ heard the Commander of the Believers say his own name and his own title out loud, congratulate himself — and then threaten himself.</a:t>
            </a:r>
          </a:p>
          <a:p>
            <a:endParaRPr/>
          </a:p>
          <a:p>
            <a:r>
              <a:t>MAP: n/a</a:t>
            </a:r>
          </a:p>
          <a:p>
            <a:endParaRPr/>
          </a:p>
          <a:p>
            <a:r>
              <a:t>عبرت: The praise a man gives himself in private is the praise he has to answer for.</a:t>
            </a:r>
          </a:p>
          <a:p>
            <a:endParaRPr/>
          </a:p>
          <a:p>
            <a:r>
              <a:t>HANDS UP: *What do you think a ruler says when he thinks nobody can hear him?*</a:t>
            </a:r>
          </a:p>
          <a:p>
            <a:endParaRPr/>
          </a:p>
          <a:p>
            <a:r>
              <a:t>Source: سیر أعلام النبلاء (سير الخلفاء الراشدين) ص۸۳</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GSA/E-ST16 · What the caliph is allowed to take</a:t>
            </a:r>
          </a:p>
          <a:p>
            <a:r>
              <a:t>Tier: CORE   When: ۱۳–۲۳ھ `[SOURCED]`</a:t>
            </a:r>
          </a:p>
          <a:p>
            <a:endParaRPr/>
          </a:p>
          <a:p>
            <a:r>
              <a:t>عمر ؓ set out, in front of witnesses, exactly what he was permitted to draw from the public wealth. Two sets of clothes — one for winter, one for summer. What he needed for Ḥajj and ʿUmra. Food for his household, at the level of a middling man of Quraysh, not the richest. And then a sentence that ends the list.</a:t>
            </a:r>
          </a:p>
          <a:p>
            <a:endParaRPr/>
          </a:p>
          <a:p>
            <a:r>
              <a:t>MAP: n/a</a:t>
            </a:r>
          </a:p>
          <a:p>
            <a:endParaRPr/>
          </a:p>
          <a:p>
            <a:r>
              <a:t>عبرت: A limit a ruler writes for himself and states in public is worth more than one imposed on him from outside.</a:t>
            </a:r>
          </a:p>
          <a:p>
            <a:endParaRPr/>
          </a:p>
          <a:p>
            <a:r>
              <a:t>Source: سیر (سير الخلفاء الراشدين) ص۸۰ · also البدایہ ج۷ ص۲۶۴</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GSA/E-ST17 · Four conditions in every governor's commission</a:t>
            </a:r>
          </a:p>
          <a:p>
            <a:r>
              <a:t>Tier: CORE   When: ۱۳–۲۳ھ `[SOURCED]`</a:t>
            </a:r>
          </a:p>
          <a:p>
            <a:endParaRPr/>
          </a:p>
          <a:p>
            <a:r>
              <a:t>عمر ؓ did not appoint a governor with a handshake. He wrote a commission, had a group of the Muhājirūn witness it, and put four conditions into it. No fine horse. No sifted flour. No fine cloth. And no shut door against people who need him. Break any of them, and the penalty falls due.</a:t>
            </a:r>
          </a:p>
          <a:p>
            <a:endParaRPr/>
          </a:p>
          <a:p>
            <a:r>
              <a:t>MAP: the provincial capitals — الكوفة، البصرة، دمشق، حمص، مصر، الطائف، البحرين</a:t>
            </a:r>
          </a:p>
          <a:p>
            <a:endParaRPr/>
          </a:p>
          <a:p>
            <a:r>
              <a:t>عبرت: Three of the four are about how a governor lives, and the fourth is about whether people can reach him; the first three exist to protect the fourth.</a:t>
            </a:r>
          </a:p>
          <a:p>
            <a:endParaRPr/>
          </a:p>
          <a:p>
            <a:r>
              <a:t>HANDS UP: *Four conditions. Guess one.*</a:t>
            </a:r>
          </a:p>
          <a:p>
            <a:endParaRPr/>
          </a:p>
          <a:p>
            <a:r>
              <a:t>Source: البدایہ والنہایہ ج۷ ص۲۶۴ · also سیر (راشدون) ص۸۰</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GSA/E-ST18 · «Keep the herds of Ibn ʿAwf and Ibn ʿAffān away from me»</a:t>
            </a:r>
          </a:p>
          <a:p>
            <a:r>
              <a:t>Tier: CORE   When: ۱۳–۲۳ھ `[SOURCED — the page says «أخرجه البخاري»]`</a:t>
            </a:r>
          </a:p>
          <a:p>
            <a:endParaRPr/>
          </a:p>
          <a:p>
            <a:r>
              <a:t>عمر ؓ put a freedman named هُنَيّ over the protected pasture and briefed him. The brief has two halves. First: let the poor man in — the man with a handful of camels and a handful of sheep. Second: keep out the herds of the two richest Companions, and he named them. His reason is not resentment. If the rich man's livestock die he falls back on his crops and his palms. If the poor man's die, he comes to the caliph with his children.</a:t>
            </a:r>
          </a:p>
          <a:p>
            <a:endParaRPr/>
          </a:p>
          <a:p>
            <a:r>
              <a:t>MAP: the protected pasture (الحِمى) outside Medina</a:t>
            </a:r>
          </a:p>
          <a:p>
            <a:endParaRPr/>
          </a:p>
          <a:p>
            <a:r>
              <a:t>عبرت: A rule aimed only at the weak is not a rule; it is a habit.</a:t>
            </a:r>
          </a:p>
          <a:p>
            <a:endParaRPr/>
          </a:p>
          <a:p>
            <a:r>
              <a:t>HANDS UP: *Whose animals do you think he named?*</a:t>
            </a:r>
          </a:p>
          <a:p>
            <a:endParaRPr/>
          </a:p>
          <a:p>
            <a:r>
              <a:t>Source: سیر (سير الخلفاء الراشدين) ص۸۵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GSA/E-ST19 · The caliph's son makes a profit, and is allowed one dirham on the dirham</a:t>
            </a:r>
          </a:p>
          <a:p>
            <a:r>
              <a:t>Tier: CORE   When: after جلولاء `[SOURCED]` — the year `۱۶–۱۷ھ` `[CONVENTIONAL-ESTIMATE — the سیر page carries no date]`</a:t>
            </a:r>
          </a:p>
          <a:p>
            <a:endParaRPr/>
          </a:p>
          <a:p>
            <a:r>
              <a:t>ʿAbdullāh ibn عمر ؓ bought goods out of the spoils at Jalūlāʾ for forty thousand and brought them to Medina. His father did not accuse him of anything. He described what must have happened in the marketplace: people knew whose son he was, and would rather undercharge him than overcharge him. Then he named his own position — *I am a divider and I will be asked* — and fixed the profit himself. The goods sold for four hundred thousand. His son got eighty. The rest went to سعد بن أبي وقاص ؓ to be divided.</a:t>
            </a:r>
          </a:p>
          <a:p>
            <a:endParaRPr/>
          </a:p>
          <a:p>
            <a:r>
              <a:t>MAP: جلولاء → المدينة</a:t>
            </a:r>
          </a:p>
          <a:p>
            <a:endParaRPr/>
          </a:p>
          <a:p>
            <a:r>
              <a:t>عبرت: The corruption that has to be watched for is not the bribe offered; it is the discount nobody had to ask for.</a:t>
            </a:r>
          </a:p>
          <a:p>
            <a:endParaRPr/>
          </a:p>
          <a:p>
            <a:r>
              <a:t>HANDS UP: *He had not broken any rule. What was the problem?*</a:t>
            </a:r>
          </a:p>
          <a:p>
            <a:endParaRPr/>
          </a:p>
          <a:p>
            <a:r>
              <a:t>Source: سیر (سير الخلفاء الراشدين) ص۸۴</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GSA/E-ST20 · The treasure of Kisrā on the floor of the mosque</a:t>
            </a:r>
          </a:p>
          <a:p>
            <a:r>
              <a:t>Tier: CORE   When: after المدائن `[SOURCED]` — the year `۱۶ھ` `[CONVENTIONAL-ESTIMATE — the سیر page carries no date]`</a:t>
            </a:r>
          </a:p>
          <a:p>
            <a:endParaRPr/>
          </a:p>
          <a:p>
            <a:r>
              <a:t>The treasures of the Persian king were brought to Medina. Someone asked whether to store them until they could be divided. عمر ؓ refused to put them under a roof. They were laid out in the middle of the mosque and guarded overnight. In the morning he pulled the covers off, saw the gold and the silver — and wept. أُبَيّ ؓ told him this was a day for gratitude, not tears. He answered with a sentence about the future.</a:t>
            </a:r>
          </a:p>
          <a:p>
            <a:endParaRPr/>
          </a:p>
          <a:p>
            <a:r>
              <a:t>MAP: المدائن → المدينة</a:t>
            </a:r>
          </a:p>
          <a:p>
            <a:endParaRPr/>
          </a:p>
          <a:p>
            <a:r>
              <a:t>عبرت: He was not afraid of the enemy who had lost. He was afraid of what winning does to the winners.</a:t>
            </a:r>
          </a:p>
          <a:p>
            <a:endParaRPr/>
          </a:p>
          <a:p>
            <a:r>
              <a:t>HANDS UP: *The greatest empire on earth has just been beaten. Is this a good day?*</a:t>
            </a:r>
          </a:p>
          <a:p>
            <a:endParaRPr/>
          </a:p>
          <a:p>
            <a:r>
              <a:t>Source: سیر (سير الخلفاء الراشدين) ص۸۵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GSA/E-ST21 · The basket of fish</a:t>
            </a:r>
          </a:p>
          <a:p>
            <a:r>
              <a:t>Tier: GOOD   When: ۱۳–۲۳ھ `[SOURCED]`</a:t>
            </a:r>
          </a:p>
          <a:p>
            <a:endParaRPr/>
          </a:p>
          <a:p>
            <a:r>
              <a:t>عمر ؓ said a craving for fresh fish had crossed his heart. His servant يرفأ saddled a mount and rode four days out and back and brought a basket. عمر ؓ asked to see the animal. He looked it over, found sweat under its ear that had not been washed off — and refused the fish.</a:t>
            </a:r>
          </a:p>
          <a:p>
            <a:endParaRPr/>
          </a:p>
          <a:p>
            <a:r>
              <a:t>MAP: n/a</a:t>
            </a:r>
          </a:p>
          <a:p>
            <a:endParaRPr/>
          </a:p>
          <a:p>
            <a:r>
              <a:t>عبرت: Answerability that stops at human beings has not gone far enough.</a:t>
            </a:r>
          </a:p>
          <a:p>
            <a:endParaRPr/>
          </a:p>
          <a:p>
            <a:r>
              <a:t>HANDS UP: no. **Prefer this to the famous "animal on the Euphrates" line — that one is on the page</a:t>
            </a:r>
          </a:p>
          <a:p>
            <a:endParaRPr/>
          </a:p>
          <a:p>
            <a:r>
              <a:t>Source: سیر (سير الخلفاء الراشدين) ص۸۲</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GSA/E-ST22 · «How should their condition concern me, if what struck them has not struck me?»</a:t>
            </a:r>
          </a:p>
          <a:p>
            <a:r>
              <a:t>Tier: CORE   When: عام الرمادة, ۱۸ھ `[SOURCED]`</a:t>
            </a:r>
          </a:p>
          <a:p>
            <a:endParaRPr/>
          </a:p>
          <a:p>
            <a:r>
              <a:t>In the year of ashes عمر ؓ swore he would taste no butter, milk or meat until the people recovered. A servant bought him a skin of each in the market for forty dirhams. عمر ؓ told him to give both away, because he disliked to eat extravagantly — and then said why the oath existed at all. Meanwhile seven thousand people were eating at his table on a single night.</a:t>
            </a:r>
          </a:p>
          <a:p>
            <a:endParaRPr/>
          </a:p>
          <a:p>
            <a:r>
              <a:t>MAP: the famine belt — Medina, and the relief roads in from الشام, العراق and مصر</a:t>
            </a:r>
          </a:p>
          <a:p>
            <a:endParaRPr/>
          </a:p>
          <a:p>
            <a:r>
              <a:t>عبرت: A leader who is insulated from a disaster is being told about it, not living in it, and the two produce different decisions.</a:t>
            </a:r>
          </a:p>
          <a:p>
            <a:endParaRPr/>
          </a:p>
          <a:p>
            <a:r>
              <a:t>HANDS UP: *What is the first thing a government does in a famine?*</a:t>
            </a:r>
          </a:p>
          <a:p>
            <a:endParaRPr/>
          </a:p>
          <a:p>
            <a:r>
              <a:t>Source: الکامل فی التاریخ ج۲ ص۳۷۵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GSA/E-ST23 · The dead nobody could name</a:t>
            </a:r>
          </a:p>
          <a:p>
            <a:r>
              <a:t>Tier: CORE   When: نهاوند, ۲۱ھ `[SOURCED]`</a:t>
            </a:r>
          </a:p>
          <a:p>
            <a:endParaRPr/>
          </a:p>
          <a:p>
            <a:r>
              <a:t>The dispatch came in from Nihāwand. The victory was total and the commander, النعمان بن مقرن ؓ, was dead. عمر ؓ wept, and asked السائب who else had fallen. Al-Sāʾib listed the notables and the well-known. Then he added: *and others of the ordinary people, whom the Commander of the Believers does not know.* That is the sentence عمر ؓ answered.</a:t>
            </a:r>
          </a:p>
          <a:p>
            <a:endParaRPr/>
          </a:p>
          <a:p>
            <a:r>
              <a:t>MAP: نهاوند on the Iranian plateau — the furthest pin yet</a:t>
            </a:r>
          </a:p>
          <a:p>
            <a:endParaRPr/>
          </a:p>
          <a:p>
            <a:r>
              <a:t>عبرت: History records the names it happens to have; that is a limitation of history, not a ranking of the dead.</a:t>
            </a:r>
          </a:p>
          <a:p>
            <a:endParaRPr/>
          </a:p>
          <a:p>
            <a:r>
              <a:t>HANDS UP: *Whose names does a history book keep?*</a:t>
            </a:r>
          </a:p>
          <a:p>
            <a:endParaRPr/>
          </a:p>
          <a:p>
            <a:r>
              <a:t>Source: البدایہ والنہایہ ج۷ ص۲۳۳</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GSA/E-ST24 · No man has a living father between himself and Adam</a:t>
            </a:r>
          </a:p>
          <a:p>
            <a:r>
              <a:t>Tier: CORE   When: الجابية, ۱۵ھ `[SOURCED — البدایہ prints it under «ثم دخلت سنة خمس عشرة» and its own text says «وذلك في سنة خمسة عشر»; the core of the address is in أحمد، الترمذي، ابن ماجه]`</a:t>
            </a:r>
          </a:p>
          <a:p>
            <a:endParaRPr/>
          </a:p>
          <a:p>
            <a:r>
              <a:t>عمر ؓ rode north and the commanders of the armies met him at al-Jābiya before the handover of Jerusalem. He gave a long address there. ابن كثير abridges it and keeps the part that had already entered the ḥadīth collections. In the middle of it is one sentence that cancels the entire logic of ancestry — and he said it in front of the men who had just conquered Syria.</a:t>
            </a:r>
          </a:p>
          <a:p>
            <a:endParaRPr/>
          </a:p>
          <a:p>
            <a:r>
              <a:t>MAP: الجابية in الجولان, where the commanders assembled</a:t>
            </a:r>
          </a:p>
          <a:p>
            <a:endParaRPr/>
          </a:p>
          <a:p>
            <a:r>
              <a:t>عبرت: Every ancestor a man is proud of is dead, and none of them will be standing beside him.</a:t>
            </a:r>
          </a:p>
          <a:p>
            <a:endParaRPr/>
          </a:p>
          <a:p>
            <a:r>
              <a:t>HANDS UP: *Half of Arabia had just broken away over whose tribe should be in front. What do you say to that, in one sentence?*</a:t>
            </a:r>
          </a:p>
          <a:p>
            <a:endParaRPr/>
          </a:p>
          <a:p>
            <a:r>
              <a:t>Source: البدایہ والنہایہ ج۷ ص۱۵۸</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GSA/E-ST25 · We flee from the decree of God to the decree of God</a:t>
            </a:r>
          </a:p>
          <a:p>
            <a:r>
              <a:t>Tier: CORE   When: سَرْغ, ۱۷ھ `[SOURCED — البخاري ۵۷۲۹]`</a:t>
            </a:r>
          </a:p>
          <a:p>
            <a:endParaRPr/>
          </a:p>
          <a:p>
            <a:r>
              <a:t>عمر ؓ was riding to Syria. At Sargh the commanders met him with news: plague was in the country ahead. He consulted, and the Companions divided. He ordered the return. أبو عبيدة ؓ challenged him in front of everyone: *fleeing from the decree of God?* عمر ؓ agreed with the word and turned it round — then gave a picture of a valley with two banks, one green and one bare, where grazing either one is God's decree. Then عبد الرحمن بن عوف ؓ arrived with the ḥadīth, and it settled the matter. And عمر ؓ had one more line for أبو عبيدة ؓ.</a:t>
            </a:r>
          </a:p>
          <a:p>
            <a:endParaRPr/>
          </a:p>
          <a:p>
            <a:r>
              <a:t>MAP: سَرْغ, on the road from Medina into الشام — the caliph turns back</a:t>
            </a:r>
          </a:p>
          <a:p>
            <a:endParaRPr/>
          </a:p>
          <a:p>
            <a:r>
              <a:t>عبرت: Trusting God and taking precautions are not two policies; the argument only looks like a contradiction from outside.</a:t>
            </a:r>
          </a:p>
          <a:p>
            <a:endParaRPr/>
          </a:p>
          <a:p>
            <a:r>
              <a:t>HANDS UP: *An epidemic is ahead of you on the road. Riding on — is that trust, or is turning back?*</a:t>
            </a:r>
          </a:p>
          <a:p>
            <a:endParaRPr/>
          </a:p>
          <a:p>
            <a:r>
              <a:t>Source: البدایہ والنہایہ ج۷ ص۱۸۶</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GSA/E-ST26 · Which Shaʿbān? — the calendar begins with an unpaid debt</a:t>
            </a:r>
          </a:p>
          <a:p>
            <a:r>
              <a:t>Tier: CORE   When: ربيع الأول ۱۶ھ `[SOURCED]`</a:t>
            </a:r>
          </a:p>
          <a:p>
            <a:endParaRPr/>
          </a:p>
          <a:p>
            <a:r>
              <a:t>A promissory note was brought to عمر ؓ. A debt was due «in Shaʿbān». He asked which Shaʿbān — this year's, last year's, or next year's — and nobody could answer, because there was no year. He gathered the people and told them to build something people could measure their debts by. They considered dating from the Persian kings, from Alexander, from the Prophet's ﷺ birth, from his sending. علي بن أبي طالب ؓ proposed the Hijra, for a reason that was practical rather than devotional: everyone can see it.</a:t>
            </a:r>
          </a:p>
          <a:p>
            <a:endParaRPr/>
          </a:p>
          <a:p>
            <a:r>
              <a:t>MAP: n/a</a:t>
            </a:r>
          </a:p>
          <a:p>
            <a:endParaRPr/>
          </a:p>
          <a:p>
            <a:r>
              <a:t>عبرت: The Muslim calendar was not built to commemorate; it was built so that an ordinary man could prove when he had to pay.</a:t>
            </a:r>
          </a:p>
          <a:p>
            <a:endParaRPr/>
          </a:p>
          <a:p>
            <a:r>
              <a:t>HANDS UP: *What year is it? Now — how do you know?* (Then the date on the note we all use.)</a:t>
            </a:r>
          </a:p>
          <a:p>
            <a:endParaRPr/>
          </a:p>
          <a:p>
            <a:r>
              <a:t>Source: البدایہ والنہایہ ج۷ ص۱۸۱</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GSA/E-ST27 · «I would love to come out of it break-even»</a:t>
            </a:r>
          </a:p>
          <a:p>
            <a:r>
              <a:t>Tier: CORE   When: ذو الحجة ۲۳ھ `[SOURCED]`</a:t>
            </a:r>
          </a:p>
          <a:p>
            <a:endParaRPr/>
          </a:p>
          <a:p>
            <a:r>
              <a:t>عمر ؓ was stabbed at the dawn prayer. As he lay dying, people began to praise him — *you were, and you did, and you were.* He stopped them. Ten years of conquest, the calendar, the diwan, the provinces — and the assessment he gave of all of it was a merchant's word: break even. Nothing owed, nothing earned. The only thing he asked to keep was that his companionship of the Prophet ﷺ should come through undamaged.</a:t>
            </a:r>
          </a:p>
          <a:p>
            <a:endParaRPr/>
          </a:p>
          <a:p>
            <a:r>
              <a:t>MAP: n/a</a:t>
            </a:r>
          </a:p>
          <a:p>
            <a:endParaRPr/>
          </a:p>
          <a:p>
            <a:r>
              <a:t>عبرت: The man with the largest ledger in the world hoped only that it would balance.</a:t>
            </a:r>
          </a:p>
          <a:p>
            <a:endParaRPr/>
          </a:p>
          <a:p>
            <a:r>
              <a:t>HANDS UP: *He conquered an empire. What score would you expect him to give himself?*</a:t>
            </a:r>
          </a:p>
          <a:p>
            <a:endParaRPr/>
          </a:p>
          <a:p>
            <a:r>
              <a:t>Source: سیر (سير الخلفاء الراشدين) ص۹۰</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GSA/E-ST28 · He rules out his own son, by name</a:t>
            </a:r>
          </a:p>
          <a:p>
            <a:r>
              <a:t>Tier: CORE   When: ذو الحجة ۲۳ھ `[SOURCED]`</a:t>
            </a:r>
          </a:p>
          <a:p>
            <a:endParaRPr/>
          </a:p>
          <a:p>
            <a:r>
              <a:t>Dying, عمر ؓ was pressed to name a successor. His own son عبد الله ؓ was suggested to him — by his son himself in one account, and by another man in another. He had himself sat up, and refused, twice, in the sharpest language in the whole record.</a:t>
            </a:r>
          </a:p>
          <a:p>
            <a:endParaRPr/>
          </a:p>
          <a:p>
            <a:r>
              <a:t>MAP: n/a</a:t>
            </a:r>
          </a:p>
          <a:p>
            <a:endParaRPr/>
          </a:p>
          <a:p>
            <a:r>
              <a:t>عبرت: Refusing to hand power to your own family is a decision, and it has to be made out loud, on the record, or it does not hold.</a:t>
            </a:r>
          </a:p>
          <a:p>
            <a:endParaRPr/>
          </a:p>
          <a:p>
            <a:r>
              <a:t>HANDS UP: *He had a son who was a Companion, and universally respected. Does he appoint him?*</a:t>
            </a:r>
          </a:p>
          <a:p>
            <a:endParaRPr/>
          </a:p>
          <a:p>
            <a:r>
              <a:t>Source: سیر (سير الخلفاء الراشدين) ص۹۳</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GSA/E-ST29 · عمر ؓ asks permission to be buried</a:t>
            </a:r>
          </a:p>
          <a:p>
            <a:r>
              <a:t>Tier: CORE   When: ذو الحجة ۲۳ھ `[SOURCED]`</a:t>
            </a:r>
          </a:p>
          <a:p>
            <a:endParaRPr/>
          </a:p>
          <a:p>
            <a:r>
              <a:t>With his debts counted — eighty-six thousand, or thereabouts, to be paid from his own family's property first — عمر ؓ sent his son to عائشة ؓ. Not with an instruction. With a request. She had been keeping that place for herself.</a:t>
            </a:r>
          </a:p>
          <a:p>
            <a:endParaRPr/>
          </a:p>
          <a:p>
            <a:r>
              <a:t>MAP: the حجرة of عائشة ؓ, Medina</a:t>
            </a:r>
          </a:p>
          <a:p>
            <a:endParaRPr/>
          </a:p>
          <a:p>
            <a:r>
              <a:t>عبرت: He held the largest office on earth and still had to ask; and she, who could have said no, gave up her own place.</a:t>
            </a:r>
          </a:p>
          <a:p>
            <a:endParaRPr/>
          </a:p>
          <a:p>
            <a:r>
              <a:t>HANDS UP: no. This is the closing slide. Say nothing after it.</a:t>
            </a:r>
          </a:p>
          <a:p>
            <a:endParaRPr/>
          </a:p>
          <a:p>
            <a:r>
              <a:t>Source: سیر (سير الخلفاء الراشدين) ص۹۱</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GSA/E-ST30 · أبو عبيدة ؓ will not leave his army in the plague</a:t>
            </a:r>
          </a:p>
          <a:p>
            <a:r>
              <a:t>Tier: CORE   When: طاعون عمواس — the statement `[SOURCED — الحاكم: «رواته كلهم ثقات»]`, the year `۱۸ھ` `[CONVENTIONAL-ESTIMATE — البدایہ prints its عمواس material under ۱۷ھ; see §3.1]`</a:t>
            </a:r>
          </a:p>
          <a:p>
            <a:endParaRPr/>
          </a:p>
          <a:p>
            <a:r>
              <a:t>Plague broke out in Syria and عمر ؓ wrote to his commander-in-chief. The letter did not mention the plague. It said a matter had come up that he had to discuss face to face, and that أبو عبيدة ؓ should not put the letter down before setting out. أبو عبيدة ؓ read it and knew exactly what it was: *he wants to keep alive a man who is not going to remain.* He wrote back asking to be released from the order. When عمر ؓ read the reply he wept, and the people around him asked if أبو عبيدة ؓ had died. Then عمر ؓ wrote a second letter — move the men to higher ground — and أبو عبيدة ؓ obeyed that one at once, and was struck as he put his foot in the stirrup.</a:t>
            </a:r>
          </a:p>
          <a:p>
            <a:endParaRPr/>
          </a:p>
          <a:p>
            <a:r>
              <a:t>MAP: عَمَواس in فلسطين; then the move up to الجابية</a:t>
            </a:r>
          </a:p>
          <a:p>
            <a:endParaRPr/>
          </a:p>
          <a:p>
            <a:r>
              <a:t>عبرت: He refused the order that would have saved him and obeyed the one that saved his men, and both refusals came from the same principle.</a:t>
            </a:r>
          </a:p>
          <a:p>
            <a:endParaRPr/>
          </a:p>
          <a:p>
            <a:r>
              <a:t>HANDS UP: *Your commander orders you out of an epidemic. Your men stay. Do you go?*</a:t>
            </a:r>
          </a:p>
          <a:p>
            <a:endParaRPr/>
          </a:p>
          <a:p>
            <a:r>
              <a:t>Source: سیر أعلام النبلاء ج۱ ص۱۸–۱۹ و 1445</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GSA/E-ST31 · «I wish I were in his skin»</a:t>
            </a:r>
          </a:p>
          <a:p>
            <a:r>
              <a:t>Tier: CORE   When: ۱۳–۱۸ھ `[SOURCED]`</a:t>
            </a:r>
          </a:p>
          <a:p>
            <a:endParaRPr/>
          </a:p>
          <a:p>
            <a:r>
              <a:t>أبو عبيدة بن الجراح ؓ — Amīn hādhihi l-umma, commander-in-chief in Syria, and a man of Quraysh — stood up in front of his own army and said what his Qurashī descent was worth against taqwā.</a:t>
            </a:r>
          </a:p>
          <a:p>
            <a:endParaRPr/>
          </a:p>
          <a:p>
            <a:r>
              <a:t>MAP: n/a</a:t>
            </a:r>
          </a:p>
          <a:p>
            <a:endParaRPr/>
          </a:p>
          <a:p>
            <a:r>
              <a:t>عبرت: He did not deny his lineage; he priced it.</a:t>
            </a:r>
          </a:p>
          <a:p>
            <a:endParaRPr/>
          </a:p>
          <a:p>
            <a:r>
              <a:t>HANDS UP: no. Pair it on the screen with E-ST24 and let the two stand together.</a:t>
            </a:r>
          </a:p>
          <a:p>
            <a:endParaRPr/>
          </a:p>
          <a:p>
            <a:r>
              <a:t>Source: سیر أعلام النبلاء ج۱ ص۱۸</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GSA/E-ST32 · خالد ؓ divides his sandals with the treasury</a:t>
            </a:r>
          </a:p>
          <a:p>
            <a:r>
              <a:t>Tier: CORE   When: ۱۳ھ, after اليرموك `[SOURCED]`</a:t>
            </a:r>
          </a:p>
          <a:p>
            <a:endParaRPr/>
          </a:p>
          <a:p>
            <a:r>
              <a:t>عمر ؓ became caliph and the first order he gave was to remove Khālid ibn al-Walīd ؓ from command — at the height of his success, immediately after Yarmūk. أبو عبيدة ؓ carried it out. The turban came off his head and his property was divided in half with the treasury, down to one of his two sandals. خالد ؓ said one thing throughout. **Why he was dismissed is disputed inside our own sources and must not be settled from the platform — see §2.5(d).**</a:t>
            </a:r>
          </a:p>
          <a:p>
            <a:endParaRPr/>
          </a:p>
          <a:p>
            <a:r>
              <a:t>MAP: the Syrian command passing from خالد ؓ to أبو عبيدة ؓ</a:t>
            </a:r>
          </a:p>
          <a:p>
            <a:endParaRPr/>
          </a:p>
          <a:p>
            <a:r>
              <a:t>عبرت: A state survives its best men only if its best men can be removed, and are willing to be.</a:t>
            </a:r>
          </a:p>
          <a:p>
            <a:endParaRPr/>
          </a:p>
          <a:p>
            <a:r>
              <a:t>HANDS UP: *The greatest general of the age has just won the war. The new caliph's first order is — what?*</a:t>
            </a:r>
          </a:p>
          <a:p>
            <a:endParaRPr/>
          </a:p>
          <a:p>
            <a:r>
              <a:t>Source: البدایہ والنہایہ ج۷ ص۱۰۳</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GSA/E-ST33 · خالد ؓ dies in his bed</a:t>
            </a:r>
          </a:p>
          <a:p>
            <a:r>
              <a:t>Tier: GOOD   When: ۲۱ھ, حمص `[SOURCED — Ibn Ḥajar: «إسناده حسن»]`</a:t>
            </a:r>
          </a:p>
          <a:p>
            <a:endParaRPr/>
          </a:p>
          <a:p>
            <a:r>
              <a:t>خالد بن الوليد ؓ died on a mattress. He said he had looked for death in the places where it is most likely to be found and had not been given it. Then he named the one deed he hoped in most, after tawḥīd — and it was not a battle. It was a night spent behind a shield in the rain, waiting for morning. His last instruction was about his weapon and his horse. When he died he left nothing but those and a servant.</a:t>
            </a:r>
          </a:p>
          <a:p>
            <a:endParaRPr/>
          </a:p>
          <a:p>
            <a:r>
              <a:t>MAP: حمص</a:t>
            </a:r>
          </a:p>
          <a:p>
            <a:endParaRPr/>
          </a:p>
          <a:p>
            <a:r>
              <a:t>عبرت: He counted the waiting, not the victories.</a:t>
            </a:r>
          </a:p>
          <a:p>
            <a:endParaRPr/>
          </a:p>
          <a:p>
            <a:r>
              <a:t>HANDS UP: *Of everything he did, which one night do you think he hoped in most?*</a:t>
            </a:r>
          </a:p>
          <a:p>
            <a:endParaRPr/>
          </a:p>
          <a:p>
            <a:r>
              <a:t>Source: سیر أعلام النبلاء ج۱ ص۳۸۱</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GSA/E-ST34 · By night monks, by day horsemen</a:t>
            </a:r>
          </a:p>
          <a:p>
            <a:r>
              <a:t>Tier: CORE   When: ۱۳ھ, before دمشق `[STANDARD — the chain has an unnamed link; see §4.2]`</a:t>
            </a:r>
          </a:p>
          <a:p>
            <a:endParaRPr/>
          </a:p>
          <a:p>
            <a:r>
              <a:t>The commander of Damascus sent for two Christian Arabs in the market and asked one of them to go out and look at these people who had come. The man came back and described what he had seen: lean men on good horses, mending their arrows and straightening their spears; and a noise over the camp so loud you could not hear the man sitting next to you. The commander turned to his own people and told them what it meant.</a:t>
            </a:r>
          </a:p>
          <a:p>
            <a:endParaRPr/>
          </a:p>
          <a:p>
            <a:r>
              <a:t>MAP: the Muslim camp in the Jordan country, seen from Damascus</a:t>
            </a:r>
          </a:p>
          <a:p>
            <a:endParaRPr/>
          </a:p>
          <a:p>
            <a:r>
              <a:t>عبرت: What frightened the other side was not the cavalry; it was the noise coming off the camp at night.</a:t>
            </a:r>
          </a:p>
          <a:p>
            <a:endParaRPr/>
          </a:p>
          <a:p>
            <a:r>
              <a:t>HANDS UP: *If you sent a spy into their camp, what would you expect him to report?*</a:t>
            </a:r>
          </a:p>
          <a:p>
            <a:endParaRPr/>
          </a:p>
          <a:p>
            <a:r>
              <a:t>Source: البدایہ والنہایہ ج۷ ص۹۹</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GSA/E-ST35 · Heraclius asks his own men why they keep losing</a:t>
            </a:r>
          </a:p>
          <a:p>
            <a:r>
              <a:t>Tier: GOOD   When: after اليرموك, ۱۳ھ `[STANDARD — maqṭūʿ, no grading on the page; البدایہ prints it under «سنة ثلاث عشرة», the same year-chapter as E-ST32 and E-ST34]`</a:t>
            </a:r>
          </a:p>
          <a:p>
            <a:endParaRPr/>
          </a:p>
          <a:p>
            <a:r>
              <a:t>Heraclius was at Antioch when his defeated troops came back. He asked them three questions: are these people not human like you; are you not more numerous; then why do you run? One of their elders answered him, and the answer had two halves — what the Muslims do, and what we do. Heraclius accepted it.</a:t>
            </a:r>
          </a:p>
          <a:p>
            <a:endParaRPr/>
          </a:p>
          <a:p>
            <a:r>
              <a:t>MAP: أنطاكية, with the beaten army coming in</a:t>
            </a:r>
          </a:p>
          <a:p>
            <a:endParaRPr/>
          </a:p>
          <a:p>
            <a:r>
              <a:t>عبرت: The explanation the losing side gave for its own defeat was a moral one, and nobody made them say it.</a:t>
            </a:r>
          </a:p>
          <a:p>
            <a:endParaRPr/>
          </a:p>
          <a:p>
            <a:r>
              <a:t>HANDS UP: *Why do you think they won?* — collect answers, then read this.</a:t>
            </a:r>
          </a:p>
          <a:p>
            <a:endParaRPr/>
          </a:p>
          <a:p>
            <a:r>
              <a:t>Source: البدایہ والنہایہ ج۷ ص۹۹</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GSA/E-ST36 · ربعي بن عامر ؓ walks his horse onto the carpet</a:t>
            </a:r>
          </a:p>
          <a:p>
            <a:r>
              <a:t>Tier: GOOD   When: ۱۴–۱۵ھ, before القادسية `[STANDARD — VIA سيف/الطبری; see §4.1]`</a:t>
            </a:r>
          </a:p>
          <a:p>
            <a:endParaRPr/>
          </a:p>
          <a:p>
            <a:r>
              <a:t>سعد ؓ sent an envoy to Rustam. The hall was laid with gilt cushions and silk; Rustam was on a throne of gold. ربعي ؓ rode a short horse to the edge of the carpet, tied it to one of the cushions, and came forward in armour leaning on his spear, so that the spear tore the rugs. They told him to put down his weapon; he said he had not come to them, they had called him. Then they asked what had brought him. Later, asked whether he was their chief, he gave the better answer of the two.</a:t>
            </a:r>
          </a:p>
          <a:p>
            <a:endParaRPr/>
          </a:p>
          <a:p>
            <a:r>
              <a:t>MAP: رستم's camp on the Euphrates, facing القادسية</a:t>
            </a:r>
          </a:p>
          <a:p>
            <a:endParaRPr/>
          </a:p>
          <a:p>
            <a:r>
              <a:t>عبرت: He was not the chief and it made no difference; that was the whole of his answer.</a:t>
            </a:r>
          </a:p>
          <a:p>
            <a:endParaRPr/>
          </a:p>
          <a:p>
            <a:r>
              <a:t>Source: البدایہ والنہایہ ج۷ ص۱۳۴</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GSA/E-ST37 · «Are you making rhymes at me, or reporting?»</a:t>
            </a:r>
          </a:p>
          <a:p>
            <a:r>
              <a:t>Tier: GOOD   When: ۲۲–۲۳ھ `[STANDARD — VIA سيف/الطبری]`</a:t>
            </a:r>
          </a:p>
          <a:p>
            <a:endParaRPr/>
          </a:p>
          <a:p>
            <a:r>
              <a:t>An officer came back from the far eastern frontier with the fifth of the spoils. عمر ؓ asked him what the country was like. The man answered in polished rhyming prose — mountain for plain, a trickle for water, poor dates, a fierce enemy. عمر ؓ cut across him with one question. The man said he was reporting. So عمر ؓ wrote to the commander not to campaign beyond Mukrān, and to stop at the river.</a:t>
            </a:r>
          </a:p>
          <a:p>
            <a:endParaRPr/>
          </a:p>
          <a:p>
            <a:r>
              <a:t>MAP: مُكران, the Sind frontier — and the line عمر ؓ drew across it</a:t>
            </a:r>
          </a:p>
          <a:p>
            <a:endParaRPr/>
          </a:p>
          <a:p>
            <a:r>
              <a:t>عبرت: A frontier was closed because one officer was made to say plainly what he had actually seen.</a:t>
            </a:r>
          </a:p>
          <a:p>
            <a:endParaRPr/>
          </a:p>
          <a:p>
            <a:r>
              <a:t>HANDS UP: *The empire is winning everywhere. Where does it stop?*</a:t>
            </a:r>
          </a:p>
          <a:p>
            <a:endParaRPr/>
          </a:p>
          <a:p>
            <a:r>
              <a:t>Source: البدایہ والنہایہ ج۷ ص۲۶۱</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GSA/E-ST38 · سلمان ؓ, dying, on the provisions of a rider</a:t>
            </a:r>
          </a:p>
          <a:p>
            <a:r>
              <a:t>Tier: GOOD   When: ⚠ **NOT in this window** — under عثمان ؓ, ۳۳–۳۶ھ `[SOURCED]`</a:t>
            </a:r>
          </a:p>
          <a:p>
            <a:endParaRPr/>
          </a:p>
          <a:p>
            <a:r>
              <a:t>سعد بن أبي وقاص ؓ and ابن مسعود ؓ came to see سلمان ؓ at al-Madāʾin as he lay dying, and found him weeping. It was not fear of death and not love of the world. It was one instruction of the Prophet ﷺ that he thought he had not kept. Then he turned to سعد ؓ, the conqueror of Iraq, and gave him three clauses. When he died he left twenty-odd dirhams.</a:t>
            </a:r>
          </a:p>
          <a:p>
            <a:endParaRPr/>
          </a:p>
          <a:p>
            <a:r>
              <a:t>MAP: المدائن</a:t>
            </a:r>
          </a:p>
          <a:p>
            <a:endParaRPr/>
          </a:p>
          <a:p>
            <a:r>
              <a:t>عبرت: A man who left twenty dirhams thought he had taken too much.</a:t>
            </a:r>
          </a:p>
          <a:p>
            <a:endParaRPr/>
          </a:p>
          <a:p>
            <a:r>
              <a:t>HANDS UP: no. **Say plainly that this is later than tonight's twelve years** — see §5.</a:t>
            </a:r>
          </a:p>
          <a:p>
            <a:endParaRPr/>
          </a:p>
          <a:p>
            <a:r>
              <a:t>Source: سیر أعلام النبلاء ج۱ ص۵۵۲</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GSA/E-ST39 · «Sāriya — the mountain!»</a:t>
            </a:r>
          </a:p>
          <a:p>
            <a:r>
              <a:t>Tier: GOOD   When: ۲۳ھ (فَسَا / دَارَابجَرْد) `[SOURCED — ابن كثير: «إسنادٌ جيدٌ حسنٌ»]`</a:t>
            </a:r>
          </a:p>
          <a:p>
            <a:endParaRPr/>
          </a:p>
          <a:p>
            <a:r>
              <a:t>سارية بن زنيم ؓ was being surrounded far away in Persia. In Medina, in the middle of the Friday sermon, عمر ؓ broke off and called out a name and two words, three times. Nobody in the mosque understood it. When the army's messenger arrived he said they had been breaking when they heard a caller, put their backs to the mountain, and were saved. ابن كثير gives four routes for this, grades one of them good, and says they strengthen one another. And عمر ؓ, asked what it had been, refused to claim anything for it.</a:t>
            </a:r>
          </a:p>
          <a:p>
            <a:endParaRPr/>
          </a:p>
          <a:p>
            <a:r>
              <a:t>MAP: فارس — فَسَا and دَارَابجَرْد</a:t>
            </a:r>
          </a:p>
          <a:p>
            <a:endParaRPr/>
          </a:p>
          <a:p>
            <a:r>
              <a:t>عبرت: The man it happened through took no credit for it, and that is the part worth keeping.</a:t>
            </a:r>
          </a:p>
          <a:p>
            <a:endParaRPr/>
          </a:p>
          <a:p>
            <a:r>
              <a:t>HANDS UP: *He stopped in the middle of the khuṭba and shouted a name. Why?*</a:t>
            </a:r>
          </a:p>
          <a:p>
            <a:endParaRPr/>
          </a:p>
          <a:p>
            <a:r>
              <a:t>Source: البدایہ والنہایہ ج۷ ص۲۶۰</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GSA/E-ST40 · معاوية ؓ's three-line verdict on the two caliphs</a:t>
            </a:r>
          </a:p>
          <a:p>
            <a:r>
              <a:t>Tier: GOOD   When: later; a retrospective judgement `[SOURCED]`</a:t>
            </a:r>
          </a:p>
          <a:p>
            <a:endParaRPr/>
          </a:p>
          <a:p>
            <a:r>
              <a:t>معاوية بن أبي سفيان ؓ, looking back, summed up his two predecessors and then his own generation in one sentence. ⚠ **This card has no §1–§6 entry behind it; it stands on its page alone.** The three-clause wording is سیر's (راشدون ص۸۱ · https://shamela.ws/book/10906/1226). البدایہ ج۷ ص۲۶۴–۲۶۵ carries the same saying but the sentence breaks across the page and **البدایہ's copy has only the first two clauses in that wording** — «أمَّا أبو بكر فلم يُرد الدنيا ولم تُرده، وأما عمر فأرادته فلم يردها». Quote سیر.</a:t>
            </a:r>
          </a:p>
          <a:p>
            <a:endParaRPr/>
          </a:p>
          <a:p>
            <a:r>
              <a:t>MAP: n/a</a:t>
            </a:r>
          </a:p>
          <a:p>
            <a:endParaRPr/>
          </a:p>
          <a:p>
            <a:r>
              <a:t>عبرت: The clearest description of the change came from a man describing himself in it.</a:t>
            </a:r>
          </a:p>
          <a:p>
            <a:endParaRPr/>
          </a:p>
          <a:p>
            <a:r>
              <a:t>Source: سیر (سير الخلفاء الراشدين) ص۸۱ · also البدایہ ج۷ ص۲۶۴–۲۶۵</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GSA/E-ST41 · الذہبی رحمہ اللہ corrects his own book</a:t>
            </a:r>
          </a:p>
          <a:p>
            <a:r>
              <a:t>Tier: GOOD   When: written ~8th c. AH about سلمان ؓ `[SOURCED]`</a:t>
            </a:r>
          </a:p>
          <a:p>
            <a:endParaRPr/>
          </a:p>
          <a:p>
            <a:r>
              <a:t>People said سلمان ؓ had lived three hundred and fifty years, and that two hundred and fifty of them were beyond doubt. الذہبی رحمہ اللہ had himself written the figure of two hundred and fifty into his own earlier history. On this page he takes it back — in public, in writing — reasons from what سلمان ؓ actually did with his life, puts him in his eighties, and then invites correction from anyone who knows better.</a:t>
            </a:r>
          </a:p>
          <a:p>
            <a:endParaRPr/>
          </a:p>
          <a:p>
            <a:r>
              <a:t>MAP: n/a</a:t>
            </a:r>
          </a:p>
          <a:p>
            <a:endParaRPr/>
          </a:p>
          <a:p>
            <a:r>
              <a:t>عبرت: The men who preserved this history corrected themselves in writing, and left the correction in the book.</a:t>
            </a:r>
          </a:p>
          <a:p>
            <a:endParaRPr/>
          </a:p>
          <a:p>
            <a:r>
              <a:t>HANDS UP: *If a historian finds he was wrong twenty years ago, what does he do?*</a:t>
            </a:r>
          </a:p>
          <a:p>
            <a:endParaRPr/>
          </a:p>
          <a:p>
            <a:r>
              <a:t>Source: سیر أعلام النبلاء ج۱ ص۵۵۶</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GSA/E-ST42 · CUT — recorded so it is never re-researched</a:t>
            </a:r>
          </a:p>
          <a:p>
            <a:r>
              <a:t>Tier: CUT   When: various</a:t>
            </a:r>
          </a:p>
          <a:p>
            <a:endParaRPr/>
          </a:p>
          <a:p>
            <a:r>
              <a:t>Five items were read, verified and deliberately set aside. They are listed here with their pages so that a future pass does not spend a second on them: 1. **The long homiletic passage «أين الجبّارونَ … أين الملوكُ»** after أبو بكر ؓ's second address — البدایہ ج۷ ص۹. Two printed pages, and سيف's transmission. 2. **The messenger who ate with عمر ؓ without knowing him** — البدایہ ج۷ ص۲۵۹, ۲۶۲. Fine as narrative; **no quotable statement**, and the only dialogue in it is domestic. 3. **أم كلثوم ؓ's exchange with عمر ؓ about her clothing** — البدایہ ج۷ ص۲۵۹. Domestic; leave out. 4. **The commanders' brocade tunics at الجابية and the pebbles** — البدایہ ج۷ ص۱۵۸. One line of colour in the script at most; not a slide. 5. **خالد ؓ and the silk shirt, and the audit of his wealth** — سیر ج۱ ص۳۸۰–۳۸۱. The audit report is **FLAGGED WEAK (سيف)** and the silk-shirt exchange needs a fiqh footnote about the concession granted to ابن عوف ؓ, which is more than the evening can carry.</a:t>
            </a:r>
          </a:p>
          <a:p>
            <a:endParaRPr/>
          </a:p>
          <a:p>
            <a:r>
              <a:t>MAP: n/a</a:t>
            </a:r>
          </a:p>
          <a:p>
            <a:endParaRPr/>
          </a:p>
          <a:p>
            <a:r>
              <a:t>عبرت: —</a:t>
            </a:r>
          </a:p>
          <a:p>
            <a:endParaRPr/>
          </a:p>
          <a:p>
            <a:r>
              <a:t>From: The statements bank — slide-ready, by speaker</a:t>
            </a:r>
          </a:p>
        </p:txBody>
      </p:sp>
      <p:sp>
        <p:nvSpPr>
          <p:cNvPr id="4" name="Slide Number Placeholder 3"/>
          <p:cNvSpPr>
            <a:spLocks noGrp="1"/>
          </p:cNvSpPr>
          <p:nvPr>
            <p:ph type="sldNum" sz="quarter" idx="5"/>
          </p:nvPr>
        </p:nvSpPr>
        <p:spPr/>
      </p:sp>
    </p:spTree>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IKO/E-IKM1 · The count is the weakest part of the story</a:t>
            </a:r>
          </a:p>
          <a:p>
            <a:r>
              <a:t>Tier: CORE   When: n/a — a claim about method, not a dated event</a:t>
            </a:r>
          </a:p>
          <a:p>
            <a:endParaRPr/>
          </a:p>
          <a:p>
            <a:r>
              <a:t>Ibn Khaldūn opens his book with a warning, and it is not about lying. It is about counting. He says that when historians report sums of money and the sizes of armies, that is exactly where a report is likeliest to be false. He does not say the battles did not happen. He says the numbers travelled differently from the events. His reason is simple. Nobody was ever going to check.</a:t>
            </a:r>
          </a:p>
          <a:p>
            <a:endParaRPr/>
          </a:p>
          <a:p>
            <a:r>
              <a:t>MAP: n/a</a:t>
            </a:r>
          </a:p>
          <a:p>
            <a:endParaRPr/>
          </a:p>
          <a:p>
            <a:r>
              <a:t>عبرت: A number nobody could check is the part of a story that travels least well.</a:t>
            </a:r>
          </a:p>
          <a:p>
            <a:endParaRPr/>
          </a:p>
          <a:p>
            <a:r>
              <a:t>HANDS UP: Yes — *"When a report says an army was a hundred thousand men, who counted them?"*</a:t>
            </a:r>
          </a:p>
          <a:p>
            <a:endParaRPr/>
          </a:p>
          <a:p>
            <a:r>
              <a:t>Source: تاریخ ابن خلدون ج۱ ص۱۳</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IKO/E-IKM2 · Two figures for one army, in one book</a:t>
            </a:r>
          </a:p>
          <a:p>
            <a:r>
              <a:t>Tier: CORE   When: n/a</a:t>
            </a:r>
          </a:p>
          <a:p>
            <a:endParaRPr/>
          </a:p>
          <a:p>
            <a:r>
              <a:t>Ibn Khaldūn warned that army-counts are the likeliest thing in a history to be wrong. Then he wrote his own history. On page fourteen he records the Persian host at al-Qādisiyya twice: a hundred and twenty thousand on one transmission, sixty thousand on another. He does not choose between them. A hundred and eighty-four pages later, arguing a different point, he uses the larger figure. The man is not being careless. He is showing us, in his own hand, exactly what he told us to expect.</a:t>
            </a:r>
          </a:p>
          <a:p>
            <a:endParaRPr/>
          </a:p>
          <a:p>
            <a:r>
              <a:t>MAP: n/a</a:t>
            </a:r>
          </a:p>
          <a:p>
            <a:endParaRPr/>
          </a:p>
          <a:p>
            <a:r>
              <a:t>عبرت: The honest historian is not the one whose numbers agree; he is the one who shows you that</a:t>
            </a:r>
          </a:p>
          <a:p>
            <a:endParaRPr/>
          </a:p>
          <a:p>
            <a:r>
              <a:t>HANDS UP: No. Put ج۱ ص۱۴ and ج۱ ص۱۹۸ side by side and let the room read them.</a:t>
            </a:r>
          </a:p>
          <a:p>
            <a:endParaRPr/>
          </a:p>
          <a:p>
            <a:r>
              <a:t>Source: تاریخ ابن خلدون ج۱ ص۱۴</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IKO/E-IKM3 · Seven ways a report goes wrong, and partisanship is the first</a:t>
            </a:r>
          </a:p>
          <a:p>
            <a:r>
              <a:t>Tier: CORE   When: n/a</a:t>
            </a:r>
          </a:p>
          <a:p>
            <a:endParaRPr/>
          </a:p>
          <a:p>
            <a:r>
              <a:t>Ibn Khaldūn does not treat falsehood in history as the moral failure of individual liars. He treats it as a thing with causes, and he lists them. Seven. The first is partisanship for an opinion or a school. His point is unsettling and exact. It is not that a partisan lies. It is that a partisan stops checking, because the report already agrees with him. The scrutiny he would give anything else never gets given at all.</a:t>
            </a:r>
          </a:p>
          <a:p>
            <a:endParaRPr/>
          </a:p>
          <a:p>
            <a:r>
              <a:t>MAP: n/a</a:t>
            </a:r>
          </a:p>
          <a:p>
            <a:endParaRPr/>
          </a:p>
          <a:p>
            <a:r>
              <a:t>عبرت: The report you are least able to test is the one that already agrees with you.</a:t>
            </a:r>
          </a:p>
          <a:p>
            <a:endParaRPr/>
          </a:p>
          <a:p>
            <a:r>
              <a:t>HANDS UP: No. This one lands better read plainly than asked about.</a:t>
            </a:r>
          </a:p>
          <a:p>
            <a:endParaRPr/>
          </a:p>
          <a:p>
            <a:r>
              <a:t>Source: تاریخ ابن خلدون ج۱ ص۴۶</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IKO/E-IKM4 · A fiqh test and a history test are not the same test</a:t>
            </a:r>
          </a:p>
          <a:p>
            <a:r>
              <a:t>Tier: CORE   When: n/a</a:t>
            </a:r>
          </a:p>
          <a:p>
            <a:endParaRPr/>
          </a:p>
          <a:p>
            <a:r>
              <a:t>Ibn Khaldūn draws a line that this whole course rests on, and he draws it in one sentence. Checking the chain of transmitters, he says, is the right test for a legal report — because a legal report imposes an obligation, and an obligation must be secure before it binds. But a report about an event needs something else first. It needs to be possible. If a thing could not have happened, examining who narrated it is wasted effort.</a:t>
            </a:r>
          </a:p>
          <a:p>
            <a:endParaRPr/>
          </a:p>
          <a:p>
            <a:r>
              <a:t>MAP: n/a</a:t>
            </a:r>
          </a:p>
          <a:p>
            <a:endParaRPr/>
          </a:p>
          <a:p>
            <a:r>
              <a:t>عبرت: A report of an event is neither a ruling nor a creed; it is a record, and it is weighed as</a:t>
            </a:r>
          </a:p>
          <a:p>
            <a:endParaRPr/>
          </a:p>
          <a:p>
            <a:r>
              <a:t>HANDS UP: No. Deliver it flat and move on.</a:t>
            </a:r>
          </a:p>
          <a:p>
            <a:endParaRPr/>
          </a:p>
          <a:p>
            <a:r>
              <a:t>Source: تاریخ ابن خلدون ج۱ ص۴۹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IKO/E-IKM5 · The disease that only shows itself after centuries</a:t>
            </a:r>
          </a:p>
          <a:p>
            <a:r>
              <a:t>Tier: GOOD   When: n/a</a:t>
            </a:r>
          </a:p>
          <a:p>
            <a:endParaRPr/>
          </a:p>
          <a:p>
            <a:r>
              <a:t>Ibn Khaldūn names an error he calls hard to catch, and he is right. It is the habit of reading a later century's meanings back into an earlier one. He calls it a deep-seated disease, extremely well hidden, because it only becomes visible after long stretches of time have passed. A man is not wrong about the fact. He is wrong about what the fact meant to the people it happened to.</a:t>
            </a:r>
          </a:p>
          <a:p>
            <a:endParaRPr/>
          </a:p>
          <a:p>
            <a:r>
              <a:t>MAP: n/a</a:t>
            </a:r>
          </a:p>
          <a:p>
            <a:endParaRPr/>
          </a:p>
          <a:p>
            <a:r>
              <a:t>عبرت: Distance in time is not only distance in dates; the words themselves have moved.</a:t>
            </a:r>
          </a:p>
          <a:p>
            <a:endParaRPr/>
          </a:p>
          <a:p>
            <a:r>
              <a:t>HANDS UP: Yes — *"If someone in the year 2500 read that a man taught school, what would they</a:t>
            </a:r>
          </a:p>
          <a:p>
            <a:endParaRPr/>
          </a:p>
          <a:p>
            <a:r>
              <a:t>Source: تاریخ ابن خلدون ج۱ ص۳۷</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IKO/E-IKM6 · The schoolteacher's son</a:t>
            </a:r>
          </a:p>
          <a:p>
            <a:r>
              <a:t>Tier: GOOD   When: the point concerns الحجاج بن يوسف, d. ۹۵ھ `[STANDARD]` (to verify)</a:t>
            </a:r>
          </a:p>
          <a:p>
            <a:endParaRPr/>
          </a:p>
          <a:p>
            <a:r>
              <a:t>Ibn Khaldūn gives an example of that error, and it is a small, clean one. People read that al-Ḥajjāj's father taught the Qurʾān and conclude the family were nobodies. He answers that in the first age of Islam teaching was not what it is in our own day, a trade to live by. Al-Ḥajjāj's father was one of the chiefs and nobles of Thaqīf. The reader had the fact right and the century wrong.</a:t>
            </a:r>
          </a:p>
          <a:p>
            <a:endParaRPr/>
          </a:p>
          <a:p>
            <a:r>
              <a:t>MAP: n/a</a:t>
            </a:r>
          </a:p>
          <a:p>
            <a:endParaRPr/>
          </a:p>
          <a:p>
            <a:r>
              <a:t>عبرت: The same word does not carry the same weight in two different centuries.</a:t>
            </a:r>
          </a:p>
          <a:p>
            <a:endParaRPr/>
          </a:p>
          <a:p>
            <a:r>
              <a:t>Source: تاریخ ابن خلدون ج۱ ص۴۰</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IKO/E-IKM7 · He tests the method on a figure nobody is attached to</a:t>
            </a:r>
          </a:p>
          <a:p>
            <a:r>
              <a:t>Tier: GOOD   When: n/a</a:t>
            </a:r>
          </a:p>
          <a:p>
            <a:endParaRPr/>
          </a:p>
          <a:p>
            <a:r>
              <a:t>Ibn Khaldūn wanted to show how to test a number, so he picked one nobody in his audience had a stake in. Historians reported six hundred thousand fighting men counted in the wilderness. He asked four questions. Could that land feed them. Could a field hold them. Did any empire we know of ever put such a number on a battlefield. And could one family line reach that size in four generations. The answers ruled the figure out. He never had to accuse anyone of lying.</a:t>
            </a:r>
          </a:p>
          <a:p>
            <a:endParaRPr/>
          </a:p>
          <a:p>
            <a:r>
              <a:t>MAP: n/a</a:t>
            </a:r>
          </a:p>
          <a:p>
            <a:endParaRPr/>
          </a:p>
          <a:p>
            <a:r>
              <a:t>عبرت: What you can see today is the only measuring stick you have for what you cannot.</a:t>
            </a:r>
          </a:p>
          <a:p>
            <a:endParaRPr/>
          </a:p>
          <a:p>
            <a:r>
              <a:t>HANDS UP: Yes — *"How would you check a number nobody alive ever counted?"*</a:t>
            </a:r>
          </a:p>
          <a:p>
            <a:endParaRPr/>
          </a:p>
          <a:p>
            <a:r>
              <a:t>Source: تاریخ ابن خلدون ج۱ ص۱۴</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IKO/E-IKM8 · He calls al-Bukhārī a historian</a:t>
            </a:r>
          </a:p>
          <a:p>
            <a:r>
              <a:t>Tier: GOOD   When: n/a</a:t>
            </a:r>
          </a:p>
          <a:p>
            <a:endParaRPr/>
          </a:p>
          <a:p>
            <a:r>
              <a:t>A room that trusts the Ṣaḥīḥ absolutely can still be wary of the word history. Ibn Khaldūn closes that gap in one clause. He says the ancients held history in the highest regard, and then names the men who took it up. Al-Ṭabarī. Al-Bukhārī. And Ibn Isḥāq before both of them. These are not three kinds of men. They are scholars of the umma working one discipline with different aims.</a:t>
            </a:r>
          </a:p>
          <a:p>
            <a:endParaRPr/>
          </a:p>
          <a:p>
            <a:r>
              <a:t>MAP: n/a</a:t>
            </a:r>
          </a:p>
          <a:p>
            <a:endParaRPr/>
          </a:p>
          <a:p>
            <a:r>
              <a:t>عبرت: History was never outside the scholarship of this umma; it was one of its instruments.</a:t>
            </a:r>
          </a:p>
          <a:p>
            <a:endParaRPr/>
          </a:p>
          <a:p>
            <a:r>
              <a:t>Source: تاریخ ابن خلدون ج۱ ص۳۷</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IKO/E-IKA1 · What actually holds a people together</a:t>
            </a:r>
          </a:p>
          <a:p>
            <a:r>
              <a:t>Tier: CORE   When: n/a</a:t>
            </a:r>
          </a:p>
          <a:p>
            <a:endParaRPr/>
          </a:p>
          <a:p>
            <a:r>
              <a:t>Ibn Khaldūn gives kinship a name and a job. He does not call it a virtue and he does not call it a vice. He says the bond of kin is simply natural in people, and that part of that bond is the surge of feeling when a relative is wronged. That surge is what makes a group defensible. He anchors it on the brothers of Yūsuf, peace be upon him, saying that nobody would dare touch a man who has a kin-group behind him.</a:t>
            </a:r>
          </a:p>
          <a:p>
            <a:endParaRPr/>
          </a:p>
          <a:p>
            <a:r>
              <a:t>MAP: n/a — but this is the concept the ۱۱ھ tribal map rests on</a:t>
            </a:r>
          </a:p>
          <a:p>
            <a:endParaRPr/>
          </a:p>
          <a:p>
            <a:r>
              <a:t>عبرت: Before there were states in Arabia there were kin, and kin were the only protection anybody</a:t>
            </a:r>
          </a:p>
          <a:p>
            <a:endParaRPr/>
          </a:p>
          <a:p>
            <a:r>
              <a:t>HANDS UP: Yes — *"In a land with no police and no courts, who protects you?"*</a:t>
            </a:r>
          </a:p>
          <a:p>
            <a:endParaRPr/>
          </a:p>
          <a:p>
            <a:r>
              <a:t>Source: تاریخ ابن خلدون ج۱ ص۱۶۰</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IKO/E-IKA2 · The man standing alone slips away in the dark</a:t>
            </a:r>
          </a:p>
          <a:p>
            <a:r>
              <a:t>Tier: GOOD   When: n/a</a:t>
            </a:r>
          </a:p>
          <a:p>
            <a:endParaRPr/>
          </a:p>
          <a:p>
            <a:r>
              <a:t>Ibn Khaldūn explains what happens to a man with no kin behind him. Not in peace — in battle. He writes that a man alone in his lineage feels no surge on anyone's behalf, and nobody feels one on his. So when the air darkens with evil on the day of fighting, each such man slips away looking to save himself. It is not an accusation of cowardice. It is an observation that there was nothing holding him there.</a:t>
            </a:r>
          </a:p>
          <a:p>
            <a:endParaRPr/>
          </a:p>
          <a:p>
            <a:r>
              <a:t>MAP: n/a</a:t>
            </a:r>
          </a:p>
          <a:p>
            <a:endParaRPr/>
          </a:p>
          <a:p>
            <a:r>
              <a:t>عبرت: Men hold a line for the people beside them before they hold it for anything else.</a:t>
            </a:r>
          </a:p>
          <a:p>
            <a:endParaRPr/>
          </a:p>
          <a:p>
            <a:r>
              <a:t>Source: تاریخ ابن خلدون ج۱ ص۱۶۰</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IKO/E-IKA3 · Nothing gets carried without a people to carry it</a:t>
            </a:r>
          </a:p>
          <a:p>
            <a:r>
              <a:t>Tier: CORE   When: n/a</a:t>
            </a:r>
          </a:p>
          <a:p>
            <a:endParaRPr/>
          </a:p>
          <a:p>
            <a:r>
              <a:t>Ibn Khaldūn takes the point about defending a camp and widens it as far as it will go. Anything that has to be carried against resistance, he says, needs a group behind it. He names three things in one breath: prophethood, the founding of a realm, and a call. Human beings resist; resistance has to be met; and meeting it takes people who will stand together. He states it as a rule with no exceptions.</a:t>
            </a:r>
          </a:p>
          <a:p>
            <a:endParaRPr/>
          </a:p>
          <a:p>
            <a:r>
              <a:t>MAP: n/a</a:t>
            </a:r>
          </a:p>
          <a:p>
            <a:endParaRPr/>
          </a:p>
          <a:p>
            <a:r>
              <a:t>عبرت: A truth still needs people willing to stand for it before it moves anything in the world.</a:t>
            </a:r>
          </a:p>
          <a:p>
            <a:endParaRPr/>
          </a:p>
          <a:p>
            <a:r>
              <a:t>Source: تاریخ ابن خلدون ج۱ ص۱۶۰</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IKO/E-IKA4 · Leadership does not leave the line it started in</a:t>
            </a:r>
          </a:p>
          <a:p>
            <a:r>
              <a:t>Tier: GOOD   When: n/a</a:t>
            </a:r>
          </a:p>
          <a:p>
            <a:endParaRPr/>
          </a:p>
          <a:p>
            <a:r>
              <a:t>Ibn Khaldūn makes a claim about how leadership moves inside a kin-group, and it explains the shape of a great many arguments in early Arabia. Leadership, he says, sits in one branch of a stock, not in the whole of it, and it passes only to the strongest branch of that same stock. An outsider, however long attached and however trusted, does not acquire it. He is an attached man, and attachment gives no ascendancy.</a:t>
            </a:r>
          </a:p>
          <a:p>
            <a:endParaRPr/>
          </a:p>
          <a:p>
            <a:r>
              <a:t>MAP: n/a</a:t>
            </a:r>
          </a:p>
          <a:p>
            <a:endParaRPr/>
          </a:p>
          <a:p>
            <a:r>
              <a:t>عبرت: In a world organised by kin, the first question about any leader was not what he had done</a:t>
            </a:r>
          </a:p>
          <a:p>
            <a:endParaRPr/>
          </a:p>
          <a:p>
            <a:r>
              <a:t>Source: تاریخ ابن خلدون ج۱ ص۱۶۵</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IKO/E-IKA5 · Where kinship-strength ends up</a:t>
            </a:r>
          </a:p>
          <a:p>
            <a:r>
              <a:t>Tier: GOOD   When: n/a</a:t>
            </a:r>
          </a:p>
          <a:p>
            <a:endParaRPr/>
          </a:p>
          <a:p>
            <a:r>
              <a:t>Ibn Khaldūn does not leave group strength as a description. He gives it a destination. It runs, he says, towards one end, and that end is kingship. Leadership is being followed; kingship is being obeyed. And a man who has reached the first and can see the road to the second does not stop, because the human soul wants it. He states this as a natural tendency, not as a judgement on any particular man.</a:t>
            </a:r>
          </a:p>
          <a:p>
            <a:endParaRPr/>
          </a:p>
          <a:p>
            <a:r>
              <a:t>MAP: n/a</a:t>
            </a:r>
          </a:p>
          <a:p>
            <a:endParaRPr/>
          </a:p>
          <a:p>
            <a:r>
              <a:t>عبرت: Group strength has a direction of its own, and it does not stop where its holders intended.</a:t>
            </a:r>
          </a:p>
          <a:p>
            <a:endParaRPr/>
          </a:p>
          <a:p>
            <a:r>
              <a:t>Source: تاریخ ابن خلدون ج۱ ص۱۷۴</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IKO/E-IKA6 · Many small loyalties, or one big one</a:t>
            </a:r>
          </a:p>
          <a:p>
            <a:r>
              <a:t>Tier: GOOD   When: n/a</a:t>
            </a:r>
          </a:p>
          <a:p>
            <a:endParaRPr/>
          </a:p>
          <a:p>
            <a:r>
              <a:t>Ibn Khaldūn describes what happens inside a single tribe that contains several houses. Each house has its own loyalty. Unless one of them is strong enough to draw the rest after it until they fuse into a single great loyalty, the tribe splits, and the splitting leads to disagreement and then to strife. It is the plainest possible account of why a confederation is either led or is nothing.</a:t>
            </a:r>
          </a:p>
          <a:p>
            <a:endParaRPr/>
          </a:p>
          <a:p>
            <a:r>
              <a:t>MAP: n/a</a:t>
            </a:r>
          </a:p>
          <a:p>
            <a:endParaRPr/>
          </a:p>
          <a:p>
            <a:r>
              <a:t>عبرت: A gathering of loyalties either becomes one loyalty or becomes a quarrel.</a:t>
            </a:r>
          </a:p>
          <a:p>
            <a:endParaRPr/>
          </a:p>
          <a:p>
            <a:r>
              <a:t>Source: تاریخ ابن خلدون ج۱ ص۱۷۴</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IKO/E-IKR1 · ⭐ The call does not add numbers; it removes rivalry</a:t>
            </a:r>
          </a:p>
          <a:p>
            <a:r>
              <a:t>Tier: CORE   When: n/a</a:t>
            </a:r>
          </a:p>
          <a:p>
            <a:endParaRPr/>
          </a:p>
          <a:p>
            <a:r>
              <a:t>Ibn Khaldūn asks the question anyone looking at the map of the year eleven would ask. How does a peninsula that has just fragmented move against two empires within two years? His answer does not multiply anyone's numbers. He says a religious call takes away the rivalry and the mutual envy that exist among people bound by kin, and points them all one way. And once that happens nothing stands in front of them — because the direction is one, the object is equal in every eye, and they will die for it. He names the conquests as his own example.</a:t>
            </a:r>
          </a:p>
          <a:p>
            <a:endParaRPr/>
          </a:p>
          <a:p>
            <a:r>
              <a:t>MAP: n/a</a:t>
            </a:r>
          </a:p>
          <a:p>
            <a:endParaRPr/>
          </a:p>
          <a:p>
            <a:r>
              <a:t>عبرت: What changed in Arabia was not how many men there were, but which way they were all facing.</a:t>
            </a:r>
          </a:p>
          <a:p>
            <a:endParaRPr/>
          </a:p>
          <a:p>
            <a:r>
              <a:t>HANDS UP: Yes — *"Two years after the tribes broke apart, they were moving on two empires. What</a:t>
            </a:r>
          </a:p>
          <a:p>
            <a:endParaRPr/>
          </a:p>
          <a:p>
            <a:r>
              <a:t>Source: تاریخ ابن خلدون ج۱ ص۱۹۸</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IKO/E-IKR2 · The verse he grounds it on</a:t>
            </a:r>
          </a:p>
          <a:p>
            <a:r>
              <a:t>Tier: CORE   When: n/a</a:t>
            </a:r>
          </a:p>
          <a:p>
            <a:endParaRPr/>
          </a:p>
          <a:p>
            <a:r>
              <a:t>Ibn Khaldūn does not leave the mechanism as a piece of social observation. He puts a verse under it. Kingship comes by ascendancy, he says, and ascendancy comes by group strength — but the gathering and joining of hearts comes only by a help from Allah in establishing His religion. And then he quotes al-Anfāl: had you spent everything in the earth, you could not have joined their hearts.</a:t>
            </a:r>
          </a:p>
          <a:p>
            <a:endParaRPr/>
          </a:p>
          <a:p>
            <a:r>
              <a:t>MAP: n/a</a:t>
            </a:r>
          </a:p>
          <a:p>
            <a:endParaRPr/>
          </a:p>
          <a:p>
            <a:r>
              <a:t>عبرت: The joining of those hearts was never something anyone could have bought.</a:t>
            </a:r>
          </a:p>
          <a:p>
            <a:endParaRPr/>
          </a:p>
          <a:p>
            <a:r>
              <a:t>Source: تاریخ ابن خلدون ج۱ ص۱۹۷</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IKO/E-IKR3 · The test that runs the other way</a:t>
            </a:r>
          </a:p>
          <a:p>
            <a:r>
              <a:t>Tier: GOOD   When: n/a</a:t>
            </a:r>
          </a:p>
          <a:p>
            <a:endParaRPr/>
          </a:p>
          <a:p>
            <a:r>
              <a:t>Ibn Khaldūn does not stop at the claim. He supplies the condition under which it would fail, which is what makes it an argument and not a slogan. Watch, he says, what happens when the religious colouring alters and decays. The whole thing unravels, and the outcome falls back to the measure of bare group strength, without the increment religion had been adding. The same peoples, the same numbers, a different result.</a:t>
            </a:r>
          </a:p>
          <a:p>
            <a:endParaRPr/>
          </a:p>
          <a:p>
            <a:r>
              <a:t>MAP: n/a</a:t>
            </a:r>
          </a:p>
          <a:p>
            <a:endParaRPr/>
          </a:p>
          <a:p>
            <a:r>
              <a:t>عبرت: The increment was never owned; it was only ever held while it was being lived.</a:t>
            </a:r>
          </a:p>
          <a:p>
            <a:endParaRPr/>
          </a:p>
          <a:p>
            <a:r>
              <a:t>Source: تاریخ ابن خلدون ج۱ ص۱۹۹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IKO/E-IKR4 · Why it had to be a religious call and could not have been a political one</a:t>
            </a:r>
          </a:p>
          <a:p>
            <a:r>
              <a:t>Tier: CORE   When: n/a</a:t>
            </a:r>
          </a:p>
          <a:p>
            <a:endParaRPr/>
          </a:p>
          <a:p>
            <a:r>
              <a:t>Ibn Khaldūn explains why the peninsula could not have been unified on any other basis. The Arabs, he writes, were the hardest of peoples to make yield one to another — from harshness, from pride, from far-reaching ambition, and above all from rivalry over leadership. Their inclinations, he says, seldom converge. Only when religion came did the restraint come from inside them instead of being imposed from outside, and then yielding and gathering became easy. And he adds at once that they were also the quickest of peoples to accept guidance, because their natures were sound.</a:t>
            </a:r>
          </a:p>
          <a:p>
            <a:endParaRPr/>
          </a:p>
          <a:p>
            <a:r>
              <a:t>MAP: n/a</a:t>
            </a:r>
          </a:p>
          <a:p>
            <a:endParaRPr/>
          </a:p>
          <a:p>
            <a:r>
              <a:t>عبرت: A restraint a man carries inside himself holds where one imposed from outside does not.</a:t>
            </a:r>
          </a:p>
          <a:p>
            <a:endParaRPr/>
          </a:p>
          <a:p>
            <a:r>
              <a:t>HANDS UP: Yes — *"What would it have taken to make these tribes obey one man?"*</a:t>
            </a:r>
          </a:p>
          <a:p>
            <a:endParaRPr/>
          </a:p>
          <a:p>
            <a:r>
              <a:t>Source: تاریخ ابن خلدون ج۱ ص۱۸۹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IKO/E-IKR5 · A call with no people behind it</a:t>
            </a:r>
          </a:p>
          <a:p>
            <a:r>
              <a:t>Tier: GOOD   When: n/a</a:t>
            </a:r>
          </a:p>
          <a:p>
            <a:endParaRPr/>
          </a:p>
          <a:p>
            <a:r>
              <a:t>Ibn Khaldūn writes the other half of his own law, and it is the half that keeps him honest. A religious call without a group behind it, he says, does not come to completion. He means it structurally, not spiritually: a summons still has to be carried by people who will stand together for it, and where there is no such body, the summons does not travel. He gives a worked example from his own Andalus.</a:t>
            </a:r>
          </a:p>
          <a:p>
            <a:endParaRPr/>
          </a:p>
          <a:p>
            <a:r>
              <a:t>MAP: n/a</a:t>
            </a:r>
          </a:p>
          <a:p>
            <a:endParaRPr/>
          </a:p>
          <a:p>
            <a:r>
              <a:t>عبرت: A call still needs a community willing to stand under it.</a:t>
            </a:r>
          </a:p>
          <a:p>
            <a:endParaRPr/>
          </a:p>
          <a:p>
            <a:r>
              <a:t>Source: تاریخ ابن خلدون ج۱ ص۱۹۹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IKO/E-IKN1 · Whole tribes, parts of tribes, and those who simply held off</a:t>
            </a:r>
          </a:p>
          <a:p>
            <a:r>
              <a:t>Tier: GOOD   When: ۱۱ھ `[SOURCED]` for the statement; البدایہ carries the events</a:t>
            </a:r>
          </a:p>
          <a:p>
            <a:endParaRPr/>
          </a:p>
          <a:p>
            <a:r>
              <a:t>Ibn Khaldūn opens his account of the year eleven with a distinction any honest map of it needs. The Arabs turned back, he writes — either the whole tribe entire, or a part of it. And a page later, listing the fronts, he records a third state as well. Ṭayyiʾ and Asad gathered around Ṭulayḥa; Ghaṭafān turned back; and Hawāzin simply held off, withholding the ṣadaqa. Three states, not two.</a:t>
            </a:r>
          </a:p>
          <a:p>
            <a:endParaRPr/>
          </a:p>
          <a:p>
            <a:r>
              <a:t>MAP: the ridda map must show three states, not two</a:t>
            </a:r>
          </a:p>
          <a:p>
            <a:endParaRPr/>
          </a:p>
          <a:p>
            <a:r>
              <a:t>عبرت: A map drawn in two colours will always be telling you less than the sources did.</a:t>
            </a:r>
          </a:p>
          <a:p>
            <a:endParaRPr/>
          </a:p>
          <a:p>
            <a:r>
              <a:t>Source: تاریخ ابن خلدون ج۲ ص۴۸۹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IKO/E-IKN2 · The sheep in the rain — and who really said it</a:t>
            </a:r>
          </a:p>
          <a:p>
            <a:r>
              <a:t>Tier: GOOD   When: ۱۱ھ `[SOURCED]`</a:t>
            </a:r>
          </a:p>
          <a:p>
            <a:endParaRPr/>
          </a:p>
          <a:p>
            <a:r>
              <a:t>There is a famous sentence about the state of the Muslims when the Prophet ﷺ died: that they became like sheep out in the rain on a winter's night. Ibn Khaldūn uses it. It is not his. Ibn Kathīr carries it twice, once from Ibn Isḥāq and once through a second chain, and Ibn Isḥāq is the older source by centuries. This is worth saying aloud, because it shows the audience exactly how a phrase travels, and why the citation has to follow it back.</a:t>
            </a:r>
          </a:p>
          <a:p>
            <a:endParaRPr/>
          </a:p>
          <a:p>
            <a:r>
              <a:t>MAP: n/a</a:t>
            </a:r>
          </a:p>
          <a:p>
            <a:endParaRPr/>
          </a:p>
          <a:p>
            <a:r>
              <a:t>عبرت: A sentence worth repeating is worth tracing back to the man who first said it.</a:t>
            </a:r>
          </a:p>
          <a:p>
            <a:endParaRPr/>
          </a:p>
          <a:p>
            <a:r>
              <a:t>Source: البدایہ والنہایہ ج۵ ص۳۹۷، عن ابن إسحاق</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IKO/E-IKN3 · One dissent does not unmake a consensus — and even that is said conditionally</a:t>
            </a:r>
          </a:p>
          <a:p>
            <a:r>
              <a:t>Tier: GOOD   When: ۱۱ھ `[SOURCED]` — the year is</a:t>
            </a:r>
          </a:p>
          <a:p>
            <a:endParaRPr/>
          </a:p>
          <a:p>
            <a:r>
              <a:t>Ibn Khaldūn's account of the pledge to Abū Bakr ؓ ends with a short constitutional remark rather than a story. The Muhājirūn and the Anṣār were of one mind, he says; one man dissented, and no notice was taken of it because it stood alone. What is worth noticing is the clause he puts in the middle. Before drawing any conclusion at all, he writes: if his dissent is even established. He will not build on a report he has not first weighed.</a:t>
            </a:r>
          </a:p>
          <a:p>
            <a:endParaRPr/>
          </a:p>
          <a:p>
            <a:r>
              <a:t>MAP: n/a</a:t>
            </a:r>
          </a:p>
          <a:p>
            <a:endParaRPr/>
          </a:p>
          <a:p>
            <a:r>
              <a:t>عبرت: A careful historian states his condition before he states his conclusion.</a:t>
            </a:r>
          </a:p>
          <a:p>
            <a:endParaRPr/>
          </a:p>
          <a:p>
            <a:r>
              <a:t>Source: تاریخ ابن خلدون ج۲ ص۴۸۹</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IKO/E-IKX1 · The chapters that must be read whole before they are quoted at all</a:t>
            </a:r>
          </a:p>
          <a:p>
            <a:r>
              <a:t>Tier: CUT   When: n/a</a:t>
            </a:r>
          </a:p>
          <a:p>
            <a:endParaRPr/>
          </a:p>
          <a:p>
            <a:r>
              <a:t>MAP: n/a</a:t>
            </a:r>
          </a:p>
          <a:p>
            <a:endParaRPr/>
          </a:p>
          <a:p>
            <a:r>
              <a:t>عبرت: A judgement quoted without the qualification its author attached to it is no longer his</a:t>
            </a:r>
          </a:p>
          <a:p>
            <a:endParaRPr/>
          </a:p>
          <a:p>
            <a:r>
              <a:t>HANDS UP: No — and if it is raised from the floor, the answer is reason 2 above, with the page</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IKO/E-IKX2 · Four good sentences — one of them usable after all</a:t>
            </a:r>
          </a:p>
          <a:p>
            <a:r>
              <a:t>Tier: CUT   When: ۱۴–۲۳ھ `[STANDARD]`</a:t>
            </a:r>
          </a:p>
          <a:p>
            <a:endParaRPr/>
          </a:p>
          <a:p>
            <a:r>
              <a:t>MAP: n/a</a:t>
            </a:r>
          </a:p>
          <a:p>
            <a:endParaRPr/>
          </a:p>
          <a:p>
            <a:r>
              <a:t>عبرت: A sentence you cannot yet stand behind is better left out than said and defended.</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IKO/E-IKX3 · Rustam watching the prayer ranks</a:t>
            </a:r>
          </a:p>
          <a:p>
            <a:r>
              <a:t>Tier: CUT   When: ۱۴–۱۵ھ `[STANDARD]` (to verify) —</a:t>
            </a:r>
          </a:p>
          <a:p>
            <a:endParaRPr/>
          </a:p>
          <a:p>
            <a:r>
              <a:t>MAP: n/a</a:t>
            </a:r>
          </a:p>
          <a:p>
            <a:endParaRPr/>
          </a:p>
          <a:p>
            <a:r>
              <a:t>عبرت: What an enemy noticed about a people is worth knowing — but only once you know who reported</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IKO/E-IKX4 · The judgement that is not in the book</a:t>
            </a:r>
          </a:p>
          <a:p>
            <a:r>
              <a:t>Tier: CORE   When: n/a</a:t>
            </a:r>
          </a:p>
          <a:p>
            <a:endParaRPr/>
          </a:p>
          <a:p>
            <a:r>
              <a:t>Ibn Khaldūn is the great explainer of Islamic history, and it is tempting to say that he explained the ridda. He did not. Ninety-five pages of his narrative of the years eleven to twenty-three were read for this session, and searched for every phrase he uses elsewhere when he is about to explain something rather than report it. There were two. His account of these years is narration. The analysis is four hundred pages away in another volume, and it never once mentions the ridda. Putting the two together is our work, and the audience is told so.</a:t>
            </a:r>
          </a:p>
          <a:p>
            <a:endParaRPr/>
          </a:p>
          <a:p>
            <a:r>
              <a:t>MAP: n/a</a:t>
            </a:r>
          </a:p>
          <a:p>
            <a:endParaRPr/>
          </a:p>
          <a:p>
            <a:r>
              <a:t>عبرت: Saying plainly where a book stops is part of using it honestly.</a:t>
            </a:r>
          </a:p>
          <a:p>
            <a:endParaRPr/>
          </a:p>
          <a:p>
            <a:r>
              <a:t>HANDS UP: No — but this sentence, or one like it, belongs on any slide in this series that carries</a:t>
            </a:r>
          </a:p>
          <a:p>
            <a:endParaRPr/>
          </a:p>
          <a:p>
            <a:r>
              <a:t>From: ابن خلدون: how he reads it (framing only)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273.xml"/><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76.xml"/><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285.xml"/><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301.xml"/><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302.xml"/><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2" Type="http://schemas.openxmlformats.org/officeDocument/2006/relationships/notesSlide" Target="../notesSlides/notesSlide303.xml"/><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304.xml"/><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305.xml"/><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306.xml"/><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2" Type="http://schemas.openxmlformats.org/officeDocument/2006/relationships/notesSlide" Target="../notesSlides/notesSlide308.xml"/><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2" Type="http://schemas.openxmlformats.org/officeDocument/2006/relationships/notesSlide" Target="../notesSlides/notesSlide309.xml"/><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310.xml"/><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2" Type="http://schemas.openxmlformats.org/officeDocument/2006/relationships/notesSlide" Target="../notesSlides/notesSlide311.xml"/><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2" Type="http://schemas.openxmlformats.org/officeDocument/2006/relationships/notesSlide" Target="../notesSlides/notesSlide312.xml"/><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2" Type="http://schemas.openxmlformats.org/officeDocument/2006/relationships/notesSlide" Target="../notesSlides/notesSlide313.xml"/><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314.xml"/><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315.xml"/><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316.xml"/><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2" Type="http://schemas.openxmlformats.org/officeDocument/2006/relationships/notesSlide" Target="../notesSlides/notesSlide317.xml"/><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2" Type="http://schemas.openxmlformats.org/officeDocument/2006/relationships/notesSlide" Target="../notesSlides/notesSlide318.xml"/><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2" Type="http://schemas.openxmlformats.org/officeDocument/2006/relationships/notesSlide" Target="../notesSlides/notesSlide319.xml"/><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2" Type="http://schemas.openxmlformats.org/officeDocument/2006/relationships/notesSlide" Target="../notesSlides/notesSlide320.xml"/><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2" Type="http://schemas.openxmlformats.org/officeDocument/2006/relationships/notesSlide" Target="../notesSlides/notesSlide321.xml"/><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2" Type="http://schemas.openxmlformats.org/officeDocument/2006/relationships/notesSlide" Target="../notesSlides/notesSlide322.xml"/><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2" Type="http://schemas.openxmlformats.org/officeDocument/2006/relationships/notesSlide" Target="../notesSlides/notesSlide323.xml"/><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2" Type="http://schemas.openxmlformats.org/officeDocument/2006/relationships/notesSlide" Target="../notesSlides/notesSlide324.xml"/><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325.xml"/><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2" Type="http://schemas.openxmlformats.org/officeDocument/2006/relationships/notesSlide" Target="../notesSlides/notesSlide326.xml"/><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2" Type="http://schemas.openxmlformats.org/officeDocument/2006/relationships/notesSlide" Target="../notesSlides/notesSlide327.xml"/><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2" Type="http://schemas.openxmlformats.org/officeDocument/2006/relationships/notesSlide" Target="../notesSlides/notesSlide328.xml"/><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2" Type="http://schemas.openxmlformats.org/officeDocument/2006/relationships/notesSlide" Target="../notesSlides/notesSlide329.xml"/><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2" Type="http://schemas.openxmlformats.org/officeDocument/2006/relationships/notesSlide" Target="../notesSlides/notesSlide330.xml"/><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2" Type="http://schemas.openxmlformats.org/officeDocument/2006/relationships/notesSlide" Target="../notesSlides/notesSlide331.xml"/><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2" Type="http://schemas.openxmlformats.org/officeDocument/2006/relationships/notesSlide" Target="../notesSlides/notesSlide332.xml"/><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2" Type="http://schemas.openxmlformats.org/officeDocument/2006/relationships/notesSlide" Target="../notesSlides/notesSlide333.xml"/><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2" Type="http://schemas.openxmlformats.org/officeDocument/2006/relationships/notesSlide" Target="../notesSlides/notesSlide334.xml"/><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2" Type="http://schemas.openxmlformats.org/officeDocument/2006/relationships/notesSlide" Target="../notesSlides/notesSlide335.xml"/><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2" Type="http://schemas.openxmlformats.org/officeDocument/2006/relationships/notesSlide" Target="../notesSlides/notesSlide336.xml"/><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2" Type="http://schemas.openxmlformats.org/officeDocument/2006/relationships/notesSlide" Target="../notesSlides/notesSlide337.xml"/><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2" Type="http://schemas.openxmlformats.org/officeDocument/2006/relationships/notesSlide" Target="../notesSlides/notesSlide338.xml"/><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2" Type="http://schemas.openxmlformats.org/officeDocument/2006/relationships/notesSlide" Target="../notesSlides/notesSlide339.xml"/><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2" Type="http://schemas.openxmlformats.org/officeDocument/2006/relationships/notesSlide" Target="../notesSlides/notesSlide340.xml"/><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2" Type="http://schemas.openxmlformats.org/officeDocument/2006/relationships/notesSlide" Target="../notesSlides/notesSlide341.xml"/><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2" Type="http://schemas.openxmlformats.org/officeDocument/2006/relationships/notesSlide" Target="../notesSlides/notesSlide342.xml"/><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2" Type="http://schemas.openxmlformats.org/officeDocument/2006/relationships/notesSlide" Target="../notesSlides/notesSlide343.xml"/><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2" Type="http://schemas.openxmlformats.org/officeDocument/2006/relationships/notesSlide" Target="../notesSlides/notesSlide344.xml"/><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2" Type="http://schemas.openxmlformats.org/officeDocument/2006/relationships/notesSlide" Target="../notesSlides/notesSlide345.xml"/><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2" Type="http://schemas.openxmlformats.org/officeDocument/2006/relationships/notesSlide" Target="../notesSlides/notesSlide346.xml"/><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2" Type="http://schemas.openxmlformats.org/officeDocument/2006/relationships/notesSlide" Target="../notesSlides/notesSlide347.xml"/><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2" Type="http://schemas.openxmlformats.org/officeDocument/2006/relationships/notesSlide" Target="../notesSlides/notesSlide348.xml"/><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2" Type="http://schemas.openxmlformats.org/officeDocument/2006/relationships/notesSlide" Target="../notesSlides/notesSlide349.xml"/><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2" Type="http://schemas.openxmlformats.org/officeDocument/2006/relationships/notesSlide" Target="../notesSlides/notesSlide350.xml"/><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2" Type="http://schemas.openxmlformats.org/officeDocument/2006/relationships/notesSlide" Target="../notesSlides/notesSlide351.xml"/><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2" Type="http://schemas.openxmlformats.org/officeDocument/2006/relationships/notesSlide" Target="../notesSlides/notesSlide352.xml"/><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2" Type="http://schemas.openxmlformats.org/officeDocument/2006/relationships/notesSlide" Target="../notesSlides/notesSlide353.xml"/><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2" Type="http://schemas.openxmlformats.org/officeDocument/2006/relationships/notesSlide" Target="../notesSlides/notesSlide354.xml"/><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2" Type="http://schemas.openxmlformats.org/officeDocument/2006/relationships/notesSlide" Target="../notesSlides/notesSlide355.xml"/><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2" Type="http://schemas.openxmlformats.org/officeDocument/2006/relationships/notesSlide" Target="../notesSlides/notesSlide356.xml"/><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2" Type="http://schemas.openxmlformats.org/officeDocument/2006/relationships/notesSlide" Target="../notesSlides/notesSlide357.xml"/><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2" Type="http://schemas.openxmlformats.org/officeDocument/2006/relationships/notesSlide" Target="../notesSlides/notesSlide358.xml"/><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2" Type="http://schemas.openxmlformats.org/officeDocument/2006/relationships/notesSlide" Target="../notesSlides/notesSlide359.xml"/><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2" Type="http://schemas.openxmlformats.org/officeDocument/2006/relationships/notesSlide" Target="../notesSlides/notesSlide360.xml"/><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2" Type="http://schemas.openxmlformats.org/officeDocument/2006/relationships/notesSlide" Target="../notesSlides/notesSlide361.xml"/><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2" Type="http://schemas.openxmlformats.org/officeDocument/2006/relationships/notesSlide" Target="../notesSlides/notesSlide362.xml"/><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2" Type="http://schemas.openxmlformats.org/officeDocument/2006/relationships/notesSlide" Target="../notesSlides/notesSlide363.xml"/><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2" Type="http://schemas.openxmlformats.org/officeDocument/2006/relationships/notesSlide" Target="../notesSlides/notesSlide364.xml"/><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2" Type="http://schemas.openxmlformats.org/officeDocument/2006/relationships/notesSlide" Target="../notesSlides/notesSlide365.xml"/><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2" Type="http://schemas.openxmlformats.org/officeDocument/2006/relationships/notesSlide" Target="../notesSlides/notesSlide366.xml"/><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2" Type="http://schemas.openxmlformats.org/officeDocument/2006/relationships/notesSlide" Target="../notesSlides/notesSlide367.xml"/><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2" Type="http://schemas.openxmlformats.org/officeDocument/2006/relationships/notesSlide" Target="../notesSlides/notesSlide368.xml"/><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2" Type="http://schemas.openxmlformats.org/officeDocument/2006/relationships/notesSlide" Target="../notesSlides/notesSlide369.xml"/><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2" Type="http://schemas.openxmlformats.org/officeDocument/2006/relationships/notesSlide" Target="../notesSlides/notesSlide370.xml"/><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2" Type="http://schemas.openxmlformats.org/officeDocument/2006/relationships/notesSlide" Target="../notesSlides/notesSlide371.xml"/><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2" Type="http://schemas.openxmlformats.org/officeDocument/2006/relationships/notesSlide" Target="../notesSlides/notesSlide37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554480"/>
            <a:ext cx="11057839" cy="45720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Session 2 · parts bin</a:t>
            </a:r>
          </a:p>
        </p:txBody>
      </p:sp>
      <p:sp>
        <p:nvSpPr>
          <p:cNvPr id="5" name="TextBox 4"/>
          <p:cNvSpPr txBox="1"/>
          <p:nvPr/>
        </p:nvSpPr>
        <p:spPr>
          <a:xfrm>
            <a:off x="566928" y="2011680"/>
            <a:ext cx="11057839" cy="1005840"/>
          </a:xfrm>
          <a:prstGeom prst="rect">
            <a:avLst/>
          </a:prstGeom>
          <a:noFill/>
        </p:spPr>
        <p:txBody>
          <a:bodyPr wrap="square" lIns="36576" tIns="0" rIns="36576" bIns="0" anchor="t">
            <a:spAutoFit/>
          </a:bodyPr>
          <a:lstStyle/>
          <a:p>
            <a:pPr algn="l">
              <a:lnSpc>
                <a:spcPct val="125000"/>
              </a:lnSpc>
            </a:pPr>
            <a:r>
              <a:rPr sz="6000" b="1" i="0">
                <a:solidFill>
                  <a:srgbClr val="FFFFFF"/>
                </a:solidFill>
                <a:latin typeface="Georgia"/>
                <a:cs typeface="Georgia"/>
              </a:rPr>
              <a:t>Every card</a:t>
            </a:r>
          </a:p>
        </p:txBody>
      </p:sp>
      <p:sp>
        <p:nvSpPr>
          <p:cNvPr id="6" name="TextBox 5"/>
          <p:cNvSpPr txBox="1"/>
          <p:nvPr/>
        </p:nvSpPr>
        <p:spPr>
          <a:xfrm>
            <a:off x="566928" y="3383280"/>
            <a:ext cx="11057839" cy="640080"/>
          </a:xfrm>
          <a:prstGeom prst="rect">
            <a:avLst/>
          </a:prstGeom>
          <a:noFill/>
        </p:spPr>
        <p:txBody>
          <a:bodyPr wrap="square" lIns="36576" tIns="0" rIns="36576" bIns="0" anchor="t">
            <a:spAutoFit/>
          </a:bodyPr>
          <a:lstStyle/>
          <a:p>
            <a:pPr algn="l">
              <a:lnSpc>
                <a:spcPct val="125000"/>
              </a:lnSpc>
            </a:pPr>
            <a:r>
              <a:rPr sz="3200" b="0" i="0">
                <a:solidFill>
                  <a:srgbClr val="FAF7F0"/>
                </a:solidFill>
                <a:latin typeface="Segoe UI"/>
                <a:cs typeface="Segoe UI"/>
              </a:rPr>
              <a:t>372 cards · the whole pool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How to use this deck</a:t>
            </a:r>
          </a:p>
        </p:txBody>
      </p:sp>
      <p:sp>
        <p:nvSpPr>
          <p:cNvPr id="5" name="TextBox 4"/>
          <p:cNvSpPr txBox="1"/>
          <p:nvPr/>
        </p:nvSpPr>
        <p:spPr>
          <a:xfrm>
            <a:off x="566928" y="2775204"/>
            <a:ext cx="11057839" cy="2414016"/>
          </a:xfrm>
          <a:prstGeom prst="rect">
            <a:avLst/>
          </a:prstGeom>
          <a:noFill/>
        </p:spPr>
        <p:txBody>
          <a:bodyPr wrap="square" lIns="36576" tIns="0" rIns="36576" bIns="0" anchor="t">
            <a:spAutoFit/>
          </a:bodyPr>
          <a:lstStyle/>
          <a:p>
            <a:pPr algn="l">
              <a:lnSpc>
                <a:spcPct val="130000"/>
              </a:lnSpc>
            </a:pPr>
            <a:r>
              <a:rPr sz="3400" b="0" i="0">
                <a:solidFill>
                  <a:srgbClr val="1C2321"/>
                </a:solidFill>
                <a:latin typeface="Georgia"/>
                <a:cs typeface="Traditional Arabic"/>
              </a:rPr>
              <a:t>This deck is not a lecture. It is one slide per researched card, in order, for you to delete from. Each slide's speaker notes carry the full narrative, the date, the map move, the عبرت line and the source.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Setting: the tribal map, and why the Ridda took its shape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before any arrow is drawn…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Arabia was a map of kin, not a map…</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وأما معد: فوُلِد له أربعة: نزار، وقضاعة، وقُنُص، وإياد … وأما نزار: فولد لهم ربيعة ومضر وأنمار.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"As for Maʿadd: four were born to him — Nizār, Quḍāʿa, Qunuṣ and Iyād … And as for Nizār: Rabīʿa, Muḍar and Anmār were…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2, p. 475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Ten sons of Sabaʾ, in the Prophet's ﷺ own…</a:t>
            </a:r>
          </a:p>
        </p:txBody>
      </p:sp>
      <p:sp>
        <p:nvSpPr>
          <p:cNvPr id="5" name="TextBox 4"/>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بل هو رجل ولد عشرة، فسكن اليمن منهم ستة، وبالشام منهم أربعة. فأما اليمانيون فمَذْحِج وكِنْدة والأَزْد والأشعريون وأَنْمار وحِمْيَر. وأما الشامية فلَخْم وجُذام وعامِلة وغَسّان.</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"Rather, he was a man who had ten children. Six of them settled in Yemen and four of them in Syria. As for the…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2, p. 407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long before Islam</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dam broke, and the tribes went out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The book carries an account of why the southern tribes left Yemen — the dam at Maʾrib, and the flood. ʿAmr b. ʿĀmir left, and the Azd said they would…. Landscape, architecture, ob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Where Quraysh begins, and the two answers the book…</a:t>
            </a:r>
          </a:p>
        </p:txBody>
      </p:sp>
      <p:sp>
        <p:nvSpPr>
          <p:cNvPr id="5" name="TextBox 4"/>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ابن هشام: النضر هو قُريش، فمن كان من ولده فهو قرشي، ومن لم يكن من ولده فليس بقرشي.</a:t>
            </a:r>
          </a:p>
        </p:txBody>
      </p:sp>
      <p:sp>
        <p:nvSpPr>
          <p:cNvPr id="6" name="Rectangle 5"/>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"Ibn Hishām said: al-Naḍr is Quraysh. Whoever is of his children is a Qurashī, and whoever is not of his children is not a…</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2, p. 477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from the hijra onward</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Quraysh and the Anṣār were the two halves of…</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ومنهم الأوس والخزرج، نزلوا بيثرب وهي المدينة النبوية اليوم، فكانوا أول من سكنها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among them were the Aws and the Khazraj: they settled at Yathrib — which today is the Prophet's city — and they were…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2, p. 409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the break actually was — Ibn Kathīr's own…</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فصل في تصدّي الصِّدّيق لِقتالِ أهلِ الرِّدة ومانِعي الزَّكاة</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 section on al-Ṣiddīq's undertaking to fight the people of the ridda and those who withheld the zakāt."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as the delegations arrive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refusals, not one</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وجَعَلَتْ وفودُ العرب تقدم المدينة يقرُّون بالصلاة ويمتنعون من أداء الزكاة، ومنهم من امتنعَ من دفعها إلى الصّدّيق</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delegations of the Arabs began coming to Medina, affirming the prayer and refusing to render the zakāt — and among them were those…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Companions proposed going easy, and he refused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تكلَّم الصحابةُ مع الصّديق في أن يتركهم وما هم عليه من منعِ الزكاةِ ويتألَّفهم حتى يمكّنَ الإيمانُ في قلوبهم: ثم هم بعد ذلك يُزَكُّونَ، فامتنعَ الصّديق من ذلك وأباه.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Companions spoke to al-Ṣiddīq about leaving them and what they were upon of withholding the zakāt, and conciliating them until faith took hold…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«لو مَنَعوني عِقالًا» — and what ʿUmar ؓ said…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ʿUmar ؓ put the objection to Abū Bakr ؓ directly: on what basis are you fighting people who say the shahāda, when the Messenger of Allah ﷺ said that once…. Landscape, architecture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One tribe, three answers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كانت بنو تميم قد اختلفتْ أراؤُهم أيام الرِّدَّة، فمنهم من ارتدَّ ومنعَ الزكاة، ومنهم منْ بعثَ بأموالِ الصَّدقات إلى الصدِّيق، ومنهم من توقف لينظر في أمره.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views of Banū Tamīm differed in the days of the ridda: some of them apostatised and withheld the zakāt; some of them sent…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and again at afterwards…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ʿUyayna b. Ḥiṣn says why he followed Ṭulayḥa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لَنبيٌّ من بني أسدٍ أحبُّ إليَّ من نبيٍّ من بني هاشم، وقد مات محمدٌ وهذا طُلَيْحةُ فاتَّبعوه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Allah, a prophet from Banū Asad is dearer to me than a prophet from Banū Hāshim. Muḥammad has died, and this is Ṭulayḥa…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 al-Yamama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who followed Musaylima knowing he was lying</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أشهد أنَّك كذّابٌ وأن محمدًا صادقٌ، ولكن كذّابَ رَبيعة أحبُّ إلينا من صادقِ مُضَر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I bear witness that you are a liar and that Muḥammad is truthful — but a liar of Rabīʿa is dearer to…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verse that puts the objection as politics</a:t>
            </a:r>
          </a:p>
        </p:txBody>
      </p:sp>
      <p:sp>
        <p:nvSpPr>
          <p:cNvPr id="6" name="TextBox 5"/>
          <p:cNvSpPr txBox="1"/>
          <p:nvPr/>
        </p:nvSpPr>
        <p:spPr>
          <a:xfrm>
            <a:off x="566928" y="201625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أطعنَا رسولَ اللهِ إذْ كانَ بَيْننا … فواعَجَبًا ما بَالُ مُلْكِ أبي بَكْرِ</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1707"/>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(and again, vol. 7, p.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10–12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claimants, and when each of them began</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وقد كان طُلَيْحةُ الأسديُّ ارتدَّ في حياةِ النبي ﷺ</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"Ṭulayḥa al-Asadī had apostatised in the lifetime of the Prophet ﷺ."</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Musaylima's letter, and the reply</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من مُسَيْلَمة رسولِ اللهِ إلى محمدٍ رسولِ الله، سلامٌ عَلَيْكَ، أما بعدُ، فإني قد أُشْرِكْتُ في الأمْرِ معكَ، فإنّ لنا نِصْفَ الأمْرِ، ولقُرَيشٍ نصف الأمْرِ، ولكن قُريشًا قومٌ يَعْتدون.</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"From Musaylima the Messenger of Allah, to Muḥammad the Messenger of Allah. Peace be upon you. To proceed: I have been given a share…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5, p. 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in the Prophet's ﷺ lifetime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Musaylima at Medina, and the piece of palm-branch</a:t>
            </a:r>
          </a:p>
        </p:txBody>
      </p:sp>
      <p:sp>
        <p:nvSpPr>
          <p:cNvPr id="6" name="TextBox 5"/>
          <p:cNvSpPr txBox="1"/>
          <p:nvPr/>
        </p:nvSpPr>
        <p:spPr>
          <a:xfrm>
            <a:off x="566928" y="218084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لو سألتني هذه القطعة ما أعطيتكها، ولن تعدوَ أمرَ اللهِ فيك، ولئن أدبرتَ ليعقرنَّك اللهُ</a:t>
            </a:r>
          </a:p>
        </p:txBody>
      </p:sp>
      <p:sp>
        <p:nvSpPr>
          <p:cNvPr id="7" name="Rectangle 6"/>
          <p:cNvSpPr/>
          <p:nvPr/>
        </p:nvSpPr>
        <p:spPr>
          <a:xfrm>
            <a:off x="566928" y="404622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357116"/>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Sahih al-Bukhari 4373, via, vol. 5, p. 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in the Prophet's ﷺ lifetime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two bracelets</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بينا أنا نائم أتيتُ بخزائن الأرض، فوُضع في كفي سواران من ذهب، فكَبُرا عليّ، فأُوحي إليَّ أن انفُخْهما، فنفختُهما، فذهبا فأوَّلتهما الكَذَّابَيْن اللذين أنا بينهما؛ صاحبَ صَنْعاء، وصاحبَ اليَمامة</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Sahih al-Bukhari 4375, via, vol. 5, p.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Sajāḥ — who she actually was</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إذ أقبلت سجاح بنتُ الحارث بن سويد بن عقفان التغلبية من الجزيرة، وهي من نصارى العرب، وقد ادَّعتِ النبوَّة</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Sajāḥ bint al-Ḥārith b. Suwayd b. ʿAqfān al-Taghlibiyya came forward from al-Jazīra — and she was of the Christians of the Arabs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 al-Yamama, and afterwards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her claim was worth to the other claimant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انثنت سَجَاح راجعةً إلى بلادها … فكرَّتْ راجعةً إلى الجزيرة بعدما قبضَتْ من مسيلمة نصفَ خراجِ أرضِهِ، فأقامت في قومها بني تَغْلِب، إلى زمان معاوية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Sajāḥ turned back to her own country … she went back to al-Jazīra after she had taken from Musaylima half the kharāj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after Buzakha, in Abū Bakr's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Ṭulayḥa comes back, and the letter about how to…</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وكتبَ الصّدّيق إلى خالدٍ، أن استَشِرْهُ في الحرب ولا تُؤَمِّره — يعني معاملته له بنقيض ما كان قصده من الرئاسة في الباطن — وهذا من فقه الصّدّيق ﵁</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al-Ṣiddīq wrote to Khālid: consult him in the fighting, and do not put him in command — meaning that he dealt with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«ما خلا أهل المسجدين» — and the book's own…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محمد بن إسحاق: ارتدَّتِ العربُ عند وفاةِ رسول الله ﷺ ما خلا أهل المسجدين، مكة، والمدينة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"Muḥammad b. Isḥāq said: the Arabs apostatised at the death of the Messenger of Allah ﷺ, except the people of the two mosques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delegation was in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Thaqīf had been Muslim for two years, and did…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وقد كانت ثقيفُ بالطائف ثَبَتوا على الإسلام، لم يفرُّوا ولا ارتدّوا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"Thaqīf at Ṭāʾif had stood firm upon Islam: they did not flee and they did not apostatise."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before Buzakha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ʿAdī b. Ḥātim ؓ, and the two names Ṭayyiʾ…</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فكان عديٌّ خيرَ مولودٍ وأعظمَهُ بركةً على قومه ﵃</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Arabic Typesetting"/>
              </a:rPr>
              <a:t>"ʿAdī was the best child ever born and the greatest of them in blessing upon his own people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Al-Jārūd ؓ asks his tribe five questions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فإنَّ محمدًا ﷺ ماتَ كما ماتوا، وإني أشهدُ أن لا إله إلا الله وأن محمدًا رسول الله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"Muḥammad ﷺ has died just as they died — and I bear witness that there is no god but Allah and that Muḥammad 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Azd stood on both sides of the map</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فنبغَ فيهم رجلٌ يقالَ له: ذو التاج لَقيطُ بن مالك الأَزدي، وكان يُسَمَّى في الجاهلية الجُلَنْدَى، فادّعى النُّبوَّة أيضًا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"There arose among them a man called Dhū al-Tāj, Laqīṭ b. Mālik al-Azdī — who used to be called al-Julandā in the Jāhiliyya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«قُتل العنسيُّ البارحةَ»</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أتى الخبرُ إلى النبي ﷺ من السماء الليلةَ التي قُتل فيه العنسي ليبشّرنا، فقال: قُتل العنسيُّ البارحةَ، قتله رجلٌ مباركٌ من أهل بيتٍ مباركين، قيل: ومنْ؟ قال: فيروزُ فيروزُ.</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 news came to the Prophet ﷺ from heaven on the night al-ʿAnsī was killed, to give us good tidings. He said: al-ʿAnsī was…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Three days of prayer, and then the ground moved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Fayrūz ؓ tells it himself, and it is the best account in the sources of what the news of the Prophet's ﷺ death actually did. We killed al-Aswad, he says,…. Landscape, architecture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months before 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How long the first false prophet ruled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قيل: إنَّ مدةَ مُلكه منذ ظهر إلى أن قتل ثلاثة أشهر، ويقال: أربعة أشهر، فالله أعلم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"It has been said that the duration of his rule, from when he appeared until he was killed, was three months — and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Why the map has no lines on it</a:t>
            </a:r>
          </a:p>
        </p:txBody>
      </p:sp>
      <p:sp>
        <p:nvSpPr>
          <p:cNvPr id="5" name="TextBox 4"/>
          <p:cNvSpPr txBox="1"/>
          <p:nvPr/>
        </p:nvSpPr>
        <p:spPr>
          <a:xfrm>
            <a:off x="566928" y="1815084"/>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بالضم والخاء المعجمة: ماء لطيِّئ بأرض نجد، وقيل لبني أسد، كانت فيه وقعة عظيمة في أيام أبي بكر الصديق مع طليحة الأسدي</a:t>
            </a:r>
          </a:p>
        </p:txBody>
      </p:sp>
      <p:sp>
        <p:nvSpPr>
          <p:cNvPr id="6" name="Rectangle 5"/>
          <p:cNvSpPr/>
          <p:nvPr/>
        </p:nvSpPr>
        <p:spPr>
          <a:xfrm>
            <a:off x="566928" y="441198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722876"/>
            <a:ext cx="11057839" cy="649224"/>
          </a:xfrm>
          <a:prstGeom prst="rect">
            <a:avLst/>
          </a:prstGeom>
          <a:noFill/>
        </p:spPr>
        <p:txBody>
          <a:bodyPr wrap="square" lIns="36576" tIns="0" rIns="36576" bIns="0" anchor="t">
            <a:spAutoFit/>
          </a:bodyPr>
          <a:lstStyle/>
          <a:p>
            <a:pPr algn="l">
              <a:lnSpc>
                <a:spcPct val="130000"/>
              </a:lnSpc>
            </a:pPr>
            <a:endParaRP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the editor's footnote at (quoting ), not, vol. 7, p. 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The Ridda wars: the campaign, front by front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within days of the delegation's…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night raid on Medina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فَخَرَجَ عَلَيْهِمُ الرِّدْءُ بِأَنْحَاءَ قَدْ نَفَخُوهَا … فَنَفَرَتْ إِبِلُ الْمُسْلِمِينَ وَهُمْ عَلَيْهَا، وَرَجَعَتْ بِهِمْ إِلَى الْمَدِينَةِ، وَلَمْ يُصْرَعْ مُسْلِمٌ.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reserve came out at them with skins they had inflated … The Muslims' camels bolted with them on their backs and carried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same night as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counter-attack before dawn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فَمَا طَلَعَ الْفَجْرُ إِلَّا وَهُمْ وَالْعَدُوُّ عَلَى صَعِيدٍ وَاحِدٍ … فَمَا ذَرَّ قَرْنُ الشَّمْسِ حَتَّى وَلَّوْهُمُ الْأَدْبَارَ … وَكَانَ أَوَّلَ الْفَتْحِ.</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"Dawn did not break until they and the enemy were on one ground … and the sun's rim had not risen before they turned…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Abū Bakr ؓ rides out himself — al-Abraq</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فَنَاشَدَهُ الْمُسْلِمُونَ لِيُقِيمَ، فَأَبَى وَقَالَ: لَأُوَاسِيَنَّكُمْ بِنَفْسِي.</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implored him to stay. He refused and said: I will share with you in my own person."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rules the first army carried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Usāma's ؓ army was the last thing the Prophet ﷺ had ordered, and Abū Bakr ؓ sent it out while Arabia was breaking apart. He walked the army out of…. Landscape, architecture, objec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11, after Usāma's ؓ army had…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Eleven banners at Dhu al-Qassa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فَفَصَلَتِ الْأُمَرَاءُ مِنْ ذِي الْقَصَّةِ، وَلَحِقَ بِكُلِّ أَمِيرٍ جُنْدُهُ، وَعَهِدَ إِلَى كُلِّ أَمِيرٍ.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commanders separated from Dhū al-Qaṣṣa, and each commander's troops joined him, and he gave each commander his commission."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with the eleven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letter that went ahead of the armies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أمرتُ رسولي أن يقرأ كتابه في كلِّ مَجْمعٍ لكم، والداعية الأذان، فإذا إذَّنَ المسلمون فأذنوا فكُفُّوا عنهم، وإن لم يُؤَذِّنوا فسلوهم ما عليهم.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ordered my messenger to read his letter in every assembly of yours. The summons is the adhān: when the Muslims call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before Buzakha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ʿAdī b. Ḥātim ؓ buys three days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اسْتَقْبِلِ الْجَيْشَ فَأَخِّرْهُ عَنَّا حَتَّى نَسْتَخْرِجَ مَنْ عِنْدَ طُلَيْحَةَ مِنَّا؛ لِئَلَّا يَقْتُلَهُمْ … فَتَأَخَّرَ خَالِدٌ.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"Go to meet the army and hold it back from us until we get out those of ours who are with Ṭulayḥa, so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approaching Buzakha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two scouts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وَأَقْبَلَ خَالِدٌ بِالنَّاسِ فَرَأَوْا عُكَّاشَةَ وَثَابِتًا قَتِيلَيْنِ، فَجَزِعَ لِذَلِكَ الْمُسْلِمُونَ.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"Khālid came up with the men and they saw ʿUkkāsha and Thābit lying killed — and the Muslims were shaken by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Buzakha — the man who walked off the field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لِي: إِنَّ لَكَ رَحًا كَرَحَاهُ، وَحَدِيثًا لَا تَنْسَاهُ. فَقَالَ عُيَيْنَةُ: قَدْ عَلِمَ اللَّهُ أَنَّهُ سَيَكُونُ حَدِيثٌ لَا تَنْسَاهُ، انْصَرِفُوا يَا بَنِي فَزَارَةَ فَإِنَّهُ كَذَّابٌ.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to me: you have a mill like his mill, and a matter you will not forget. ʿUyayna said: Allah knows there will…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after Buzakha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terms at Medina, and ʿUmar's ؓ objection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عمر: أما قولك: تدون قتلانا، فإنّ قتلانا قتلوا على أمر الله لا ديات لهم … وقال عمر في الثاني: نعم ما رأيت.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as for your saying 'and you pay blood-money for our dead' — our dead were killed upon the command of Allah; there…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Sahih al-Bukhari 7221, vol. 7, p. 27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after Buzakha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three things asked of the men who came…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عَلَيْكُمْ عَهْدُ اللَّهِ وَمِيثَاقُهُ لَتُؤْمِنُنَّ بِاللَّهِ وَرَسُولِهِ، وَلَتُقِيمُنَّ الصَّلَاةَ، وَلَتُؤْتُنَّ الزَّكَاةَ، وَتُبَايِعُونَ عَلَى ذَلِكَ أَبْنَاءَكُمْ وَنِسَاءَكُمْ. فَيَقُولُونَ: نَعَمْ.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"Upon you is Allah's covenant and His pact that you will believe in Allah and His Messenger, and establish the prayer, and pay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after Buzakha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Umm Zaml</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فَأَعْتَقَتْهَا وَرَجَعَتْ إِلَى قَوْمِهَا وَارْتَدَّتْ، وَاجْتَمَعَ إِلَيْهَا الْفَلُّ، فَأَمَرَتْهُمْ بِالْقِتَالِ، وَكَثُفَ جَمْعُهَا وَعَظُمَتْ شَوْكَتُهَا.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"She freed her, and she went back to her people and apostatised. The routed men gathered to her and she ordered them to fight,…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al-Fuja'a — the man who asked for weapons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قَدِمَ أَمَرَ أَبُو بَكْرٍ أَنْ تُوقَدَ لَهُ نَارٌ فِي مُصَلَّى الْمَدِينَةِ، ثُمَّ رُمِيَ بِهِ فِيهِ مَقْمُوطًا.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arrived, Abū Bakr ordered a fire kindled for him in the prayer-ground of Medina, and he was thrown into it bound hand…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al-Butah and Mālik b. Nuwayra ؓ — ⚠ SPEAKER'S…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هِيهِ يَا عُمَرُ! تَأَوَّلَ فَأَخْطَأَ، فَارْفَعْ لِسَانَكَ عَنْ خَالِدٍ، فَإِنِّي لَا أَشِيمُ سَيْفًا سَلَّهُ اللَّهُ عَلَى الْكَافِرِينَ.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Arabic Typesetting"/>
              </a:rPr>
              <a:t>answering عمر ؓ's «إِنَّ سَيْفَ خَالِدٍ فِيهِ رَهَقٌ» on the same page; his name is not inside the sentence — do not put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Arabic Typesetting"/>
              </a:rPr>
              <a:t>(the speaker is Abu Bakr ؓ, vol. 2, p. 213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 al-Yamama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ʿIkrima ؓ goes too early, and the letter that…</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لَا أَرَيَنَّكَ وَلَا تَرَانِي، لَا تَرْجِعَنَّ فَتُوهِنَ النَّاسَ، امْضِ إِلَى حُذَيْفَةَ وَعَرْفَجَةَ فَقَاتِلْ أَهْلَ عُمَانَ وَمَهْرَةَ، ثُمَّ تَسِيرُ أَنْتَ وَجُنْدُكَ تَسْتَبْرُونَ النَّاسَ، حَتَّى تَلْقَى مُهَاجِرَ بْنَ أَبِي أُمَيَّةَ بِالْيَمَنِ وَحَضْرَمَوْتَ.</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vol. 2, p. 214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tent and the prisoner — Aqraba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أيها الرجل إن كنتَ تريد بأهل اليمامة غدًا خيرًا أو شرًا فاستبق هذا الرجل … فاستبقاه خالد مقيدًا، وجعله في الخيمة مع امرأته، وقال: استوصي به خيرًا.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"Man — if you intend anything tomorrow for the people of Yamāma, good or ill, keep this man alive … So Khālid kept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 at Aqraba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line breaks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فكانت جولة وانهزمتِ الأعرابُ حتى دخلت بنو حنيفة خيمةَ خالد بن الوليد وهمّوا بقتل أم تميم، حتى أجارها مجاعة وقال: نعمتِ الحُرَّةُ هذه.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"There was a rout: the bedouin broke, until Banū Ḥanīfa entered Khālid b. al-Walīd's own tent and were minded to kill Umm Tamīm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 at Aqraba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Thābit b. Qays ؓ puts on his shroud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هَكَذَا عَنْ وُجُوْهِنَا نُقَارِعُ القَوْمَ، بِئْسَ مَا عَوَّدْتُم أَقْرَانَكُم، مَا هَكَذَا كُنَّا نُقَاتِلُ مَعَ رَسُوْلِ اللهِ ﷺ.</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"Get out of our faces so we can strike the enemy. Wretched is what you have accustomed your opponents to! This is not how…</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 Sahih al-Bukhari 2845, vol. 1, p. 311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 at Aqraba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«امتازوا» — the order that turned the day</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امْتَازُوا أَيُّهَا النَّاسُ لِنَعْلَمَ بَلَاءَ كُلِّ حَيٍّ، وَلِنَعْلَمَ مِنْ أَيْنَ نُؤْتَى … فَلَمَّا امْتَازُوا قَالَ بَعْضُهُمْ لِبَعْضٍ: الْيَوْمَ يُسْتَحَى مِنَ الْفِرَارِ.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"Separate out, people, so we may know what each clan is worth, and know from where we are being broken … and when they…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Hadiqat al-Mawt — al-Barāʾ ؓ over the wall</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مَعْشَرَ الْمُسْلِمِينَ، أَلْقُونِي عَلَيْهِمْ فِي الْحَدِيقَةِ. فَقَالُوا: لَا نَفْعَلُ، فَقَالَ: وَاللَّهِ لَتَطْرَحُنَّنِي عَلَيْهِمْ بِهَا! … وَقَاتَلَ عَلَى الْبَابِ وَفَتَحَهُ لِلْمُسْلِمِينَ.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"Company of Muslims — throw me over onto them into the garden. They said: we will not. He said: By Allah, you will throw…</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death of Musaylima, and what Waḥshī ؓ said…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وَعَنْ وَحْشِيٍّ، قَالَ: لَمْ أَرَ قَطُّ أَصْبَرَ عَلَى الْمَوْتِ مِنْ أَصْحَابِ مُسَيْلِمَةَ، ثُمَّ ذَكَرَ أَنَّهُ شَارَكَ فِي قَتْلِ مُسَيْلِمَةَ.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"From Waḥshī: I never saw men more steadfast in the face of death than Musaylima's companions — then he mentioned that he had 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 ), p. 48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treaty he was tricked into, and kept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وَوَصَلَ كِتَابُ أَبِي بَكْرٍ إِلَى خَالِدٍ أَنْ يَقْتُلَ كُلَّ مُحْتَلِمٍ، وَكَانَ قَدْ صَالَحَهُمْ، فَوَفَى لَهُمْ وَلَمْ يَغْدِرْ.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Abū Bakr's letter reached Khālid, ordering him to kill every man who had reached puberty — but he had already made terms with…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219</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Zayd b. al-Khaṭṭāb ؓ, and his brother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 يَقُوْلُ: أَسْلَمَ قَبْلِي، وَاسْتُشْهِدَ قَبْلِي … وَكَانَ يَقُوْلُ: مَا هَبَّتِ الصَّبَا إِلاَّ وَأَنَا أَجِدُ رِيْحَ زَيْدٍ.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used to say: He became Muslim before me and was martyred before me … And he used to say: The east wind never…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Juwatha under siege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أَلَا أَبْلِغْ أَبَا بَكْرٍ رَسُولًا … وَفِتْيَانَ الْمَدِينَةِ أَجْمَعِينَا فَهَلْ لَكُمُ إِلَى قَوْمٍ كِرَامٍ … قُعُودٍ فِي جُوَاثَا مُحْصَرِينَا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"Take a message to Abū Bakr, and to all the young men of Medina: have you any thought for a noble people, sitting besieged…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(also ), vol. 2, p. 222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sixteen riders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فَخَرَجَ مِنَ المَدِيْنَةِ فِي سِتَّةَ عَشَرَ رَاكِباً، وَكَتَبَ لَهُ كِتَاباً: أَنْ يَنْفِرَ مَعَهُ كُلُّ مَنْ مَرَّ بِهِ مِنَ المُسْلِمِيْنَ إِلَى عَدُوِّهِم.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left Medina with sixteen riders, and he wrote him a letter: that every Muslim he passed should march out with him against their…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264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trench month, and the nephew in the enemy…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فَدَخَلَ عَسْكَرَ الْمُسْلِمِينَ فَأَخْبَرَهُمْ أَنَّ الْقَوْمَ سُكَارَى، فَخَرَجَ الْمُسْلِمُونَ عَلَيْهِمْ، فَوَضَعُوا فِيهِمُ السَّيْفَ كَيْفَ شَاءُوا.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entered the Muslims' camp and told them that the people were drunk. So the Muslims went out at them and put the sword…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223</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Darin — into the water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قَدْ أَرَاكُمُ اللَّهُ مِنْ آيَاتِهِ فِي الْبَرِّ لِتَعْتَبِرُوا بِهَا فِي الْبَحْرِ، فَانْهَضُوا إِلَى عَدُوِّكُمْ وَاسْتَعْرِضُوا الْبَحْرَ.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"Allah has shown you of His signs on land so that you may take heed of them at sea. Rise against your enemy,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224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after Darin</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Thumāma b. Uthāl ؓ and the embroidered cloak</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فَقَالُوا لَهُ: أَنْتَ قَتَلْتَ الْحُطَمَ! فَقَالَ: لَمْ أَقْتُلْهُ، وَلَكِنِّي اشْتَرَيْتُهَا مِنَ الْمَغْنَمِ. فَوَثَبُوا عَلَيْهِ فَقَتَلُوهُ.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"They said to him: You killed al-Ḥuṭam! He said: I did not kill him — I bought it from the spoils. So they fell…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224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Daba — the relief that came from inside the…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وَاسْتَعْلَى لَقِيطٌ، وَرَأَى الْمُسْلِمُونَ الْخَلَلَ، وَرَأَى الْمُشْرِكُونَ الظَّفَرَ. فَبَيْنَمَا هُمْ كَذَلِكَ جَاءَتِ الْمُسْلِمِينَ مَوَادُّهُمُ الْعُظْمَى مِنْ بَنِي نَاجِيَةَ … وَمِنْ عَبْدِ الْقَيْسِ.</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"Laqīṭ got the upper hand; the Muslims saw the breach and the mushrikūn saw victory. And while they were in that state, the Muslims'…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226</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مَهْرة — the front won with a letter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وهما مختلفان، وكان هذا الاختلاف رحمة على المؤمنين، فراسل عكرمةُ شخريت فأجابه وانضاف إلى عكرمة فقوي بذلك المسلمون، وضعف جأش المصبح.</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two were at odds, and that discord was a mercy upon the believers. ʿIkrima wrote to Shikhrīt, and he answered him and joined…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صنعاء — the two women in the street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دَنَا مِنْهُ سَمِعَ امْرَأَتَيْنِ تَتَحَدَّثَانِ، فَقَالَتْ إِحْدَاهُمَا: هَذَا مَقْتُولٌ كَمَا قُتِلَ دَاذَوَيْهِ، فَخَرَجَ.</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came near, he heard two women talking, and one of them said: this one will be killed just as Dādhawayh was killed…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228</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Abū Bakr ؓ judges two men who fought against…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فعنَّفَهما وأنّبهما، فاعتذرا إليه فقبل منهما علانيتهما، ووكل سرائرهما إلى الله ﷿، وأطلقَ سراحهما وردّهما إلى قومهما.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rebuked them and reproved them; they excused themselves to him, and he accepted their outward profession from them, entrusted their inward states to…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43</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she-camel called Shadhra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حَارِثَةُ: ذَاكَ إِذَا كُنْتَ يَهُودِيًّا، وَأَطْلَقَ عِقَالَهَا وَبَعَثَهَا وَقَامَ دُونَهَا.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"Ḥāritha said: That would be so if you were a Jew — and he untied her hobble and drove her off and stood in…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230</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siege of the war…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النُّجَير — the name he forgot to write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فَأَجَارَ مَنْ فِي الْكِتَابِ، فَإِذَا الْأَشْعَثُ لَيْسَ مِنْهُمْ، فَقَالَ الْمُهَاجِرُ: الْحَمْدُ لِلَّهِ الَّذِي خَطَّأَ فَاكَ يَا أَشْعَثُ.</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"Every man in the document was spared — and al-Ashʿath was not among them. Al-Muhājir said: Praise be to Allah, who made your mouth…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232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in ʿUmar's ؓ caliphate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captives bought back</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إِنَّهُ لَقَبِيحٌ بِالْعَرَبِ أَنْ يَمْلِكَ بَعْضُهُمْ بَعْضًا</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(the ransom terms run on, vol. 2, p. 232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Ibn Kathīr says the whole war was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When Ibn Kathīr finishes the whole account, he stops and sums it up himself. He does not describe a conquest. He says there was no region of Arabia in which…. Landscape, architect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Qurʾān was collected because of this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فيها أمرَ الصديق زيدَ بن ثابتٍ أن يجمعَ القرآن من اللِّخاف والعُسُب وصدور الرجال، وذلك بعد ما استَحَرّ القتلُ في القُرّاء يوم اليمامة كما ثبت به الحديث في صحيح البخاري.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"In it, al-Ṣiddīq ordered Zayd b. Thābit to gather the Qurʾān from the flat stones and the palm-stalks and the breasts of men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Sahih al-Bukhari 4986, vol. 7, p. 79</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ʿUmar ؓ to Quraysh — the framing card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أَنَا وَاللَّهِ مِنْكُمْ عَلَى الْعَرَبِ أَخْوَفُ مِنِّي مِنَ الْعَرَبِ عَلَيْكُمْ، وَاللَّهِ لَوْ تَدْخُلُونَ، مَعَاشِرَ قُرَيْشٍ، جُحْرًا لَدَخَلَتْهُ الْعَرَبُ فِي آثَارِكُمْ، فَاتَّقُوا اللَّهَ فِيهِمْ.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Allah, I fear you for the Arabs more than I fear the Arabs for you. By Allah, if you</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209</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men of Badr who were kept out of…</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لَا أَسْتَعْمِلُ أَهْلَ بَدْرٍ، أَدَعُهُمْ حَتَّى يَلْقَوُا اللَّهَ بِصَالِحِ أَعْمَالِهِمْ، فَإِنَّ اللَّهَ يَدْفَعُ بِهِمْ وَبِالصَّالِحِينَ أَكْثَرَ مِمَّا يَنْتَصِرُ بِهِمْ. وَكَانَ عُمَرُ يَرَى اسْتِعْمَالَهُمْ عَلَى الْجُنْدِ وَغَيْرِهِ.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do not put the men of Badr into office. I leave them so they may meet Allah with their good deeds — for…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three-colour tribe — CUT, recorded so it is…</a:t>
            </a:r>
          </a:p>
        </p:txBody>
      </p:sp>
      <p:sp>
        <p:nvSpPr>
          <p:cNvPr id="6"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6634703"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5537423"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Already fully worked in `arabian-tribes-and-the-ridda-setup.md` §3.5, from البدایہ ج۷ ص۲۸: some of Banū Tamīm apostatised and withheld the zakāt; some sent their ṣadaqāt in to Med</a:t>
            </a:r>
          </a:p>
        </p:txBody>
      </p:sp>
      <p:sp>
        <p:nvSpPr>
          <p:cNvPr id="9" name="Rectangle 8"/>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13695" y="1499616"/>
            <a:ext cx="3911072" cy="457200"/>
          </a:xfrm>
          <a:prstGeom prst="rect">
            <a:avLst/>
          </a:prstGeom>
          <a:noFill/>
        </p:spPr>
        <p:txBody>
          <a:bodyPr wrap="square" lIns="36576" tIns="0" rIns="36576" bIns="0" anchor="t">
            <a:spAutoFit/>
          </a:bodyPr>
          <a:lstStyle/>
          <a:p>
            <a:pPr algn="l">
              <a:lnSpc>
                <a:spcPct val="125000"/>
              </a:lnSpc>
            </a:pPr>
            <a:r>
              <a:rPr sz="2800" b="1" i="0">
                <a:solidFill>
                  <a:srgbClr val="0A322E"/>
                </a:solidFill>
                <a:latin typeface="Georgia"/>
                <a:cs typeface="Georgia"/>
              </a:rPr>
              <a:t>Banū Tamīm in three…</a:t>
            </a:r>
          </a:p>
        </p:txBody>
      </p:sp>
      <p:sp>
        <p:nvSpPr>
          <p:cNvPr id="11" name="TextBox 10"/>
          <p:cNvSpPr txBox="1"/>
          <p:nvPr/>
        </p:nvSpPr>
        <p:spPr>
          <a:xfrm>
            <a:off x="7713695" y="1920240"/>
            <a:ext cx="3911072" cy="4306824"/>
          </a:xfrm>
          <a:prstGeom prst="rect">
            <a:avLst/>
          </a:prstGeom>
          <a:noFill/>
        </p:spPr>
        <p:txBody>
          <a:bodyPr wrap="square" lIns="36576" tIns="0" rIns="36576" bIns="0" anchor="t">
            <a:spAutoFit/>
          </a:bodyPr>
          <a:lstStyle/>
          <a:p>
            <a:pPr algn="l">
              <a:lnSpc>
                <a:spcPct val="120000"/>
              </a:lnSpc>
            </a:pPr>
            <a:r>
              <a:rPr sz="2400" b="0" i="0">
                <a:solidFill>
                  <a:srgbClr val="5A6862"/>
                </a:solidFill>
                <a:latin typeface="Segoe UI"/>
                <a:cs typeface="Traditional Arabic"/>
              </a:rPr>
              <a:t>Already fully worked in arabian-tribes-and-the-ridda-setup.md §3.5, from البدایہ…</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Usama ؓ, and the Qur'an collected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in the Prophet's ﷺ lifetime, 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appointment nobody liked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 تَطْعُنوا في إمارَتِهِ فَقَدْ كُنْتُمْ تَطْعُنون في إمارةِ أبيه منْ قَبْلُ، وايْمُ اللَّهِ إن كان لخليقًا للإمارة، وإن كان لمنْ أحَبِّ النّاس إليَّ، وإنَّ هذا لمِنْ أحبِّ الناسِ إليَّ بَعْدَه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"If you find fault with his command, you found fault with his father's command before him. And by Allah, he was fit for command,…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5, p. 311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the day after the Prophet ﷺ…</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crier, the morning after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نادى منادي أبي بكر من الغد من مُتوفَّى رسول الله ﷺ ليتمّم بعثَ أسامةَ: ألا لا يبقين بالمدينة أحدٌ من جيش أسامة إلَّا خرج إلى عسكره بالجُرف</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"أبو بكر's crier called out, the day after the death of the Messenger of Allah ﷺ, to complete أسامة's expedition: 'Let no one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8</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connected…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will not untie a knot"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والذي نفس أبي بكر بيده لو ظننت أن السباعَ تَخْطفني لأنفذتُ بعثَ أسامةَ كما أمرَ به رسولُ الله ﷺ؛ ولو لم يبقَ في القرى غيري لأنفذته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"By Him in whose hand is أبو بكر's soul — if I thought the wild beasts would snatch me away, I would still send…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beard, and the man who would not be…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ثَكِلَتْكَ أُمُّكَ يَا ابْنَ الْخَطَّابِ! اسْتَعْمَلَهُ رَسُولُ اللَّهِ - صَلَّى اللَّهُ عَلَيْهِ وَسَلَّمَ - وَتَأْمُرُنِي أَنْ أَعْزِلَهُ؟!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"May your mother lose you, son of الخطاب! The Messenger of Allah ﷺ appointed him — and you order me to depose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195</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caliph on foot</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أسامةُ: يا خليفةَ رسولِ الله: إما أن تركبَ وإما أن أنزلَ، فقال: والله لستَ بنازلٍ ولستُ براكب</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"أسامة said: 'O successor of the Messenger of Allah, either you ride or I dismount.' He said: 'By Allah, you shall not dismount,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marched 11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Forty days, and what the tribes concluded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فجعل لا يمرُّ بقبيل يريدون الارتداد إلَّا قالوا: لولا أن لهؤلاء قوةً ما خرجَ مثلُ هؤلاء من عندهم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passed no tribe intending to break away but they said: 'Were it not that these people have strength, men like these would not…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and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"Peace be upon you, commander"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السَّلاَمُ عَلَيْكَ أَيُّهَا الأَمِيْرُ وَرَحْمَةُ اللهِ! تُوُفِّيَ رَسُوْلُ اللهِ -صَلَّى اللَّهُ عَلَيْهِ وَسَلَّمَ- وَأَنْتَ عَلَيَّ أَمِيْرٌ.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"Peace be upon you, commander, and the mercy of Allah! The Messenger of Allah ﷺ died while you were my commander."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501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told later, about 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oath of أبو ہریرہ ؓ</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والله الذي لا إله إلَّا هو، لولا أن أبا بكر استُخلف ما عُبد الله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"By Allah, besides whom there is no god — had أبو بكر not been made successor, Allah would not have been worshipped."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 : begun 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killing ran hot among the reciters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وقتل من المسلمين ستمئة، وقيل: خمسمئة، فالله أعلم، وفيهم من سادات الصحابة، وأعيان الناس من يُذكر بعد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"Six hundred of the Muslims were killed — and it is said five hundred — and Allah knows best. Among them were leaders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35</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"How can we do a thing the Messenger of…</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فَقُلْتُ: كَيْفَ تَفْعَلُوْنَ شَيْئاً لَمْ يَفْعَلْهُ رَسُوْلُ اللهِ -صَلَّى اللَّهُ عَلَيْهِ وَسَلَّمَ-. قَالَ: هُوَ -وَاللهِ- خَيْرٌ. فَلَمْ يَزَلْ أَبُو بَكْرٍ يُرَاجِعُنِي حَتَّى شَرَحَ اللهُ صَدْرِي لِلَّذِي شَرَحَ لَهُ صَدْرَ أَبِي بَكْرٍ وَعُمَر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said: 'How will you do a thing the Messenger of Allah ﷺ did not do?' He said: 'By Allah, it is good.'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Parchment, shoulder-blades, palm-stalks, and the breasts of men</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فَكُنْتُ أَتَتَبَّعُ القُرْآنَ، أَجْمَعُهُ مِنَ الرِّقَاعِ، وَالأَكْتَافِ، وَالعُسُبِ، وَصُدُوْرِ الرِّجَالِ.</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I began to track down the Qur'an, gathering it from the parchments, the shoulder-blades, the palm-stalks, and the breasts of men."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undated — ؓ is speaking…</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علی ؓ on who deserves the credit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أعظم الناس أجرا في المصاحف أبو بكر، كان أول من جمع القرآن بين اللوحين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 greatest of men in reward in the matter of the مصاحف is أبو بكر — he was the first to gather the Qur'an…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15</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and then across two more…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Where the صحف went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فأرسل إلى حفصة أم المؤمنين: أن أرسلي بالصحف التي جمع فيها القرآن، فأرسلت إليه بها … ثم رد عثمان الصحف إلى حفصة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"So he sent to حفصة, mother of the believers: 'Send us the صحف in which the Qur'an was gathered.' And she sent them to…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157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men had it by heart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جَمَعَ القُرْآنَ عَلَى عَهْدِ رَسُوْلِ اللهِ أَرْبَعَةٌ، كُلُّهُمْ مِنَ الأَنْصَارِ: أُبَيٌّ، وَمُعَاذٌ، وَزَيْدُ بنُ ثَابِتٍ، وَأَبُو زَيْد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"Four gathered the Qur'an in the time of the Messenger of Allah, all of them from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(also, vol. 2, p. 431</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 onward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boy who learned the Jews' script in a…</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يَا زَيْدُ! تَعَلَّمْ لِي كِتَابَ يَهُوْدٍ، فَإِنِّي -وَاللهِ- مَا آمَنُهُمْ عَلَى كِتَابِي</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"زيد! Learn for me the writing of the Jews, for by Allah I do not trust them with my correspondence."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–429 (the last word falls on ), vol. 2, p. 428</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What المدینہ felt like, in عائشة ؓ's words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لقد نزل بأبي ما لو نزل بالجبال الراسيات لهاضها … وصار أصحاب محمد ﷺ كأنهم مِعْزًى مطيرة في حُشٍّ في ليلة مطيرة بأرض مَسْبَعَة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Allah, there descended upon my father what, had it descended upon the firm-set mountains, would have broken them … and the Companions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 with…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first victory he never fought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أمضى أبو بكر جيشَ أسامةَ بن زيد في آخر ربيع الأول، وأتى مقتل الأسود في آخر ربيع الأول بعد مخرج أسامة، فكان ذلك أولَ فَتْحٍ فَتَحَ أبو بكر وهو بالمدينة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"أبو بكر sent out أسامة بن زيد's army at the end of ربيع الأول, and news of الأسود's killing came at the end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The death of Abu Bakr ؓ, and the succession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bath on a cold day</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وعن عائشة قالت: أول ما بدئ مرض أبي بكر أنه اغتسل، وكان يوما باردًا فحم خمسة عشر يوما لا يخرج إلى صلاة، وكان يأمر عمر بالصلاة، وكانوا يعودونه، وكان عثمان ألزمهم له في مرضه.</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Arabic Typesetting"/>
              </a:rPr>
              <a:t>"ʿĀʾisha ؓ said: the beginning of Abū Bakr's illness was that he bathed on a cold day and was feverish for fifteen days, not…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16</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during the fifteen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doctor has already been"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وَلَمَّا مَرِضَ قَالَ لَهُ النَّاسُ: أَلَا نَدْعُوَ الطَّبِيبَ؟ قَالَ: قَدْ أَتَانِي وَقَالَ لِي: أَنَا فَاعِلٌ مَا أُرِيدُ. فَعَلِمُوا مُرَادَهُ وَسَكَتُوا عَنْهُ، ثُمَّ مَاتَ.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fell ill the people said to him: shall we not call the physician? He said: he has already come to me,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 of the illness…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He asks عبد الرحمن بن عوف ؓ about عمر…</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إِنَّهُ أَفْضَلُ مِنْ رَأْيِكَ إِلَّا أَنَّهُ فِيهِ غِلْظَةٌ. فَقَالَ أَبُو بَكْرٍ: ذَلِكَ لِأَنَّهُ يَرَانِي رَقِيقًا، وَلَوْ أَفْضَى الْأَمْرُ إِلَيْهِ لَتَرَكَ كَثِيرًا مِمَّا هُوَ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he is better than your opinion of him — except that there is harshness in him. Abū Bakr said: that is because…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He asks عثمان ؓ, and hears about himself in…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علمي فيه أن سريرته خير من علانيته وأنه ليس فينا مثله فقال: يرحمك الله، والله لو تركته ما عدوتك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"What I know of him is that his inward is better than his outward, and that there is none among us like him.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 of the illness…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objection, and "sit me up"</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أَبُو بَكْرٍ: أَجْلِسُونِي، فَأَجْلَسُوهُ، فَقَالَ: أَبِاللَّهِ تُخَوِّفُنِي! إِذَا لَقِيتُ رَبِّي فَسَأَلَنِي قُلْتُ: اسْتَخْلَفْتُ عَلَى أَهْلِكَ خَيْرَ أَهْلِكَ.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Bakr said: sit me up. They sat him up. He said: do you frighten me with God? When I meet my Lord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pen keeps writing while he is unconscious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أَفَاقَ أَبُو بَكْرٍ فَقَالَ: اقْرَأْ عَلَيَّ. فَقَرَأَ عَلَيْهِ، فَكَبَّرَ أَبُو بَكْرٍ وَقَالَ: أَرَاكَ خِفْتَ أَنْ يَخْتَلِفَ النَّاسُ إِنْ مُتُّ فِي غَشْيَتِي. قَالَ: نَعَمْ. قَالَ: جَزَاكَ اللَّهُ خَيْرًا عَنِ الْإِسْلَامِ وَأَهْلِهِ.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Abū Bakr came round and said: read it to me. He read it to him, and Abū Bakr said takbīr and said: I…</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have not appointed a relative over you"</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أَتَرْضُونَ بِمَنِ اسْتَخْلَفْتُ عَلَيْكُمْ؟ فَإِنِّي مَا اسْتَخْلَفْتُ عَلَيْكُمْ ذَا قَرَابَةٍ، وَإِنِّي قَدِ اسْتَخْلَفْتُ عَلَيْكُمْ عُمَرَ فَاسْمَعُوا لَهُ وَأَطِيعُوا، فَإِنِّي وَاللَّهِ مَا أَلَوْتُ مِنْ جُهْدِ الرَّأْيِ.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"Are you content with the one I have appointed over you? For I have not appointed over you a relative of mine. I have…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covenant itself</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هذا ما عهد أبو بكر بن أبي قحافة في آخر عهده بالدنيا خارجا منها، وعند أول عهده بالآخرة داخلا فيها، حيث يؤمن الكافر، ويوقن الفاجر، ويصدق الكاذب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"This is what Abū Bakr ibn Abī Quḥāfa covenants at the last of his time with this world, going out of it, and 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–17, p. 16</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list of what he owned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وليس عندنا من فيء المسلمين شيء إلا هذا العبد الحبشي وهذا البعير الناضح وجرد هذه القطيفة، فإذا مت فابعثي بهن إلى عمر، ففعلت.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"We have nothing of the Muslims' fayʾ except this Abyssinian servant, this water-carrying camel, and the worn nap of this blanket. When I die,…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his death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 weeps, and refuses to give it back</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لَا وَالَّذِي بَعَثَ مُحَمَّدًا - صَلَّى اللَّهُ عَلَيْهِ وَسَلَّمَ - لَا يَكُونُ هَذَا فِي وِلَايَتِي، وَلَا خَرَجَ أَبُو بَكْرٍ مِنْهُ وَأَتَقَلَّدُهُ أَنَا.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"He said: no, by the One who sent Muḥammad ﷺ — this shall not happen under my authority. Abū Bakr did not get clear…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Sell my land and pay them back</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حَضَرَتْهُ الْوَفَاةُ أَوْصَى أَنْ تُبَاعَ أَرْضٌ لَهُ وَيُصْرَفَ ثَمَنُهَا عِوَضَ مَا أَخَذَهُ مِنْ مَالِ الْمُسْلِمِينَ.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death came to him he directed that land of his be sold and its price paid over in compensation for what he had…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his death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One dinar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وَلَمَّا تُوُفِّيَ أَبُو بَكْرٍ جَمَعَ عُمَرُ الْأُمَنَاءِ وَفَتَحَ بَيْتَ الْمَالِ، فَلَمْ يَجِدُوا فِيهِ شَيْئًا غَيْرَ دِينَارٍ سَقَطَ مِنْ غِرَارَةٍ، فَتَرَحَّمُوا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Abū Bakr died, ʿUmar gathered the trustees and opened the treasury. They found nothing in it but a single dinar that had fallen…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hours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daughter's verse, and the father's correction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فرفع راسه وقال: يا بنية ليس كذاك، ولكن كما قال الله تعالى: {وَجَاءَتْ سَكْرَةُ الْمَوْتِ بِالْحَقِّ ذَلِكَ مَا كُنْتَ مِنْهُ تَحِيدُ} [ق: ١٩]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lifted his head and said: little daughter, it is not so; rather it is as God said — 'and the agony of death…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18</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hours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shroud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وَقَالَ: الْحَيُّ أَحْوَجُ إِلَى الْجَدِيدِ مِنَ الْمَيِّتِ، إِنَّمَا هُوَ لِلْمُهْلَةِ وَالصَّدِيدِ.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the living have more need of the new than the dead — this is only for the decay."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262</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Monday evening, 8 nights remaining of…</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Monday night, and a grave already dug beside another</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وقالت عائشة: مات ليلة الثلاثاء، ودفن قبل أن يصبح.</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Arabic Typesetting"/>
              </a:rPr>
              <a:t>"ʿĀʾisha ؓ said: he died on the night of Tuesday, and was buried before morning came."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 the burial</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علي ؓ speaks over the body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دخل علي على أبي بكر بعد ما سجي، فقال: ما أحد ألقى الله بصحيفته أحب إلي من هذا المسجي.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"ʿAlī came in to Abū Bakr after he had been laid out, and said: there is no one whose record I would rather meet…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moment</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last words</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وَكَانَ آخِرُ مَا تَكَلَّمَ بِهِ: تَوَفَّنِي مُسْلِمًا وَأَلْحِقْنِي بِالصَّالِحِينَ.</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last thing he spoke was: take me as a Muslim, and join me to the righteous."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263</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 at the Syrian front…</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news reaches اليرموك</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وما فرحوا بما وجدوا بقدر حزنهم على الصدِّيق حين أعلمهم خالد بذلك، ولكن عوضهم الله بالفاروق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"Their joy at what they found was not equal to their grief for the Ṣiddīq when Khālid told them of it — but God…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97</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day of the burial</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 takes the minbar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إِنَّمَا مَثَلُ الْعَرَبِ مَثَلُ جَمَلٍ أَنِفٍ اتَّبَعَ قَائِدَهُ، فَلْيَنْظُرْ قَائِدُهُ حَيْثُ يَقُودُهُ، وَأَمَّا أَنَا فَوَرَبِّ الْكَعْبَةِ لَأَحْمِلَنَّكُمْ عَلَى الطَّرِيقِ!</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Arabs are only like a nose-ringed camel that follows its driver — so let its driver look where he is leading it. As…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268</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the covenant was read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وصية to عمر ؓ — the two rights…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عُمَرُ، إِنَّ لِلَّهِ حَقًّا بِاللَّيْلِ لَا يَقْبَلُهُ فِي النَّهَارِ، وَحَقًّا فِي النَّهَارِ لَا يَقْبَلُهُ بِاللَّيْلِ، وَإِنَّهُ لَا يَقْبَلُ نَافِلَةً حَتَّى تُؤَدَّى الْفَرِيضَةُ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 God has a right by night that He does not accept by day, and a right by day that He does not…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 and six months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His father outlives him</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وعن مجاهد قال: كلم أبو قحافة في ميراثه من ابنه، فقال: قد رددت ذلك على ولده، ثم لم يعش بعده إلا ستة أشهر وأياما.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"Mujāhid said: Abū Quḥāfa was spoken to about his inheritance from his son, and he said: I have returned that to his children. Then…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first six months of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kept milking their goats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فَسَمِعَهَا فَقَالَ: بَلَى لَعَمْرِي لَأَحْلِبَنَّهَا لَكُمْ، وَإِنِّي لَأَرْجُو أَنْ لَا يُغَيِّرَ بِي مَا دَخَلْتُ فِيهِ. فَكَانَ يَحْلِبُ لَهُمْ.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heard her and said: on the contrary — by my life, I shall milk them for you; and I hope that what I…</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 year before the death, on…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illness, second account — the poison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الحارث: ارفع يدك يا خليفة رسول الله، والله إن فيها لسم سنة، وأنا وأنت نموت في يوم واحد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"al-Ḥārith said: lift your hand, Caliph of the Messenger of God — by God, there is a year's poison in this, and you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–16, p. 15</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three regrets</a:t>
            </a:r>
          </a:p>
        </p:txBody>
      </p:sp>
      <p:sp>
        <p:nvSpPr>
          <p:cNvPr id="6"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6634703"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5537423"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الذہبی carries, through صالح بن كيسان, a long deathbed report in which أبو بكر ؓ lists three things he wishes he had not done, three he wishes he had done,…. Landscape, architectu</a:t>
            </a:r>
          </a:p>
        </p:txBody>
      </p:sp>
      <p:sp>
        <p:nvSpPr>
          <p:cNvPr id="9" name="Rectangle 8"/>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13695" y="1499616"/>
            <a:ext cx="3911072" cy="457200"/>
          </a:xfrm>
          <a:prstGeom prst="rect">
            <a:avLst/>
          </a:prstGeom>
          <a:noFill/>
        </p:spPr>
        <p:txBody>
          <a:bodyPr wrap="square" lIns="36576" tIns="0" rIns="36576" bIns="0" anchor="t">
            <a:spAutoFit/>
          </a:bodyPr>
          <a:lstStyle/>
          <a:p>
            <a:pPr algn="l">
              <a:lnSpc>
                <a:spcPct val="125000"/>
              </a:lnSpc>
            </a:pPr>
            <a:r>
              <a:rPr sz="2800" b="1" i="0">
                <a:solidFill>
                  <a:srgbClr val="0A322E"/>
                </a:solidFill>
                <a:latin typeface="Georgia"/>
                <a:cs typeface="Georgia"/>
              </a:rPr>
              <a:t>none.</a:t>
            </a:r>
          </a:p>
        </p:txBody>
      </p:sp>
      <p:sp>
        <p:nvSpPr>
          <p:cNvPr id="11" name="TextBox 10"/>
          <p:cNvSpPr txBox="1"/>
          <p:nvPr/>
        </p:nvSpPr>
        <p:spPr>
          <a:xfrm>
            <a:off x="7713695" y="1920240"/>
            <a:ext cx="3911072" cy="4306824"/>
          </a:xfrm>
          <a:prstGeom prst="rect">
            <a:avLst/>
          </a:prstGeom>
          <a:noFill/>
        </p:spPr>
        <p:txBody>
          <a:bodyPr wrap="square" lIns="36576" tIns="0" rIns="36576" bIns="0" anchor="t">
            <a:spAutoFit/>
          </a:bodyPr>
          <a:lstStyle/>
          <a:p>
            <a:pPr algn="l">
              <a:lnSpc>
                <a:spcPct val="120000"/>
              </a:lnSpc>
            </a:pPr>
            <a:r>
              <a:rPr sz="2400" b="0" i="0">
                <a:solidFill>
                  <a:srgbClr val="5A6862"/>
                </a:solidFill>
                <a:latin typeface="Segoe UI"/>
                <a:cs typeface="Traditional Arabic"/>
              </a:rPr>
              <a:t>الذہبی carries, through صالح بن كيسان, a long…</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Iraq, Shām, and Yarmuk</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AH [SOURCED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order to Iraq</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وأن يَتألَّفَ الناسَ ويدعوهم إلى الله ﷿، فإن أجابوا وإلا أخذ منهم الجزيةَ فإن امتنعوا عن ذلك قاتلهم، وأمره أن لا يُكْرِه أحدًا على المسير معه، ولا يستعينُ بمنِ ارتدّ عن الإسلام وإن كان [قد] عاد إليه</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"…that he should win the people over and call them to God; if they answered, well, and if not, take the jizya from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62</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AH [SOURCED — 7…</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letter to the marzubāns of Persia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فابعثوا إليَّ بالرُّهن واعتقدوا مني الذِّمة، و (إلا) فوالذي لا إله غيره لأبعثن إليكم قومًا يحبّون الموتَ كما تحبّون أنتم الحياة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send me hostages and take a covenant of protection from me. Otherwise — by Him beside whom there is no god — I…</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64</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AH [SOURCED — 7…</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poison cup at al-Ḥīra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إنه لن تموت نفس حتى تأتي على أجلها … بسم الله خير الأسماء، رب الأرض والسماء، الذي ليس يضرُ مع اسمه داء، الرحمن الرحيم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"No soul dies until it reaches its appointed term … In the name of God, best of names, Lord of earth and sky, with…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70</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AH [SOURCED…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secret ḥajj and the letter of reproof</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فليهنئك أبا سليمان النية والحظوة، فأتممْ يُتمِّمِ الله لكَ، ولا يدخلنك عُجْبٌ فتخسر وتخذل، وإياكَ أن تُدلَّ بعمل فإنَّ اللهَ له المنُّ وهو وليّ الجزاء</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"May the intention and the favour bring you joy, Abū Sulaymān; finish, and God will finish for you. But let no self-admiration enter you,…</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78</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 [SOURCED — 7…</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march across the waterless desert</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وَاللَّهِ مَا وَرَدْتُ هَذَا الْمَاءَ قَطُّ إِلَّا مَرَّةً وَاحِدَةً مَعَ أَبِي وَأَنَا غُلَامٌ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 have come to this water only once in my life — with my father, when I was a boy."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253</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 [SOURCED — 7…</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"At daybreak the people praise the night march"</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عندَ الصَّباح يحمد القوم السُّرى</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"At daybreak the people praise the night march."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88</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early 13 AH [SOURCED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commanders, four roads</a:t>
            </a:r>
          </a:p>
        </p:txBody>
      </p:sp>
      <p:sp>
        <p:nvSpPr>
          <p:cNvPr id="6" name="TextBox 5"/>
          <p:cNvSpPr txBox="1"/>
          <p:nvPr/>
        </p:nvSpPr>
        <p:spPr>
          <a:xfrm>
            <a:off x="566928" y="218084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﴿يَابَنِيَّ لَا تَدْخُلُوا مِنْ بَابٍ وَاحِدٍ وَادْخُلُوا مِنْ أَبْوَابٍ مُتَفَرِّقَةٍ﴾ [يوسف: ٦٧]</a:t>
            </a:r>
          </a:p>
        </p:txBody>
      </p:sp>
      <p:sp>
        <p:nvSpPr>
          <p:cNvPr id="7" name="Rectangle 6"/>
          <p:cNvSpPr/>
          <p:nvPr/>
        </p:nvSpPr>
        <p:spPr>
          <a:xfrm>
            <a:off x="566928" y="404622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357116"/>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–84 (opening words), vol. 7, p. 83</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 nights remaining of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spy's report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بِاللَّيْلِ رُهْبَانٌ وَبِالنَّهَارِ فُرْسَانٌ، وَلَوْ سَرَقَ ابْنُ مَلِكِهِمْ قَطَعُوهُ، وَلَوْ زَنَى رُجِمَ … فَقَالَ: إِنْ كُنْتَ صَدَقْتَنِي لَبَطْنُ الْأَرْضِ خَيْرٌ مِنْ لِقَاءِ هَؤُلَاءِ عَلَى ظَهْرِهَا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night monks, by day horsemen; if their king's son stole they would cut off his hand, and if he committed adultery he would…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261</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morning of Yarmuk [SOURCED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Khālid ؓ hands the command round</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 هذا يوم من أيام الله، لا ينبغي فيه الفخر ولا البغي … فتعالوا فلنتعاور الإمارة فليكن عليها بعضُنا اليوم والآخر غدًا والآخر بعد غد، حتى يتأمَّر كلكم، ودعوني اليوم أليكم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"This is a day of God's days — there should be no boasting in it and no aggression … So come, let us take…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89</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Yarmuk [SOURCED — 7 91–92]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"Armies are made many by victory"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ويلك، أتخوّفني بالروم؟ وإنما تكثر الجنود بالنصر، وتقل بالخذلان لا بعدد الرجال</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"Woe to you — are you frightening me with the Romans? Armies are made many by victory and few by abandonment, not by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92</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Yarmuk [SOURCED — 7 95–96]</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Jirja and the two rakʿas</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وأُصيب جرجة ﵀ ولم يصل لله إلا تلك الركعتين مع خالد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Jirja was killed, and he never prayed to God but those two rakʿas with Khālid."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96</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Yarmuk, and the death of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courier in the middle of the battle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فأسرّها خالدٌ ولم يُبْد ذلك للناس لئلا يحصل ضعفٌ ووهنٌ في تلك الحال، وقال له والناسُ يسمعون: أحسنتَ</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"Khālid kept it secret and did not show it to the men, lest weakness and faltering set in at such a moment —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95</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mid 14 AH per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Damascus, taken two ways at once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فَالْتَقَى خَالِدٌ وَالْقُوَّادُ فِي وَسَطِهَا، هَذَا قَتْلًا وَنَهْبًا، وَهَذَا صَفْحًا وَتَسْكِينًا، فَأَجْرَوْا نَاحِيَةَ خَالِدٍ مَجْرَى الصُّلْحِ</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"Khālid and the other commanders met in the middle of the city — this one killing and plundering, that one pardoning and calming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270</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or 14 AH; the sequence…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Fiḥl — the mud they laid themselves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وأسلمتهم هزيمتهم إلى ذلك الوحل الذي كانوا قد كادوا به المسلمين فغرَّقهم الله فيه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their rout delivered them into the very mud with which they had meant to trap the Muslims, and God drowned them in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113</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13 AH, on ʿUmar ؓ's accession…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removal, and what the two men said</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خالد: بعث إليكم أمين هذه الأمة، سمعتُ رسول الله ﷺ يقول: "أمينُ هذه الأمة أبو عبيدة بن الجراح". فقال أبو عبيدة: سمعت رسول الله ﷺ يقول: "خالدٌ سيفٌ من سيوف الله، نِعْمَ فَتى العشيرة"</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Khālid said: "He has sent you the trustee of this community — I heard the Messenger of God ﷺ say: 'The trustee of this…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236</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15 AH (after Qinnasrīn), and again…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did not remove him for any suspicion"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يرحمُ الله أبا بكر، كان أعلمَ بالرجالِ مني، واللّهِ إنِّي لم أعزلْهُ عن ريبةٍ ولكن خشيتُ أن يُوكلَ الناسُ إليه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"May God have mercy on Abū Bakr — he knew men better than I do. By God, I did not remove him for any…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153</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 at Homs [SOURCED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death on the bed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وما من عملي شيءٌ أرْجَى عندي بعد لا إله إلا الله من ليلة بتُّها وأنا مُتَترّسٌ والسماء تهلّني ننتظر الصبح حتى نُغير على الكفار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"There is nothing of my deeds I hope in more, after 'there is no god but God', than one night I passed under my…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239</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Yarmuk [SOURCED — 7…</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the Romans said about why they lost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The defeated troops came back to Heraclius. He asked them a plain question: are these men not human beings like you? They said yes. Are you not more numerous? They…. Landscape, ar</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AH, and again…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Romans in chains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فَتيمَّنَ المسلمون بذلك وقالوا هذا طائر مشؤوم قيدوا نفوسهم بالحديد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took it as a good omen for themselves and said: this is an ill-omened bird — they have shackled their own souls…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65</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morning of Yarmuk [SOURCED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judge and the reciter</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والقاضي يومئذ أبو الدرداء، وقاصّهم الذي يعظُهم ويحثُّهم على القتال أبو سفيان بن حرب، وقارؤهم الذي يدور على الناس فيقرأ سورة الأنفال وآياتِ الجهاد المِقْداد بن الأسود</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–90 · the list begins at (), vol. 7, p. 89</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al-Qadisiyya, the embassy to Rustam, and al-Mada'</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the morning after Abu Bakr…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Nobody would go to Persia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نَدَبَ النَّاسَ وَهُوَ يُبَايِعُهُمْ، ثَلَاثًا، وَلَا يَنْتَدِبُ أَحَدٌ إِلَى فَارِسَ، وَكَانُوا أَثْقَلَ الْوُجُوهِ عَلَى الْمُسْلِمِينَ، وَأَكْرَهَهُمْ إِلَيْهِمْ لِشِدَّةِ سُلْطَانِهِمْ وَشَوْكَتِهِمْ وَقَهْرِهِمُ الْأُمَمَ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he called the people while taking their pledge — three times — and no one volunteered for Persia. They were the heaviest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273</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the fourth day of the…</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command goes to the first man who volunteered</a:t>
            </a:r>
          </a:p>
        </p:txBody>
      </p:sp>
      <p:sp>
        <p:nvSpPr>
          <p:cNvPr id="6" name="TextBox 5"/>
          <p:cNvSpPr txBox="1"/>
          <p:nvPr/>
        </p:nvSpPr>
        <p:spPr>
          <a:xfrm>
            <a:off x="566928" y="221284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وَاللَّهِ لَا أُؤَمِّرُ عَلَيْهِمْ إِلَّا أَوَّلَهُمُ انْتِدَابًا</a:t>
            </a:r>
          </a:p>
        </p:txBody>
      </p:sp>
      <p:sp>
        <p:nvSpPr>
          <p:cNvPr id="7" name="Rectangle 6"/>
          <p:cNvSpPr/>
          <p:nvPr/>
        </p:nvSpPr>
        <p:spPr>
          <a:xfrm>
            <a:off x="566928" y="351129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22192"/>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 will appoint over them none but the first of them to volunteer."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273</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Bridge — the defeat that opened the Iraq…</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المسلمون لأميرهم أبي عبيد: أُؤْمُرْهُمْ فليعبروا هم إلينا. فقال: ما هُم بأجرأ على الموت منّا، ثم اقتحمَ إليهم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said to their commander Abū ʿUbayd: order them, and let them cross to us. He said: they are no bolder in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116</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days after the Bridge…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«أنا فئة كل مسلم» — the caliph takes the…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اللَّهُمَّ إِنَّ كُلَّ مُسْلِمٍ فِي حِلٍّ مِنِّي، أَنَا فِئَةُ كُلِّ مُسْلِمٍ، يَرْحَمُ اللَّهُ أَبَا عُبَيْدٍ! لَوْ كَانَ انْحَازَ إِلَيَّ لَكُنْتُ لَهُ فِئَةً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 God, every Muslim is absolved by me. I am the refuge of every Muslim. May God have mercy on Abū ʿUbayd — had…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278</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1 14</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 is talked out of leading the campaign…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إنِّي أخشى إن كسرتَ أن يضعفَ المسلمون في سائر أقطار الأرض، وإني أرى أن تبعث رجلًا وترجع أنت إلى المدينة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fear that if you are broken, the Muslims will be weakened in every quarter of the earth. My view is that you send…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129</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14, at the parting</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«لا يغرنَّك من الله أن قيل: خالُ رسول الله…</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سعد بن أبي وقاص ؓ was a Zuhrī, of the clan of the Prophet's ﷺ own mother. People called him "the maternal uncle of the Messenger of God ﷺ." He…. Landscape, architecture, objects o</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14 (the year is disputed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رِبْعي بن عامر ؓ walks his horse across the…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الله ابتعثنا لنخرج من شاء من عبادة العباد إلى عبادة الله، ومن ضيق الدنيا إلى سعتها، ومن جَور الأديان إلى عدل الإسلام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"God sent us out to bring whom He wills out of the worship of servants into the worship of God; and out of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134</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«ولكن المسلمون كالجسد الواحد» — and رستم's own verdict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رستم asked for time to consider. رِبْعي ؓ said: how much — a day, two? The commander said: until I write to our men of judgement and our chiefs. رِبْعي…. Landscape, architecture,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third day of the embassies…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«إِنَّا مَعْشَرَ الْعَرَبِ لَا نَسْتَعْبِدُ بَعْضَنَا بَعْضًا»</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إِنَّا مَعْشَرَ الْعَرَبِ لَا نَسْتَعْبِدُ بَعْضَنَا بَعْضًا … الْيَوْمَ عَلِمْتُ أَنَّكُمْ مُغَلَّبُونَ، وَأَنَّ مُلْكًا لَا يَقُومُ عَلَى هَذِهِ السِّيرَةِ وَلَا عَلَى هَذِهِ الْعُقُولِ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"We Arabs do not enslave one another … Today I have learnt that you will be overcome, and that a kingdom does not stand…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299</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 the battle</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«فبعث الله إلينا رجلًا معروفًا نعرف نسبَه» — before…</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فبعث الله إلينا رجلًا معروفًا نعرف نسبَه ونعرفُ وجهَه ومولدَه، فأرضه خير أرضنا، وحَسَبُه خيرُ أحسابنا، وبيتُه خيرُ بيوتنا، وقبيلتُه خيرُ قبائنا، وهو نفسه كان خيرَنا في الحال التي كان فيها أصدقنا وأحلمنا</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God sent to us a man we knew — we knew his lineage, and we knew his face, and we knew his birth.…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137</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four days of al-Qadisiyya, 14…</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commander who could not sit up</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فيقالُ: إن سعدًا نزل إلى الناس فاعتذر إليهم مما فيه من القروح في فخذيه وأليتيه، فعذره الناسُ</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"It is said that Saʿd came down to the people and excused himself to them for the sores in his thighs and hips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141</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Four days, and a night called الهرير</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قِيلَ: إِنَّمَا سُمِّيَتْ بِذَلِكَ لِتَرْكِهِمُ الْكَلَامَ إِنَّمَا كَانُوا يَهِرُّونَ هَرِيرًا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"It is said it was named that because they left off speech; they only snarled."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311</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third day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elephants, and the two spears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قاسوا من الفيلة بالنسبة إلى الخيول العربية بسبب نفرتها منها أمرًا بليغًا، وقد أباد الصحابة الفيلةَ ومنْ عليها، وقلعوا عيونها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"They suffered a great deal from the elephants, given the Arab horses' terror of them; and the Companions destroyed the elephants and those on…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139</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past noon on the fourth day…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 wind, a mule, and the end of Rustam</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صَعِدَ السَّرِيرَ وَقَالَ: قَتَلْتُ رُسْتُمَ وَرَبِّ الْكَعْبَةِ! إِلَيَّ إِلَيَّ! فَأَطَافُوا بِهِ وَكَبَّرُوا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he climbed the throne and said: I have killed Rustam, by the Lord of the Kaʿba! To me! To me! — and they…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313</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during the four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أبو مِحْجَن ؓ comes back to his chains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فَأَطْلَقَهُ فَقَالَ: اذْهَبْ فَمَا أَنَا مُؤَاخِذُكَ بِشَيْءٍ تَقُولُهُ حَتَّى تَفْعَلَهُ. قَالَ: لَا جَرَمَ، [وَاللَّهِ] لَا أُجِيبُ لِسَانِي إِلَى [صِفَةِ] قَبِيحٍ أَبَدًا!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released him and said: go — I will not hold you to account for anything you say until you do it. He said:…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309</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al-Qadisiyya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caliph on foot under the messenger's camel</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يرحمكَ الله يا أمير المؤمنين هلا أعلمتنى أنَّكَ الخليفةُ؟ فقال لا حرج عليك يا أخي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God have mercy on you, Commander of the Faithful — why did you not tell me you were the caliph? He said:…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140</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«أتخافون من هذه النطفة؟» — crossing the Tigris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أتخافون من هذه النطفة؟ ثم تلا قوله تعالى: ﴿وَمَا كَانَ لِنَفْسٍ أَنْ تَمُوتَ إِلَّا بِإِذْنِ اللَّهِ كِتَابًا مُؤَجَّلًا﴾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are you afraid of this drop of water? Then he recited: 'It is not for any soul to die except by God's…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170</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Eight rakʿas in the Īwān of Chosroes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وحين دخله تلا قوله تعالى: ﴿كَمْ تَرَكُوا مِنْ جَنَّاتٍ وَعُيُونٍ وَزُرُوعٍ وَمَقَامٍ كَرِيمٍ وَنَعْمَةٍ كَانُوا فِيهَا فَاكِهِينَ كَذَلِكَ وَأَوْرَثْنَاهَا قَوْمًا آخَرِينَ﴾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entered it he recited: 'How many gardens and springs did they leave behind, and cornfields and a noble station, and a comfort…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171</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carpet, and «إِنَّكَ عَفَفْتَ فَعَفَّتِ الرَّعِيَّةُ»</a:t>
            </a:r>
          </a:p>
        </p:txBody>
      </p:sp>
      <p:sp>
        <p:nvSpPr>
          <p:cNvPr id="6" name="TextBox 5"/>
          <p:cNvSpPr txBox="1"/>
          <p:nvPr/>
        </p:nvSpPr>
        <p:spPr>
          <a:xfrm>
            <a:off x="566928" y="1618488"/>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فقال له علي بن أبي طالب: إنك عَفَفْتَ فَعَفَّتْ رَعيتُكَ، ولو رَتَعْتَ لرَتَعتْ</a:t>
            </a:r>
          </a:p>
        </p:txBody>
      </p:sp>
      <p:sp>
        <p:nvSpPr>
          <p:cNvPr id="7" name="Rectangle 6"/>
          <p:cNvSpPr/>
          <p:nvPr/>
        </p:nvSpPr>
        <p:spPr>
          <a:xfrm>
            <a:off x="566928" y="3813047"/>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23943"/>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"ʿAlī ibn Abī Ṭālib said to him: you restrained yourself, so your subjects restrained themselves; and had you grazed at large, they would have…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173</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 at al-Mada'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who would not give his name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فَقَالَ: وَاللَّهِ لَا أُخْبِرُكُمْ فَتَحْمَدُونِي وَلَكِنِّي أَحْمَدُ اللَّهَ وَأَرْضَى بِثَوَابِهِ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by God, I will not tell you, so that you praise me. I praise God, and I am content with His reward."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343</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جَلولاء — the charge of one man</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بل إنا حاملون عليهم ومُجدُّون في طلبهم، حتى يحكم الله بيننا، فاحملوا عليهم حملةً رجل واحدٍ حتى نخالطهم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rather, we are charging them and pressing hard after them, until God judges between us. Charge them with the charge of one…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176</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 14 or 16…</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Why الكوفة and البصرة exist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أَنِ ابْعَثْ سَلْمَانَ وَحُذَيْفَةَ رَائِدَيْنِ فَلْيَرْتَادَا مَنْزِلًا بَرِّيًّا بَحْرِيًّا لَيْسَ بَيْنِي وَبَيْنَكُمْ فِيهِ بَحْرٌ وَلَا جِسْرٌ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"Send Salmān and Ḥudhayfa as scouts, to seek out a place with dry land and water, with no sea and no bridge between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352</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«فَلَيْسَ بِقَصْرِكَ وَلَكِنَّهُ قَصْرُ الْخَبَالِ»</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بَلَغَنِي أَنَّكَ اتَّخَذْتَ قَصْرًا جَعَلْتَهُ حِصْنًا، وَيُسَمَّى قَصْرَ سَعْدٍ، بَيْنَكَ وَبَيْنَ النَّاسِ بَابٌ، فَلَيْسَ بِقَصْرِكَ وَلَكِنَّهُ قَصْرُ الْخَبَالِ … وَلَا تَجْعَلْ عَلَى الْقَصْرِ بَابًا يَمْنَعُ النَّاسَ مِنْ دُخُولِهِ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"It has reached me that you have taken a palace and made it a fortress, and that it is called Saʿd's palace, and that…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354</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 the battle, at al-Mada'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«أنا أشرفهم» — the load of earth</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له رستم: إنه ليس أحمق، وليس هو بأشرفهم، إنما أراد أن يفتدي قومه بنفسه، ولكن والله ذهبوا بمفاتيح أرضنا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"Rustam said to him: he is not a fool, and he is not their noblest. He only wanted to ransom his people with himself.…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138</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al-Qadisiyya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«كانوا يُدَوُّون بالقرآن … كدويّ النَّحْل»</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ورجالٌ من المسلمين لا يعلمهم إلا الله، فإنّه بهم عالمٌ كانوا يُدَوُّون بالقرآن إذا جنَّ عليهم الليلُ كدويّ النَّحْل، وهم آساد في النهار لا تشبههم الأسود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men of the Muslims whom none knows but God, for He knows them: they used to hum with the Qurʾān when night fell…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143</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Bayt al-Maqdis and the the Umari Covenant</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15 or 16 AH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condition the city set</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حاصرَ بيت المَقْدس وضيَّقَ عليهم حتى أجابوا إلى الصلح بشرطِ أن يقدم إليهم أمير المؤمنين عمر بن الخطاب</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"Then he besieged بيت المقدس and pressed them hard until they agreed to terms, on the condition that the Commander of the Believers, عمر…</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Companions, two opinions, one decision</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فأشار عثمان بن عفان بأن لا يركبَ إليهم ليكونَ أحقرَ لهم وأرغمَ لأنوفهم، وأشار علي بن أبي طالب بالمسير إليهم ليكونَ أخفَّ وطأةً على المسلمين في حصارهم بينهم، فهوي ما قالَ عليّ، ولم يهو ما قال عثمان</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"عثمان بن عفان advised that he not ride out to them, so that it would be more belittling to them and harder on their…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on arrival</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stones at al-Jabiya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مَا أَسْرَعَ مَا رَجَعْتُمْ عَنْ رَأْيِكُمْ! إِيَّايَ تَسْتَقْبِلُونَ فِي هَذَا الزِّيِّ وَإِنَّمَا شَبِعْتُمْ مُذْ سَنَتَيْنِ! وَبِاللَّهِ لَوْ فَعَلْتُمْ هَذَا عَلَى رَأْسِ الْمِائَتَيْنِ لَاسْتَبْدَلْتُ بِكُمْ غَيْرَكُمْ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"How quickly you have turned back from your own view! Me you come out to meet in this dress — and you have only…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330</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on the road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ford</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إنكم كنتم أذل الناس وأحقر الناس وأقل الناس، فأعزَّكم الله بالإسلام، فمهما تطلبوا العزَّ بغيره يذلكم الله</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"You were the lowest of people, and the most contemptible of people, and the fewest of people, and Allah honoured you by Islam. However…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163</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al-Jabiya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linen shirt, and the horse he called the…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نحن قوم أعزنا الله بالإسلام فلا نطلب بغير الله بديلًا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"We are a people whom Allah honoured by Islam, so we seek no substitute for what Allah gave."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163</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al-Jabiya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he arrived 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قدمَ عمرُ بن الخطاب الجابية على طريق إيلياء على جملٍ أوْرَق، تلوحُ صلعتُه للشمس، ليس عليه قلنسوةٌ ولا عمامةٌ، تصطفقُ رجلاه بين شعبتي الرَّحل بلا ركاب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"عمر بن الخطاب came to الجابية on the إيلياء road on an ash-grey camel, his bald head shining in the sun, with no cap…</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162</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written at al-Jabiya; the document says…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covenant of إيلياء</a:t>
            </a:r>
          </a:p>
        </p:txBody>
      </p:sp>
      <p:sp>
        <p:nvSpPr>
          <p:cNvPr id="6" name="TextBox 5"/>
          <p:cNvSpPr txBox="1"/>
          <p:nvPr/>
        </p:nvSpPr>
        <p:spPr>
          <a:xfrm>
            <a:off x="566928" y="1815084"/>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وشهد في الكتاب خالد بن الوليد، وعمرو بن العاص، وعبد الرحمن بن عوف، ومعاوية بن أبي سفيان، وهو كاتب الكتاب، وذلك في سنة خمسة عشر</a:t>
            </a:r>
          </a:p>
        </p:txBody>
      </p:sp>
      <p:sp>
        <p:nvSpPr>
          <p:cNvPr id="7" name="Rectangle 6"/>
          <p:cNvSpPr/>
          <p:nvPr/>
        </p:nvSpPr>
        <p:spPr>
          <a:xfrm>
            <a:off x="566928" y="441198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722876"/>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on entering the sanctuary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"Where do you think I should pray?"</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سمعت عمر يقول لكعب: أين ترى أن أصلي؟ قال: إن أخذت عني صليت خلفَ الصخرة وكانت القدسُ كلُّها بين يديك. فقال عمر: ضاهيتَ اليهوديةَ، لا، ولكن أصلِّي حيثُ صلَّى رسولُ اللّه ﷺ</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heard عمر say to كعب: where do you think I should pray? He said: if you take it from me, you would pray…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161</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same day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Sweeping the Rock</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ثم جاء فبسط رداءَهُ وكَنَس الكُناسة في ردائه وكنسَ الناسُ</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he came and spread out his cloak and swept the rubbish into his cloak, and the people swept."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161</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entry and the following dawn…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gate, and the two prayers</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دخلها إذ دخل المسجد من الباب الذي دخل منه رسول الله ليلةَ الإسراء … وصلَّى بالمسلمين فيه صلاةَ الغداة من الغد فقرأ في الأولى بسورة ص وسجد فيها والمسلمون معه، وفي الثانية بسورة بني إسرائيل</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"Then he entered it, and he entered the mosque by the gate through which the Messenger of Allah ﷺ entered on the night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al-Jabiya, before the surrender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sermon at al-Jabiya</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أيها الناسُ أصْلحُوا سَرائرَكُم تَصْلُحْ علانيتكُمْ، واعملُوا لآخرتِكُم تُكْفَوا أمرَ دنياكم، واعلموا أن رجلًا ليس بينه وبين آدم أبٌ حيٌّ، ولا بينه وبين الله هوادةٌ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 people: set right what is hidden in you and what is open in you will be set right. Work for your hereafter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meeting</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Abu Ubayda ؓ and the caliph, each refusing to…</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فترجَّل أبو عبيدة، وترجَّل عمر، فأشار أبو عبيدة ليقبّل يد عمر، فهم عمرُ بتقبيل رِجلِ أبي عبيدة، فكفَّ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"أبو عبيدة dismounted, and عمر dismounted. أبو عبيدة moved to kiss عمر's hand, and عمر made as if to kiss أبو عبيدة's foot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al-Jabiya → Bayt al-Maqdis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برذون that swaggered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فنزل عنه وضرب وجهه، وقال: لا علّم الله من علَّمك، هذا من الخيلاء. ثم لم يركب برذونًا قبله ولا بعده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got down off it and struck its face and said: may Allah teach nothing to whoever taught you — this is of vanity.…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159</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al-Jabiya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at al-Jabiya who knew what was coming</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فَسَأَلَهُ عُمَرُ عَنِ الدَّجَّالِ، وَكَانَ كَثِيرَ السُّؤَالِ عَنْهُ. فَقَالَ لَهُ: وَمَا مَسْأَلَتُكَ عَنْهُ يَا أَمِيرَ الْمُؤْمِنِينَ؟ أَنْتُمْ وَاللَّهِ تَقْتُلُونَهُ دُونَ بَابِ لُدٍّ بِبِضْعَ عَشْرَةَ ذِرَاعًا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"عمر asked him about الدجال — he used to ask about him often. He said to him: and why do you ask about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330</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year nobody can fix</a:t>
            </a:r>
          </a:p>
        </p:txBody>
      </p:sp>
      <p:sp>
        <p:nvSpPr>
          <p:cNvPr id="5" name="TextBox 4"/>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هذا سياق سيف بن عمر، وقد خالفه غيره من أئمة السير، فذهبوا إلى أن فتح بيت المقدس كان في سنة ست عشرة</a:t>
            </a:r>
          </a:p>
        </p:txBody>
      </p:sp>
      <p:sp>
        <p:nvSpPr>
          <p:cNvPr id="6" name="Rectangle 5"/>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"This is سيف بن عمر's account. Others among the leading authorities on the campaigns disagreed with him and held that the opening of بيت…</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159</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stories that are not in the books</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LACEHOLDER::label"/>
          <p:cNvSpPr txBox="1"/>
          <p:nvPr/>
        </p:nvSpPr>
        <p:spPr>
          <a:xfrm>
            <a:off x="566928" y="3182112"/>
            <a:ext cx="6634703"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Three of the best-loved details of this event are not in ابن کثیر, not in ابن الاثیر and not in الذہبی: the Patriarch صفرونيوس handing over the keys; عمر ؓ…. Landscape, architectu</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13695" y="1499616"/>
            <a:ext cx="3911072" cy="457200"/>
          </a:xfrm>
          <a:prstGeom prst="rect">
            <a:avLst/>
          </a:prstGeom>
          <a:noFill/>
        </p:spPr>
        <p:txBody>
          <a:bodyPr wrap="square" lIns="36576" tIns="0" rIns="36576" bIns="0" anchor="t">
            <a:spAutoFit/>
          </a:bodyPr>
          <a:lstStyle/>
          <a:p>
            <a:pPr algn="l">
              <a:lnSpc>
                <a:spcPct val="125000"/>
              </a:lnSpc>
            </a:pPr>
            <a:r>
              <a:rPr sz="2800" b="1" i="0">
                <a:solidFill>
                  <a:srgbClr val="0A322E"/>
                </a:solidFill>
                <a:latin typeface="Georgia"/>
                <a:cs typeface="Georgia"/>
              </a:rPr>
              <a:t>none.</a:t>
            </a:r>
          </a:p>
        </p:txBody>
      </p:sp>
      <p:sp>
        <p:nvSpPr>
          <p:cNvPr id="10" name="TextBox 9"/>
          <p:cNvSpPr txBox="1"/>
          <p:nvPr/>
        </p:nvSpPr>
        <p:spPr>
          <a:xfrm>
            <a:off x="7713695" y="1920240"/>
            <a:ext cx="3911072" cy="4306824"/>
          </a:xfrm>
          <a:prstGeom prst="rect">
            <a:avLst/>
          </a:prstGeom>
          <a:noFill/>
        </p:spPr>
        <p:txBody>
          <a:bodyPr wrap="square" lIns="36576" tIns="0" rIns="36576" bIns="0" anchor="t">
            <a:spAutoFit/>
          </a:bodyPr>
          <a:lstStyle/>
          <a:p>
            <a:pPr algn="l">
              <a:lnSpc>
                <a:spcPct val="120000"/>
              </a:lnSpc>
            </a:pPr>
            <a:r>
              <a:rPr sz="2400" b="0" i="0">
                <a:solidFill>
                  <a:srgbClr val="5A6862"/>
                </a:solidFill>
                <a:latin typeface="Segoe UI"/>
                <a:cs typeface="Segoe UI"/>
              </a:rPr>
              <a:t>Three of the best-loved details of this event…</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Umar ؓ builds a state — and the two trials</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AH, at his accession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name of the office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لما ولي عمر قالوا: يا خليفةَ خليفةِ رسولِ الله. فقال عمر: هذا أمرٌ يطولُ، بل أنتم المؤمنون وأنا أميركم. فسمي أمير المؤمنين.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ʿUmar took office they said: O successor of the successor of the Messenger of God. ʿUmar said: this is a thing that will…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 AH per ; 17 or…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bond that had no year on it</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وذلك أنه رُفع إلى عمر صك مكتوبٌ لرجل على آخر بدَيْنٍ يحلّ عليه في شعبان، فقال: أي شعبان؟ أمن هذه السنة أم التي قبلها، أم التي بعدها؟ ثم جمع الناس فقال: ضعوا للناس شيئًا يعرفون فيه حلول ديونهم.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 bond was brought up to ʿUmar, written for one man against another for a debt falling due in Shaʿbān. He said: which Shaʿbān?…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181</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same council</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Five ways to count a year, and the one…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وأشار علي بن أبي طالب وآخرون أن يؤرخ من هجرته من مكة إلى المدينة لظهوره لكلّ أحد فإنه أظهر من المولد والمبعث. فاستحسن ذلك عمر والصحابة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"ʿAlī ibn Abī Ṭālib and others advised that it be dated from his emigration from Mecca to Medina, because it is plain to everyone…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182</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same council</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Why the year begins in المحرم</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فَاتَّفَقُوا عَلَى الْهِجْرَةِ، ثُمَّ قَالُوا: مِنْ أَيِّ الشُّهُورِ؟ فَقَالُوا: مِنْ رَمَضَانَ، ثُمَّ قَالُوا: فَالْمُحَرَّمُ هُوَ مُنْصَرَفُ النَّاسِ مِنْ حَجِّهِمْ، وَهُوَ شَهْرٌ حَرَامٌ، فَأَجْمَعُوا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"They agreed on the hijra. Then they said: from which of the months? They said: from Ramaḍān. Then they said: Muḥarram is when people…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1, p. 13</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15 AH per [SOURCED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register: paid on precedence, not on blood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إِنِّي إِنَّمَا أَعْطَيْتُكُمْ عَلَى السَّابِقَةِ فِي الْإِسْلَامِ لَا عَلَى الْأَحْسَابِ. قَالُوا: فَنَعَمْ إِذًا، وَأَخَذُوا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I have given to you according to precedence in Islam, not according to lineage. They said: then yes — and they took…</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331</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the founding of the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Begin with the Prophet's ﷺ uncle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لَهُ عَلِيٌّ وَعَبْدُ الرَّحْمَنِ بْنُ عَوْفٍ: ابْدَأْ بِنَفْسِكَ. قَالَ: لَا بَلْ أَبْدَأُ بِعَمِّ رَسُولِ اللَّهِ ﷺ، ثُمَّ الْأَقْرَبِ فَالْأَقْرَبِ</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"ʿAlī and ʿAbd al-Raḥmān ibn ʿAwf said to him: begin with yourself. He said: no — rather I begin with the uncle of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331</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15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register argued with in public</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لَمْ أَكُنْ لِأُلْحِقَهُمْ بِدَرَجَةِ مَنْ لَمْ يُدْرِكُوا … فَهَلَّا قَالَ الْمُهَاجِرُونَ مِثْلَ قَوْلِكُمْ حِينَ سَوَّيْنَا بَيْنَ السَّابِقِينَ مِنْهُمْ وَالْأَنْصَارَ!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I was not going to join them to the rank of what they did not live through … Did the Emigrants say…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332</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near the end, before 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he meant to change, and did not live…</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وَقَالَ عُمَرُ قَبْلَ مَوْتِهِ: لَقَدْ هَمَمْتُ أَنْ أَجْعَلَ الْعَطَاءَ أَرْبَعَةَ آلَافٍ أَرْبَعَةَ آلَافٍ، أَلْفًا يَجْعَلُهَا الرَّجُلُ فِي أَهْلِهِ، وَأَلْفًا يُزَوَّدُهَا مَعَهُ، وَأَلْفًا يَتَجَهَّزُ بِهَا، وَأَلْفًا يَتَرَفَّقُ بِهَا. فَمَاتَ قَبْلَ أَنْ يَفْعَلَ.</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before his death: I had resolved to make the stipend four thousand each — a thousand a man leaves with his household,…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332</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the fixing of the stipends…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reserve fund he refused to keep</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كَلِمَةٌ أَلْقَاهَا الشَّيْطَانُ عَلَى فِيكَ وَقَانِي اللَّهُ شَرَّهَا، وَهِيَ فِتْنَةٌ لِمَنْ بَعْدِي … فَإِذَا كَانَ الْمَالُ ثَمَنَ دِينِ أَحَدِكُمْ هَلَكْتُمْ.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a word Satan cast on your tongue, and God has kept me from its harm; it is a fitna for those after…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333</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standing practice throughout the caliphate</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conditions, in writing, with witnesses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By 16 AH عمر ؓ had governors in a dozen provinces, some of them a month's ride away. He could not watch them. So he wrote down what they were…. Landscape, architecture, objects or</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door of the palace at Kufa</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بلغت هذه الكلمة عمر بن الخطاب بعث محمد بن مسلمة، فأمره إذا انتهى إلى الكوفة أن يقدح زناده ويجمع حطبًا ويحرق باب القصر ثم يرجع من فوره … وأمر سعدًا أن لا يغلق بابه عن الناس</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that word reached ʿUmar ibn al-Khaṭṭāb he sent Muḥammad ibn Maslama, and ordered him that when he reached Kūfa he should strike his…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–184, vol. 7, p. 183</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Khalid ؓ made to stand, and removed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كتب عمر إلى الأمصار: إني لم أعزل خالدًا عن سخطة ولا خيانة، ولكن الناس فتنوا به فأحببت أن يعلموا أن الله هو الصانعُ.</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wrote to the garrison cities: I did not remove Khālid out of anger nor for any dishonesty; but the people were beguiled by…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191</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 AH — carries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spoils of جلولاء, and a man weeping over…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عُمَرُ: وَاللَّهِ مَا ذَلِكَ يُبْكِينِي، وَبِاللَّهِ مَا أَعْطَى اللَّهُ هَذَا قَوْمًا إِلَّا تَحَاسَدُوا وَتَبَاغَضُوا، وَلَا تَحَاسَدُوا إِلَّا أَلْقَى اللَّهُ بَأْسَهُمْ بَيْنَهُمْ.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by God, that is not what makes me weep. By God, God has never given this to a people but they envied…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348, vol. 2, p. 347</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 AH, after — same…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land that was not divided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وَمَنَعَ عُمَرُ مِنْ قِسْمَةِ السَّوَادِ … وَخَافَ أَيْضًا الْفِتْنَةَ بَيْنَ الْمُسْلِمِينَ، وَمَنَعَ مِنْ بِيعِهِ لِأَنَّهُ لَمْ يُقَسَّمْ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forbade the division of al-Sawād … And he also feared fitna among the Muslims. And he forbade its sale, because it had not…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348</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Judges for the new cities</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وفيها استقضى عمر شريحًا على الكوفة، وكعب بن سور على البصرة.</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"In it ʿUmar appointed Shurayḥ as judge over Kūfa, and Kaʿb ibn Sūr over Baṣra."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207</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عام الرمادة: the oath</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وَقَالَ: كَيْفَ يَعْنِينِي شَأْنُ الرَّعِيَّةِ إِذَا لَمْ يُصِبْنِي مَا أَصَابَهُمْ!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he said: how shall the condition of the subjects concern me, if what befell them does not befall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375</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 [SOURCED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night he found nobody laughing</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فكتب عمر إلى أبي موسى بالبصرة أن: يا غوثاه لأمة محمد. وكتب إلى عمرو بن العاص بمصر أن: يا غوثاه لأمة محمد.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ʿUmar wrote to Abū Mūsā in Baṣra: a cry for help for the community of Muḥammad! And he wrote to ʿAmr ibn al-ʿĀṣ…</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203</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 [SOURCED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prayer for rain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اللهم إنّا كُنا نتوسَّلُ إليكَ بنبينا ﷺ فتسقينا، وإنا نتوسَّلُ إليك بعمِّ نبينا فاسْقِنا. قال: فيُسْقَوْنَ.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"O God, we used to approach You through our Prophet ﷺ and You would give us rain; and we approach You through the uncle…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( 3710), vol. 7, p. 205</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سرغ: the caliph turns the army around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He was riding north into Syria with the leading men of the Muhājirūn and Anṣār. At سرغ the commanders of the Syrian armies rode out to meet him — أبو…. Landscape, architecture, ob</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AH, at , the same…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who had been away</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سمعت رسول الله ﷺ يقول: "إذا سمعتم به بأرض قوم فلا تقدموا عليه، وإذا وقع بأرض وأنتم فيها فلا تخرجوا فرارًا منه". فحمد الله عمر … ورجع بالناس.</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heard the Messenger of God ﷺ say: 'When you hear of it in a land, do not go to it; and when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( 5729), vol. 7, p. 186</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letter Abu Ubayda ؓ saw through</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إنّي قد عرفت حاجتَكَ إليَّ، وإني في جندٍ من المسلمين لا أجدُ بنفسي رغبةً عنهم، فلستُ أريدُ فراقهم حتى يقضيَ الله فيّ وفيهم أمرَهُ وقضاءَهُ، فخلِّني من عزمتك يا أمير المؤمنين، ودعني في جندي.</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understood your need of me. I am among an army of the Muslims, and I find in myself no desire to be…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188</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Three sermons, three graves, one day</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أيها الناس، إن هذا الوجعَ رحمةُ ربِّكم ودعوةُ نبيّكم وموتُ الصالحين قبلكم، وإنَّ أبا عبيدة يسأل الله أن يقسم لأبي عبيدة حظَّه.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 people, this affliction is your Lord's mercy, and your Prophet's prayer, and the death of the righteous before you; and Abū ʿUbayda asks…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188</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AH,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a caliph does after a plague</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عُمَرُ: إِنَّ مَوَارِيثَ أَهْلِ عَمَوَاسَ قَدْ ضَاعَتْ، أَبْدَأُ بِالشَّامِ فَأُقَسِّمُ الْمَوَارِيثَ وَأُقِيمَ لَهُمْ مَا فِي نَفْسِي، ثُمَّ أَرْجِعُ</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the inheritances of the people of ʿAmwās have been lost. I shall begin with Syria and divide the inheritances and set up…</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379</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15 or 16 or 17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Jerusalem asks for him by name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أيها الناسُ، أصْلحُوا سَرائرَكُم تَصْلُحْ علانيتكُمْ، واعملُوا لآخرتِكُم تُكْفَوا أمرَ دنياكم … فمن أراد بُحْبُوحَةَ الجنة فليلزمِ الجماعة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 people, put right what is within you and what is outward in you will be put right; work for your hereafter and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 AH, when the spoils of…</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"You restrained yourself, so they restrained themselves"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فروينا أن عمر لما نظر إلى ذلك قال: إنَّ قومًا أدَّوْا هذا لأمناءُ، فقال له علي بن أبي طالب: إنك عَفَفْتَ فَعَفَّتْ رَعيتُكَ، ولو رَتَعْتَ لرَتَعتْ.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a people who handed this over are trustworthy men. ʿAlī ibn Abī Ṭālib said to him: you restrained yourself, so your subjects…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173</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the founding of the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is lawful for me out of this money?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مَا أَصْلَحَكَ وَعِيَالَكَ بِالْمَعْرُوفِ لَيْسَ لَكَ غَيْرُهُ. فَقَالَ الْقَوْمُ: الْقَوْلُ مَا قَالَ عَلِيٌّ.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what keeps you and your household in what is fitting — you have nothing beyond that. The people said: the word 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333</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closing card for the whole strand…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list of firsts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وهو أولُ من دُعي أميرَ المؤمنين، وأولُ من كتب التاريخ … ومصَّر الأمصار، وجنَّد الأجناد. ووضع الخَراج، ودوَّنَ الدواوين، وفرض الأعطية، واستقضى القضاة، وكوَّر الكُورَ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was the first to be called Commander of the Believers, and the first to write the dating era … he founded the garrison…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263</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Nahawand, the assassination, and the shura</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 ( 7 225;…</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Persia decides it has no choice</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Ten years of defeats have pushed the last Sasanian king out of his own capital and eastward, city by city. He writes to every governor still standing. They meet and…. Landscape, a</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caliph proposes to march, and is talked out…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ومكانكَ منهم يا أمير المؤمنين مكان النظام من الخَرز يجمعه ويمسكه، فإذا انحلَّ تفرَّق وما فيه وذهب، ثم لم يجتمعْ بحذافيره أبدًا.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"Your position among them, Commander of the Believers, is the position of the thread among the beads: it gathers them and holds them;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228</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first at the spear-points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أما والله لأوليَنَّ رجلًا يكون أولَ الأسنّةِ إذا لقيها غدًا. قالوا: من يا أميرَ المؤمنين؟ قال: النُّعمان بن مُقَرِّنٍ.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 shall appoint a man who will be the first at the spear-points when he meets them tomorrow. They said: who, Commander…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228</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One man is worth a hundred thousand dinars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ولا توطئهم وعرًا فتؤذيَهم، ولا تمنعْهم حقَّهمِ فتكفِّرَهم، ولا تدخلهم غَيْضَةً، فإن رجلًا من المسلمين أحبُّ إليَّ من مئة ألف دينار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"Do not make them tread rough ground and so hurt them; do not withhold from them their right and so make them ungrateful; do…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229</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head and the two wings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أصبهان الرأس، وفارس وأذربيجان الجناحان، إن قطعت أحد الجناحين مال الرأس بالجناح الآخر، وإن قطعت الرأس وقع الجناحان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"Iṣfahān is the head, and Fārs and Adharbayjān are the two wings. If you cut off one of the two wings, the head leans…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127</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deadlock, and the man who had once claimed…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The Persians go behind their walls and their ditch, and come out only when they choose. It drags on — البدایہ says only «فلما طال على المسلمين هذا الحالُ واستمرَّ»…. Landscape, ar</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Three takbīrs, and a commander who asks to be…</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اللَّهُمَّ أَعْزِزْ دِينَكَ، وَانْصُرْ عِبَادَكَ، وَاجْعَلِ النُّعْمَانَ أَوَّلَ شَهِيدٍ الْيَوْمَ عَلَى إِعْزَازِ دِينِكَ وَنَصْرِ عِبَادِكَ.</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 God, give might to Your religion and victory to Your servants, and make al-Nuʿmān the first martyr today upon the giving of might…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396</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names the Commander of the Believers did not…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أُولَئِكَ الْمُسْتَضْعَفُونَ مِنَ الْمُسْلِمِينَ وَلَكِنَّ الَّذِي أَكْرَمَهُمْ بِالشَّهَادَةِ يَعْرِفُ وُجُوهَهُمْ وَأَنْسَابَهُمْ، وَمَا يَصْنَعُ أُولَئِكَ بِمَعْرِفَةِ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"Those are the weak among the Muslims — but the One who honoured them with martyrdom knows their faces and their lineages. And what…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398</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Why they called it the victory of victories</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 الْمُسْلِمُونَ يُسَمُّونَ فَتْحَ نَهَاوَنْدَ فَتْحَ الْفُتُوحِ لِأَنَّهُ لَمْ يَكُنْ لِلْفُرْسِ بَعْدَهُ اجْتِمَاعٌ. وَمَلَكَ الْمُسْلِمُونَ بِلَادَهُمْ.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used to call the conquest of Nahāwand "the victory of victories", because after it the Persians never again assembled; and the Muslims…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399</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captives of Nahāwand, and the man who wept…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لما قدم سبي (١) نِهاوند إلى المدينة جعل أبو لؤلؤة -فيروز غلام المغيرة بن شعبة- لا يلقى منهم صغيرًا إلا مسح رأسه وبكى وقال: آكل عُمر كبدي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the captives of Nahāwand reached Medina, Abū Luʾluʾa — Fīrūz, the slave of al-Mughīra b. Shuʿba — would not meet a child among…</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234</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 , days before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 slave stops the caliph in the market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عمر ؓ is walking through the market. أبو لؤلؤة meets him and asks for redress against his own master: the daily levy is too heavy. عمر ؓ asks how much,…. Landscape, architecture, </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Wednesday, four nights remaining of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فجر of Wednesday</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عمر ؓ used to appoint men to straighten the rows, and would not say the takbīr until they were straight. أبو لؤلؤة came into the mosque in the last dark…. Landscape, architecture,</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the man beside him heard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One report in سیر comes from a man who was actually in the congregation. He had walked back from the market that day with عمر ؓ leaning on his arm,…. Landscape, architecture, obje</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asks who it was, and gives thanks for…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سأل عمَّن قتله مَنْ هو؟ فقالوا له: هو أبو لؤلؤة غلام المغيرة بن شعبة. فقال الحمد لله الذي لم يجعل منيَّتي على يَدَيْ رجل يَدَّعي الإيمانَ ولم يسجد لله سجدة.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he asked who it was that had struck him. They said: it is Abū Luʾluʾa, the slave of al-Mughīra b. Shuʿba. He said:…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Roused for the prayer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وقال المسور بن مخرمة: لما أصبح عمر بالصلاة من الغد، وهو مطعون، فزعوه فقالوا: الصلاة ففزع وقال: نعم ولا حظ في الإسلام لمن ترك الصلاة. فصلى وجرحه يثعب دما.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ʿUmar was roused for the prayer the next morning, and he was stabbed, they startled him and said: the prayer! And he started…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92</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debt, and a place he had to ask…</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He calls his son and tells him to work out what he owes. They count it: about eighty-six thousand. He gives the order of recourse — his own family's property…. Landscape, architec</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charge to whoever comes next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With the wound open and the room full, he dictates what the next caliph is to be told. He does not talk about policy or about the frontier. He names…. Landscape, architecture, obj</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refuses to name his own son</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They press him to appoint a successor. He says that if أبو عبيدة ؓ were alive he would appoint him, and tell his Lord why; and if سالم مولى أبي…. Landscape, architecture, objects </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Six names, and the cousin who was left off…</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ولم يذكر سعيد بن زيد بن عمرو بن نفيل العَدَوي فيهم، لكونه من قبيلته، خشيةَ أن يُراعَى في الإمارةِ بسببه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he did not mention Saʿīd b. Zayd b. ʿAmr b. Nufayl al-ʿAdawī among them, because he was of his own tribe, fearing that…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269</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rules: three days, and a fourth day that…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He does not leave the six to work it out. He sets a procedure. Three days, no more. صهيب ؓ leads the prayer meanwhile — the books state the instruction…. Landscape, architecture, </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one who could have had it takes himself…</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عمر ؓ is buried. المقداد ؓ gathers the six in a house and أبو طلحة ؓ stands at the door. Voices rise inside, and أبو طلحة ؓ tells them he…. Landscape, architecture, objects or tex</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Three days and three nights, asking the city</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He does not deliberate in a room. He goes out into the city and asks it. ابن کثیر lists who he asked, and the list is the point: the chiefs…. Landscape, architecture, objects or t</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pledge, at the minbar, on a condition</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On the fourth morning he calls المدینہ to the mosque, and it fills until there is no room left. عبد الرحمن ؓ goes up onto the منبر, prays a long…. Landscape, architecture, objects</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22–23 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who took it all, and wrote twice…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أَسَجَّاعٌ أَنْتَ أَمْ مُخْبِرٌ؟ لَا وَاللَّهِ لَا يَغْزُوهَا جَيْشٌ لِي أَبَدًا. وَكَتَبَ إِلَى سُهَيْلٍ وَالْحَكَمِ بْنِ عَمْرٍو: أَنْ لَا يَجُوزَنَّ مُكْرَانَ أَحَدٌ مِنْ جُنُودِكُمَا.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"Are you making rhymed prose, or reporting? No, by God, no army of mine shall ever raid it. And he wrote to Suhayl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425</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method, spoken inside the story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the historian throws out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ابن کثیر, writing six hundred years later, sets down the reports about the شورى — and then does something worth watching. He lists the reports that make the whole thing…. Landscap</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24 AH — recorded,…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first case the new caliph had to judge</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عمر ؓ had ordered his son عبيد الله ؓ held in custody so that the next caliph could rule on his case. What he had done was go out on…. Landscape, architecture, objects or texture </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The people: the house of Umm Sulaym ؓ</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 the Hijra, at Medina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dower that was Islam</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أَمَا إِنِّي فِيْكَ لَرَاغِبَةٌ، وَمَا مِثْلُكَ يُرَدُّ، وَلَكِنَّكَ كَافِرٌ، فَإِنْ تُسْلِمْ فَذَلِكَ مَهْرِي، لاَ أَسْأَلُكَ غَيْرَهُ.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am indeed willing in your case, and a man like you is not refused; but you are a disbeliever. If you accept Islam,…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29</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 soon after the Hijra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gift she had left</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يَا رَسُوْلَ اللهِ! هَذَا أُنَيْسٌ ابْنِي، أَتَيْتُكَ بِهِ يَخْدُمُكَ، فَادْعُ اللهَ لَهُ.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"Messenger of Allah, this is Unays, my son. I have brought him to you to serve you — so pray to Allah for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3, p. 398</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Ten years, and not one rebuke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خدمته صلى الله عليه وسلم عشر سنين، فوالله ما قال لي: أف قط، ولا قال لشيء فعلته: لم فعلت كذا، ولا لشيء لم أفعله: ألا فعلت كذا؟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served him ﷺ ten years, and by Allah he never said 'uff' to me once; he never said of anything I did, why…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2, p. 386</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3 (the year…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find the scent of Paradise»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يا أبا عمرو أين؟ واهًا لريح الجنة، أجده دون أحدٍ.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ʿAmr, where to? Ah, the scent of Paradise — I find it this side of Uḥud."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203</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3 (as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Known by his fingertips</a:t>
            </a:r>
          </a:p>
        </p:txBody>
      </p:sp>
      <p:sp>
        <p:nvSpPr>
          <p:cNvPr id="6" name="TextBox 5"/>
          <p:cNvSpPr txBox="1"/>
          <p:nvPr/>
        </p:nvSpPr>
        <p:spPr>
          <a:xfrm>
            <a:off x="566928" y="201625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﴿مِنَ الْمُؤْمِنِينَ رِجَالٌ صَدَقُوا مَا عَاهَدُوا اللَّهَ عَلَيْهِ﴾ [الأحزاب: ٢٣]</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1707"/>
            <a:ext cx="11057839" cy="649224"/>
          </a:xfrm>
          <a:prstGeom prst="rect">
            <a:avLst/>
          </a:prstGeom>
          <a:noFill/>
        </p:spPr>
        <p:txBody>
          <a:bodyPr wrap="square" lIns="36576" tIns="0" rIns="36576" bIns="0" anchor="t">
            <a:spAutoFit/>
          </a:bodyPr>
          <a:lstStyle/>
          <a:p>
            <a:pPr algn="l">
              <a:lnSpc>
                <a:spcPct val="130000"/>
              </a:lnSpc>
            </a:pPr>
            <a:endParaRP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verse as quoted at al-Bidaya wa'l-Nihaya the reference, vol. 4, p. 203</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3 , at the moment…</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will you do with life after him?»</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فما تصنعون بالحياة بعده؟! قوموا فموتوا على ما مات عليه رسول اللَّه ﷺ.</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"And what will you do with life after him? Rise, and die upon what the Messenger of Allah ﷺ died upon."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207</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8 (the year is…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dagger at Ḥunayn</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يَا رَسُوْلَ اللهِ! إِنْ دَنَا مِنِّي مُشْرِكٌ بَقَرْتُ بِهِ بَطْنَهُ.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"Messenger of Allah, if a mushrik comes near me I will open his belly with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304</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water-carriers at Uḥud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يَا نَبِيَّ اللهِ، بِأَبِي أَنْتَ، لاَ تُشْرِفْ، لاَ يُصِيْبُكَ سَهْمٌ، نَحْرِي دُوْنَ نَحْرِكَ.</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"Prophet of Allah — may my father be your ransom — do not look out, lest an arrow strike you. My throat before your…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31</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Medina (no year on…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«It was a loan»</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فَإِنَّ ابْنَكَ كَانَ عَارِيَّةً مِنَ اللهِ، فَقَبَضَهُ.</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"Your son was a loan from Allah, and He has taken him back."</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310</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Medina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Bayruḥāʾ</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 أَحَبَّ أَمْوَالِي إِلَيَّ بَيْرُحَاءُ، وَإِنَّهَا صَدَقَةٌ للهِ… فَقَالَ: (بَخٍ! ذَلِكَ مَالٌ رَابِحٌ، وَإِنِّي أَرَى أَنْ تَجْعَلَهَا فِي الأَقْرَبِيْنَ).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dearest of my property to me is Bayruḥāʾ, and it is a ṣadaqa for Allah… He said: 'Bakhkh! That is profitable property. I…</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33</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4 ( 4…</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have won»</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اللَّهُ أَكْبَرُ، فُزْتُ وَرَبِّ الكَعْبَةِ.</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"Allāhu akbar — I have won, by the Lord of the Kaʿba."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(the page cites 4091 4092), vol. 4, p. 255</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 4 onwards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reason the Prophet ﷺ came to that house</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(إِنِّي أَرْحَمُهَا، قُتِلَ أَخُوْهَا مَعِي).</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compassion for her — her brother was killed with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–307, vol. 2, p. 306</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ḥadīth: at Medina, in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Umm Ḥarām and the sea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(عُرِضَ عَلَيَّ نَاسٌ مِنْ أُمَّتِي يَرْكَبُوْنَ ظَهْرَ هَذَا البَحْرِ كَالمُلُوْكِ عَلَى الأَسِرَّةِ)… قَالَ: (أَنْتِ مِنَ الأَوَّلِيْنَ).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"'People of my umma were shown to me riding the back of this sea like kings upon thrones'… He said: 'You are among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–317, vol. 2, p. 316</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the caliphate of Umar ؓ, 13–23…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«Do not put al-Barāʾ over an army»</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لاَ تَسْتَعْمِلُوا البَرَاءَ عَلَى جَيْشٍ، فَإِنَّهُ مَهْلَكَةٌ مِنَ المَهَالِكِ يَقْدَمُ بِهِم.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"Do not put al-Barāʾ in command of an army, for he is a destruction among destructions — he presses forward with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196</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Medina or Basra, undated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«Do you see me dying in my bed?»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أَترَانِي أَمُوْتُ عَلَى فِرَاشِي؟ وَاللهِ لَقَدْ قَتَلْتُ بِضْعاً وَتِسْعِيْنَ.</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"Do you see me dying in my bed? By Allah, I have killed ninety-odd."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198</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 (see ridda-campaign-the-conduct-of-the-wars.md)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Over the wall at Ḥadīqat al-Mawt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مَعْشَرَ الْمُسْلِمِينَ، أَلْقُونِي عَلَيْهِمْ فِي الْحَدِيقَةِ. فَقَالُوا: لَا نَفْعَلُ، فَقَالَ: وَاللَّهِ لَتَطْرَحُنَّنِي عَلَيْهِمْ بِهَا!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"Company of Muslims — throw me over onto them into the garden. They said: we will not. He said: by Allah, you will throw…</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218</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conquest of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oath at Tustar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الْمُسْلِمُونَ: يَا بَرَاءُ أَقْسِمْ عَلَى رَبِّكَ لَيَهْزِمَنَّهُمْ لَنَا. قَالَ: اللَّهُمَّ اهْزِمْهُمْ لَنَا وَاسْتَشْهِدْنِي.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said: Barāʾ, swear upon your Lord that He will defeat them for us. He said: O Allah, defeat them for us,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(identically at ), vol. 2, p. 368</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same morning as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dawn prayer at Tustar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شهدت فتح تُسْتَر، وذلك عند صلاة الفجر، فاشتغل الناس بالفتح فما صلوا الصبح إلا بعد طلوع الشمس فما أحب أن لي بتلك الصلاة حمرَ النعم.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was present at the conquest of Tustar, and it was at the time of the dawn prayer; the men were taken up with…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(the page cites ), vol. 7, p. 198</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the caliphate of ؓ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«Equip me»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اسْتَنْفَرَنَا اللهُ وَأَمَرَنَا، شُيُوْخَنَا وَشَبَابَنَا، جَهِّزُوْنِي.</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"Allah has called us out and commanded us — our old and our young. Equip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34</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The people: Abu Hudhayfa ؓ and Salim ؓ</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5 years after the beginning of…</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ship they hired for half a dinar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فاستأجروا سفينةً بنصف دينار إلى الحبشة، وهم عثمان بن عفان، وامرأته رُقَيَّة بنت رسول الله ﷺ، وأبو حُذيفة بن عتبة، وامرأته سهلة بنت سُهيل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they hired a ship for half a dinar to Abyssinia. They were: ʿUthmān b. ʿAffān and his wife Ruqayya, daughter of the Messenger…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3, p. 281</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son of the elder of the Jāhiliyya</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السَّيِّدُ الكَبِيْرُ، الشَّهِيْدُ، أَبُو حُذَيْفَةَ ابْنُ شَيْخِ الجَاهِلِيَّةِ: عُتْبَةَ بنِ رَبِيْعَةَ … القُرَشِيُّ، العَبْشَمِيُّ، البَدْرِيُّ</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great chief, the martyr, Abū Ḥudhayfa — son of the elder of the Jāhiliyya, ʿUtba b. Rabīʿa — al-Qurashī, al-ʿAbshamī, the man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164</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Badr — the father and the brother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فبارز عبيدة، وكان أسنّ القوم، عتبة، وبارز حمزة شيبة، وبارز عليٌّ الوليد بن عتبة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"ʿUbayda — and he was the oldest of them — faced ʿUtba; Ḥamza faced Shayba; and ʿAlī faced al-Walīd b. ʿUtba."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60</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face the Prophet ﷺ noticed at the well</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Traditional Arabic"/>
              </a:rPr>
              <a:t>A restrained editorial illustration for: After the battle the dead of Quraysh were put into the well. ʿUtba b. Rabīʿa was taken and dragged to it. The Prophet ﷺ looked at the face of his…. Landscape, architecture, object</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 and answered 12</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sentence he was afraid of for ten years…</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ما أنا بآمنٍ من تلك الكلمة التي قُلتُ يومئذٍ، ولا أزالُ منها خائفًا إلّا أن تُكفّرها عنّي الشهادةُ، فقُتل يوم اليمامة شهيدًا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am not safe from that word I said that day; I shall not stop fearing it unless martyrdom wipes it away from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77</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before the hijra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From Iṣṭakhr to the banner of the Muhājirūn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مِنَ السَّابِقِيْنَ الأَوَّلِيْنَ، البَدْرِيِّيْنَ، المُقَرَّبِيْنَ، العَالِمِيْنَ … أَصْلُهُ مِنْ إِصْطَخْرَ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"Of the first forerunners, of the men of Badr, of those brought near, of the learned … his origin is from Iṣṭakhr."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167</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before the Prophet ﷺ reached Medina…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imām at Qubāʾ</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أَنَّ المُهَاجِرِيْنَ نَزَلُوا بِالعُصْبَةِ إِلَى جَنْبِ قُبَاءَ، فَأَمَّهُم سَالِمٌ مَوْلَى أَبِي حُذَيْفَةَ، لأَنَّهُ كَانَ [ص١٦٩] أَكْثَرَهُم قُرْآناً، فِيْهِم عُمَرُ، وَأَبُو سَلَمَةَ بنُ عَبْدِ الأَسَدِ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Muhājirūn camped at al-ʿUṣba beside Qubāʾ, and Sālim, the freedman of Abū Ḥudhayfa, led them in prayer, because he had the most Qurʾān…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–169, vol. 1, p. 168</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Medina — : «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The night the Prophet ﷺ took his cloak and…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فَأَخَذَ رِدَاءهُ، وَخَرَجَ يَسْمَعُهُ، فَإِذَا هُوَ سَالِمٌ مَوْلَى أَبِي حُذَيْفَةَ. فَقَالَ: (الحَمْدُ لِلِّهِ الَّذِي جَعَلَ فِي أُمَّتِي مِثْلَكَ)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he took his cloak and went out to listen to him — and it was Sālim, the freedman of Abū Ḥudhayfa. And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168</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Traditional Arabic"/>
              </a:rPr>
              <a:t>the Prophet's ﷺ lifetime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Take the Qurʾān from four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وهو أحد الأربعة الذين قال فيهم رسول الله ﷺ: "استقرئوا القرآنَ من أربعةٍ" فذكر منهم سالمًا مولى أبي حذيفة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"And he is one of the four of whom the Messenger of Allah ﷺ said: 'Take the Qurʾān from four' — and he mentioned…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Medina, after 5 was revealed…</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adoption undone, and the household that kept him…</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تَبنّاهُ أبو حُذَيْفة وزوَّجَهُ بابنةِ أخيه فاطمة بنت الوليد بن عُتْبة، فلما أنزل الله ﴿ادْعُوهُمْ لِآبَائِهِمْ﴾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"Abū Ḥudhayfa had adopted him and married him to his brother's daughter, Fāṭima bt. al-Walīd b. ʿUtba. Then Allah sent down: ﴾Call them by…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 wretched bearer of the Qurʾān I should be"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وقال المهاجرون لسالم مولى أبي حذيفة: أتخشى أن نؤتى من قبلك؟ فقال: بئس حامل القرآن أنا إذًا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Muhājirūn said to Sālim, the freedman of Abū Ḥudhayfa: Do you fear we shall be broken from your side? He said: A wretched…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"Adorn the Qurʾān with deeds"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وقال أبو حذيفة: يا أهلَ القرآنِ زيِّنوا القرآنَ بالفِعال، وحملَ فيهم حتى أبعدَهم وأصيب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Ḥudhayfa said: People of the Qurʾān — adorn the Qurʾān with deeds. And he charged into them until he drove them back,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banner nobody would leave on the ground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وَكَانَتْ رَايَةُ المُسْلِمِيْنَ مَعَهُ يَوْمَ اليَمَامَةِ، فَلَمْ يَزَلْ يَقْدَمُ بِهَا فِي نَحْرِ العَدُوِّ، ثُمَّ قَاتَلَ حَتَّى قُتِلَ، فَوَقَعَتْ الرَّايَةُ، فَأَخَذَهَا سَالِمٌ مَوْلَى أَبِي حُذَيْفَةَ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Muslims' banner was with him on the day of al-Yamāma, and he kept pressing forward with it into the enemy's throat, and then…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men who dug a pit and did not…</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ثابتٌ وسالمٌ مولى أبي حذيفة: ما هكذا كنَّا نقاتلُ مع رسول الله ﷺ، فجعلا لأنفسهما حفرة فدخلا فيها فقاتلا حتى قُتلا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"Thābit and Sālim, the freedman of Abū Ḥudhayfa, said: This is not how we used to fight alongside the Messenger of Allah ﷺ.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48</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hand, and the verse</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انقطعت يدُه اليمنى فأخذها بيساره، فقُطعت فاحتضنها وهو يقول: ﴿وَمَا مُحَمَّدٌ إِلَّا رَسُولٌ قَدْ خَلَتْ مِنْ قَبْلِهِ الرُّسُلُ﴾ [آل عمران: ١٤٤] ﴿وَكَأَيِّنْ مِنْ نَبِيٍّ قَاتَلَ مَعَهُ رِبِّيُّونَ كَثِيرٌ﴾ [آل عمران: ١٤٦]</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"His right hand was severed, so he took the banner in his left; that was cut off, so he clasped it to his chest,…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at al-Yamama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"Lay me down between them"</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صرع قال لأصحابه: ما فعل أبو حُذَيْفة؟ قالوا: قُتل، قال: فما فعلَ فلان؟ قالوا: قُتل، قال: فأضجعوني بينهما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was struck down he said to his companions: What has become of Abū Ḥudhayfa? They said: He has been killed. He said:…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after al-Yamama — reported…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How they were found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وَقِيْلَ: إِنَّ سَالِماً وُجِدَ هُوَ وَمَوْلاَهُ أَبُو حُذَيْفَةَ، رَأْسُ أَحَدِهِمَا عِنْدَ رِجْلَي الآخَرِ صَرِيْعَيْنِ -رَضِيَ اللهُ عَنْهُمَا-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it is said: Sālim was found, he and his patron Abū Ḥudhayfa, the head of one of them at the feet of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169</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Medina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"Had Sālim been alive"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وروي عن عمر أنه قال لما احتُضِر: لو كانَ سالمٌ حيًّا لما جعلتها شُورى</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it is related of ʿUmar that he said, when death was upon him: Had Sālim been alive I would not have made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inheritance that was sent back</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بعثَ عمرُ بميراثه إلى مولاته التي أعْتَقَتْه "بثينة" فردَّتْه وقالتْ: إنّما أعْتَقَتْهُ سائبةٌ، فجعله عمر في بيت المال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sent his inheritance to the woman who had freed him, Buthayna; and she sent it back and said: I freed him only as…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Arabic Typesetting"/>
              </a:rPr>
              <a:t>The people: Zayd b. al-Khattab ؓ and the dead of al-Yamama</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brother who went first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وَلَقَدْ قَالَ لَهُ عُمَرُ يَوْم بَدْرٍ: الْبِسْ دِرْعِي. قَالَ: إِنِّي أُرِيْدُ مِنَ الشَّهَادَةِ مَا تُرِيْدُ. قَالَ: فَتَرَكَاهَا جَمِيْعاً.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said to him on the day of Badr: Wear my coat of mail. He said: I want from martyrdom what you want. So…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banner, and the vow of silence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وقال زيد بن الخطاب: أيها الناس عَضُّوا على أضراسكم، واضربوا في عدوِّكم وامضوا قدمًا، وقال: والله لا أتكلَّمُ حتى يهزمهم اللهُ أو ألقىَ اللهَ فأكلِّمه بحجَّتي، فقُتل شهيدًا ﵁.</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"Zayd b. al-Khaṭṭāb said: People — bite down on your back teeth, strike into your enemy and go forward. And he said: By Allah,…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first man out of their line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 أَوَّلَ مَنْ لَقِيَ الْمُسْلِمِينَ نَهَارٌ الرَّجَّالُ بْنُ عُنْفُوَةَ فَقُتِلَ، قَتَلَهُ زَيْدُ بْنُ الْخَطَّابِ.</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first of them to meet the Muslims was Nahār al-Rajjāl b. ʿUnfuwa, and he was killed — Zayd b. al-Khaṭṭāb killed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216</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 and afterwards in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who killed him</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ثم قتلَ زيدًا رجل يقال له: أبو مريم الحنفي، وقد أسلم بعد ذلك وقال لعمر: يا أميرَ المؤمنين إن الله أكرم زيدًا بيدي ولم يُهنِّي على يده.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Zayd was killed by a man called Abū Maryam al-Ḥanafī, who afterwards became a Muslim and said to ʿUmar: Commander of the Faithful…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outstripped me to the two good things»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قال عمر لما بلغَهُ مقتلُ زيد بن الخطاب: سبقني إلى الحُسَنيينِ، أسلمَ قبلي، واستشُهد قبلي.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the killing of Zayd b. al-Khaṭṭāb reached ʿUmar he said: He outstripped me to the two good things — he accepted Islam before…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years after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east wind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وَكَانَ يَقُوْلُ: مَا هَبَّتِ الصَّبَا إِلاَّ وَأَنَا أَجِدُ رِيْحَ زَيْدٍ.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used to say: The east wind never blows but I find in it the scent of Zayd."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poet, and the consolation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له متمِّم: لو أن أخي ذهب على ما ذهبَ عليه أخوك ما حزنتُ عليه، فقال له عمر: ما عزّاني أحد بمثل ما عزَّيْتني 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"Mutammim said to him: If my brother had gone the way your brother went, I would not have grieved for him. And ʿUmar said…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 on the arrival in…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brothers by appointment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وقد آخى رسول الله ﷺ بينه وبين معن بن عديّ الأنصاري وقد قُتلا جميعًا باليمامة.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 Messenger of Allah ﷺ made him and Maʿn b. ʿAdī al-Anṣārī brothers, and the two of them were killed together at al-Yamāma."</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 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«So that I may confirm him dead»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مَعْنٌ: لَكِنِّي -وَاللهِ- مَا أُحِبُّ أَنِّي مُتُّ قَبْلَهُ حَتَّى أُصَدِّقَهُ مَيْتاً، كَمَا صَدَّقْتُهُ حَيّاً.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"But I, by Allah, do not wish that I had died before him — so that I may confirm him dead as I confirmed…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321</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the revelation of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«Are you not content to live praised?»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فَقَالَ: (يَا ثَابِتُ! أَمَا تَرْضَى أَنْ تَعِيْشَ حَمِيْداً، وَتُقْتَلَ شَهِيْداً، وَتَدْخُلَ الجَنَّةَ)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Thābit — are you not content to live praised, to be killed a martyr, and to enter the Garden?"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310</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 and then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armour in the cooking pot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فأنفذَ أبو بكر وصيَّتهُ بعد موته، فلا نعلم أحدًا جازَتْ وصيَّتهُ بعد موته إلَّا ثابت بن قيس بن شمّاس.</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Abū Bakr executed his will after his death. And we know of no one else whose will was carried through after his death…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48</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arrow he pulled out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أصابه سهم يوم اليمامة فنزعه، وتحزم وأخذ السيف وقاتل حتى قتل، فوجد به جراحات كثيرة.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 arrow struck him on the day of al-Yamāma and he pulled it out, bound himself up, took his sword and fought until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 ), p. 60</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son of the head of the hypocrites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 أبوه رأسَ المنافقين، وكان أشدَّ الناس على أبيه، ولو أذن له رسول الله فيه لضربَ عُنُقه.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"His father was the head of the hypocrites, and he was the hardest of all people on his father — had the Messenger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53</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Three generations, one morning</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أراد رسولُ الله ﷺ أن يسميه سَهْلًا فامتنعَ وقال: لا أغيّرُ اسمًا سمانيه أبواي، فلم تزل الحزونة فينا. استُشهد يومَ اليمامة. وقتل معه أيضًا ابناه عبد الرحمن ووهب، وابن ابنه حكيمُ بن وَهْبِ بن حزن.</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 Messenger of Allah ﷺ wanted to name him Sahl, and he refused, saying: I will not change a name my parents gave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the naming report: Sahih al-Bukhari 6190, vol. 7, p. 49</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 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mother at al-Yamāma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فيقول: أتشهدُ أني رسولُ اللَّه؟ فيقول: لا أسمع، فجعل يقطِّعُه عضوًا عضوًا حتى مات في يديه، لا يزيدُه على ذلك.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"Then he would say: Do you testify that I am the Messenger of Allah? And he would say: I do not hear. So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3, p. 428</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al-Yamama 12, then Yarmuk — whose…</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father at al-Yamāma, the son at al-Yarmūk</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فأولها بأنه سيقتل ويدفن، وأن ابنه يحرص على الشهادةِ فلا ينالُها عامَه ذلك. وقد وقع الأمر كما أوّلها، ثم قُتل ابنُه شهيدًا يوم اليرموك.</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interpreted it himself: that he would be killed and buried, and that his son would press for martyrdom and not attain it that…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52</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 after the battle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number nobody can give</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وذلك بعد ما استَحَرّ القتلُ في القُرّاء يوم اليمامة كما ثبت به الحديث في صحيح البخاري.</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that was after the killing had run hot among the reciters on the day of al-Yamāma, as the ḥadīth in Ṣaḥīḥ al-Bukhārī establishes."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Sahih al-Bukhari 4986, vol. 7, p. 79</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The people: the men who had fought against it</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order of battle at Uḥud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وَتَعَبَّأَتْ قُرَيْشٌ، وَهُمْ ثَلَاثَةُ آلَافٍ، وَمَعَهُمْ مِئَتَا فَرَسٍ قَدْ جَنَّبُوهَا، فَجَعَلُوا عَلَى مَيْمَنَةِ الْخَيْلِ خَالِدَ بْنَ الْوَلِيدِ، وَعَلَى مَيْسَرَتِهَا عِكْرِمَةَ بْنَ أَبِي جَهْلِ بْنِ هِشَامٍ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"Quraysh drew up, three thousand of them, with two hundred horses they had led along; and they put Khālid b. al-Walīd over the right…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180</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account was given in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Waḥshī ؓ tells it himself, at Ḥimṣ</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أَمَا إِنِّي سَأُحَدِّثُكُمَا كَمَا حَدَّثْتُ رَسُولَ اللَّهِ ﷺ حِينَ سَأَلَنِي عَنْ ذَلِكَ</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shall tell you both exactly as I told the Messenger of Allah ﷺ when he asked me about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184</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the fall of Ṭāʾif, 8–9…</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"Keep your face away from me"</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"وَيْحَكَ! غَيِّبْ عَنِّي وَجْهَكَ فَلَا أَرَيَنَّكَ"</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"Woe to you — keep your face away from me; let me not see you."</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185</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same spear, at al-Yamāma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فَرَبُّكَ أَعْلَمُ أَيُّنَا قَتَلَهُ، فَإِنْ كُنْتُ قَتَلْتُهُ، فَقَدْ قَتَلْتُ خَيْرَ النَّاسِ بَعْدَ رَسُولِ اللَّهِ ﷺ، وَقَتَلْتُ شَرَّ النَّاسِ</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"Your Lord knows best which of us killed him. If I killed him, then I have killed the best of men after the Messenger…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185</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witness against the enemy</a:t>
            </a:r>
          </a:p>
        </p:txBody>
      </p:sp>
      <p:sp>
        <p:nvSpPr>
          <p:cNvPr id="6" name="TextBox 5"/>
          <p:cNvSpPr txBox="1"/>
          <p:nvPr/>
        </p:nvSpPr>
        <p:spPr>
          <a:xfrm>
            <a:off x="566928" y="221284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لَمْ أَرَ قَطُّ أَصْبَرَ عَلَى الْمَوْتِ مِنْ أَصْحَابِ مُسَيْلِمَةَ</a:t>
            </a:r>
          </a:p>
        </p:txBody>
      </p:sp>
      <p:sp>
        <p:nvSpPr>
          <p:cNvPr id="7" name="Rectangle 6"/>
          <p:cNvSpPr/>
          <p:nvPr/>
        </p:nvSpPr>
        <p:spPr>
          <a:xfrm>
            <a:off x="566928" y="351129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22192"/>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never seen anyone more steadfast in the face of death than Musaylima's men."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48</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8, at the Conquest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ship, and the vow</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لَئِنْ لَمْ يُنْجِ فِي الْبَحْرِ إِلَّا الْإِخْلَاصُ فَإِنَّهُ لَا يُنْجِي فِي الْبَرِّ غَيْرُهُ، اللَّهُمَّ إِنَّ لَكَ عَلَيَّ عَهْدًا إِنْ أَنْتَ عَافَيْتَنِي مِمَّا أَنَا فِيهِ، أَنْ آتِيَ مُحَمَّدًا حَتَّى أَضَعَ يَدِي فِي يَدِهِ فَلَأَجِدَنَّهُ عَفُوًّا كَرِيمًا</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if nothing saves at sea but sincerity, then nothing else saves on land either. O Allah, I owe You a covenant: if…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4, p. 550</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Umm Ḥakīm ؓ goes after her husband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فَاسْتَأْذَنَتْ رَسُولَ اللَّهِ ﷺ فِي طَلَبِ زَوْجِهَا، فَأَذِنَ لَهَا وَآمَنَهُ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"She asked the Messenger of Allah ﷺ leave to go after her husband, and he gave her leave and granted him safe-conduct."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2, p. 164</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cloak</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فَلَمَّا رَآهُ وَثَبَ فَرَحًا بِهِ، وَرَمَى عَلَيْهِ رِدَاءَهُ حَتَّى بَايَعَهُ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saw him he sprang up in joy at him and threw his cloak over him, until he pledged allegiance to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2, p. 185</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 files it in…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"Do not let me see you until you have…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وَكَتَبَ إِلَيْهِ الصِّدِّيقُ يَلُومُهُ عَلَى تَسَرُّعِهِ، قَالَ: لَا أَرَيَنَّكَ وَلَا أَسْمَعَنَّ بِكَ إِلَّا بَعْدَ بَلَاءٍ</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"al-Ṣiddīq wrote blaming him for his haste, and said: let me not see you, and let me not hear of you, except after you…</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41</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his later life (no year…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muṣḥaf against his face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وَكَانَ يُقَبِّلُ الْمُصْحَفَ وَيَبْكِي وَيَقُولُ: كَلَامُ رَبِّي، كَلَامُ رَبِّي … وَيُقَالُ: إِنَّهُ لَا يُعْرَفُ لَهُ ذَنْبٌ بَعْدَ مَا أَسْلَمَ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used to kiss the muṣḥaf and weep and say: my Lord's speech, my Lord's speech … And it is said that no sin…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127</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Yarmuk, 13 or 15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"And shall I run from you today?"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قَاتَلْتُ رَسُولَ اللَّهِ ﷺ فِي مَوَاطِنَ وَأَفِرُّ مِنْكُمُ الْيَوْمَ؟ ثُمَّ نَادَى: مَنْ يُبَايِعُ عَلَى الْمَوْتِ؟</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"I fought the Messenger of Allah ﷺ on many fields — and shall I run from you today? Then he called out: who will…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94</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same day</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one cup</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فَتَدَافَعُوهَا كُلُّهُمْ مِنْ وَاحِدٍ إِلَى وَاحِدٍ حَتَّى مَاتُوا جَمِيعًا وَلَمْ يَشْرَبْهَا أَحَدٌ مِنْهُمْ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"They passed it on, every one of them, from one to the next — until they had all died, and not one of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94</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Ṭulayḥa at Buzākha — the question, and the answer…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مَا يَهْزِمُكُمْ؟ فَقَالَ رَجُلٌ: أَنَا أُحَدِّثُكَ، لَيْسَ مِنَّا رَجُلٌ إِلَّا وَهُوَ يُحِبُّ أَنْ يَمُوتَ صَاحِبُهُ قَبْلَهُ، وَإِنَّا نَلْقَى قَوْمًا كُلُّهُمْ يُحِبُّ أَنْ يَمُوتَ قَبْلَ صَاحِبِهِ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"'What is defeating you?' A man said: I will tell you. There is not one of us but he would rather his companion died…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41</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at the end of Abū Bakr…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Ṭulayḥa ؓ comes back</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اغْرُبْ عَنِّي فَإِنَّكَ قَاتِلُ الرَّجُلَيْنِ الصَّالِحَيْنِ، عُكَّاشَةَ بْنِ مِحْصَنٍ، وَثَابِتِ بْنِ أَقْرَمَ، فَقَالَ: يَا أَمِيرَ الْمُؤْمِنِينَ هُمَا رَجُلَانِ أَكْرَمَهُمَا اللَّهُ عَلَى يَدَيَّ وَلَمْ يُهِنِّي بِأَيْدِيهِمَا. فَأَعْجَبَ عُمَرَ كَلَامُهُ وَرَضِيَ عَنْهُ</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"'Get away from me — you are the killer of the two righteous men, ʿUkkāsha b. Miḥṣan and Thābit b. Aqram.' He said: Commander…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242</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Arabic Typesetting"/>
              </a:rPr>
              <a:t>the caliphates of Abū Bakr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Consulted, never commanded</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أَنْ شَاوِرْ طُلَيْحَةَ فِي أَمْرِ الْحَرْبِ، وَلَا تُوَلِّهِ شَيْئًا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"Consult Ṭulayḥa in the matter of war, and give him no authority over anything."</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317</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 as Ibn ʿAsākir…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night ride at Nahāwand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لَوْ لَمْ يَكُنْ دِينٌ إِلَّا الْعَرَبِيُّ مَا كُنْتُ لِأُجْزِرَ الْعُجْمَ الطَّمَاطِمَ هَذِهِ الْعَرَبَ الْعَارِبَةَ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 even if there were no religion at all but the Arab one, I would never hand these true Arabs over to…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394</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Nahāwand, 21 — Ibn ʿAsākir's…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How Ṭulayḥa ؓ died, and how al-Dhahabī closes the…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قُلْتُ: أَبْلَى يَوْمَ نَهَاوَنْدَ، ثُمَّ اسْتُشْهِدَ - رَضِيَ اللهُ عَنْهُ وَسَامَحَهُ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say: he distinguished himself on the day of Nahāwand, then he was martyred — may Allah be pleased with him, and pardon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317</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Yarmuk</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voice under his son's banner</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إِلَّا صَوْتَ رَجُلٍ يَقُولُ: "يَا نَصْرَ اللَّهِ اقْتَرِبْ، يَا نَصْرَ اللَّهِ اقْتَرِبْ"، فَرَفَعْتُ رَأْسِي فَإِذَا هُوَ أَبُو سُفْيَانَ بْنُ حَرْبٍ تَحْتَ رَايَةِ ابْنِهِ يَزِيدَ بْنِ أَبِي سُفْيَانَ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"…all but the voice of one man saying: 'Help of Allah, draw near! Help of Allah, draw near!' I raised my head, and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p. 108</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the sending of the Syrian…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Abū Bakr ؓ walks beside the stirrup</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عَقَدَ لَهُ أَبُو بَكْرٍ، وَمَشَى مَعَهُ تَحْتَ رِكَابِهِ يُسَايِرُهُ، وَيُوَدِّعُهُ، وَيُوصِيهِ، وَمَا ذَاكَ إِلَّا لِشَرَفِهِ، وَكَمَالِ دِينِهِ</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Bakr tied his standard for him and walked beside him under his stirrup, keeping pace with him, seeing him off and instructing him…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329</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ṣafar 8 — al-Wāqidī's transmission</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men on the same road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قُلْتُ: أَيْنَ تُرِيدُ؟ قَالَ: مُحَمَّدًا … قُلْتُ: وَأَنَا وَاللَّهِ قَدْ أَرَدْتُ مُحَمَّدًا وَأَرَدْتُ الْإِسْلَامَ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said: where are you going? He said: to Muhammad … I said: and I too, by God — I have set out for…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2, p. 113</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 the ridda appointment</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ḥadīth about the Sword of Allah, and who…</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"نِعْمَ عَبْدُ اللَّهِ وَأَخُو الْعَشِيرَةِ، خَالِدُ بْنُ الْوَلِيدِ، سَيْفٌ مِنْ سُيُوفِ اللَّهِ سَلَّهُ اللَّهُ عَلَى الْكُفَّارِ وَالْمُنَافِقِينَ"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"What an excellent servant of Allah and brother of the clan — Khālid b. al-Walīd; a sword among the swords of Allah, which Allah…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24</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or 15 for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Where ʿIkrima ؓ died — and why we cannot…</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قَالَ أَبُو إِسْحَاقَ السَّبِيعِيُّ: نَزَلَ عِكْرِمَةُ يَوْمَ الْيَرْمُوكِ، فَقَاتَلَ قِتَالًا شَدِيدًا، ثُمَّ اسْتُشْهِدَ، فَوَجَدُوا بِهِ بِضْعًا وَسَبْعِينَ مِنْ طَعْنَةٍ، وَرَمْيَةٍ، وَضَرْبَةٍ. وَقَالَ عُرْوَةُ، وَابْنُ سَعْدٍ، وَطَائِفَةٌ: قُتِلَ يَوْمَ أَجْنَادِينَ</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Isḥāq al-Sabīʿī said: ʿIkrima dismounted on the day of Yarmūk and fought hard, then was martyred; and they found on him seventy-odd wounds…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324</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house of Abū Jahl at Ajnādayn</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وَضِرَارُ بْنُ الْأَزْوَرِ، وَعِكْرِمَةُ بْنُ أَبِي جَهْلٍ، وَعَمُّهُ سَلَمَةُ بْنُ هِشَامٍ ﵃</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Ḍirār b. al-Azwar, and ʿIkrima b. Abī Jahl, and his uncle Salama b. Hishām, may Allah be pleased with them all."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121</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Al-Dhahabī on Abū Sufyān ؓ, unsoftened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وَلَهُ هَنَاتٌ وَأُمُورٌ صَعْبَةٌ، لَكِنْ تَدَارَكَهُ اللَّهُ بِالْإِسْلَامِ يَوْمَ الْفَتْحِ، فَأَسْلَمَ شِبْهَ مُكْرَهٍ خَائِفٍ. ثُمَّ بَعْدَ أَيَّامٍ صَلُحَ إِسْلَامُهُ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has against him misdeeds and hard matters — but Allah rescued him with Islam on the day of the Conquest, and he accepted…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2, p. 106</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 in the plague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How Muʿāwiya ؓ came to hold Syria</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وَلَمَّا احْتُضِرَ اسْتَعْمَلَ أَخَاهُ مُعَاوِيَةَ عَلَى عَمَلِهِ، فَأَقَرَّهُ عُمَرُ عَلَى ذَلِكَ احْتِرَامًا لِيَزِيدَ، وَتَنْفِيذًا لِتَوْلِيَتِهِ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was dying he appointed his brother Muʿāwiya over his command, and ʿUmar confirmed him in it, out of respect for Yazīd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330</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The statements bank — slide-ready, by speaker</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morning after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Abu Bakr ؓ takes the office and tells the…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فإني قد وُلّيتُ عليكم ولستُ بخيركم فإنْ أحسنتُ فأعينوني وإن أسأتُ فقوِّموني … أطيعوني ما أطعت اللهَ ورسولَه، فإذا عصيْتُ الله ورسولَه فلا طاعة لي عليكم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been placed over you and I am not the best of you. If I do well, help me; if I do badly,…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6</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first days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Abu Bakr ؓ will not untie a knot the…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والذي نفس أبي بكر بيده لو ظننت أن السباعَ تَخْطفني لأنفذتُ بعثَ أسامةَ كما أمرَ به رسولُ الله ﷺ؛ ولو لم يبقَ في القرى غيري لأنفذته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Him in whose hand is Abū Bakr's soul — if I thought the wild beasts would snatch me away, I would still send…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at</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caliph walks and the eighteen-year-old rides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لَا نَزَلْتَ وَلَا أَرْكَبُ، وَمَا عَلَيَّ أَنْ أُغَبِّرَ قَدَمَيَّ سَاعَةً فِي سَبِيلِ اللَّه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you shall not dismount and I shall not ride. What harm is it to me that my two feet gather dust for…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195</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before Usama marched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ten rules given to an army before it…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Arabic Typesetting"/>
              </a:rPr>
              <a:t>A restrained editorial illustration for: With the army drawn up and about to leave, أبو بكر ؓ gave it its standing orders. They are not tactics. They are a list of things the army is…. Landscape, architecture, objects or</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zakāt refusers, and Umar ؓ saying out loud…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واللهِ لأقاتِلَنَّ منْ فرَّقَ بينَ الصلاةِ والزكاةِ، قال عمر: فما هو إلا أن رأيتُ اللهَ قد شرحَ صدرَ أبي بكر للقتال، فعرفتُ أنه الحق</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 will fight whoever separates prayer from zakāt." ʿUmar said: "It was nothing but that I saw God had opened Abū Bakr's…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audit Abu Bakr ؓ left behind, and Umar…</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فَلَمَّا رَآهُ بَكَى حَتَّى سَالَتْ دُمُوعُهُ إِلَى الْأَرْضِ وَجَعَلَ يَقُولُ: رَحِمَ اللَّهُ أَبَا بَكْرٍ! لَقَدْ أَتْعَبَ مَنْ بَعْدَه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he saw it he wept until his tears ran to the ground, and kept saying: "God have mercy on Abū Bakr! He has…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طلحة ؓ objects to the appointment of عمر ؓ,…</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أَجْلِسُونِي … أَبِاللَّهِ تُخَوِّفُنِي! إِذَا لَقِيتُ رَبِّي فَسَأَلَنِي قُلْتُ: اسْتَخْلَفْتُ عَلَى أَهْلِكَ خَيْرَ أَهْلِك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"Sit me up … Is it with God that you frighten me? When I meet my Lord and He asks me, I shall say:…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the Syrian expedition</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The charge to يزيد بن أبي سفيان ؓ, walking…</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إِنِّي قَدْ وَلَّيْتُكَ لِأَبْلُوَكَ وَأُجَرِّبَكَ وَأُخَرِّجَكَ، فَإِنْ أَحْسَنْتَ رَدَدْتُكَ إِلَى عَمَلِكَ وَزِدْتُكَ، وَإِنْ أَسَأْتَ عَزَلْتُك … فَإِيَّاكَ وَعُبِّيَّةَ الْجَاهِلِيَّةِ، فَإِنَّ اللَّهَ يُبْغِضُهَا وَيُبْغِضُ أَهْلَهَا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have put you in office to test you, to try you and to bring you out. If you do well I will return…</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249</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am one arrow — shoot me where it…</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إِنِّي سَهْمٌ مِنْ سِهَامِ الْإِسْلَامِ، وَأَنْتَ بَعْدَ اللَّهِ الرَّامِي بِهَا وَالْجَامِعُ لَهَا، فَانْظُرْ أَشَدَّهَا وَأَخْشَاهَا وَأَفْضَلَهَا فَارْمِ بِه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am one arrow of the arrows of Islam, and you — after God — are the one who shoots them and the one…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249</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before Yarmuk</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«Ten thousand are not beaten by being few»</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 مِثْلَكُمْ لَا يُؤْتَى مِنْ قِلَّةٍ، وَإِنَّمَا يُؤْتَى الْعَشْرَةُ آلَافٍ مِنَ الذُّنُوبِ، فَاحْتَرِسُوا مِنْهَا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"Men like you are not overcome by being few. Ten thousand are overcome by their sins — so guard yourselves against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251</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the days after the bayʿah…</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shall still milk your sheep»</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بَلَى لَعَمْرِي لَأَحْلِبَنَّهَا لَكُمْ، وَإِنِّي لَأَرْجُو أَنْ لَا يُغَيِّرَ بِي مَا دَخَلْتُ فِيه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"On the contrary — by my life, I shall certainly milk them for you. And I hope that what I have entered into will…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11–13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blind woman in the night</a:t>
            </a:r>
          </a:p>
        </p:txBody>
      </p:sp>
      <p:sp>
        <p:nvSpPr>
          <p:cNvPr id="6" name="TextBox 5"/>
          <p:cNvSpPr txBox="1"/>
          <p:nvPr/>
        </p:nvSpPr>
        <p:spPr>
          <a:xfrm>
            <a:off x="566928" y="246430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فَقَالَ لَهُ: أَنْتَ هُوَ لَعَمْرِي</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073652"/>
            <a:ext cx="11057839" cy="64922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He said to him: "It is you — by my life!"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the day of Abu Bakr…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ؓ's first words as caliph</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إِنَّمَا مَثَلُ الْعَرَبِ مَثَلُ جَمَلٍ أَنِفٍ اتَّبَعَ قَائِدَهُ، فَلْيَنْظُرْ قَائِدُهُ حَيْثُ يَقُودُهُ، وَأَمَّا أَنَا فَوَرَبِّ الْكَعْبَةِ لَأَحْمِلَنَّكُمْ عَلَى الطَّرِيق</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Arabs are like a camel with a ring in its nose that follows its driver — so let its driver look where 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268</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title that was getting longer</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هذا أمرٌ يطولُ، بل أنتم المؤمنون وأنا أميركم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"This is a thing that will go on getting longer. Rather — you are the believers, and I am your commander."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 overheard talking to himself behind a wall</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عمر بن الخطاب أمير المؤمنين بخ، والله لتتقين الله بني الخطاب أو ليعذبنك</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"ʿUmar ibn al-Khaṭṭāb, Commander of the Believers. Well done! By God, you will fear God, little son of al-Khaṭṭāb — or He will punish…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 ), p. 83</a:t>
            </a: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the caliph is allowed to take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لا يحل لعمر من مال الله إلا حلتين: حلة للشتاء وحلة للصيف، وما حج به واعتمر، وقوت أهلي كرجل من قريش ليس بأغناهم، ثم أنا رجل من المسلمين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"Nothing of God's wealth is lawful to ʿUmar except two sets of clothes — one for winter and one for summer — and what…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 also, vol. 7, p. 80</a:t>
            </a: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conditions in every governor's commission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واشترط عليه أن لا يركب برذونًا، ولا يأكل نقيًا، ولا يلبس رقيقًا، ولا يغلق بابهَ دون ذوي الحاجات. فإن فعل شيئًا من ذلك حَلَّتْ عليه العقوبة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"…stipulating that he shall not ride a fine horse; shall not eat sifted flour; shall not wear fine cloth; and shall not shut his…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 also (), vol. 7, p. 264</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13–23 [SOURCED — the page says…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«Keep the herds of Ibn ʿAwf and Ibn ʿAffān…</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هني اضمم جناحك عن المسلمين واتق دعوة المظلوم فإنها مستجابة … وإن رب الصريمة والغنيمة إن تهلك ماشيتهما يأتيني ببنيه فيقول: يا أمير المؤمنين! أفتاركهم أنا لا أبا لك</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"هُنَيّ — draw in your wing from the Muslims, and beware the prayer of the wronged, for it is answered … And if the…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85</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 the year…</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caliph's son makes a profit, and is allowed…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وإني قاسم مسئول وأنا معطيك أكثر ما ربح تاجر من قريش، لك ربح الدرهم درهم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I am a divider, and I will be asked. So I will give you more than any Qurashī merchant ever made: for every…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84</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al-Mada'in — the year…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treasure of Kisrā on the floor of the…</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ويحك إن هذا لم يعطه قوم إلا ألقيت بينهم العداوة والبغضاء</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"Woe to you — no people were ever given this without enmity and hatred being thrown down between them."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85</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basket of fish</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عذبت بهيمة في شهوة عمر، لا والله لا يذوق عمر مكتلك</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 animal was made to suffer for ʿUmar's appetite. No, by God — ʿUmar will not taste your basket."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82</a:t>
            </a: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18</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«How should their condition concern me, if what struck…</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كَيْفَ يَعْنِينِي شَأْنُ الرَّعِيَّةِ إِذَا لَمْ يُصِبْنِي مَا أَصَابَهُم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"How should the people's condition concern me, if what has struck them has not struck me?"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vol. 2, p. 375</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Nahawand, 21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dead nobody could name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وما ضرهم أن لا يعرفهم أمير المؤمنين؟ لكنَّ الله يعرفهم وقد أكرمهم الله بالشهادة، وما يصنعون بمعرفة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what harm did it do them that the Commander of the Believers does not know them? But God knows them, and God has…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233</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al-Jabiya, 15 [SOURCED — prints…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No man has a living father between himself and…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واعلموا أن رجلًا ليس بينه وبين آدم أبٌ حيٌّ، ولا بينه وبين الله هوادة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know that no man has a living father between himself and Adam, and that between himself and God there is no favouritism."</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17 [SOURCED — 5729]</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We flee from the decree of God to the…</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أفرارًا من قدر الله؟ قال: نعم! نفرُّ من قدر الله إلى قدر الله … ثم قال: لو غيرك يقولها يا أبا عبيدة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"Fleeing from the decree of God?" He said: "Yes — we flee from the decree of God to the decree of God …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186</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Which Shaʿbān? — the calendar begins with an unpaid…</a:t>
            </a:r>
          </a:p>
        </p:txBody>
      </p:sp>
      <p:sp>
        <p:nvSpPr>
          <p:cNvPr id="6" name="TextBox 5"/>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أي شعبان؟ أمن هذه السنة أم التي قبلها، أم التي بعدها … ضعوا للناس شيئًا يعرفون فيه حلول ديونهم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"Which Shaʿbān? This year's, or last year's, or next year's? … Set the people something by which they can know when their debts fall…</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181</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would love to come out of it break-even»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أما والله وددت أني خرجت منها كفافا لا علي ولا لي وأن صحبة رسول الله صلى الله عليه وسلم سلمت 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God, I would love to come out of it break-even — nothing against me and nothing for me — and that my companionship…</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90</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rules out his own son, by name</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فما أنا قائل لله إذا سألني عمن أمرت عليهم … لأرددنها إلى الذي دفعها إلي أول مرة، ولوددت أن عليها من هو خير مني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"What am I to say to God when He asks me about the man I set over them? … I shall hand it back…</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93</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Umar ؓ asks permission to be buried</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اذهب إلى أم المؤمنين عائشة فقل: يستأذن عمر أن يدفن مع صاحبيه … فقالت: كنت أريده -تعني المكان- لنفسي ولأؤثرنه اليوم على نفسي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"Go to the Mother of the Believers, ʿĀʾisha, and say: ʿUmar asks permission to be buried with his two companions." … She said: "I…</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p. 91</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statement [SOURCED…</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Abu Ubayda ؓ will not leave his army in…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فَحَلِّلْنِي مِنْ عَزِيْمَتك، فَإِنِّي فِي جُنْد ‖ مِنْ أَجْنَادِ المُسْلِمِيْنَ، لاَ أَرْغَبُ بِنَفْسِي عَنْهُم. فَلَمَّا قَرَأَ عُمَرُ الكِتَابَ، بَكَى، فَقِيْلَ لَهُ: مَاتَ أَبُو عُبَيْدَةَ؟ قَالَ: لاَ، وَكَأَنْ قَد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"Release me from your insistence. I am in one of the armies of the Muslims, and I will not hold myself above them." ……</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–19 1445, vol. 1, p. 18</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13–18</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«I wish I were in his skin»</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أَيُّهَا النَّاسُ! إِنِّي امْرُؤٌ مِنْ قُرَيْشٍ، وَمَا مِنْكُم مِنْ أَحْمَرَ وَلاَ أَسْوَدَ يَفْضُلُنِي بِتَقْوَى، إِلاَّ وَدِدْتُ أَنِّي فِي مِسْلاَخِه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"People — I am a man of Quraysh, and there is not one of you, red or black, who surpasses me in fear of…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18</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after Yarmuk</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Khalid ؓ divides his sandals with the treasury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فقاسمه أبو عبيدة حتى أخذ [إحدى] (٢) نعليه وترك له الأخرى (٣)، وخالد يقول سمعًا وطاعة لأمير المؤمنين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Abū ʿUbayda divided with him until he took one of his two sandals and left him the other — and Khālid kept saying: "To…</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103</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21, [SOURCED — Ibn Ḥajar:…</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Khalid ؓ dies in his bed</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لَقَدْ طَلَبْتُ القَتْلَ مَظَانَّهُ، فَلَمْ يُقَدَّرْ لِي إِلاَّ أَنْ أَمُوْتَ عَلَى فِرَاشِي، وَمَا مِنْ عَمَلِي شَيْءٌ أَرْجَى عِنْدِي بَعْدَ التَّوْحِيْدِ مِنْ لَيْلَةٍ بِتُّهَا وَأَنَا مُتَتَرِّسٌ، وَالسَّمَاءُ تُهِلُّنِي، نَنْتَظِرُ الصُّبْحَ حَتَّى نُغِيْرَ عَلَى الكُفَّار</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"I sought death in the places where it is most likely to be found, and it was not decreed for me except to die…</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381</a:t>
            </a: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13, before [STANDARD — the…</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By night monks, by day horsemen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أما الليل فرهبان، وأما النهار ففرسان … لو حدَّثت جليسك حديثًا ما فهمه عنك لما علا من أصواتهم بالقرآن والذكر … أتاكم منهم ما لا طاقة لكم 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"By night they are monks and by day they are horsemen … and if you spoke to the man sitting beside you he would…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99</a:t>
            </a: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after Yarmuk, 13 [STANDARD — maqṭūʿ,…</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Heraclius asks his own men why they keep losing</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من أجل أنهم يقومون الليل ويصومون النهار، ويوفون بالعهد، ويأمرون بالمعروف، وينهون عن المنكر، ويتناصفون بينهم، ومن أجل أنا نشرب الخمر، ونزني … وننقض العهد، ونغْصب ونظلم … فقال: أنت صدقتني</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"Because they stand at night and fast by day; they keep their covenant; they command what is right and forbid what is wrong; and…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99</a:t>
            </a: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14–15, before al-Qadisiyya [STANDARD — VIA…</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ربعي بن عامر ؓ walks his horse onto the…</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الله ابتعثنا لنخرج من شاء من عبادة العباد إلى عبادة الله، ومن ضيق الدنيا إلى سعتها، ومن جَور الأديان إلى عدل الإسلام … لا: ولكن المسلمون كالجسد الواحد يجير أدناهم على أعلاهم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"God sent us to bring out whoever wishes, from the worship of servants to the worship of God; from the narrowness of this world…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134</a:t>
            </a: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22–23 [STANDARD — VIA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«Are you making rhymes at me, or reporting?»</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أرضٌ سهلُها جبلٌ، وماؤُها وَشَلُ (٤)، وتَمْرُها (٥) دَقَلُ (٦)، وعدوُّها بطل … فقال عمر: أسجَّاعٌ أنتَ أم مُخْبِر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 land whose plain is mountain, whose water is a trickle, whose dates are the poorest kind, whose enemy is a champion …" ʿUmar…</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261</a:t>
            </a: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 NOT in this window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سلمان ؓ, dying, on the provisions of a rider</a:t>
            </a:r>
          </a:p>
        </p:txBody>
      </p:sp>
      <p:sp>
        <p:nvSpPr>
          <p:cNvPr id="6" name="TextBox 5"/>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عَهْدٌ عَهِدَهُ إِلَيْنَا رَسُوْلُ اللهِ - صَلَّى اللَّهُ عَلَيْهِ وَسَلَّمَ - لَمْ نَحْفَظْهُ. قَالَ: (لِيَكُنْ بَلاَغُ أَحَدِكُم مِنَ الدُّنْيَا كَزَادِ الرَّاكِبِ) . وَأَمَّا أَنْتَ يَا سَعْدُ، فَاتَّقِ اللهَ فِي حُكْمِكَ إِذَا حَكَمْتَ، وَفِي قَسْمِكَ إِذَا قَسَمْتَ، وَعِنْدَ هَمِّكَ إِذَا هَمَمْت</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"A charge the Messenger of God ﷺ laid on us which we have not kept: 'Let what any one of you takes from this…</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552</a:t>
            </a: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23 ( / ) [SOURCED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«Sāriya — the mountain!»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يا ساري الجبل (يا ساري الجبل … فقيل لعمر بن الخطاب: ما ذلك الكلام؟ فقال: والله ما ألقيت له إلَّا بشيء ألْقِيَ على لساني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"Sāriya — the mountain! Sāriya — the mountain!" … ʿUmar was asked: "What was that speech?" He said: "By God, I gave no thought…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7, p. 260</a:t>
            </a: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later; a retrospective judgement</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Arabic Typesetting"/>
              </a:rPr>
              <a:t>معاوية ؓ's three-line verdict on the two caliphs</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أما أبو بكر فلم يرد الدنيا ولم ترده، وأما عمر فأرادته الدنيا ولم يردها، وأما نحن فتمرغنا فيها ظهرا لبطن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"As for Abū Bakr — he did not want the world and it did not want him. As for ʿUmar — the world wanted…</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 ) · also –265, vol. 7, p. 81</a:t>
            </a: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written ~8th c. AH about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Traditional Arabic"/>
              </a:rPr>
              <a:t>الذہبی رحمہ اللہ corrects his own book</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فَمَنْ كَانَ عِنْدَهُ عِلْمٌ فَلْيُفِدْنَا … وَقَدْ ذَكَرْتُ فِي (تَارِيْخِي الكَبِيْرِ) أَنَّهُ عَاشَ مَائتَيْنِ وَخَمْسِيْنَ سَنَةً، وَأَنَا السَّاعَةَ لاَ أَرْتَضِي ذَلِكَ، وَلاَ أُصَحِّحُه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"So whoever has knowledge of it, let him inform us … I stated in my Tārīkh al-Kabīr that he lived two hundred and fifty…</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Siyar A'lam al-Nubala, vol. 1, p. 556</a:t>
            </a: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various</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recorded so it is never re-researched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Five items were read, verified and deliberately set aside. They are listed here with their pages so that a future pass does not spend a second on them: 1. **The…. Landscape, archi</a:t>
            </a:r>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788920"/>
            <a:ext cx="10728655" cy="731520"/>
          </a:xfrm>
          <a:prstGeom prst="rect">
            <a:avLst/>
          </a:prstGeom>
          <a:noFill/>
        </p:spPr>
        <p:txBody>
          <a:bodyPr wrap="square" lIns="36576" tIns="0" rIns="36576" bIns="0" anchor="ctr">
            <a:spAutoFit/>
          </a:bodyPr>
          <a:lstStyle/>
          <a:p>
            <a:pPr algn="l">
              <a:lnSpc>
                <a:spcPct val="125000"/>
              </a:lnSpc>
            </a:pPr>
            <a:r>
              <a:rPr sz="4600" b="1" i="0">
                <a:solidFill>
                  <a:srgbClr val="0A322E"/>
                </a:solidFill>
                <a:latin typeface="Georgia"/>
                <a:cs typeface="Georgia"/>
              </a:rPr>
              <a:t>Ibn Khaldun: how he reads it (framing only)</a:t>
            </a: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count is the weakest part of the story</a:t>
            </a:r>
          </a:p>
        </p:txBody>
      </p:sp>
      <p:sp>
        <p:nvSpPr>
          <p:cNvPr id="5" name="TextBox 4"/>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ولا سيّما في إحصاء الأعداد من الأموال والعساكر إذا عرضت في الحكايات إذ هي مظنّة الكذب ومطيّة الهذر</a:t>
            </a:r>
          </a:p>
        </p:txBody>
      </p:sp>
      <p:sp>
        <p:nvSpPr>
          <p:cNvPr id="6" name="Rectangle 5"/>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 and especially in the counting of sums of money and of armies when they appear in the narratives, for these are the place…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13</a:t>
            </a: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Two figures for one army, in one book</a:t>
            </a:r>
          </a:p>
        </p:txBody>
      </p:sp>
      <p:sp>
        <p:nvSpPr>
          <p:cNvPr id="5" name="TextBox 4"/>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وأعظم ما كانت جموعهم بالقادسيّة مائة وعشرين ألفا كلّهم متبوع على ما نقله سيف … وعن عائشة والزّهريّ فإنّ جموع رستم الّذين زحف بهم سعد بالقادسيّة إنّما كانوا ستّين ألفا كلّهم متبوع</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25780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largest their host ever was at al-Qādisiyya was one hundred and twenty thousand, every one of them a man with followers, according to…</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14</a:t>
            </a: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Seven ways a report goes wrong, and partisanship is…</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وإذا خامرها تشيّع لرأي أو نحلة قبلت ما يوافقها من الأخبار لأوّل وهلة وكان ذلك الميل والتّشيّع غطاء على عين بصيرتها عن الانتقاد والتّمحيص</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"When partisanship for some opinion or creed has got into it, it accepts whatever agrees with it at first hearing — and that inclination…</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46</a:t>
            </a:r>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 fiqh test and a history test are not…</a:t>
            </a:r>
          </a:p>
        </p:txBody>
      </p:sp>
      <p:sp>
        <p:nvSpPr>
          <p:cNvPr id="5" name="TextBox 4"/>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وإنّما كان التّعديل والتّجريح هو المعتبر في صحّة الأخبار الشّرعيّة لأنّ معظمها تكاليف إنشائيّة أوجب الشّارع العمل بها … وأما الأخبار عن الواقعات فلا بدّ في صدقها وصحّتها من اعتبار المطابقة</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25780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"Vetting the transmitters is the operative test for the soundness of legal reports, because most of them are prescriptive obligations the Lawgiver has made…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49</a:t>
            </a:r>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disease that only shows itself after centuries</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ومن الغلط الخفيّ في التّاريخ الذّهول عن تبدّل الأحوال في الأمم والأجيال بتبدّل الأعصار ومرور الأيّام وهو داء دوي شديد الخفاء</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"Among the hidden errors in history is inattention to the fact that the conditions of peoples and generations change as the ages change and…</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37</a:t>
            </a: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the point concerns ,…</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schoolteacher's son</a:t>
            </a:r>
          </a:p>
        </p:txBody>
      </p:sp>
      <p:sp>
        <p:nvSpPr>
          <p:cNvPr id="6" name="TextBox 5"/>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والحجّاج بن يوسف كان أبوه من سادات ثقيف وأشرافهم … ولم يكن تعليمه للقرآن على ما هو الأمر عليه لهذا العهد من أنّه حرفة للمعاش</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"As for al-Ḥajjāj ibn Yūsuf, his father was among the chiefs and nobles of Thaqīf … and his teaching of the Qurʾān was not…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40</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tests the method on a figure nobody is…</a:t>
            </a:r>
          </a:p>
        </p:txBody>
      </p:sp>
      <p:sp>
        <p:nvSpPr>
          <p:cNvPr id="5" name="TextBox 4"/>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والحاضر يشهد لذلك فالماضي أشبه بالآتي من الماء بالماء.</a:t>
            </a:r>
          </a:p>
        </p:txBody>
      </p:sp>
      <p:sp>
        <p:nvSpPr>
          <p:cNvPr id="6" name="Rectangle 5"/>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the present bears witness to this — for the past resembles what is to come as water resembles water."</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14</a:t>
            </a: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He calls al-Bukhārī a historian</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وما استكبر القدماء علم التّاريخ إلّا لذلك حتّى انتحله الطّبريّ والبخاريّ وابن إسحاق من قبلهما وأمثالهم من علماء الأمّة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ancients held the science of history in such high regard only for this reason — so much so that al-Ṭabarī and al-Bukhārī, and…</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37</a:t>
            </a: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What actually holds a people together</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وذلك أنّ صلة الرّحم طبيعيّ في البشر إلّا في الأقلّ ومن صلتها النّعرة على ذوي القربى وأهل الأرحام أن ينالهم ضيم أو تصيبهم هلكة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"For the bond of kinship is natural in human beings, save in the fewest of cases; and part of that bond is the surge…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man standing alone slips away in the dark</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وأمّا المتفرّدون في أنسابهم فقلّ أن تصيب أحدا منهم نعرة على صاحبه فإذا أظلم الجوّ بالشّرّ يوم الحرب تسلّل كلّ واحد منهم يبغي النّجاة لنفسه</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"As for men standing alone in their lineage, seldom does any of them feel that surge on his comrade's behalf; so when the air…</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Nothing gets carried without a people to carry it</a:t>
            </a:r>
          </a:p>
        </p:txBody>
      </p:sp>
      <p:sp>
        <p:nvSpPr>
          <p:cNvPr id="5" name="TextBox 4"/>
          <p:cNvSpPr txBox="1"/>
          <p:nvPr/>
        </p:nvSpPr>
        <p:spPr>
          <a:xfrm>
            <a:off x="566928" y="1618488"/>
            <a:ext cx="11057839" cy="320040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فبمثله يتبيّن لك في كلّ أمر يحمل النّاس عليه من نبوة أو إقامة ملك أو دعوة إذ بلوغ الغرض من ذلك كلّه إنّما يتمّ بالقتال عليه لما في طبائع البشر من الاستعصاء ولا بدّ في القتال من العصبيّة</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25780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like becomes clear to you in every undertaking men are called to — prophethood, the founding of a realm, or a summons —…</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Leadership does not leave the line it started</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والسّاقط في نسبهم بالجملة لا تكون له عصبيّة فيهم بالنّسب إنّما هو ملصق لزيق وغاية التّعصّب له بالولاء والحلف وذلك لا يوجب له غلبا عليهم البتّة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"One who has no standing at all in their lineage has no عصبية among them by descent; he is merely an attached, adhering outsider,…</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165</a:t>
            </a: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Where kinship-strength ends up</a:t>
            </a:r>
          </a:p>
        </p:txBody>
      </p:sp>
      <p:sp>
        <p:nvSpPr>
          <p:cNvPr id="5" name="TextBox 4"/>
          <p:cNvSpPr txBox="1"/>
          <p:nvPr/>
        </p:nvSpPr>
        <p:spPr>
          <a:xfrm>
            <a:off x="566928" y="2212848"/>
            <a:ext cx="11057839" cy="1170432"/>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فالتّغلّب الملكيّ غاية للعصبيّة كما رأيت</a:t>
            </a:r>
          </a:p>
        </p:txBody>
      </p:sp>
      <p:sp>
        <p:nvSpPr>
          <p:cNvPr id="6" name="Rectangle 5"/>
          <p:cNvSpPr/>
          <p:nvPr/>
        </p:nvSpPr>
        <p:spPr>
          <a:xfrm>
            <a:off x="566928" y="351129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3822192"/>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"Royal ascendancy is the end-point towards which عصبية runs, as you have seen."</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174</a:t>
            </a: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Many small loyalties, or one big one</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فلا بدّ من عصبيّة تكون أقوى من جميعها تغلبها وتستتبعها وتلتحم جميع العصبيّات فيها وتصير كأنّها عصبيّة واحدة كبرى وإلّا وقع الافتراق المفضي إلى الاختلاف والتّنازع</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"There must be one عصبية stronger than them all, which overcomes them and draws them after it, so that all the عصبيات fuse into…</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174</a:t>
            </a: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 The call does not add numbers; it removes…</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Ibn Khaldūn asks the question anyone looking at the map of the year eleven would ask. How does a peninsula that has just fragmented move against two empires within two…. Landscape</a:t>
            </a: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verse he grounds it on</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وجمع القلوب وتأليفها إنّما يكون بمعونة من الله في إقامة دينه قال تعالى «لَوْ أَنْفَقْتَ ما في الْأَرْضِ جَمِيعاً ما أَلَّفْتَ بَيْنَ قُلُوبِهِمْ»</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gathering of hearts and their joining comes only by a help from Allah in the establishment of His religion. He said, exalted be…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197</a:t>
            </a: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test that runs the other way</a:t>
            </a:r>
          </a:p>
        </p:txBody>
      </p:sp>
      <p:sp>
        <p:nvSpPr>
          <p:cNvPr id="5" name="TextBox 4"/>
          <p:cNvSpPr txBox="1"/>
          <p:nvPr/>
        </p:nvSpPr>
        <p:spPr>
          <a:xfrm>
            <a:off x="566928" y="167792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واعتبر ذلك إذا حالت صبغة الدّين وفسدت كيف ينتقض الأمر ويصير الغلب على نسبة العصبيّة وحدها دون زيادة الدّين</a:t>
            </a:r>
          </a:p>
        </p:txBody>
      </p:sp>
      <p:sp>
        <p:nvSpPr>
          <p:cNvPr id="6" name="Rectangle 5"/>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3854196"/>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"And take note of this: when the colouring of religion alters and decays, how the whole matter unravels, and ascendancy reverts to the measure…</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199</a:t>
            </a:r>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Why it had to be a religious call and…</a:t>
            </a:r>
          </a:p>
        </p:txBody>
      </p:sp>
      <p:sp>
        <p:nvSpPr>
          <p:cNvPr id="5" name="TextBox 4"/>
          <p:cNvSpPr txBox="1"/>
          <p:nvPr/>
        </p:nvSpPr>
        <p:spPr>
          <a:xfrm>
            <a:off x="566928" y="1618488"/>
            <a:ext cx="11057839" cy="246888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فقلّما تجتمع أهواؤهم فإذا كان الدّين بالنّبوءة أو الولاية كان الوازع لهم من أنفسهم وذهب خلق الكبر والمنافسة منهم فسهل انقيادهم واجتماعهم</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526280"/>
            <a:ext cx="11057839" cy="165506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"Their inclinations seldom converge. But when religion comes by prophethood or by sanctity, the restrainer over them is from within themselves, and the trait…</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189</a:t>
            </a: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A call with no people behind it</a:t>
            </a:r>
          </a:p>
        </p:txBody>
      </p:sp>
      <p:sp>
        <p:nvSpPr>
          <p:cNvPr id="5" name="TextBox 4"/>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[الفصل السادس في أن الدعوة الدينية من غير عصبية لا تتم]</a:t>
            </a:r>
          </a:p>
        </p:txBody>
      </p:sp>
      <p:sp>
        <p:nvSpPr>
          <p:cNvPr id="6" name="Rectangle 5"/>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"Chapter Six: that a religious call without عصبية does not come to completion."</a:t>
            </a:r>
          </a:p>
        </p:txBody>
      </p:sp>
      <p:sp>
        <p:nvSpPr>
          <p:cNvPr id="8" name="TextBox 7"/>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1, p. 199</a:t>
            </a: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for the statement; …</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Whole tribes, parts of tribes, and those who simply…</a:t>
            </a:r>
          </a:p>
        </p:txBody>
      </p:sp>
      <p:sp>
        <p:nvSpPr>
          <p:cNvPr id="6" name="TextBox 5"/>
          <p:cNvSpPr txBox="1"/>
          <p:nvPr/>
        </p:nvSpPr>
        <p:spPr>
          <a:xfrm>
            <a:off x="566928" y="1764792"/>
            <a:ext cx="11057839" cy="2066543"/>
          </a:xfrm>
          <a:prstGeom prst="rect">
            <a:avLst/>
          </a:prstGeom>
          <a:noFill/>
        </p:spPr>
        <p:txBody>
          <a:bodyPr wrap="square" lIns="36576" tIns="0" rIns="36576" bIns="0" anchor="t">
            <a:spAutoFit/>
          </a:bodyPr>
          <a:lstStyle/>
          <a:p>
            <a:pPr algn="r" rtl="1">
              <a:lnSpc>
                <a:spcPct val="150000"/>
              </a:lnSpc>
            </a:pPr>
            <a:r>
              <a:rPr sz="5400" b="0" i="0">
                <a:solidFill>
                  <a:srgbClr val="0A322E"/>
                </a:solidFill>
                <a:latin typeface="Traditional Arabic"/>
                <a:cs typeface="Traditional Arabic"/>
              </a:rPr>
              <a:t>وقد ارتدت [١] العرب إمّا القبيلة مستوعبة وإمّا بعض منها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270247"/>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Georgia"/>
              </a:rPr>
              <a:t>"The Arabs had turned back — either the whole tribe entire, or a part of it."</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2, p. 489</a:t>
            </a: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sheep in the rain — and who really…</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وصارَ المُسْلِمون كالغنم المَطيرةِ في اللَّيلة الشّاتية، لفقدِ نَبيّهم ﷺ، حتى جَمَعَهم اللَّهُ على أبي بكر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Traditional Arabic"/>
              </a:rPr>
              <a:t>"And the Muslims became like sheep out in the rain on a winter's night, for the loss of their Prophet ﷺ — until Allah…</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al-Bidaya wa'l-Nihaya, vol. 5, p. 397</a:t>
            </a: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11 — the year is</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One dissent does not unmake a consensus — and…</a:t>
            </a:r>
          </a:p>
        </p:txBody>
      </p:sp>
      <p:sp>
        <p:nvSpPr>
          <p:cNvPr id="6" name="TextBox 5"/>
          <p:cNvSpPr txBox="1"/>
          <p:nvPr/>
        </p:nvSpPr>
        <p:spPr>
          <a:xfrm>
            <a:off x="566928" y="1929384"/>
            <a:ext cx="11057839" cy="1737360"/>
          </a:xfrm>
          <a:prstGeom prst="rect">
            <a:avLst/>
          </a:prstGeom>
          <a:noFill/>
        </p:spPr>
        <p:txBody>
          <a:bodyPr wrap="square" lIns="36576" tIns="0" rIns="36576" bIns="0" anchor="t">
            <a:spAutoFit/>
          </a:bodyPr>
          <a:lstStyle/>
          <a:p>
            <a:pPr algn="r" rtl="1">
              <a:lnSpc>
                <a:spcPct val="150000"/>
              </a:lnSpc>
            </a:pPr>
            <a:r>
              <a:rPr sz="4400" b="0" i="0">
                <a:solidFill>
                  <a:srgbClr val="0A322E"/>
                </a:solidFill>
                <a:latin typeface="Traditional Arabic"/>
                <a:cs typeface="Traditional Arabic"/>
              </a:rPr>
              <a:t>أجمع المهاجرون والأنصار على بيعة أبي بكر ولم يخالف إلا سعد إن صحّ خلافه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4105656"/>
            <a:ext cx="11057839" cy="1152144"/>
          </a:xfrm>
          <a:prstGeom prst="rect">
            <a:avLst/>
          </a:prstGeom>
          <a:noFill/>
        </p:spPr>
        <p:txBody>
          <a:bodyPr wrap="square" lIns="36576" tIns="0" rIns="36576" bIns="0" anchor="t">
            <a:spAutoFit/>
          </a:bodyPr>
          <a:lstStyle/>
          <a:p>
            <a:pPr algn="l">
              <a:lnSpc>
                <a:spcPct val="130000"/>
              </a:lnSpc>
            </a:pPr>
            <a:r>
              <a:rPr sz="3000" b="0" i="1">
                <a:solidFill>
                  <a:srgbClr val="1C2321"/>
                </a:solidFill>
                <a:latin typeface="Georgia"/>
                <a:cs typeface="Arabic Typesetting"/>
              </a:rPr>
              <a:t>"The Muhājirūn and the Anṣār were of one mind on the pledge to Abū Bakr ؓ, and none dissented but Saʿd ؓ — if…</a:t>
            </a:r>
          </a:p>
        </p:txBody>
      </p:sp>
      <p:sp>
        <p:nvSpPr>
          <p:cNvPr id="9" name="TextBox 8"/>
          <p:cNvSpPr txBox="1"/>
          <p:nvPr/>
        </p:nvSpPr>
        <p:spPr>
          <a:xfrm>
            <a:off x="566928" y="6144768"/>
            <a:ext cx="11057839" cy="457200"/>
          </a:xfrm>
          <a:prstGeom prst="rect">
            <a:avLst/>
          </a:prstGeom>
          <a:noFill/>
        </p:spPr>
        <p:txBody>
          <a:bodyPr wrap="square" lIns="36576" tIns="0" rIns="36576" bIns="0" anchor="t">
            <a:spAutoFit/>
          </a:bodyPr>
          <a:lstStyle/>
          <a:p>
            <a:pPr algn="l">
              <a:lnSpc>
                <a:spcPct val="125000"/>
              </a:lnSpc>
            </a:pPr>
            <a:r>
              <a:rPr sz="2400" b="0" i="0">
                <a:solidFill>
                  <a:srgbClr val="5A6862"/>
                </a:solidFill>
                <a:latin typeface="Segoe UI"/>
                <a:cs typeface="Segoe UI"/>
              </a:rPr>
              <a:t>Ibn Khaldun, vol. 2, p. 489</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623568"/>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623568"/>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chapters that must be read whole before they…</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14–23</a:t>
            </a:r>
          </a:p>
        </p:txBody>
      </p:sp>
      <p:sp>
        <p:nvSpPr>
          <p:cNvPr id="5" name="TextBox 4"/>
          <p:cNvSpPr txBox="1"/>
          <p:nvPr/>
        </p:nvSpPr>
        <p:spPr>
          <a:xfrm>
            <a:off x="566928" y="402336"/>
            <a:ext cx="11057839" cy="1330960"/>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Four good sentences — one of them usable after…</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91440"/>
            <a:ext cx="11057839" cy="274320"/>
          </a:xfrm>
          <a:prstGeom prst="rect">
            <a:avLst/>
          </a:prstGeom>
          <a:noFill/>
        </p:spPr>
        <p:txBody>
          <a:bodyPr wrap="square" lIns="36576" tIns="0" rIns="36576" bIns="0" anchor="t">
            <a:spAutoFit/>
          </a:bodyPr>
          <a:lstStyle/>
          <a:p>
            <a:pPr algn="l">
              <a:lnSpc>
                <a:spcPct val="125000"/>
              </a:lnSpc>
            </a:pPr>
            <a:r>
              <a:rPr sz="2400" b="1" i="0">
                <a:solidFill>
                  <a:srgbClr val="C49A45"/>
                </a:solidFill>
                <a:latin typeface="Segoe UI"/>
                <a:cs typeface="Segoe UI"/>
              </a:rPr>
              <a:t>14–15</a:t>
            </a:r>
          </a:p>
        </p:txBody>
      </p:sp>
      <p:sp>
        <p:nvSpPr>
          <p:cNvPr id="5" name="TextBox 4"/>
          <p:cNvSpPr txBox="1"/>
          <p:nvPr/>
        </p:nvSpPr>
        <p:spPr>
          <a:xfrm>
            <a:off x="566928" y="402336"/>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Rustam watching the prayer ranks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82880"/>
            <a:ext cx="11057839" cy="711199"/>
          </a:xfrm>
          <a:prstGeom prst="rect">
            <a:avLst/>
          </a:prstGeom>
          <a:noFill/>
        </p:spPr>
        <p:txBody>
          <a:bodyPr wrap="square" lIns="36576" tIns="0" rIns="36576" bIns="0" anchor="t">
            <a:spAutoFit/>
          </a:bodyPr>
          <a:lstStyle/>
          <a:p>
            <a:pPr algn="l">
              <a:lnSpc>
                <a:spcPct val="116000"/>
              </a:lnSpc>
            </a:pPr>
            <a:r>
              <a:rPr sz="4000" b="1" i="0">
                <a:solidFill>
                  <a:srgbClr val="FAF7F0"/>
                </a:solidFill>
                <a:latin typeface="Georgia"/>
                <a:cs typeface="Georgia"/>
              </a:rPr>
              <a:t>The judgement that is not in the book</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LACEHOLDER::label"/>
          <p:cNvSpPr txBox="1"/>
          <p:nvPr/>
        </p:nvSpPr>
        <p:spPr>
          <a:xfrm>
            <a:off x="566928" y="3182112"/>
            <a:ext cx="11057839" cy="411480"/>
          </a:xfrm>
          <a:prstGeom prst="rect">
            <a:avLst/>
          </a:prstGeom>
          <a:noFill/>
        </p:spPr>
        <p:txBody>
          <a:bodyPr wrap="square" lIns="36576" tIns="0" rIns="36576" bIns="0" anchor="t">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lIns="36576" tIns="0" rIns="36576" bIns="0" anchor="t">
            <a:spAutoFit/>
          </a:bodyPr>
          <a:lstStyle/>
          <a:p>
            <a:pPr algn="ctr">
              <a:lnSpc>
                <a:spcPct val="125000"/>
              </a:lnSpc>
            </a:pPr>
            <a:r>
              <a:rPr sz="1400" b="0" i="0">
                <a:solidFill>
                  <a:srgbClr val="5A6862"/>
                </a:solidFill>
                <a:latin typeface="Segoe UI"/>
                <a:cs typeface="Segoe UI"/>
              </a:rPr>
              <a:t>A restrained editorial illustration for: Ibn Khaldūn is the great explainer of Islamic history, and it is tempting to say that he explained the ridda. He did not. Ninety-five pages of his narrative of the…. Landscape, 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94209</Words>
  <Application>Microsoft Office PowerPoint</Application>
  <PresentationFormat>Widescreen</PresentationFormat>
  <Paragraphs>6551</Paragraphs>
  <Slides>389</Slides>
  <Notes>372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389</vt:i4>
      </vt:variant>
    </vt:vector>
  </HeadingPairs>
  <TitlesOfParts>
    <vt:vector size="396" baseType="lpstr">
      <vt:lpstr>Aptos</vt:lpstr>
      <vt:lpstr>Arial</vt:lpstr>
      <vt:lpstr>Calibri</vt:lpstr>
      <vt:lpstr>Georgia</vt:lpstr>
      <vt:lpstr>Segoe UI</vt:lpstr>
      <vt:lpstr>Traditional 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Daniyal Yasin</cp:lastModifiedBy>
  <cp:revision>1</cp:revision>
  <dcterms:created xsi:type="dcterms:W3CDTF">2013-01-27T09:14:16Z</dcterms:created>
  <dcterms:modified xsi:type="dcterms:W3CDTF">2026-09-10T09:43:10Z</dcterms:modified>
  <cp:category/>
</cp:coreProperties>
</file>