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This is session 1's closing Line, unchanged. Do not explain it — let them recognise it. 'We came from 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Session 1's closing Map, unchanged. Where the room walked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1] Ask it, take the show of hands, take two guesses, THEN advance. Everything tonight happens inside that span.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 is NOT in SPINE.md's starred 29-card cut. Delete this slide first when the evening is running long; nothing later depends on it.</a:t>
            </a:r>
          </a:p>
          <a:p/>
          <a:p>
            <a:r>
              <a:t>[HANDS] Before naming them: who commanded the Meccan army at Uhud? Let the room answer, then give all three names. This card is the frame the whole 'men who had fought against it' strand hangs on — a man's place in one line of battle is not his place in the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 is NOT in SPINE.md's starred 29-card cut. Delete this slide first when the evening is running long; nothing later depends on it.</a:t>
            </a:r>
          </a:p>
          <a:p/>
          <a:p>
            <a:r>
              <a:t>Ibn Ishaq records exactly who led that cavalry. Three thousand men, two hundred horses. Read the names off the page and stop there.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time the map points at Byzantine ground. In the ranks under an eighteen-year-old: Umar b. al-Khattab ؓ and the senior Muhajirun and Ansar. People said so out loud.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heard the objection, stood up, and answered it. His father is Zayd b. Haritha ؓ, who had commanded before him. Ask the room first: how old do you have to be before people will take an order from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Ask before you tell it: the capital is surrounded and your only army is marching away — do you call it back? Take the hands. Among those who advised recall: Umar b. al-Khattab ؓ. Then read the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 is NOT in SPINE.md's starred 29-card cut. Delete this slide first when the evening is running long; nothing later depends on it.</a:t>
            </a:r>
          </a:p>
          <a:p/>
          <a:p>
            <a:r>
              <a:t>The Ansar's second request was not 'cancel the march' but 'give us an older commander'. Umar ؓ carried the message. He took him by the beard.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 is NOT in SPINE.md's starred 29-card cut. Delete this slide first when the evening is running long; nothing later depends on it.</a:t>
            </a:r>
          </a:p>
          <a:p/>
          <a:p>
            <a:r>
              <a:t>Only at the end did he ask a favour — and he asked it of Usama ؓ, because Usama ؓ was the commander and Umar ؓ was in his army: would you release Umar to 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 is NOT in SPINE.md's starred 29-card cut. Delete this slide first when the evening is running long; nothing later depends on it.</a:t>
            </a:r>
          </a:p>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Marched late Rabi' al-Awwal 11 AH. Away forty days — some say seventy. It did not fight its way through; it simply passed. The books differ on the target: Ubna in the Balqa', or Quda'a clans, or a clash with Roman forces — say so. The month of the return is our arithmetic, not a dated report on any page read.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a delegation comes to negotiate and goes home again — what have they taken with them besides your answer? They counted the men. Three days later the raid came at night. Half stayed back at Dhu Husa as a reserve. Say the setback plainly;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8 is NOT in SPINE.md's starred 29-card cut. Delete this slide first when the evening is running long; nothing later depends on it.</a:t>
            </a:r>
          </a:p>
          <a:p/>
          <a:p>
            <a:r>
              <a:t>Same night as the reverse. The three brothers of Muqarrin on the right, the left and the rear. Marched in the dark. Camped at Dhu al-Qassa and left al-Nu'man b. Muqarrin ؓ there with a detachment.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2] Ask BEFORE this slide: Medina is one town — how many armies would you send out at once? Take the guesses, then show eleven arrows and count them with the room. He rode out a third time with his sword drawn and Ali ؓ at his camel's head; this time they would not let him go on. He tied the banners on that ground and went home. NOTE: Ibn Kathir announces eleven and prints ten; al-Kamil prints all eleven. Do NOT name the ninth commander — three sources give three forms of it. This is the biggest map moment of the evening.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commander's own troops came up and joined him on that ground, and then they separated. One camp, one sitting, eleven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10 is NOT in SPINE.md's starred 29-card cut. Delete this slide first when the evening is running long; nothing later depends on it.</a:t>
            </a:r>
          </a:p>
          <a:p/>
          <a:p>
            <a:r>
              <a:t>The messenger was to read it aloud in every assembly of the tribe. CAUTION: the same letter carries a harsh clause. Do not quote it and do not deny it. If raised: it is on that page, transmitted by Sayf b. Umar; the operative test on the same page is the adhan; and the question is for the fuqaha'.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10 is NOT in SPINE.md's starred 29-card cut. Delete this slide first when the evening is running long; nothing later depends on it.</a:t>
            </a:r>
          </a:p>
          <a:p/>
          <a:p>
            <a:r>
              <a:t>A test any man could apply from a distance — no lawyer, no court. Call the adhan when you halt. If they answer it, stop.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 Bakr ؓ quoted this when he gave Khalid ؓ the ridda command. The man who transmits it is Wahshi b. Harb ؓ — twelve years earlier the two of them had been on the same side of the field at Uhud, and it was the other side. GRADING: say only 'Imam Ahmad records it'. The matn is graded hasan/sahih by its routes; this particular chain, through Harb b. Wahshi, is weak. Assert no grade from the platform.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Tulayha sat wrapped in a cloak waiting for revelation while Uyayna b. Hisn did the fighting. Three times Uyayna broke off, walked back to the cloak, and asked whether Jibril had come.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he had followed this man, and was fighting for him that morning — what was the question that ended it? Tulayha's own exit is on the same page: a horse ready, a mount for his wife, and a line called back over his shoulder. Keep him alive in the room — he comes back in Act Five.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13 is NOT in SPINE.md's starred 29-card cut. Delete this slide first when the evening is running long; nothing later depends on it.</a:t>
            </a:r>
          </a:p>
          <a:p/>
          <a:p>
            <a:r>
              <a:t>[HANDS] Ask 'why did the ridda armies lose?' — take two or three answers, then read this. Tulayha asked one of his own men, and this is the answer he got. The difference was not in the numbers, and the losing side could see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options, named to their faces: a war of expulsion, or a humbling settlement. Ibn Mas'ud ؓ defines the first — that they be put out of their homes. The settlement: weapons and horses surrendered; compensation one way only; and blood-money for our dead. Umar ؓ interrupted at that clause, and approved the rest. No captives were taken at Buzakha.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you are given a brother — not born to you, assigned to you. How long would you expect that to last? The mu'akhah paired each Muhajir with a man of the Ansar. Zayd b. al-Khattab ؓ was paired with Ma'n b. Adi ؓ; both were killed at al-Yamama on the same day. Abu Hudhayfa ؓ and Abbad b. Bishr ؓ were paired the same way and died there too (al-Bidaya vol. 7 p. 55). This card is the frame of the act: tell the room to watch for households.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16 is NOT in SPINE.md's starred 29-card cut. Delete this slide first when the evening is running long; nothing later depends on it.</a:t>
            </a:r>
          </a:p>
          <a:p/>
          <a:p>
            <a:r>
              <a:t>[HANDS] Before it: who here has a relative who did not agree with the biggest decision they ever made? Leave the hands up one beat and move on — do not develop it. al-Dhahabi رحمہ اللہ opens the notice without softening anything: martyr, son of the elder of the Jahiliyya, man of Badr, in one sentence. He had accepted Islam before the Companions were meeting in the house of al-Arqam.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17 is NOT in SPINE.md's starred 29-card cut. Delete this slide first when the evening is running long; nothing later depends on it.</a:t>
            </a:r>
          </a:p>
          <a:p/>
          <a:p>
            <a:r>
              <a:t>After Badr the dead of Quraysh were put into the well, and Utba b. Rabi'a was dragged to it. The Prophet ﷺ looked at the face of his son and saw it had gone pale, and asked him whether something had entered him about his father. This is the answer. Then the Prophet ﷺ prayed for him and spoke kindly to him. He was not told that grief was a fault, and he did not pretend he had none. The opening sentence of the report is spoken, not printed — the slide carries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18 is NOT in SPINE.md's starred 29-card cut. Delete this slide first when the evening is running long; nothing later depends on it.</a:t>
            </a:r>
          </a:p>
          <a:p/>
          <a:p>
            <a:r>
              <a:t>[HANDS] Before it: where do you think the man who led the Muhajirun in prayer came from? Salim ؓ was a slave, his origin Istakhr in Persia. The woman of Abu Hudhayfa's ؓ household freed him and Abu Hudhayfa ؓ adopted him outright. al-Dhahabi رحمہ اللہ opens the notice with four descriptions in a row and not one of them is about where he came from.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19 is NOT in SPINE.md's starred 29-card cut. Delete this slide first when the evening is running long; nothing later depends on it.</a:t>
            </a:r>
          </a:p>
          <a:p/>
          <a:p>
            <a:r>
              <a:t>The Muhajirun reached Medina before the Prophet ﷺ did, camped at al-Usba beside Quba', and had to pray. They put a freed slave in front because he had more of the Qur'an than any of them. Among the men praying behind him: Umar b. al-Khattab ؓ and Abu Salama b. Abd al-Asad ؓ. The Siyar editor's page break falls inside the sentence, so the slide carries the clause before it and the rest is spoken.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20 is NOT in SPINE.md's starred 29-card cut. Delete this slide first when the evening is running long; nothing later depends on it.</a:t>
            </a:r>
          </a:p>
          <a:p/>
          <a:p>
            <a:r>
              <a:t>Point at the red block and say it: it has no line of retreat, and that was the intention. Ikrima ؓ and Shurahbil ؓ had approached earlier.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20 is NOT in SPINE.md's starred 29-card cut. Delete this slide first when the evening is running long; nothing later depends on it.</a:t>
            </a:r>
          </a:p>
          <a:p/>
          <a:p>
            <a:r>
              <a:t>The night before, the vanguard picked up a raiding party coming home. He executed them and kept one alive on a stranger's advice: Mujja'a b. Murara, in irons, in the tent with Khalid's ؓ wife. That decision settled the end of the battle before it started.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their leaders told them that if they lost, their women would be taken. The armies collided and the Muslim line broke; the bedouin contingents ran. The prisoner in irons in that tent stood up and gave Umm Tamim his protection. Later the same day Muslims came into the same tent meaning to kill him, and she gave him hers — Siyar (al-Khulafa' al-Rashidun) p. 47. The book keeps both halves.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22 is NOT in SPINE.md's starred 29-card cut. Delete this slide first when the evening is running long; nothing later depends on it.</a:t>
            </a:r>
          </a:p>
          <a:p/>
          <a:p>
            <a:r>
              <a:t>Zayd b. al-Khattab ؓ was carrying a banner and the line was going backwards. He said he would not speak again until either Allah routed them or he met Allah and put his case to Him himself. He went forward and did not stop going forward. The banner fell and Salim ؓ picked it up. CAUTION: three approved books give three different banner arrangements. Say 'he carried a banner' and never draw the diagram. al-Kamil vol. 2 p. 217 has a longer wording of the same vow — do not merge them.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23 is NOT in SPINE.md's starred 29-card cut. Delete this slide first when the evening is running long; nothing later depends on it.</a:t>
            </a:r>
          </a:p>
          <a:p/>
          <a:p>
            <a:r>
              <a:t>Thabit b. Qays ؓ was the orator of the Ansar and had a very loud voice. When the verse came down forbidding the believers to raise their voices above the Prophet's ﷺ, he concluded he was of the people of the Fire, shut himself in his house and stopped coming. The Prophet ﷺ noticed he was missing and sent for the reason. The verse-and-house incident is Sahih Muslim 119 and Sahih al-Bukhari 3613. PLAY THIS IMMEDIATELY BEFORE THE SHROUD — it is what makes the shroud land.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Anas ؓ found him doing it and said: do you not see what is happening? He said: in a moment, nephew. Then he took the Ansar's banner, dug his feet in to the middle of his shins, and did not move until he was killed. On the same field, in the same minutes, the whole army was calling to each other: 'people of Surat al-Baqara — the sorcery is void today' (al-Bidaya vol. 7 p. 33).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did not tell them what to do. He told them what they had already been.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25 is NOT in SPINE.md's starred 29-card cut. Delete this slide first when the evening is running long; nothing later depends on it.</a:t>
            </a:r>
          </a:p>
          <a:p/>
          <a:p>
            <a:r>
              <a:t>Salim ؓ was holding the banner of the Muhajirun — a banner the man before him had been killed carrying. He answered a question about his courage by naming what he carried. He is the man the Prophet ﷺ went out at night to listen to (Siyar vol. 1 p. 168).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26 is NOT in SPINE.md's starred 29-card cut. Delete this slide first when the evening is running long; nothing later depends on it.</a:t>
            </a:r>
          </a:p>
          <a:p/>
          <a:p>
            <a:r>
              <a:t>Same field, same hour. He did not call them by tribe and he did not call them by clan. He called them the people of the Qur'an, and told them what to do about it. Then he charged, drove them back, and was struck down.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27 is NOT in SPINE.md's starred 29-card cut. Delete this slide first when the evening is running long; nothing later depends on it.</a:t>
            </a:r>
          </a:p>
          <a:p/>
          <a:p>
            <a:r>
              <a:t>Thabit b. Qays ؓ was killed at al-Yamama and his coat of mail was stolen off his body by a Muslim, who hid it. A man of the army saw him in a dream and was told where it was, and given three things to say to the caliph. The mail was exactly where he had said. REPORT THE CHAIN THE WAY THE BOOKS DO: Ibn Kathir says the account has other corroborating reports; his editor notes the daughter in the chain is unknown; and al-Haythami's line is the one to give aloud — the rest of the report is in the Sahih, the episode of the mail is not. Build no ruling about dreams on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27 is NOT in SPINE.md's starred 29-card cut. Delete this slide first when the evening is running long; nothing later depends on it.</a:t>
            </a:r>
          </a:p>
          <a:p/>
          <a:p>
            <a:r>
              <a:t>What he sent back was a debt he owed, property he had, and a slave of his who was to be freed — and twice he told the man not to dismiss it as a dream and let it go to waste. In Medina Abu Bakr ؓ carried out the will of a man who was already dead. The long version, naming Khalid ؓ and the caliph, is Siyar vol. 1 p. 313.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Ask first: has anyone here ever missed something and spent years wishing they had been there? Anas b. al-Nadr ؓ had missed Badr and it weighed on him. At Uhud the line broke; he walked forward with his sword and met Sa'd b. Mu'adh ؓ on the way. Sa'd ؓ said afterwards that he himself could not do what that man had done. NOTE: the year is not fixed on the pages read — Siyar's chapter heading is 'the raid of Uhud, and it was in Shawwal'.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29 is NOT in SPINE.md's starred 29-card cut. Delete this slide first when the evening is running long; nothing later depends on it.</a:t>
            </a:r>
          </a:p>
          <a:p/>
          <a:p>
            <a:r>
              <a:t>When the fighting stopped they went out to identify the dead. More than eighty wounds on him — sword, spear and arrow — and his own family could not tell who he was. His sister recognised her brother by his fingertips. CITATION CAUTION: the verse is quoted on the al-Bidaya page; the surah-and-verse reference is printed on the Siyar page, not on that one. Cite both, or check a mushaf before printing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30 is NOT in SPINE.md's starred 29-card cut. Delete this slide first when the evening is running long; nothing later depends on it.</a:t>
            </a:r>
          </a:p>
          <a:p/>
          <a:p>
            <a:r>
              <a:t>Anas ؓ came in on his brother and found him singing over his bow, and asked him how long that was going to go on. The counts move between the chains — ninety-nine in one, ninety-odd in another, a hundred in a third. Say 'the reports give ninety-odd'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the gate is shut, the wall is solid, and there are thousands inside — what do you do? CAUTION: al-Bara' b. Malik ؓ SURVIVED. Ibn Khaldun appears to list him among the killed; Siyar contradicts it (vol. 1 p. 196). Do not say he died there.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refused. He made them do it. Lifted on a shield raised on spear-shafts until he topped the wall, down among them alone, and fought his way to the gate.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FAMILY SENTENCE — say it before or after, but say it: the man on that shield is Anas b. Malik's ؓ elder brother, the elder brother of the boy who served the Prophet ﷺ for ten years; their uncle came off the field at Uhud with the same count of wounds, and did not get up. (Siyar vol. 1 p. 195, al-Bidaya vol. 6 p. 396, Siyar vol. 1 p. 196, al-Bidaya vol. 4 p. 203.) CAUTION: do NOT add that his mother is the woman who asked for Islam as her dower — no page read names al-Bara's ؓ mother. The sentence is just as strong through the brother, and the brother is on the page. This card's quotation is the previous slide's and is not repeated here.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33 is NOT in SPINE.md's starred 29-card cut. Delete this slide first when the evening is running long; nothing later depends on it.</a:t>
            </a:r>
          </a:p>
          <a:p/>
          <a:p>
            <a:r>
              <a:t>Abu Aqil ؓ was one of the chiefs of the Ansar and a man of Badr. Two men who would not be carried: al-Bara' ؓ survived with eighty wounds, Abu Aqil ؓ did not survive. Tell them as a pair. CAUTION: the long famous version of this account — the night wound, the dead arm, the severed arm, the fourteen wounds, 'who won?' — is NOT in any approved source. Tell only what is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Struck down, Salim ؓ asked what had become of Abu Hudhayfa ؓ, then about one other man, and then asked for one thing. CAUTION: the second man is 'so-and-so' in the source. Do not name him. And no approved source says they were buried in one grave.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35 is NOT in SPINE.md's starred 29-card cut. Delete this slide first when the evening is running long; nothing later depends on it.</a:t>
            </a:r>
          </a:p>
          <a:p/>
          <a:p>
            <a:r>
              <a:t>CARRY THE 'IT IS SAID' ACROSS INTO THE DELIVERY: al-Dhahabi رحمہ اللہ introduces this with 'and it is said', which is his way of passing something on without vouching for it. Say 'it is said that…', never 'they were found'. Elsewhere, in the roll of the day's martyrs (Siyar vol. 1 p. 298), he lists the two of them first and in that order: the master and the freedman on one line.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36 is NOT in SPINE.md's starred 29-card cut. Delete this slide first when the evening is running long; nothing later depends on it.</a:t>
            </a:r>
          </a:p>
          <a:p/>
          <a:p>
            <a:r>
              <a:t>Habib b. Zayd ؓ was in Musaylima's hands. His mother was Umm Umara Nusayba bint Ka'b رضي الله عنها, who had been at al-Aqaba, at Uhud, at al-Hudaybiya and at Hunayn. When the army marched to al-Yamama she went with it. Her hand was cut off there. She came back to Medina covered in wounds, and Abu Bakr ؓ, while he was caliph, was seen coming to her to ask after her. NUMBER CAUTION: Siyar vol. 2 p. 281 says eleven wounds besides; al-Bidaya vol. 3 p. 428 says twelve. Give one figure with its caption, or say only 'covered in wounds'. Her other son Abd Allah b. Zayd ؓ is named in one of four accounts of who killed Musaylima — do not settle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Wahshi b. Harb ؓ, who had killed Hamza ؓ at Uhud before he was a Muslim. His javelin went through and out the other side; a second man came up with a sword. Sources differ on who the second man was — say 'a second man'. Afterwards Khalid ؓ walked the dead with the prisoner to identify the body. CAUTION: do not use the anonymous ranking saying on the same Siyar page.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38 is NOT in SPINE.md's starred 29-card cut. Delete this slide first when the evening is running long; nothing later depends on it.</a:t>
            </a:r>
          </a:p>
          <a:p/>
          <a:p>
            <a:r>
              <a:t>He took the same spear he had thrown at Uhud, saw a man standing in a gap in a wall, and did not know who it was. He would never claim the kill for himself. This is what he said about the two throws of his life.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39 is NOT in SPINE.md's starred 29-card cut. Delete this slide first when the evening is running long; nothing later depends on it.</a:t>
            </a:r>
          </a:p>
          <a:p/>
          <a:p>
            <a:r>
              <a:t>He had spent his life among fighting men on both sides. His verdict on Musaylima's army was one sentence, and it was not the sentence anyone expects from the winning side. NOTE: this is the same sentence as the Wahshi ؓ card two slides back, given on its own. If the evening is running, cut this and keep that.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40 is NOT in SPINE.md's starred 29-card cut. Delete this slide first when the evening is running long; nothing later depends on it.</a:t>
            </a:r>
          </a:p>
          <a:p/>
          <a:p>
            <a:r>
              <a:t>The news came back to Medina. What Umar ؓ said when he heard it was not about the battle. It was a count of two things and he had come second in both. Siyar vol. 1 p. 298 carries the second half as something he repeated.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remark that the wind came from the direction of al-Yamama is the speaker's own — the books do not say it. Say it as your own or leave it out.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CAPTION CAUTION: al-Bidaya vol. 7 p. 50 has a different wording of the same remark. The slide carries the Siyar words under a Siyar caption. Do not print the Siyar words under an Ibn Kathir caption.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how many men who had the whole Qur'an by heart died that day? What would you guess? — then give the honest answer: the books do not say. THIS IS THE CARD THAT STOPS A WRONG NUMBER BEING SAID. The figures the safe list does give run from 58 to more than 1,080, and none of them is a count of reciters. Anyone who says '450 reciters' has misread al-Bidaya vol. 7 p. 55.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43 is NOT in SPINE.md's starred 29-card cut. Delete this slide first when the evening is running long; nothing later depends on it.</a:t>
            </a:r>
          </a:p>
          <a:p/>
          <a:p>
            <a:r>
              <a:t>[HANDS] Ask first: if every copy of a book you loved lived only in people's memories, how many funerals would it take to lose it? Ibn Kathir's phrase is istaharra al-qatl fi al-qurra' — the killing ran hot among the reciters; the editor glosses istaharra as ishtadda. The dead in the garden and in the battle close to ten thousand, though some say twenty-one thousand. NEVER put a number of qurra' on the slide; no source we use gives one.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44 is NOT in SPINE.md's starred 29-card cut. Delete this slide first when the evening is running long; nothing later depends on it.</a:t>
            </a:r>
          </a:p>
          <a:p/>
          <a:p>
            <a:r>
              <a:t>Ibn Kathir رحمہ اللہ, writing Salim's ؓ death notice, gives the reason the ummah remembered him. SLIDE RULE: Ibn Kathir's own text quotes only the opening clause. If the four names go on screen they must be captioned to Sahih Muslim 2464 as given in the editor's note on al-Bidaya vol. 7 p. 50 — never to Ibn Kathir.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Zayd b. Thabit ؓ of Banu al-Najjar: eleven years old when the Prophet ﷺ reached Medina, seventeen suras memorised before he was introduced, learned the Jews' script in a fortnight, wrote the revelation down as it came. His objection is the most serious objection there is.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Say the four once, then ask the room to name them back to you. It is the one line in the evening everybody will remember. Ibn Kathir names al-likhaf — the thin white stones — where al-Dhahabi names al-riqa'. Cite both if you use both.</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verb in his own account is tatabba'a — to follow a thing up piece by piece. Then it was one set of suhuf, in one place, for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47 is NOT in SPINE.md's starred 29-card cut. Delete this slide first when the evening is running long; nothing later depends on it.</a:t>
            </a:r>
          </a:p>
          <a:p/>
          <a:p>
            <a:r>
              <a:t>Both books describe the crossing the same way: they walked on something like soft sand with water over it, not deep enough to reach the camels' pads. al-Bidaya vol. 7 p. 40 prints the du'a they said going in.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47 is NOT in SPINE.md's starred 29-card cut. Delete this slide first when the evening is running long; nothing later depends on it.</a:t>
            </a:r>
          </a:p>
          <a:p/>
          <a:p>
            <a:r>
              <a:t>He closed the roads behind the enemy before he opened one in front of himself.</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48 is NOT in SPINE.md's starred 29-card cut. Delete this slide first when the evening is running long; nothing later depends on it.</a:t>
            </a:r>
          </a:p>
          <a:p/>
          <a:p>
            <a:r>
              <a:t>Ikrima ؓ had one of the eleven banners and was sent against Musaylima with Shurahbil ؓ following. He attacked before Shurahbil ؓ arrived, wanting the victory on his own, and was badly handled. The caliph wrote to him — and then sent him on: Uman, Mahra, Yemen, Hadramawt. He fought in every one of them. He was corrected and kept, not corrected and dropped.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49 is NOT in SPINE.md's starred 29-card cut. Delete this slide first when the evening is running long; nothing later depends on it.</a:t>
            </a:r>
          </a:p>
          <a:p/>
          <a:p>
            <a:r>
              <a:t>The son of Abu Jahl kissed the Book and wept over it. WORDING CAUTION: 'kissed' is Ibn Kathir's word, which is what this slide cites. 'Held it to his face' is al-Darimi's wording and must not be said under a Bidaya caption. Imam Ahmad رحمہ اللہ later cited the habit as evidence in a question of law.</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This is the payoff — ask it: last time we left Tulayha riding away from Buzakha. What do you think became of him? Take answers, then tell it. He escaped to Syria and lived among the Ghassanids, then returned to Islam and went to Mecca for umra. Ibn Kathir says twice that he could not bring himself to face Abu Bakr ؓ. Then he came to greet Umar ؓ. And Umar ؓ was pleased by his answer, and was satisfied with him.</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Ibn Kathir's own summing-up, not ours. He does not describe a conquest. One colour, no arrows: hold on this map and let them look at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armies were sent to hold up people who were already standing. The whole thing was over in a little more than a year. A contiguous clip of a 339-character passage; the whole passage, with its closing date sentence, is in the briefing.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Ask first: two years after the tribes broke apart, they were moving on two empires — what had changed? His answer multiplies nobody's numbers. SAY HIS NAME and say 'as he reads it': he never wrote this about the ridda; joining his chapter to the year eleven is ours. Ibn Khaldun is admitted for judgement and framing only (DECISIONS.md #29). His عبرت is spoken here and is deliberately NOT one of tonight's five lines.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[WORKSHEET] 90 seconds, silent. Say nothing at all while they write. Do not fill the silence. Watch the clock.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Muharram 12 AH. The letter did not say 'conquer Iraq'. It said: come at Iraq from its lower end. Then two restrictions that are easy to miss — no man compelled to march, and no man used who had apostatised, even if he has come back. The slide carries the two restrictions; the call, the jizya and the order to fight are on the same page and are spoken.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54 is NOT in SPINE.md's starred 29-card cut. Delete this slide first when the evening is running long; nothing later depends on it.</a:t>
            </a:r>
          </a:p>
          <a:p/>
          <a:p>
            <a:r>
              <a:t>Yazid b. Abi Sufyan ؓ was one of four commanders appointed for Syria. He was called Yazid al-Khayr. He was the brother of Umm Habiba ؓ, the Mother of the Believers, and his father had led the army at Uhud. When Abu Bakr ؓ tied his standard he did not stand and watch him ride out. The caliph walked and the commander rode, and neither of them thought it strange.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55 is NOT in SPINE.md's starred 29-card cut. Delete this slide first when the evening is running long; nothing later depends on it.</a:t>
            </a:r>
          </a:p>
          <a:p/>
          <a:p>
            <a:r>
              <a:t>[HANDS] Ask: how do you carry water for an army across five days of desert with no wells? Take two answers, then tell them. The strongest camels made thirsty, then watered twice over, lips cut and mouths bound so they could not chew and lose the water; ten opened every day to water the horses. Length: al-Bidaya says nine days, al-Kamil and Siyar say five nights. Say both.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55 is NOT in SPINE.md's starred 29-card cut. Delete this slide first when the evening is running long; nothing later depends on it.</a:t>
            </a:r>
          </a:p>
          <a:p/>
          <a:p>
            <a:r>
              <a:t>On the last stretch Rafi', whose eyes were bad, asked whether they could see a box-thorn bush the height of a seated man. They said no. He said: then by God you are dead, and I am dead with you. They looked again. It was there, cut to a stump. They dug at its root and found the spring.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commanders had come to the Yarmuk, each over his own men, nobody over all of them. He did not ask for the command; he proposed passing it round. They made him commander expecting it to last a long time. It lasted one day.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57 is NOT in SPINE.md's starred 29-card cut. Delete this slide first when the evening is running long; nothing later depends on it.</a:t>
            </a:r>
          </a:p>
          <a:p/>
          <a:p>
            <a:r>
              <a:t>[HANDS] Ask the room to guess the two army sizes. Take three guesses — then show that the books themselves give three different answers, and say why. A Christian Arab standing near him had said out loud what everyone could see.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58 is NOT in SPINE.md's starred 29-card cut. Delete this slide first when the evening is running long; nothing later depends on it.</a:t>
            </a:r>
          </a:p>
          <a:p/>
          <a:p>
            <a:r>
              <a:t>[HANDS] Before telling it: who here has worked with someone whose hardness was a response to somebody else's softness? He did not argue with the description. He explained it: when I was angry with a man, Umar ؓ showed me leniency; when I was gentle, he showed me severity.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59 is NOT in SPINE.md's starred 29-card cut. Delete this slide first when the evening is running long; nothing later depends on it.</a:t>
            </a:r>
          </a:p>
          <a:p/>
          <a:p>
            <a:r>
              <a:t>The document was finished and read out to the gathered people; Umar ؓ walked beside the freedman who carried it, telling the crowd to be quiet and listen. They said: we hear and we obey. Then he asked them a question nobody had asked him.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could you list, right now, everything in your house that is not yours? He called A'isha ؓ and told her that since the day he took charge of the Muslims' affair he had not eaten a dinar or a dirham of theirs — only the coarsest of their food, only the roughest of their clothing. Then he listed these three.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community had voted him a maintenance when he gave up trading — a man cannot run a market stall and a state at once. NUMBER CAUTION: the sources give 6,000 dirhams a year, half a sheep a day, and 2,500. Put no figure on the slide. The instruction is the point, not the amount.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62 is NOT in SPINE.md's starred 29-card cut. Delete this slide first when the evening is running long; nothing later depends on it.</a:t>
            </a:r>
          </a:p>
          <a:p/>
          <a:p>
            <a:r>
              <a:t>He gave instructions for his own washing — his wife Asma' bint Umays ؓ, and his son Abd al-Rahman ؓ. Then the shroud: use the two garments I am wearing, and buy one more to go with them.</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in Siyar fixes all three positions. CAUTION: do NOT claim the burial was 'in A'isha's ؓ house' from these pages — they say beside the Prophet ﷺ, and no more.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Monday evening, eight nights remaining of Jumada al-Akhira 13 AH. Umar ؓ prayed over him in the Prophet's ﷺ mosque, four takbirs. Carried on the same bier the Prophet ﷺ had been carried on. He was sixty-three — the age at which the Prophet ﷺ died.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years after al-Yamama, Umar ؓ was dying of the assassin's wound and refused to name one man, setting up a council of six instead. SAY 'IT IS RELATED THAT…' — that is Ibn Kathir's own passive. Ibn Abd al-Barr رحمہ اللہ explains it: he would have gone by Salim's ؓ judgement about whom to appoint. A second, differently worded report in Siyar vol. 1 p. 170 names both Salim ؓ and Abu Ubayda ؓ, and al-Dhahabi weakens its chain on the page. Do not merge the two.</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3] Ask it before you advance, and let them answer. Then show the Line. This slide opens session 3 unchanged.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Hold on this one. Let them compare it with slide 3 themselves. This slide opens session 3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Session Two  ·  Abu Bakr al-Siddiq ؓ</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Two Years, Three Months</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11–13 AH  ·  632–634 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Bookend 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 last week</a:t>
            </a:r>
          </a:p>
        </p:txBody>
      </p:sp>
      <p:pic>
        <p:nvPicPr>
          <p:cNvPr id="6" name="Picture 5" descr="line_s1.trim.png"/>
          <p:cNvPicPr>
            <a:picLocks noChangeAspect="1"/>
          </p:cNvPicPr>
          <p:nvPr/>
        </p:nvPicPr>
        <p:blipFill>
          <a:blip r:embed="rId2"/>
          <a:stretch>
            <a:fillRect/>
          </a:stretch>
        </p:blipFill>
        <p:spPr>
          <a:xfrm>
            <a:off x="566928" y="3083773"/>
            <a:ext cx="11057839" cy="1001349"/>
          </a:xfrm>
          <a:prstGeom prst="rect">
            <a:avLst/>
          </a:prstGeom>
        </p:spPr>
      </p:pic>
      <p:sp>
        <p:nvSpPr>
          <p:cNvPr id="7" name="TextBox 6"/>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The whole line. Tonight is the first two years of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the morning after</a:t>
            </a:r>
          </a:p>
        </p:txBody>
      </p:sp>
      <p:pic>
        <p:nvPicPr>
          <p:cNvPr id="6" name="Picture 5" descr="map_s2_open_11ah.png"/>
          <p:cNvPicPr>
            <a:picLocks noChangeAspect="1"/>
          </p:cNvPicPr>
          <p:nvPr/>
        </p:nvPicPr>
        <p:blipFill>
          <a:blip r:embed="rId2"/>
          <a:stretch>
            <a:fillRect/>
          </a:stretch>
        </p:blipFill>
        <p:spPr>
          <a:xfrm>
            <a:off x="577798" y="1389888"/>
            <a:ext cx="6612962"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Medina</a:t>
            </a:r>
          </a:p>
        </p:txBody>
      </p:sp>
      <p:sp>
        <p:nvSpPr>
          <p:cNvPr id="9" name="TextBox 8"/>
          <p:cNvSpPr txBox="1"/>
          <p:nvPr/>
        </p:nvSpPr>
        <p:spPr>
          <a:xfrm>
            <a:off x="7713695" y="1920240"/>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capital, and one field army</a:t>
            </a:r>
          </a:p>
        </p:txBody>
      </p:sp>
      <p:sp>
        <p:nvSpPr>
          <p:cNvPr id="10" name="Rectangle 9"/>
          <p:cNvSpPr/>
          <p:nvPr/>
        </p:nvSpPr>
        <p:spPr>
          <a:xfrm>
            <a:off x="7512527" y="273634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681478"/>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tribes around it</a:t>
            </a:r>
          </a:p>
        </p:txBody>
      </p:sp>
      <p:sp>
        <p:nvSpPr>
          <p:cNvPr id="12" name="TextBox 11"/>
          <p:cNvSpPr txBox="1"/>
          <p:nvPr/>
        </p:nvSpPr>
        <p:spPr>
          <a:xfrm>
            <a:off x="7713695" y="3102102"/>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some broken away, some refusing the zakat</a:t>
            </a:r>
          </a:p>
        </p:txBody>
      </p:sp>
      <p:sp>
        <p:nvSpPr>
          <p:cNvPr id="13" name="Rectangle 12"/>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army</a:t>
            </a:r>
          </a:p>
        </p:txBody>
      </p:sp>
      <p:sp>
        <p:nvSpPr>
          <p:cNvPr id="15" name="TextBox 14"/>
          <p:cNvSpPr txBox="1"/>
          <p:nvPr/>
        </p:nvSpPr>
        <p:spPr>
          <a:xfrm>
            <a:off x="7713695" y="4283964"/>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raised for the Syrian frontier, not yet gone</a:t>
            </a:r>
          </a:p>
        </p:txBody>
      </p:sp>
      <p:sp>
        <p:nvSpPr>
          <p:cNvPr id="16" name="Rectangle 15"/>
          <p:cNvSpPr/>
          <p:nvPr/>
        </p:nvSpPr>
        <p:spPr>
          <a:xfrm>
            <a:off x="7512527" y="510006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504520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Byzantine ground</a:t>
            </a:r>
          </a:p>
        </p:txBody>
      </p:sp>
      <p:sp>
        <p:nvSpPr>
          <p:cNvPr id="18" name="TextBox 17"/>
          <p:cNvSpPr txBox="1"/>
          <p:nvPr/>
        </p:nvSpPr>
        <p:spPr>
          <a:xfrm>
            <a:off x="7713695" y="5465826"/>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north-west, well past Tabuk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army he would not call back</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One  ·  11 AH  ·  the first ten days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long was he caliph?</a:t>
            </a:r>
          </a:p>
        </p:txBody>
      </p:sp>
      <p:sp>
        <p:nvSpPr>
          <p:cNvPr id="5" name="TextBox 4"/>
          <p:cNvSpPr txBox="1"/>
          <p:nvPr/>
        </p:nvSpPr>
        <p:spPr>
          <a:xfrm>
            <a:off x="566928" y="3625596"/>
            <a:ext cx="11057839" cy="713232"/>
          </a:xfrm>
          <a:prstGeom prst="rect">
            <a:avLst/>
          </a:prstGeom>
          <a:noFill/>
        </p:spPr>
        <p:txBody>
          <a:bodyPr wrap="square" anchor="t" lIns="36576" rIns="36576" tIns="0" bIns="0">
            <a:spAutoFit/>
          </a:bodyPr>
          <a:lstStyle/>
          <a:p>
            <a:pPr algn="l">
              <a:lnSpc>
                <a:spcPct val="130000"/>
              </a:lnSpc>
            </a:pPr>
            <a:r>
              <a:rPr sz="5400" b="0" i="0">
                <a:solidFill>
                  <a:srgbClr val="1C2321"/>
                </a:solidFill>
                <a:latin typeface="Georgia"/>
                <a:cs typeface="Georgia"/>
              </a:rPr>
              <a:t>Two years and three months.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Shawwal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of battle at Uhud</a:t>
            </a:r>
          </a:p>
        </p:txBody>
      </p:sp>
      <p:sp>
        <p:nvSpPr>
          <p:cNvPr id="6" name="card0"/>
          <p:cNvSpPr/>
          <p:nvPr/>
        </p:nvSpPr>
        <p:spPr>
          <a:xfrm>
            <a:off x="566928"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right wing</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Khalid b. al-Walid, over the cavalry</a:t>
            </a:r>
          </a:p>
        </p:txBody>
      </p:sp>
      <p:sp>
        <p:nvSpPr>
          <p:cNvPr id="10" name="card1"/>
          <p:cNvSpPr/>
          <p:nvPr/>
        </p:nvSpPr>
        <p:spPr>
          <a:xfrm>
            <a:off x="4332122"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left wing</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Ikrima, the son of Abu Jahl</a:t>
            </a:r>
          </a:p>
        </p:txBody>
      </p:sp>
      <p:sp>
        <p:nvSpPr>
          <p:cNvPr id="14" name="card2"/>
          <p:cNvSpPr/>
          <p:nvPr/>
        </p:nvSpPr>
        <p:spPr>
          <a:xfrm>
            <a:off x="8097316"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army</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Abu Sufyan b. Harb, over all of it</a:t>
            </a:r>
          </a:p>
        </p:txBody>
      </p:sp>
      <p:sp>
        <p:nvSpPr>
          <p:cNvPr id="18" name="TextBox 17"/>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All three of them command for Islam before the year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Shawwal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two wings at Uhud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وَتَعَبَّأَتْ قُرَيْشٌ، وَهُمْ ثَلَاثَةُ آلَافٍ، وَمَعَهُمْ مِئَتَا فَرَسٍ قَدْ جَنَّبُوهَا، فَجَعَلُوا عَلَى مَيْمَنَةِ الْخَيْلِ خَالِدَ بْنَ الْوَلِيدِ، وَعَلَى مَيْسَرَتِهَا عِكْرِمَةَ بْنَ أَبِي جَهْلِ بْنِ هِشَامٍ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put Khalid b. al-Walid over the right wing of the cavalry, and Ikrima b. Abi Jahl b. Hisham over its left.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 army pointed north</a:t>
            </a:r>
          </a:p>
        </p:txBody>
      </p:sp>
      <p:pic>
        <p:nvPicPr>
          <p:cNvPr id="6" name="Picture 5" descr="map_s2_usama.png"/>
          <p:cNvPicPr>
            <a:picLocks noChangeAspect="1"/>
          </p:cNvPicPr>
          <p:nvPr/>
        </p:nvPicPr>
        <p:blipFill>
          <a:blip r:embed="rId2"/>
          <a:stretch>
            <a:fillRect/>
          </a:stretch>
        </p:blipFill>
        <p:spPr>
          <a:xfrm>
            <a:off x="585135" y="1389888"/>
            <a:ext cx="6598289"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Medina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army is raised here</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Usama b. Zayd ؓ</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eighteen, and in command</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al-Jurf</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camp one march out</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Dhu Khushub</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 the road north</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Ubna, in the Balqa'</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Byzantine ground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Prophet ﷺ answered them himself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تَطْعُنوا في إمارَتِهِ فَقَدْ كُنْتُمْ تَطْعُنون في إمارةِ أبيه منْ قَبْلُ، وايْمُ اللَّهِ إن كان لخليقًا للإمارة، وإن كان لمنْ أحَبِّ النّاس إليَّ، وإنَّ هذا لمِنْ أحبِّ الناسِ إليَّ بَعْدَه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find fault with his command, you found fault with his father's command before him — and this one is among the dearest of people to me after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Rabi' al-Awwal 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call the army back?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Him in whose hand is Abu Bakr's soul — if I thought the wild beasts would snatch me away, I would still send out Usama's expedition.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Rabi' al-Awwal 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you order me to depose him?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ثَكِلَتْكَ أُمُّكَ يَا ابْنَ الْخَطَّابِ! اسْتَعْمَلَهُ رَسُولُ اللَّهِ - صَلَّى اللَّهُ عَلَيْهِ وَسَلَّمَ - وَتَأْمُرُنِي أَنْ أَعْزِلَهُ؟!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May your mother lose you, son of al-Khattab! The Messenger of Allah ﷺ appointed him — and you order me to depose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195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late Rabi' al-Awwal 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on foot</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illustration in muted ochre, bone and deep teal. A wide dusty caravan track leaving a walled palm oasis at first light, seen from ground level. Deep camel prints and bare human footprints pressed sid</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series/visuals/l02_walk_out.png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He walked. The commander rode. His own beast was led behind, empty.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late Rabi' al-Awwal 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Either you ride or I dismount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أسامةُ: يا خليفةَ رسولِ الله: إما أن تركبَ وإما أن أنزلَ، فقال: والله لستَ بنازلٍ ولستُ براكب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Usama said: O successor of the Messenger of Allah, either you ride or I dismount. He said: By Allah, you shall not dismount, and I shall not ride.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Forty days, and what the tribes concluded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فجعل لا يمرُّ بقبيل يريدون الارتداد إلَّا قالوا: لولا أن لهؤلاء قوةً ما خرجَ مثلُ هؤلاء من عندهم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passed no tribe intending to break away but they said: were it not that these people have strength, men like these would not have gone out from among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Arabia comes apart</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Two  ·  11 AH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engagement was a setback</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عَلَيْهِمُ الرِّدْءُ بِأَنْحَاءَ قَدْ نَفَخُوهَا … فَنَفَرَتْ إِبِلُ الْمُسْلِمِينَ وَهُمْ عَلَيْهَا، وَرَجَعَتْ بِهِمْ إِلَى الْمَدِينَةِ، وَلَمْ يُصْرَعْ مُسْلِمٌ.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reserve came out at them with skins they had inflated … the Muslims' camels bolted with them on their backs and carried them back to Medina — and not one Muslim was thrown.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202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same night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That was the first victory</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طَلَعَ الْفَجْرُ إِلَّا وَهُمْ وَالْعَدُوُّ عَلَى صَعِيدٍ وَاحِدٍ … فَمَا ذَرَّ قَرْنُ الشَّمْسِ حَتَّى وَلَّوْهُمُ الْأَدْبَارَ … وَكَانَ أَوَّلَ الْفَتْحِ.</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Dawn did not break until they and the enemy were on one ground … and the sun's rim had not risen before they turned their backs … and that was the first victory.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203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Eleven banners at Dhu al-Qassa</a:t>
            </a:r>
          </a:p>
        </p:txBody>
      </p:sp>
      <p:pic>
        <p:nvPicPr>
          <p:cNvPr id="6" name="Picture 5" descr="map_s2_ridda_eleven.png"/>
          <p:cNvPicPr>
            <a:picLocks noChangeAspect="1"/>
          </p:cNvPicPr>
          <p:nvPr/>
        </p:nvPicPr>
        <p:blipFill>
          <a:blip r:embed="rId2"/>
          <a:stretch>
            <a:fillRect/>
          </a:stretch>
        </p:blipFill>
        <p:spPr>
          <a:xfrm>
            <a:off x="682238" y="1389888"/>
            <a:ext cx="6404082"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Dhu al-Qassa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one day's ride out</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Eleven commanders</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with written orders</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North and east</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Najd, Yamama, Sham</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East and south-east</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Bahrayn, Uman, Mahra</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South</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Yemen, Tihama, Hadramawt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Eleven directions from one camp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فَفَصَلَتِ الْأُمَرَاءُ مِنْ ذِي الْقَصَّةِ، وَلَحِقَ بِكُلِّ أَمِيرٍ جُنْدُهُ، وَعَهِدَ إِلَى كُلِّ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commanders separated from Dhu al-Qassa, and each commander's troops joined him, and he gave each commander his commission.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204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letter went ahead of the armies</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still life in muted ochre, bone and deep teal. A single sheet of aged parchment lying open on a plain scrubbed wooden board, its writing suggested only as soft illegible strokes — never readable lett</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series/visuals/l02_letter.png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One wording, copied many times, carried ahead of the columns.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letter set one test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أمرتُ رسولي أن يقرأ كتابه في كلِّ مَجْمعٍ لكم، والداعية الأذان، فإذا إذَّنَ المسلمون فأذنوا فكُفُّوا عنهم، وإن لم يُؤَذِّنوا فسلوهم ما عليهم.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ordered my messenger to read his letter in every assembly of yours. The summons is the adhan: when they call it, hold off from them; if they do not, ask them what they owe.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sword among the swords of Allah</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نِعْمَ عَبْدُ اللَّهِ وَأَخُو الْعَشِيرَةِ، خَالِدُ بْنُ الْوَلِيدِ، سَيْفٌ مِنْ سُيُوفِ اللَّهِ سَلَّهُ اللَّهُ عَلَى الْكُفَّارِ وَالْمُنَافِقِينَ</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an excellent servant of Allah and brother of the clan — Khalid b. al-Walid; a sword among the swords of Allah, drawn against the disbelievers and the hypocrites.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Buzakha</a:t>
            </a:r>
          </a:p>
        </p:txBody>
      </p:sp>
      <p:pic>
        <p:nvPicPr>
          <p:cNvPr id="6" name="Picture 5" descr="map_s2_buzakha.png"/>
          <p:cNvPicPr>
            <a:picLocks noChangeAspect="1"/>
          </p:cNvPicPr>
          <p:nvPr/>
        </p:nvPicPr>
        <p:blipFill>
          <a:blip r:embed="rId2"/>
          <a:stretch>
            <a:fillRect/>
          </a:stretch>
        </p:blipFill>
        <p:spPr>
          <a:xfrm>
            <a:off x="635595" y="1389888"/>
            <a:ext cx="6497368"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Aja' and Salma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Khalid ؓ starts here</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Sumayra'</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Tulayha moves up</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Buzakha</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Asad, Ghatafan, Fazara</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Banu Amir</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armed nearby, watching</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Then to al-Sham</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Tulayha's line of flight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walked off the field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لِي: إِنَّ لَكَ رَحًا كَرَحَاهُ، وَحَدِيثًا لَا تَنْسَاهُ. فَقَالَ عُيَيْنَةُ: قَدْ عَلِمَ اللَّهُ أَنَّهُ سَيَكُونُ حَدِيثٌ لَا تَنْسَاهُ، انْصَرِفُوا يَا بَنِي فَزَارَةَ فَإِنَّهُ كَذَّابٌ.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me: you have a mill like his mill, and a matter you will not forget. Uyayna said: Allah knows there will be a matter you will not forget. Withdraw, Banu Fazara — the man is a liar.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205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is defeating you?</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يَهْزِمُكُمْ؟ فَقَالَ رَجُلٌ: أَنَا أُحَدِّثُكَ، لَيْسَ مِنَّا رَجُلٌ إِلَّا وَهُوَ يُحِبُّ أَنْ يَمُوتَ صَاحِبُهُ قَبْلَهُ، وَإِنَّا نَلْقَى قَوْمًا كُلُّهُمْ يُحِبُّ أَنْ يَمُوتَ قَبْلَ صَاحِبِهِ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Not one of us but would rather his companion died first — and we meet a people who would each rather die before his companion.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(al-Khulafa' al-Rashidun), p. 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after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clause struck out in public</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أما قولك: تدون قتلانا، فإنّ قتلانا قتلوا على أمر الله لا ديات لهم … وقال عمر في الثاني: نعم ما رأيت.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Umar ؓ said: as for your saying, and you pay blood-money for our dead — our dead were killed upon the command of Allah; there is no blood-money for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27  ·  Sahih al-Bukhari 7221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al-Yamama</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Three  ·  11–12 AH  ·  the hardest day of the war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brothers by appointment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Ma'n b. Adi al-Ansari brothers, and the two of them were killed together at al-Yamama.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Dar al-Arqam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elder of the Jahiliyya</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السَّيِّدُ الكَبِيْرُ، الشَّهِيْدُ، أَبُو حُذَيْفَةَ ابْنُ شَيْخِ الجَاهِلِيَّةِ: عُتْبَةَ بنِ رَبِيْعَةَ … القُرَشِيُّ، العَبْشَمِيُّ، البَدْرِيُّ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Abu Hudhayfa — son of the elder of the Jahiliyya, Utba b. Rabi'a — al-Qurashi, al-Abshami, the man of Badr.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AH, after Badr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Something about your father</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والله ما شككت في أبي ولا في مصرعه، ولكني كنت أعرف منه رأيا وحلما، فكنت أرجو أن يسلم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by Allah, I have not doubted my father nor where he fell. But I knew in him a judgement and a forbearance, and I used to hope he would accept Islam.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(al-Sira al-Nabawiyya), p. 312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titles, and one origin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Istakhr.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imam at Quba'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المُهَاجِرِيْنَ نَزَلُوا بِالعُصْبَةِ إِلَى جَنْبِ قُبَاءَ، فَأَمَّهُم سَالِمٌ مَوْلَى أَبِي حُذَيْفَةَ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Muhajirun camped at al-Usba beside Quba', and Salim, the freedman of Abu Hudhayfa, led them in prayer.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pp. 168–169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Aqraba'</a:t>
            </a:r>
          </a:p>
        </p:txBody>
      </p:sp>
      <p:pic>
        <p:nvPicPr>
          <p:cNvPr id="6" name="Picture 5" descr="map_s2_yamama.trim.png"/>
          <p:cNvPicPr>
            <a:picLocks noChangeAspect="1"/>
          </p:cNvPicPr>
          <p:nvPr/>
        </p:nvPicPr>
        <p:blipFill>
          <a:blip r:embed="rId2"/>
          <a:stretch>
            <a:fillRect/>
          </a:stretch>
        </p:blipFill>
        <p:spPr>
          <a:xfrm>
            <a:off x="566928" y="1500234"/>
            <a:ext cx="6634703" cy="4735356"/>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al-Yamama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Khalid ؓ comes east</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Aqraba'</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 the cultivated edge</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Behind the line</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farmland and households</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 line of retreat</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back is through his home</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Forty thousand</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men Musaylima had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Keep this one man alive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Yamama, good or ill, keep this man alive … so Khalid kept him, in irons, and said: treat him well.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breaks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فكانت جولة وانهزمتِ الأعرابُ حتى دخلت بنو حنيفة خيمةَ خالد بن الوليد وهمّوا بقتل أم تميم، حتى أجارها مجاعة وقال: نعمتِ الحُرَّةُ هذه.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Banu Hanifa entered Khalid b. al-Walid's own tent, minded to kill Umm Tamim — until Mujja'a gave her his protection.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and the vow of silence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زيد بن الخطاب: أيها الناس عَضُّوا على أضراسكم، واضربوا في عدوِّكم وامضوا قدمًا، وقال: والله لا أتكلَّمُ حتى يهزمهم اللهُ أو ألقىَ اللهَ فأكلِّمه بحجَّتي، فقُتل شهيدًا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Bite down on your back teeth, strike into your enemy and go forward. By Allah, I will not speak until Allah routs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Surat al-Hujurat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not content to live praised?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Thabit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put on his burial garments</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still life in muted bone, ochre and deep teal. Two plain undyed white cotton garments, freshly folded, resting on a low rough wooden bench; beside them a small unglazed clay vessel of perfume with it</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series/visuals/l02_shroud_garments.png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Arabic Typesetting"/>
              </a:rPr>
              <a:t>Thabit b. Qays ؓ — burial perfume, while the line went backwards.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This is not how we used to fight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Get out of our faces so we can strike the enemy. Wretched is what you have accustomed your opponents to! This is not how we used to fight alongside the Messenger of Allah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311  ·  Sahih al-Bukhari 2845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wretched bearer of the Qur'an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المهاجرون لسالم مولى أبي حذيفة: أتخشى أن نؤتى من قبلك؟ فقال: بئس حامل القرآن أنا إذًا</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Muhajirun said to Salim, the freedman of Abu Hudhayfa: do you fear we shall be broken from your side? He said: a wretched bearer of the Qur'an I should be,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Adorn the Qur'an with deeds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أبو حذيفة: يا أهلَ القرآنِ زيِّنوا القرآنَ بالفِعال، وحملَ فيهم حتى أبعدَهم وأصيب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Abu Hudhayfa said: people of the Qur'an — adorn the Qur'an with deeds. And he charged into them until he drove them back, and he was struck down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then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armour in the cooking pot</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still life in muted ochre, bone and deep teal. At the far edge of an emptied desert camp at dusk: a large blackened cooking pot turned upside down on bare stony ground, with a worn wooden camel pack-</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series/visuals/l02_cooking_pot.png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An upturned pot at the far end of the camp, a pack-saddle on top.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then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will carried out after his death</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فأنفذَ أبو بكر وصيَّتهُ بعد موته، فلا نعلم أحدًا جازَتْ وصيَّتهُ بعد موته إلَّا ثابت بن قيس بن شمّاس.</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Abu Bakr executed his will after his death. And we know of no one else whose will was carried through after his death except Thabit b. Qays b. Shammas.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Uhud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find the scent of Paradise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أبا عمرو أين؟ واهًا لريح الجنة، أجده دون أحدٍ.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Abu Amr, where to? Ah, the scent of Paradise — I find it this side of Uhud.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Uhud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Known by his fingertips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﴿مِنَ الْمُؤْمِنِينَ رِجَالٌ صَدَقُوا مَا عَاهَدُوا اللَّهَ عَلَيْهِ﴾ [الأحزاب: ٢٣]</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believers are men true to what they pledged to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  ·  Siyar (al-Sira al-Nabawiyya), vol. 1, p. 407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or Basra, undated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Hadiqat al-Mawt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gate was shut from the inside</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illustration in muted ochre and bone with deep teal shadow. A high solid mud-brick wall running right across the frame, with one heavy timber gate shut fast in it; the crowns of date palms visible ab</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series/visuals/l02_shut_gate.png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Arabic Typesetting"/>
              </a:rPr>
              <a:t>Eighty-odd wounds. Khalid ؓ was a month treating them. He survived.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Hadiqat al-Mawt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Throw me over onto them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 me onto them in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218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Hadiqat al-Mawt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house, Uhud and al-Yamama</a:t>
            </a:r>
          </a:p>
        </p:txBody>
      </p:sp>
      <p:sp>
        <p:nvSpPr>
          <p:cNvPr id="6" name="card0"/>
          <p:cNvSpPr/>
          <p:nvPr/>
        </p:nvSpPr>
        <p:spPr>
          <a:xfrm>
            <a:off x="566928"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servant</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Anas b. Malik ؓ, the Prophet's ﷺ servant for ten years</a:t>
            </a:r>
          </a:p>
        </p:txBody>
      </p:sp>
      <p:sp>
        <p:nvSpPr>
          <p:cNvPr id="10" name="card1"/>
          <p:cNvSpPr/>
          <p:nvPr/>
        </p:nvSpPr>
        <p:spPr>
          <a:xfrm>
            <a:off x="4332122"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brother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al-Bara' b. Malik ؓ, the man on the shield</a:t>
            </a:r>
          </a:p>
        </p:txBody>
      </p:sp>
      <p:sp>
        <p:nvSpPr>
          <p:cNvPr id="14" name="card2"/>
          <p:cNvSpPr/>
          <p:nvPr/>
        </p:nvSpPr>
        <p:spPr>
          <a:xfrm>
            <a:off x="8097316"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uncle</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Anas b. al-Nadr ؓ, eighty-odd wounds at Uhud</a:t>
            </a:r>
          </a:p>
        </p:txBody>
      </p:sp>
      <p:sp>
        <p:nvSpPr>
          <p:cNvPr id="18" name="TextBox 17"/>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One house. The same count of wounds, and one got up.</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arrow he pulled out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أصابه سهم يوم اليمامة فنزعه، وتحزم وأخذ السيف وقاتل حتى قتل، فوجد به جراحات كثيرة.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arrow struck him on the day of al-Yamama and he pulled it out, bound himself up, took his sword and fought until he was killed — and many wounds were found 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(al-Khulafa' al-Rashidun), p. 60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صرع قال لأصحابه: ما فعل أبو حُذَيْفة؟ قالوا: قُتل، قال: فما فعلَ فلان؟ قالوا: قُتل، قال: فأضجعوني بينهما</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struck down he said: what has become of Abu Hudhayfa? They said: he has been killed. He said: then lay me down between the two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al-Yamama,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they were found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وَقِيْلَ: إِنَّ سَالِماً وُجِدَ هُوَ وَمَوْلاَهُ أَبُو حُذَيْفَةَ، رَأْسُ أَحَدِهِمَا عِنْدَ رِجْلَي الآخَرِ صَرِيْعَيْنِ -رَضِيَ اللهُ عَنْهُمَا-</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And it is said: Salim was found, he and his patron Abu Hudhayfa, the head of one of them at the feet of the other, both struck down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do not hear</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فيقول: أتشهدُ أني رسولُ اللَّه؟ فيقول: لا أسمع، فجعل يقطِّعُه عضوًا عضوًا حتى مات في يديه، لا يزيدُه على ذلك.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would say: do you testify that I am the Messenger of Allah? And he would say: I do not hear. So he began to cut him apart limb by limb until he died in his hands.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What Wahshi ؓ said afterwards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Wahshi: I never saw men more steadfast in the face of death than Musaylima's companions — then he mentioned that he had a share in killing Musaylima.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(al-Khulafa' al-Rashidun), p. 48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same spear, at al-Yamama</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فَرَبُّكَ أَعْلَمُ أَيُّنَا قَتَلَهُ، فَإِنْ كُنْتُ قَتَلْتُهُ، فَقَدْ قَتَلْتُ خَيْرَ النَّاسِ بَعْدَ رَسُولِ اللَّهِ ﷺ، وَقَتَلْتُ شَرَّ النَّاسِ</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Your Lord knows best which of us killed him. If I killed him, then I have killed the best of men after the Messenger of Allah ﷺ, and I have killed the worst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witness against the enemy</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لَمْ أَرَ قَطُّ أَصْبَرَ عَلَى الْمَوْتِ مِنْ أَصْحَابِ مُسَيْلِمَةَ</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never seen anyone more steadfast in the face of death than Musaylima's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(al-Khulafa' al-Rashidun), p. 48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outstripped me to both</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قال عمر لما بلغَهُ مقتلُ زيد بن الخطاب: سبقني إلى الحُسَنيينِ، أسلمَ قبلي، واستشُهد قبلي.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killing of Zayd b. al-Khattab reached Umar he said: he outstripped me to the two good things — he accepted Islam before me, and he was martyred before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years after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east wind</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landscape in muted ochre, bone and deep teal. A wide empty stony plain seen low and level at the end of the day, with fine dust and a few dry grass heads bent all one way by a steady wind coming from</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series/visuals/l02_east_wind.png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al-Saba is the east wind. It comes from the direction of al-Yamama.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years after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find in it the scent of Zayd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يَقُوْلُ: مَا هَبَّتِ الصَّبَا إِلاَّ وَأَنَا أَجِدُ رِيْحَ زَيْدٍ.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What it cost, and what it produced</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Four  ·  12 AH</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al-Yamama, as the hadith in Sahih al-Bukhari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Allah knows best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وقتل من المسلمين ستمئة، وقيل: خمسمئة، فالله أعلم، وفيهم من سادات الصحابة، وأعيان الناس من يُذكر بعد</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Six hundred of the Muslims were killed — and it is said five hundred — and Allah knows best. Among them were leaders of the Companions and men of standing.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Take the Qur'an from four</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أحد الأربعة الذين قال فيهم رسول الله ﷺ: "استقرئوا القرآنَ من أربعةٍ" فذكر منهم سالمًا مولى أبي حذيفة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he is one of the four of whom the Messenger of Allah ﷺ said: take the Qur'an from four — and he mentioned Salim, the freedman of Abu Hudhayfa, among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A thing the Messenger ﷺ did not do</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فَقُلْتُ: كَيْفَ تَفْعَلُوْنَ شَيْئاً لَمْ يَفْعَلْهُ رَسُوْلُ اللهِ -صَلَّى اللَّهُ عَلَيْهِ وَسَلَّمَ-. قَالَ: هُوَ -وَاللهِ- خَيْرٌ. فَلَمْ يَزَلْ أَبُو بَكْرٍ يُرَاجِعُنِي حَتَّى شَرَحَ اللهُ صَدْرِي لِلَّذِي شَرَحَ لَهُ صَدْرَ أَبِي بَكْرٍ وَعُمَر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said: how will you do a thing the Messenger of Allah ﷺ did not do? He said: by Allah, it is good. And he did not stop coming back to me until Allah opened my breast.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There was no volume to copy from</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still life in muted ochre, bone and deep teal, laid out on a plain scrubbed wooden surface and seen from directly above. Four kinds of thing set well apart from one another: strips of aged parchment;</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series/visuals/l02_four_materials.png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Parchment, shoulder-blades, palm-stalks — and the breasts of men.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tracked it down, piece by piece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Arabia whole again</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Five  ·  12 AH</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Darin — into the water</a:t>
            </a:r>
          </a:p>
        </p:txBody>
      </p:sp>
      <p:pic>
        <p:nvPicPr>
          <p:cNvPr id="6" name="Picture 5" descr="map_s2_darin.png"/>
          <p:cNvPicPr>
            <a:picLocks noChangeAspect="1"/>
          </p:cNvPicPr>
          <p:nvPr/>
        </p:nvPicPr>
        <p:blipFill>
          <a:blip r:embed="rId2"/>
          <a:stretch>
            <a:fillRect/>
          </a:stretch>
        </p:blipFill>
        <p:spPr>
          <a:xfrm>
            <a:off x="566928" y="1407543"/>
            <a:ext cx="6634703" cy="4920737"/>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al-Bahrayn</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beaten take ship</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land roads</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closed behind them first</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Darin</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 day and a night by sea</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Across the water</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out and back in one day</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What was lost</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one man's horse-fodder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Go straight across the sea</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of His signs on land so that you may take heed of them at sea. Rise against your enemy, and go straight across the sea.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224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Not until you have proved yourself</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وَكَتَبَ إِلَيْهِ الصِّدِّيقُ يَلُومُهُ عَلَى تَسَرُّعِهِ، قَالَ: لَا أَرَيَنَّكَ وَلَا أَسْمَعَنَّ بِكَ إِلَّا بَعْدَ بَلَاءٍ</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al-Siddiq wrote blaming him for his haste, and said: let me not see you, and let me not hear of you, except after you have proved yourself.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his later life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My Lord's speech, my Lord's speech</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يُقَبِّلُ الْمُصْحَفَ وَيَبْكِي وَيَقُولُ: كَلَامُ رَبِّي، كَلَامُ رَبِّي … وَيُقَالُ: إِنَّهُ لَا يُعْرَفُ لَهُ ذَنْبٌ بَعْدَ مَا أَسْلَمَ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kiss the mushaf and weep and say: my Lord's speech, my Lord's speech … and it is said that no sin is known of him after he accepted Islam.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14300" cy="68580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188720"/>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اغْرُبْ عَنِّي فَإِنَّكَ قَاتِلُ الرَّجُلَيْنِ الصَّالِحَيْنِ، عُكَّاشَةَ بْنِ مِحْصَنٍ، وَثَابِتِ بْنِ أَقْرَمَ، فَقَالَ: يَا أَمِيرَ الْمُؤْمِنِينَ هُمَا رَجُلَانِ أَكْرَمَهُمَا اللَّهُ عَلَى يَدَيَّ وَلَمْ يُهِنِّي بِأَيْدِيهِمَا. فَأَعْجَبَ عُمَرَ كَلَامُهُ وَرَضِيَ عَنْهُ</a:t>
            </a:r>
          </a:p>
        </p:txBody>
      </p:sp>
      <p:sp>
        <p:nvSpPr>
          <p:cNvPr id="4" name="Rectangle 3"/>
          <p:cNvSpPr/>
          <p:nvPr/>
        </p:nvSpPr>
        <p:spPr>
          <a:xfrm>
            <a:off x="566928" y="451713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82803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away from me — you are the killer of the two righteous men. Allah honoured them at my hands.</a:t>
            </a:r>
          </a:p>
        </p:txBody>
      </p:sp>
      <p:sp>
        <p:nvSpPr>
          <p:cNvPr id="6" name="TextBox 5"/>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whole again</a:t>
            </a:r>
          </a:p>
        </p:txBody>
      </p:sp>
      <p:pic>
        <p:nvPicPr>
          <p:cNvPr id="6" name="Picture 5" descr="map_s2_arabia_12ah.png"/>
          <p:cNvPicPr>
            <a:picLocks noChangeAspect="1"/>
          </p:cNvPicPr>
          <p:nvPr/>
        </p:nvPicPr>
        <p:blipFill>
          <a:blip r:embed="rId2"/>
          <a:stretch>
            <a:fillRect/>
          </a:stretch>
        </p:blipFill>
        <p:spPr>
          <a:xfrm>
            <a:off x="682238" y="1389888"/>
            <a:ext cx="6404082"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Every region</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 part untouched</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armies</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 support to believers</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fifth</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the spoils, spent</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Najran</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renewed its covenant</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Just over a year</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late 11 AH to early 12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Ibn Kathir says it was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 يزل الأمر كذلك حتى لم يبق بجزيرة العرب إلَّا أهل طاعة للّه ولرسوله، وأهل ذمة من الصديق، كأهل نجران وما جرى مجراهم ولله الحمد.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matters continued so until there remained in the peninsula none but people obedient to Allah and His Messenger, and people under al-Siddiq's protection.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14300" cy="68580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188720"/>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والسّبب في ذلك … أنّ الصّبغة الدّينيّة تذهب بالتنافس والتّحاسد الّذي في أهل العصبيّة وتفرد الوجهة إلى الحقّ فإذا حصل لهم الاستبصار في أمرهم لم يقف لهم شيء لأنّ الوجهة واحدة والمطلوب متساو عندهم وهم مستميتون عليه</a:t>
            </a:r>
          </a:p>
        </p:txBody>
      </p:sp>
      <p:sp>
        <p:nvSpPr>
          <p:cNvPr id="4" name="Rectangle 3"/>
          <p:cNvSpPr/>
          <p:nvPr/>
        </p:nvSpPr>
        <p:spPr>
          <a:xfrm>
            <a:off x="566928" y="451713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82803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religious colouring takes away the rivalry and envy that are in people of asabiyya, and makes their direction one.</a:t>
            </a:r>
          </a:p>
        </p:txBody>
      </p:sp>
      <p:sp>
        <p:nvSpPr>
          <p:cNvPr id="6" name="TextBox 5"/>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 Tarikh Ibn Khaldun, vol. 1, p. 198 — as he reads it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Ninety seconds</a:t>
            </a:r>
          </a:p>
        </p:txBody>
      </p:sp>
      <p:sp>
        <p:nvSpPr>
          <p:cNvPr id="5" name="TextBox 4"/>
          <p:cNvSpPr txBox="1"/>
          <p:nvPr/>
        </p:nvSpPr>
        <p:spPr>
          <a:xfrm>
            <a:off x="566928" y="3342132"/>
            <a:ext cx="11057839" cy="1280160"/>
          </a:xfrm>
          <a:prstGeom prst="rect">
            <a:avLst/>
          </a:prstGeom>
          <a:noFill/>
        </p:spPr>
        <p:txBody>
          <a:bodyPr wrap="square" anchor="t" lIns="36576" rIns="36576" tIns="0" bIns="0">
            <a:spAutoFit/>
          </a:bodyPr>
          <a:lstStyle/>
          <a:p>
            <a:pPr algn="l">
              <a:lnSpc>
                <a:spcPct val="130000"/>
              </a:lnSpc>
            </a:pPr>
            <a:r>
              <a:rPr sz="4400" b="0" i="0">
                <a:solidFill>
                  <a:srgbClr val="1C2321"/>
                </a:solidFill>
                <a:latin typeface="Georgia"/>
                <a:cs typeface="Georgia"/>
              </a:rPr>
              <a:t>Mark three places on the map. Write three years into the boxes.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Outward</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Six  ·  12–13 AH</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Muharram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restrictions that are easy to miss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وأمره أن لا يُكْرِه أحدًا على المسير معه، ولا يستعينُ بمنِ ارتدّ عن الإسلام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ordered him not to compel any man to march with him, and not to use any man who had apostatised.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walked beside the stirrup</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عَقَدَ لَهُ أَبُو بَكْرٍ، وَمَشَى مَعَهُ تَحْتَ رِكَابِهِ يُسَايِرُهُ، وَيُوَدِّعُهُ، وَيُوصِيهِ، وَمَا ذَاكَ إِلَّا لِشَرَفِهِ، وَكَمَالِ دِينِهِ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Abu Bakr tied his standard for him and walked beside him under his stirrup, seeing him off and instructing him — and that was only for his standing.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Five days of waterless country</a:t>
            </a:r>
          </a:p>
        </p:txBody>
      </p:sp>
      <p:pic>
        <p:nvPicPr>
          <p:cNvPr id="6" name="Picture 5" descr="map_s2_iraq_sham_13ah.png"/>
          <p:cNvPicPr>
            <a:picLocks noChangeAspect="1"/>
          </p:cNvPicPr>
          <p:nvPr/>
        </p:nvPicPr>
        <p:blipFill>
          <a:blip r:embed="rId2"/>
          <a:stretch>
            <a:fillRect/>
          </a:stretch>
        </p:blipFill>
        <p:spPr>
          <a:xfrm>
            <a:off x="647383" y="1389888"/>
            <a:ext cx="6473793"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al-Hira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Iraq from its lower end</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Quraqir</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strikes north-west</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Samawa</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nine days, five nights</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Suwa and Tadmur</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out behind the Romans</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guide</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Rafi' b. Umayra al-Ta'i</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Only once in my life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مَا وَرَدْتُ هَذَا الْمَاءَ قَطُّ إِلَّا مَرَّةً وَاحِدَةً مَعَ أَبِي وَأَنَا غُلَامٌ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come to this water only once in my life — with my father, when I was a boy.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253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14300" cy="68580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188720"/>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هذا يوم من أيام الله، لا ينبغي فيه الفخر ولا البغي … فتعالوا فلنتعاور الإمارة فليكن عليها بعضُنا اليوم والآخر غدًا والآخر بعد غد، حتى يتأمَّر كلكم، ودعوني اليوم أليكم</a:t>
            </a:r>
          </a:p>
        </p:txBody>
      </p:sp>
      <p:sp>
        <p:nvSpPr>
          <p:cNvPr id="4" name="Rectangle 3"/>
          <p:cNvSpPr/>
          <p:nvPr/>
        </p:nvSpPr>
        <p:spPr>
          <a:xfrm>
            <a:off x="566928" y="451713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82803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Let us take the command in turn — one of us today, another tomorrow — and let me have today.</a:t>
            </a:r>
          </a:p>
        </p:txBody>
      </p:sp>
      <p:sp>
        <p:nvSpPr>
          <p:cNvPr id="6" name="TextBox 5"/>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89</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Yarmuk, 13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Armies are made many by victory</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ويلك، أتخوّفني بالروم؟ وإنما تكثر الجنود بالنصر، وتقل بالخذلان لا بعدد الرجال</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are you frightening me with the Romans? Armies are made many by victory and few by abandonment, not by the number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He dies</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Seven  ·  13 AH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There is harshness in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إِنَّهُ أَفْضَلُ مِنْ رَأْيِكَ إِلَّا أَنَّهُ فِيهِ غِلْظَةٌ. فَقَالَ أَبُو بَكْرٍ: ذَلِكَ لِأَنَّهُ يَرَانِي رَقِيقًا، وَلَوْ أَفْضَى الْأَمْرُ إِلَيْهِ لَتَرَكَ كَثِيرًا مِمَّا هُوَ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is better than your opinion of him — except that there is harshness in him. Abu Bakr said: that is because he sees me being gentle.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266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have not appointed a relative over you</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أَتَرْضُونَ بِمَنِ اسْتَخْلَفْتُ عَلَيْكُمْ؟ فَإِنِّي مَا اسْتَخْلَفْتُ عَلَيْكُمْ ذَا قَرَابَةٍ، وَإِنِّي قَدِ اسْتَخْلَفْتُ عَلَيْكُمْ عُمَرَ فَاسْمَعُوا لَهُ وَأَطِيعُوا، فَإِنِّي وَاللَّهِ مَا أَلَوْتُ مِنْ جُهْدِ الرَّأْيِ.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content with the one I have appointed over you? For I have not appointed over you a relative of mine. I have appointed Umar over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267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in the house was not his</a:t>
            </a:r>
          </a:p>
        </p:txBody>
      </p:sp>
      <p:sp>
        <p:nvSpPr>
          <p:cNvPr id="6" name="card0"/>
          <p:cNvSpPr/>
          <p:nvPr/>
        </p:nvSpPr>
        <p:spPr>
          <a:xfrm>
            <a:off x="566928" y="1389888"/>
            <a:ext cx="3527450" cy="320040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 servant</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an Abyssinian, in the house</a:t>
            </a:r>
          </a:p>
        </p:txBody>
      </p:sp>
      <p:sp>
        <p:nvSpPr>
          <p:cNvPr id="10" name="card1"/>
          <p:cNvSpPr/>
          <p:nvPr/>
        </p:nvSpPr>
        <p:spPr>
          <a:xfrm>
            <a:off x="4332122" y="1389888"/>
            <a:ext cx="3527450" cy="320040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 camel</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used for carrying water</a:t>
            </a:r>
          </a:p>
        </p:txBody>
      </p:sp>
      <p:sp>
        <p:nvSpPr>
          <p:cNvPr id="14" name="card2"/>
          <p:cNvSpPr/>
          <p:nvPr/>
        </p:nvSpPr>
        <p:spPr>
          <a:xfrm>
            <a:off x="8097316" y="1389888"/>
            <a:ext cx="3527450" cy="320040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 blanket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worn down to the nap</a:t>
            </a:r>
          </a:p>
        </p:txBody>
      </p:sp>
      <p:sp>
        <p:nvSpPr>
          <p:cNvPr id="18" name="TextBox 17"/>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Send them to Umar when I die. And she did.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closed the account himself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وليس عندنا من فيء المسلمين شيء إلا هذا العبد الحبشي وهذا البعير الناضح وجرد هذه القطيفة، فإذا مت فابعثي بهن إلى عمر، ففعلت.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have nothing of the Muslims' fay' except this Abyssinian servant, this water-carrying camel, and the worn nap of this blanket.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(al-Khulafa' al-Rashidun), p. 19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Sell my land and pay them back</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حَضَرَتْهُ الْوَفَاةُ أَوْصَى أَنْ تُبَاعَ أَرْضٌ لَهُ وَيُصْرَفَ ثَمَنُهَا عِوَضَ مَا أَخَذَهُ مِنْ مَالِ الْمُسْلِمِينَ.</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came to him he directed that land of his be sold and its price paid over in compensation for what he had taken of the Muslims' property.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266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living need the new more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الْحَيُّ أَحْوَجُ إِلَى الْجَدِيدِ مِنَ الْمَيِّتِ، إِنَّمَا هُوَ لِلْمُهْلَةِ وَالصَّدِيدِ.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living have more need of the new than the dead — this is only for the decay.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262</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graves, one behind the other</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Traditional Arabic"/>
              </a:rPr>
              <a:t>The Prophet ﷺ</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first of the three</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Arabic Typesetting"/>
              </a:rPr>
              <a:t>Abu Bakr ؓ</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Traditional Arabic"/>
              </a:rPr>
              <a:t>his head at the Prophet's ﷺ shoulders</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Arabic Typesetting"/>
              </a:rPr>
              <a:t>Umar ؓ</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later, his head at Abu Bakr's waist</a:t>
            </a:r>
          </a:p>
        </p:txBody>
      </p:sp>
      <p:sp>
        <p:nvSpPr>
          <p:cNvPr id="18" name="TextBox 17"/>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Four men went down: his son, Umar, Uthman and Talha.</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Buried before morning came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وقالت عائشة: مات ليلة الثلاثاء، ودفن قبل أن يصبح.</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A'isha ؓ said: he died on the night of Tuesday, and was buried before morning came.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(al-Khulafa' al-Rashidun), p. 19</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Had Salim ؓ been alive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وروي عن عمر أنه قال لما احتُضِر: لو كانَ سالمٌ حيًّا لما جعلتها شُورى</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related of Umar that he said, when death was upon him: had Salim been alive I would not have made it a shura.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Bookend out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year are we in now?</a:t>
            </a:r>
          </a:p>
        </p:txBody>
      </p:sp>
      <p:pic>
        <p:nvPicPr>
          <p:cNvPr id="6" name="Picture 5" descr="line_s2_lit.trim.png"/>
          <p:cNvPicPr>
            <a:picLocks noChangeAspect="1"/>
          </p:cNvPicPr>
          <p:nvPr/>
        </p:nvPicPr>
        <p:blipFill>
          <a:blip r:embed="rId2"/>
          <a:stretch>
            <a:fillRect/>
          </a:stretch>
        </p:blipFill>
        <p:spPr>
          <a:xfrm>
            <a:off x="566928" y="3041732"/>
            <a:ext cx="11057839" cy="1085432"/>
          </a:xfrm>
          <a:prstGeom prst="rect">
            <a:avLst/>
          </a:prstGeom>
        </p:spPr>
      </p:pic>
      <p:sp>
        <p:nvSpPr>
          <p:cNvPr id="7" name="TextBox 6"/>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11 AH to 13 AH. Two years and three months.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 now</a:t>
            </a:r>
          </a:p>
        </p:txBody>
      </p:sp>
      <p:pic>
        <p:nvPicPr>
          <p:cNvPr id="6" name="Picture 5" descr="map_s2_close_13ah.png"/>
          <p:cNvPicPr>
            <a:picLocks noChangeAspect="1"/>
          </p:cNvPicPr>
          <p:nvPr/>
        </p:nvPicPr>
        <p:blipFill>
          <a:blip r:embed="rId2"/>
          <a:stretch>
            <a:fillRect/>
          </a:stretch>
        </p:blipFill>
        <p:spPr>
          <a:xfrm>
            <a:off x="577798" y="1389888"/>
            <a:ext cx="6612962"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9" name="TextBox 8"/>
          <p:cNvSpPr txBox="1"/>
          <p:nvPr/>
        </p:nvSpPr>
        <p:spPr>
          <a:xfrm>
            <a:off x="7713695" y="1920240"/>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whole, and under one authority</a:t>
            </a:r>
          </a:p>
        </p:txBody>
      </p:sp>
      <p:sp>
        <p:nvSpPr>
          <p:cNvPr id="10" name="Rectangle 9"/>
          <p:cNvSpPr/>
          <p:nvPr/>
        </p:nvSpPr>
        <p:spPr>
          <a:xfrm>
            <a:off x="7512527" y="273634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681478"/>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Iraq</a:t>
            </a:r>
          </a:p>
        </p:txBody>
      </p:sp>
      <p:sp>
        <p:nvSpPr>
          <p:cNvPr id="12" name="TextBox 11"/>
          <p:cNvSpPr txBox="1"/>
          <p:nvPr/>
        </p:nvSpPr>
        <p:spPr>
          <a:xfrm>
            <a:off x="7713695" y="3102102"/>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entered from its lower end</a:t>
            </a:r>
          </a:p>
        </p:txBody>
      </p:sp>
      <p:sp>
        <p:nvSpPr>
          <p:cNvPr id="13" name="Rectangle 12"/>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Syria</a:t>
            </a:r>
          </a:p>
        </p:txBody>
      </p:sp>
      <p:sp>
        <p:nvSpPr>
          <p:cNvPr id="15" name="TextBox 14"/>
          <p:cNvSpPr txBox="1"/>
          <p:nvPr/>
        </p:nvSpPr>
        <p:spPr>
          <a:xfrm>
            <a:off x="7713695" y="4283964"/>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armies are on the Yarmuk</a:t>
            </a:r>
          </a:p>
        </p:txBody>
      </p:sp>
      <p:sp>
        <p:nvSpPr>
          <p:cNvPr id="16" name="Rectangle 15"/>
          <p:cNvSpPr/>
          <p:nvPr/>
        </p:nvSpPr>
        <p:spPr>
          <a:xfrm>
            <a:off x="7512527" y="510006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504520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dashed outline</a:t>
            </a:r>
          </a:p>
        </p:txBody>
      </p:sp>
      <p:sp>
        <p:nvSpPr>
          <p:cNvPr id="18" name="TextBox 17"/>
          <p:cNvSpPr txBox="1"/>
          <p:nvPr/>
        </p:nvSpPr>
        <p:spPr>
          <a:xfrm>
            <a:off x="7713695" y="5465826"/>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the map stood when you walked in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There is a kind of steadiness that is not stubbornness: it is refusing to treat an emergency as permission.</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whole war was set moving from one camp, in one sitting, by a man who had just been told to go home.</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tie was made in a year when they owned nothing, and it was still holding on the day they died.</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Preservation is not one heroic act; it is somebody doing a careful, unglamorous job properly.</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kept an account of what was not his, and he closed it before he died.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He said the office would take much of that hardness away. Next week — did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