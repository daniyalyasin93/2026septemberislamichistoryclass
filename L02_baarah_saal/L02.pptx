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AGHAZ (3 min). Line + map up. On the BANNER, draw the bracket around 11-23 AH so</a:t>
            </a:r>
          </a:p>
          <a:p>
            <a:r>
              <a:t>they see how narrow tonight is. 'pichhle hafte chaudah sau saal. aaj - barah.'</a:t>
            </a:r>
          </a:p>
          <a:p>
            <a:r>
              <a:t>30 seconds for newcomers: we are reading a book; I am not a historian.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0:03 OPENING SCENE (5 min). STAND STILL.</a:t>
            </a:r>
          </a:p>
          <a:p>
            <a:r>
              <a:t>Name the officers of the night watch SLOWLY - this is the whole effect:</a:t>
            </a:r>
          </a:p>
          <a:p>
            <a:r>
              <a:t>  Ali, Zubayr, Talha, Sa'd b. Abi Waqqas, Abd al-Rahman b. Awf, Ibn Mas'ud</a:t>
            </a:r>
          </a:p>
          <a:p>
            <a:r>
              <a:t>  (radiyallahu anhum).</a:t>
            </a:r>
          </a:p>
          <a:p>
            <a:r>
              <a:t>'These are the names we read in fadail - and they are standing watch on the passes.'</a:t>
            </a:r>
          </a:p>
          <a:p>
            <a:r>
              <a:t>VERIFIED: al-Bidaya ج7 ص18.</a:t>
            </a:r>
          </a:p>
          <a:p>
            <a:r>
              <a:t>[ASK] How many roads does one man have in front of him at such a moment?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2 (4 min). THE DISTINCTION EVERYONE MISSES - say it slowly.</a:t>
            </a:r>
          </a:p>
          <a:p>
            <a:r>
              <a:t>The question was never whether Islam is true. It was whether anything survives the</a:t>
            </a:r>
          </a:p>
          <a:p>
            <a:r>
              <a:t>Prophet (peace be upon him). VERIFIED al-Bidaya ج7 ص18.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single verse states the real question better than any explanation. Read it, let it</a:t>
            </a:r>
          </a:p>
          <a:p>
            <a:r>
              <a:t>sit, move on. VERIFIED ج7 ص18.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0:16 THE PEAK OF THE EVENING (5 min). SLOW RIGHT DOWN.</a:t>
            </a:r>
          </a:p>
          <a:p>
            <a:r>
              <a:t>First: a group of Companions advised leaving them until iman settled. Abu Bakr refused</a:t>
            </a:r>
          </a:p>
          <a:p>
            <a:r>
              <a:t>(ج7 ص18). THEN Umar himself questioned it - and Umar was not a soft 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it. Then STOP for three full seconds. DO NOT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NOTHING AFTER THIS. Do not explain it, do not draw the lesson - the room draws it,</a:t>
            </a:r>
          </a:p>
          <a:p>
            <a:r>
              <a:t>and Umar (radiyallahu anhu) has already drawn it for you.</a:t>
            </a:r>
          </a:p>
          <a:p>
            <a:r>
              <a:t>The strongest thirty seconds of the whole ten weeks, and every word belongs to someone</a:t>
            </a:r>
          </a:p>
          <a:p>
            <a:r>
              <a:t>else. THEN: PEN-DOWN - mark 632 on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0:21 (2 min). He went out with his sword drawn, and ALI took hold of his camel's reins:</a:t>
            </a:r>
          </a:p>
          <a:p>
            <a:r>
              <a:t>  'Where to, O Caliph of the Messenger of God? I say to you what the Messenger said at</a:t>
            </a:r>
          </a:p>
          <a:p>
            <a:r>
              <a:t>   Uhud: sheathe your sword, and do not afflict us with the loss of yourself.'</a:t>
            </a:r>
          </a:p>
          <a:p>
            <a:r>
              <a:t>  (al-Bidaya ج7 ص22, al-Daraqutni; also from Aisha radiyallahu anha)</a:t>
            </a:r>
          </a:p>
          <a:p>
            <a:r>
              <a:t>STATE IT AND MOVE ON. If anyone in the room carries an assumption about those two, this</a:t>
            </a:r>
          </a:p>
          <a:p>
            <a:r>
              <a:t>answers it without you arguing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0:23 (6 min). WALK THE ARROWS ONE AT A TIME - this is the map moment of the evening.</a:t>
            </a:r>
          </a:p>
          <a:p>
            <a:r>
              <a:t>Eleven commissions, each written separately, all moving out from Dhu al-Qassa.</a:t>
            </a:r>
          </a:p>
          <a:p>
            <a:r>
              <a:t>Name only the four or five the room can hold: Khalid to Buzakha against Tulayha;</a:t>
            </a:r>
          </a:p>
          <a:p>
            <a:r>
              <a:t>Yamama against Musaylima; al-Ala' b. al-Hadrami to Bahrain; al-Muhajir to San'a.</a:t>
            </a:r>
          </a:p>
          <a:p>
            <a:r>
              <a:t>THE INSTRUCTION IN THE LETTER, worth saying aloud: the sign is the adhan - if they</a:t>
            </a:r>
          </a:p>
          <a:p>
            <a:r>
              <a:t>call it back, hold off from them (ج7 ص24).</a:t>
            </a:r>
          </a:p>
          <a:p>
            <a:r>
              <a:t>PEN-DOWN once the arrows are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BEFORE THE MAP. It stops the Ridda being heard as everyone apostatised.</a:t>
            </a:r>
          </a:p>
          <a:p>
            <a:r>
              <a:t>The fourth column is the one that matters - large parts of Arabia never wavered.</a:t>
            </a:r>
          </a:p>
          <a:p>
            <a:r>
              <a:t>VERIFIED in al-Bidaya: Tayyi came over through Adi b. Hatim, who brought 500 fighters</a:t>
            </a:r>
          </a:p>
          <a:p>
            <a:r>
              <a:t>and then a thousand riders of Jadila (vol.7 p.25); Uyayna and Ghatafan backed Tulayha</a:t>
            </a:r>
          </a:p>
          <a:p>
            <a:r>
              <a:t>and both men later returned to Islam (vol.7 p.26).</a:t>
            </a:r>
          </a:p>
          <a:p>
            <a:r>
              <a:t>[VERIFY the remaining tribe assignments against Tareekh-e-Ummat before delivery -</a:t>
            </a:r>
          </a:p>
          <a:p>
            <a:r>
              <a:t> the grouping came from the earlier classification artifact, not from a read page.]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CLOSES THE LOOP ON YOUR OPENING SCENE - say so explicitly.</a:t>
            </a:r>
          </a:p>
          <a:p>
            <a:r>
              <a:t>One at the beginning of the night, one in the middle, one at the end:</a:t>
            </a:r>
          </a:p>
          <a:p>
            <a:r>
              <a:t>  Safwan's      -&gt; announced by Sa'd ibn Abi Waqqas</a:t>
            </a:r>
          </a:p>
          <a:p>
            <a:r>
              <a:t>  al-Zibriqan's -&gt; announced by Abd al-Rahman ibn Awf</a:t>
            </a:r>
          </a:p>
          <a:p>
            <a:r>
              <a:t>  Adi ibn Hatim's -&gt; announced by Ibn Mas'ud, or Abu Qatada al-Ansari</a:t>
            </a:r>
          </a:p>
          <a:p>
            <a:r>
              <a:t>The zakat is arriving after all. The argument has become a fact, and you never had</a:t>
            </a:r>
          </a:p>
          <a:p>
            <a:r>
              <a:t>to make it. VERIFIED: al-Bidaya vol.7 p.21.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0:29 (4 min). Three arrows only, quickly:</a:t>
            </a:r>
          </a:p>
          <a:p>
            <a:r>
              <a:t>  Yarmuk -&gt; Byzantium out of Syria [al-Bidaya ج7 ص85-95 cached, outline only]</a:t>
            </a:r>
          </a:p>
          <a:p>
            <a:r>
              <a:t>  Qadisiyya -&gt; Persia [ج7 ص132-140]</a:t>
            </a:r>
          </a:p>
          <a:p>
            <a:r>
              <a:t>  Fustat -&gt; Egypt</a:t>
            </a:r>
          </a:p>
          <a:p>
            <a:r>
              <a:t>Do not linger - the weight of the evening was the decision, not the conquests.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does the work of a paragraph of explanation. Read it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0:28 TAARUF (7 min). Read from the printed card, never from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 if you have room: Aisha (radiyallahu anha) - alone among the Muhajirun, his father</a:t>
            </a:r>
          </a:p>
          <a:p>
            <a:r>
              <a:t>accepted Islam too. And Amr ibn al-As asking which man the Prophet loved most: 'Abu Bakr'.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LAQAB IS THE PROPHET'S OWN (peace be upon him): 'wa sammahu al-Nabi: Sayf Allah'.</a:t>
            </a:r>
          </a:p>
          <a:p>
            <a:r>
              <a:t>Say that explicitly - it was not given by admirers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 the Prophet's own naming (peace be upon him), and he was given the news of Paradise.</a:t>
            </a:r>
          </a:p>
          <a:p>
            <a:r>
              <a:t>This incident ties straight back to tonight's opening block rather than standing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 (3 min). THREE MINUTES, no more - this is the only method content tonight.</a:t>
            </a:r>
          </a:p>
          <a:p>
            <a:r>
              <a:t>[SOURCE: Take this from Rehan sahib's Urdu, NOT from Arabic pages we selected. It is</a:t>
            </a:r>
          </a:p>
          <a:p>
            <a:r>
              <a:t>doctrinally weighty and the course narrates his book.]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0:38 (4 min). ONE sentence and no more:</a:t>
            </a:r>
          </a:p>
          <a:p>
            <a:r>
              <a:t>  'jo kaam us din ek aadmi ne akele khare ho kar kiya - Quran us ki taraf ishara</a:t>
            </a:r>
          </a:p>
          <a:p>
            <a:r>
              <a:t>   karta hai.'</a:t>
            </a:r>
          </a:p>
          <a:p>
            <a:r>
              <a:t>THEN STOP. 90 SECONDS OF SILENCE while they write. Two volunteers max, 'shukriya',</a:t>
            </a:r>
          </a:p>
          <a:p>
            <a:r>
              <a:t>nothing else. ALTERNATE (do not use both): fa'ida 2 from the muqaddima, pp. 53-54.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0:42 (3 min). Next week OPENS with the principle - how such events are read with adab.</a:t>
            </a:r>
          </a:p>
          <a:p>
            <a:r>
              <a:t>TAKE-HOME, say once and leave unanswered:</a:t>
            </a:r>
          </a:p>
          <a:p>
            <a:r>
              <a:t>  'ek aadmi akela khara ho, aur sab us ke khilaf mashwara de rahe hon - to use kya</a:t>
            </a:r>
          </a:p>
          <a:p>
            <a:r>
              <a:t>   cheez sambhalti hai?'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only if someone asks where something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0" i="0">
                <a:solidFill>
                  <a:srgbClr val="FAF7F0"/>
                </a:solidFill>
                <a:latin typeface="Georgia"/>
              </a:rPr>
              <a:t>Twelve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4000" b="0" i="0">
                <a:solidFill>
                  <a:srgbClr val="C49A45"/>
                </a:solidFill>
                <a:latin typeface="Noto Nastaliq Urdu"/>
                <a:cs typeface="Noto Nastaliq Urdu"/>
              </a:rPr>
              <a:t>بارہ سال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60520"/>
            <a:ext cx="2377440" cy="317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1">
                <a:solidFill>
                  <a:srgbClr val="FAF7F0"/>
                </a:solidFill>
                <a:latin typeface="Georgia"/>
              </a:rPr>
              <a:t>From a city under guard to two broken empires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49A45"/>
                </a:solidFill>
                <a:latin typeface="Segoe UI"/>
              </a:rPr>
              <a:t>SESSION 2  ·  632 – 644  ·  DHA ISLAMABAD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632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FAF7F0"/>
                </a:solidFill>
                <a:latin typeface="Georgia"/>
              </a:rPr>
              <a:t>Madina is under armed guard at 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Weeks after the Prophet ﷺ died.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WHAT THEY ACTUALLY SAID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 i="0">
                <a:solidFill>
                  <a:srgbClr val="104A43"/>
                </a:solidFill>
                <a:latin typeface="Georgia"/>
              </a:rPr>
              <a:t>“Prayer, yes. Zakat, no.”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1">
                <a:solidFill>
                  <a:srgbClr val="1C2321"/>
                </a:solidFill>
                <a:latin typeface="Georgia"/>
              </a:rPr>
              <a:t>Many of the tribes were not denying prayer. Some argued from the Qur’an itself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000" b="0" i="0">
                <a:solidFill>
                  <a:srgbClr val="0A322E"/>
                </a:solidFill>
                <a:latin typeface="Traditional Arabic"/>
                <a:cs typeface="Traditional Arabic"/>
              </a:rPr>
              <a:t>﴿خُذْ مِنْ أَمْوَالِهِمْ صَدَقَةً … وَصَلِّ عَلَيْهِمْ إِنَّ صَلَاتَكَ سَكَنٌ لَهُمْ﴾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100" b="0" i="1">
                <a:solidFill>
                  <a:srgbClr val="1C2321"/>
                </a:solidFill>
                <a:latin typeface="Georgia"/>
              </a:rPr>
              <a:t>“…and pray for them; your prayer is a comfort for them.”</a:t>
            </a:r>
          </a:p>
          <a:p>
            <a:pPr algn="ctr">
              <a:lnSpc>
                <a:spcPct val="135000"/>
              </a:lnSpc>
            </a:pPr>
            <a:r>
              <a:rPr sz="2100" b="0" i="1">
                <a:solidFill>
                  <a:srgbClr val="1C2321"/>
                </a:solidFill>
                <a:latin typeface="Georgia"/>
              </a:rPr>
              <a:t>So, they said: we pay only to one whose prayer is a comfort for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49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104A43"/>
                </a:solidFill>
                <a:latin typeface="Segoe UI"/>
              </a:rPr>
              <a:t>AL-TAWBA 9:103  ·  AL-BIDAYA WA'L-NIHAYA, vol. 7 p.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ONE LINE OPENS THE WHOLE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أَطَعْنَا رَسُولَ اللهِ إِذْ كَانَ بَيْنَنَا … فَوَاعَجَبًا مَا بَالُ مُلْكِ أَبِي بَكْرِ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“We obeyed the Messenger of God while he was among us —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so what, we wonder, is this rule of Abu Bakr?”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A VERSE FROM THE TIME  ·  AL-BIDAYA WA'L-NIHAYA, vol. 7 p.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THE DECISION  · 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عَلَامَ تُقَاتِلُ النَّاسَ؟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“On what basis are you fighting these people?”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The Prophet ﷺ said to fight until they testify there is no god but God…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UMAR IBN AL-KHATTAB  ·  AL-BIDAYA WA'L-NIHAYA, vol. 7 p.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THE DECISION  · 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وَاللهِ لَأُقَاتِلَنَّ مَنْ فَرَّقَ بَيْنَ الصَّلَاةِ وَالزَّكَاةِ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“By God, I will fight whoever separates prayer from zakat.”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Even if they withheld from me a kid goat they used to give the Messenger ﷺ.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ABU BAKR AL-SIDDIQ  ·  AL-BIDAYA vol. 7 p. 18  ·  narrated by the collections except Ibn Majah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THE DECISION  · 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فَعَرَفْتُ أَنَّهُ الْحَقُّ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“When I saw that God had opened Abu Bakr’s heart to this,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I knew that it was the truth.”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UMAR IBN AL-KHATTAB  ·  AL-BIDAYA WA'L-NIHAYA, vol. 7 p.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HE RODE OUT HIMSELF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وَاللهِ لَا أَفْعَلُ، وَلَأُوَاسِيَنَّكُمْ بِنَفْسِي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“By God I will not. I will share it with you in person.”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When the Companions asked him to stay behind and send someone else.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ABU BAKR AL-SIDDIQ  ·  AL-BIDAYA WA'L-NIHAYA, vol. 7 p.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p_s2_rid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7690" y="868680"/>
            <a:ext cx="6356316" cy="58795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AF7F0"/>
                </a:solidFill>
                <a:latin typeface="Georgia"/>
              </a:rPr>
              <a:t>Eleven banners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 i="0">
                <a:solidFill>
                  <a:srgbClr val="C49A45"/>
                </a:solidFill>
                <a:latin typeface="Segoe UI"/>
              </a:rPr>
              <a:t>632 – 633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IT WAS NOT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104A43"/>
                </a:solidFill>
                <a:latin typeface="Georgia"/>
              </a:rPr>
              <a:t>Four different problems, called by one name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47088"/>
            <a:ext cx="10607040" cy="36576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7A2E2E"/>
                </a:solidFill>
                <a:latin typeface="Segoe UI"/>
              </a:rPr>
              <a:t>Rival prophecy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Musaylima at Yamama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Tulayha of Banu Asad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al-Aswad al-Ansi, Yemen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38728" y="221284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7A2E2E"/>
                </a:solidFill>
                <a:latin typeface="Segoe UI"/>
              </a:rPr>
              <a:t>Withheld the zakat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292608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The delegations who came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affirming prayer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Uyayna and Ghatafan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216" y="221284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5A6862"/>
                </a:solidFill>
                <a:latin typeface="Segoe UI"/>
              </a:rPr>
              <a:t>Political secession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216" y="292608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Tribes breaking away from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Madina rather than from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the religion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61704" y="221284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04A43"/>
                </a:solidFill>
                <a:latin typeface="Segoe UI"/>
              </a:rPr>
              <a:t>HELD LOYAL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61704" y="292608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Quraysh · Thaqif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Aws and Khazraj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C2321"/>
                </a:solidFill>
                <a:latin typeface="Georgia"/>
              </a:rPr>
              <a:t>Tayyi · Abd al-Qays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1">
                <a:solidFill>
                  <a:srgbClr val="7A2E2E"/>
                </a:solidFill>
                <a:latin typeface="Georgia"/>
              </a:rPr>
              <a:t>Only the first group left Islam. That distinction is the whole evening.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SIXTY NIGHTS AFTER THE PROPHET’S PASSING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Three zakat caravans reach Madina in one 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Announced by the same men who had been standing guard on the passes.</a:t>
            </a:r>
          </a:p>
        </p:txBody>
      </p:sp>
      <p:pic>
        <p:nvPicPr>
          <p:cNvPr id="6" name="Picture 5" descr="line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p_s2_twe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956" y="868680"/>
            <a:ext cx="11163782" cy="58795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AF7F0"/>
                </a:solidFill>
                <a:latin typeface="Georgia"/>
              </a:rPr>
              <a:t>Then outward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 i="0">
                <a:solidFill>
                  <a:srgbClr val="C49A45"/>
                </a:solidFill>
                <a:latin typeface="Segoe UI"/>
              </a:rPr>
              <a:t>632 – 644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WHAT THEY SAID THEY WERE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وَإِخْرَاجُ الْعِبَادِ مِنْ عِبَادَةِ الْعِبَادِ إِلَى عِبَادَةِ اللهِ</a:t>
            </a:r>
          </a:p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وَالنَّاسُ بَنُو آدَمَ، فَهُمْ إِخْوَةٌ لِأَبٍ وَأُمٍّ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“To bring people out of the worship of servants into the worship of God…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and people are the children of Adam — brothers of one father and mother.”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THE ENVOY, IN RUSTAM'S COURT  ·  AL-BIDAYA WA'L-NIHAYA, vol. 7 p. 134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تعارف  ·  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FAF7F0"/>
                </a:solidFill>
                <a:latin typeface="Georgia"/>
              </a:rPr>
              <a:t>Three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All three verified from Siyar A'lam al-Nubala.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Abu Bakr al-Siddiq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سیدنا ابوبکر الصدیق 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FIRST CALIPH  ·  632 – 634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Held the community together when much of Arabia broke away, and had the Qur’an gathered</a:t>
            </a:r>
          </a:p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into a single written collection.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He accepted Islam owning forty thousand dinars — and the Prophet ﷺ said: “No wealth ever</a:t>
            </a:r>
          </a:p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benefited me as Abu Bakr’s wealth benefited me.”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SIYAR A'LAM AL-NUBALA, Rashidun p. 8  ·  the figure is from Urwa ibn al-Zubayr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Khalid ibn al-Walid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سیدنا خالد بن الولید ؓ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10512"/>
            <a:ext cx="10607040" cy="566928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8366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A322E"/>
                </a:solidFill>
                <a:latin typeface="Segoe UI"/>
              </a:rPr>
              <a:t>SAYF ALLAH — the Sword of God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70000"/>
              </a:lnSpc>
            </a:pPr>
            <a:r>
              <a:rPr sz="2000" b="0" i="0">
                <a:solidFill>
                  <a:srgbClr val="0A322E"/>
                </a:solidFill>
                <a:latin typeface="Noto Nastaliq Urdu"/>
                <a:cs typeface="Noto Nastaliq Urdu"/>
              </a:rPr>
              <a:t>سیف اللہ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MIGRATED AS A MUSLIM, SAFAR 8 AH  ·  COMMANDER, RIDDA AND SYRIA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Commanded the Ridda campaigns, then the Syrian front through to Yarmuk.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At Mu’ta all three commanders the Prophet ﷺ had appointed were killed — Zayd, Ja’far, and</a:t>
            </a:r>
          </a:p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Ibn Rawaha. The army stood with no commander. He took the banner on the spot, and the victory came.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SIYAR A'LAM AL-NUBALA, vol. 1 p. 366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Abu Ubayda ibn al-Jarrah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سیدنا ابو عبیدہ بن الجراح ؓ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10512"/>
            <a:ext cx="10607040" cy="566928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8366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A322E"/>
                </a:solidFill>
                <a:latin typeface="Segoe UI"/>
              </a:rPr>
              <a:t>AMIN AL-UMMA — the Trustee of this Community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70000"/>
              </a:lnSpc>
            </a:pPr>
            <a:r>
              <a:rPr sz="2000" b="0" i="0">
                <a:solidFill>
                  <a:srgbClr val="0A322E"/>
                </a:solidFill>
                <a:latin typeface="Noto Nastaliq Urdu"/>
                <a:cs typeface="Noto Nastaliq Urdu"/>
              </a:rPr>
              <a:t>امین الامۃ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COMMANDER IN SYRIA AFTER KHALID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Narrated few hadith and fought many battles; took Syria after Khalid.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At Saqifa, Abu Bakr himself put his name forward for the succession — “for the completeness</a:t>
            </a:r>
          </a:p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of his fitness”, as al-Dhahabi records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SIYAR A'LAM AL-NUBALA, vol. 1 p.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HOW DO WE KNOW?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How the Qur’an was gathered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 i="1">
                <a:solidFill>
                  <a:srgbClr val="1C2321"/>
                </a:solidFill>
                <a:latin typeface="Georgia"/>
              </a:rPr>
              <a:t>A text secured by procedure — not by chance, and not by one man’s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7A2E2E"/>
                </a:solidFill>
                <a:latin typeface="Segoe UI"/>
              </a:rPr>
              <a:t>[ SOURCE: Tareekh-e-Ummat — the Abu Bakr chapter 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آج کی بات  ·  TODAY'S POINT — NOT MINE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104A43"/>
                </a:solidFill>
                <a:latin typeface="Georgia"/>
              </a:rPr>
              <a:t>al-Hasan al-Basri and Qatada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400" b="0" i="0">
                <a:solidFill>
                  <a:srgbClr val="0A322E"/>
                </a:solidFill>
                <a:latin typeface="Traditional Arabic"/>
                <a:cs typeface="Traditional Arabic"/>
              </a:rPr>
              <a:t>﴿فَسَوْفَ يَأْتِي اللَّهُ بِقَوْمٍ يُحِبُّهُمْ وَيُحِبُّونَهُ﴾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75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1C2321"/>
                </a:solidFill>
                <a:latin typeface="Georgia"/>
              </a:rPr>
              <a:t>“God will bring a people whom He loves and who love Him.”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0">
                <a:solidFill>
                  <a:srgbClr val="0A322E"/>
                </a:solidFill>
                <a:latin typeface="Georgia"/>
              </a:rPr>
              <a:t>The ones meant, they said, are Abu Bakr and his companions —</a:t>
            </a:r>
          </a:p>
          <a:p>
            <a:pPr algn="ctr">
              <a:lnSpc>
                <a:spcPct val="135000"/>
              </a:lnSpc>
            </a:pPr>
            <a:r>
              <a:rPr sz="2500" b="0" i="0">
                <a:solidFill>
                  <a:srgbClr val="0A322E"/>
                </a:solidFill>
                <a:latin typeface="Georgia"/>
              </a:rPr>
              <a:t>in exactly this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20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104A43"/>
                </a:solidFill>
                <a:latin typeface="Segoe UI"/>
              </a:rPr>
              <a:t>AL-MA'IDA 5:54  ·  AL-BIDAYA WA'L-NIHAYA, vol. 7 p.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اگلے ہفتے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FAF7F0"/>
                </a:solidFill>
                <a:latin typeface="Georgia"/>
              </a:rPr>
              <a:t>Next week: the first test.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644 to 661. When the trouble came from inside, not outside.</a:t>
            </a:r>
          </a:p>
        </p:txBody>
      </p:sp>
      <p:pic>
        <p:nvPicPr>
          <p:cNvPr id="6" name="Picture 5" descr="line_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SOURCES  ·  SHOW ONLY IF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2300" b="0" i="0">
                <a:solidFill>
                  <a:srgbClr val="1C2321"/>
                </a:solidFill>
                <a:latin typeface="Georgia"/>
              </a:rPr>
              <a:t>al-Bidaya wa’l-Nihaya  —  Ibn Kathir</a:t>
            </a:r>
          </a:p>
          <a:p>
            <a:pPr algn="l">
              <a:lnSpc>
                <a:spcPct val="160000"/>
              </a:lnSpc>
            </a:pPr>
            <a:r>
              <a:rPr sz="2300" b="0" i="0">
                <a:solidFill>
                  <a:srgbClr val="1C2321"/>
                </a:solidFill>
                <a:latin typeface="Georgia"/>
              </a:rPr>
              <a:t>vol. 5 pp. 344–349  ·  vol. 7 pp. 17–27, 85–95, 132–140</a:t>
            </a:r>
          </a:p>
          <a:p>
            <a:pPr algn="l">
              <a:lnSpc>
                <a:spcPct val="160000"/>
              </a:lnSpc>
            </a:pPr>
            <a:r>
              <a:rPr sz="2300" b="0" i="0">
                <a:solidFill>
                  <a:srgbClr val="1C2321"/>
                </a:solidFill>
                <a:latin typeface="Georgia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300" b="0" i="0">
                <a:solidFill>
                  <a:srgbClr val="1C2321"/>
                </a:solidFill>
                <a:latin typeface="Georgia"/>
              </a:rPr>
              <a:t>Siyar A’lam al-Nubala  —  al-Dhahabi</a:t>
            </a:r>
          </a:p>
          <a:p>
            <a:pPr algn="l">
              <a:lnSpc>
                <a:spcPct val="160000"/>
              </a:lnSpc>
            </a:pPr>
            <a:r>
              <a:rPr sz="2300" b="0" i="0">
                <a:solidFill>
                  <a:srgbClr val="1C2321"/>
                </a:solidFill>
                <a:latin typeface="Georgia"/>
              </a:rPr>
              <a:t>Rashidun p. 8  ·  vol. 1 p. 6  ·  vol. 1 p. 366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7A2E2E"/>
                </a:solidFill>
                <a:latin typeface="Georgia"/>
              </a:rPr>
              <a:t>Both works are named and recommended in the muqaddima of our own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