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This is session 1's closing Line, unchanged. Do not explain it — let them recognise it. 'We came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Session 1's closing Map, unchanged. Where the room walked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1] Ask it, take the show of hands, take two guesses, THEN advance. Everything tonight happens inside that span.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time the map points at Byzantine ground. In the ranks under an eighteen-year-old: Umar b. al-Khattab ؓ and the senior Muhajirun and Ansar. People said so out loud.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heard the objection, stood up, and answered it. His father is Zayd b. Haritha ؓ, who had commanded before him.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before you tell it: the capital is surrounded and your only army is marching away — do you call it back? Take the hands. Among those who advised recall: Umar b. al-Khattab ؓ. Then read the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Ansar's second request was not 'cancel the march' but 'give us an older commander'. Umar ؓ carried the message. He took him by the beard.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at the end did he ask a favour — and he asked it of Usama ؓ, because Usama ؓ was the commander and Umar ؓ was in his army: would you release Umar to 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Marched late Rabi' al-Awwal 11 AH. Away forty days — some say seventy. It did not fight its way through; it simply passed. The books differ on the target: Ubna in the Balqa', or Quda'a clans, or a clash with Roman forces — say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a delegation comes to negotiate and goes home again — what have they taken with them besides your answer? They counted the men. Three days later the raid came at night. Half stayed back at Dhu Husa as a reserve. Say the setback plainly;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night as the reverse. The three brothers of Muqarrin on the right, the left and the rear. Marched in the dark. Camped at Dhu al-Qassa and left al-Nu'man b. Muqarrin ؓ there with a detachment.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2] Ask BEFORE this slide: Medina is one town — how many armies would you send out at once? Take the guesses, then show eleven arrows and count them with the room. He rode out a third time with his sword drawn and Ali ؓ at his camel's head; this time they would not let him go on. He tied the banners on that ground and went home. NOTE: Ibn Kathir announces eleven and prints ten; al-Kamil prints all eleven. Do NOT name the ninth commander — three sources give three forms of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messenger was to read it aloud in every assembly of the tribe. CAUTION: the same letter carries a harsh clause. Do not quote it and do not deny it. If raised: it is on that page, transmitted by Sayf b. Umar; the operative test on the same page is the adhan; and the question is for the fuqaha'.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any man could apply from a distance — no lawyer, no court. Call the adhan when you halt. If they answer it, stop.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Tulayha sat wrapped in a cloak waiting for revelation while Uyayna b. Hisn did the fighting. Three times Uyayna broke off, walked back to the cloak, and asked whether Jibril had 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he had followed this man, and was fighting for him that morning — what was the question that ended it? Tulayha's own exit is on the same page: a horse ready, a mount for his wife, and a line called back over his shoulder.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named to their faces: a war of expulsion, or a humbling settlement. Ibn Mas'ud ؓ defines the first — that they be put out of their homes. The settlement: weapons and horses surrendered; compensation one way only; and blood-money for our dead. Umar ؓ interrupted at that clause, and approved the rest. No captives were taken at Buzakha.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red block and say it: it has no line of retreat, and that was the intention. Ikrima ؓ and Shurahbil ؓ had approached earlier.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 before, the vanguard picked up a raiding party coming home. He executed them and kept one alive on a stranger's advice: Mujja'a b. Murara, in irons, in the tent with Khalid's ؓ wife. That decision settled the end of the battle before it started.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Anas ؓ found him doing it and said: do you not see what is happening? He said: in a moment, nephew. Then he took the Ansar's banner, dug his feet in to the middle of his shins, and did not move until he was killed. On the same field in the same minutes: Salim the freedman of Abu Hudhayfa ؓ (the man the Prophet ﷺ went out at night to listen to), Zayd b. al-Khattab ؓ, and Abu Hudhayfa ؓ — their words are in the briefing, in Arabic.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did not tell them what to do. He told them what they had already been.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the gate is shut, the wall is solid, and there are thousands inside — what do you do? CAUTION: al-Bara' b. Malik ؓ SURVIVED. Ibn Khaldun appears to list him among the killed; Siyar contradicts it. Do not say he died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refused. He made them do it. Lifted on a shield raised on spear-shafts until he topped the wall, down among them alone, and fought his way to the gate.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Wahshi b. Harb ؓ, who had killed Hamza ؓ at Uhud before he was a Muslim. His javelin went through and out the other side; a second man came up with a sword. Sources differ on who the second man was — say 'a second man'. Afterwards Khalid ؓ walked the dead with the prisoner to identify the body.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if every copy of a book you loved lived only in people's memories, how many funerals would it take to lose it? Ibn Kathir's phrase is istaharra al-qatl fi al-qurra' — the killing ran hot among the reciters. NEVER put a number of qurra' on the slide; no source we use gives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Zayd b. Thabit ؓ of Banu al-Najjar: eleven years old when the Prophet ﷺ reached Medina, seventeen suras memorised before he was introduced, learned the Jews' script in a fortnight, wrote the revelation down as it came. His objection is the most serious objection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Say the four once, then ask the room to name them back to you. It is the one line in the evening everybody will remember. Ibn Kathir names al-likhaf — the thin white stones — where al-Dhahabi names al-riqa'. Cite both if you use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verb in his own account is tatabba'a — to follow a thing up piece by piece. Then it was one set of suhuf, in one place,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books describe the crossing the same way: they walked on something like soft sand with water over it, not deep enough to reach the camels' pads. al-Bidaya vol. 7 p. 40 prints the du'a they said going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closed the roads behind the enemy before he opened one in front of himself.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Ibn Kathir's own summing-up, not ours. He does not describe a conquest. One colour, no arrows: hold on this map and let them look at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armies were sent to hold up people who were already standing. The whole thing was over in a little more than a year. The full passage is in the briefing.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two years after the tribes broke apart, they were moving on two empires — what had changed? His answer multiplies nobody's numbers. SAY HIS NAME and say 'as he reads it': he never wrote this about the ridda; joining his chapter to the year eleven is ours.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[WORKSHEET] 90 seconds, silent. Say nothing at all while they write. Do not fill the silence. Watch the clock.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Muharram 12 AH. The letter did not say 'conquer Iraq'. It said: come at Iraq from its lower end. Then two restrictions that are easy to miss — no man compelled to march, and no man used who had apostatised, even if he has come back.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how do you carry water for an army across five days of desert with no wells? Take two answers, then tell them. The strongest camels made thirsty, then watered twice over, lips cut and mouths bound so they could not chew and lose the water; ten opened every day to water the horses. Length: al-Bidaya says nine days, al-Kamil and Siyar say five nights. Say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last stretch Rafi', whose eyes were bad, asked whether they could see a box-thorn bush the height of a seated man. They said no. He said: then by God you are dead, and I am dead with you. They looked again. It was there, cut to a stump. They dug at its root and found the spring.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commanders had come to the Yarmuk, each over his own men, nobody over all of them. He did not ask for the command; he proposed passing it round. They made him commander expecting it to last a long time. It lasted one day.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the room to guess the two army sizes. Take three guesses — then show that the books themselves give three different answers, and say why. A Christian Arab standing near him had said out loud what everyone could see.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who here has worked with someone whose hardness was a response to somebody else's softness? He did not argue with the description. He explained it: when I was angry with a man, Umar ؓ showed me leniency; when I was gentle, he showed me severity.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 was finished and read out to the gathered people; Umar ؓ walked beside the freedman who carried it, telling the crowd to be quiet and listen. They said: we hear and we obey. Then he asked them a question nobody had asked him.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called A'isha ؓ and told her that since the day he took charge of the Muslims' affair he had not eaten a dinar or a dirham of theirs — only the coarsest of their food, only the roughest of their clothing. Then he listed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community had voted him a maintenance when he gave up trading — a man cannot run a market stall and a state at once. NUMBER CAUTION: the sources give 6,000 dirhams a year, half a sheep a day, and 2,500. Put no figure on the slide. The instruction is the point, not the amount.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instructions for his own washing — his wife Asma' bint Umays ؓ, and his son Abd al-Rahman ؓ. Then the shroud: use the two garments I am wearing, and buy one more to go with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in Siyar fixes all three positions. CAUTION: do NOT claim the burial was 'in A'isha's ؓ house' from these pages — they say beside the Prophet ﷺ, and no more.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evening, eight nights remaining of Jumada al-Akhira 13 AH. Umar ؓ prayed over him in the Prophet's ﷺ mosque, four takbirs. Carried on the same bier the Prophet ﷺ had been carried on. He was sixty-three — the age at which the Prophet ﷺ died.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3] Ask it before you advance, and let them answer. Then show the Line.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Hold on this one. Let them compare it with slide 3 themselves.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Session Two  ·  Abu Bakr al-Siddiq ؓ</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Two Years, Three Months</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11–13 AH  ·  632–634 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we stopped last week</a:t>
            </a:r>
          </a:p>
        </p:txBody>
      </p:sp>
      <p:pic>
        <p:nvPicPr>
          <p:cNvPr id="6" name="Picture 5" descr="line_s1.trim.png"/>
          <p:cNvPicPr>
            <a:picLocks noChangeAspect="1"/>
          </p:cNvPicPr>
          <p:nvPr/>
        </p:nvPicPr>
        <p:blipFill>
          <a:blip r:embed="rId2"/>
          <a:stretch>
            <a:fillRect/>
          </a:stretch>
        </p:blipFill>
        <p:spPr>
          <a:xfrm>
            <a:off x="566928" y="3083773"/>
            <a:ext cx="11057839" cy="1001349"/>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The whole line. Tonight is the first two years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the morning after</a:t>
            </a:r>
          </a:p>
        </p:txBody>
      </p:sp>
      <p:pic>
        <p:nvPicPr>
          <p:cNvPr id="6" name="Picture 5" descr="map_s2_open_11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capital, and one field army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tribes around it</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some broken away, some refusing the zakat</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army</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raised for the Syrian frontier, not yet gone</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Byzantine ground</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north-west, well past Tabuk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army he would not call back</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One  ·  11 AH  ·  the first ten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long was he caliph?</a:t>
            </a:r>
          </a:p>
        </p:txBody>
      </p:sp>
      <p:sp>
        <p:nvSpPr>
          <p:cNvPr id="5" name="TextBox 4"/>
          <p:cNvSpPr txBox="1"/>
          <p:nvPr/>
        </p:nvSpPr>
        <p:spPr>
          <a:xfrm>
            <a:off x="566928" y="3625596"/>
            <a:ext cx="11057839" cy="713232"/>
          </a:xfrm>
          <a:prstGeom prst="rect">
            <a:avLst/>
          </a:prstGeom>
          <a:noFill/>
        </p:spPr>
        <p:txBody>
          <a:bodyPr wrap="square" anchor="t" lIns="36576" rIns="36576" tIns="0" bIns="0">
            <a:spAutoFit/>
          </a:bodyPr>
          <a:lstStyle/>
          <a:p>
            <a:pPr algn="l">
              <a:lnSpc>
                <a:spcPct val="130000"/>
              </a:lnSpc>
            </a:pPr>
            <a:r>
              <a:rPr sz="5400" b="0" i="0">
                <a:solidFill>
                  <a:srgbClr val="1C2321"/>
                </a:solidFill>
                <a:latin typeface="Georgia"/>
                <a:cs typeface="Georgia"/>
              </a:rPr>
              <a:t>Two years and three months.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  ·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 army pointed north</a:t>
            </a:r>
          </a:p>
        </p:txBody>
      </p:sp>
      <p:pic>
        <p:nvPicPr>
          <p:cNvPr id="6" name="Picture 5" descr="map_s2_usama.png"/>
          <p:cNvPicPr>
            <a:picLocks noChangeAspect="1"/>
          </p:cNvPicPr>
          <p:nvPr/>
        </p:nvPicPr>
        <p:blipFill>
          <a:blip r:embed="rId2"/>
          <a:stretch>
            <a:fillRect/>
          </a:stretch>
        </p:blipFill>
        <p:spPr>
          <a:xfrm>
            <a:off x="585135" y="1389888"/>
            <a:ext cx="6598289"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is raised in his last weeks</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Usama b. Zayd ؓ</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eighteen years old, given the command</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al-Jurf</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camp one march outside the city</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Khushub</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road north</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Ubna, in the Balqa'</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Byzantine ground, well past Tabuk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Prophet ﷺ answered them himself</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 and this one is among the dearest of people to me after him.</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call the army back?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Abu Bakr's soul — if I thought the wild beasts would snatch me away, I would still send out Usama's expedition as the Messenger of Allah ﷺ ordered 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you order me to depose him?</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al-Khattab! The Messenger of Allah ﷺ appointed him — and you order me to depose him?</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195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4  ·  late Rabi' al-Awwal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bone and deep teal. A wide dusty caravan track leaving a walled palm oasis at first light, seen from ground level. Deep camel prints and bare human footprints pressed sid</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series/visuals/l02_walk_out.png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He walked. The commander rode. His own beast was led behind, empty.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Either you ride or I dismount</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Usama said: O successor of the Messenger of Allah, either you ride or I dismount. He said: By Allah, you shall not dismount, and I shall not ride.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 have gone out from among them.</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comes apart</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Two  ·  11 AH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engagement was a setback</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 back to Medina — and not one Muslim was thrown.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That was the first victory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 their backs … and that was the first victory.</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8  ·  the biggest map moment of the evening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Eleven banners at Dhu al-Qassa</a:t>
            </a:r>
          </a:p>
        </p:txBody>
      </p:sp>
      <p:pic>
        <p:nvPicPr>
          <p:cNvPr id="6" name="Picture 5" descr="map_s2_ridda_eleven.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al-Qassa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day's ride out from Medina</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commanders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given an objective and written orders</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North and east</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Najd, al-Yamama, al-Sham, Quda'a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East and south-east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al-Bahrayn, Uman, Mahra</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South</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Yemen, Tihama, Hadramawt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9  ·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went ahead of the armies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A single sheet of aged parchment lying open on a plain scrubbed wooden board, its writing suggested only as soft illegible strokes — never readable lett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series/visuals/l02_letter.png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One wording, copied out many times, carried ahead of the columns.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set one test</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adhan: when they call it, hold off from them; if they do not, ask them what they owe.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10  ·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Buzakha</a:t>
            </a:r>
          </a:p>
        </p:txBody>
      </p:sp>
      <p:pic>
        <p:nvPicPr>
          <p:cNvPr id="6" name="Picture 5" descr="map_s2_buzakha.png"/>
          <p:cNvPicPr>
            <a:picLocks noChangeAspect="1"/>
          </p:cNvPicPr>
          <p:nvPr/>
        </p:nvPicPr>
        <p:blipFill>
          <a:blip r:embed="rId2"/>
          <a:stretch>
            <a:fillRect/>
          </a:stretch>
        </p:blipFill>
        <p:spPr>
          <a:xfrm>
            <a:off x="635595" y="1389888"/>
            <a:ext cx="6497368"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Aja' and Salma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moves from here</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Sumayra'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 moves up to meet him</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Buzakha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Asad and Ghatafan; seven hundred of Fazara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Banu Amir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sitting armed nearby, waiting to see</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Then north-west to al-Sham</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Tulayha's line of flight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walked off the field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Uyayna said: Allah knows there will be a matter you will not forget. Withdraw, Banu Fazara — the man is a liar.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clause struck out in public</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Umar ؓ said: as for your saying, and you pay blood-money for our dead — our dead were killed upon the command of Allah; there is no blood-money for them.</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27  ·  Sahih al-Bukhari 7221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al-Yamama</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Three  ·  11–12 AH  ·  the hardest day of the war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12  ·  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Aqraba'</a:t>
            </a:r>
          </a:p>
        </p:txBody>
      </p:sp>
      <p:pic>
        <p:nvPicPr>
          <p:cNvPr id="6" name="Picture 5" descr="map_s2_yamama.trim.png"/>
          <p:cNvPicPr>
            <a:picLocks noChangeAspect="1"/>
          </p:cNvPicPr>
          <p:nvPr/>
        </p:nvPicPr>
        <p:blipFill>
          <a:blip r:embed="rId2"/>
          <a:stretch>
            <a:fillRect/>
          </a:stretch>
        </p:blipFill>
        <p:spPr>
          <a:xfrm>
            <a:off x="566928" y="1500234"/>
            <a:ext cx="6634703" cy="4735356"/>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comes east into it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edge of the cultivated country</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Behind the line</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farmland and the households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 line of retreat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 man falls back except through his home</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Forty thousand</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fighting men Musaylima had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this one man alive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Yamama, good or ill, keep this man alive … so Khalid kept him, in irons, and said: treat him well.</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13  ·  at Aqraba'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put on his burial garments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bone, ochre and deep teal. Two plain undyed white cotton garments, freshly folded, resting on a low rough wooden bench; beside them a small unglazed clay vessel of perfume with it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series/visuals/l02_shroud_garments.png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Thabit b. Qays ؓ — rubbing himself with burial perfume, while the line went backwards.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This is not how we used to fight</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Wretched is what you have accustomed your opponents to! This is not how we used to fight alongside the Messenger of Allah ﷺ.</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14  ·  Hadiqat al-Mawt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was shut from the inside</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and bone with deep teal shadow. A high solid mud-brick wall running right across the frame, with one heavy timber gate shut fast in it; the crowns of date palms visible ab</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series/visuals/l02_shut_gate.png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Eighty-odd wounds. Khalid ؓ stayed a month treating them. He survived.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Throw me over onto them</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 me onto them in 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Wahshi ؓ said afterwards</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Wahshi: I never saw men more steadfast in the face of death than Musaylima's companions — then he mentioned that he had a share in killing Musaylima.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(Sirat al-Khulafa' al-Rashidin), p.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What it cost, and what it produced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Four  ·  12 AH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Allah knows best</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 the Companions and men of standing.</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thing the Messenger ﷺ did not do</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 he did not stop coming back to me until Allah opened my breast.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18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There was no volume to copy from</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laid out on a plain scrubbed wooden surface and seen from directly above. Four kinds of thing set well apart from one another: strips of aged parchment;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series/visuals/l02_four_materials.png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Parchment, shoulder-blades, palm-stalks — and the breasts of 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tracked it down, piece by piece</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whole again</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Five  ·  12 AH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19  ·  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Darin — into the water</a:t>
            </a:r>
          </a:p>
        </p:txBody>
      </p:sp>
      <p:pic>
        <p:nvPicPr>
          <p:cNvPr id="6" name="Picture 5" descr="map_s2_darin.png"/>
          <p:cNvPicPr>
            <a:picLocks noChangeAspect="1"/>
          </p:cNvPicPr>
          <p:nvPr/>
        </p:nvPicPr>
        <p:blipFill>
          <a:blip r:embed="rId2"/>
          <a:stretch>
            <a:fillRect/>
          </a:stretch>
        </p:blipFill>
        <p:spPr>
          <a:xfrm>
            <a:off x="566928" y="1407543"/>
            <a:ext cx="6634703" cy="4920737"/>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al-Bahrayn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beaten take ship from the coast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land roads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closed first, by Bakr b. Wa'il</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Darin</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day and a night out by sea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Straight across the water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out and back in a single day</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What was lost</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man's horse-fodder, brought back to him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Go straight across the sea</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 go straight across the sea.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whole again</a:t>
            </a:r>
          </a:p>
        </p:txBody>
      </p:sp>
      <p:pic>
        <p:nvPicPr>
          <p:cNvPr id="6" name="Picture 5" descr="map_s2_arabia_12ah.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Every region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 part of the peninsula was untouched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armies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support believers already there</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 of the spoils</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came back to Medina and was spent</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Najran</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renewed its covenant while others broke theirs</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 little over one year</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late 11 AH into early 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Kathir says it was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يزل الأمر كذلك حتى لم يبق بجزيرة العرب إلَّا أهل طاعة للّه ولرسوله، وأهل ذمة من الصديق، كأهل نجران وما جرى مجراهم ولله الحمد.</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matters continued so until there remained in the peninsula none but people obedient to Allah and His Messenger, and people under al-Siddiq's protection.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 and envy that are in people of asabiyya, and makes their direction one.</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 Tarikh Ibn Khaldun, vol. 1, p. 198 — as he reads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Worksheet — 90 seconds</a:t>
            </a:r>
          </a:p>
        </p:txBody>
      </p:sp>
      <p:sp>
        <p:nvSpPr>
          <p:cNvPr id="5" name="TextBox 4"/>
          <p:cNvSpPr txBox="1"/>
          <p:nvPr/>
        </p:nvSpPr>
        <p:spPr>
          <a:xfrm>
            <a:off x="566928" y="3342132"/>
            <a:ext cx="11057839" cy="1280160"/>
          </a:xfrm>
          <a:prstGeom prst="rect">
            <a:avLst/>
          </a:prstGeom>
          <a:noFill/>
        </p:spPr>
        <p:txBody>
          <a:bodyPr wrap="square" anchor="t" lIns="36576" rIns="36576" tIns="0" bIns="0">
            <a:spAutoFit/>
          </a:bodyPr>
          <a:lstStyle/>
          <a:p>
            <a:pPr algn="l">
              <a:lnSpc>
                <a:spcPct val="130000"/>
              </a:lnSpc>
            </a:pPr>
            <a:r>
              <a:rPr sz="4400" b="0" i="0">
                <a:solidFill>
                  <a:srgbClr val="1C2321"/>
                </a:solidFill>
                <a:latin typeface="Georgia"/>
                <a:cs typeface="Georgia"/>
              </a:rPr>
              <a:t>Mark three places on the map. Write three years into the boxes.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Outward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Six  ·  12–13 AH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Win the people over and call them to God … and he ordered him not to compel anyone to march with him, and not to use any man who had apostatised.</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23  ·  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days of waterless country</a:t>
            </a:r>
          </a:p>
        </p:txBody>
      </p:sp>
      <p:pic>
        <p:nvPicPr>
          <p:cNvPr id="6" name="Picture 5" descr="map_s2_iraq_sham_13ah.png"/>
          <p:cNvPicPr>
            <a:picLocks noChangeAspect="1"/>
          </p:cNvPicPr>
          <p:nvPr/>
        </p:nvPicPr>
        <p:blipFill>
          <a:blip r:embed="rId2"/>
          <a:stretch>
            <a:fillRect/>
          </a:stretch>
        </p:blipFill>
        <p:spPr>
          <a:xfrm>
            <a:off x="647383" y="1389888"/>
            <a:ext cx="6473793"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al-Hira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Iraq entered from its lower end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Quraqir</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march strikes north-west, off any road</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Samawa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nine days say some; five nights say others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Suwa and Tadmur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comes out behind the Roman armies</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guide</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Rafi' b. Umayra al-Ta'i, whose eyes were bad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Only once in my life</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253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us take the command in turn: one of us today, another tomorrow, another the day after — and let me have charge of you today.</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 number of men.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He dies</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Seven  ·  13 AH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There is harshness in him</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is better than your opinion of him — except that there is harshness in him. Abu Bakr said: that is because he sees me being gentle.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 appointed Umar over you.</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28  ·  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in the house was not his</a:t>
            </a:r>
          </a:p>
        </p:txBody>
      </p:sp>
      <p:sp>
        <p:nvSpPr>
          <p:cNvPr id="6" name="card0"/>
          <p:cNvSpPr/>
          <p:nvPr/>
        </p:nvSpPr>
        <p:spPr>
          <a:xfrm>
            <a:off x="566928"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servant</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an Abyssinian, in the house</a:t>
            </a:r>
          </a:p>
        </p:txBody>
      </p:sp>
      <p:sp>
        <p:nvSpPr>
          <p:cNvPr id="10" name="card1"/>
          <p:cNvSpPr/>
          <p:nvPr/>
        </p:nvSpPr>
        <p:spPr>
          <a:xfrm>
            <a:off x="4332122"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camel</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used for carrying water</a:t>
            </a:r>
          </a:p>
        </p:txBody>
      </p:sp>
      <p:sp>
        <p:nvSpPr>
          <p:cNvPr id="14" name="card2"/>
          <p:cNvSpPr/>
          <p:nvPr/>
        </p:nvSpPr>
        <p:spPr>
          <a:xfrm>
            <a:off x="8097316"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blanket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worn down to the nap</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Send them to Umar when I die. And she did.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closed the account himself</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 except this Abyssinian servant, this water-carrying camel, and the worn nap of this blanket.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 taken of the Muslims' property.</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living need the new more</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Card 31  ·  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graves, one behind the other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Traditional Arabic"/>
              </a:rPr>
              <a:t>The Prophet ﷺ</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first of the three</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Abu Bakr ؓ</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Traditional Arabic"/>
              </a:rPr>
              <a:t>his head at the Prophet's ﷺ shoulders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Umar ؓ</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later, his head at Abu Bakr's waist</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men went down: his son, Umar, Uthman and Talha.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Buried before morning came</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A'isha ؓ said: he died on the night of Tuesday, and was buried before morning came.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19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year are we in now?</a:t>
            </a:r>
          </a:p>
        </p:txBody>
      </p:sp>
      <p:pic>
        <p:nvPicPr>
          <p:cNvPr id="6" name="Picture 5" descr="line_s2_lit.trim.png"/>
          <p:cNvPicPr>
            <a:picLocks noChangeAspect="1"/>
          </p:cNvPicPr>
          <p:nvPr/>
        </p:nvPicPr>
        <p:blipFill>
          <a:blip r:embed="rId2"/>
          <a:stretch>
            <a:fillRect/>
          </a:stretch>
        </p:blipFill>
        <p:spPr>
          <a:xfrm>
            <a:off x="566928" y="3041732"/>
            <a:ext cx="11057839" cy="1085432"/>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11 AH to 13 AH. Two years and three months.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we stand now</a:t>
            </a:r>
          </a:p>
        </p:txBody>
      </p:sp>
      <p:pic>
        <p:nvPicPr>
          <p:cNvPr id="6" name="Picture 5" descr="map_s2_close_13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whole, and under one authority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entered from its lower end</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are on the Yarmuk</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dashed outline</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map stood when you walked 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There is a kind of steadiness that is not stubbornness: it is refusing to treat an emergency as permission.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whole war was set moving from one camp, in one sitting, by a man who had just been told to go home.</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Preservation is not one heroic act; it is somebody doing a careful, unglamorous job properly.</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What changed in Arabia was not how many men there were, but which way they were all facing.</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kept an account of what was not his, and he closed it before he died.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He said the office would take much of that hardness away. Next week — did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