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 AGHAZ (3 min). Line + map up. Draw the bracket around 11-23 AH on the banner so</a:t>
            </a:r>
          </a:p>
          <a:p>
            <a:r>
              <a:t>they SEE how narrow tonight is. 30-second note for newcomers: we are reading a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 OPENING SCENE (5 min). STAND STILL. Weeks after the Prophet (peace be upon him)</a:t>
            </a:r>
          </a:p>
          <a:p>
            <a:r>
              <a:t>died, Madina is under armed guard at night. Name the officers of the guard slowly:</a:t>
            </a:r>
          </a:p>
          <a:p>
            <a:r>
              <a:t>Ali, Zubayr, Talha, Sa'd b. Abi Waqqas, Abd al-Rahman b. Awf, Ibn Mas'ud (radiyallahu</a:t>
            </a:r>
          </a:p>
          <a:p>
            <a:r>
              <a:t>anhum). These are the names we read in fadail - and they are on night watch.</a:t>
            </a:r>
          </a:p>
          <a:p>
            <a:r>
              <a:t>VERIFIED: al-Bidaya ج7 ص18.</a:t>
            </a:r>
          </a:p>
          <a:p>
            <a:r>
              <a:t>[ASK] How many roads does one man have in front of him at such a moment?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2 (4 min). THE KEY DISTINCTION - say it slowly. Many were not denying prayer.</a:t>
            </a:r>
          </a:p>
          <a:p>
            <a:r>
              <a:t>They said: prayer yes, zakat no. Some argued from 9:103 - we pay only to one whose</a:t>
            </a:r>
          </a:p>
          <a:p>
            <a:r>
              <a:t>prayer is a comfort for us. VERIFIED al-Bidaya ج7 ص18.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 of poetry opens the whole problem: the question was not whether Islam is true.</a:t>
            </a:r>
          </a:p>
          <a:p>
            <a:r>
              <a:t>It was whether anything survives the Prophet (peace be upon him). VERIFIED ج7 ص18.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0:16 THE PEAK OF THE EVENING (5 min). SLOW DOWN.</a:t>
            </a:r>
          </a:p>
          <a:p>
            <a:r>
              <a:t>First: a group of Companions advised leaving them be until iman settled. Abu Bakr</a:t>
            </a:r>
          </a:p>
          <a:p>
            <a:r>
              <a:t>refused (ج7 ص18). THEN Umar himself questioned it. Umar was not a soft 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it. Then STOP for three full seconds. Do not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NOTHING AFTER THIS. Do not explain it, do not draw the lesson - the room draws it.</a:t>
            </a:r>
          </a:p>
          <a:p>
            <a:r>
              <a:t>The strongest thirty seconds of the whole ten weeks, and every word is someone else's.</a:t>
            </a:r>
          </a:p>
          <a:p>
            <a:r>
              <a:t>THEN: PEN-DOWN. 'apni lakeer par 11 hijri ke paas nishaan lagaiye.'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4 (3 min). Columns radiate out from Madina; draw the arrows. PEN-DOWN.</a:t>
            </a:r>
          </a:p>
          <a:p>
            <a:r>
              <a:t>[SOURCE: al-Bidaya ج7 ص22-27 cached - commanders and sequence, read by eye.</a:t>
            </a:r>
          </a:p>
          <a:p>
            <a:r>
              <a:t>DO NOT state a number of columns until the book gives it.]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5 (3 min). [SOURCE: al-Bidaya ج7 ص85-95 cached.] Map: arrow north, mark Dimashq.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6 (2 min). [trim to the quotation alone if running long.] Map: arrow east.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does the work of a paragraph of explanation. Read it and move on. PEN-DOWN: arrow east.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0:28 TAARUF (7 min). Read from the card. All three verified from Siyar A'lam al-Nubala.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40,000 dinars when he accepted Islam (Urwa b. al-Zubayr gives the figure), and the</a:t>
            </a:r>
          </a:p>
          <a:p>
            <a:r>
              <a:t>Prophet (peace be upon him): 'ma nafa'ani malun ma nafa'ani malu Abi Bakr'.</a:t>
            </a:r>
          </a:p>
          <a:p>
            <a:r>
              <a:t>EXTRA: Aisha (radiyallahu anha) - alone among the Muhajirun, his father accepted Islam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LAQAB IS THE PROPHET'S OWN (peace be upon him): 'wa sammahu al-Nabi: Sayf Allah'.</a:t>
            </a:r>
          </a:p>
          <a:p>
            <a:r>
              <a:t>WAQI'A: at Mu'ta all three appointed commanders were martyred - Zayd, Ja'far dhu</a:t>
            </a:r>
          </a:p>
          <a:p>
            <a:r>
              <a:t>al-janahayn, Ibn Rawaha - and the army stood with no commander. He took the banner on</a:t>
            </a:r>
          </a:p>
          <a:p>
            <a:r>
              <a:t>the spot, charged, and the victory came.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the Prophet's own naming (peace be upon him). WAQI'A that ties back to tonight's</a:t>
            </a:r>
          </a:p>
          <a:p>
            <a:r>
              <a:t>opening: at al-Saqifa, Abu Bakr himself put his name forward - 'li-kamali ahliyyatihi'.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 (3 min). How a text was secured by PROCEDURE rather than by chance.</a:t>
            </a:r>
          </a:p>
          <a:p>
            <a:r>
              <a:t>[SOURCE: Tareekh-e-Ummat, the Abu Bakr chapter. Take this from Rehan sahib's Urdu,</a:t>
            </a:r>
          </a:p>
          <a:p>
            <a:r>
              <a:t>NOT from Arabic pages we selected - it is doctrinally weighty and the course narrates</a:t>
            </a:r>
          </a:p>
          <a:p>
            <a:r>
              <a:t>his book.]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0:38 (4 min). ONE sentence and no more: 'jo kaam us din ek aadmi ne akele khare ho kar</a:t>
            </a:r>
          </a:p>
          <a:p>
            <a:r>
              <a:t>kiya - Quran us ki taraf ishara karta hai.' THEN STOP.</a:t>
            </a:r>
          </a:p>
          <a:p>
            <a:r>
              <a:t>90 SECONDS OF SILENCE while they write. Two volunteers max. 'shukriya', nothing else.</a:t>
            </a:r>
          </a:p>
          <a:p>
            <a:r>
              <a:t>ALTERNATE (do not use both): fa'ida 2 from the muqaddima, p.53-54.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0:42 (3 min). Next week opens WITH the principle - how such events are read with adab.</a:t>
            </a:r>
          </a:p>
          <a:p>
            <a:r>
              <a:t>Say the take-home question once and leave it unanswered.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works are named and recommended in the muqaddima, so this stays inside the</a:t>
            </a:r>
          </a:p>
          <a:p>
            <a:r>
              <a:t>course's own frame. Show only if someone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6400" b="0">
                <a:solidFill>
                  <a:srgbClr val="FAF7F0"/>
                </a:solidFill>
                <a:latin typeface="Georgia"/>
                <a:cs typeface="Jameel Noori Nastaleeq"/>
              </a:rPr>
              <a:t>بارہ سال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400" b="0">
                <a:solidFill>
                  <a:srgbClr val="C49A45"/>
                </a:solidFill>
                <a:latin typeface="Georgia"/>
                <a:cs typeface="Jameel Noori Nastaleeq"/>
              </a:rPr>
              <a:t>نشست ۲  ·  ۱۱ھ – ۲۳ھ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4480560"/>
            <a:ext cx="237744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0">
                <a:solidFill>
                  <a:srgbClr val="FAF7F0"/>
                </a:solidFill>
                <a:latin typeface="Georgia"/>
                <a:cs typeface="Jameel Noori Nastaleeq"/>
              </a:rPr>
              <a:t>ایک خطرے میں گھرے شہر سے — دو سلطنتوں کے گرنے تک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5400" b="0">
                <a:solidFill>
                  <a:srgbClr val="C49A45"/>
                </a:solidFill>
                <a:latin typeface="Georgia"/>
                <a:cs typeface="Jameel Noori Nastaleeq"/>
              </a:rPr>
              <a:t>مدینہ — پہرے پر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۱۱ھ  ·  انکار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4800" b="0">
                <a:solidFill>
                  <a:srgbClr val="104A43"/>
                </a:solidFill>
                <a:latin typeface="Georgia"/>
                <a:cs typeface="Jameel Noori Nastaleeq"/>
              </a:rPr>
              <a:t>نماز ہاں — زکوٰۃ نہیں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0">
                <a:solidFill>
                  <a:srgbClr val="0A322E"/>
                </a:solidFill>
                <a:latin typeface="Georgia"/>
                <a:cs typeface="Traditional Arabic"/>
              </a:rPr>
              <a:t>﴿خُذْ مِنْ أَمْوَالِهِمْ صَدَقَةً … وَصَلِّ عَلَيْهِمْ إِنَّ صَلَاتَكَ سَكَنٌ لَهُمْ﴾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التوبة ۹:۱۰۳  ·  البدایہ والنہایہ، ج۷ ص۱۸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اُس وقت کا ایک شعر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400" b="0">
                <a:solidFill>
                  <a:srgbClr val="0A322E"/>
                </a:solidFill>
                <a:latin typeface="Georgia"/>
                <a:cs typeface="Traditional Arabic"/>
              </a:rPr>
              <a:t>أَطَعْنَا رَسُولَ اللهِ إِذْ كَانَ بَيْنَنَا … فَوَاعَجَبًا مَا بَالُ مُلْكِ أَبِي بَكْرِ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300" b="0">
                <a:solidFill>
                  <a:srgbClr val="1C2321"/>
                </a:solidFill>
                <a:latin typeface="Georgia"/>
                <a:cs typeface="Jameel Noori Nastaleeq"/>
              </a:rPr>
              <a:t>ہم نے رسول اللہ ﷺ کی اطاعت کی جب وہ ہمارے درمیان تھے — تو اب یہ ابوبکر کی حکومت کیسی؟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البدایہ والنہایہ، ج۷ ص۱۸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فیصلہ  ·  ۱ / 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400" b="0">
                <a:solidFill>
                  <a:srgbClr val="0A322E"/>
                </a:solidFill>
                <a:latin typeface="Georgia"/>
                <a:cs typeface="Traditional Arabic"/>
              </a:rPr>
              <a:t>عَلَامَ تُقَاتِلُ النَّاسَ؟ وَقَدْ قَالَ رَسُولُ اللهِ ﷺ:</a:t>
            </a:r>
          </a:p>
          <a:p>
            <a:pPr algn="r" rtl="1">
              <a:lnSpc>
                <a:spcPct val="135000"/>
              </a:lnSpc>
            </a:pPr>
            <a:r>
              <a:rPr sz="3400" b="0">
                <a:solidFill>
                  <a:srgbClr val="0A322E"/>
                </a:solidFill>
                <a:latin typeface="Georgia"/>
                <a:cs typeface="Traditional Arabic"/>
              </a:rPr>
              <a:t>«أُمِرْتُ أَنْ أُقَاتِلَ النَّاسَ حَتَّى يَشْهَدُوا أَنْ لَا إِلَهَ إِلَّا اللهُ»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300" b="0">
                <a:solidFill>
                  <a:srgbClr val="1C2321"/>
                </a:solidFill>
                <a:latin typeface="Georgia"/>
                <a:cs typeface="Jameel Noori Nastaleeq"/>
              </a:rPr>
              <a:t>آپ لوگوں سے کس بنیاد پر لڑ رہے ہیں؟ نبی ﷺ نے تو فرمایا تھا…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سیدنا عمر بن الخطاب ؓ  ·  البدایہ والنہایہ، ج۷ ص۱۸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فیصلہ  ·  ۲ / 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400" b="0">
                <a:solidFill>
                  <a:srgbClr val="0A322E"/>
                </a:solidFill>
                <a:latin typeface="Georgia"/>
                <a:cs typeface="Traditional Arabic"/>
              </a:rPr>
              <a:t>وَاللهِ لَوْ مَنَعُونِي عَنَاقًا كَانُوا يُؤَدُّونَهُ إِلَى رَسُولِ اللهِ ﷺ لَأُقَاتِلَنَّهُمْ عَلَى مَنْعِهَا</a:t>
            </a:r>
          </a:p>
          <a:p>
            <a:pPr algn="r" rtl="1">
              <a:lnSpc>
                <a:spcPct val="135000"/>
              </a:lnSpc>
            </a:pPr>
            <a:r>
              <a:rPr sz="3400" b="0">
                <a:solidFill>
                  <a:srgbClr val="0A322E"/>
                </a:solidFill>
                <a:latin typeface="Georgia"/>
                <a:cs typeface="Traditional Arabic"/>
              </a:rPr>
              <a:t>وَاللهِ لَأُقَاتِلَنَّ مَنْ فَرَّقَ بَيْنَ الصَّلَاةِ وَالزَّكَاةِ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300" b="0">
                <a:solidFill>
                  <a:srgbClr val="1C2321"/>
                </a:solidFill>
                <a:latin typeface="Georgia"/>
                <a:cs typeface="Jameel Noori Nastaleeq"/>
              </a:rPr>
              <a:t>اللہ کی قسم! اگر یہ مجھ سے ایک بکری کا بچہ بھی روکیں گے جو وہ رسول اللہ ﷺ کو دیتے تھے، تو میں اُن سے لڑوں گا۔</a:t>
            </a:r>
          </a:p>
          <a:p>
            <a:pPr algn="r" rtl="1">
              <a:lnSpc>
                <a:spcPct val="150000"/>
              </a:lnSpc>
            </a:pPr>
            <a:r>
              <a:rPr sz="2300" b="0">
                <a:solidFill>
                  <a:srgbClr val="1C2321"/>
                </a:solidFill>
                <a:latin typeface="Georgia"/>
                <a:cs typeface="Jameel Noori Nastaleeq"/>
              </a:rPr>
              <a:t>اللہ کی قسم، جو نماز اور زکوٰۃ میں فرق کرے گا، میں اُس سے لڑوں گا۔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سیدنا ابوبکر الصدیق ؓ  ·  البدایہ والنہایہ، ج۷ ص۱۸  ·  رواہ الجماعۃ سوی ابن ماجہ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فیصلہ  ·  ۳ / 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400" b="0">
                <a:solidFill>
                  <a:srgbClr val="0A322E"/>
                </a:solidFill>
                <a:latin typeface="Georgia"/>
                <a:cs typeface="Traditional Arabic"/>
              </a:rPr>
              <a:t>فَمَا هُوَ إِلَّا أَنْ رَأَيْتُ اللهَ قَدْ شَرَحَ صَدْرَ أَبِي بَكْرٍ لِلْقِتَالِ، فَعَرَفْتُ أَنَّهُ الْحَقُّ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300" b="0">
                <a:solidFill>
                  <a:srgbClr val="1C2321"/>
                </a:solidFill>
                <a:latin typeface="Georgia"/>
                <a:cs typeface="Jameel Noori Nastaleeq"/>
              </a:rPr>
              <a:t>بس جب میں نے دیکھا کہ اللہ نے ابوبکر کا سینہ اِس کے لیے کھول دیا — تو مجھے یقین ہو گیا کہ یہی حق ہے۔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سیدنا عمر بن الخطاب ؓ  ·  البدایہ والنہایہ، ج۷ ص۱۸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5000" b="0">
                <a:solidFill>
                  <a:srgbClr val="104A43"/>
                </a:solidFill>
                <a:latin typeface="Georgia"/>
                <a:cs typeface="Jameel Noori Nastaleeq"/>
              </a:rPr>
              <a:t>لشکر نکلتے ہیں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500" b="0">
                <a:solidFill>
                  <a:srgbClr val="1C2321"/>
                </a:solidFill>
                <a:latin typeface="Georgia"/>
                <a:cs typeface="Jameel Noori Nastaleeq"/>
              </a:rPr>
              <a:t>ذو القصہ سے — عرب سنبھل جاتا ہے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5000" b="0">
                <a:solidFill>
                  <a:srgbClr val="104A43"/>
                </a:solidFill>
                <a:latin typeface="Georgia"/>
                <a:cs typeface="Jameel Noori Nastaleeq"/>
              </a:rPr>
              <a:t>یرموک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500" b="0">
                <a:solidFill>
                  <a:srgbClr val="1C2321"/>
                </a:solidFill>
                <a:latin typeface="Georgia"/>
                <a:cs typeface="Jameel Noori Nastaleeq"/>
              </a:rPr>
              <a:t>روم شام سے نکل جاتا ہے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5000" b="0">
                <a:solidFill>
                  <a:srgbClr val="104A43"/>
                </a:solidFill>
                <a:latin typeface="Georgia"/>
                <a:cs typeface="Jameel Noori Nastaleeq"/>
              </a:rPr>
              <a:t>قادسیہ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500" b="0">
                <a:solidFill>
                  <a:srgbClr val="1C2321"/>
                </a:solidFill>
                <a:latin typeface="Georgia"/>
                <a:cs typeface="Jameel Noori Nastaleeq"/>
              </a:rPr>
              <a:t>اور فارس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قادسیہ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3400" b="0">
                <a:solidFill>
                  <a:srgbClr val="0A322E"/>
                </a:solidFill>
                <a:latin typeface="Georgia"/>
                <a:cs typeface="Traditional Arabic"/>
              </a:rPr>
              <a:t>وَإِخْرَاجُ الْعِبَادِ مِنْ عِبَادَةِ الْعِبَادِ إِلَى عِبَادَةِ اللهِ</a:t>
            </a:r>
          </a:p>
          <a:p>
            <a:pPr algn="r" rtl="1">
              <a:lnSpc>
                <a:spcPct val="135000"/>
              </a:lnSpc>
            </a:pPr>
            <a:r>
              <a:rPr sz="3400" b="0">
                <a:solidFill>
                  <a:srgbClr val="0A322E"/>
                </a:solidFill>
                <a:latin typeface="Georgia"/>
                <a:cs typeface="Traditional Arabic"/>
              </a:rPr>
              <a:t>وَالنَّاسُ بَنُو آدَمَ، فَهُمْ إِخْوَةٌ لِأَبٍ وَأُمٍّ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300" b="0">
                <a:solidFill>
                  <a:srgbClr val="1C2321"/>
                </a:solidFill>
                <a:latin typeface="Georgia"/>
                <a:cs typeface="Jameel Noori Nastaleeq"/>
              </a:rPr>
              <a:t>اور بندوں کو بندوں کی غلامی سے نکال کر اللہ کی بندگی میں لانا۔</a:t>
            </a:r>
          </a:p>
          <a:p>
            <a:pPr algn="r" rtl="1">
              <a:lnSpc>
                <a:spcPct val="150000"/>
              </a:lnSpc>
            </a:pPr>
            <a:r>
              <a:rPr sz="2300" b="0">
                <a:solidFill>
                  <a:srgbClr val="1C2321"/>
                </a:solidFill>
                <a:latin typeface="Georgia"/>
                <a:cs typeface="Jameel Noori Nastaleeq"/>
              </a:rPr>
              <a:t>اور لوگ سب آدم کی اولاد ہیں — ایک ہی ماں باپ کے بھائی۔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رستم کے دربار میں  ·  البدایہ والنہایہ، ج۷ ص۱۳۴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0">
                <a:solidFill>
                  <a:srgbClr val="FAF7F0"/>
                </a:solidFill>
                <a:latin typeface="Georgia"/>
                <a:cs typeface="Jameel Noori Nastaleeq"/>
              </a:rPr>
              <a:t>تعارف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4400" b="0">
                <a:solidFill>
                  <a:srgbClr val="104A43"/>
                </a:solidFill>
                <a:latin typeface="Georgia"/>
                <a:cs typeface="Jameel Noori Nastaleeq"/>
              </a:rPr>
              <a:t>سیدنا ابوبکر الصدیق 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سیر أعلام النبلاء، راشدون ص۸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4400" b="0">
                <a:solidFill>
                  <a:srgbClr val="104A43"/>
                </a:solidFill>
                <a:latin typeface="Georgia"/>
                <a:cs typeface="Jameel Noori Nastaleeq"/>
              </a:rPr>
              <a:t>سیدنا خالد بن الولید 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200" b="0">
                <a:solidFill>
                  <a:srgbClr val="C49A45"/>
                </a:solidFill>
                <a:latin typeface="Georgia"/>
                <a:cs typeface="Jameel Noori Nastaleeq"/>
              </a:rPr>
              <a:t>سیف اللہ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سیر أعلام النبلاء، ج۱ ص۳۶۶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4400" b="0">
                <a:solidFill>
                  <a:srgbClr val="104A43"/>
                </a:solidFill>
                <a:latin typeface="Georgia"/>
                <a:cs typeface="Jameel Noori Nastaleeq"/>
              </a:rPr>
              <a:t>سیدنا ابو عبیدہ بن الجراح 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200" b="0">
                <a:solidFill>
                  <a:srgbClr val="C49A45"/>
                </a:solidFill>
                <a:latin typeface="Georgia"/>
                <a:cs typeface="Jameel Noori Nastaleeq"/>
              </a:rPr>
              <a:t>امین الامۃ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سیر أعلام النبلاء، ج۱ ص۶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کیسے پتا چلا؟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5000" b="0">
                <a:solidFill>
                  <a:srgbClr val="104A43"/>
                </a:solidFill>
                <a:latin typeface="Georgia"/>
                <a:cs typeface="Jameel Noori Nastaleeq"/>
              </a:rPr>
              <a:t>قرآن کی جمع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آج کی بات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500" b="0">
                <a:solidFill>
                  <a:srgbClr val="104A43"/>
                </a:solidFill>
                <a:latin typeface="Georgia"/>
                <a:cs typeface="Jameel Noori Nastaleeq"/>
              </a:rPr>
              <a:t>امام حسن بصریؒ اور امام قتادہؒ فرماتے ہیں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000" b="0">
                <a:solidFill>
                  <a:srgbClr val="0A322E"/>
                </a:solidFill>
                <a:latin typeface="Georgia"/>
                <a:cs typeface="Traditional Arabic"/>
              </a:rPr>
              <a:t>﴿مَنْ يَرْتَدَّ مِنْكُمْ عَنْ دِينِهِ فَسَوْفَ يَأْتِي اللَّهُ بِقَوْمٍ يُحِبُّهُمْ وَيُحِبُّونَهُ﴾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2400" b="0">
                <a:solidFill>
                  <a:srgbClr val="1C2321"/>
                </a:solidFill>
                <a:latin typeface="Georgia"/>
                <a:cs typeface="Jameel Noori Nastaleeq"/>
              </a:rPr>
              <a:t>اِس آیت میں مراد سیدنا ابوبکر ؓ اور اُن کے ساتھی ہیں —</a:t>
            </a:r>
          </a:p>
          <a:p>
            <a:pPr algn="r" rtl="1">
              <a:lnSpc>
                <a:spcPct val="160000"/>
              </a:lnSpc>
            </a:pPr>
            <a:r>
              <a:rPr sz="2400" b="0">
                <a:solidFill>
                  <a:srgbClr val="1C2321"/>
                </a:solidFill>
                <a:latin typeface="Georgia"/>
                <a:cs typeface="Jameel Noori Nastaleeq"/>
              </a:rPr>
              <a:t>مرتدین اور مانعینِ زکوٰۃ سے اُن کے قتال میں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104A43"/>
                </a:solidFill>
                <a:latin typeface="Georgia"/>
                <a:cs typeface="Jameel Noori Nastaleeq"/>
              </a:rPr>
              <a:t>المائدة ۵:۵۴  ·  البدایہ والنہایہ، ج۷ ص۱۹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4800" b="0">
                <a:solidFill>
                  <a:srgbClr val="FAF7F0"/>
                </a:solidFill>
                <a:latin typeface="Georgia"/>
                <a:cs typeface="Jameel Noori Nastaleeq"/>
              </a:rPr>
              <a:t>اگلے ہفتے — پہلا امتحان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800" b="0">
                <a:solidFill>
                  <a:srgbClr val="C49A45"/>
                </a:solidFill>
                <a:latin typeface="Georgia"/>
                <a:cs typeface="Jameel Noori Nastaleeq"/>
              </a:rPr>
              <a:t>۲۳ھ  ←  ۴۰ھ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72000"/>
            <a:ext cx="10515600" cy="127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0">
                <a:solidFill>
                  <a:srgbClr val="C49A45"/>
                </a:solidFill>
                <a:latin typeface="Georgia"/>
                <a:cs typeface="Jameel Noori Nastaleeq"/>
              </a:rPr>
              <a:t>ایک آدمی اکیلا کھڑا ہو، اور سب اُس کے خلاف مشورہ دے رہے ہوں — تو اُسے کیا چیز سنبھالتی ہے؟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SOURCES  ·  show only if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2200" b="0">
                <a:solidFill>
                  <a:srgbClr val="1C2321"/>
                </a:solidFill>
                <a:latin typeface="Georgia"/>
                <a:cs typeface="Jameel Noori Nastaleeq"/>
              </a:rPr>
              <a:t>البدایہ والنہایہ — ابن کثیر رحمہ اللہ</a:t>
            </a:r>
          </a:p>
          <a:p>
            <a:pPr algn="r" rtl="1">
              <a:lnSpc>
                <a:spcPct val="160000"/>
              </a:lnSpc>
            </a:pPr>
            <a:r>
              <a:rPr sz="2200" b="0">
                <a:solidFill>
                  <a:srgbClr val="1C2321"/>
                </a:solidFill>
                <a:latin typeface="Georgia"/>
                <a:cs typeface="Jameel Noori Nastaleeq"/>
              </a:rPr>
              <a:t>ج۵ ص۳۴۴–۳۴۹ · ج۷ ص۱۷–۲۷ · ج۷ ص۸۵–۹۵ · ج۷ ص۱۳۲–۱۴۰</a:t>
            </a:r>
          </a:p>
          <a:p>
            <a:pPr algn="r" rtl="1">
              <a:lnSpc>
                <a:spcPct val="160000"/>
              </a:lnSpc>
            </a:pPr>
            <a:r>
              <a:rPr sz="2200" b="0">
                <a:solidFill>
                  <a:srgbClr val="1C2321"/>
                </a:solidFill>
                <a:latin typeface="Georgia"/>
                <a:cs typeface="Jameel Noori Nastaleeq"/>
              </a:rPr>
              <a:t/>
            </a:r>
          </a:p>
          <a:p>
            <a:pPr algn="r" rtl="1">
              <a:lnSpc>
                <a:spcPct val="160000"/>
              </a:lnSpc>
            </a:pPr>
            <a:r>
              <a:rPr sz="2200" b="0">
                <a:solidFill>
                  <a:srgbClr val="1C2321"/>
                </a:solidFill>
                <a:latin typeface="Georgia"/>
                <a:cs typeface="Jameel Noori Nastaleeq"/>
              </a:rPr>
              <a:t>سیر أعلام النبلاء — الذہبی رحمہ اللہ</a:t>
            </a:r>
          </a:p>
          <a:p>
            <a:pPr algn="r" rtl="1">
              <a:lnSpc>
                <a:spcPct val="160000"/>
              </a:lnSpc>
            </a:pPr>
            <a:r>
              <a:rPr sz="2200" b="0">
                <a:solidFill>
                  <a:srgbClr val="1C2321"/>
                </a:solidFill>
                <a:latin typeface="Georgia"/>
                <a:cs typeface="Jameel Noori Nastaleeq"/>
              </a:rPr>
              <a:t>راشدون ص۸ · ج۱ ص۶ · ج۱ ص۳۶۶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