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Line, unchanged.</a:t>
            </a:r>
          </a:p>
          <a:p/>
          <a:p>
            <a:r>
              <a:t>SAY — Last week ended with al-Yamāma taken: the garden, the gate, Musaylima dead, and the treaty kept against the caliph's letter.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map, unchanged.</a:t>
            </a:r>
          </a:p>
          <a:p/>
          <a:p>
            <a:r>
              <a:t>SAY — Tonight: what was signed at the forts, what that day cost — and where the man sent away from al-Yamāma before the battle had gone.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 Last week ended with al-Yamāma taken. Here is the end of that day again, in five moves — and then what was signed.</a:t>
            </a:r>
          </a:p>
          <a:p/>
          <a:p>
            <a:r>
              <a:t>▶ CLICK 1 — Banū Ḥanīfa break, and fall back into a walled garden. The gate shuts behind them.</a:t>
            </a:r>
          </a:p>
          <a:p/>
          <a:p>
            <a:r>
              <a:t>▶ CLICK 2 — al-Barāʾ b. Mālik ؓ: throw me over — over the wall, on a shield raised on spears.</a:t>
            </a:r>
          </a:p>
          <a:p/>
          <a:p>
            <a:r>
              <a:t>▶ CLICK 3 — He fights at the gate and opens it, and the army pours in.</a:t>
            </a:r>
          </a:p>
          <a:p/>
          <a:p>
            <a:r>
              <a:t>▶ CLICK 4 — In a gap in the wall, Musaylima falls.</a:t>
            </a:r>
          </a:p>
          <a:p/>
          <a:p>
            <a:r>
              <a:t>▶ CLICK 5 — The survivors reach the forts. And this is where tonight begins: what was signed there.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Answers the question evening 4 left the speaker without. al-Kamil, vol. 2, p. 218: first "everything except lives", then gold, silver, weapons and half the captives — «وقيل: ربعه». Siyar (al-Rashidun), p. 48 (ʿUrwa): gold and silver, armour and horses, half the slaves, and one walled garden from every village. Salama b. ʿUmayr: fight on — the fort is strong, the food plentiful, winter has come; Mujjāʿa: do not obey him. ⚠ Do not retell the trick — it was told on evening 4</a:t>
            </a:r>
          </a:p>
          <a:p/>
          <a:p>
            <a:r>
              <a:t>SAY —</a:t>
            </a:r>
          </a:p>
          <a:p>
            <a:r>
              <a:t>1. Where we left them — Banū Ḥanīfa broken, the survivors in their forts, and the army worn out.</a:t>
            </a:r>
          </a:p>
          <a:p>
            <a:r>
              <a:t>2. Mujjāʿa's offer — "Only the first of them came at you; the forts are full. Make terms for what is behind me."</a:t>
            </a:r>
          </a:p>
          <a:p>
            <a:r>
              <a:t>3. The first terms — Everything, except their lives.</a:t>
            </a:r>
          </a:p>
          <a:p>
            <a:r>
              <a:t>4. The refusal you already know — The women on the walls: he came back saying his people would not accept it.</a:t>
            </a:r>
          </a:p>
          <a:p>
            <a:r>
              <a:t>5. What was finally agreed — Gold and silver, armour and horses, half the captives — some say a quarter.</a:t>
            </a:r>
          </a:p>
          <a:p>
            <a:r>
              <a:t>6. And a garden in every village — One walled garden from every village of al-Yamāma.</a:t>
            </a:r>
          </a:p>
          <a:p>
            <a:r>
              <a:t>   ^ read the Arabic on the face here</a:t>
            </a:r>
          </a:p>
          <a:p>
            <a:r>
              <a:t>7. The man who said no — Salama b. ʿUmayr: fight on; the fort is strong, the food plentiful, winter has come.</a:t>
            </a:r>
          </a:p>
          <a:p>
            <a:r>
              <a:t>8. Mujjāʿa's answer — "Do not obey him — he is ill-omened." They obeyed Mujjāʿa, and the terms were made.</a:t>
            </a:r>
          </a:p>
          <a:p/>
          <a:p>
            <a:r>
              <a:t>QUOTE — فلم يزل مجاعة حتى صالحه على الصفراء والبيضاء والحلقة والكراع، وعلى نصف الرقيق، وعلى حائط من كل قرية، فتقاضوا على ذلك.</a:t>
            </a:r>
          </a:p>
          <a:p>
            <a:r>
              <a:t>"Mujjāʿa kept at him until he made terms with him on the gold and the silver, the armour and the horses, half of the slaves, and a walled garden from every village — and they settled on that."</a:t>
            </a:r>
          </a:p>
          <a:p>
            <a:r>
              <a:t>— سیر أعلام النبلاء (سير الخلفاء الراشدين) ص۴۸ (from ʿUrwa)</a:t>
            </a:r>
          </a:p>
          <a:p/>
          <a:p>
            <a:r>
              <a:t>عبرت — The terms took their weapons and their wealth, and left them their lives.</a:t>
            </a:r>
          </a:p>
          <a:p/>
          <a:p>
            <a:r>
              <a:t>The first offer, and why he settled — الکامل ج۲ ص۲۱۸ (https://shamela.ws/book/21712/909): the first</a:t>
            </a:r>
          </a:p>
          <a:p>
            <a:r>
              <a:t>terms were «فَصَالَحَهُ عَلَى كُلِّ شَيْءٍ دُونَ النُّفُوسِ» — everything except lives. After the refusal,</a:t>
            </a:r>
          </a:p>
          <a:p>
            <a:r>
              <a:t>Khālid ؓ saw the forts full «وَقَدْ نَهَكَتِ الْمُسْلِمِينَ الْحَرْبُ وَطَالَ اللِّقَاءُ، وَأَحَبُّوا أَنْ يَرْجِعُوا عَلَى</a:t>
            </a:r>
          </a:p>
          <a:p>
            <a:r>
              <a:t>الظَّفَرِ» — the war had worn the Muslims down, the fighting had been long, and they wanted to go home with</a:t>
            </a:r>
          </a:p>
          <a:p>
            <a:r>
              <a:t>the victory. The final terms in Ibn al-Athīr's words: «وَصَالَحَهُ خَالِدٌ عَلَى الذَّهَبِ وَالْفِضَّةِ وَالسِّلَاحِ</a:t>
            </a:r>
          </a:p>
          <a:p>
            <a:r>
              <a:t>وَنِصْفِ السَّبْيِ، وَقِيلَ: رُبْعُهُ». البدایہ ج۷ ص۳۵ has Mujjāʿa asking to go to his people «لما رأى بالمسلمين</a:t>
            </a:r>
          </a:p>
          <a:p>
            <a:r>
              <a:t>من الجَهد وقد كَلُّوا من كثرة الحروب والقتال» — because he saw how spent the Muslims were.</a:t>
            </a:r>
          </a:p>
          <a:p>
            <a:r>
              <a:t>Salama's objection, on the same سیر page: «يا بني حنيفة قاتلوا ولا تقاضوا خالدا على شيء، فإن الحصن حصين،</a:t>
            </a:r>
          </a:p>
          <a:p>
            <a:r>
              <a:t>والطعام كثير، وقد حضر الشتاء» — and Mujjāʿa: «لا تطيعوه فإنه مشؤوم» — «فأطاعوا مجاعة، وقاضاهم».</a:t>
            </a:r>
          </a:p>
          <a:p>
            <a:r>
              <a:t>⚠ Do not retell the trick — E-RC22 told the women in armour on the walls on evening 4. This card is</a:t>
            </a:r>
          </a:p>
          <a:p>
            <a:r>
              <a:t>what was signed.</a:t>
            </a:r>
          </a:p>
          <a:p>
            <a:r>
              <a:t>⚠ The books differ on the terms — half the captives or a quarter; al-Kāmil does not list the gardens.</a:t>
            </a:r>
          </a:p>
          <a:p>
            <a:r>
              <a:t>Give ʿUrwa's list as سیر records it, and say *"some say a quarter"*. ابن خلدون ج۲ ص۵۰۳ has half first,</a:t>
            </a:r>
          </a:p>
          <a:p>
            <a:r>
              <a:t>refused, then a quarter — framing only (DECISIONS.md #29), never cited alone.</a:t>
            </a:r>
          </a:p>
          <a:p>
            <a:r>
              <a:t>Why this card exists (#61): evening 4's E-RC22 said *"he settles on terms"* and never said what they were.</a:t>
            </a:r>
          </a:p>
          <a:p/>
          <a:p>
            <a:r>
              <a:t>BACKGROUND (read at home, not aloud) —</a:t>
            </a:r>
          </a:p>
          <a:p>
            <a:r>
              <a:t>When Banū Ḥanīfa broke, the survivors made for their forts, and Khālid ؓ meant to send the squadrons in after them. Mujjāʿa, still his prisoner, told him that only the first rush of his people had met him and that the forts were full, and offered to make terms for everything behind him. Khālid ؓ agreed first to everything except their lives. Then Mujjāʿa went in to consult them — the trick told on evening 4 — and came back saying they refused. Khālid ؓ looked at forts that seemed full, at an army worn out by a long war, and settled for less: the gold and the silver, the armour and the horses, half of the captives — and some say a quarter — and one walled garden from every village. One man of Banū Ḥanīfa, Salama b. ʿUmayr, told his people to refuse even that: the fort was strong, the food plentiful, and winter had come. Mujjāʿa told them not to listen to him, and they did as Mujjāʿa said.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al-Bidaya, vol. 7, p. 35: called to Islam — «فأسلموا عن آخرهم» — and some captives given back. Siyar (al-Rashidun), p. 48: al-Zuhrī — the men in the fort came down on his judgement and were spared (⚠ say no number: the page misprints the number-word). ⚠ The page goes on to ʿAlī ؓ and the mother of Muḥammad b. al-Ḥanafiyya — not from the platform. Last beat: begun in 11 AH, finished in 12 (Ibn Kathīr, vol. 7, pp. 35–36)</a:t>
            </a:r>
          </a:p>
          <a:p/>
          <a:p>
            <a:r>
              <a:t>SAY —</a:t>
            </a:r>
          </a:p>
          <a:p>
            <a:r>
              <a:t>1. The terms made — And then a second call: to Islam, and to renounce what they had followed.</a:t>
            </a:r>
          </a:p>
          <a:p>
            <a:r>
              <a:t>2. To the last man — Ibn Kathīr: they became Muslims, every one of them, and came back to the truth.</a:t>
            </a:r>
          </a:p>
          <a:p>
            <a:r>
              <a:t>   ^ read the Arabic on the face here</a:t>
            </a:r>
          </a:p>
          <a:p>
            <a:r>
              <a:t>3. The captives — Some given back to them; the rest sent on to Abū Bakr ؓ at Medina.</a:t>
            </a:r>
          </a:p>
          <a:p>
            <a:r>
              <a:t>4. The men in the fort — In al-Zuhrī's report they came down on Khālid's ؓ judgement, and he spared them.</a:t>
            </a:r>
          </a:p>
          <a:p>
            <a:r>
              <a:t>5. When it happened — Begun at the end of 11 AH, finished at the start of 12: Ibn Kathīr and al-Dhahabī reconcile it the same way.</a:t>
            </a:r>
          </a:p>
          <a:p/>
          <a:p>
            <a:r>
              <a:t>QUOTE — ودعاهم خالد إلى الإسلام فأسلموا عن آخرهم ورجعوا إلى الحق. وردّ عليهم خالدٌ بعضَ ما كان أخذ من السبي، وساق الباقين إلى الصدِّيق.</a:t>
            </a:r>
          </a:p>
          <a:p>
            <a:r>
              <a:t>"And Khālid called them to Islam, and they became Muslims to the last of them and returned to the truth. And Khālid gave back to them some of the captives he had taken, and drove the rest on to al-Ṣiddīq."</a:t>
            </a:r>
          </a:p>
          <a:p>
            <a:r>
              <a:t>— البدایہ والنہایہ ج۷ ص۳۵</a:t>
            </a:r>
          </a:p>
          <a:p/>
          <a:p>
            <a:r>
              <a:t>عبرت — The last thing offered to them was not a sword but a call, and every one of them answered it.</a:t>
            </a:r>
          </a:p>
          <a:p/>
          <a:p>
            <a:r>
              <a:t>The same, from ʿUrwa — سیر (الراشدون) ص۴۸ (https://shamela.ws/book/10906/1196): «ثم إن خالدا دعاهم إلى</a:t>
            </a:r>
          </a:p>
          <a:p>
            <a:r>
              <a:t>الإسلام والبراءة مما كانوا عليه، فأسلم سائرهم». On the same page, al-Zuhrī: the fighting men of Banū Ḥanīfa</a:t>
            </a:r>
          </a:p>
          <a:p>
            <a:r>
              <a:t>who had shut themselves in their fort «فنزلوا على حكم خالد فاستحياهم». ⚠ The printed page gives their</a:t>
            </a:r>
          </a:p>
          <a:p>
            <a:r>
              <a:t>number with a typographical slip in the number-word, so no figure is spoken from this report.</a:t>
            </a:r>
          </a:p>
          <a:p>
            <a:r>
              <a:t>The date — البدایہ ج۷ ص۳۵–۳۶ (the sentence straddles the page break) and سیر الراشدون ص۴۹ reconcile</a:t>
            </a:r>
          </a:p>
          <a:p>
            <a:r>
              <a:t>the 11/12 AH disagreement the same way: begun in 11, finished in 12. The table is in §6.10 of this note.</a:t>
            </a:r>
          </a:p>
          <a:p>
            <a:r>
              <a:t>⚠ Not for the platform: the same البدایہ page goes on to say that ʿAlī ؓ took a slave-woman from these</a:t>
            </a:r>
          </a:p>
          <a:p>
            <a:r>
              <a:t>captives, the mother of his son Muḥammad, "who is called Muḥammad b. al-Ḥanafiyya". It is a fact of the book</a:t>
            </a:r>
          </a:p>
          <a:p>
            <a:r>
              <a:t>and it opens a figure this course reaches much later. If a slip asks, say that the book records it, and no more.</a:t>
            </a:r>
          </a:p>
          <a:p/>
          <a:p>
            <a:r>
              <a:t>BACKGROUND (read at home, not aloud) —</a:t>
            </a:r>
          </a:p>
          <a:p>
            <a:r>
              <a:t>Once the terms were made, Khālid ؓ called Banū Ḥanīfa to Islam and to renounce what they had followed, and they became Muslims — to the last man, Ibn Kathīr says — and came back to the truth. He gave back some of the captives he had taken and sent the rest on to Abū Bakr ؓ. In al-Zuhrī's report the fighting men who had fortified themselves came down on Khālid's ؓ judgement, and he spared them. And the books, for once, agree on how to date it: the fighting began at the very end of 11 AH and was finished at the start of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Answers evening 4's last question first: he lived. Beat 2 is the way into his brother's house. ⚠ «قيل» — "it is reported that ʿUmar ؓ wrote". The eighty wounds were told on evening 4 — say "you heard he lived" and go on to what was said of him</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the house of Umm Sulaym ؓ. Point as you go. (Every line is glued to its boxes: move a box and its lines follow.)</a:t>
            </a:r>
          </a:p>
          <a:p/>
          <a:p>
            <a:r>
              <a:t>SAY — Before we go on with him, look at the house he came from: one house of Banū al-Najjār, in Medina.</a:t>
            </a:r>
          </a:p>
          <a:p>
            <a:r>
              <a:t>1. Mālik b. al-Naḍr — the father of al-Barāʾ ؓ and of Anas ؓ. Al-Barāʾ ؓ is the elder.</a:t>
            </a:r>
          </a:p>
          <a:p>
            <a:r>
              <a:t>2. Umm Sulaym ؓ — Anas's ؓ mother, and Mālik's wife. When Mālik died, Abū Ṭalḥa ؓ asked for her hand — the next slide is what she asked of him.</a:t>
            </a:r>
          </a:p>
          <a:p>
            <a:r>
              <a:t>3. Anas ؓ — she brought him to the Prophet ﷺ at ten, dressed in half her own head-covering, to serve him; ten years, and he was never once told off.</a:t>
            </a:r>
          </a:p>
          <a:p>
            <a:r>
              <a:t>4. And their small son — the second slide from here.</a:t>
            </a:r>
          </a:p>
          <a:p/>
          <a:p>
            <a:r>
              <a:t>IF THE ROOM IS WITH YOU — one line each, pointing:</a:t>
            </a:r>
          </a:p>
          <a:p>
            <a:r>
              <a:t>5. Anas b. al-Naḍr ؓ — their uncle, the man Anas ؓ was named after. At Uḥud he said: I find the scent of Paradise, on this side of the mountain. He was found with more than eighty wounds, and only his sister knew him — by his fingertips. Nine years later his nephew al-Barāʾ ؓ came off the wall at al-Yamāma with eighty-odd wounds, and lived.</a:t>
            </a:r>
          </a:p>
          <a:p>
            <a:r>
              <a:t>6. Ḥarām ؓ — her brother. Sent to Najd to teach, speared from behind under safe-conduct, he said: I have won, by the Lord of the Kaʿba. The Prophet ﷺ went into no house in Medina but hers, because her brother had been killed alongside him.</a:t>
            </a:r>
          </a:p>
          <a:p>
            <a:r>
              <a:t>7. Umm Ḥarām ؓ — her sister, who asked to be among the first of this ummah to ride the sea, and was told she would be; years later, in a caliphate we have not reached, she was.</a:t>
            </a:r>
          </a:p>
          <a:p>
            <a:r>
              <a:t>8. Abū Ṭalḥa ؓ — Bayruḥāʾ, the palm-garden he loved most, he gave away. And at Ḥunayn, when the line was driven back, Umm Sulaym ؓ stood with a dagger: if any of them comes near me, I will use it on him.</a:t>
            </a:r>
          </a:p>
          <a:p/>
          <a:p>
            <a:r>
              <a:t>⚠ Our pages name Umm Sulaym ؓ as Anas's ؓ mother; none names al-Barāʾ's ؓ mother. Say "Anas's mother" and "his elder brother al-Barāʾ ؓ" — the tree draws only what the pages say.</a:t>
            </a:r>
          </a:p>
          <a:p>
            <a:r>
              <a:t>⚠ Umm Ḥarām ؓ: do not name the fleet's commander. Ḥunayn: stop where the card stops.</a:t>
            </a:r>
          </a:p>
          <a:p/>
          <a:p>
            <a:r>
              <a:t>BACKGROUND (read at home, not aloud) — the house's stories in full:</a:t>
            </a:r>
          </a:p>
          <a:p>
            <a:r>
              <a:t>• The gift she had left: She brings her son to the Prophet ﷺ — Dressed in half her own head-covering.; What she asked — That he be taken into service, and prayed for.; How old he was — Ten. He stayed ten years.</a:t>
            </a:r>
          </a:p>
          <a:p>
            <a:r>
              <a:t>• Ten years, and not one rebuke: Ten years in that service — Anas ؓ served the Prophet ﷺ from the age of ten.; What he said afterwards, under oath — In ten years he was never once told off.; Not for what he did, and not for what he failed to do — And «uff» was never said to him.</a:t>
            </a:r>
          </a:p>
          <a:p>
            <a:r>
              <a:t>• «I find the scent of Paradise»: He had missed Badr — Anas b. al-Naḍr ؓ, and it weighed on him.; What he said about it — If Allah gives me a battle, He will see what I do.; At Uḥud, when the line broke — He walked forward with his sword and met Saʿd b. Muʿādh ؓ.; What he said to him — I find the scent of Paradise, on this side of the mountain.; Then he went in — He fought until he was killed, and Saʿd ؓ said he could not have done what that man did.</a:t>
            </a:r>
          </a:p>
          <a:p>
            <a:r>
              <a:t>• Known by his fingertips: Afterwards they went out to identify the dead — More than eighty wounds on him: sword, spear and arrow.; His own family could not tell who he was — His sister came.; How she knew him — By his fingertips.; What his nephew said later — The āya of al-Aḥzāb was held to have come down about him and men like him.</a:t>
            </a:r>
          </a:p>
          <a:p>
            <a:r>
              <a:t>• «What will you do with life after him?»: The word goes round the field — That the Prophet ﷺ had been killed.; Men sat down where they were and let their hands fall — Among them ʿUmar ؓ and Ṭalḥa ؓ.; He asks what is keeping them there — And they tell him.; One sentence — And he walks past them into the fighting.</a:t>
            </a:r>
          </a:p>
          <a:p>
            <a:r>
              <a:t>• The water-carriers at Uḥud: He was a boy that day — Anas ؓ remembered two things from Uḥud.; His stepfather in front of the Prophet ﷺ — Breaking bow after bow: my throat before your throat.; Two women running with waterskins — Skirts tucked up, emptying them into the men's mouths, going back to fill them.; Who they were — One was ʿĀʾisha ؓ. The other was his mother.</a:t>
            </a:r>
          </a:p>
          <a:p>
            <a:r>
              <a:t>• «I have won»: A party sent out to Najd to teach — Umm Sulaym's ؓ brother Ḥarām ؓ carries the letter forward.; Safe conduct until the message is delivered — And he begins to speak to them.; What they did while he spoke — Signalled to a man, who came round behind him and ran a spear through him.; What he did with his own blood — Took it in his hand and threw it over his face and head.</a:t>
            </a:r>
          </a:p>
          <a:p>
            <a:r>
              <a:t>• The reason the Prophet ﷺ came to that house: People noticed — He went into no house in Medina except hers.; They asked him why — And the answer was not a compliment to the house.; The reason — Her brother had been killed alongside him.</a:t>
            </a:r>
          </a:p>
          <a:p>
            <a:r>
              <a:t>• Umm Ḥarām and the sea: He rested in her house one afternoon — And woke up laughing.; What he had been shown — People of his umma riding the sea like kings on thrones.; What she asked — That he pray she be one of them; he told her she was among the first.; Years later — A fleet went to Cyprus, and her husband ʿUbāda b. al-Ṣāmit ؓ carried her with it.; Coming ashore on the way back — A mule threw her, and she died there.</a:t>
            </a:r>
          </a:p>
          <a:p>
            <a:r>
              <a:t>• Bayruḥāʾ: More date-palms than any man of the Anṣār — And the one he loved most was Bayruḥāʾ.; He gave it away — And said plainly that he was giving the piece he loved most.; What he asked — That the Prophet ﷺ place it wherever he was shown.; Where it went — Among his own near kin.</a:t>
            </a:r>
          </a:p>
          <a:p>
            <a:r>
              <a:t>• The dagger at Ḥunayn: The Muslims driven back at the start of the day — Abū Ṭalḥa ؓ finds his wife standing with a dagger.; He asks what it is for — If any of them comes near me, I will use it on him.; He turns to the Prophet ﷺ — Have you heard what she is saying?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Say it aloud: before the Hijra. Beat 1 is Abū Ṭalḥa's ؓ notice. ⚠ His own name is Zayd b. Sahl — the evening has four Zayds. Always say the full name</a:t>
            </a:r>
          </a:p>
          <a:p/>
          <a:p>
            <a:r>
              <a:t>⚠ but ثابت's closing line is worth adding aloud: *"We never heard of a nobler dower than Umm Sulaym's dower: Islam."</a:t>
            </a:r>
          </a:p>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page does not name the child — do not name him. Tell it slowly; the strongest card in the house</a:t>
            </a:r>
          </a:p>
          <a:p/>
          <a:p>
            <a:r>
              <a:t>⚠ (Delivery caution: the page does not name the child, and the exchange is at the end of the night, not at the door. Both details are usually got wrong in retelling.)</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Back to al-Barāʾ ؓ — his brother comes in on him. The counts move — "the reports give ninety-odd"</a:t>
            </a:r>
          </a:p>
          <a:p/>
          <a:p>
            <a:r>
              <a:t>⚠ (Delivery note: the counts move — ninety-nine in one chain, ninety-odd in another, a hundred in a third. Say "the reports give ninety-odd" and move on.)</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framed aloud: years later, in a war we have not reached. «واستشهدني» is where the sources stop — add nothing</a:t>
            </a:r>
          </a:p>
          <a:p/>
          <a:p>
            <a:r>
              <a:t>⚠ (Delivery note: «واستشهدني» is where the sources stop. Nothing may be added after it.)</a:t>
            </a:r>
          </a:p>
          <a:p/>
          <a:p>
            <a:r>
              <a:t>SAY —</a:t>
            </a:r>
          </a:p>
          <a:p>
            <a:r>
              <a:t>▶ CLICK 1 — Tustar, years later — in a war we have not reached.</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5. That day — They broke the enemy, and he was killed inside the city.</a:t>
            </a:r>
          </a:p>
          <a:p>
            <a:r>
              <a:t>▶ NEXT SLIDE — the words: read the Arabic, then its English.</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Abū ʿAqīl ؓ, a chief of the Anṣār and a man of Badr. ⚠⚠ The long famous version is in NO approved source — tell only the card's sentence</a:t>
            </a:r>
          </a:p>
          <a:p/>
          <a:p>
            <a:r>
              <a:t>⚠ البدایہ ج۷ ص۵۷ gives the same sentence. ⚠⚠ The long famous version of this account — the night wound, the dead arm, the severed arm, the fourteen wounds, "who won?" — is NOT in any approved source (§X.2). Tell only what is above.</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SPEAKER'S DISCRETION — the most severe card of the evening. What was done to Ḥabīb b. Zayd ؓ, and what his mother did after it. Tell it plainly and without dwelling; skip it if the room is heavy. ⚠ The books differ on her wounds — "covered in wounds"</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One of FOUR names for the man who killed Musaylima — say the other three exist, in the same breath. ⚠ Do not open al-Ḥarra. If the card before is skipped, give Umm ʿUmāra's ؓ notice here</a:t>
            </a:r>
          </a:p>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p>
            <a:r>
              <a:t>عبرت — The same notice records what that house lost and what one account says it did, and the books still decline to say whose hand it was.</a:t>
            </a:r>
          </a:p>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p>
            <a:r>
              <a:t>## The people: the men who had fought against it</a:t>
            </a:r>
          </a:p>
          <a:p/>
          <a:p>
            <a:r>
              <a:t>*Source note: [the-men-who-had-fought-against-it.md](../docs/research/the-men-who-had-fought-against-it.md)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Last week you saw the banner at the line, and Zayd b. al-Khaṭṭāb ؓ's vow not to speak until it was over. Here is what happened to that banner.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Zayd ؓ falls; Sālim ؓ takes the banner. ⚠ Three books, three arrangements — never a diagram</a:t>
            </a:r>
          </a:p>
          <a:p/>
          <a:p>
            <a:r>
              <a:t>⚠ Three books give three different banner arrangements at al-Yamāma. Do not draw a diagram —</a:t>
            </a:r>
          </a:p>
          <a:p>
            <a:r>
              <a:t>say only that the banner changed hands because the man holding it was killed.</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1: "The man who killed your brother is standing in front of you, and he is now a Muslim. What is there to say?" ⚠ The sources record no answer from ʿUmar ؓ — do not supply one</a:t>
            </a:r>
          </a:p>
          <a:p/>
          <a:p>
            <a:r>
              <a:t>⚠ The sources record no answer from ʿUmar ؓ. Do not supply one. ⚠ Give Ibn Kathīr's own handling</a:t>
            </a:r>
          </a:p>
          <a:p>
            <a:r>
              <a:t>of the competing report — it is the "how do we know?" beat of this act (§2.7).</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pair with the next card — both or neither. ⚠ The muʾākhāt's year is an estimate: "when the Muhājirūn arrived"</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Maʿn ؓ — one of the two men on the road to the Saqīfa, evening 1. ⚠ If challenged: مرسل from ʿUrwa</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Thābit ؓ at Medina, after al-Ḥujurāt. The room saw his shroud on evening 4 — the second of the three things has already happened</a:t>
            </a:r>
          </a:p>
          <a:p/>
          <a:p>
            <a:r>
              <a:t>⚠ The verse-and-house incident is in صحيح مسلم ١١٩ and صحيح البخاري ٣٦١٣ (سیر ed. fn., ج۱ ص۳۱۰ and ج۱ ص۳۱۱); البدایہ ج۷ ص۴۸ carries both this and the earlier لقمان ۱۸ incident in sequence.</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the house of ʿUtba b. Rabīʿa, and who married into it. Point as you go. (Every line is glued to its boxes: move a box and its lines follow.)</a:t>
            </a:r>
          </a:p>
          <a:p/>
          <a:p>
            <a:r>
              <a:t>SAY — One family, on two battlefields — and some names you know.</a:t>
            </a:r>
          </a:p>
          <a:p>
            <a:r>
              <a:t>1. ʿUtba b. Rabīʿa — al-Dhahabī calls him the elder of the Jāhiliyya — his brother Shayba, and his son al-Walīd: the three who came out for the single combat that opened Badr. All three were killed.</a:t>
            </a:r>
          </a:p>
          <a:p>
            <a:r>
              <a:t>2. Abū Ḥudhayfa ؓ, ʿUtba's son, stood with the Muslims that day: his father and his brother on one side, himself on the other.</a:t>
            </a:r>
          </a:p>
          <a:p>
            <a:r>
              <a:t>3. His sister: Hind bint ʿUtba ؓ — al-Dhahabī names her as Umm Muʿāwiya. Her husband, Abū Sufyān ؓ: the head of Quraysh, their commander at Uḥud and at the Trench — until, in al-Dhahabī's words, Allah rescued him with Islam on the day of the Conquest. Their son, Muʿāwiya ؓ — a name for evenings we have not reached.</a:t>
            </a:r>
          </a:p>
          <a:p>
            <a:r>
              <a:t>4. His wife: Sahla ؓ, the daughter of Suhayl b. ʿAmr ؓ — the orator of Quraysh, the man who held Mecca for Islam when the Prophet ﷺ died. She went with Abū Ḥudhayfa ؓ on the first ship to Abyssinia — hired, it is reported, for half a dīnār.</a:t>
            </a:r>
          </a:p>
          <a:p>
            <a:r>
              <a:t>5. Sālim ؓ — the freed slave the household kept. His origin was Iṣṭakhr, in Persia.</a:t>
            </a:r>
          </a:p>
          <a:p>
            <a:r>
              <a:t>6. Ten years after Badr, Abū Ḥudhayfa ؓ and Sālim ؓ fell at al-Yamāma, side by side.</a:t>
            </a:r>
          </a:p>
          <a:p/>
          <a:p>
            <a:r>
              <a:t>IF THE ROOM IS WITH YOU — one line each:</a:t>
            </a:r>
          </a:p>
          <a:p>
            <a:r>
              <a:t>7. Abū Ḥudhayfa ؓ married Sālim ؓ to his own brother al-Walīd's daughter — into the family itself. Ibn Kathīr alone carries it.</a:t>
            </a:r>
          </a:p>
          <a:p>
            <a:r>
              <a:t>8. Another brother, Abū Hāshim b. ʿUtba ؓ — a Muslim on the day of the Conquest, "and his Islam was good"; Muʿāwiya ؓ came to his bedside in his last illness.</a:t>
            </a:r>
          </a:p>
          <a:p>
            <a:r>
              <a:t>9. The Prophet ﷺ went out one night with his cloak to listen to Sālim ؓ recite in the mosque; al-Dhahabī marks the chain good.</a:t>
            </a:r>
          </a:p>
          <a:p/>
          <a:p>
            <a:r>
              <a:t>⚠ Abū Sufyān ؓ and Muʿāwiya ؓ are forward references: say "names for evenings we have not reached", and nothing of what came later.</a:t>
            </a:r>
          </a:p>
          <a:p>
            <a:r>
              <a:t>⚠ The verses Hind is said to have spoken against her brother at Badr are not to be read out.</a:t>
            </a:r>
          </a:p>
          <a:p>
            <a:r>
              <a:t>⚠ Abū Ḥudhayfa's ؓ son Muḥammad, born in Abyssinia, is not on the tree: his later life belongs to the مشاجرات and is not for the platform.</a:t>
            </a:r>
          </a:p>
          <a:p>
            <a:r>
              <a:t>⚠ The tree says "freed slave", not "adopted": the adoption, and what the law did with it, is not for the platform.</a:t>
            </a:r>
          </a:p>
          <a:p/>
          <a:p>
            <a:r>
              <a:t>BACKGROUND (read at home, not aloud) — the house's stories in full:</a:t>
            </a:r>
          </a:p>
          <a:p>
            <a:r>
              <a:t>• Badr — the father and the brother: Badr opens with single combat — Quraysh call for their equals to come out.; Whom the Prophet ﷺ sent — ʿUbayda b. al-Ḥārith ؓ, Ḥamza ؓ and ʿAlī ؓ.; Who came out against them — ʿUtba b. Rabīʿa, his brother Shayba, and ʿUtba's son al-Walīd.; All three of the Meccans were killed — And Abū Ḥudhayfa ؓ was standing with the Muslims.; What that is — His father and his brother on one side, and himself on the other.</a:t>
            </a:r>
          </a:p>
          <a:p>
            <a:r>
              <a:t>• The ship they hired for half a dinar: The persecution in Mecca got past bearing — A small party left for Abyssinia.; Why there — The Prophet ﷺ had said there was a king there under whom no one was wronged.; Who went — Eleven men and four women, down to the sea.; The ship — Hired for half a dinar.; Who was on it — ʿUthmān ؓ and Ruqayya ؓ; and Abū Ḥudhayfa ؓ with his wife Sahla ؓ.</a:t>
            </a:r>
          </a:p>
          <a:p>
            <a:r>
              <a:t>• The night the Prophet ﷺ took his cloak and went out to listen: ʿĀʾisha ؓ comes in late — The Prophet ﷺ asks what kept her.; What she said — A voice reciting in the mosque, finer than any she had heard.; What he did — He took his cloak and went out to listen.; Who it was — Sālim ؓ, the freedman of Abū Ḥudhayfa ؓ.; The chain — al-Dhahabī رحمہ اللہ records it and marks it good.</a:t>
            </a:r>
          </a:p>
          <a:p>
            <a:r>
              <a:t>• The sentence he was afraid of for ten years — ⚠ SPEAKER'S DISCRETION: Before the fighting at Badr — The Prophet ﷺ names men brought out against their will, not to be killed.; Among them, his own uncle — al-ʿAbbās ؓ.; What Abū Ḥudhayfa ؓ said out loud — Are we to kill our fathers and sons and brothers, and leave al-ʿAbbās?; Word of it reached the Prophet ﷺ — And he never forgave himself for it.; What he said afterwards — He would not stop fearing that word unless martyrdom wiped it away.; Where three books end the sentence — And he was killed a martyr at al-Yamāma.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Mecca, before the house of al-Arqam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spare: "where do you think the man who led the Muhājirūn in prayer came from?" ⚠ The books give his origin, not his road</a:t>
            </a:r>
          </a:p>
          <a:p/>
          <a:p>
            <a:r>
              <a:t>SAY —</a:t>
            </a:r>
          </a:p>
          <a:p>
            <a:r>
              <a:t>▶ CLICK 1 — Iṣṭakhr, in Persia: where he came from. The books give his origin, not his road.</a:t>
            </a:r>
          </a:p>
          <a:p>
            <a:r>
              <a:t>1. He was a slave — His origin was Iṣṭakhr, in Persia.</a:t>
            </a:r>
          </a:p>
          <a:p>
            <a:r>
              <a:t>2. The household freed him — And Abū Ḥudhayfa ؓ took him as his own.</a:t>
            </a:r>
          </a:p>
          <a:p>
            <a:r>
              <a:t>3. How al-Dhahabī رحمہ اللہ opens his notice — Four descriptions in a row.</a:t>
            </a:r>
          </a:p>
          <a:p>
            <a:r>
              <a:t>▶ NEXT SLIDE — the words: read the Arabic, then its English.</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Told on evening 4 — a callback only. What is new is why him, and that ʿUmar ؓ was praying behind him</a:t>
            </a:r>
          </a:p>
          <a:p/>
          <a:p>
            <a:r>
              <a:t>SAY —</a:t>
            </a:r>
          </a:p>
          <a:p>
            <a:r>
              <a:t>1. Why him — Because he carried more of the Qurʾān than any of them.</a:t>
            </a:r>
          </a:p>
          <a:p>
            <a:r>
              <a:t>   ^ read the Arabic on the face here</a:t>
            </a:r>
          </a:p>
          <a:p>
            <a:r>
              <a:t>2.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Not a denial of grief. The single combat that killed his father, uncle and brother was told on the family tree — do not retell it</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their house. And so, back to the field — where the banner Zayd ؓ dropped is in Sālim's ؓ hands.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Back on the field. ⚠ The four names do not go on the slide</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SAY —</a:t>
            </a:r>
          </a:p>
          <a:p>
            <a:r>
              <a:t>1. Who has just picked up the banner — Sālim ؓ, the freed slave of Abū Ḥudhayfa ؓ, of the household that kept him.</a:t>
            </a:r>
          </a:p>
          <a:p>
            <a:r>
              <a:t>2. Why the ummah remembers Sālim ؓ — The Prophet ﷺ named four men to take the Qurʾān from, and he was one of them.</a:t>
            </a:r>
          </a:p>
          <a:p>
            <a:r>
              <a:t>   ^ read the Arabic on the face here</a:t>
            </a:r>
          </a:p>
          <a:p>
            <a:r>
              <a:t>3.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Make the link aloud: the āya Abū Bakr ؓ read the day the Prophet ﷺ died — evening 1</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second man is «فلان» — do not name him. ⚠ No approved source says they share one grave</a:t>
            </a:r>
          </a:p>
          <a:p/>
          <a:p>
            <a:r>
              <a:t>⚠ The second man is «فلان» in the source. Do not name him. And no approved source says they</a:t>
            </a:r>
          </a:p>
          <a:p>
            <a:r>
              <a:t>were buried in one grave — see §10.3.</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to 23 AH — ʿUmar ؓ dying, an evening not reached; frame it. "It is related that…" ⚠ Do not merge the Abū ʿUbayda ؓ version</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The field is counted and the dead are buried. Now the news reaches Medina — and ʿUmar ؓ's own brother is among the dead.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loop from evening 4's vow of silence closes here —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al-Bidaya, vol. 7, p. 36. ⚠ Ibn Kathīr hedges Abū Bakr's ؓ reply — «فيقال»: "it is said that he answered". ⚠ Recite none of the rhymed prose, or one line at most; Ibn Kathīr's own verdict carries it: words children would be ashamed to say at play</a:t>
            </a:r>
          </a:p>
          <a:p/>
          <a:p>
            <a:r>
              <a:t>⚠ Ibn Kathīr hedges the reply — «فيقال», *it is said* — and the delivery keeps the hedge: *"it is said</a:t>
            </a:r>
          </a:p>
          <a:p>
            <a:r>
              <a:t>that he answered them…"*</a:t>
            </a:r>
          </a:p>
          <a:p>
            <a:r>
              <a:t>⚠ The rhymed prose itself stays off the face and out of the delivery, or one line at most. The page prints</a:t>
            </a:r>
          </a:p>
          <a:p>
            <a:r>
              <a:t>several pieces, and Ibn Kathīr's own verdict is the line to use: «وذكروا أشياءَ من هذه الخرافات التي يأنف من</a:t>
            </a:r>
          </a:p>
          <a:p>
            <a:r>
              <a:t>قولها الصبيان وهم يلعبون». Recited in full, they turn a grave evening comic.</a:t>
            </a:r>
          </a:p>
          <a:p>
            <a:r>
              <a:t>The word إلّ — the editor glosses it from النهاية: divine lordship, or the sound root the Qurʾān came</a:t>
            </a:r>
          </a:p>
          <a:p>
            <a:r>
              <a:t>from (ed. fn., البدایہ ج۷ ص۳۶). ابن خلدون ج۲ ص۵۰۳ has «مَا خَرَجَ مِنْ إِلٍّ وَلَا بِرٍّ» — framing only.</a:t>
            </a:r>
          </a:p>
          <a:p/>
          <a:p>
            <a:r>
              <a:t>SAY —</a:t>
            </a:r>
          </a:p>
          <a:p>
            <a:r>
              <a:t>1. Banū Ḥanīfa at Medina — Their delegations come to Abū Bakr ؓ, Muslims now.</a:t>
            </a:r>
          </a:p>
          <a:p>
            <a:r>
              <a:t>2. His request — "Let us hear something of Musaylima's 'Qurʾān'."</a:t>
            </a:r>
          </a:p>
          <a:p>
            <a:r>
              <a:t>3. "Excuse us" — They asked to be spared it; he said they must.</a:t>
            </a:r>
          </a:p>
          <a:p>
            <a:r>
              <a:t>4. What they recited — Ibn Kathīr's own word for it: fables that children would be ashamed to say at play.</a:t>
            </a:r>
          </a:p>
          <a:p>
            <a:r>
              <a:t>5. His answer, as it is reported — "Where were your minds being taken? This speech never came out of anything divine."</a:t>
            </a:r>
          </a:p>
          <a:p>
            <a:r>
              <a:t>   ^ read the Arabic on the face here</a:t>
            </a:r>
          </a:p>
          <a:p/>
          <a:p>
            <a:r>
              <a:t>QUOTE — فيقال: إن الصّدّيق قال لهم: ويحكم، أينَ كانَ يذهبُ بقولكم؟ إن هذا الكلام لم يخرج من إلٍّ</a:t>
            </a:r>
          </a:p>
          <a:p>
            <a:r>
              <a:t>"And it is said that al-Ṣiddīq said to them: Woe to you — where were your minds being taken? This speech never came out of anything divine."</a:t>
            </a:r>
          </a:p>
          <a:p>
            <a:r>
              <a:t>— البدایہ والنہایہ ج۷ ص۳۶</a:t>
            </a:r>
          </a:p>
          <a:p/>
          <a:p>
            <a:r>
              <a:t>عبرت — He did not argue with it; he asked for it to be said aloud in front of him, and that was the argument.</a:t>
            </a:r>
          </a:p>
          <a:p/>
          <a:p>
            <a:r>
              <a:t>BACKGROUND (read at home, not aloud) —</a:t>
            </a:r>
          </a:p>
          <a:p>
            <a:r>
              <a:t>When the delegations of Banū Ḥanīfa came to Abū Bakr ؓ at Medina, he asked them to let him hear something of what Musaylima used to recite as his "Qurʾān". They asked to be excused, and he said they must. So they recited some of it — and Ibn Kathīr, who records it, calls it fables that children would be ashamed to say at play. It is said that Abū Bakr ؓ answered them: woe to you — where were your minds being taken? This speech never came out of anything divine.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2: "How many men who had the whole Qurʾān by heart died that day?" — the honest answer: the books do not give one. Every number with its book</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r>
              <a:t>Ibn al-Athīr's count, beside Ibn Kathīr's (added 2026-09-27, DECISIONS.md #61 — the room's next question</a:t>
            </a:r>
          </a:p>
          <a:p>
            <a:r>
              <a:t>after the terms is *"and how many of them died?"*) — الکامل ج۲ ص۲۱۸ (https://shamela.ws/book/21712/909):</a:t>
            </a:r>
          </a:p>
          <a:p>
            <a:r>
              <a:t>&gt; وَقَدْ قُتِلَ مِنَ الْمُهَاجِرِينَ وَالْأَنْصَارِ مِنْ أَهْلِ الْمَدِينَةِ ثَلَاثُمِائَةٍ وَسِتُّونَ، وَمِنَ الْمُهَاجِرِينَ مِنْ غَيْرِ الْمَدِينَةِ ثَلَاثُمِائَةِ رَجُلٍ</a:t>
            </a:r>
          </a:p>
          <a:p>
            <a:r>
              <a:t>&gt; — الکامل فی التاریخ ج۲ ص۲۱۸ · https://shamela.ws/book/21712/909</a:t>
            </a:r>
          </a:p>
          <a:p>
            <a:r>
              <a:t>&gt; *English:* "There had been killed, of the Muhājirūn and the Anṣār of the people of Medina, three hundred</a:t>
            </a:r>
          </a:p>
          <a:p>
            <a:r>
              <a:t>&gt; and sixty; and of the Muhājirūn not of Medina, three hundred men."</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Ibn al-Athīr counts differently — 360 of the Muhājirūn and Anṣār of Medina, and 300 Muhājirūn from elsewhere.</a:t>
            </a:r>
          </a:p>
          <a:p>
            <a:r>
              <a:t>7. And Banū Ḥanīfa's dead, in his count — Seven thousand at ʿAqrabāʾ, as many in the garden, and about as many in the pursuit.</a:t>
            </a:r>
          </a:p>
          <a:p>
            <a:r>
              <a:t>8.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&gt; وَقُتِلَ مِنْ بَنِي حَنِيفَةَ بِعُقْرَبَاءَ سَبْعَةُ آلَافٍ، وَبِالْحَدِيقَةِ مِثْلُهَا، وَفِي الطَّلَبِ نَحْوٌ مِنْهَا</a:t>
            </a:r>
          </a:p>
          <a:p>
            <a:r>
              <a:t>&gt; — الکامل فی التاریخ ج۲ ص۲۱۸ · https://shamela.ws/book/21712/909</a:t>
            </a:r>
          </a:p>
          <a:p>
            <a:r>
              <a:t>&gt; *English:* "And of Banū Ḥanīfa there were killed at ʿAqrabāʾ seven thousand, in the garden as many,</a:t>
            </a:r>
          </a:p>
          <a:p>
            <a:r>
              <a:t>&gt; and in the pursuit about as many."</a:t>
            </a:r>
          </a:p>
          <a:p/>
          <a:p>
            <a:r>
              <a:t>Every number is said with its book. None of them is a count of reciters, and the two books' Muslim</a:t>
            </a:r>
          </a:p>
          <a:p>
            <a:r>
              <a:t>totals do not agree — which is the card's point, not a problem for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Abū Bakr ؓ decided the Qurʾān must be gathered, and he sent for one man. Before we hear what he told him — who was he? Go back with me to the year the Prophet ﷺ came to Medina.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1 AH — the man Abū Bakr ؓ sent for, as a boy. ⚠ The evening's fourth Zayd — always "Zayd b. Thābit ؓ". ⚠ His age at the collection is on no page — if said: "about twenty-one, by our own arithmetic"</a:t>
            </a:r>
          </a:p>
          <a:p/>
          <a:p>
            <a:r>
              <a:t>SAY —</a:t>
            </a:r>
          </a:p>
          <a:p>
            <a:r>
              <a:t>1. The man Abū Bakr ؓ sent for — Zayd b. Thābit ؓ, of Banū al-Najjār of the Khazraj; al-Dhahabī calls him the scribe of the revelation.</a:t>
            </a:r>
          </a:p>
          <a:p>
            <a:r>
              <a:t>2. An orphan of Buʿāth — His father was killed before the Hijra, on the day of Buʿāth, and he grew up an orphan.</a:t>
            </a:r>
          </a:p>
          <a:p>
            <a:r>
              <a:t>3. Eleven, and seventeen sūras — When the Prophet ﷺ came to Medina the boy was brought forward: he already knew seventeen sūras.</a:t>
            </a:r>
          </a:p>
          <a:p>
            <a:r>
              <a:t>4. A task on the spot — Zayd, learn for me the writing of the Jews; by Allah, I do not trust them with my letters.</a:t>
            </a:r>
          </a:p>
          <a:p>
            <a:r>
              <a:t>   ^ read the Arabic on the face here</a:t>
            </a:r>
          </a:p>
          <a:p>
            <a:r>
              <a:t>5. Half a month — He had mastered it inside half a month, and wrote the Prophet's ﷺ letters to them.</a:t>
            </a:r>
          </a:p>
          <a:p>
            <a:r>
              <a:t>6. When revelation came — The Prophet ﷺ would send for him, and he would write it down.</a:t>
            </a:r>
          </a:p>
          <a:p>
            <a:r>
              <a:t>7. What he was remembered for — al-Shaʿbī: Zayd surpassed the people in two things, inheritance-law and the Qurʾān.</a:t>
            </a:r>
          </a:p>
          <a:p/>
          <a:p>
            <a:r>
              <a:t>QUOTE — يَا زَيْدُ! تَعَلَّمْ لِي كِتَابَ يَهُوْدٍ، فَإِنِّي -وَاللهِ- مَا آمَنُهُمْ عَلَى كِتَابِي</a:t>
            </a:r>
          </a:p>
          <a:p>
            <a:r>
              <a:t>"زيد! Learn for me the writing of the Jews, for by Allah I do not trust them with my correspondence."</a:t>
            </a:r>
          </a:p>
          <a:p>
            <a:r>
              <a:t>— سیر أعلام النبلاء ج۲ ص۴۲۸–۴۲۹ (the last word falls on ص۴۲۹)</a:t>
            </a:r>
          </a:p>
          <a:p/>
          <a:p>
            <a:r>
              <a:t>عبرت — The people who end up carrying something were given small jobs first, and did them.</a:t>
            </a:r>
          </a:p>
          <a:p/>
          <a:p>
            <a:r>
              <a:t>The same page as the fortnight (ج۲ ص۴۲۹) records that he learned Syriac too, at the Prophet's ﷺ instruction, in</a:t>
            </a:r>
          </a:p>
          <a:p>
            <a:r>
              <a:t>seventeen days — background, not a beat.</a:t>
            </a:r>
          </a:p>
          <a:p>
            <a:r>
              <a:t>⚠ The evening's fourth Zayd. Say the full name every time: Zayd b. Thābit ؓ.</a:t>
            </a:r>
          </a:p>
          <a:p>
            <a:r>
              <a:t>*(He adds on the next page, سیر ج۲ ص۴۲۹: «فَتَعَلَّمْتُهُ، فَمَا مَضَى لِي نِصْفُ شَهْرٍ حَتَّى</a:t>
            </a:r>
          </a:p>
          <a:p>
            <a:r>
              <a:t>حَذَقْتُهُ» — "I learned it, and half a month had not passed before I had mastered it." His age at</a:t>
            </a:r>
          </a:p>
          <a:p>
            <a:r>
              <a:t>the جمع is not stated in any source we hold; the arithmetic gives about twenty-one, and must be</a:t>
            </a:r>
          </a:p>
          <a:p>
            <a:r>
              <a:t>labelled [CONVENTIONAL-ESTIMATE] if used.)*</a:t>
            </a:r>
          </a:p>
          <a:p/>
          <a:p>
            <a:r>
              <a:t>BACKGROUND (read at home, not aloud) —</a:t>
            </a:r>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The notice, line by line (added 2026-09-27 from §5.3 — on no card until now). الذہبی's heading ends:</a:t>
            </a:r>
          </a:p>
          <a:p/>
          <a:p>
            <a:r>
              <a:t>&gt; الخَزْرَجِيُّ، النَّجَّارِيُّ، الأَنْصَارِيُّ، كَاتِبُ الوَحْيِ</a:t>
            </a:r>
          </a:p>
          <a:p>
            <a:r>
              <a:t>&gt; — سیر أعلام النبلاء ج۲ ص۴۲۷ · https://shamela.ws/book/10906/2407</a:t>
            </a:r>
          </a:p>
          <a:p>
            <a:r>
              <a:t>&gt; *English:* "…the Khazrajī, of Banū al-Najjār, the Anṣārī, the scribe of the revelation."</a:t>
            </a:r>
          </a:p>
          <a:p/>
          <a:p>
            <a:r>
              <a:t>&gt; وَقَدْ قُتِلَ أَبُوْهُ قَبْلَ الهِجْرَةِ يَوْمَ بُعَاثٍ، فَرُبِّيَ زَيْدٌ يَتِيْماً.</a:t>
            </a:r>
          </a:p>
          <a:p>
            <a:r>
              <a:t>&gt; — سیر أعلام النبلاء ج۲ ص۴۲۷ · https://shamela.ws/book/10906/2407</a:t>
            </a:r>
          </a:p>
          <a:p>
            <a:r>
              <a:t>&gt; *English:* "His father had been killed before the Hijra, on the day of Buʿāth, so Zayd was raised an orphan."</a:t>
            </a:r>
          </a:p>
          <a:p/>
          <a:p>
            <a:r>
              <a:t>&gt; يَا رَسُوْلَ اللهِ! هَذَا غُلاَمٌ مِنْ بَنِي النَّجَّارِ، وَقَدْ قَرَأَ مِمَّا أُنْزِلَ عَلَيْكَ سَبْعَ عَشْرَةَ سُوْرَةً.</a:t>
            </a:r>
          </a:p>
          <a:p>
            <a:r>
              <a:t>&gt; — سیر أعلام النبلاء ج۲ ص۴۲۸ · https://shamela.ws/book/10906/2408</a:t>
            </a:r>
          </a:p>
          <a:p>
            <a:r>
              <a:t>&gt; *English:* "Messenger of Allah! This is a boy of Banū al-Najjār, and he has already recited seventeen of the</a:t>
            </a:r>
          </a:p>
          <a:p>
            <a:r>
              <a:t>&gt; sūras sent down to you."</a:t>
            </a:r>
          </a:p>
          <a:p/>
          <a:p>
            <a:r>
              <a:t>&gt; كَانَ رَسُوْلُ اللهِ -صَلَّى اللَّهُ عَلَيْهِ وَسَلَّمَ- إِذَا نَزَلَ عَلَيْهِ الوَحْيُ، بَعَثَ إِلَيَّ، فَكَتَبْتُهُ</a:t>
            </a:r>
          </a:p>
          <a:p>
            <a:r>
              <a:t>&gt; — سیر أعلام النبلاء ج۲ ص۴۲۹ · https://shamela.ws/book/10906/2409</a:t>
            </a:r>
          </a:p>
          <a:p>
            <a:r>
              <a:t>&gt; *English:* "When revelation came down upon the Messenger of Allah ﷺ he would send for me, and I would</a:t>
            </a:r>
          </a:p>
          <a:p>
            <a:r>
              <a:t>&gt; write it."</a:t>
            </a:r>
          </a:p>
          <a:p/>
          <a:p>
            <a:r>
              <a:t>&gt; غَلَبَ زَيْدٌ النَّاسَ عَلَى اثْنَتَيْنِ: الفَرَائِضِ، وَالقُرْآنِ</a:t>
            </a:r>
          </a:p>
          <a:p>
            <a:r>
              <a:t>&gt; — سیر أعلام النبلاء ج۲ ص۴۳۲ · https://shamela.ws/book/10906/2412 (al-Shaʿbī)</a:t>
            </a:r>
          </a:p>
          <a:p>
            <a:r>
              <a:t>&gt; *English:* "Zayd surpassed the people in two things: the inheritance-law, and the Qurʾān."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ʿUmar ؓ is named inside Zayd's ؓ sentence — the page's wording, not a claim about who proposed it — if a slip asks, the report in al-Bukhārī says so; tonight's page is Zayd's ؓ own account</a:t>
            </a:r>
          </a:p>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p>
            <a:r>
              <a:t>عبرت — The man who did it first had to be argued into it, and he is the one who told us so.</a:t>
            </a:r>
          </a:p>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3: after saying the four once, ask the room to name them. Siyar names parchment where Ibn Kathīr names the thin white stones — the card says both</a:t>
            </a:r>
          </a:p>
          <a:p/>
          <a:p>
            <a:r>
              <a:t>SAY —</a:t>
            </a:r>
          </a:p>
          <a:p>
            <a:r>
              <a:t>1. Nothing to copy from — There was no single written volume; the Qurʾān had to be tracked down.</a:t>
            </a:r>
          </a:p>
          <a:p>
            <a:r>
              <a:t>2. His own word for it — Tatabbaʿa: to follow a thing up, piece by piece.</a:t>
            </a:r>
          </a:p>
          <a:p>
            <a:r>
              <a:t>3. Parchment and shoulder-blades — Strips of parchment, and the flat shoulder-blades of animals.</a:t>
            </a:r>
          </a:p>
          <a:p>
            <a:r>
              <a:t>4. Palm-stalks and white stones — The bare stalks of palm branches; Ibn Kathīr names thin white stones too.</a:t>
            </a:r>
          </a:p>
          <a:p>
            <a:r>
              <a:t>5. And the breasts of men — The memories of the men who had it by heart.</a:t>
            </a:r>
          </a:p>
          <a:p>
            <a:r>
              <a:t>   ^ read the Arabic on the face here</a:t>
            </a:r>
          </a:p>
          <a:p>
            <a:r>
              <a:t>6. One set of ṣuḥuf — Until Zayd ؓ had gathered it into ṣuḥuf: in one place, for the first time.</a:t>
            </a:r>
          </a:p>
          <a:p/>
          <a:p>
            <a:r>
              <a:t>QUOTE — فَكُنْتُ أَتَتَبَّعُ القُرْآنَ، أَجْمَعُهُ مِنَ الرِّقَاعِ، وَالأَكْتَافِ، وَالعُسُبِ، وَصُدُوْرِ الرِّجَالِ.</a:t>
            </a:r>
          </a:p>
          <a:p>
            <a:r>
              <a:t>"So I began to track down the Qur'an, gathering it from the parchments, the shoulder-blades, the palm-stalks, and the breasts of men."</a:t>
            </a:r>
          </a:p>
          <a:p>
            <a:r>
              <a:t>— سیر أعلام النبلاء ج۲ ص۴۳۱</a:t>
            </a:r>
          </a:p>
          <a:p/>
          <a:p>
            <a:r>
              <a:t>عبرت — Preservation is not one heroic act; it is somebody doing a careful, unglamorous job properly.</a:t>
            </a:r>
          </a:p>
          <a:p/>
          <a:p>
            <a:r>
              <a:t>HANDS UP — Ask the room to name the four things after you have said them once. It is the one line in the evening everybody will remember.</a:t>
            </a:r>
          </a:p>
          <a:p/>
          <a:p>
            <a:r>
              <a:t>BACKGROUND (read at home, not aloud) —</a:t>
            </a:r>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One set of ṣuḥuf (beat 6) — الذہبی's year-by-year notice:</a:t>
            </a:r>
          </a:p>
          <a:p/>
          <a:p>
            <a:r>
              <a:t>&gt; حتى جمعه زيد في صحف.</a:t>
            </a:r>
          </a:p>
          <a:p>
            <a:r>
              <a:t>&gt; — سیر أعلام النبلاء، سیر الخلفاء الراشدين ص۶۳ · https://shamela.ws/book/10906/1211</a:t>
            </a:r>
          </a:p>
          <a:p>
            <a:r>
              <a:t>&gt; *English:* "…until Zayd gathered it into ṣuḥuf."</a:t>
            </a:r>
          </a:p>
          <a:p/>
          <a:p>
            <a:r>
              <a:t>*(Ibn Kathīr's own wording at البدایہ ج۷ ص۷۹ names اللِّخاف — the thin white stones — where الذہبی</a:t>
            </a:r>
          </a:p>
          <a:p>
            <a:r>
              <a:t>names الرقاع. If both are wanted, say so and cite both.)*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strongest line in the part for this room: ʿAlī ؓ crediting Abū Bakr ؓ — say al-Dhahabī's grading of the chain. ⚠ Undated: "ʿAlī ؓ said", never "said at the time"</a:t>
            </a:r>
          </a:p>
          <a:p/>
          <a:p>
            <a:r>
              <a:t>SAY —</a:t>
            </a:r>
          </a:p>
          <a:p>
            <a:r>
              <a:t>1. Whose judgement this is — Not ours, and not a later historian's: ʿAlī b. Abī Ṭālib ؓ.</a:t>
            </a:r>
          </a:p>
          <a:p>
            <a:r>
              <a:t>2. How it is recorded — al-Dhahabī gives its chain, and grades the chain good.</a:t>
            </a:r>
          </a:p>
          <a:p>
            <a:r>
              <a:t>3. What ʿAlī ؓ said — The greatest of men in reward for the maṣāḥif is Abū Bakr ؓ.</a:t>
            </a:r>
          </a:p>
          <a:p>
            <a:r>
              <a:t>4. The reason he gave — He was the first to gather the Qurʾān between two boards.</a:t>
            </a:r>
          </a:p>
          <a:p>
            <a:r>
              <a:t>   ^ read the Arabic on the face here</a:t>
            </a:r>
          </a:p>
          <a:p/>
          <a:p>
            <a:r>
              <a:t>QUOTE — أعظم الناس أجرا في المصاحف أبو بكر، كان أول من جمع القرآن بين اللوحين</a:t>
            </a:r>
          </a:p>
          <a:p>
            <a:r>
              <a:t>"The greatest of men in reward in the matter of the مصاحف is أبو بكر — he was the first to gather the Qur'an between two boards."</a:t>
            </a:r>
          </a:p>
          <a:p>
            <a:r>
              <a:t>— سیر أعلام النبلاء، سیر الخلفاء الراشدين ص۱۵</a:t>
            </a:r>
          </a:p>
          <a:p/>
          <a:p>
            <a:r>
              <a:t>عبرت — When a man's rival in nothing and his equal in much says the thing for you, you do not need to say it yourself.</a:t>
            </a:r>
          </a:p>
          <a:p/>
          <a:p>
            <a:r>
              <a:t>BACKGROUND (read at home, not aloud) —</a:t>
            </a:r>
          </a:p>
          <a:p>
            <a:r>
              <a:t>The judgement on this decision does not have to come from us, and it does not have to come from a later historian. It comes from علی بن أبی طالب ؓ, and الذہبی records his chain and grades it good.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A look ahead, framed by beat 1 — ʿUthmān ؓ is session 3's subject. ⚠ Do not name the Companion who brought the report — the page's Ḥudhayfa; the evening has two already. ⚠ Not "Abū Bakr ؓ → ʿUmar ؓ → Ḥafṣa ؓ" as a chain: what is on the page is with Ḥafṣa ؓ, borrowed, returned</a:t>
            </a:r>
          </a:p>
          <a:p/>
          <a:p>
            <a:r>
              <a:t>⚠ Corrected 2026-09-27: the prose said *twenty-odd years later*; no page gives an interval, and الکامل files</a:t>
            </a:r>
          </a:p>
          <a:p>
            <a:r>
              <a:t>the copying under the year thirty (RCT/E-RC37). Say *a caliphate and a half later*, or *years later*.</a:t>
            </a:r>
          </a:p>
          <a:p>
            <a:r>
              <a:t>⚠ Do not name the Companion who brought the report on evening 5 — the page names him حذيفة, and the evening</a:t>
            </a:r>
          </a:p>
          <a:p>
            <a:r>
              <a:t>already carries أبو حذيفة ؓ and حذيفة بن محصن. Say *a Companion, back from the front*. The report, on the page:</a:t>
            </a:r>
          </a:p>
          <a:p/>
          <a:p>
            <a:r>
              <a:t>SAY —</a:t>
            </a:r>
          </a:p>
          <a:p>
            <a:r>
              <a:t>1. A look ahead, and say so — This is in a caliphate the course has not reached; note only where the ṣuḥuf went.</a:t>
            </a:r>
          </a:p>
          <a:p>
            <a:r>
              <a:t>2. Where they stayed — Not in a library or a treasury: in the household.</a:t>
            </a:r>
          </a:p>
          <a:p>
            <a:r>
              <a:t>3. A report from the front — A Companion campaigning toward Armenia heard the men of al-Shām and al-ʿIrāq disputing over the Qurʾān.</a:t>
            </a:r>
          </a:p>
          <a:p>
            <a:r>
              <a:t>4. "Reach this ummah" — Before they differ over the Qurʾān as the Jews and the Christians differed over their books.</a:t>
            </a:r>
          </a:p>
          <a:p>
            <a:r>
              <a:t>5. ʿUthmān ؓ sends to Ḥafṣa ؓ — Mother of the believers: send us the ṣuḥuf in which the Qurʾān was gathered.</a:t>
            </a:r>
          </a:p>
          <a:p>
            <a:r>
              <a:t>6. Copied — Zayd b. Thābit ؓ was one of the four men who copied them into the maṣāḥif.</a:t>
            </a:r>
          </a:p>
          <a:p>
            <a:r>
              <a:t>7. And given back — Then ʿUthmān ؓ returned the ṣuḥuf to Ḥafṣa ؓ.</a:t>
            </a:r>
          </a:p>
          <a:p>
            <a:r>
              <a:t>   ^ read the Arabic on the face here</a:t>
            </a:r>
          </a:p>
          <a:p/>
          <a:p>
            <a:r>
              <a:t>QUOTE — فأرسل إلى حفصة أم المؤمنين: أن أرسلي بالصحف التي جمع فيها القرآن، فأرسلت إليه بها … ثم رد عثمان الصحف إلى حفصة</a:t>
            </a:r>
          </a:p>
          <a:p>
            <a:r>
              <a:t>"So he sent to حفصة, mother of the believers: 'Send us the صحف in which the Qur'an was gathered.' And she sent them to him … then عثمان returned the صحف to حفصة."</a:t>
            </a:r>
          </a:p>
          <a:p>
            <a:r>
              <a:t>— سیر أعلام النبلاء، سیر الخلفاء الراشدين ص۱۵۷</a:t>
            </a:r>
          </a:p>
          <a:p/>
          <a:p>
            <a:r>
              <a:t>عبرت — What is entrusted is returned. The whole transmission of this book is a chain of things handed back intact.</a:t>
            </a:r>
          </a:p>
          <a:p/>
          <a:p>
            <a:r>
              <a:t>BACKGROUND (read at home, not aloud) —</a:t>
            </a:r>
          </a:p>
          <a:p>
            <a:r>
              <a:t>The صحف زيد ؓ gathered did not go into a library or a treasury. They stayed in the household. A caliphate and a half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&gt; وقال أنس: إن حذيفة قدم على عثمان، وكان يغزو مع أهل العراق قبل أرمينية، فاجتمع في ذلك الغزو أهل الشام وأهل العراق، فتنازعوا في القرآن حتى سمع حذيفة من اختلافهم ما يكره، فركب حتى أتى عثمان فقال: يا أمير المؤمنين أدرك هذه الأمة قبل أن يختلفوا في القرآن اختلاف اليهود والنصارى في الكتب.</a:t>
            </a:r>
          </a:p>
          <a:p>
            <a:r>
              <a:t>&gt; — سیر أعلام النبلاء، سیر الخلفاء الراشدين ص۱۵۷ · https://shamela.ws/book/10906/1299</a:t>
            </a:r>
          </a:p>
          <a:p>
            <a:r>
              <a:t>&gt; *English:* "Anas said: Ḥudhayfa came to ʿUthmān — he had been campaigning with the people of Iraq toward</a:t>
            </a:r>
          </a:p>
          <a:p>
            <a:r>
              <a:t>&gt; Armenia, and the people of al-Shām and of Iraq met in that campaign and disputed over the Qurʾān, until</a:t>
            </a:r>
          </a:p>
          <a:p>
            <a:r>
              <a:t>&gt; Ḥudhayfa heard in their differences what he disliked. He rode to ʿUthmān and said: Commander of the</a:t>
            </a:r>
          </a:p>
          <a:p>
            <a:r>
              <a:t>&gt; Faithful, reach this ummah before they differ over the Qurʾān as the Jews and the Christians differed over</a:t>
            </a:r>
          </a:p>
          <a:p>
            <a:r>
              <a:t>&gt; the books."</a:t>
            </a:r>
          </a:p>
          <a:p>
            <a:r>
              <a:t>*(Do not recite "أبو بكر → عمر → حفصة" as a three-step chain on the slide. The middle step is</a:t>
            </a:r>
          </a:p>
          <a:p>
            <a:r>
              <a:t>البخاري's and is not on any page we hold. What is sourced is: they were with حفصة ؓ, borrowed, and</a:t>
            </a:r>
          </a:p>
          <a:p>
            <a:r>
              <a:t>returned.)*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ending of the al-Yamāma story. Say nothing after it but the checkpoint</a:t>
            </a:r>
          </a:p>
          <a:p/>
          <a:p>
            <a:r>
              <a:t>SAY —</a:t>
            </a:r>
          </a:p>
          <a:p>
            <a:r>
              <a:t>1. Count this day's dead differently — So many of the reciters were killed at al-Yamāma.</a:t>
            </a:r>
          </a:p>
          <a:p>
            <a:r>
              <a:t>   ^ read the Arabic on the face here</a:t>
            </a:r>
          </a:p>
          <a:p>
            <a:r>
              <a:t>2. Why then — So that it would not go with the men who carried it.</a:t>
            </a:r>
          </a:p>
          <a:p>
            <a:r>
              <a:t>3. Two books, two places — Ibn Kathīr under the year twelve, pointing to al-Bukhārī; Ibn al-Athīr inside the battle: so that the Qurʾān would not be lost.</a:t>
            </a:r>
          </a:p>
          <a:p>
            <a:r>
              <a:t>4.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الکامل ج۲ ص۲۱۹, in the same place: «أَمَرَ أَبُو بَكْرٍ بِجَمْعِ الْقُرْآنِ لِمَا رَأَى مِنْ كَثْرَةِ مَنْ</a:t>
            </a:r>
          </a:p>
          <a:p>
            <a:r>
              <a:t>قُتِلَ مِنَ الصَّحَابَةِ؛ لِئَلَّا يَذْهَبَ الْقُرْآنُ».</a:t>
            </a:r>
          </a:p>
          <a:p>
            <a:r>
              <a:t>⚠ Corrected 2026-09-27. Until today beat 6 and the prose above said that both books point at al-Bukhārī.</a:t>
            </a:r>
          </a:p>
          <a:p>
            <a:r>
              <a:t>الکامل ج۲ ص۲۱۹ does not: it gives the order and its reason, and sends the reader forward —</a:t>
            </a:r>
          </a:p>
          <a:p/>
          <a:p>
            <a:r>
              <a:t>BACKGROUND (read at home, not aloud) —</a:t>
            </a:r>
          </a:p>
          <a:p>
            <a:r>
              <a:t>So many of the reciters were killed at al-Yamāma that Abū Bakr ؓ ordered the Qurʾān gathered — from the flat stones and the palm-stalks and the memories of men — so that it would not go with them. Two of our books say it: Ibn Kathīr under the year twelve, pointing to al-Bukhārī for it, and Ibn al-Athīr inside his account of the battle itself — so that the Qurʾān would not be lost.</a:t>
            </a:r>
          </a:p>
          <a:p/>
          <a:p>
            <a:r>
              <a:t>&gt; وَسَيَرِدُ مُبَيَّنًا سَنَةَ ثَلَاثِينَ</a:t>
            </a:r>
          </a:p>
          <a:p>
            <a:r>
              <a:t>&gt; — الکامل فی التاریخ ج۲ ص۲۱۹ · https://shamela.ws/book/21712/910</a:t>
            </a:r>
          </a:p>
          <a:p>
            <a:r>
              <a:t>&gt; *English:* "And it will come, set out in full, under the year thirty."</a:t>
            </a:r>
          </a:p>
          <a:p/>
          <a:p>
            <a:r>
              <a:t>That is his placement of the later copying, not a date for this order. It also corrects</a:t>
            </a:r>
          </a:p>
          <a:p>
            <a:r>
              <a:t>abu-bakr-usama-and-the-jam-of-the-quran.md §5.1, which says الکامل does not narrate the جمع.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 — Tonight so far: the terms at the forts; the two houses and the men beside them; the reciters — and the order at Medina that they are the reason for.</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 — When you came in, al-Yamāma had just been taken. Now you know what it cost. And look at the east: still fighting.</a:t>
            </a:r>
          </a:p>
          <a:p/>
          <a:p>
            <a:r>
              <a:t>⏱ Past 0:40 here → close here. ʿIkrima's ؓ road — Oman, Mahra and the last front — opens evening 6, whole.</a:t>
            </a:r>
          </a:p>
          <a:p/>
          <a:p>
            <a:r>
              <a:t>CARRYING ON → say: "While all of this was happening, one commander had been sent away from al-Yamāma, and told not to come back." — and click on.</a:t>
            </a:r>
          </a:p>
          <a:p/>
          <a:p>
            <a:r>
              <a:t>OUT OF TIME → this is your ending. Stay on this map and say:</a:t>
            </a:r>
          </a:p>
          <a:p>
            <a:r>
              <a:t>   1. The terms took their weapons and their wealth, and left them their lives.</a:t>
            </a:r>
          </a:p>
          <a:p>
            <a:r>
              <a:t>   2. She made him say the ruling before she told him it was his own case.</a:t>
            </a:r>
          </a:p>
          <a:p>
            <a:r>
              <a:t>   3. The mushaf the room reads from was gathered because of the men who were killed in the garden.</a:t>
            </a:r>
          </a:p>
          <a:p/>
          <a:p>
            <a:r>
              <a:t>Then next week: "One commander was sent away from al-Yamāma before the battle and told not to come back. Next week: where his road went — all the way to the last front of the war."</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 evening 3 you heard one line: ʿIkrima ؓ came into Abyan from Mahra, with a great many men. Last week you heard why he was sent on from al-Yamāma: do not come back — go on to Oman and Mahra. Tonight, how he got to Mahra. But first, who he was.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8 AH, the Conquest. [HANDS] 4 (spare): "Whose son was ʿIkrima?" — the room knows it from evening 4</a:t>
            </a:r>
          </a:p>
          <a:p/>
          <a:p>
            <a:r>
              <a:t>HANDS UP FIRST — ask it before the first click. "Whose son was ʿIkrima?" Let them say it. Then tell the card.</a:t>
            </a:r>
          </a:p>
          <a:p/>
          <a:p>
            <a:r>
              <a:t>SAY —</a:t>
            </a:r>
          </a:p>
          <a:p>
            <a:r>
              <a:t>1. Whose son he was — ʿIkrima, son of Abū Jahl: the man who led Quraysh against the Prophet ﷺ at Badr, and was killed there.</a:t>
            </a:r>
          </a:p>
          <a:p>
            <a:r>
              <a:t>2. The Conquest of Mecca, 8 AH — He was one of the few whose blood the amnesty did not cover.</a:t>
            </a:r>
          </a:p>
          <a:p>
            <a:r>
              <a:t>▶ CLICK 1 — He runs for the coast, and takes a ship.</a:t>
            </a:r>
          </a:p>
          <a:p>
            <a:r>
              <a:t>3. He ran for the sea — He rode for the coast and took a ship.</a:t>
            </a:r>
          </a:p>
          <a:p>
            <a:r>
              <a:t>4. The squall — The people on board said: be sincere to God alone; your gods are no use out here.</a:t>
            </a:r>
          </a:p>
          <a:p>
            <a:r>
              <a:t>5. What he said in the storm — If nothing saves at sea but sincerity, then nothing else saves on land either.</a:t>
            </a:r>
          </a:p>
          <a:p>
            <a:r>
              <a:t>6. The vow — If God brings him through, he will go to Muḥammad ﷺ and put his hand in his hand.</a:t>
            </a:r>
          </a:p>
          <a:p>
            <a:r>
              <a:t>▶ NEXT SLIDE — the words: read the Arabic, then its English.</a:t>
            </a:r>
          </a:p>
          <a:p/>
          <a:p>
            <a:r>
              <a:t>BACKGROUND (read at home, not aloud) —</a:t>
            </a:r>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a:t>
            </a:r>
          </a:p>
          <a:p>
            <a:r>
              <a:t>"By God, if nothing saves at sea but sincerity, then nothing else saves on land either. O Allah, I owe You a covenant: if You bring me safe out of what I am in, I will go to Muhammad and put my hand in his hand — and I shall surely find him forgiving and generous."</a:t>
            </a:r>
          </a:p>
          <a:p>
            <a:r>
              <a:t>— البدایہ والنہایہ ج۴ ص۵۵۰</a:t>
            </a:r>
          </a:p>
          <a:p/>
          <a:p>
            <a:r>
              <a:t>عبرت — He worked out the whole matter from one thing the people on the ship said, and he was right about what he would find.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whose son, and whose daughter. Point as you go. (Every line is glued to its boxes: move a box and its lines follow.)</a:t>
            </a:r>
          </a:p>
          <a:p/>
          <a:p>
            <a:r>
              <a:t>SAY — Whose son he was, and whose daughter his wife was.</a:t>
            </a:r>
          </a:p>
          <a:p>
            <a:r>
              <a:t>1. Abū Jahl — who led Quraysh against the Prophet ﷺ at Badr, and was killed there.</a:t>
            </a:r>
          </a:p>
          <a:p>
            <a:r>
              <a:t>2. His brother, al-Ḥārith b. Hishām ؓ — in al-Dhahabī's words, one of the noble Companions.</a:t>
            </a:r>
          </a:p>
          <a:p>
            <a:r>
              <a:t>3. So Umm Ḥakīm ؓ — al-Ḥārith's daughter, and ʿIkrima's ؓ wife — was his cousin: his father's brother's daughter. On the day of the Conquest she became a Muslim. He ran.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real journey; the map draws it</a:t>
            </a:r>
          </a:p>
          <a:p/>
          <a:p>
            <a:r>
              <a:t>SAY —</a:t>
            </a:r>
          </a:p>
          <a:p>
            <a:r>
              <a:t>1. His wife — Umm Ḥakīm bint al-Ḥārith b. Hishām ؓ became a Muslim on the day of the Conquest.</a:t>
            </a:r>
          </a:p>
          <a:p>
            <a:r>
              <a:t>2. She went to the Prophet ﷺ herself — And asked leave to go after her husband, and safe-conduct for him. He gave her both.</a:t>
            </a:r>
          </a:p>
          <a:p>
            <a:r>
              <a:t>▶ CLICK 1 — She goes after him, down the coast road.</a:t>
            </a:r>
          </a:p>
          <a:p>
            <a:r>
              <a:t>3. The road — A servant travelling with her turned on her; she held him off until people on the way bound him for her.</a:t>
            </a:r>
          </a:p>
          <a:p>
            <a:r>
              <a:t>▶ CLICK 2 — She reaches him at the shore — and brings him back.</a:t>
            </a:r>
          </a:p>
          <a:p>
            <a:r>
              <a:t>4. At the shore — She reached him in Tihāma, already aboard the ship — and she brought him back.</a:t>
            </a:r>
          </a:p>
          <a:p>
            <a:r>
              <a:t>▶ NEXT SLIDE — the words: read the Arabic, then its English.</a:t>
            </a:r>
          </a:p>
          <a:p/>
          <a:p>
            <a:r>
              <a:t>BACKGROUND (read at home, not aloud) —</a:t>
            </a:r>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Whose daughter she was (added 2026-09-27 for evening 5's family tree — on §1's household list, on no card until</a:t>
            </a:r>
          </a:p>
          <a:p>
            <a:r>
              <a:t>now). She is «أم حكيم بنت الحارث بن هشام» on the card's own page; and al-Ḥārith b. Hishām ؓ was Abū Jahl's brother,</a:t>
            </a:r>
          </a:p>
          <a:p>
            <a:r>
              <a:t>so she was ʿIkrima's ؓ cousin — his father's brother's daughter:</a:t>
            </a:r>
          </a:p>
          <a:p/>
          <a:p>
            <a:r>
              <a:t>&gt; وَالحَارِثُ بنُ هِشَامِ بنِ المُغِيْرَةِ المَخْزُوْمِيُّ أَبُو عَبْدِ الرَّحْمَنِ مِنَ الصَّحَابَةِ الأَشْرَافِ، وَهُوَ أَخُو أَبِي جَهْلٍ</a:t>
            </a:r>
          </a:p>
          <a:p>
            <a:r>
              <a:t>&gt; — سیر أعلام النبلاء ج۱ ص۳۳۰ · https://shamela.ws/book/10906/1756</a:t>
            </a:r>
          </a:p>
          <a:p>
            <a:r>
              <a:t>&gt; *English:* "And al-Ḥārith b. Hishām b. al-Mughīra al-Makhzūmī, Abū ʿAbd al-Raḥmān, one of the noble Companions — and he</a:t>
            </a:r>
          </a:p>
          <a:p>
            <a:r>
              <a:t>&gt; is Abū Jahl's brother."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فاستأذنت رسول الله صلى الله عليه وسلم في طلب زوجها، فأذن لها وآمنه</a:t>
            </a:r>
          </a:p>
          <a:p>
            <a:r>
              <a:t>"She asked the Messenger of Allah ﷺ leave to go after her husband, and he gave her leave and granted him safe-conduct."</a:t>
            </a:r>
          </a:p>
          <a:p>
            <a:r>
              <a:t>— سیر أعلام النبلاء، ج السیرۃ ۲ ص۱۶۴</a:t>
            </a:r>
          </a:p>
          <a:p/>
          <a:p>
            <a:r>
              <a:t>عبرت — The safe-conduct that brought ʿIkrima ؓ back was asked for by his wife, in person.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Do not say "nothing was said to him about his father" — an argument from silence</a:t>
            </a:r>
          </a:p>
          <a:p/>
          <a:p>
            <a:r>
              <a:t>⚠ Do not say "nothing was said to him about his father." That is an argument from silence, and it is the door back into the story §X.2 deletes — the page records the welcome, and nothing about what was or was not said.</a:t>
            </a:r>
          </a:p>
          <a:p/>
          <a:p>
            <a:r>
              <a:t>SAY —</a:t>
            </a:r>
          </a:p>
          <a:p>
            <a:r>
              <a:t>1. The two of them come in — ʿIkrima, with his wife, to the Prophet ﷺ.</a:t>
            </a:r>
          </a:p>
          <a:p>
            <a:r>
              <a:t>2. Whose son this is — The son of the man who led Quraysh against him at Badr, and was killed there.</a:t>
            </a:r>
          </a:p>
          <a:p>
            <a:r>
              <a:t>3. What the Prophet ﷺ did — He did not wait for him to come close: he sprang up in joy and threw his cloak over him.</a:t>
            </a:r>
          </a:p>
          <a:p>
            <a:r>
              <a:t>   ^ read the Arabic on the face here</a:t>
            </a:r>
          </a:p>
          <a:p>
            <a:r>
              <a:t>4. The pledge — The cloak was over him until he had pledged his allegiance.</a:t>
            </a:r>
          </a:p>
          <a:p/>
          <a:p>
            <a:r>
              <a:t>QUOTE — فَلَمَّا رَآهُ وَثَبَ فَرَحًا بِهِ، وَرَمَى عَلَيْهِ رِدَاءَهُ حَتَّى بَايَعَهُ</a:t>
            </a:r>
          </a:p>
          <a:p>
            <a:r>
              <a:t>"When he saw him he sprang up in joy at him and threw his cloak over him, until he pledged allegiance to him."</a:t>
            </a:r>
          </a:p>
          <a:p>
            <a:r>
              <a:t>— سیر أعلام النبلاء، ج السیرۃ ۲ ص۱۸۵</a:t>
            </a:r>
          </a:p>
          <a:p/>
          <a:p>
            <a:r>
              <a:t>عبرت — He was met by the man himself standing up, and the marriage he had come back to was left as it was.</a:t>
            </a:r>
          </a:p>
          <a:p/>
          <a:p>
            <a:r>
              <a:t>BACKGROUND (read at home, not aloud) —</a:t>
            </a:r>
          </a:p>
          <a:p>
            <a:r>
              <a:t>ʿIkrima came in to the Prophet ﷺ with his wife. This is the son of the man who had led Quraysh against him at Badr, and who had been killed there. The books record what the Prophet ﷺ did when he saw him. He did not wait for him to reach the front. He got up.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claimant who called himself the one with the crown (⚠ the books differ on how plainly he claimed prophethood), the lawful ruler's letter to Medina, the commanders each in charge in his own theatre, and the letters to the rebel's own chiefs at Rijām</a:t>
            </a:r>
          </a:p>
          <a:p/>
          <a:p>
            <a:r>
              <a:t>SAY —</a:t>
            </a:r>
          </a:p>
          <a:p>
            <a:r>
              <a:t>1. The claimant with the crown — Laqīṭ b. Mālik al-Azdī, "Dhū al-Tāj", called al-Julandā before Islam: he claimed prophethood too, the ignorant of Oman followed him, and he took the country.</a:t>
            </a:r>
          </a:p>
          <a:p>
            <a:r>
              <a:t>▶ CLICK 1 — The two lawful rulers, driven to the edges of their own country.</a:t>
            </a:r>
          </a:p>
          <a:p>
            <a:r>
              <a:t>2. The lawful rulers — Jayfar and ʿAbbād, driven to the edges of their own country: the mountains and the sea.</a:t>
            </a:r>
          </a:p>
          <a:p>
            <a:r>
              <a:t>▶ CLICK 2 — Jayfar writes to Abū Bakr ؓ, and asks for help.</a:t>
            </a:r>
          </a:p>
          <a:p>
            <a:r>
              <a:t>3. A request, not an invasion — Jayfar wrote to Abū Bakr ؓ and asked for help.</a:t>
            </a:r>
          </a:p>
          <a:p>
            <a:r>
              <a:t>▶ CLICK 3 — Two commanders come from Medina.</a:t>
            </a:r>
          </a:p>
          <a:p>
            <a:r>
              <a:t>4. Two commanders, one arrangement — Ḥudhayfa in command in Oman, ʿArfaja in Mahra; each under the other in the other's country.</a:t>
            </a:r>
          </a:p>
          <a:p>
            <a:r>
              <a:t>▶ CLICK 4 — And ʿIkrima's ؓ line from al-Yamāma — they join at Rijām, near Oman.</a:t>
            </a:r>
          </a:p>
          <a:p>
            <a:r>
              <a:t>5. And the man sent on from al-Yamāma — ʿIkrima ؓ joins them, and Abū Bakr ؓ writes that they are to defer to his judgement.</a:t>
            </a:r>
          </a:p>
          <a:p>
            <a:r>
              <a:t>▶ CLICK 5 — Letters before swords: to the rebel's own chiefs.</a:t>
            </a:r>
          </a:p>
          <a:p>
            <a:r>
              <a:t>6. Letters before swords — Near Oman they wrote to Jayfar — and to the rebel's own chiefs, and some of them left him.</a:t>
            </a:r>
          </a:p>
          <a:p>
            <a:r>
              <a:t>▶ NEXT SLIDE — the words: read the Arabic, then its English.</a:t>
            </a:r>
          </a:p>
          <a:p/>
          <a:p>
            <a:r>
              <a:t>Who he was, on the same page: «ذو التاج لَقيطُ بن مالك الأَزدي، وكان يُسَمَّى في الجاهلية الجُلَنْدَى، فادّعى</a:t>
            </a:r>
          </a:p>
          <a:p>
            <a:r>
              <a:t>النُّبوَّة أيضًا، وتابعَهُ الجَهَلَةُ من أهل عُمان» (البدایہ ج۷ ص۴۱).</a:t>
            </a:r>
          </a:p>
          <a:p>
            <a:r>
              <a:t>The arrangement — Ibn Kathīr: «وحذيفة هو الأمير فإذا ساروا إلى بلاد مهرة فعرفجة الأمير», and of ʿIkrima ؓ:</a:t>
            </a:r>
          </a:p>
          <a:p>
            <a:r>
              <a:t>«وقد كتب إليهما الصديق إن ينتهيا إلى رأي عكرمة» (البدایہ ج۷ ص۴۱). الکامل ج۲ ص۲۲۵: «وَكُلٌّ مِنْهُمَا أَمِيرٌ</a:t>
            </a:r>
          </a:p>
          <a:p>
            <a:r>
              <a:t>عَلَى صَاحِبِهِ فِي وَجْهِهِ»; the joining at Rijām, «قَرِيبٌ مِنْ عُمَانَ» (ج۲ ص۲۲۵–۲۲۶); and the letters to</a:t>
            </a:r>
          </a:p>
          <a:p>
            <a:r>
              <a:t>Laqīṭ's own chiefs, «وَكَاتَبُوا رُؤَسَاءَ مِنْ لَقِيطٍ وَارْفَضُّوا عَنْهُ» (ج۲ ص۲۲۶).</a:t>
            </a:r>
          </a:p>
          <a:p>
            <a:r>
              <a:t>⚠ Ḥudhayfa b. Miḥṣan is NOT Abū Ḥudhayfa ؓ, whose death the room hears earlier tonight. Say the full name,</a:t>
            </a:r>
          </a:p>
          <a:p>
            <a:r>
              <a:t>or *"the commander in Oman"*. ⚠ No page we hold states the Companionship of Ḥudhayfa b. Miḥṣan or of ʿArfaja</a:t>
            </a:r>
          </a:p>
          <a:p>
            <a:r>
              <a:t>— no honorific.</a:t>
            </a:r>
          </a:p>
          <a:p>
            <a:r>
              <a:t>⚠ How plainly the claimant claimed prophethood differs between the books — Ibn Kathīr says it outright;</a:t>
            </a:r>
          </a:p>
          <a:p>
            <a:r>
              <a:t>الکامل is more guarded (see E-RC29's ⚠). The ruler's name is ʿAbbād in البدایہ, ʿIyādh in الکامل.</a:t>
            </a:r>
          </a:p>
          <a:p/>
          <a:p>
            <a:r>
              <a:t>BACKGROUND (read at home, not aloud) —</a:t>
            </a:r>
          </a:p>
          <a:p>
            <a:r>
              <a:t>In Oman a man named Laqīṭ b. Mālik al-Azdī — who called himself Dhū al-Tāj, "the one with the crown" — claimed prophethood too, and the ignorant of Oman followed him. He took the country and drove its two rulers, Jayfar and ʿAbbād, to its edges, towards the mountains and the sea. Jayfar wrote to Abū Bakr ؓ, told him what had happened, and asked for troops. Abū Bakr ؓ sent two commanders — Ḥudhayfa b. Miḥṣan to Oman and ʿArfaja to Mahra, each in command in his own theatre — and then ʿIkrima ؓ to join them, with a letter telling the two to defer to his judgement. The columns joined before they reached Oman, and wrote to Jayfar — and to the rebel's own chiefs.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فتغلَّب عليها وقهر جيفرًا وعبادًا وألجأهما إلى أطرافها، من نواحي الجبال والبحر، فبعثَ جيفر إلى الصديق فأخبره الخبر واستجاشه</a:t>
            </a:r>
          </a:p>
          <a:p>
            <a:r>
              <a:t>"He prevailed over it, overpowered Jayfar and ʿAbbād and drove them to its edges, towards the mountains and the sea. So Jayfar sent to al-Ṣiddīq, told him the news, and asked him for an army."</a:t>
            </a:r>
          </a:p>
          <a:p>
            <a:r>
              <a:t>— البدایہ والنہایہ ج۷ ص۴۱</a:t>
            </a:r>
          </a:p>
          <a:p/>
          <a:p>
            <a:r>
              <a:t>عبرت — This front began with a letter from inside the country asking for help, not with an army from outside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Muslims very nearly lost it. Short arrows from inside the region, not one from Medina. [HANDS] spare: "The column from Medina is losing. Who is close enough to help?" ⚠ "ten thousand" is al-Kamil's figure — say it as his</a:t>
            </a:r>
          </a:p>
          <a:p/>
          <a:p>
            <a:r>
              <a:t>⚠ Ibn Kathīr ج۷ ص۴۱ says the Oman claimant claimed prophethood; الکامل is more guarded. Oman is</a:t>
            </a:r>
          </a:p>
          <a:p>
            <a:r>
              <a:t>not a clean case of purely political secession.</a:t>
            </a:r>
          </a:p>
          <a:p>
            <a:r>
              <a:t>Also on the page — البدایہ ج۷ ص۴۱ (https://shamela.ws/book/30097/3187): Laqīṭ at Dabā «وجعل الذراري والأموال</a:t>
            </a:r>
          </a:p>
          <a:p>
            <a:r>
              <a:t>وراءَ ظهورهم ليكونَ أقوى لحربهم» — the same ground Musaylima chose at ʿAqrabāʾ (E-RC54). الکامل ج۲ ص۲۲۶: the</a:t>
            </a:r>
          </a:p>
          <a:p>
            <a:r>
              <a:t>count, «فَقُتِلَ مِنْهُمْ فِي الْمَعْرَكَةِ عَشَرَةُ آلَافٍ» — his figure; say it as his — and afterwards the fifth went</a:t>
            </a:r>
          </a:p>
          <a:p>
            <a:r>
              <a:t>to Medina with ʿArfaja while Ḥudhayfa stayed «يُسَكِّنُ النَّاسَ».</a:t>
            </a:r>
          </a:p>
          <a:p>
            <a:r>
              <a:t>Ibn Kathīr's own telling of the crisis (added 2026-09-27 — on §8.1, on no card until now). The fight:</a:t>
            </a:r>
          </a:p>
          <a:p/>
          <a:p>
            <a:r>
              <a:t>SAY —</a:t>
            </a:r>
          </a:p>
          <a:p>
            <a:r>
              <a:t>1. Where he chose to fight — Laqīṭ camped at Dabā, the country's great market town, with the families and the property behind his lines.</a:t>
            </a:r>
          </a:p>
          <a:p>
            <a:r>
              <a:t>2. The same thing Musaylima did — Put everything you have behind your own army, so that nobody runs.</a:t>
            </a:r>
          </a:p>
          <a:p>
            <a:r>
              <a:t>▶ CLICK 1 — The Muslims advance from Ṣuḥār.</a:t>
            </a:r>
          </a:p>
          <a:p>
            <a:r>
              <a:t>3. The lawful rulers — Jayfar and ʿAbbād camped at Ṣuḥār, and sent to the commanders.</a:t>
            </a:r>
          </a:p>
          <a:p>
            <a:r>
              <a:t>▶ CLICK 2 — Laqīṭ gets the upper hand, and the line gives way. (Spare hands-up before the next click: the column from Medina is losing — who is close enough to help?)</a:t>
            </a:r>
          </a:p>
          <a:p>
            <a:r>
              <a:t>4. The fight — Hard; Laqīṭ got the upper hand, and in Ibn Kathīr's words the Muslims were tried and very nearly turned their backs.</a:t>
            </a:r>
          </a:p>
          <a:p>
            <a:r>
              <a:t>▶ CLICK 3 — The relief: Banū Nājiya and ʿAbd al-Qays — men of that region, not an army from Medina.</a:t>
            </a:r>
          </a:p>
          <a:p>
            <a:r>
              <a:t>5. The relief — Not from Medina: Banū Nājiya and ʿAbd al-Qays, men of that region — Ibn Kathīr: at that very hour.</a:t>
            </a:r>
          </a:p>
          <a:p>
            <a:r>
              <a:t>▶ CLICK 4 — The rebels broken.</a:t>
            </a:r>
          </a:p>
          <a:p>
            <a:r>
              <a:t>6. The end at Dabā — The rebels broke; Ibn al-Athīr gives ten thousand of them killed — his figure.</a:t>
            </a:r>
          </a:p>
          <a:p>
            <a:r>
              <a:t>7. Afterwards — The fifth went back to Medina with ʿArfaja; Ḥudhayfa stayed to settle the country.</a:t>
            </a:r>
          </a:p>
          <a:p>
            <a:r>
              <a:t>▶ NEXT SLIDE — the words: read the Arabic, then its English.</a:t>
            </a:r>
          </a:p>
          <a:p/>
          <a:p>
            <a:r>
              <a:t>The relief's two commanders, in الکامل ج۲ ص۲۲۶ (the statement above, in full at §8.1): al-Khirrīt b. Rāshid over</a:t>
            </a:r>
          </a:p>
          <a:p>
            <a:r>
              <a:t>Banū Nājiya, and Sayḥān b. Wuṣḥān over ʿAbd al-Qays. ⚠ Neither has a notice on our pages — name them only if asked.</a:t>
            </a:r>
          </a:p>
          <a:p/>
          <a:p>
            <a:r>
              <a:t>BACKGROUND (read at home, not aloud) —</a:t>
            </a:r>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&gt; وتقاتلوا قتالًا شديدًا، وابتُلي المسلمون وكادوا أن يُولُّوا</a:t>
            </a:r>
          </a:p>
          <a:p>
            <a:r>
              <a:t>&gt; — البدایہ والنہایہ ج۷ ص۴۱ · https://shamela.ws/book/30097/3187</a:t>
            </a:r>
          </a:p>
          <a:p>
            <a:r>
              <a:t>&gt; *English:* "And they fought hard; the Muslims were tried, and very nearly turned their backs."</a:t>
            </a:r>
          </a:p>
          <a:p/>
          <a:p>
            <a:r>
              <a:t>And the relief, over the page:</a:t>
            </a:r>
          </a:p>
          <a:p/>
          <a:p>
            <a:r>
              <a:t>&gt; أن بعثَ إليهم مَددًا، في الساعة الراهنة من بني ناجية وعبد القيس</a:t>
            </a:r>
          </a:p>
          <a:p>
            <a:r>
              <a:t>&gt; — البدایہ والنہایہ ج۷ ص۴۲ · https://shamela.ws/book/30097/3188</a:t>
            </a:r>
          </a:p>
          <a:p>
            <a:r>
              <a:t>&gt; *English:* "…that He sent them reinforcement, at that very hour, from Banū Nājiya and ʿAbd al-Qays."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وَاسْتَعْلَى لَقِيطٌ، وَرَأَى الْمُسْلِمُونَ الْخَلَلَ، وَرَأَى الْمُشْرِكُونَ الظَّفَرَ. فَبَيْنَمَا هُمْ كَذَلِكَ جَاءَتِ الْمُسْلِمِينَ مَوَادُّهُمُ الْعُظْمَى مِنْ بَنِي نَاجِيَةَ … وَمِنْ عَبْدِ الْقَيْسِ.</a:t>
            </a:r>
          </a:p>
          <a:p>
            <a:r>
              <a:t>"Laqīṭ got the upper hand; the Muslims saw the breach and the mushrikūn saw victory. And while they were in that state, the Muslims' great relief came in — from Banū Nājiya … and from ʿAbd al-Qays."</a:t>
            </a:r>
          </a:p>
          <a:p>
            <a:r>
              <a:t>— الکامل فی التاریخ ج۲ ص۲۲۶</a:t>
            </a:r>
          </a:p>
          <a:p/>
          <a:p>
            <a:r>
              <a:t>عبرت — The men who saved that day were from the same country as the men they were fighting.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fifth went to Medina carried by the man who had led half the rebellion. ⚠ No page gives an interval</a:t>
            </a:r>
          </a:p>
          <a:p/>
          <a:p>
            <a:r>
              <a:t>SAY —</a:t>
            </a:r>
          </a:p>
          <a:p>
            <a:r>
              <a:t>▶ CLICK 1 — ʿIkrima ؓ comes into Mahra.</a:t>
            </a:r>
          </a:p>
          <a:p>
            <a:r>
              <a:t>1. ʿIkrima ؓ goes on to Mahra — With the men he had gathered on the way: Nājiya, ʿAbd al-Qays, Rāsib and Saʿd.</a:t>
            </a:r>
          </a:p>
          <a:p>
            <a:r>
              <a:t>2. Not one enemy but two — Two forces under two chiefs who would not work together: al-Muṣabbaḥ of Banū Muḥārib, with the greater part, and Shikhrīt.</a:t>
            </a:r>
          </a:p>
          <a:p>
            <a:r>
              <a:t>3. "That discord was a mercy" — Ibn Kathīr's own words for it.</a:t>
            </a:r>
          </a:p>
          <a:p>
            <a:r>
              <a:t>▶ CLICK 2 — The letter — and Shikhrīt comes over.</a:t>
            </a:r>
          </a:p>
          <a:p>
            <a:r>
              <a:t>4. The letter — ʿIkrima ؓ wrote to the smaller chief, Shikhrīt; he answered, came over, and became a Muslim.</a:t>
            </a:r>
          </a:p>
          <a:p>
            <a:r>
              <a:t>▶ CLICK 3 — al-Muṣabbaḥ refuses: the fighting is harder than Dabā.</a:t>
            </a:r>
          </a:p>
          <a:p>
            <a:r>
              <a:t>5. The other one — al-Muṣabbaḥ was called and refused; the fighting was harder than Dabā, and he was killed.</a:t>
            </a:r>
          </a:p>
          <a:p>
            <a:r>
              <a:t>▶ CLICK 4 — And the fifth goes to Medina, carried by Shikhrīt himself.</a:t>
            </a:r>
          </a:p>
          <a:p>
            <a:r>
              <a:t>6. The fifth — Sent to Abū Bakr ؓ, carried by Shikhrīt himself — the man who had led half the rebellion.</a:t>
            </a:r>
          </a:p>
          <a:p>
            <a:r>
              <a:t>▶ NEXT SLIDE — the words: read the Arabic, then its English.</a:t>
            </a:r>
          </a:p>
          <a:p/>
          <a:p>
            <a:r>
              <a:t>Also on the page — الکامل ج۲ ص۲۲۶ (https://shamela.ws/book/21712/917): Shikhrīt «فَأَجَابَهُ وَأَسْلَمَ». البدایہ ج۷</a:t>
            </a:r>
          </a:p>
          <a:p>
            <a:r>
              <a:t>ص۴۲: «فاقتتلوا مع المصبح أشدَّ من قتال دبا المتقدم», and the fifth sent to Abū Bakr ؓ with Shikhrīt. ⚠ No page</a:t>
            </a:r>
          </a:p>
          <a:p>
            <a:r>
              <a:t>gives an interval between his coming over and the fifth going north — say no span of time.</a:t>
            </a:r>
          </a:p>
          <a:p>
            <a:r>
              <a:t>The two forces, in Ibn Kathīr's words (added 2026-09-27 — on §8.2, on no card until now):</a:t>
            </a:r>
          </a:p>
          <a:p/>
          <a:p>
            <a:r>
              <a:t>BACKGROUND (read at home, not aloud) —</a:t>
            </a:r>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&gt; فوجدهم جندين؛ على أحدهما - وهم الأكثر - أميرٌ يُقالُ له: المصبح، أحد بني محارب، وعلى الجند الآخر أمير يُقال له: شخريت</a:t>
            </a:r>
          </a:p>
          <a:p>
            <a:r>
              <a:t>&gt; — البدایہ والنہایہ ج۷ ص۴۲ · https://shamela.ws/book/30097/3188</a:t>
            </a:r>
          </a:p>
          <a:p>
            <a:r>
              <a:t>&gt; *English:* "He found them in two forces: over one of them — the greater — a commander called al-Muṣabbaḥ,</a:t>
            </a:r>
          </a:p>
          <a:p>
            <a:r>
              <a:t>&gt; one of Banū Muḥārib; and over the other a commander called Shikhrīt."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وهما مختلفان، وكان هذا الاختلاف رحمة على المؤمنين، فراسل عكرمةُ شخريت فأجابه وانضاف إلى عكرمة فقوي بذلك المسلمون، وضعف جأش المصبح.</a:t>
            </a:r>
          </a:p>
          <a:p>
            <a:r>
              <a:t>"The two were at odds, and that discord was a mercy upon the believers. ʿIkrima wrote to Shikhrīt, and he answered him and joined ʿIkrima — and by that the Muslims were strengthened, and al-Muṣabbaḥ's nerve weakened."</a:t>
            </a:r>
          </a:p>
          <a:p>
            <a:r>
              <a:t>— البدایہ والنہایہ ج۷ ص۴۲</a:t>
            </a:r>
          </a:p>
          <a:p/>
          <a:p>
            <a:r>
              <a:t>عبرت — He wrote before he marched, and half the enemy stopped being the enemy.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 — Tonight: what al-Yamāma cost, the Qurʾān gathered — and ʿIkrima's ؓ road, through Oman and Mahra.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 — When you came in, the east was burning. Oman and Mahra are settled. One front is left: Ḥaḍramawt.</a:t>
            </a:r>
          </a:p>
          <a:p/>
          <a:p>
            <a:r>
              <a:t>⏱ Past 0:40 here → close here. Ḥaḍramawt opens evening 6.</a:t>
            </a:r>
          </a:p>
          <a:p/>
          <a:p>
            <a:r>
              <a:t>CARRYING ON → say: "One front was left — and it began with a quarrel about camels." — and click on.</a:t>
            </a:r>
          </a:p>
          <a:p/>
          <a:p>
            <a:r>
              <a:t>OUT OF TIME → this is your ending. Stay on this map and say:</a:t>
            </a:r>
          </a:p>
          <a:p>
            <a:r>
              <a:t>   1. The mushaf the room reads from was gathered because of the men who were killed in the garden.</a:t>
            </a:r>
          </a:p>
          <a:p>
            <a:r>
              <a:t>   2. The men who saved that day were from the same country as the men they were fighting.</a:t>
            </a:r>
          </a:p>
          <a:p>
            <a:r>
              <a:t>   3. He wrote before he marched, and half the enemy stopped being the enemy.</a:t>
            </a:r>
          </a:p>
          <a:p/>
          <a:p>
            <a:r>
              <a:t>Then next week: "One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 evening 3 you left al-Muhājir ؓ in Ṣanʿāʾ, with Abū Bakr's ؓ double order: first the Yemen, then go on to your own post — Kinda. ʿIkrima ؓ had come into Abyan from Mahra; now you know the road he came by. From here the two of them go east, to the last front of the war. First: who were Kinda?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delegation, 10 AH — a flashback, say so (the date is standard, not page-cited: "in the year of the delegations"). The room meets al-Ashʿath b. Qays here, at the head of his people. Spare [HANDS]: "Someone offers to make you a descendant of kings. What does it cost you to say no?"</a:t>
            </a:r>
          </a:p>
          <a:p/>
          <a:p>
            <a:r>
              <a:t>SAY —</a:t>
            </a:r>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   ^ read the Arabic on the face here</a:t>
            </a:r>
          </a:p>
          <a:p>
            <a:r>
              <a:t>6. And al-Ashʿath closed it himself — Any man I hear say it again gets eighty lashes.</a:t>
            </a:r>
          </a:p>
          <a:p/>
          <a:p>
            <a:r>
              <a:t>QUOTE — لا، نحن بنو النَّضْر بن كنانة، لا نَقْفُو أمَّنا، ولا ننتفي من أبينا</a:t>
            </a:r>
          </a:p>
          <a:p>
            <a:r>
              <a:t>"No. We are the sons of al-Naḍr b. Kināna. We do not trace ourselves through our mother, and we do not disown our father."</a:t>
            </a:r>
          </a:p>
          <a:p>
            <a:r>
              <a:t>— البدایہ والنہایہ ج۵ ص۵۶</a:t>
            </a:r>
          </a:p>
          <a:p/>
          <a:p>
            <a:r>
              <a:t>عبرت — They offered him a royal ancestry as a gift, and he declined it with a smile.</a:t>
            </a:r>
          </a:p>
          <a:p/>
          <a:p>
            <a:r>
              <a:t>BACKGROUND (read at home, not aloud) —</a:t>
            </a:r>
          </a:p>
          <a:p>
            <a:r>
              <a:t>Kinda came to Medina in a large delegation — eighty riders in one report, seventy in another, ten-odd in a third — with al-Ashʿath b. Qays at their head. They walked into the Prophet's ﷺ mosque with their hair combed and kohl on their eyes, in Yemeni cloaks edged with silk. He asked: have you not accepted Islam? — yes — then what is this silk on your necks? They tore it off. Then al-Ashʿath said: we are the sons of Ākil al-Murār, and so are you. The Prophet ﷺ smiled. Traders of Quraysh used to claim that lineage abroad for the honour of it, the report explains, because Kinda had been kings. He answered: no — we are the sons of al-Naḍr b. Kināna; we do not trace ourselves through our mother, nor disown our father. al-Ashʿath turned to his people: any man I hear say it again gets eighty lashes.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Give Ziyād b. Labīd's ؓ notice in one breath first — the room heard his name once, in a clause, on evening 3</a:t>
            </a:r>
          </a:p>
          <a:p/>
          <a:p>
            <a:r>
              <a:t>SAY —</a:t>
            </a:r>
          </a:p>
          <a:p>
            <a:r>
              <a:t>1. Who Ziyād b. Labīd ؓ is — Of the Anṣār, of Banū Bayāḍa of the Khazraj; the Prophet's ﷺ own appointee over Ḥaḍramawt, and he held the post through the whole war.</a:t>
            </a:r>
          </a:p>
          <a:p>
            <a:r>
              <a:t>▶ CLICK 1 — The arrangement: ṣadaqa carried both ways.</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 CLICK 2 — 'Carry it yourselves' — and it was not carried.</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r>
              <a:t>▶ NEXT SLIDE — the words: read the Arabic, then its English.</a:t>
            </a:r>
          </a:p>
          <a:p/>
          <a:p>
            <a:r>
              <a:t>Ziyād's ؓ waiting: «وَأَمْسَكَ عَنْهُمْ زِيَادٌ انْتِظَارًا لِلْمُهَاجِرِ» (ج۲ ص۲۳۰). ⚠ الکامل only — the</a:t>
            </a:r>
          </a:p>
          <a:p>
            <a:r>
              <a:t>Ḥaḍramawt campaign is not in البدایہ. Follow with RCT/E-RC33 (the she-camel called Shadhra).</a:t>
            </a:r>
          </a:p>
          <a:p/>
          <a:p>
            <a:r>
              <a:t>BACKGROUND (read at home, not aloud) —</a:t>
            </a:r>
          </a:p>
          <a:p>
            <a:r>
              <a:t>In the Prophet's ﷺ lifetime an arrangement had been made: part of Ḥaḍramawt's ṣadaqa went to Kinda, and part of Kinda's to Ḥaḍramawt. A clan of Kinda, Banū Walīʿa, had said to Ḥaḍramawt: we have no camels to carry it — send it to us loaded. And Ḥaḍramawt had said: we will look into it, and if you really have none, we will. Then the Prophet ﷺ died. Banū Walīʿa came and said: deliver it, the way you promised the Messenger of Allah ﷺ. And Ḥaḍramawt said: you do have camels — carry it yourselves. And Kinda turned to Ziyād b. Labīd ؓ, the governor, and said: you are with them against us. The men of Ḥaḍramawt would not carry it; the men of Kinda kept insisting, and went home with the matter still undecided. Ziyād ؓ did nothing yet. He was waiting for al-Muhājir ؓ.</a:t>
            </a:r>
          </a:p>
          <a:p/>
          <a:p>
            <a:r>
              <a:t>Ziyād b. Labīd ؓ, page-cited, for the one breath: of the Anṣār, of بنو بَيَاضة of the</a:t>
            </a:r>
          </a:p>
          <a:p>
            <a:r>
              <a:t>خزرج (البدایہ ج۳ ص۴۶۶ — see medina-ansar-structure.md); the Prophet's ﷺ appointee over حضرموت</a:t>
            </a:r>
          </a:p>
          <a:p>
            <a:r>
              <a:t>(البدایہ ج۷ ص۴۱); and he held that post through the whole ردة and ran the campaign there</a:t>
            </a:r>
          </a:p>
          <a:p>
            <a:r>
              <a:t>(الکامل ج۲ ص۲۲۹–۲۳۲ — where ج۲ ص۲۲۹ spells him زياد بن أبي لبيد الأنصاري and the following pages</a:t>
            </a:r>
          </a:p>
          <a:p>
            <a:r>
              <a:t>زياد بن لبيد). The room last heard his name in one clause of TSY/E-YK04 on evening 3.</a:t>
            </a:r>
          </a:p>
          <a:p>
            <a:r>
              <a:t>Also on the page:</a:t>
            </a:r>
          </a:p>
          <a:p/>
          <a:p>
            <a:r>
              <a:t>&gt;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ج۲ ص۲۳۰ · https://shamela.ws/book/21712/921</a:t>
            </a:r>
          </a:p>
          <a:p>
            <a:r>
              <a:t>&gt; *English:* "Some of Banū Walīʿa of Kinda said to Ḥaḍramawt: We have no mounts — if you see fit, send</a:t>
            </a:r>
          </a:p>
          <a:p>
            <a:r>
              <a:t>&gt; it to us on mounts. They said: We shall look into it; if you have no mounts, we will do it."</a:t>
            </a:r>
          </a:p>
          <a:p/>
          <a:p>
            <a:r>
              <a:t>&gt;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ج۲ ص۲۳۰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a:p/>
          <a:p>
            <a:r>
              <a:t>عبرت — A small promise made in the Prophet's ﷺ lifetime was tested the day after he died, and the province went to war over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What set Kinda off, as the books report it</a:t>
            </a:r>
          </a:p>
          <a:p/>
          <a:p>
            <a:r>
              <a:t>⚠ البدایہ carries no Ḥaḍramawt campaign at all. Cite الکامل ج۲ ص۲۲۹–۲۳۲,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ج۲ ص۲۳۰).</a:t>
            </a:r>
          </a:p>
          <a:p/>
          <a:p>
            <a:r>
              <a:t>SAY —</a:t>
            </a:r>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r>
              <a:t>   ^ read the Arabic on the face here</a:t>
            </a:r>
          </a:p>
          <a:p/>
          <a:p>
            <a:r>
              <a:t>QUOTE — فَقَالَ حَارِثَةُ: ذَاكَ إِذَا كُنْتَ يَهُودِيًّا، وَأَطْلَقَ عِقَالَهَا وَبَعَثَهَا وَقَامَ دُونَهَا.</a:t>
            </a:r>
          </a:p>
          <a:p>
            <a:r>
              <a:t>"Ḥāritha said: That would be so if you were a Jew — and he untied her hobble and drove her off and stood in front of her."</a:t>
            </a:r>
          </a:p>
          <a:p>
            <a:r>
              <a:t>— الکامل فی التاریخ ج۲ ص۲۳۰</a:t>
            </a:r>
          </a:p>
          <a:p/>
          <a:p>
            <a:r>
              <a:t>عبرت — A province went to war over one animal, a naming mistake and a public insult, and every part of that is on one page.</a:t>
            </a:r>
          </a:p>
          <a:p/>
          <a:p>
            <a:r>
              <a:t>BACKGROUND (read at home, not aloud) —</a:t>
            </a:r>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البسوس carries the whole warning and we have no page for it — say only "an old war that had started the same way"</a:t>
            </a:r>
          </a:p>
          <a:p/>
          <a:p>
            <a:r>
              <a:t>⚠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(ج۲ ص۲۳۱).</a:t>
            </a:r>
          </a:p>
          <a:p/>
          <a:p>
            <a:r>
              <a:t>SAY —</a:t>
            </a:r>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 CLICK 1 — Two great camps face each other.</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 CLICK 2 — A strike by night.</a:t>
            </a:r>
          </a:p>
          <a:p>
            <a:r>
              <a:t>7. A strike by night — Ziyād ؓ hit them in the dark, and they scattered.</a:t>
            </a:r>
          </a:p>
          <a:p>
            <a:r>
              <a:t>▶ CLICK 3 — Kinda roused: no ṣadaqa.</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r>
              <a:t>▶ NEXT SLIDE — the words: read the Arabic, then its English.</a:t>
            </a:r>
          </a:p>
          <a:p/>
          <a:p>
            <a:r>
              <a:t>BACKGROUND (read at home, not aloud) —</a:t>
            </a:r>
          </a:p>
          <a:p>
            <a:r>
              <a:t>When Ziyād ؓ refused to give the camel back, a warning was spoken over her: do not let Shadhra be for you what al-Basūs was. And the owner, al-ʿAddāʾ, called out to his clan. Ḥāritha b. Surāqa raised the call too, came up to Ziyād ؓ, and untied her. Ziyād ؓ had young men of Ḥaḍramawt and al-Sakūn tie Ḥāritha up, and his companions, and take the camel back. Kinda shouted. Banū Muʿāwiya came out for Ḥāritha; Ḥaḍramawt and al-Sakūn came out for Ziyād ؓ; two great camps faced each other. Kinda did not attack, because their men were prisoners. Ziyād ؓ told them to put down their weapons; they refused and demanded their men; he refused. He hit them by night, and they scattered. Then he let Ḥāritha and the others go — and the men he let go went straight back and roused their people against him. A large force gathered, and they called out that they would pay no ṣadaqa. Al-Ḥuṣayn b. Numayr was sent between the two sides, and for a little while they held off from each other.</a:t>
            </a:r>
          </a:p>
          <a:p/>
          <a:p>
            <a:r>
              <a:t>Also on the page:</a:t>
            </a:r>
          </a:p>
          <a:p/>
          <a:p>
            <a:r>
              <a:t>&gt; فَلَجَأَ فِي أَخْذِهَا، فَقَالَ لَهَا: لَا تَكُونَنَّ شَذْرَةً عَلَيْكُمْ كَالْبَسُوسِ. فَنَادَى الْعَدَّاءُ: يَا آلَ عَمْرٍو، أُضَامُ وَأُضْطَهَدُ! إِنَّ الذَّلِيلَ مَنْ أُكِلَ فِي دَارِهِ!</a:t>
            </a:r>
          </a:p>
          <a:p>
            <a:r>
              <a:t>&gt; — الکامل فی التاریخ ج۲ ص۲۳۰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a:t>
            </a:r>
          </a:p>
          <a:p/>
          <a:p>
            <a:r>
              <a:t>&gt;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ج۲ ص۲۳۰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a:p/>
          <a:p>
            <a:r>
              <a:t>عبرت — Once the quarrel became a matter of honour, being right about the camel no longer decided anything. ⚠ البسوس needs a gloss, and we do not have one on a page we hold. The warning only works if the room knows what al-Basūs was — a pre-Islamic war between Bakr and Taghlib said to have started over a she-camel and run for decades. That is [STANDARD] and is NOT page-cited in this repo: it carries (to verify) and must be checked before it is spoken as fact. The safe spoken form, which claims nothing we cannot show, is in the beats: *a warning was spoken over her that named an old war which had started the same way.* If Daniyal wants the story itself, it needs one verification pass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Shuraḥbīl b. al-Simṭ and his son</a:t>
            </a:r>
          </a:p>
          <a:p/>
          <a:p>
            <a:r>
              <a:t>⚠ Quote only to «وَالْقَبِيحِ!» — the next clause reads against the sense. It was his son, not his</a:t>
            </a:r>
          </a:p>
          <a:p>
            <a:r>
              <a:t>father («وَابْنَهُ») — this corrects the campaign note §10.3.</a:t>
            </a:r>
          </a:p>
          <a:p/>
          <a:p>
            <a:r>
              <a:t>SAY —</a:t>
            </a:r>
          </a:p>
          <a:p>
            <a:r>
              <a:t>▶ CLICK 1 — Each chief takes his own pasture as a stronghold.</a:t>
            </a:r>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 CLICK 2 — One man and his son walk out, to Ziyād's ؓ camp.</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r>
              <a:t>▶ NEXT SLIDE — the words: read the Arabic, then its English.</a:t>
            </a:r>
          </a:p>
          <a:p/>
          <a:p>
            <a:r>
              <a:t>BACKGROUND (read at home, not aloud) —</a:t>
            </a:r>
          </a:p>
          <a:p>
            <a:r>
              <a:t>The whole of Banū Muʿāwiya agreed to withhold the ṣadaqa, and each of their chiefs took up his own reserved pasture as a stronghold. All of them — except one man, Shuraḥbīl b. al-Simṭ, and his son. The two of them told their own clan, Banū Muʿāwiya, why they would not come. Then they moved out, and camped with Ziyād ؓ, and they gave him advice: strike tonight, before the men of al-Sakāsik, al-Sakūn and Ḥaḍramawt who are drifting toward the rebels get there — because if you wait, we are afraid people will drift away from us to them.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a:p/>
          <a:p>
            <a:r>
              <a:t>عبرت — He used his tribe's own code of honour — never change sides — as the reason not to follow his tribe.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four kings." No source ties the old kingship to the ridda — say nothing that implies it</a:t>
            </a:r>
          </a:p>
          <a:p/>
          <a:p>
            <a:r>
              <a:t>SAY —</a:t>
            </a:r>
          </a:p>
          <a:p>
            <a:r>
              <a:t>▶ CLICK 1 — They ring the pastures in the dark — from five sides.</a:t>
            </a:r>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 CLICK 2 — The four kings are killed.</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r>
              <a:t>▶ NEXT SLIDE — the words: read the Arabic, then its English.</a:t>
            </a:r>
          </a:p>
          <a:p/>
          <a:p>
            <a:r>
              <a:t>BACKGROUND (read at home, not aloud) —</a:t>
            </a:r>
          </a:p>
          <a:p>
            <a:r>
              <a:t>Ziyād ؓ agreed. They gathered in the dark and ringed the pastures, and they found the men sitting round their fires. Banū ʿAmr b. Muʿāwiya were the strongest of Kinda and had the numbers. The Muslims fell on them from five directions at once. Four brothers were killed that night — Mikhwaṣ, Mishraḥ, Jamad and Abḍaʿa — with their sister, al-ʿAmarrada. These were "the four kings", the chiefs of Banū ʿAmr. Many others were killed; whoever could run, ran. Ziyād ؓ turned back with the property and the captives. And his road home passed al-Ashʿath b. Qays. Al-Ashʿath rose with his people, took the captives back, and began to gather every man he could.</a:t>
            </a:r>
          </a:p>
          <a:p/>
          <a:p>
            <a:r>
              <a:t>Also on the page:</a:t>
            </a:r>
          </a:p>
          <a:p/>
          <a:p>
            <a:r>
              <a:t>&gt;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ج۲ ص۲۳۱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a:t>
            </a:r>
          </a:p>
          <a:p/>
          <a:p>
            <a:r>
              <a:t>Al-Dhahabī, from Ibn Isḥāq — four, and no sister:</a:t>
            </a:r>
          </a:p>
          <a:p/>
          <a:p>
            <a:r>
              <a:t>&gt; أن زيادا بيتهم فقتل ملوكا أربعة: جمدا، ومخوصا ومشرحا، وأبضعة.</a:t>
            </a:r>
          </a:p>
          <a:p>
            <a:r>
              <a:t>&gt; — سیر أعلام النبلاء، ج الراشدون ص۶۲ · https://shamela.ws/book/10906/1210</a:t>
            </a:r>
          </a:p>
          <a:p>
            <a:r>
              <a:t>&gt; *English:* "…that Ziyād fell on them by night and killed four kings: Jamad, Mikhwaṣ, Mishraḥ and</a:t>
            </a:r>
          </a:p>
          <a:p>
            <a:r>
              <a:t>&gt; Abḍaʿa."</a:t>
            </a:r>
          </a:p>
          <a:p/>
          <a:p>
            <a:r>
              <a:t>Record both counts side by side; do not choose. The origin of the Prophet's ﷺ curse is the</a:t>
            </a:r>
          </a:p>
          <a:p>
            <a:r>
              <a:t>Kinda-delegation note; do not explain it from the floor. Ibn Khaldūn adds that the captive women</a:t>
            </a:r>
          </a:p>
          <a:p>
            <a:r>
              <a:t>cried out as they passed (ج۲ ص۴۹۲)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a:p/>
          <a:p>
            <a:r>
              <a:t>عبرت — The night attack ended the four kings and brought the fifth man into the war.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Never cut, even if the rest of the part is. The room met him with the delegation; this is where the war becomes his</a:t>
            </a:r>
          </a:p>
          <a:p/>
          <a:p>
            <a:r>
              <a:t>SAY —</a:t>
            </a:r>
          </a:p>
          <a:p>
            <a:r>
              <a:t>▶ CLICK 1 — The column turns for home.</a:t>
            </a:r>
          </a:p>
          <a:p>
            <a:r>
              <a:t>1. The column turns for home — Ziyād ؓ with the property and the captives of the four kings.</a:t>
            </a:r>
          </a:p>
          <a:p>
            <a:r>
              <a:t>▶ CLICK 2 — Its road passes one man: al-Ashʿath b. Qays.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 CLICK 3 — He takes the captives back.</a:t>
            </a:r>
          </a:p>
          <a:p>
            <a:r>
              <a:t>5. He rises with his people — And takes the captives back out of the column.</a:t>
            </a:r>
          </a:p>
          <a:p>
            <a:r>
              <a:t>6. And gathers everyone he can — From here, this war is his.</a:t>
            </a:r>
          </a:p>
          <a:p>
            <a:r>
              <a:t>▶ NEXT SLIDE — the words: read the Arabic, then its English.</a:t>
            </a:r>
          </a:p>
          <a:p/>
          <a:p>
            <a:r>
              <a:t>Who he is, page-cited: he led the Kinda delegation to Medina (KTK/E-KD05, and the Kinda note's</a:t>
            </a:r>
          </a:p>
          <a:p>
            <a:r>
              <a:t>pages behind it); and Ibn al-Athīr's "four kings" are of بنو عمرو بن معاوية, a different branch</a:t>
            </a:r>
          </a:p>
          <a:p>
            <a:r>
              <a:t>of Kinda from his (KTK/E-KD06). No source ties the old Kinda kingship to this ردة — say nothing</a:t>
            </a:r>
          </a:p>
          <a:p>
            <a:r>
              <a:t>that implies it (DECISIONS.md, the Kinda note §"the four kings").</a:t>
            </a:r>
          </a:p>
          <a:p>
            <a:r>
              <a:t>⚠ This card exists because KTK/E-KD05 sits in an optional block. Without it, al-Ashʿath walks</a:t>
            </a:r>
          </a:p>
          <a:p>
            <a:r>
              <a:t>onto the stage as a bare name and then carries seven cards. If the Kinda flashback is cut, this card</a:t>
            </a:r>
          </a:p>
          <a:p>
            <a:r>
              <a:t>is not cut.</a:t>
            </a:r>
          </a:p>
          <a:p/>
          <a:p>
            <a:r>
              <a:t>BACKGROUND (read at home, not aloud) —</a:t>
            </a:r>
          </a:p>
          <a:p>
            <a:r>
              <a:t>Ziyād b. Labīd ؓ turned for home with the property and the captives, and the road passed al-Ashʿath b. Qays. Up to that night he had not been in it. He is of Kinda but not of Banū ʿAmr — a different branch of the tribe from the four brothers just killed — and the room has a reason to know his name already: he is the man who had led Kinda's own delegation into the Prophet's ﷺ mosque, at their head, a year or so before. He rose with his people, took the captives back out of the column, and began gathering every man he could. From here the war in Ḥaḍramawt is his.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a:p/>
          <a:p>
            <a:r>
              <a:t>عبرت — The man who had brought his tribe to the Prophet ﷺ himself is the man who now raises it against Medina — and that is not a contradiction the books explain.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march from Ṣanʿāʾ — al-Muhājir ؓ ahead, ʿIkrima ؓ with the main body: the road that began at al-Yamāma ends here</a:t>
            </a:r>
          </a:p>
          <a:p/>
          <a:p>
            <a:r>
              <a:t>SAY —</a:t>
            </a:r>
          </a:p>
          <a:p>
            <a:r>
              <a:t>1. A letter: hurry — Ziyād ؓ wrote to al-Muhājir ؓ, and the letter met him on the road.</a:t>
            </a:r>
          </a:p>
          <a:p>
            <a:r>
              <a:t>▶ CLICK 1 — al-Muhājir ؓ rides ahead with the fastest men.</a:t>
            </a:r>
          </a:p>
          <a:p>
            <a:r>
              <a:t>2. Al-Muhājir ؓ rides ahead — He handed the army to ʿIkrima ؓ and hurried on with the fastest men.</a:t>
            </a:r>
          </a:p>
          <a:p>
            <a:r>
              <a:t>▶ CLICK 2 — Maḥjar al-Zurqān: Kinda breaks, and runs.</a:t>
            </a:r>
          </a:p>
          <a:p>
            <a:r>
              <a:t>3. The battle at Maḥjar al-Zurqān — Al-Muhājir ؓ joined Ziyād ؓ and marched on Kinda; they met, and Kinda broke and ran.</a:t>
            </a:r>
          </a:p>
          <a:p>
            <a:r>
              <a:t>▶ CLICK 3 — Into al-Nujayr — and ʿIkrima ؓ brings up the main body. The ring closes.</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r>
              <a:t>▶ NEXT SLIDE — the words: read the Arabic, then its English.</a:t>
            </a:r>
          </a:p>
          <a:p/>
          <a:p>
            <a:r>
              <a:t>BACKGROUND (read at home, not aloud) —</a:t>
            </a:r>
          </a:p>
          <a:p>
            <a:r>
              <a:t>Ziyād ؓ wrote to al-Muhājir ؓ to hurry. The letter met him on the road. He handed the army to ʿIkrima ؓ and rode ahead with the fastest men, joined Ziyād ؓ, and marched on Kinda. They met at Maḥjar al-Zurqān, and Kinda broke and ran for the fort of al-Nujayr. And the book adds one detail: they had already repaired it and put it in order. The Muslims camped round it. ʿIkrima ؓ came up with the main body, and the siege tightened. Raiding parties went out through the country after the rest. The garrison came out to fight, lost many men, and went back in.</a:t>
            </a:r>
          </a:p>
          <a:p/>
          <a:p>
            <a:r>
              <a:t>Also on the page:</a:t>
            </a:r>
          </a:p>
          <a:p/>
          <a:p>
            <a:r>
              <a:t>&gt; وَكَتَبَ زِيَادٌ إِلَى الْمُهَاجِرِ يَسْتَحِثُّهُ، فَلَقِيَهُ الْكِتَابُ بِالطَّرِيقِ فَاسْتَخْلَفَ عَلَى الْجُنْدِ عِكْرِمَةَ بْنَ أَبِي جَهْلٍ، وَتَعَجَّلَ فِي سَرَعَانِ النَّاسِ</a:t>
            </a:r>
          </a:p>
          <a:p>
            <a:r>
              <a:t>&gt; — الکامل فی التاریخ ج۲ ص۲۳۱ · https://shamela.ws/book/21712/922</a:t>
            </a:r>
          </a:p>
          <a:p>
            <a:r>
              <a:t>&gt; *English:* "Ziyād wrote to al-Muhājir urging him on; the letter met him on the road, and he left</a:t>
            </a:r>
          </a:p>
          <a:p>
            <a:r>
              <a:t>&gt; ʿIkrima b. Abī Jahl in charge of the army and hurried ahead with the quickest of the men."</a:t>
            </a:r>
          </a:p>
          <a:p/>
          <a:p>
            <a:r>
              <a:t>&gt; فَانْهَزَمَتْ كِنْدَةُ وَقُتِلَتْ، وَخَرَجُوا هُرَّابًا فَالْتَجَئُوا إِلَى النُّجَيْرِ، وَقَدْ رَمُّوهُ وَأَصْلَحُوهُ.</a:t>
            </a:r>
          </a:p>
          <a:p>
            <a:r>
              <a:t>&gt; — الکامل فی التاریخ ج۲ ص۲۳۱ · https://shamela.ws/book/21712/922</a:t>
            </a:r>
          </a:p>
          <a:p>
            <a:r>
              <a:t>&gt; *English:* "Kinda was routed and cut down; they fled and took refuge in al-Nujayr — which they had</a:t>
            </a:r>
          </a:p>
          <a:p>
            <a:r>
              <a:t>&gt; already repaired and put in order."</a:t>
            </a:r>
          </a:p>
          <a:p/>
          <a:p>
            <a:r>
              <a:t>Where the letter met him: الکامل says only «بالطريق»; Ibn Khaldūn says «بالمفازة بين مأرب وحضرموت»</a:t>
            </a:r>
          </a:p>
          <a:p>
            <a:r>
              <a:t>(ج۲ ص۴۹۴) — his detail, not for the map as fact. Pairs with RCT/E-RC34's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فَرَجَعُوا إِلَى حِصْنِهِمْ، وَخَشَعَتْ نُفُوسُهُمْ وَخَافُوا الْقَتْلَ</a:t>
            </a:r>
          </a:p>
          <a:p>
            <a:r>
              <a:t>"They went back into their fort; their spirits sank, and they feared death."</a:t>
            </a:r>
          </a:p>
          <a:p>
            <a:r>
              <a:t>— الکامل فی التاریخ ج۲ ص۲۳۱</a:t>
            </a:r>
          </a:p>
          <a:p/>
          <a:p>
            <a:r>
              <a:t>عبرت — They had prepared the place to retreat to before they fought, and it became the place they could not leave.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al-Kamil puts al-Nujayr in 11 AH, the Siyar in 12 — say "11 or 12 AH". ⚠ Ibn al-Athīr gives a second telling — no knife; al-Ashʿath came down alone : say that it exists if a slip asks. Checkpoint 3 follows</a:t>
            </a:r>
          </a:p>
          <a:p/>
          <a:p>
            <a:r>
              <a:t>SAY —</a:t>
            </a:r>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   ^ read the Arabic on the face here</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QUOTE — 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الکامل فی التاریخ ج۲ ص۲۳۲</a:t>
            </a:r>
          </a:p>
          <a:p/>
          <a:p>
            <a:r>
              <a:t>عبرت — The decision about al-Ashʿath was not taken in anger at the gate; it was sent to the man whose job it was.</a:t>
            </a:r>
          </a:p>
          <a:p/>
          <a:p>
            <a:r>
              <a:t>Pairs with RCT/E-RC34,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a:p/>
          <a:p>
            <a:r>
              <a:t>BACKGROUND (read at home, not aloud) —</a:t>
            </a:r>
          </a:p>
          <a:p>
            <a:r>
              <a:t>When the leaders inside began to fear for their own lives, al-Ashʿath came out with nine men. They asked Ziyād ؓ for a guarantee for themselves and their families, in return for opening the gate. Ziyād ؓ said: write whatever you want, and bring it to me to seal. They wrote it. And while al-Ashʿath was writing, a man called Jaḥdam jumped at him with a knife and said: you write me in, or I kill you. Al-Ashʿath wrote him in — and forgot himself. The gate was opened. Every fighting man inside was killed. When it was over, al-Ashʿath called the men and brought out the document, and everyone named in it was spared. Al-Ashʿath's name was not there. Al-Muhājir ؓ had him bound. And someone said: hold him back — send him to Abū Bakr ؓ; he knows best what the ruling on this man is.</a:t>
            </a:r>
          </a:p>
          <a:p/>
          <a:p>
            <a:r>
              <a:t>Also on the page:</a:t>
            </a:r>
          </a:p>
          <a:p/>
          <a:p>
            <a:r>
              <a:t>&gt;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ج۲ ص۲۳۲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a:t>
            </a:r>
          </a:p>
          <a:p/>
          <a:p>
            <a:r>
              <a:t>&gt;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ج۲ ص۲۳۲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 — Tonight: al-Yamāma's cost, the Qurʾān, Oman and Mahra — and now Kinda, from a 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 — When you came in, the east was burning. Now every front we have told is settled — and one man is on his way to Medina in bonds.</a:t>
            </a:r>
          </a:p>
          <a:p/>
          <a:p>
            <a:r>
              <a:t>⏱ Past 0:42 here → close here. The judgement at Medina opens evening 6.</a:t>
            </a:r>
          </a:p>
          <a:p/>
          <a:p>
            <a:r>
              <a:t>CARRYING ON → say: "He had left his own name off the paper. Now he stood in front of Abū Bakr ؓ." — and click on.</a:t>
            </a:r>
          </a:p>
          <a:p/>
          <a:p>
            <a:r>
              <a:t>OUT OF TIME → this is your ending. Stay on this map and say:</a:t>
            </a:r>
          </a:p>
          <a:p>
            <a:r>
              <a:t>   1. The mushaf the room reads from was gathered because of the men who were killed in the garden.</a:t>
            </a:r>
          </a:p>
          <a:p>
            <a:r>
              <a:t>   2. He wrote before he marched, and half the enemy stopped being the enemy.</a:t>
            </a:r>
          </a:p>
          <a:p>
            <a:r>
              <a:t>   3. The decision about al-Ashʿath was not taken in anger at the gate; it was sent to the man whose job it was.</a:t>
            </a:r>
          </a:p>
          <a:p/>
          <a:p>
            <a:r>
              <a:t>Then next week: "A man who had led a whole tribe out of Islam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Spare [HANDS]: ask the room the same question before the answer. ⚠ Ten or seventy — the books differ (beat 10)</a:t>
            </a:r>
          </a:p>
          <a:p/>
          <a:p>
            <a:r>
              <a:t>⚠ Her name differs: *Umm Farwa* in الکامل, *Farwa bint Abī Quḥāfa* in سیر ج۲ ص۳۹,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POT/E-PG40 (the wedding feast in the camel market), which tells</a:t>
            </a:r>
          </a:p>
          <a:p>
            <a:r>
              <a:t>al-Dhahabī's version in its narrative.</a:t>
            </a:r>
          </a:p>
          <a:p/>
          <a:p>
            <a:r>
              <a:t>SAY —</a:t>
            </a:r>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   ^ read the Arabic on the face here</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QUOTE — 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الکامل فی التاریخ ج۲ ص۲۳۲</a:t>
            </a:r>
          </a:p>
          <a:p/>
          <a:p>
            <a:r>
              <a:t>عبرت — He won his life only after he stopped arguing that he was owed it.</a:t>
            </a:r>
          </a:p>
          <a:p/>
          <a:p>
            <a:r>
              <a:t>BACKGROUND (read at home, not aloud) —</a:t>
            </a:r>
          </a:p>
          <a:p>
            <a:r>
              <a:t>Al-Ashʿath was brought before Abū Bakr ؓ. Abū Bakr ؓ asked him what he thought would be done with him. He said he did not know. Abū Bakr ؓ said: then I will kill you. And al-Ashʿath argued the law. I am the man who negotiated that peace for ten, he said — my blood is not lawful. And Abū Bakr ؓ answered him on the law: the peace bound only the names in the document, once it was sealed; before the seal you were a negotiator, nothing more. And when he feared he would be killed, he stopped arguing and asked. Look for some good in me. Free me. Forgive my stumble. Treat me as you have treated others like me. And give me back my wife — when he had come to the Prophet ﷺ he had asked for Abū Bakr's ؓ own sister, and put the wedding off until his next visit; then the Prophet ﷺ died, and he apostatised. Do that, he said, and you will find me the best man in my country for the religion of Allah. Abū Bakr ؓ spared his life and gave him back his family.</a:t>
            </a:r>
          </a:p>
          <a:p/>
          <a:p>
            <a:r>
              <a:t>Also on the page:</a:t>
            </a:r>
          </a:p>
          <a:p/>
          <a:p>
            <a:r>
              <a:t>&gt;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ج۲ ص۲۳۲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a:t>
            </a:r>
          </a:p>
          <a:p/>
          <a:p>
            <a:r>
              <a:t>&gt; فَلَمَّا خَشِيَ الْقَتْلَ قَالَ: أَوَتَحْتَسِبُ فِيَّ خَيْرًا، فَتُطْلِقُ إِسَارِيْ وَتُقِيلُنِي عَثْرَتِي، وَتَفْعَلُ بِي مِثْلَ مَا فَعَلْتَ بِأَمْثَالِي، وَتَرُدُّ عَلَيَّ زَوْجَتِي؟</a:t>
            </a:r>
          </a:p>
          <a:p>
            <a:r>
              <a:t>&gt; — الکامل فی التاریخ ج۲ ص۲۳۲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a:t>
            </a:r>
          </a:p>
          <a:p/>
          <a:p>
            <a:r>
              <a:t>&gt; فَإِنْ فَعَلْتَ ذَلِكَ تَجِدُنِي خَيْرَ أَهْلِ بِلَادِي لِدِينِ اللَّهِ. فَحَقَنَ دَمَهُ وَرَدَّ عَلَيْهِ أَهْلَهُ</a:t>
            </a:r>
          </a:p>
          <a:p>
            <a:r>
              <a:t>&gt; — الکامل فی التاریخ ج۲ ص۲۳۲ · https://shamela.ws/book/21712/923</a:t>
            </a:r>
          </a:p>
          <a:p>
            <a:r>
              <a:t>&gt; *English:* "If you do that, you will find me the best of the people of my country for the religion</a:t>
            </a:r>
          </a:p>
          <a:p>
            <a:r>
              <a:t>&gt; of Allah. So he spared his blood and gave him back his family."</a:t>
            </a:r>
          </a:p>
          <a:p/>
          <a:p>
            <a:r>
              <a:t>Al-Dhahabī's shorter version (al-Nakhaʿī, via Abū ʿUbayd's *al-Amwāl*) — a variant, kept beside</a:t>
            </a:r>
          </a:p>
          <a:p>
            <a:r>
              <a:t>the first, not in place of it:</a:t>
            </a:r>
          </a:p>
          <a:p/>
          <a:p>
            <a:r>
              <a:t>&gt; فَأُتِيَ بِهِ الصِّدِّيْقَ، فَقَالَ: إِنَّا قَاتِلُوْكَ، لاَ أَمَانَ لَكَ. فَقَالَ: تَمُنُّ عَلَيَّ وَأُسْلِمُ؟ قَالَ: فَفَعَلَ، وَزَوَّجَهُ أُخْتَهُ.</a:t>
            </a:r>
          </a:p>
          <a:p>
            <a:r>
              <a:t>&gt; — سیر أعلام النبلاء ج۲ ص۳۹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Pardoned, and married to Abū Bakr's ؓ sister (the books differ on her name)</a:t>
            </a:r>
          </a:p>
          <a:p/>
          <a:p>
            <a:r>
              <a:t>SAY —</a:t>
            </a:r>
          </a:p>
          <a:p>
            <a:r>
              <a:t>1. Released, and married into the family — Abū Bakr ؓ showed him favour, loosed his bonds, and married his own sister to him.</a:t>
            </a:r>
          </a:p>
          <a:p>
            <a:r>
              <a:t>2. A sword in the camel market — He drew his sword, walked into the camel market of Medina, and began hamstringing every camel and bull he saw.</a:t>
            </a:r>
          </a:p>
          <a:p>
            <a:r>
              <a:t>3. Medina thinks he has turned again — The people shouted that he had apostatised again.</a:t>
            </a:r>
          </a:p>
          <a:p>
            <a:r>
              <a:t>4. He throws the sword down — Then he threw the sword down and explained himself.</a:t>
            </a:r>
          </a:p>
          <a:p>
            <a:r>
              <a:t>   ^ read the Arabic on the face here</a:t>
            </a:r>
          </a:p>
          <a:p/>
          <a:p>
            <a:r>
              <a:t>QUOTE — 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سیر أعلام النبلاء ج۲ ص۳۹</a:t>
            </a:r>
          </a:p>
          <a:p/>
          <a:p>
            <a:r>
              <a:t>عبرت — A man newly forgiven will sometimes announce it in the loudest and least convenient way available to him.</a:t>
            </a:r>
          </a:p>
          <a:p/>
          <a:p>
            <a:r>
              <a:t>BACKGROUND (read at home, not aloud) —</a:t>
            </a:r>
          </a:p>
          <a:p>
            <a:r>
              <a:t>al-Ashʿath ؓ had apostatised in the ridda with a number of Kinda. He was besieged, and he took safe conduct — for seventy men, and not for himself. He was brought captive to Abū Bakr ؓ, who told him plainly: we are going to kill you, you have no safe conduct. And he said: will you show me favour, and I become Muslim? Abū Bakr ؓ did, and loosed his bonds, and married his own sister to him. So al-Ashʿath ؓ drew his sword, walked into the camel market of Medina, and began hamstringing every camel and every bull he saw, while the people shouted that he had apostatised again. Then he threw the sword down and explained himself.</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Beat 1 frames the forward reference — al-Qādisiyya and Nahāwand are evenings still ahead</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POT/E-PG41 («إِنَّ هَذَا لَمْ يَرْتَدَّ، وَإِنِّي ارْتَدَدْتُ»). Hand-off: al-Ashʿath's later house</a:t>
            </a:r>
          </a:p>
          <a:p>
            <a:r>
              <a:t>is the third sister note.</a:t>
            </a:r>
          </a:p>
          <a:p>
            <a:r>
              <a:t>Also on the page:</a:t>
            </a:r>
          </a:p>
          <a:p/>
          <a:p>
            <a:r>
              <a:t>⚠ The same notice goes on to say Qays was killed at Ṣiffīn among ʿAlī's ؓ commanders — that clause</a:t>
            </a:r>
          </a:p>
          <a:p>
            <a:r>
              <a:t>is not quoted here and does not go into this session. The books differ on Qays: «ارتدّ عن الإسلام»</a:t>
            </a:r>
          </a:p>
          <a:p>
            <a:r>
              <a:t>(البدایہ ج۷ ص۴۲) against a notice that is silent on it (سیر ج۳ ص۵۲۰). Record both; decide nothing.</a:t>
            </a:r>
          </a:p>
          <a:p/>
          <a:p>
            <a:r>
              <a:t>SAY —</a:t>
            </a:r>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   ^ read the Arabic on the face here</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QUOTE — 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البدایہ والنہایہ ج۷ ص۲۴۳</a:t>
            </a:r>
          </a:p>
          <a:p/>
          <a:p>
            <a:r>
              <a:t>عبرت — The army kept watching the men who had once turned, and the watching found nothing; both of those facts are in the record.</a:t>
            </a:r>
          </a:p>
          <a:p/>
          <a:p>
            <a:r>
              <a:t>BACKGROUND (read at home, not aloud) —</a:t>
            </a:r>
          </a:p>
          <a:p>
            <a:r>
              <a:t>Three of the men of this evening went north. Al-Ashʿath ؓ and ʿAmr b. Maʿdī Karib ؓ were in the delegation Saʿd ؓ sent to call Rustam to Islam before al-Qādisiyya. Qays b. Makshūḥ fought at the Yarmūk, came east with the reinforcements from Syria, and commanded the left wing at al-Qādisiyya. Qays and al-Ashʿath ؓ each lost an eye at the Yarmūk. At Nahāwand, Ibn Kathīr lists ʿAmr ؓ, Qays and Ṭulayḥa ؓ side by side among the leading men of the army. And he records what Jābir b. ʿAbd Allāh ؓ swore about the army at al-Qādisiyya. He said they had suspected three men of wanting this world — and when they looked into those three, they found nothing to match their honesty and their indifference to it. The three names are Ṭulayḥa, who had claimed prophethood; ʿAmr ؓ, who had followed al-Aswad; and Qays, who had turned on the Abnāʾ.</a:t>
            </a:r>
          </a:p>
          <a:p/>
          <a:p>
            <a:r>
              <a:t>&gt;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ج۷ ص۱۳۳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a:t>
            </a:r>
          </a:p>
          <a:p/>
          <a:p>
            <a:r>
              <a:t>&gt; وعلى الميسرة قيس بن مكشوح، وكان قيس والمغيرة بن شعبة قد قدما على سعد مددًا من عند أبي عبيدة من الشام بعدما شهدا وقعة اليرموك.</a:t>
            </a:r>
          </a:p>
          <a:p>
            <a:r>
              <a:t>&gt; — البدایہ والنہایہ ج۷ ص۱۳۹ · https://shamela.ws/book/30097/3285</a:t>
            </a:r>
          </a:p>
          <a:p>
            <a:r>
              <a:t>&gt; *English:* "And over the left wing, Qays b. Makshūḥ. Qays and al-Mughīra b. Shuʿba had come to Saʿd as</a:t>
            </a:r>
          </a:p>
          <a:p>
            <a:r>
              <a:t>&gt; reinforcements from Abū ʿUbayda in Syria, after they had fought at the Yarmūk."</a:t>
            </a:r>
          </a:p>
          <a:p/>
          <a:p>
            <a:r>
              <a:t>&gt;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ج۷ ص۲۴۳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a:t>
            </a:r>
          </a:p>
          <a:p/>
          <a:p>
            <a:r>
              <a:t>Al-Dhahabī's whole notice on Qays b. Makshūḥ — it does not mention the ridda at all:</a:t>
            </a:r>
          </a:p>
          <a:p/>
          <a:p>
            <a:r>
              <a:t>&gt; الأَمِيْرُ، أَبُو حَسَّانٍ المُرَادِيُّ، مِنْ وُجُوْهِ العَرَبِ المَوْصُوْفِيْنَ بِالشَّجَاعَةِ. وَكَانَ مِمَّنْ أَعَانَ عَلَى قَتْلِ الأَسْوَدِ العَنْسِيِّ، وَقُلِعَتْ عَيْنُهُ يَوْمَ اليَرْمُوْكِ.</a:t>
            </a:r>
          </a:p>
          <a:p>
            <a:r>
              <a:t>&gt; — سیر أعلام النبلاء ج۳ ص۵۲۰ · https://shamela.ws/book/10906/3128</a:t>
            </a:r>
          </a:p>
          <a:p>
            <a:r>
              <a:t>&gt; *English:* "The commander, Abū Ḥassān al-Murādī, one of the notable Arabs known for courage. He was</a:t>
            </a:r>
          </a:p>
          <a:p>
            <a:r>
              <a:t>&gt; among those who helped kill al-Aswad al-ʿAnsī, and his eye was put out on the day of the Yarmūk."</a:t>
            </a:r>
          </a:p>
          <a:p/>
          <a:p>
            <a:r>
              <a:t>## Kinda: the kingdom before Islam, and the house of al-Ashʿath</a:t>
            </a:r>
          </a:p>
          <a:p/>
          <a:p>
            <a:r>
              <a:t>*Source note: [kinda-the-kingdom-before-islam-and-the-house-of-al-ashath.md](../docs/research/kinda-the-kingdom-before-islam-and-the-house-of-al-ashath.md)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Closes on a man who came back. The close follows</a:t>
            </a:r>
          </a:p>
          <a:p/>
          <a:p>
            <a:r>
              <a:t>SAY —</a:t>
            </a:r>
          </a:p>
          <a:p>
            <a:r>
              <a:t>1. He steps back at a funeral — At a funeral, al-Ashʿath ؓ stepped back and put Jarīr b. ʿAbd Allāh ؓ forward to lead the prayer.</a:t>
            </a:r>
          </a:p>
          <a:p>
            <a:r>
              <a:t>2. Somebody asks him why — He gave the reason in six words.</a:t>
            </a:r>
          </a:p>
          <a:p>
            <a:r>
              <a:t>   ^ read the Arabic on the face here</a:t>
            </a:r>
          </a:p>
          <a:p>
            <a:r>
              <a:t>3. Said in public, years afterwards — Forgiven, married into al-Ṣiddīq's ؓ family, made a commander, and he still said it of himself.</a:t>
            </a:r>
          </a:p>
          <a:p/>
          <a:p>
            <a:r>
              <a:t>QUOTE — إِنَّ هَذَا لَمْ يَرْتَدَّ، وَإِنِّي ارْتَدَدْتُ.</a:t>
            </a:r>
          </a:p>
          <a:p>
            <a:r>
              <a:t>"This man did not apostatise. And I did."</a:t>
            </a:r>
          </a:p>
          <a:p>
            <a:r>
              <a:t>— سیر أعلام النبلاء ج۲ ص۴۰</a:t>
            </a:r>
          </a:p>
          <a:p/>
          <a:p>
            <a:r>
              <a:t>عبرت — A man who will say the worst thing about himself out loud has taken its power away from everybody else.</a:t>
            </a:r>
          </a:p>
          <a:p/>
          <a:p>
            <a:r>
              <a:t>BACKGROUND (read at home, not aloud) —</a:t>
            </a:r>
          </a:p>
          <a:p>
            <a:r>
              <a:t>At a funeral where both men were standing, al-Ashʿath b. Qays ؓ stepped back and put Jarīr b. ʿAbd Allāh ؓ forward to lead the prayer. Somebody asked him why, and he gave the reason in six words. He had been forgiven, married into the Ṣiddīq ؓ's own family, and made a commander; and he still said this about himself in public, years afterwards.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 — Tonight began at the forts of al-Yamāma, with what was signed. We went into two houses — Umm Sulaym's ؓ, and Abū Ḥudhayfa's ؓ and Sālim's ؓ — and came out on the field where their men fell, and at Medina, where their deaths became the reason the Qurʾān was gathered. And then one man's road: ʿIkrima ؓ, through Oman and Mahra to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 When you came in, al-Yamāma had just been taken, and the east was burning.</a:t>
            </a:r>
          </a:p>
          <a:p/>
          <a:p>
            <a:r>
              <a:t>▶ CLICK 1 — Oman and Mahra, settled.</a:t>
            </a:r>
          </a:p>
          <a:p/>
          <a:p>
            <a:r>
              <a:t>▶ CLICK 2 — Ḥaḍramawt — the last front — settled.</a:t>
            </a:r>
          </a:p>
          <a:p/>
          <a:p>
            <a:r>
              <a:t>▶ CLICK 3 — And the road one man rode through all of it: ʿIkrima ؓ, from al-Yamāma to al-Nujayr.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heading, then its line:</a:t>
            </a:r>
          </a:p>
          <a:p>
            <a:r>
              <a:t>1. How the day ended — The terms took their weapons and their wealth, and left them their lives.</a:t>
            </a:r>
          </a:p>
          <a:p>
            <a:r>
              <a:t>2. The house of Umm Sulaym ؓ — She made him say the ruling before she told him it was his own case.</a:t>
            </a:r>
          </a:p>
          <a:p>
            <a:r>
              <a:t>3. The Qurʾān gathered — The mushaf the room reads from was gathered because of the men who were killed in the garden.</a:t>
            </a:r>
          </a:p>
          <a:p>
            <a:r>
              <a:t>4. ʿIkrima's ؓ road — He wrote before he marched, and half the enemy stopped being the enemy.</a:t>
            </a:r>
          </a:p>
          <a:p>
            <a:r>
              <a:t>5. The last front — A man who will say the worst thing about himself out loud has taken its power away from everybody else.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 Id="rId20"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image" Target="../media/image60.png"/><Relationship Id="rId13"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image" Target="../media/image69.png"/><Relationship Id="rId11" Type="http://schemas.openxmlformats.org/officeDocument/2006/relationships/image" Target="../media/image70.png"/><Relationship Id="rId12" Type="http://schemas.openxmlformats.org/officeDocument/2006/relationships/image" Target="../media/image71.png"/><Relationship Id="rId13"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78.png"/><Relationship Id="rId8" Type="http://schemas.openxmlformats.org/officeDocument/2006/relationships/image" Target="../media/image83.png"/><Relationship Id="rId9" Type="http://schemas.openxmlformats.org/officeDocument/2006/relationships/image" Target="../media/image84.png"/><Relationship Id="rId10"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82.png"/><Relationship Id="rId10" Type="http://schemas.openxmlformats.org/officeDocument/2006/relationships/image" Target="../media/image92.png"/><Relationship Id="rId11" Type="http://schemas.openxmlformats.org/officeDocument/2006/relationships/image" Target="../media/image84.png"/><Relationship Id="rId12" Type="http://schemas.openxmlformats.org/officeDocument/2006/relationships/image" Target="../media/image93.png"/><Relationship Id="rId13"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image" Target="../media/image86.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9.png"/><Relationship Id="rId15" Type="http://schemas.openxmlformats.org/officeDocument/2006/relationships/image" Target="../media/image92.png"/><Relationship Id="rId16" Type="http://schemas.openxmlformats.org/officeDocument/2006/relationships/image" Target="../media/image100.png"/><Relationship Id="rId17"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jpg"/><Relationship Id="rId3" Type="http://schemas.openxmlformats.org/officeDocument/2006/relationships/image" Target="../media/image108.png"/><Relationship Id="rId4" Type="http://schemas.openxmlformats.org/officeDocument/2006/relationships/image" Target="../media/image103.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image" Target="../media/image111.png"/><Relationship Id="rId8" Type="http://schemas.openxmlformats.org/officeDocument/2006/relationships/image" Target="../media/image112.png"/><Relationship Id="rId9" Type="http://schemas.openxmlformats.org/officeDocument/2006/relationships/image" Target="../media/image113.png"/><Relationship Id="rId10" Type="http://schemas.openxmlformats.org/officeDocument/2006/relationships/image" Target="../media/image81.png"/><Relationship Id="rId11" Type="http://schemas.openxmlformats.org/officeDocument/2006/relationships/image" Target="../media/image105.png"/><Relationship Id="rId12" Type="http://schemas.openxmlformats.org/officeDocument/2006/relationships/image" Target="../media/image114.png"/><Relationship Id="rId13" Type="http://schemas.openxmlformats.org/officeDocument/2006/relationships/image" Target="../media/image115.png"/><Relationship Id="rId14" Type="http://schemas.openxmlformats.org/officeDocument/2006/relationships/image" Target="../media/image106.png"/><Relationship Id="rId15" Type="http://schemas.openxmlformats.org/officeDocument/2006/relationships/image" Target="../media/image116.png"/><Relationship Id="rId16"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 Id="rId3"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jpg"/><Relationship Id="rId3"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image" Target="../media/image128.png"/><Relationship Id="rId11"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5</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What al-Yamāma cost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stop_d_line.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top_d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How the day ended (12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Last week, in one minute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day at ʿAqrabāʾ</a:t>
            </a:r>
          </a:p>
        </p:txBody>
      </p:sp>
      <p:pic>
        <p:nvPicPr>
          <p:cNvPr id="6" name="map" descr="s05-01-aqraba-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then opened</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Musaylima</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falls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forts</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terms were made</a:t>
            </a:r>
          </a:p>
        </p:txBody>
      </p:sp>
      <p:pic>
        <p:nvPicPr>
          <p:cNvPr id="16" name="map territory t_0019" descr="s05-01-aqraba-r1-6-t_0019.png"/>
          <p:cNvPicPr>
            <a:picLocks noChangeAspect="1"/>
          </p:cNvPicPr>
          <p:nvPr/>
        </p:nvPicPr>
        <p:blipFill>
          <a:blip r:embed="rId3"/>
          <a:stretch>
            <a:fillRect/>
          </a:stretch>
        </p:blipFill>
        <p:spPr>
          <a:xfrm>
            <a:off x="5690969" y="4299282"/>
            <a:ext cx="757922" cy="681323"/>
          </a:xfrm>
          <a:prstGeom prst="rect">
            <a:avLst/>
          </a:prstGeom>
        </p:spPr>
      </p:pic>
      <p:pic>
        <p:nvPicPr>
          <p:cNvPr id="17" name="map territory t_0022" descr="s05-01-aqraba-r1-6-t_0022.png"/>
          <p:cNvPicPr>
            <a:picLocks noChangeAspect="1"/>
          </p:cNvPicPr>
          <p:nvPr/>
        </p:nvPicPr>
        <p:blipFill>
          <a:blip r:embed="rId4"/>
          <a:stretch>
            <a:fillRect/>
          </a:stretch>
        </p:blipFill>
        <p:spPr>
          <a:xfrm>
            <a:off x="5690969" y="4299282"/>
            <a:ext cx="757922" cy="681323"/>
          </a:xfrm>
          <a:prstGeom prst="rect">
            <a:avLst/>
          </a:prstGeom>
        </p:spPr>
      </p:pic>
      <p:pic>
        <p:nvPicPr>
          <p:cNvPr id="18" name="map territory t_0025" descr="s05-01-aqraba-r1-6-t_0025.png"/>
          <p:cNvPicPr>
            <a:picLocks noChangeAspect="1"/>
          </p:cNvPicPr>
          <p:nvPr/>
        </p:nvPicPr>
        <p:blipFill>
          <a:blip r:embed="rId5"/>
          <a:stretch>
            <a:fillRect/>
          </a:stretch>
        </p:blipFill>
        <p:spPr>
          <a:xfrm>
            <a:off x="4787912" y="4371849"/>
            <a:ext cx="822426" cy="645040"/>
          </a:xfrm>
          <a:prstGeom prst="rect">
            <a:avLst/>
          </a:prstGeom>
        </p:spPr>
      </p:pic>
      <p:pic>
        <p:nvPicPr>
          <p:cNvPr id="19" name="map arrow r_0001" descr="s05-01-aqraba-r1-6-r_0001.png"/>
          <p:cNvPicPr>
            <a:picLocks noChangeAspect="1"/>
          </p:cNvPicPr>
          <p:nvPr/>
        </p:nvPicPr>
        <p:blipFill>
          <a:blip r:embed="rId6"/>
          <a:stretch>
            <a:fillRect/>
          </a:stretch>
        </p:blipFill>
        <p:spPr>
          <a:xfrm>
            <a:off x="4449266" y="3626021"/>
            <a:ext cx="1741609" cy="999812"/>
          </a:xfrm>
          <a:prstGeom prst="rect">
            <a:avLst/>
          </a:prstGeom>
        </p:spPr>
      </p:pic>
      <p:pic>
        <p:nvPicPr>
          <p:cNvPr id="20" name="map arrow r_0002" descr="s05-01-aqraba-r1-6-r_0002.png"/>
          <p:cNvPicPr>
            <a:picLocks noChangeAspect="1"/>
          </p:cNvPicPr>
          <p:nvPr/>
        </p:nvPicPr>
        <p:blipFill>
          <a:blip r:embed="rId7"/>
          <a:stretch>
            <a:fillRect/>
          </a:stretch>
        </p:blipFill>
        <p:spPr>
          <a:xfrm>
            <a:off x="3364791" y="3194650"/>
            <a:ext cx="2358429" cy="1282017"/>
          </a:xfrm>
          <a:prstGeom prst="rect">
            <a:avLst/>
          </a:prstGeom>
        </p:spPr>
      </p:pic>
      <p:pic>
        <p:nvPicPr>
          <p:cNvPr id="21" name="map arrow r_0003" descr="s05-01-aqraba-r1-6-r_0003.png"/>
          <p:cNvPicPr>
            <a:picLocks noChangeAspect="1"/>
          </p:cNvPicPr>
          <p:nvPr/>
        </p:nvPicPr>
        <p:blipFill>
          <a:blip r:embed="rId8"/>
          <a:stretch>
            <a:fillRect/>
          </a:stretch>
        </p:blipFill>
        <p:spPr>
          <a:xfrm>
            <a:off x="3360760" y="3763092"/>
            <a:ext cx="2612414" cy="1076411"/>
          </a:xfrm>
          <a:prstGeom prst="rect">
            <a:avLst/>
          </a:prstGeom>
        </p:spPr>
      </p:pic>
      <p:pic>
        <p:nvPicPr>
          <p:cNvPr id="22" name="map battle Musaylima falls" descr="s05-01-aqraba-r1-6-b_0024.png"/>
          <p:cNvPicPr>
            <a:picLocks noChangeAspect="1"/>
          </p:cNvPicPr>
          <p:nvPr/>
        </p:nvPicPr>
        <p:blipFill>
          <a:blip r:embed="rId9"/>
          <a:stretch>
            <a:fillRect/>
          </a:stretch>
        </p:blipFill>
        <p:spPr>
          <a:xfrm>
            <a:off x="5497456" y="4573424"/>
            <a:ext cx="1265892" cy="717607"/>
          </a:xfrm>
          <a:prstGeom prst="rect">
            <a:avLst/>
          </a:prstGeom>
        </p:spPr>
      </p:pic>
      <p:pic>
        <p:nvPicPr>
          <p:cNvPr id="23" name="map army Musaylima" descr="s05-01-aqraba-r1-6-a_0011.png"/>
          <p:cNvPicPr>
            <a:picLocks noChangeAspect="1"/>
          </p:cNvPicPr>
          <p:nvPr/>
        </p:nvPicPr>
        <p:blipFill>
          <a:blip r:embed="rId10"/>
          <a:stretch>
            <a:fillRect/>
          </a:stretch>
        </p:blipFill>
        <p:spPr>
          <a:xfrm>
            <a:off x="4243659" y="3093862"/>
            <a:ext cx="1785956" cy="705512"/>
          </a:xfrm>
          <a:prstGeom prst="rect">
            <a:avLst/>
          </a:prstGeom>
        </p:spPr>
      </p:pic>
      <p:pic>
        <p:nvPicPr>
          <p:cNvPr id="24" name="map army Muhājirūn" descr="s05-01-aqraba-r1-6-a_0015.png"/>
          <p:cNvPicPr>
            <a:picLocks noChangeAspect="1"/>
          </p:cNvPicPr>
          <p:nvPr/>
        </p:nvPicPr>
        <p:blipFill>
          <a:blip r:embed="rId11"/>
          <a:stretch>
            <a:fillRect/>
          </a:stretch>
        </p:blipFill>
        <p:spPr>
          <a:xfrm>
            <a:off x="2905200" y="2303688"/>
            <a:ext cx="1338459" cy="532158"/>
          </a:xfrm>
          <a:prstGeom prst="rect">
            <a:avLst/>
          </a:prstGeom>
        </p:spPr>
      </p:pic>
      <p:pic>
        <p:nvPicPr>
          <p:cNvPr id="25" name="map army Anṣār" descr="s05-01-aqraba-r1-6-a_0016.png"/>
          <p:cNvPicPr>
            <a:picLocks noChangeAspect="1"/>
          </p:cNvPicPr>
          <p:nvPr/>
        </p:nvPicPr>
        <p:blipFill>
          <a:blip r:embed="rId12"/>
          <a:stretch>
            <a:fillRect/>
          </a:stretch>
        </p:blipFill>
        <p:spPr>
          <a:xfrm>
            <a:off x="2905200" y="2807626"/>
            <a:ext cx="1003844" cy="528126"/>
          </a:xfrm>
          <a:prstGeom prst="rect">
            <a:avLst/>
          </a:prstGeom>
        </p:spPr>
      </p:pic>
      <p:pic>
        <p:nvPicPr>
          <p:cNvPr id="26" name="map army the tribes" descr="s05-01-aqraba-r1-6-a_0017.png"/>
          <p:cNvPicPr>
            <a:picLocks noChangeAspect="1"/>
          </p:cNvPicPr>
          <p:nvPr/>
        </p:nvPicPr>
        <p:blipFill>
          <a:blip r:embed="rId13"/>
          <a:stretch>
            <a:fillRect/>
          </a:stretch>
        </p:blipFill>
        <p:spPr>
          <a:xfrm>
            <a:off x="2905200" y="3307532"/>
            <a:ext cx="1249766" cy="532158"/>
          </a:xfrm>
          <a:prstGeom prst="rect">
            <a:avLst/>
          </a:prstGeom>
        </p:spPr>
      </p:pic>
      <p:pic>
        <p:nvPicPr>
          <p:cNvPr id="27" name="map army Musaylima" descr="s05-01-aqraba-r1-6-a_0018.png"/>
          <p:cNvPicPr>
            <a:picLocks noChangeAspect="1"/>
          </p:cNvPicPr>
          <p:nvPr/>
        </p:nvPicPr>
        <p:blipFill>
          <a:blip r:embed="rId14"/>
          <a:stretch>
            <a:fillRect/>
          </a:stretch>
        </p:blipFill>
        <p:spPr>
          <a:xfrm>
            <a:off x="6005426" y="4218652"/>
            <a:ext cx="1423120" cy="556347"/>
          </a:xfrm>
          <a:prstGeom prst="rect">
            <a:avLst/>
          </a:prstGeom>
        </p:spPr>
      </p:pic>
      <p:pic>
        <p:nvPicPr>
          <p:cNvPr id="28" name="map army al-Barāʾ ؓ" descr="s05-01-aqraba-r1-6-a_0021.png"/>
          <p:cNvPicPr>
            <a:picLocks noChangeAspect="1"/>
          </p:cNvPicPr>
          <p:nvPr/>
        </p:nvPicPr>
        <p:blipFill>
          <a:blip r:embed="rId15"/>
          <a:stretch>
            <a:fillRect/>
          </a:stretch>
        </p:blipFill>
        <p:spPr>
          <a:xfrm>
            <a:off x="4687124" y="4049329"/>
            <a:ext cx="1241703" cy="503937"/>
          </a:xfrm>
          <a:prstGeom prst="rect">
            <a:avLst/>
          </a:prstGeom>
        </p:spPr>
      </p:pic>
      <p:pic>
        <p:nvPicPr>
          <p:cNvPr id="29" name="map label their farms" descr="s05-01-aqraba-r1-6-l_0013.png"/>
          <p:cNvPicPr>
            <a:picLocks noChangeAspect="1"/>
          </p:cNvPicPr>
          <p:nvPr/>
        </p:nvPicPr>
        <p:blipFill>
          <a:blip r:embed="rId16"/>
          <a:stretch>
            <a:fillRect/>
          </a:stretch>
        </p:blipFill>
        <p:spPr>
          <a:xfrm>
            <a:off x="5279755" y="3315595"/>
            <a:ext cx="1447309" cy="274142"/>
          </a:xfrm>
          <a:prstGeom prst="rect">
            <a:avLst/>
          </a:prstGeom>
        </p:spPr>
      </p:pic>
      <p:pic>
        <p:nvPicPr>
          <p:cNvPr id="30" name="map label the gate shut" descr="s05-01-aqraba-r1-6-l_0020.png"/>
          <p:cNvPicPr>
            <a:picLocks noChangeAspect="1"/>
          </p:cNvPicPr>
          <p:nvPr/>
        </p:nvPicPr>
        <p:blipFill>
          <a:blip r:embed="rId17"/>
          <a:stretch>
            <a:fillRect/>
          </a:stretch>
        </p:blipFill>
        <p:spPr>
          <a:xfrm>
            <a:off x="5565992" y="3682462"/>
            <a:ext cx="1499719" cy="302362"/>
          </a:xfrm>
          <a:prstGeom prst="rect">
            <a:avLst/>
          </a:prstGeom>
        </p:spPr>
      </p:pic>
      <p:pic>
        <p:nvPicPr>
          <p:cNvPr id="31" name="map label opened from the inside" descr="s05-01-aqraba-r1-6-l_0023.png"/>
          <p:cNvPicPr>
            <a:picLocks noChangeAspect="1"/>
          </p:cNvPicPr>
          <p:nvPr/>
        </p:nvPicPr>
        <p:blipFill>
          <a:blip r:embed="rId18"/>
          <a:stretch>
            <a:fillRect/>
          </a:stretch>
        </p:blipFill>
        <p:spPr>
          <a:xfrm>
            <a:off x="5005613" y="3682462"/>
            <a:ext cx="2628540" cy="302362"/>
          </a:xfrm>
          <a:prstGeom prst="rect">
            <a:avLst/>
          </a:prstGeom>
        </p:spPr>
      </p:pic>
      <p:pic>
        <p:nvPicPr>
          <p:cNvPr id="32" name="map label the forts" descr="s05-01-aqraba-r1-6-l_0026.png"/>
          <p:cNvPicPr>
            <a:picLocks noChangeAspect="1"/>
          </p:cNvPicPr>
          <p:nvPr/>
        </p:nvPicPr>
        <p:blipFill>
          <a:blip r:embed="rId19"/>
          <a:stretch>
            <a:fillRect/>
          </a:stretch>
        </p:blipFill>
        <p:spPr>
          <a:xfrm>
            <a:off x="4421045" y="5182181"/>
            <a:ext cx="1108663"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1600"/>
                                        <p:tgtEl>
                                          <p:spTgt spid="19"/>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403 -0.1466 L -0.0765 -0.0838 L -0.0077 -0.0209 L 0 0 E" pathEditMode="relative" rAng="0" ptsTypes="">
                                      <p:cBhvr>
                                        <p:cTn id="14" dur="1600" fill="hold"/>
                                        <p:tgtEl>
                                          <p:spTgt spid="27"/>
                                        </p:tgtEl>
                                        <p:attrNameLst>
                                          <p:attrName>ppt_x</p:attrName>
                                          <p:attrName>ppt_y</p:attrName>
                                        </p:attrNameLst>
                                      </p:cBhvr>
                                    </p:animMotion>
                                  </p:childTnLst>
                                </p:cTn>
                              </p:par>
                              <p:par>
                                <p:cTn id="18"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600"/>
                                        <p:tgtEl>
                                          <p:spTgt spid="30"/>
                                        </p:tgtEl>
                                      </p:cBhvr>
                                    </p:animEffect>
                                  </p:childTnLst>
                                </p:cTn>
                              </p:par>
                            </p:childTnLst>
                          </p:cTn>
                        </p:par>
                      </p:childTnLst>
                    </p:cTn>
                  </p:par>
                  <p:par>
                    <p:cTn id="31" fill="hold">
                      <p:stCondLst>
                        <p:cond delay="indefinite"/>
                      </p:stCondLst>
                      <p:childTnLst>
                        <p:par>
                          <p:cTn id="32" fill="hold">
                            <p:stCondLst>
                              <p:cond delay="0"/>
                            </p:stCondLst>
                            <p:childTnLst>
                              <p:par>
                                <p:cTn id="23" presetID="22" presetClass="entr" presetSubtype="8"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wipe(left)">
                                      <p:cBhvr>
                                        <p:cTn id="22" dur="1600"/>
                                        <p:tgtEl>
                                          <p:spTgt spid="20"/>
                                        </p:tgtEl>
                                      </p:cBhvr>
                                    </p:animEffect>
                                  </p:childTnLst>
                                </p:cTn>
                              </p:par>
                              <p:par>
                                <p:cTn id="25"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785 -0.1780 L -0.0816 -0.1152 L 0.0051 -0.0105 L 0 0 E" pathEditMode="relative" rAng="0" ptsTypes="">
                                      <p:cBhvr>
                                        <p:cTn id="26" dur="1600" fill="hold"/>
                                        <p:tgtEl>
                                          <p:spTgt spid="28"/>
                                        </p:tgtEl>
                                        <p:attrNameLst>
                                          <p:attrName>ppt_x</p:attrName>
                                          <p:attrName>ppt_y</p:attrName>
                                        </p:attrNameLst>
                                      </p:cBhvr>
                                    </p:animMotion>
                                  </p:childTnLst>
                                </p:cTn>
                              </p:par>
                              <p:par>
                                <p:cTn id="30" presetID="10" presetClass="exit" presetSubtype="0" fill="hold" grpId="0" nodeType="withEffect">
                                  <p:stCondLst>
                                    <p:cond delay="0"/>
                                  </p:stCondLst>
                                  <p:childTnLst>
                                    <p:animEffect transition="out" filter="fade">
                                      <p:cBhvr>
                                        <p:cTn id="28" dur="600"/>
                                        <p:tgtEl>
                                          <p:spTgt spid="29"/>
                                        </p:tgtEl>
                                      </p:cBhvr>
                                    </p:animEffect>
                                    <p:set>
                                      <p:cBhvr>
                                        <p:cTn id="29" dur="1" fill="hold">
                                          <p:stCondLst>
                                            <p:cond delay="599"/>
                                          </p:stCondLst>
                                        </p:cTn>
                                        <p:tgtEl>
                                          <p:spTgt spid="29"/>
                                        </p:tgtEl>
                                        <p:attrNameLst>
                                          <p:attrName>style.visibility</p:attrName>
                                        </p:attrNameLst>
                                      </p:cBhvr>
                                      <p:to>
                                        <p:strVal val="hidden"/>
                                      </p:to>
                                    </p:set>
                                  </p:childTnLst>
                                </p:cTn>
                              </p:par>
                            </p:childTnLst>
                          </p:cTn>
                        </p:par>
                      </p:childTnLst>
                    </p:cTn>
                  </p:par>
                  <p:par>
                    <p:cTn id="60" fill="hold">
                      <p:stCondLst>
                        <p:cond delay="indefinite"/>
                      </p:stCondLst>
                      <p:childTnLst>
                        <p:par>
                          <p:cTn id="61" fill="hold">
                            <p:stCondLst>
                              <p:cond delay="0"/>
                            </p:stCondLst>
                            <p:childTnLst>
                              <p:par>
                                <p:cTn id="35" presetID="10" presetClass="exit" presetSubtype="0" fill="hold" grpId="0" nodeType="clickEffect">
                                  <p:stCondLst>
                                    <p:cond delay="0"/>
                                  </p:stCondLst>
                                  <p:childTnLst>
                                    <p:animEffect transition="out" filter="fade">
                                      <p:cBhvr>
                                        <p:cTn id="33" dur="600"/>
                                        <p:tgtEl>
                                          <p:spTgt spid="16"/>
                                        </p:tgtEl>
                                      </p:cBhvr>
                                    </p:animEffect>
                                    <p:set>
                                      <p:cBhvr>
                                        <p:cTn id="34" dur="1" fill="hold">
                                          <p:stCondLst>
                                            <p:cond delay="599"/>
                                          </p:stCondLst>
                                        </p:cTn>
                                        <p:tgtEl>
                                          <p:spTgt spid="16"/>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22" presetClass="entr" presetSubtype="8"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left)">
                                      <p:cBhvr>
                                        <p:cTn id="43" dur="1600"/>
                                        <p:tgtEl>
                                          <p:spTgt spid="21"/>
                                        </p:tgtEl>
                                      </p:cBhvr>
                                    </p:animEffect>
                                  </p:childTnLst>
                                </p:cTn>
                              </p:par>
                              <p:par>
                                <p:cTn id="47" presetID="10" presetClass="exit" presetSubtype="0" fill="hold" grpId="0" nodeType="withEffect">
                                  <p:stCondLst>
                                    <p:cond delay="0"/>
                                  </p:stCondLst>
                                  <p:childTnLst>
                                    <p:animEffect transition="out" filter="fade">
                                      <p:cBhvr>
                                        <p:cTn id="45" dur="600"/>
                                        <p:tgtEl>
                                          <p:spTgt spid="24"/>
                                        </p:tgtEl>
                                      </p:cBhvr>
                                    </p:animEffect>
                                    <p:set>
                                      <p:cBhvr>
                                        <p:cTn id="46" dur="1" fill="hold">
                                          <p:stCondLst>
                                            <p:cond delay="599"/>
                                          </p:stCondLst>
                                        </p:cTn>
                                        <p:tgtEl>
                                          <p:spTgt spid="24"/>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48" dur="600"/>
                                        <p:tgtEl>
                                          <p:spTgt spid="25"/>
                                        </p:tgtEl>
                                      </p:cBhvr>
                                    </p:animEffect>
                                    <p:set>
                                      <p:cBhvr>
                                        <p:cTn id="49" dur="1" fill="hold">
                                          <p:stCondLst>
                                            <p:cond delay="599"/>
                                          </p:stCondLst>
                                        </p:cTn>
                                        <p:tgtEl>
                                          <p:spTgt spid="25"/>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1" dur="600"/>
                                        <p:tgtEl>
                                          <p:spTgt spid="26"/>
                                        </p:tgtEl>
                                      </p:cBhvr>
                                    </p:animEffect>
                                    <p:set>
                                      <p:cBhvr>
                                        <p:cTn id="52" dur="1" fill="hold">
                                          <p:stCondLst>
                                            <p:cond delay="599"/>
                                          </p:stCondLst>
                                        </p:cTn>
                                        <p:tgtEl>
                                          <p:spTgt spid="26"/>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30"/>
                                        </p:tgtEl>
                                      </p:cBhvr>
                                    </p:animEffect>
                                    <p:set>
                                      <p:cBhvr>
                                        <p:cTn id="55" dur="1" fill="hold">
                                          <p:stCondLst>
                                            <p:cond delay="599"/>
                                          </p:stCondLst>
                                        </p:cTn>
                                        <p:tgtEl>
                                          <p:spTgt spid="30"/>
                                        </p:tgtEl>
                                        <p:attrNameLst>
                                          <p:attrName>style.visibility</p:attrName>
                                        </p:attrNameLst>
                                      </p:cBhvr>
                                      <p:to>
                                        <p:strVal val="hidden"/>
                                      </p:to>
                                    </p:set>
                                  </p:childTnLst>
                                </p:cTn>
                              </p:par>
                              <p:par>
                                <p:cTn id="59"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600"/>
                                        <p:tgtEl>
                                          <p:spTgt spid="31"/>
                                        </p:tgtEl>
                                      </p:cBhvr>
                                    </p:animEffect>
                                  </p:childTnLst>
                                </p:cTn>
                              </p:par>
                            </p:childTnLst>
                          </p:cTn>
                        </p:par>
                      </p:childTnLst>
                    </p:cTn>
                  </p:par>
                  <p:par>
                    <p:cTn id="77" fill="hold">
                      <p:stCondLst>
                        <p:cond delay="indefinite"/>
                      </p:stCondLst>
                      <p:childTnLst>
                        <p:par>
                          <p:cTn id="78" fill="hold">
                            <p:stCondLst>
                              <p:cond delay="0"/>
                            </p:stCondLst>
                            <p:childTnLst>
                              <p:par>
                                <p:cTn id="64" presetID="10" presetClass="exit" presetSubtype="0" fill="hold" grpId="0" nodeType="clickEffect">
                                  <p:stCondLst>
                                    <p:cond delay="0"/>
                                  </p:stCondLst>
                                  <p:childTnLst>
                                    <p:animEffect transition="out" filter="fade">
                                      <p:cBhvr>
                                        <p:cTn id="62" dur="600"/>
                                        <p:tgtEl>
                                          <p:spTgt spid="20"/>
                                        </p:tgtEl>
                                      </p:cBhvr>
                                    </p:animEffect>
                                    <p:set>
                                      <p:cBhvr>
                                        <p:cTn id="63" dur="1" fill="hold">
                                          <p:stCondLst>
                                            <p:cond delay="599"/>
                                          </p:stCondLst>
                                        </p:cTn>
                                        <p:tgtEl>
                                          <p:spTgt spid="20"/>
                                        </p:tgtEl>
                                        <p:attrNameLst>
                                          <p:attrName>style.visibility</p:attrName>
                                        </p:attrNameLst>
                                      </p:cBhvr>
                                      <p:to>
                                        <p:strVal val="hidden"/>
                                      </p:to>
                                    </p:set>
                                  </p:childTnLst>
                                </p:cTn>
                              </p:par>
                              <p:par>
                                <p:cTn id="67"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600"/>
                                        <p:tgtEl>
                                          <p:spTgt spid="22"/>
                                        </p:tgtEl>
                                      </p:cBhvr>
                                    </p:animEffect>
                                  </p:childTnLst>
                                </p:cTn>
                              </p:par>
                              <p:par>
                                <p:cTn id="70" presetID="10" presetClass="exit" presetSubtype="0" fill="hold" grpId="0" nodeType="withEffect">
                                  <p:stCondLst>
                                    <p:cond delay="0"/>
                                  </p:stCondLst>
                                  <p:childTnLst>
                                    <p:animEffect transition="out" filter="fade">
                                      <p:cBhvr>
                                        <p:cTn id="68" dur="600"/>
                                        <p:tgtEl>
                                          <p:spTgt spid="27"/>
                                        </p:tgtEl>
                                      </p:cBhvr>
                                    </p:animEffect>
                                    <p:set>
                                      <p:cBhvr>
                                        <p:cTn id="69" dur="1" fill="hold">
                                          <p:stCondLst>
                                            <p:cond delay="599"/>
                                          </p:stCondLst>
                                        </p:cTn>
                                        <p:tgtEl>
                                          <p:spTgt spid="27"/>
                                        </p:tgtEl>
                                        <p:attrNameLst>
                                          <p:attrName>style.visibility</p:attrName>
                                        </p:attrNameLst>
                                      </p:cBhvr>
                                      <p:to>
                                        <p:strVal val="hidden"/>
                                      </p:to>
                                    </p:set>
                                  </p:childTnLst>
                                </p:cTn>
                              </p:par>
                              <p:par>
                                <p:cTn id="73" presetID="10" presetClass="exit" presetSubtype="0" fill="hold" grpId="0" nodeType="withEffect">
                                  <p:stCondLst>
                                    <p:cond delay="0"/>
                                  </p:stCondLst>
                                  <p:childTnLst>
                                    <p:animEffect transition="out" filter="fade">
                                      <p:cBhvr>
                                        <p:cTn id="71" dur="600"/>
                                        <p:tgtEl>
                                          <p:spTgt spid="28"/>
                                        </p:tgtEl>
                                      </p:cBhvr>
                                    </p:animEffect>
                                    <p:set>
                                      <p:cBhvr>
                                        <p:cTn id="72" dur="1" fill="hold">
                                          <p:stCondLst>
                                            <p:cond delay="599"/>
                                          </p:stCondLst>
                                        </p:cTn>
                                        <p:tgtEl>
                                          <p:spTgt spid="28"/>
                                        </p:tgtEl>
                                        <p:attrNameLst>
                                          <p:attrName>style.visibility</p:attrName>
                                        </p:attrNameLst>
                                      </p:cBhvr>
                                      <p:to>
                                        <p:strVal val="hidden"/>
                                      </p:to>
                                    </p:set>
                                  </p:childTnLst>
                                </p:cTn>
                              </p:par>
                              <p:par>
                                <p:cTn id="76" presetID="10" presetClass="exit" presetSubtype="0" fill="hold" grpId="0" nodeType="withEffect">
                                  <p:stCondLst>
                                    <p:cond delay="0"/>
                                  </p:stCondLst>
                                  <p:childTnLst>
                                    <p:animEffect transition="out" filter="fade">
                                      <p:cBhvr>
                                        <p:cTn id="74" dur="600"/>
                                        <p:tgtEl>
                                          <p:spTgt spid="31"/>
                                        </p:tgtEl>
                                      </p:cBhvr>
                                    </p:animEffect>
                                    <p:set>
                                      <p:cBhvr>
                                        <p:cTn id="75" dur="1" fill="hold">
                                          <p:stCondLst>
                                            <p:cond delay="599"/>
                                          </p:stCondLst>
                                        </p:cTn>
                                        <p:tgtEl>
                                          <p:spTgt spid="31"/>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1" presetID="10" presetClass="entr" presetSubtype="0"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600"/>
                                        <p:tgtEl>
                                          <p:spTgt spid="18"/>
                                        </p:tgtEl>
                                      </p:cBhvr>
                                    </p:animEffect>
                                  </p:childTnLst>
                                </p:cTn>
                              </p:par>
                              <p:par>
                                <p:cTn id="84" presetID="10" presetClass="entr" presetSubtype="0" fill="hold" grpId="0" nodeType="with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terms at the forts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 صالحه على الصفراء والبيضاء والحلقة والكراع، وعلى نصف الرقيق، وعلى حائط من كل قرية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…made terms with him on the gold and the silver, the armour and the horses, half of the slaves, and a walled garden from every village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 the last man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ودعاهم خالد إلى الإسلام فأسلموا عن آخرهم ورجعوا إلى الحق</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Khālid called them to Islam, and they became Muslims to the last of them and returned to the truth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man who opened the gate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Banū al-Najjār, of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house of Umm Sulaym ؓ</a:t>
            </a:r>
          </a:p>
        </p:txBody>
      </p:sp>
      <p:sp>
        <p:nvSpPr>
          <p:cNvPr id="6" name="person: al-Naḍr"/>
          <p:cNvSpPr/>
          <p:nvPr/>
        </p:nvSpPr>
        <p:spPr>
          <a:xfrm>
            <a:off x="1581912"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al-Naḍr</a:t>
            </a:r>
          </a:p>
        </p:txBody>
      </p:sp>
      <p:sp>
        <p:nvSpPr>
          <p:cNvPr id="7" name="person: Milḥān"/>
          <p:cNvSpPr/>
          <p:nvPr/>
        </p:nvSpPr>
        <p:spPr>
          <a:xfrm>
            <a:off x="8001000"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Milḥān</a:t>
            </a:r>
          </a:p>
        </p:txBody>
      </p:sp>
      <p:sp>
        <p:nvSpPr>
          <p:cNvPr id="8" name="person: Anas b. al-Naḍr ؓ"/>
          <p:cNvSpPr/>
          <p:nvPr/>
        </p:nvSpPr>
        <p:spPr>
          <a:xfrm>
            <a:off x="566928"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Anas b. al-Naḍr ؓ</a:t>
            </a:r>
          </a:p>
        </p:txBody>
      </p:sp>
      <p:sp>
        <p:nvSpPr>
          <p:cNvPr id="9" name="person: Mālik"/>
          <p:cNvSpPr/>
          <p:nvPr/>
        </p:nvSpPr>
        <p:spPr>
          <a:xfrm>
            <a:off x="2450591"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Mālik</a:t>
            </a:r>
          </a:p>
        </p:txBody>
      </p:sp>
      <p:sp>
        <p:nvSpPr>
          <p:cNvPr id="10" name="person: Umm Sulaym ؓ"/>
          <p:cNvSpPr/>
          <p:nvPr/>
        </p:nvSpPr>
        <p:spPr>
          <a:xfrm>
            <a:off x="4334256" y="2697480"/>
            <a:ext cx="1700784" cy="713232"/>
          </a:xfrm>
          <a:prstGeom prst="rect">
            <a:avLst/>
          </a:prstGeom>
          <a:solidFill>
            <a:srgbClr val="FAF7F0"/>
          </a:solidFill>
          <a:ln w="38100">
            <a:solidFill>
              <a:srgbClr val="C49A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Umm Sulaym ؓ</a:t>
            </a:r>
          </a:p>
        </p:txBody>
      </p:sp>
      <p:sp>
        <p:nvSpPr>
          <p:cNvPr id="11" name="person: Abū Ṭalḥa ؓ"/>
          <p:cNvSpPr/>
          <p:nvPr/>
        </p:nvSpPr>
        <p:spPr>
          <a:xfrm>
            <a:off x="6217920"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Abū Ṭalḥa ؓ</a:t>
            </a:r>
          </a:p>
        </p:txBody>
      </p:sp>
      <p:sp>
        <p:nvSpPr>
          <p:cNvPr id="12" name="person: Umm Ḥarām ؓ"/>
          <p:cNvSpPr/>
          <p:nvPr/>
        </p:nvSpPr>
        <p:spPr>
          <a:xfrm>
            <a:off x="8101583"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Umm Ḥarām ؓ</a:t>
            </a:r>
          </a:p>
        </p:txBody>
      </p:sp>
      <p:sp>
        <p:nvSpPr>
          <p:cNvPr id="13" name="person: Ḥarām ؓ"/>
          <p:cNvSpPr/>
          <p:nvPr/>
        </p:nvSpPr>
        <p:spPr>
          <a:xfrm>
            <a:off x="10012680" y="2697480"/>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Ḥarām ؓ</a:t>
            </a:r>
          </a:p>
        </p:txBody>
      </p:sp>
      <p:sp>
        <p:nvSpPr>
          <p:cNvPr id="14" name="person: al-Barāʾ ؓ"/>
          <p:cNvSpPr/>
          <p:nvPr/>
        </p:nvSpPr>
        <p:spPr>
          <a:xfrm>
            <a:off x="1344167" y="4709160"/>
            <a:ext cx="1700784"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al-Barāʾ ؓ</a:t>
            </a:r>
          </a:p>
        </p:txBody>
      </p:sp>
      <p:sp>
        <p:nvSpPr>
          <p:cNvPr id="15" name="person: Anas ؓ"/>
          <p:cNvSpPr/>
          <p:nvPr/>
        </p:nvSpPr>
        <p:spPr>
          <a:xfrm>
            <a:off x="3392423" y="470916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Anas ؓ</a:t>
            </a:r>
          </a:p>
        </p:txBody>
      </p:sp>
      <p:sp>
        <p:nvSpPr>
          <p:cNvPr id="16" name="person: a small son"/>
          <p:cNvSpPr/>
          <p:nvPr/>
        </p:nvSpPr>
        <p:spPr>
          <a:xfrm>
            <a:off x="5276088" y="470916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a small son</a:t>
            </a:r>
          </a:p>
        </p:txBody>
      </p:sp>
      <p:cxnSp>
        <p:nvCxnSpPr>
          <p:cNvPr id="17" name="child: al-Naḍr - Anas b. al-Naḍr ؓ"/>
          <p:cNvCxnSpPr>
            <a:stCxn id="6" idx="2"/>
            <a:endCxn id="8" idx="0"/>
          </p:cNvCxnSpPr>
          <p:nvPr/>
        </p:nvCxnSpPr>
        <p:spPr>
          <a:xfrm flipH="1">
            <a:off x="1417320" y="2011680"/>
            <a:ext cx="941832"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8" name="child: al-Naḍr - Mālik"/>
          <p:cNvCxnSpPr>
            <a:stCxn id="6" idx="2"/>
            <a:endCxn id="9" idx="0"/>
          </p:cNvCxnSpPr>
          <p:nvPr/>
        </p:nvCxnSpPr>
        <p:spPr>
          <a:xfrm>
            <a:off x="2359152" y="2011680"/>
            <a:ext cx="941831"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9" name="child: Milḥān - Umm Sulaym ؓ"/>
          <p:cNvCxnSpPr>
            <a:stCxn id="7" idx="2"/>
            <a:endCxn id="10" idx="0"/>
          </p:cNvCxnSpPr>
          <p:nvPr/>
        </p:nvCxnSpPr>
        <p:spPr>
          <a:xfrm flipH="1">
            <a:off x="5184648" y="2011680"/>
            <a:ext cx="3593592"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0" name="child: Milḥān - Umm Ḥarām ؓ"/>
          <p:cNvCxnSpPr>
            <a:stCxn id="7" idx="2"/>
            <a:endCxn id="12" idx="0"/>
          </p:cNvCxnSpPr>
          <p:nvPr/>
        </p:nvCxnSpPr>
        <p:spPr>
          <a:xfrm>
            <a:off x="8778240" y="2011680"/>
            <a:ext cx="173735"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1" name="child: Milḥān - Ḥarām ؓ"/>
          <p:cNvCxnSpPr>
            <a:stCxn id="7" idx="2"/>
            <a:endCxn id="13" idx="0"/>
          </p:cNvCxnSpPr>
          <p:nvPr/>
        </p:nvCxnSpPr>
        <p:spPr>
          <a:xfrm>
            <a:off x="8778240" y="2011680"/>
            <a:ext cx="2011680"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2" name="marriage: Mālik - Umm Sulaym ؓ"/>
          <p:cNvCxnSpPr>
            <a:stCxn id="9" idx="3"/>
            <a:endCxn id="10" idx="1"/>
          </p:cNvCxnSpPr>
          <p:nvPr/>
        </p:nvCxnSpPr>
        <p:spPr>
          <a:xfrm>
            <a:off x="4151375" y="3054096"/>
            <a:ext cx="182881"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3" name="marriage: Umm Sulaym ؓ - Abū Ṭalḥa ؓ"/>
          <p:cNvCxnSpPr>
            <a:stCxn id="10" idx="3"/>
            <a:endCxn id="11" idx="1"/>
          </p:cNvCxnSpPr>
          <p:nvPr/>
        </p:nvCxnSpPr>
        <p:spPr>
          <a:xfrm>
            <a:off x="6035040" y="3054096"/>
            <a:ext cx="182880"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4" name="child: Mālik - al-Barāʾ ؓ"/>
          <p:cNvCxnSpPr>
            <a:stCxn id="9" idx="2"/>
            <a:endCxn id="14" idx="0"/>
          </p:cNvCxnSpPr>
          <p:nvPr/>
        </p:nvCxnSpPr>
        <p:spPr>
          <a:xfrm flipH="1">
            <a:off x="2194559" y="3410712"/>
            <a:ext cx="1106424"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5" name="child: Mālik - Anas ؓ"/>
          <p:cNvCxnSpPr>
            <a:stCxn id="9" idx="2"/>
            <a:endCxn id="15" idx="0"/>
          </p:cNvCxnSpPr>
          <p:nvPr/>
        </p:nvCxnSpPr>
        <p:spPr>
          <a:xfrm>
            <a:off x="3300983"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6" name="child: Umm Sulaym ؓ - Anas ؓ"/>
          <p:cNvCxnSpPr>
            <a:stCxn id="10" idx="2"/>
            <a:endCxn id="15" idx="0"/>
          </p:cNvCxnSpPr>
          <p:nvPr/>
        </p:nvCxnSpPr>
        <p:spPr>
          <a:xfrm flipH="1">
            <a:off x="4242815" y="3410712"/>
            <a:ext cx="941833"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7" name="child: Umm Sulaym ؓ - a small son"/>
          <p:cNvCxnSpPr>
            <a:stCxn id="10" idx="2"/>
            <a:endCxn id="16" idx="0"/>
          </p:cNvCxnSpPr>
          <p:nvPr/>
        </p:nvCxnSpPr>
        <p:spPr>
          <a:xfrm>
            <a:off x="5184648"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8" name="child: Abū Ṭalḥa ؓ - a small son"/>
          <p:cNvCxnSpPr>
            <a:stCxn id="11" idx="2"/>
            <a:endCxn id="16" idx="0"/>
          </p:cNvCxnSpPr>
          <p:nvPr/>
        </p:nvCxnSpPr>
        <p:spPr>
          <a:xfrm flipH="1">
            <a:off x="6126480"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9" name="legend"/>
          <p:cNvCxnSpPr/>
          <p:nvPr/>
        </p:nvCxnSpPr>
        <p:spPr>
          <a:xfrm>
            <a:off x="8138160" y="6016752"/>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650224" y="5806440"/>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pic>
        <p:nvPicPr>
          <p:cNvPr id="6" name="map" descr="s05-02-tustar-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12 AH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Tustar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years later — a war not yet reached</a:t>
            </a:r>
          </a:p>
        </p:txBody>
      </p:sp>
      <p:pic>
        <p:nvPicPr>
          <p:cNvPr id="13" name="map arrow r_0030" descr="s05-02-tustar-r1-2-r_0030.png"/>
          <p:cNvPicPr>
            <a:picLocks noChangeAspect="1"/>
          </p:cNvPicPr>
          <p:nvPr/>
        </p:nvPicPr>
        <p:blipFill>
          <a:blip r:embed="rId3"/>
          <a:stretch>
            <a:fillRect/>
          </a:stretch>
        </p:blipFill>
        <p:spPr>
          <a:xfrm>
            <a:off x="4957235" y="2162585"/>
            <a:ext cx="765985" cy="2164916"/>
          </a:xfrm>
          <a:prstGeom prst="rect">
            <a:avLst/>
          </a:prstGeom>
        </p:spPr>
      </p:pic>
      <p:pic>
        <p:nvPicPr>
          <p:cNvPr id="14" name="map settlement Tustar" descr="s05-02-tustar-r1-2-s_0031.png"/>
          <p:cNvPicPr>
            <a:picLocks noChangeAspect="1"/>
          </p:cNvPicPr>
          <p:nvPr/>
        </p:nvPicPr>
        <p:blipFill>
          <a:blip r:embed="rId4"/>
          <a:stretch>
            <a:fillRect/>
          </a:stretch>
        </p:blipFill>
        <p:spPr>
          <a:xfrm>
            <a:off x="5489393" y="2090018"/>
            <a:ext cx="778080" cy="266079"/>
          </a:xfrm>
          <a:prstGeom prst="rect">
            <a:avLst/>
          </a:prstGeom>
        </p:spPr>
      </p:pic>
      <p:pic>
        <p:nvPicPr>
          <p:cNvPr id="15" name="map label years later" descr="s05-02-tustar-r1-2-l_0032.png"/>
          <p:cNvPicPr>
            <a:picLocks noChangeAspect="1"/>
          </p:cNvPicPr>
          <p:nvPr/>
        </p:nvPicPr>
        <p:blipFill>
          <a:blip r:embed="rId5"/>
          <a:stretch>
            <a:fillRect/>
          </a:stretch>
        </p:blipFill>
        <p:spPr>
          <a:xfrm>
            <a:off x="4949172" y="2283530"/>
            <a:ext cx="136667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men beside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 other son, and one of the four names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banner and the reciters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Zayd b. al-Khaṭṭāb ؓ at the line, and his vow of silence</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to the banner he held</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And after</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carried the Qurʾān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Quraysh — Badr, 2 AH · al-Yamāma,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ʿUtba b. Rabīʿa</a:t>
            </a:r>
          </a:p>
        </p:txBody>
      </p:sp>
      <p:sp>
        <p:nvSpPr>
          <p:cNvPr id="6" name="person: Suhayl b. ʿAmr ؓ"/>
          <p:cNvSpPr/>
          <p:nvPr/>
        </p:nvSpPr>
        <p:spPr>
          <a:xfrm>
            <a:off x="594359" y="1298448"/>
            <a:ext cx="228600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Suhayl b. ʿAmr ؓ</a:t>
            </a:r>
          </a:p>
        </p:txBody>
      </p:sp>
      <p:sp>
        <p:nvSpPr>
          <p:cNvPr id="7" name="person: Rabīʿa"/>
          <p:cNvSpPr/>
          <p:nvPr/>
        </p:nvSpPr>
        <p:spPr>
          <a:xfrm>
            <a:off x="4251960"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Rabīʿa</a:t>
            </a:r>
          </a:p>
        </p:txBody>
      </p:sp>
      <p:sp>
        <p:nvSpPr>
          <p:cNvPr id="8" name="person: ʿUtba b. Rabīʿa"/>
          <p:cNvSpPr/>
          <p:nvPr/>
        </p:nvSpPr>
        <p:spPr>
          <a:xfrm>
            <a:off x="2834639" y="2697480"/>
            <a:ext cx="21945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ʿUtba b. Rabīʿa</a:t>
            </a:r>
          </a:p>
        </p:txBody>
      </p:sp>
      <p:sp>
        <p:nvSpPr>
          <p:cNvPr id="9" name="person: Shayba"/>
          <p:cNvSpPr/>
          <p:nvPr/>
        </p:nvSpPr>
        <p:spPr>
          <a:xfrm>
            <a:off x="5257800" y="2697480"/>
            <a:ext cx="17373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Shayba</a:t>
            </a:r>
          </a:p>
        </p:txBody>
      </p:sp>
      <p:sp>
        <p:nvSpPr>
          <p:cNvPr id="10" name="person: Sahla ؓ"/>
          <p:cNvSpPr/>
          <p:nvPr/>
        </p:nvSpPr>
        <p:spPr>
          <a:xfrm>
            <a:off x="868680" y="4069080"/>
            <a:ext cx="17373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Sahla ؓ</a:t>
            </a:r>
          </a:p>
        </p:txBody>
      </p:sp>
      <p:sp>
        <p:nvSpPr>
          <p:cNvPr id="11" name="person: Abū Ḥudhayfa ؓ"/>
          <p:cNvSpPr/>
          <p:nvPr/>
        </p:nvSpPr>
        <p:spPr>
          <a:xfrm>
            <a:off x="2834639" y="4069080"/>
            <a:ext cx="21945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Abū Ḥudhayfa ؓ</a:t>
            </a:r>
          </a:p>
        </p:txBody>
      </p:sp>
      <p:sp>
        <p:nvSpPr>
          <p:cNvPr id="12" name="person: al-Walīd"/>
          <p:cNvSpPr/>
          <p:nvPr/>
        </p:nvSpPr>
        <p:spPr>
          <a:xfrm>
            <a:off x="5257800" y="4069080"/>
            <a:ext cx="17373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al-Walīd</a:t>
            </a:r>
          </a:p>
        </p:txBody>
      </p:sp>
      <p:sp>
        <p:nvSpPr>
          <p:cNvPr id="13" name="person: Hind ؓ"/>
          <p:cNvSpPr/>
          <p:nvPr/>
        </p:nvSpPr>
        <p:spPr>
          <a:xfrm>
            <a:off x="7360919" y="4069080"/>
            <a:ext cx="164592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Hind ؓ</a:t>
            </a:r>
          </a:p>
        </p:txBody>
      </p:sp>
      <p:sp>
        <p:nvSpPr>
          <p:cNvPr id="14" name="person: Abū Sufyān ؓ"/>
          <p:cNvSpPr/>
          <p:nvPr/>
        </p:nvSpPr>
        <p:spPr>
          <a:xfrm>
            <a:off x="9121140" y="4069080"/>
            <a:ext cx="233172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Abū Sufyān ؓ</a:t>
            </a:r>
          </a:p>
        </p:txBody>
      </p:sp>
      <p:sp>
        <p:nvSpPr>
          <p:cNvPr id="15" name="person: Sālim ؓ"/>
          <p:cNvSpPr/>
          <p:nvPr/>
        </p:nvSpPr>
        <p:spPr>
          <a:xfrm>
            <a:off x="3063239" y="5486400"/>
            <a:ext cx="17373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Sālim ؓ</a:t>
            </a:r>
          </a:p>
        </p:txBody>
      </p:sp>
      <p:sp>
        <p:nvSpPr>
          <p:cNvPr id="16" name="person: Muʿāwiya ؓ"/>
          <p:cNvSpPr/>
          <p:nvPr/>
        </p:nvSpPr>
        <p:spPr>
          <a:xfrm>
            <a:off x="8252459" y="5486400"/>
            <a:ext cx="19202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Muʿāwiya ؓ</a:t>
            </a:r>
          </a:p>
        </p:txBody>
      </p:sp>
      <p:cxnSp>
        <p:nvCxnSpPr>
          <p:cNvPr id="17" name="child: Rabīʿa - ʿUtba b. Rabīʿa"/>
          <p:cNvCxnSpPr>
            <a:stCxn id="7" idx="2"/>
            <a:endCxn id="8" idx="0"/>
          </p:cNvCxnSpPr>
          <p:nvPr/>
        </p:nvCxnSpPr>
        <p:spPr>
          <a:xfrm flipH="1">
            <a:off x="3931919" y="2011680"/>
            <a:ext cx="1097281"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8" name="child: Rabīʿa - Shayba"/>
          <p:cNvCxnSpPr>
            <a:stCxn id="7" idx="2"/>
            <a:endCxn id="9" idx="0"/>
          </p:cNvCxnSpPr>
          <p:nvPr/>
        </p:nvCxnSpPr>
        <p:spPr>
          <a:xfrm>
            <a:off x="5029200" y="2011680"/>
            <a:ext cx="1097280"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9" name="child: ʿUtba b. Rabīʿa - Abū Ḥudhayfa ؓ"/>
          <p:cNvCxnSpPr>
            <a:stCxn id="8" idx="2"/>
            <a:endCxn id="11" idx="0"/>
          </p:cNvCxnSpPr>
          <p:nvPr/>
        </p:nvCxnSpPr>
        <p:spPr>
          <a:xfrm>
            <a:off x="3931919" y="3410712"/>
            <a:ext cx="0"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0" name="child: ʿUtba b. Rabīʿa - al-Walīd"/>
          <p:cNvCxnSpPr>
            <a:stCxn id="8" idx="2"/>
            <a:endCxn id="12" idx="0"/>
          </p:cNvCxnSpPr>
          <p:nvPr/>
        </p:nvCxnSpPr>
        <p:spPr>
          <a:xfrm>
            <a:off x="3931919" y="3410712"/>
            <a:ext cx="2194561"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1" name="child: ʿUtba b. Rabīʿa - Hind ؓ"/>
          <p:cNvCxnSpPr>
            <a:stCxn id="8" idx="2"/>
            <a:endCxn id="13" idx="0"/>
          </p:cNvCxnSpPr>
          <p:nvPr/>
        </p:nvCxnSpPr>
        <p:spPr>
          <a:xfrm>
            <a:off x="3931919" y="3410712"/>
            <a:ext cx="4251960"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2" name="child: Suhayl b. ʿAmr ؓ - Sahla ؓ"/>
          <p:cNvCxnSpPr>
            <a:stCxn id="6" idx="2"/>
            <a:endCxn id="10" idx="0"/>
          </p:cNvCxnSpPr>
          <p:nvPr/>
        </p:nvCxnSpPr>
        <p:spPr>
          <a:xfrm>
            <a:off x="1737359" y="2011680"/>
            <a:ext cx="1" cy="20574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3" name="marriage: Sahla ؓ - Abū Ḥudhayfa ؓ"/>
          <p:cNvCxnSpPr>
            <a:stCxn id="10" idx="3"/>
            <a:endCxn id="11" idx="1"/>
          </p:cNvCxnSpPr>
          <p:nvPr/>
        </p:nvCxnSpPr>
        <p:spPr>
          <a:xfrm>
            <a:off x="2606040" y="4425696"/>
            <a:ext cx="228599"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4" name="marriage: Hind ؓ - Abū Sufyān ؓ"/>
          <p:cNvCxnSpPr>
            <a:stCxn id="13" idx="3"/>
            <a:endCxn id="14" idx="1"/>
          </p:cNvCxnSpPr>
          <p:nvPr/>
        </p:nvCxnSpPr>
        <p:spPr>
          <a:xfrm>
            <a:off x="9006839" y="4425696"/>
            <a:ext cx="114301"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5" name="child: Hind ؓ - Muʿāwiya ؓ"/>
          <p:cNvCxnSpPr>
            <a:stCxn id="13" idx="2"/>
            <a:endCxn id="16" idx="0"/>
          </p:cNvCxnSpPr>
          <p:nvPr/>
        </p:nvCxnSpPr>
        <p:spPr>
          <a:xfrm>
            <a:off x="8183879" y="4782312"/>
            <a:ext cx="1028700" cy="70408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6" name="child: Abū Sufyān ؓ - Muʿāwiya ؓ"/>
          <p:cNvCxnSpPr>
            <a:stCxn id="14" idx="2"/>
            <a:endCxn id="16" idx="0"/>
          </p:cNvCxnSpPr>
          <p:nvPr/>
        </p:nvCxnSpPr>
        <p:spPr>
          <a:xfrm flipH="1">
            <a:off x="9212579" y="4782312"/>
            <a:ext cx="1074421" cy="70408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7" name="freed: Abū Ḥudhayfa ؓ - Sālim ؓ"/>
          <p:cNvCxnSpPr>
            <a:stCxn id="11" idx="2"/>
            <a:endCxn id="15" idx="0"/>
          </p:cNvCxnSpPr>
          <p:nvPr/>
        </p:nvCxnSpPr>
        <p:spPr>
          <a:xfrm>
            <a:off x="3931919" y="4782312"/>
            <a:ext cx="0" cy="704088"/>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041646" y="4910328"/>
            <a:ext cx="1600200" cy="384048"/>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freed slave</a:t>
            </a:r>
          </a:p>
        </p:txBody>
      </p:sp>
      <p:sp>
        <p:nvSpPr>
          <p:cNvPr id="29" name="legend"/>
          <p:cNvSpPr/>
          <p:nvPr/>
        </p:nvSpPr>
        <p:spPr>
          <a:xfrm>
            <a:off x="7406640" y="1353312"/>
            <a:ext cx="384048" cy="310896"/>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18704" y="1298448"/>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killed at Badr, 2 AH</a:t>
            </a:r>
          </a:p>
        </p:txBody>
      </p:sp>
      <p:sp>
        <p:nvSpPr>
          <p:cNvPr id="31" name="legend"/>
          <p:cNvSpPr/>
          <p:nvPr/>
        </p:nvSpPr>
        <p:spPr>
          <a:xfrm>
            <a:off x="7406640" y="1792224"/>
            <a:ext cx="384048" cy="310896"/>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18704" y="1737360"/>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killed at al-Yamāma, 12 AH</a:t>
            </a:r>
          </a:p>
        </p:txBody>
      </p:sp>
      <p:cxnSp>
        <p:nvCxnSpPr>
          <p:cNvPr id="33" name="legend"/>
          <p:cNvCxnSpPr/>
          <p:nvPr/>
        </p:nvCxnSpPr>
        <p:spPr>
          <a:xfrm>
            <a:off x="7406640" y="2386584"/>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18704" y="2176272"/>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pic>
        <p:nvPicPr>
          <p:cNvPr id="6" name="map" descr="s05-03-salim-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Abū Ḥudhayfa's ؓ house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Iṣṭakhr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in Persia — where Sālim ؓ came from</a:t>
            </a:r>
          </a:p>
        </p:txBody>
      </p:sp>
      <p:pic>
        <p:nvPicPr>
          <p:cNvPr id="13" name="map settlement Iṣṭakhr, in Persia" descr="s05-03-salim-r1-2-s_0036.png"/>
          <p:cNvPicPr>
            <a:picLocks noChangeAspect="1"/>
          </p:cNvPicPr>
          <p:nvPr/>
        </p:nvPicPr>
        <p:blipFill>
          <a:blip r:embed="rId3"/>
          <a:stretch>
            <a:fillRect/>
          </a:stretch>
        </p:blipFill>
        <p:spPr>
          <a:xfrm>
            <a:off x="5707095" y="2198869"/>
            <a:ext cx="1318301" cy="415244"/>
          </a:xfrm>
          <a:prstGeom prst="rect">
            <a:avLst/>
          </a:prstGeom>
        </p:spPr>
      </p:pic>
      <p:pic>
        <p:nvPicPr>
          <p:cNvPr id="14" name="map label Sālim ؓ" descr="s05-03-salim-r1-2-l_0037.png"/>
          <p:cNvPicPr>
            <a:picLocks noChangeAspect="1"/>
          </p:cNvPicPr>
          <p:nvPr/>
        </p:nvPicPr>
        <p:blipFill>
          <a:blip r:embed="rId4"/>
          <a:stretch>
            <a:fillRect/>
          </a:stretch>
        </p:blipFill>
        <p:spPr>
          <a:xfrm>
            <a:off x="5884481" y="1827971"/>
            <a:ext cx="1007875" cy="3507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 p. 312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field</a:t>
            </a:r>
          </a:p>
        </p:txBody>
      </p:sp>
      <p:sp>
        <p:nvSpPr>
          <p:cNvPr id="6" name="card0"/>
          <p:cNvSpPr/>
          <p:nvPr/>
        </p:nvSpPr>
        <p:spPr>
          <a:xfrm>
            <a:off x="566928" y="1389888"/>
            <a:ext cx="5410047"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0047"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5044287"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the house</a:t>
            </a:r>
          </a:p>
        </p:txBody>
      </p:sp>
      <p:sp>
        <p:nvSpPr>
          <p:cNvPr id="9" name="TextBox 8"/>
          <p:cNvSpPr txBox="1"/>
          <p:nvPr/>
        </p:nvSpPr>
        <p:spPr>
          <a:xfrm>
            <a:off x="749808" y="2807208"/>
            <a:ext cx="5044287"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from Persia</a:t>
            </a:r>
          </a:p>
        </p:txBody>
      </p:sp>
      <p:sp>
        <p:nvSpPr>
          <p:cNvPr id="10" name="card1"/>
          <p:cNvSpPr/>
          <p:nvPr/>
        </p:nvSpPr>
        <p:spPr>
          <a:xfrm>
            <a:off x="6214719" y="1389888"/>
            <a:ext cx="5410047"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389888"/>
            <a:ext cx="5410047"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1700784"/>
            <a:ext cx="5044287"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6397599" y="2807208"/>
            <a:ext cx="5044287"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in Sālim's ؓ hands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the Qurʾān gathered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news reaches Medina</a:t>
            </a:r>
          </a:p>
        </p:txBody>
      </p:sp>
      <p:sp>
        <p:nvSpPr>
          <p:cNvPr id="6" name="card0"/>
          <p:cNvSpPr/>
          <p:nvPr/>
        </p:nvSpPr>
        <p:spPr>
          <a:xfrm>
            <a:off x="566928"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al-Yamāma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field counted, the dead buried</a:t>
            </a:r>
          </a:p>
        </p:txBody>
      </p:sp>
      <p:sp>
        <p:nvSpPr>
          <p:cNvPr id="10" name="card1"/>
          <p:cNvSpPr/>
          <p:nvPr/>
        </p:nvSpPr>
        <p:spPr>
          <a:xfrm>
            <a:off x="4332122"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news arrives — ʿUmar ؓ's own brother among the dead</a:t>
            </a:r>
          </a:p>
        </p:txBody>
      </p:sp>
      <p:sp>
        <p:nvSpPr>
          <p:cNvPr id="14" name="card2"/>
          <p:cNvSpPr/>
          <p:nvPr/>
        </p:nvSpPr>
        <p:spPr>
          <a:xfrm>
            <a:off x="8097316"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order that is why you can hold a muṣḥaf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words, at Medina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فيقال: إن الصّدّيق قال لهم: ويحكم، أينَ كانَ يذهبُ بقولكم؟ إن هذا الكلام لم يخرج من إلٍّ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that al-Ṣiddīq said to them: Woe to you — where were your minds being taken? This speech never came out of anything divine."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he sent for</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dead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reciters among them — and no number</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gather the Qurʾān</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man he sent for, as a boy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Thābit ؓ, as a boy</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428–429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it was gathered from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ʿAlī ؓ, on the collection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 between two boards."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p.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 him … then عثمان returned the صحف to حفصة."</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p. 157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1.png"/>
          <p:cNvPicPr>
            <a:picLocks noChangeAspect="1"/>
          </p:cNvPicPr>
          <p:nvPr/>
        </p:nvPicPr>
        <p:blipFill>
          <a:blip r:embed="rId2"/>
          <a:stretch>
            <a:fillRect/>
          </a:stretch>
        </p:blipFill>
        <p:spPr>
          <a:xfrm>
            <a:off x="1827481" y="1389888"/>
            <a:ext cx="8536733" cy="495604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 and its dead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east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fighting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ʿIkrima's ؓ road: Oman and Mahra (11→12 AH)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the man sent away</a:t>
            </a: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came into Abyan from Mahra'</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sent on from al-Yamāma: 'do not come back'</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how he got there — and who he was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pic>
        <p:nvPicPr>
          <p:cNvPr id="6" name="map" descr="s05-04-ikrima-flight-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Conquest, 8 AH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coast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ship, and a storm</a:t>
            </a:r>
          </a:p>
        </p:txBody>
      </p:sp>
      <p:pic>
        <p:nvPicPr>
          <p:cNvPr id="13" name="map arrow r_0038" descr="s05-04-ikrima-flight-r1-2-r_0038.png"/>
          <p:cNvPicPr>
            <a:picLocks noChangeAspect="1"/>
          </p:cNvPicPr>
          <p:nvPr/>
        </p:nvPicPr>
        <p:blipFill>
          <a:blip r:embed="rId3"/>
          <a:stretch>
            <a:fillRect/>
          </a:stretch>
        </p:blipFill>
        <p:spPr>
          <a:xfrm>
            <a:off x="3606681" y="3597800"/>
            <a:ext cx="822426" cy="778080"/>
          </a:xfrm>
          <a:prstGeom prst="rect">
            <a:avLst/>
          </a:prstGeom>
        </p:spPr>
      </p:pic>
      <p:pic>
        <p:nvPicPr>
          <p:cNvPr id="14" name="map army ʿIkrima" descr="s05-04-ikrima-flight-r1-2-a_0043.png"/>
          <p:cNvPicPr>
            <a:picLocks noChangeAspect="1"/>
          </p:cNvPicPr>
          <p:nvPr/>
        </p:nvPicPr>
        <p:blipFill>
          <a:blip r:embed="rId4"/>
          <a:stretch>
            <a:fillRect/>
          </a:stretch>
        </p:blipFill>
        <p:spPr>
          <a:xfrm>
            <a:off x="2768128" y="3791312"/>
            <a:ext cx="1233640" cy="52812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569 -0.0855 L 0.0326 -0.0181 L 0.0000 0.0000 L 0 0 E" pathEditMode="relative" rAng="0" ptsTypes="">
                                      <p:cBhvr>
                                        <p:cTn id="8" dur="1600" fill="hold"/>
                                        <p:tgtEl>
                                          <p:spTgt spid="1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لَئِنْ لَمْ يُنْجِ فِي الْبَحْرِ إِلَّا الْإِخْلَاصُ فَإِنَّهُ لَا يُنْجِي فِي الْبَرِّ غَيْرُهُ … أَنْ آتِيَ مُحَمَّدًا حَتَّى أَضَعَ يَدِي فِي يَدِهِ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 I will go to Muhammad and put my hand in his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Banū Makhzūm,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and Umm Ḥakīm ؓ</a:t>
            </a:r>
          </a:p>
        </p:txBody>
      </p:sp>
      <p:sp>
        <p:nvSpPr>
          <p:cNvPr id="6" name="person: Hishām b. al-Mughīra"/>
          <p:cNvSpPr/>
          <p:nvPr/>
        </p:nvSpPr>
        <p:spPr>
          <a:xfrm>
            <a:off x="4663440" y="1298448"/>
            <a:ext cx="2651760" cy="84124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Hishām b. al-Mughīra</a:t>
            </a:r>
          </a:p>
        </p:txBody>
      </p:sp>
      <p:sp>
        <p:nvSpPr>
          <p:cNvPr id="7" name="person: Abū Jahl"/>
          <p:cNvSpPr/>
          <p:nvPr/>
        </p:nvSpPr>
        <p:spPr>
          <a:xfrm>
            <a:off x="2651760" y="2697480"/>
            <a:ext cx="2377440" cy="841248"/>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Abū Jahl</a:t>
            </a:r>
          </a:p>
          <a:p>
            <a:pPr algn="ctr">
              <a:lnSpc>
                <a:spcPct val="100000"/>
              </a:lnSpc>
            </a:pPr>
            <a:r>
              <a:rPr sz="2400" b="1">
                <a:solidFill>
                  <a:srgbClr val="5A6862"/>
                </a:solidFill>
                <a:latin typeface="Georgia"/>
                <a:cs typeface="Georgia"/>
              </a:rPr>
              <a:t>killed at Badr</a:t>
            </a:r>
          </a:p>
        </p:txBody>
      </p:sp>
      <p:sp>
        <p:nvSpPr>
          <p:cNvPr id="8" name="person: al-Ḥārith b. Hishām ؓ"/>
          <p:cNvSpPr/>
          <p:nvPr/>
        </p:nvSpPr>
        <p:spPr>
          <a:xfrm>
            <a:off x="6949440" y="2697480"/>
            <a:ext cx="2377440" cy="84124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al-Ḥārith b. Hishām ؓ</a:t>
            </a:r>
          </a:p>
        </p:txBody>
      </p:sp>
      <p:sp>
        <p:nvSpPr>
          <p:cNvPr id="9" name="person: ʿIkrima ؓ"/>
          <p:cNvSpPr/>
          <p:nvPr/>
        </p:nvSpPr>
        <p:spPr>
          <a:xfrm>
            <a:off x="2651760" y="4709160"/>
            <a:ext cx="2377440" cy="84124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ʿIkrima ؓ</a:t>
            </a:r>
          </a:p>
        </p:txBody>
      </p:sp>
      <p:sp>
        <p:nvSpPr>
          <p:cNvPr id="10" name="person: Umm Ḥakīm ؓ"/>
          <p:cNvSpPr/>
          <p:nvPr/>
        </p:nvSpPr>
        <p:spPr>
          <a:xfrm>
            <a:off x="6949440" y="4709160"/>
            <a:ext cx="2377440" cy="84124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Umm Ḥakīm ؓ</a:t>
            </a:r>
          </a:p>
        </p:txBody>
      </p:sp>
      <p:cxnSp>
        <p:nvCxnSpPr>
          <p:cNvPr id="11" name="child: Hishām b. al-Mughīra - Abū Jahl"/>
          <p:cNvCxnSpPr>
            <a:stCxn id="6" idx="2"/>
            <a:endCxn id="7" idx="0"/>
          </p:cNvCxnSpPr>
          <p:nvPr/>
        </p:nvCxnSpPr>
        <p:spPr>
          <a:xfrm flipH="1">
            <a:off x="3840480" y="2139696"/>
            <a:ext cx="2148840" cy="557784"/>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2" name="child: Hishām b. al-Mughīra - al-Ḥārith b. Hishām ؓ"/>
          <p:cNvCxnSpPr>
            <a:stCxn id="6" idx="2"/>
            <a:endCxn id="8" idx="0"/>
          </p:cNvCxnSpPr>
          <p:nvPr/>
        </p:nvCxnSpPr>
        <p:spPr>
          <a:xfrm>
            <a:off x="5989320" y="2139696"/>
            <a:ext cx="2148840" cy="557784"/>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Abū Jahl - ʿIkrima ؓ"/>
          <p:cNvCxnSpPr>
            <a:stCxn id="7" idx="2"/>
            <a:endCxn id="9" idx="0"/>
          </p:cNvCxnSpPr>
          <p:nvPr/>
        </p:nvCxnSpPr>
        <p:spPr>
          <a:xfrm>
            <a:off x="3840480" y="3538728"/>
            <a:ext cx="0" cy="1170432"/>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al-Ḥārith b. Hishām ؓ - Umm Ḥakīm ؓ"/>
          <p:cNvCxnSpPr>
            <a:stCxn id="8" idx="2"/>
            <a:endCxn id="10" idx="0"/>
          </p:cNvCxnSpPr>
          <p:nvPr/>
        </p:nvCxnSpPr>
        <p:spPr>
          <a:xfrm>
            <a:off x="8138160" y="3538728"/>
            <a:ext cx="0" cy="1170432"/>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marriage: ʿIkrima ؓ - Umm Ḥakīm ؓ"/>
          <p:cNvCxnSpPr>
            <a:stCxn id="9" idx="3"/>
            <a:endCxn id="10" idx="1"/>
          </p:cNvCxnSpPr>
          <p:nvPr/>
        </p:nvCxnSpPr>
        <p:spPr>
          <a:xfrm>
            <a:off x="5029200" y="5129784"/>
            <a:ext cx="1920240"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16" name="legend"/>
          <p:cNvCxnSpPr/>
          <p:nvPr/>
        </p:nvCxnSpPr>
        <p:spPr>
          <a:xfrm>
            <a:off x="8138160" y="6245352"/>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50224" y="6035040"/>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pic>
        <p:nvPicPr>
          <p:cNvPr id="6" name="map" descr="s05-04-ikrima-flight-r2-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Umm Ḥakīm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wife, with the safe-conduct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she brings him back</a:t>
            </a:r>
          </a:p>
        </p:txBody>
      </p:sp>
      <p:pic>
        <p:nvPicPr>
          <p:cNvPr id="13" name="map arrow r_0039" descr="s05-04-ikrima-flight-r2-4-r_0039.png"/>
          <p:cNvPicPr>
            <a:picLocks noChangeAspect="1"/>
          </p:cNvPicPr>
          <p:nvPr/>
        </p:nvPicPr>
        <p:blipFill>
          <a:blip r:embed="rId3"/>
          <a:stretch>
            <a:fillRect/>
          </a:stretch>
        </p:blipFill>
        <p:spPr>
          <a:xfrm>
            <a:off x="3602650" y="3593769"/>
            <a:ext cx="810332" cy="713575"/>
          </a:xfrm>
          <a:prstGeom prst="rect">
            <a:avLst/>
          </a:prstGeom>
        </p:spPr>
      </p:pic>
      <p:pic>
        <p:nvPicPr>
          <p:cNvPr id="14" name="map arrow r_0040" descr="s05-04-ikrima-flight-r2-4-r_0040.png"/>
          <p:cNvPicPr>
            <a:picLocks noChangeAspect="1"/>
          </p:cNvPicPr>
          <p:nvPr/>
        </p:nvPicPr>
        <p:blipFill>
          <a:blip r:embed="rId4"/>
          <a:stretch>
            <a:fillRect/>
          </a:stretch>
        </p:blipFill>
        <p:spPr>
          <a:xfrm>
            <a:off x="3590555" y="3376068"/>
            <a:ext cx="826458" cy="935308"/>
          </a:xfrm>
          <a:prstGeom prst="rect">
            <a:avLst/>
          </a:prstGeom>
        </p:spPr>
      </p:pic>
      <p:pic>
        <p:nvPicPr>
          <p:cNvPr id="15" name="map army ʿIkrima" descr="s05-04-ikrima-flight-r1-2-a_0043.png"/>
          <p:cNvPicPr>
            <a:picLocks noChangeAspect="1"/>
          </p:cNvPicPr>
          <p:nvPr/>
        </p:nvPicPr>
        <p:blipFill>
          <a:blip r:embed="rId5"/>
          <a:stretch>
            <a:fillRect/>
          </a:stretch>
        </p:blipFill>
        <p:spPr>
          <a:xfrm>
            <a:off x="2768128" y="3791312"/>
            <a:ext cx="1233640" cy="528126"/>
          </a:xfrm>
          <a:prstGeom prst="rect">
            <a:avLst/>
          </a:prstGeom>
        </p:spPr>
      </p:pic>
      <p:pic>
        <p:nvPicPr>
          <p:cNvPr id="16" name="map army ʿIkrima ؓ" descr="s05-04-ikrima-flight-r2-4-a_0045.png"/>
          <p:cNvPicPr>
            <a:picLocks noChangeAspect="1"/>
          </p:cNvPicPr>
          <p:nvPr/>
        </p:nvPicPr>
        <p:blipFill>
          <a:blip r:embed="rId6"/>
          <a:stretch>
            <a:fillRect/>
          </a:stretch>
        </p:blipFill>
        <p:spPr>
          <a:xfrm>
            <a:off x="4034021" y="2952760"/>
            <a:ext cx="641009" cy="741796"/>
          </a:xfrm>
          <a:prstGeom prst="rect">
            <a:avLst/>
          </a:prstGeom>
        </p:spPr>
      </p:pic>
      <p:pic>
        <p:nvPicPr>
          <p:cNvPr id="17" name="map label Umm Ḥakīm ؓ" descr="s05-04-ikrima-flight-r2-4-l_0044.png"/>
          <p:cNvPicPr>
            <a:picLocks noChangeAspect="1"/>
          </p:cNvPicPr>
          <p:nvPr/>
        </p:nvPicPr>
        <p:blipFill>
          <a:blip r:embed="rId7"/>
          <a:stretch>
            <a:fillRect/>
          </a:stretch>
        </p:blipFill>
        <p:spPr>
          <a:xfrm>
            <a:off x="3453484" y="4117864"/>
            <a:ext cx="1576317"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7" fill="hold">
                      <p:stCondLst>
                        <p:cond delay="indefinite"/>
                      </p:stCondLst>
                      <p:childTnLst>
                        <p:par>
                          <p:cTn id="28"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22" presetClass="entr" presetSubtype="8"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1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3" presetID="0" presetClass="path" presetSubtype="0" fill="hold" grpId="0" nodeType="withEffect">
                                  <p:stCondLst>
                                    <p:cond delay="0"/>
                                  </p:stCondLst>
                                  <p:childTnLst>
                                    <p:animMotion origin="layout" path="M -0.0552 0.0910 L -0.0402 -0.0175 L 0.0018 0.0054 L 0 0 E" pathEditMode="relative" rAng="0" ptsTypes="">
                                      <p:cBhvr>
                                        <p:cTn id="22" dur="1600" fill="hold"/>
                                        <p:tgtEl>
                                          <p:spTgt spid="16"/>
                                        </p:tgtEl>
                                        <p:attrNameLst>
                                          <p:attrName>ppt_x</p:attrName>
                                          <p:attrName>ppt_y</p:attrName>
                                        </p:attrNameLst>
                                      </p:cBhvr>
                                    </p:animMotion>
                                  </p:childTnLst>
                                </p:cTn>
                              </p:par>
                              <p:par>
                                <p:cTn id="26" presetID="10" presetClass="exit" presetSubtype="0" fill="hold" grpId="0" nodeType="withEffect">
                                  <p:stCondLst>
                                    <p:cond delay="0"/>
                                  </p:stCondLst>
                                  <p:childTnLst>
                                    <p:animEffect transition="out" filter="fade">
                                      <p:cBhvr>
                                        <p:cTn id="24" dur="600"/>
                                        <p:tgtEl>
                                          <p:spTgt spid="17"/>
                                        </p:tgtEl>
                                      </p:cBhvr>
                                    </p:animEffect>
                                    <p:set>
                                      <p:cBhvr>
                                        <p:cTn id="25"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فاستأذنت رسول الله صلى الله عليه وسلم في طلب زوجها، فأذن لها وآمنه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2, p. 164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cloak</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فَلَمَّا رَآهُ وَثَبَ فَرَحًا بِهِ، وَرَمَى عَلَيْهِ رِدَاءَهُ حَتَّى بَايَعَهُ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2, p. 185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Oman asked for help</a:t>
            </a:r>
          </a:p>
        </p:txBody>
      </p:sp>
      <p:pic>
        <p:nvPicPr>
          <p:cNvPr id="6" name="map" descr="s05-05-oman-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Laqīṭ, 'the one with the crown'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Jayfar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asks Medina for help</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joins them from al-Yamāma</a:t>
            </a:r>
          </a:p>
        </p:txBody>
      </p:sp>
      <p:pic>
        <p:nvPicPr>
          <p:cNvPr id="16" name="map arrow r_0046" descr="s05-05-oman-r1-6-r_0046.png"/>
          <p:cNvPicPr>
            <a:picLocks noChangeAspect="1"/>
          </p:cNvPicPr>
          <p:nvPr/>
        </p:nvPicPr>
        <p:blipFill>
          <a:blip r:embed="rId3"/>
          <a:stretch>
            <a:fillRect/>
          </a:stretch>
        </p:blipFill>
        <p:spPr>
          <a:xfrm>
            <a:off x="1820725" y="2408507"/>
            <a:ext cx="4083913" cy="1104631"/>
          </a:xfrm>
          <a:prstGeom prst="rect">
            <a:avLst/>
          </a:prstGeom>
        </p:spPr>
      </p:pic>
      <p:pic>
        <p:nvPicPr>
          <p:cNvPr id="17" name="map arrow r_0047" descr="s05-05-oman-r1-6-r_0047.png"/>
          <p:cNvPicPr>
            <a:picLocks noChangeAspect="1"/>
          </p:cNvPicPr>
          <p:nvPr/>
        </p:nvPicPr>
        <p:blipFill>
          <a:blip r:embed="rId4"/>
          <a:stretch>
            <a:fillRect/>
          </a:stretch>
        </p:blipFill>
        <p:spPr>
          <a:xfrm>
            <a:off x="1816694" y="2037609"/>
            <a:ext cx="3370337" cy="1499719"/>
          </a:xfrm>
          <a:prstGeom prst="rect">
            <a:avLst/>
          </a:prstGeom>
        </p:spPr>
      </p:pic>
      <p:pic>
        <p:nvPicPr>
          <p:cNvPr id="18" name="map arrow r_0048" descr="s05-05-oman-r1-6-r_0048.png"/>
          <p:cNvPicPr>
            <a:picLocks noChangeAspect="1"/>
          </p:cNvPicPr>
          <p:nvPr/>
        </p:nvPicPr>
        <p:blipFill>
          <a:blip r:embed="rId5"/>
          <a:stretch>
            <a:fillRect/>
          </a:stretch>
        </p:blipFill>
        <p:spPr>
          <a:xfrm>
            <a:off x="2667341" y="3081768"/>
            <a:ext cx="2515658" cy="612788"/>
          </a:xfrm>
          <a:prstGeom prst="rect">
            <a:avLst/>
          </a:prstGeom>
        </p:spPr>
      </p:pic>
      <p:pic>
        <p:nvPicPr>
          <p:cNvPr id="19" name="map arrow r_0060" descr="s05-05-oman-r1-6-r_0060.png"/>
          <p:cNvPicPr>
            <a:picLocks noChangeAspect="1"/>
          </p:cNvPicPr>
          <p:nvPr/>
        </p:nvPicPr>
        <p:blipFill>
          <a:blip r:embed="rId6"/>
          <a:stretch>
            <a:fillRect/>
          </a:stretch>
        </p:blipFill>
        <p:spPr>
          <a:xfrm>
            <a:off x="5074149" y="3408320"/>
            <a:ext cx="1064316" cy="419276"/>
          </a:xfrm>
          <a:prstGeom prst="rect">
            <a:avLst/>
          </a:prstGeom>
        </p:spPr>
      </p:pic>
      <p:pic>
        <p:nvPicPr>
          <p:cNvPr id="20" name="map army Jayfar and ʿAbbād" descr="s05-05-oman-r1-6-a_0054.png"/>
          <p:cNvPicPr>
            <a:picLocks noChangeAspect="1"/>
          </p:cNvPicPr>
          <p:nvPr/>
        </p:nvPicPr>
        <p:blipFill>
          <a:blip r:embed="rId7"/>
          <a:stretch>
            <a:fillRect/>
          </a:stretch>
        </p:blipFill>
        <p:spPr>
          <a:xfrm>
            <a:off x="4417013" y="2646366"/>
            <a:ext cx="1757735" cy="479748"/>
          </a:xfrm>
          <a:prstGeom prst="rect">
            <a:avLst/>
          </a:prstGeom>
        </p:spPr>
      </p:pic>
      <p:pic>
        <p:nvPicPr>
          <p:cNvPr id="21" name="map army ʿIkrima ؓ" descr="s05-05-oman-r1-6-a_0058.png"/>
          <p:cNvPicPr>
            <a:picLocks noChangeAspect="1"/>
          </p:cNvPicPr>
          <p:nvPr/>
        </p:nvPicPr>
        <p:blipFill>
          <a:blip r:embed="rId8"/>
          <a:stretch>
            <a:fillRect/>
          </a:stretch>
        </p:blipFill>
        <p:spPr>
          <a:xfrm>
            <a:off x="4759691" y="3061610"/>
            <a:ext cx="608757" cy="753891"/>
          </a:xfrm>
          <a:prstGeom prst="rect">
            <a:avLst/>
          </a:prstGeom>
        </p:spPr>
      </p:pic>
      <p:pic>
        <p:nvPicPr>
          <p:cNvPr id="22" name="map label to the edges" descr="s05-05-oman-r1-6-l_0055.png"/>
          <p:cNvPicPr>
            <a:picLocks noChangeAspect="1"/>
          </p:cNvPicPr>
          <p:nvPr/>
        </p:nvPicPr>
        <p:blipFill>
          <a:blip r:embed="rId9"/>
          <a:stretch>
            <a:fillRect/>
          </a:stretch>
        </p:blipFill>
        <p:spPr>
          <a:xfrm>
            <a:off x="5525677" y="2751185"/>
            <a:ext cx="1390868" cy="302362"/>
          </a:xfrm>
          <a:prstGeom prst="rect">
            <a:avLst/>
          </a:prstGeom>
        </p:spPr>
      </p:pic>
      <p:pic>
        <p:nvPicPr>
          <p:cNvPr id="23" name="map label Jayfar asks for help" descr="s05-05-oman-r1-6-l_0056.png"/>
          <p:cNvPicPr>
            <a:picLocks noChangeAspect="1"/>
          </p:cNvPicPr>
          <p:nvPr/>
        </p:nvPicPr>
        <p:blipFill>
          <a:blip r:embed="rId10"/>
          <a:stretch>
            <a:fillRect/>
          </a:stretch>
        </p:blipFill>
        <p:spPr>
          <a:xfrm>
            <a:off x="2397230" y="2372223"/>
            <a:ext cx="2237484" cy="302362"/>
          </a:xfrm>
          <a:prstGeom prst="rect">
            <a:avLst/>
          </a:prstGeom>
        </p:spPr>
      </p:pic>
      <p:pic>
        <p:nvPicPr>
          <p:cNvPr id="24" name="map label from Medina" descr="s05-05-oman-r1-6-l_0057.png"/>
          <p:cNvPicPr>
            <a:picLocks noChangeAspect="1"/>
          </p:cNvPicPr>
          <p:nvPr/>
        </p:nvPicPr>
        <p:blipFill>
          <a:blip r:embed="rId11"/>
          <a:stretch>
            <a:fillRect/>
          </a:stretch>
        </p:blipFill>
        <p:spPr>
          <a:xfrm>
            <a:off x="2062615" y="1880380"/>
            <a:ext cx="1531971" cy="262047"/>
          </a:xfrm>
          <a:prstGeom prst="rect">
            <a:avLst/>
          </a:prstGeom>
        </p:spPr>
      </p:pic>
      <p:pic>
        <p:nvPicPr>
          <p:cNvPr id="25" name="map label Rijām" descr="s05-05-oman-r1-6-l_0059.png"/>
          <p:cNvPicPr>
            <a:picLocks noChangeAspect="1"/>
          </p:cNvPicPr>
          <p:nvPr/>
        </p:nvPicPr>
        <p:blipFill>
          <a:blip r:embed="rId12"/>
          <a:stretch>
            <a:fillRect/>
          </a:stretch>
        </p:blipFill>
        <p:spPr>
          <a:xfrm>
            <a:off x="4751628" y="3109988"/>
            <a:ext cx="753891" cy="302362"/>
          </a:xfrm>
          <a:prstGeom prst="rect">
            <a:avLst/>
          </a:prstGeom>
        </p:spPr>
      </p:pic>
      <p:pic>
        <p:nvPicPr>
          <p:cNvPr id="26" name="map label letters to his chiefs" descr="s05-05-oman-r1-6-l_0061.png"/>
          <p:cNvPicPr>
            <a:picLocks noChangeAspect="1"/>
          </p:cNvPicPr>
          <p:nvPr/>
        </p:nvPicPr>
        <p:blipFill>
          <a:blip r:embed="rId13"/>
          <a:stretch>
            <a:fillRect/>
          </a:stretch>
        </p:blipFill>
        <p:spPr>
          <a:xfrm>
            <a:off x="4763723" y="4420227"/>
            <a:ext cx="2160885"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fade">
                                      <p:cBhvr>
                                        <p:cTn id="4" dur="600"/>
                                        <p:tgtEl>
                                          <p:spTgt spid="2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600"/>
                                        <p:tgtEl>
                                          <p:spTgt spid="22"/>
                                        </p:tgtEl>
                                      </p:cBhvr>
                                    </p:animEffect>
                                  </p:childTnLst>
                                </p:cTn>
                              </p:par>
                            </p:childTnLst>
                          </p:cTn>
                        </p:par>
                      </p:childTnLst>
                    </p:cTn>
                  </p:par>
                  <p:par>
                    <p:cTn id="20" fill="hold">
                      <p:stCondLst>
                        <p:cond delay="indefinite"/>
                      </p:stCondLst>
                      <p:childTnLst>
                        <p:par>
                          <p:cTn id="21" fill="hold">
                            <p:stCondLst>
                              <p:cond delay="0"/>
                            </p:stCondLst>
                            <p:childTnLst>
                              <p:par>
                                <p:cTn id="13" presetID="22" presetClass="entr" presetSubtype="2"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right)">
                                      <p:cBhvr>
                                        <p:cTn id="12" dur="1600"/>
                                        <p:tgtEl>
                                          <p:spTgt spid="16"/>
                                        </p:tgtEl>
                                      </p:cBhvr>
                                    </p:animEffect>
                                  </p:childTnLst>
                                </p:cTn>
                              </p:par>
                              <p:par>
                                <p:cTn id="16" presetID="10" presetClass="exit" presetSubtype="0" fill="hold" grpId="0" nodeType="withEffect">
                                  <p:stCondLst>
                                    <p:cond delay="0"/>
                                  </p:stCondLst>
                                  <p:childTnLst>
                                    <p:animEffect transition="out" filter="fade">
                                      <p:cBhvr>
                                        <p:cTn id="14" dur="600"/>
                                        <p:tgtEl>
                                          <p:spTgt spid="22"/>
                                        </p:tgtEl>
                                      </p:cBhvr>
                                    </p:animEffect>
                                    <p:set>
                                      <p:cBhvr>
                                        <p:cTn id="15" dur="1" fill="hold">
                                          <p:stCondLst>
                                            <p:cond delay="599"/>
                                          </p:stCondLst>
                                        </p:cTn>
                                        <p:tgtEl>
                                          <p:spTgt spid="22"/>
                                        </p:tgtEl>
                                        <p:attrNameLst>
                                          <p:attrName>style.visibility</p:attrName>
                                        </p:attrNameLst>
                                      </p:cBhvr>
                                      <p:to>
                                        <p:strVal val="hidden"/>
                                      </p:to>
                                    </p:set>
                                  </p:childTnLst>
                                </p:cTn>
                              </p:par>
                              <p:par>
                                <p:cTn id="19" presetID="10" presetClass="entr" presetSubtype="0" fill="hold" grpId="0"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600"/>
                                        <p:tgtEl>
                                          <p:spTgt spid="23"/>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xit" presetSubtype="0" fill="hold" grpId="0" nodeType="clickEffect">
                                  <p:stCondLst>
                                    <p:cond delay="0"/>
                                  </p:stCondLst>
                                  <p:childTnLst>
                                    <p:animEffect transition="out" filter="fade">
                                      <p:cBhvr>
                                        <p:cTn id="22" dur="600"/>
                                        <p:tgtEl>
                                          <p:spTgt spid="16"/>
                                        </p:tgtEl>
                                      </p:cBhvr>
                                    </p:animEffect>
                                    <p:set>
                                      <p:cBhvr>
                                        <p:cTn id="23" dur="1" fill="hold">
                                          <p:stCondLst>
                                            <p:cond delay="599"/>
                                          </p:stCondLst>
                                        </p:cTn>
                                        <p:tgtEl>
                                          <p:spTgt spid="16"/>
                                        </p:tgtEl>
                                        <p:attrNameLst>
                                          <p:attrName>style.visibility</p:attrName>
                                        </p:attrNameLst>
                                      </p:cBhvr>
                                      <p:to>
                                        <p:strVal val="hidden"/>
                                      </p:to>
                                    </p:set>
                                  </p:childTnLst>
                                </p:cTn>
                              </p:par>
                              <p:par>
                                <p:cTn id="27" presetID="22" presetClass="entr" presetSubtype="8"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wipe(left)">
                                      <p:cBhvr>
                                        <p:cTn id="26" dur="1600"/>
                                        <p:tgtEl>
                                          <p:spTgt spid="17"/>
                                        </p:tgtEl>
                                      </p:cBhvr>
                                    </p:animEffect>
                                  </p:childTnLst>
                                </p:cTn>
                              </p:par>
                              <p:par>
                                <p:cTn id="30" presetID="10" presetClass="exit" presetSubtype="0" fill="hold" grpId="0" nodeType="withEffect">
                                  <p:stCondLst>
                                    <p:cond delay="0"/>
                                  </p:stCondLst>
                                  <p:childTnLst>
                                    <p:animEffect transition="out" filter="fade">
                                      <p:cBhvr>
                                        <p:cTn id="28" dur="600"/>
                                        <p:tgtEl>
                                          <p:spTgt spid="23"/>
                                        </p:tgtEl>
                                      </p:cBhvr>
                                    </p:animEffect>
                                    <p:set>
                                      <p:cBhvr>
                                        <p:cTn id="29" dur="1" fill="hold">
                                          <p:stCondLst>
                                            <p:cond delay="599"/>
                                          </p:stCondLst>
                                        </p:cTn>
                                        <p:tgtEl>
                                          <p:spTgt spid="23"/>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left)">
                                      <p:cBhvr>
                                        <p:cTn id="37" dur="1600"/>
                                        <p:tgtEl>
                                          <p:spTgt spid="18"/>
                                        </p:tgtEl>
                                      </p:cBhvr>
                                    </p:animEffect>
                                  </p:childTnLst>
                                </p:cTn>
                              </p:par>
                              <p:par>
                                <p:cTn id="40" presetID="1"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childTnLst>
                                </p:cTn>
                              </p:par>
                              <p:par>
                                <p:cTn id="42" presetID="0" presetClass="path" presetSubtype="0" fill="hold" grpId="0" nodeType="withEffect">
                                  <p:stCondLst>
                                    <p:cond delay="0"/>
                                  </p:stCondLst>
                                  <p:childTnLst>
                                    <p:animMotion origin="layout" path="M -0.1898 -0.0497 L -0.0794 0.0111 L 0.0067 -0.0028 L 0 0 E" pathEditMode="relative" rAng="0" ptsTypes="">
                                      <p:cBhvr>
                                        <p:cTn id="41" dur="1600" fill="hold"/>
                                        <p:tgtEl>
                                          <p:spTgt spid="21"/>
                                        </p:tgtEl>
                                        <p:attrNameLst>
                                          <p:attrName>ppt_x</p:attrName>
                                          <p:attrName>ppt_y</p:attrName>
                                        </p:attrNameLst>
                                      </p:cBhvr>
                                    </p:animMotion>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57" fill="hold">
                      <p:stCondLst>
                        <p:cond delay="indefinite"/>
                      </p:stCondLst>
                      <p:childTnLst>
                        <p:par>
                          <p:cTn id="58"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wipe(left)">
                                      <p:cBhvr>
                                        <p:cTn id="52" dur="1600"/>
                                        <p:tgtEl>
                                          <p:spTgt spid="19"/>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Oman asked for help</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فتغلَّب عليها وقهر جيفرًا وعبادًا وألجأهما إلى أطرافها، من نواحي الجبال والبحر، فبعثَ جيفر إلى الصديق فأخبره الخبر واستجاشه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prevailed over it, overpowered Jayfar and ʿAbbād and drove them to its edges, towards the mountains and the sea…"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Dabā: the relief from inside</a:t>
            </a:r>
          </a:p>
        </p:txBody>
      </p:sp>
      <p:pic>
        <p:nvPicPr>
          <p:cNvPr id="6" name="map" descr="s05-06-daba-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Dabā</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great market town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Ṣuḥār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lawful rulers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relief</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inside the region</a:t>
            </a:r>
          </a:p>
        </p:txBody>
      </p:sp>
      <p:pic>
        <p:nvPicPr>
          <p:cNvPr id="16" name="map arrow r_0062" descr="s05-06-daba-r1-5-r_0062.png"/>
          <p:cNvPicPr>
            <a:picLocks noChangeAspect="1"/>
          </p:cNvPicPr>
          <p:nvPr/>
        </p:nvPicPr>
        <p:blipFill>
          <a:blip r:embed="rId3"/>
          <a:stretch>
            <a:fillRect/>
          </a:stretch>
        </p:blipFill>
        <p:spPr>
          <a:xfrm>
            <a:off x="4388793" y="3742934"/>
            <a:ext cx="503937" cy="1241702"/>
          </a:xfrm>
          <a:prstGeom prst="rect">
            <a:avLst/>
          </a:prstGeom>
        </p:spPr>
      </p:pic>
      <p:pic>
        <p:nvPicPr>
          <p:cNvPr id="17" name="map arrow r_0070" descr="s05-06-daba-r1-5-r_0070.png"/>
          <p:cNvPicPr>
            <a:picLocks noChangeAspect="1"/>
          </p:cNvPicPr>
          <p:nvPr/>
        </p:nvPicPr>
        <p:blipFill>
          <a:blip r:embed="rId4"/>
          <a:stretch>
            <a:fillRect/>
          </a:stretch>
        </p:blipFill>
        <p:spPr>
          <a:xfrm>
            <a:off x="4046115" y="3186587"/>
            <a:ext cx="483780" cy="838552"/>
          </a:xfrm>
          <a:prstGeom prst="rect">
            <a:avLst/>
          </a:prstGeom>
        </p:spPr>
      </p:pic>
      <p:pic>
        <p:nvPicPr>
          <p:cNvPr id="18" name="map arrow r_0072" descr="s05-06-daba-r1-5-r_0072.png"/>
          <p:cNvPicPr>
            <a:picLocks noChangeAspect="1"/>
          </p:cNvPicPr>
          <p:nvPr/>
        </p:nvPicPr>
        <p:blipFill>
          <a:blip r:embed="rId5"/>
          <a:stretch>
            <a:fillRect/>
          </a:stretch>
        </p:blipFill>
        <p:spPr>
          <a:xfrm>
            <a:off x="3143058" y="3525233"/>
            <a:ext cx="1096568" cy="1128820"/>
          </a:xfrm>
          <a:prstGeom prst="rect">
            <a:avLst/>
          </a:prstGeom>
        </p:spPr>
      </p:pic>
      <p:pic>
        <p:nvPicPr>
          <p:cNvPr id="19" name="map arrow r_0074" descr="s05-06-daba-r1-5-r_0074.png"/>
          <p:cNvPicPr>
            <a:picLocks noChangeAspect="1"/>
          </p:cNvPicPr>
          <p:nvPr/>
        </p:nvPicPr>
        <p:blipFill>
          <a:blip r:embed="rId6"/>
          <a:stretch>
            <a:fillRect/>
          </a:stretch>
        </p:blipFill>
        <p:spPr>
          <a:xfrm>
            <a:off x="4376698" y="3355910"/>
            <a:ext cx="923214" cy="1128820"/>
          </a:xfrm>
          <a:prstGeom prst="rect">
            <a:avLst/>
          </a:prstGeom>
        </p:spPr>
      </p:pic>
      <p:pic>
        <p:nvPicPr>
          <p:cNvPr id="20" name="map battle the rebels broken" descr="s05-06-daba-r1-5-b_0076.png"/>
          <p:cNvPicPr>
            <a:picLocks noChangeAspect="1"/>
          </p:cNvPicPr>
          <p:nvPr/>
        </p:nvPicPr>
        <p:blipFill>
          <a:blip r:embed="rId7"/>
          <a:stretch>
            <a:fillRect/>
          </a:stretch>
        </p:blipFill>
        <p:spPr>
          <a:xfrm>
            <a:off x="2469797" y="3029358"/>
            <a:ext cx="1927058" cy="524095"/>
          </a:xfrm>
          <a:prstGeom prst="rect">
            <a:avLst/>
          </a:prstGeom>
        </p:spPr>
      </p:pic>
      <p:pic>
        <p:nvPicPr>
          <p:cNvPr id="21" name="map army the Muslims" descr="s05-06-daba-r1-5-a_0069.png"/>
          <p:cNvPicPr>
            <a:picLocks noChangeAspect="1"/>
          </p:cNvPicPr>
          <p:nvPr/>
        </p:nvPicPr>
        <p:blipFill>
          <a:blip r:embed="rId8"/>
          <a:stretch>
            <a:fillRect/>
          </a:stretch>
        </p:blipFill>
        <p:spPr>
          <a:xfrm>
            <a:off x="4308163" y="3363973"/>
            <a:ext cx="1362648" cy="503937"/>
          </a:xfrm>
          <a:prstGeom prst="rect">
            <a:avLst/>
          </a:prstGeom>
        </p:spPr>
      </p:pic>
      <p:pic>
        <p:nvPicPr>
          <p:cNvPr id="22" name="map label families behind" descr="s05-06-daba-r1-5-l_0067.png"/>
          <p:cNvPicPr>
            <a:picLocks noChangeAspect="1"/>
          </p:cNvPicPr>
          <p:nvPr/>
        </p:nvPicPr>
        <p:blipFill>
          <a:blip r:embed="rId9"/>
          <a:stretch>
            <a:fillRect/>
          </a:stretch>
        </p:blipFill>
        <p:spPr>
          <a:xfrm>
            <a:off x="3352697" y="1948916"/>
            <a:ext cx="1648884" cy="245921"/>
          </a:xfrm>
          <a:prstGeom prst="rect">
            <a:avLst/>
          </a:prstGeom>
        </p:spPr>
      </p:pic>
      <p:pic>
        <p:nvPicPr>
          <p:cNvPr id="23" name="map label the line gives way" descr="s05-06-daba-r1-5-l_0071.png"/>
          <p:cNvPicPr>
            <a:picLocks noChangeAspect="1"/>
          </p:cNvPicPr>
          <p:nvPr/>
        </p:nvPicPr>
        <p:blipFill>
          <a:blip r:embed="rId10"/>
          <a:stretch>
            <a:fillRect/>
          </a:stretch>
        </p:blipFill>
        <p:spPr>
          <a:xfrm>
            <a:off x="4372667" y="4093675"/>
            <a:ext cx="2015751" cy="302362"/>
          </a:xfrm>
          <a:prstGeom prst="rect">
            <a:avLst/>
          </a:prstGeom>
        </p:spPr>
      </p:pic>
      <p:pic>
        <p:nvPicPr>
          <p:cNvPr id="24" name="map label Banū Nājiya" descr="s05-06-daba-r1-5-l_0073.png"/>
          <p:cNvPicPr>
            <a:picLocks noChangeAspect="1"/>
          </p:cNvPicPr>
          <p:nvPr/>
        </p:nvPicPr>
        <p:blipFill>
          <a:blip r:embed="rId11"/>
          <a:stretch>
            <a:fillRect/>
          </a:stretch>
        </p:blipFill>
        <p:spPr>
          <a:xfrm>
            <a:off x="2598805" y="4645991"/>
            <a:ext cx="1427152" cy="302362"/>
          </a:xfrm>
          <a:prstGeom prst="rect">
            <a:avLst/>
          </a:prstGeom>
        </p:spPr>
      </p:pic>
      <p:pic>
        <p:nvPicPr>
          <p:cNvPr id="25" name="map label ʿAbd al-Qays" descr="s05-06-daba-r1-5-l_0075.png"/>
          <p:cNvPicPr>
            <a:picLocks noChangeAspect="1"/>
          </p:cNvPicPr>
          <p:nvPr/>
        </p:nvPicPr>
        <p:blipFill>
          <a:blip r:embed="rId12"/>
          <a:stretch>
            <a:fillRect/>
          </a:stretch>
        </p:blipFill>
        <p:spPr>
          <a:xfrm>
            <a:off x="4763723" y="4476668"/>
            <a:ext cx="1447309"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wipe(down)">
                                      <p:cBhvr>
                                        <p:cTn id="4" dur="1600"/>
                                        <p:tgtEl>
                                          <p:spTgt spid="16"/>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249 0.1632 L 0.0119 0.0779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14" presetID="22" presetClass="entr" presetSubtype="1"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up)">
                                      <p:cBhvr>
                                        <p:cTn id="13" dur="1600"/>
                                        <p:tgtEl>
                                          <p:spTgt spid="17"/>
                                        </p:tgtEl>
                                      </p:cBhvr>
                                    </p:animEffect>
                                  </p:childTnLst>
                                </p:cTn>
                              </p:par>
                              <p:par>
                                <p:cTn id="17" presetID="10" presetClass="exit" presetSubtype="0" fill="hold" grpId="0" nodeType="withEffect">
                                  <p:stCondLst>
                                    <p:cond delay="0"/>
                                  </p:stCondLst>
                                  <p:childTnLst>
                                    <p:animEffect transition="out" filter="fade">
                                      <p:cBhvr>
                                        <p:cTn id="15" dur="600"/>
                                        <p:tgtEl>
                                          <p:spTgt spid="22"/>
                                        </p:tgtEl>
                                      </p:cBhvr>
                                    </p:animEffect>
                                    <p:set>
                                      <p:cBhvr>
                                        <p:cTn id="16" dur="1" fill="hold">
                                          <p:stCondLst>
                                            <p:cond delay="599"/>
                                          </p:stCondLst>
                                        </p:cTn>
                                        <p:tgtEl>
                                          <p:spTgt spid="22"/>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600"/>
                                        <p:tgtEl>
                                          <p:spTgt spid="23"/>
                                        </p:tgtEl>
                                      </p:cBhvr>
                                    </p:animEffect>
                                  </p:childTnLst>
                                </p:cTn>
                              </p:par>
                            </p:childTnLst>
                          </p:cTn>
                        </p:par>
                      </p:childTnLst>
                    </p:cTn>
                  </p:par>
                  <p:par>
                    <p:cTn id="38" fill="hold">
                      <p:stCondLst>
                        <p:cond delay="indefinite"/>
                      </p:stCondLst>
                      <p:childTnLst>
                        <p:par>
                          <p:cTn id="39" fill="hold">
                            <p:stCondLst>
                              <p:cond delay="0"/>
                            </p:stCondLst>
                            <p:childTnLst>
                              <p:par>
                                <p:cTn id="25" presetID="22" presetClass="entr" presetSubtype="4"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wipe(down)">
                                      <p:cBhvr>
                                        <p:cTn id="24" dur="1600"/>
                                        <p:tgtEl>
                                          <p:spTgt spid="18"/>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600"/>
                                        <p:tgtEl>
                                          <p:spTgt spid="19"/>
                                        </p:tgtEl>
                                      </p:cBhvr>
                                    </p:animEffect>
                                  </p:childTnLst>
                                </p:cTn>
                              </p:par>
                              <p:par>
                                <p:cTn id="31" presetID="10" presetClass="exit" presetSubtype="0" fill="hold" grpId="0" nodeType="withEffect">
                                  <p:stCondLst>
                                    <p:cond delay="0"/>
                                  </p:stCondLst>
                                  <p:childTnLst>
                                    <p:animEffect transition="out" filter="fade">
                                      <p:cBhvr>
                                        <p:cTn id="29" dur="600"/>
                                        <p:tgtEl>
                                          <p:spTgt spid="23"/>
                                        </p:tgtEl>
                                      </p:cBhvr>
                                    </p:animEffect>
                                    <p:set>
                                      <p:cBhvr>
                                        <p:cTn id="30" dur="1" fill="hold">
                                          <p:stCondLst>
                                            <p:cond delay="599"/>
                                          </p:stCondLst>
                                        </p:cTn>
                                        <p:tgtEl>
                                          <p:spTgt spid="23"/>
                                        </p:tgtEl>
                                        <p:attrNameLst>
                                          <p:attrName>style.visibility</p:attrName>
                                        </p:attrNameLst>
                                      </p:cBhvr>
                                      <p:to>
                                        <p:strVal val="hidden"/>
                                      </p:to>
                                    </p:set>
                                  </p:childTnLst>
                                </p:cTn>
                              </p:par>
                              <p:par>
                                <p:cTn id="34"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600"/>
                                        <p:tgtEl>
                                          <p:spTgt spid="24"/>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600"/>
                                        <p:tgtEl>
                                          <p:spTgt spid="25"/>
                                        </p:tgtEl>
                                      </p:cBhvr>
                                    </p:animEffect>
                                  </p:childTnLst>
                                </p:cTn>
                              </p:par>
                            </p:childTnLst>
                          </p:cTn>
                        </p:par>
                      </p:childTnLst>
                    </p:cTn>
                  </p:par>
                  <p:par>
                    <p:cTn id="52" fill="hold">
                      <p:stCondLst>
                        <p:cond delay="indefinite"/>
                      </p:stCondLst>
                      <p:childTnLst>
                        <p:par>
                          <p:cTn id="53" fill="hold">
                            <p:stCondLst>
                              <p:cond delay="0"/>
                            </p:stCondLst>
                            <p:childTnLst>
                              <p:par>
                                <p:cTn id="42" presetID="10" presetClass="exit" presetSubtype="0" fill="hold" grpId="0" nodeType="clickEffect">
                                  <p:stCondLst>
                                    <p:cond delay="0"/>
                                  </p:stCondLst>
                                  <p:childTnLst>
                                    <p:animEffect transition="out" filter="fade">
                                      <p:cBhvr>
                                        <p:cTn id="40" dur="600"/>
                                        <p:tgtEl>
                                          <p:spTgt spid="17"/>
                                        </p:tgtEl>
                                      </p:cBhvr>
                                    </p:animEffect>
                                    <p:set>
                                      <p:cBhvr>
                                        <p:cTn id="41" dur="1" fill="hold">
                                          <p:stCondLst>
                                            <p:cond delay="599"/>
                                          </p:stCondLst>
                                        </p:cTn>
                                        <p:tgtEl>
                                          <p:spTgt spid="17"/>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600"/>
                                        <p:tgtEl>
                                          <p:spTgt spid="20"/>
                                        </p:tgtEl>
                                      </p:cBhvr>
                                    </p:animEffect>
                                  </p:childTnLst>
                                </p:cTn>
                              </p:par>
                              <p:par>
                                <p:cTn id="48" presetID="10" presetClass="exit" presetSubtype="0" fill="hold" grpId="0" nodeType="withEffect">
                                  <p:stCondLst>
                                    <p:cond delay="0"/>
                                  </p:stCondLst>
                                  <p:childTnLst>
                                    <p:animEffect transition="out" filter="fade">
                                      <p:cBhvr>
                                        <p:cTn id="46" dur="600"/>
                                        <p:tgtEl>
                                          <p:spTgt spid="24"/>
                                        </p:tgtEl>
                                      </p:cBhvr>
                                    </p:animEffect>
                                    <p:set>
                                      <p:cBhvr>
                                        <p:cTn id="47" dur="1" fill="hold">
                                          <p:stCondLst>
                                            <p:cond delay="599"/>
                                          </p:stCondLst>
                                        </p:cTn>
                                        <p:tgtEl>
                                          <p:spTgt spid="24"/>
                                        </p:tgtEl>
                                        <p:attrNameLst>
                                          <p:attrName>style.visibility</p:attrName>
                                        </p:attrNameLst>
                                      </p:cBhvr>
                                      <p:to>
                                        <p:strVal val="hidden"/>
                                      </p:to>
                                    </p:set>
                                  </p:childTnLst>
                                </p:cTn>
                              </p:par>
                              <p:par>
                                <p:cTn id="51" presetID="10" presetClass="exit" presetSubtype="0" fill="hold" grpId="0" nodeType="withEffect">
                                  <p:stCondLst>
                                    <p:cond delay="0"/>
                                  </p:stCondLst>
                                  <p:childTnLst>
                                    <p:animEffect transition="out" filter="fade">
                                      <p:cBhvr>
                                        <p:cTn id="49" dur="600"/>
                                        <p:tgtEl>
                                          <p:spTgt spid="25"/>
                                        </p:tgtEl>
                                      </p:cBhvr>
                                    </p:animEffect>
                                    <p:set>
                                      <p:cBhvr>
                                        <p:cTn id="50" dur="1" fill="hold">
                                          <p:stCondLst>
                                            <p:cond delay="599"/>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Dabā: the relief from inside</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Mahra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Mahra: won with a letter</a:t>
            </a:r>
          </a:p>
        </p:txBody>
      </p:sp>
      <p:pic>
        <p:nvPicPr>
          <p:cNvPr id="6" name="map" descr="s05-07-mahra-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Mahra</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two chiefs at odds</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letter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half the enemy comes over</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fifth</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to Medina</a:t>
            </a:r>
          </a:p>
        </p:txBody>
      </p:sp>
      <p:pic>
        <p:nvPicPr>
          <p:cNvPr id="16" name="map arrow r_0077" descr="s05-07-mahra-r1-5-r_0077.png"/>
          <p:cNvPicPr>
            <a:picLocks noChangeAspect="1"/>
          </p:cNvPicPr>
          <p:nvPr/>
        </p:nvPicPr>
        <p:blipFill>
          <a:blip r:embed="rId3"/>
          <a:stretch>
            <a:fillRect/>
          </a:stretch>
        </p:blipFill>
        <p:spPr>
          <a:xfrm>
            <a:off x="4945140" y="2255310"/>
            <a:ext cx="1580349" cy="1560191"/>
          </a:xfrm>
          <a:prstGeom prst="rect">
            <a:avLst/>
          </a:prstGeom>
        </p:spPr>
      </p:pic>
      <p:pic>
        <p:nvPicPr>
          <p:cNvPr id="17" name="map arrow r_0078" descr="s05-07-mahra-r1-5-r_0078.png"/>
          <p:cNvPicPr>
            <a:picLocks noChangeAspect="1"/>
          </p:cNvPicPr>
          <p:nvPr/>
        </p:nvPicPr>
        <p:blipFill>
          <a:blip r:embed="rId4"/>
          <a:stretch>
            <a:fillRect/>
          </a:stretch>
        </p:blipFill>
        <p:spPr>
          <a:xfrm>
            <a:off x="4344446" y="3767123"/>
            <a:ext cx="641009" cy="362835"/>
          </a:xfrm>
          <a:prstGeom prst="rect">
            <a:avLst/>
          </a:prstGeom>
        </p:spPr>
      </p:pic>
      <p:pic>
        <p:nvPicPr>
          <p:cNvPr id="18" name="map arrow r_0079" descr="s05-07-mahra-r1-5-r_0079.png"/>
          <p:cNvPicPr>
            <a:picLocks noChangeAspect="1"/>
          </p:cNvPicPr>
          <p:nvPr/>
        </p:nvPicPr>
        <p:blipFill>
          <a:blip r:embed="rId5"/>
          <a:stretch>
            <a:fillRect/>
          </a:stretch>
        </p:blipFill>
        <p:spPr>
          <a:xfrm>
            <a:off x="2288380" y="2803594"/>
            <a:ext cx="2100413" cy="1165104"/>
          </a:xfrm>
          <a:prstGeom prst="rect">
            <a:avLst/>
          </a:prstGeom>
        </p:spPr>
      </p:pic>
      <p:pic>
        <p:nvPicPr>
          <p:cNvPr id="19" name="map battle harder than Dabā" descr="s05-07-mahra-r1-5-b_0086.png"/>
          <p:cNvPicPr>
            <a:picLocks noChangeAspect="1"/>
          </p:cNvPicPr>
          <p:nvPr/>
        </p:nvPicPr>
        <p:blipFill>
          <a:blip r:embed="rId6"/>
          <a:stretch>
            <a:fillRect/>
          </a:stretch>
        </p:blipFill>
        <p:spPr>
          <a:xfrm>
            <a:off x="2844727" y="4093675"/>
            <a:ext cx="1411026" cy="693418"/>
          </a:xfrm>
          <a:prstGeom prst="rect">
            <a:avLst/>
          </a:prstGeom>
        </p:spPr>
      </p:pic>
      <p:pic>
        <p:nvPicPr>
          <p:cNvPr id="20" name="map army al-Muṣabbaḥ" descr="s05-07-mahra-r1-5-a_0081.png"/>
          <p:cNvPicPr>
            <a:picLocks noChangeAspect="1"/>
          </p:cNvPicPr>
          <p:nvPr/>
        </p:nvPicPr>
        <p:blipFill>
          <a:blip r:embed="rId7"/>
          <a:stretch>
            <a:fillRect/>
          </a:stretch>
        </p:blipFill>
        <p:spPr>
          <a:xfrm>
            <a:off x="3026145" y="3863879"/>
            <a:ext cx="1056253" cy="1052222"/>
          </a:xfrm>
          <a:prstGeom prst="rect">
            <a:avLst/>
          </a:prstGeom>
        </p:spPr>
      </p:pic>
      <p:pic>
        <p:nvPicPr>
          <p:cNvPr id="21" name="map army Shikhrīt" descr="s05-07-mahra-r1-5-a_0082.png"/>
          <p:cNvPicPr>
            <a:picLocks noChangeAspect="1"/>
          </p:cNvPicPr>
          <p:nvPr/>
        </p:nvPicPr>
        <p:blipFill>
          <a:blip r:embed="rId8"/>
          <a:stretch>
            <a:fillRect/>
          </a:stretch>
        </p:blipFill>
        <p:spPr>
          <a:xfrm>
            <a:off x="4175123" y="3666336"/>
            <a:ext cx="1044159" cy="479748"/>
          </a:xfrm>
          <a:prstGeom prst="rect">
            <a:avLst/>
          </a:prstGeom>
        </p:spPr>
      </p:pic>
      <p:pic>
        <p:nvPicPr>
          <p:cNvPr id="22" name="map army ʿIkrima ؓ" descr="s05-07-mahra-r1-5-a_0083.png"/>
          <p:cNvPicPr>
            <a:picLocks noChangeAspect="1"/>
          </p:cNvPicPr>
          <p:nvPr/>
        </p:nvPicPr>
        <p:blipFill>
          <a:blip r:embed="rId9"/>
          <a:stretch>
            <a:fillRect/>
          </a:stretch>
        </p:blipFill>
        <p:spPr>
          <a:xfrm>
            <a:off x="4795975" y="3295438"/>
            <a:ext cx="1173167" cy="528126"/>
          </a:xfrm>
          <a:prstGeom prst="rect">
            <a:avLst/>
          </a:prstGeom>
        </p:spPr>
      </p:pic>
      <p:pic>
        <p:nvPicPr>
          <p:cNvPr id="23" name="map army Shikhrīt" descr="s05-07-mahra-r1-5-a_0085.png"/>
          <p:cNvPicPr>
            <a:picLocks noChangeAspect="1"/>
          </p:cNvPicPr>
          <p:nvPr/>
        </p:nvPicPr>
        <p:blipFill>
          <a:blip r:embed="rId10"/>
          <a:stretch>
            <a:fillRect/>
          </a:stretch>
        </p:blipFill>
        <p:spPr>
          <a:xfrm>
            <a:off x="4078367" y="3666336"/>
            <a:ext cx="596662" cy="709544"/>
          </a:xfrm>
          <a:prstGeom prst="rect">
            <a:avLst/>
          </a:prstGeom>
        </p:spPr>
      </p:pic>
      <p:pic>
        <p:nvPicPr>
          <p:cNvPr id="24" name="map label the letter" descr="s05-07-mahra-r1-5-l_0084.png"/>
          <p:cNvPicPr>
            <a:picLocks noChangeAspect="1"/>
          </p:cNvPicPr>
          <p:nvPr/>
        </p:nvPicPr>
        <p:blipFill>
          <a:blip r:embed="rId11"/>
          <a:stretch>
            <a:fillRect/>
          </a:stretch>
        </p:blipFill>
        <p:spPr>
          <a:xfrm>
            <a:off x="3929202" y="3255123"/>
            <a:ext cx="1011907" cy="245921"/>
          </a:xfrm>
          <a:prstGeom prst="rect">
            <a:avLst/>
          </a:prstGeom>
        </p:spPr>
      </p:pic>
      <p:pic>
        <p:nvPicPr>
          <p:cNvPr id="25" name="map label the fifth, to Medina" descr="s05-07-mahra-r1-5-l_0087.png"/>
          <p:cNvPicPr>
            <a:picLocks noChangeAspect="1"/>
          </p:cNvPicPr>
          <p:nvPr/>
        </p:nvPicPr>
        <p:blipFill>
          <a:blip r:embed="rId12"/>
          <a:stretch>
            <a:fillRect/>
          </a:stretch>
        </p:blipFill>
        <p:spPr>
          <a:xfrm>
            <a:off x="1881198" y="2529452"/>
            <a:ext cx="2205232"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wipe(right)">
                                      <p:cBhvr>
                                        <p:cTn id="4" dur="1600"/>
                                        <p:tgtEl>
                                          <p:spTgt spid="16"/>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192 -0.2089 L 0.0552 -0.0895 L 0.0000 0.0000 L 0 0 E" pathEditMode="relative" rAng="0" ptsTypes="">
                                      <p:cBhvr>
                                        <p:cTn id="8" dur="1600" fill="hold"/>
                                        <p:tgtEl>
                                          <p:spTgt spid="22"/>
                                        </p:tgtEl>
                                        <p:attrNameLst>
                                          <p:attrName>ppt_x</p:attrName>
                                          <p:attrName>ppt_y</p:attrName>
                                        </p:attrNameLst>
                                      </p:cBhvr>
                                    </p:animMotion>
                                  </p:childTnLst>
                                </p:cTn>
                              </p:par>
                            </p:childTnLst>
                          </p:cTn>
                        </p:par>
                      </p:childTnLst>
                    </p:cTn>
                  </p:par>
                  <p:par>
                    <p:cTn id="24" fill="hold">
                      <p:stCondLst>
                        <p:cond delay="indefinite"/>
                      </p:stCondLst>
                      <p:childTnLst>
                        <p:par>
                          <p:cTn id="25" fill="hold">
                            <p:stCondLst>
                              <p:cond delay="0"/>
                            </p:stCondLst>
                            <p:childTnLst>
                              <p:par>
                                <p:cTn id="14" presetID="22" presetClass="entr" presetSubtype="2"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right)">
                                      <p:cBhvr>
                                        <p:cTn id="13" dur="1600"/>
                                        <p:tgtEl>
                                          <p:spTgt spid="17"/>
                                        </p:tgtEl>
                                      </p:cBhvr>
                                    </p:animEffect>
                                  </p:childTnLst>
                                </p:cTn>
                              </p:par>
                              <p:par>
                                <p:cTn id="17" presetID="10" presetClass="exit" presetSubtype="0" fill="hold" grpId="0" nodeType="withEffect">
                                  <p:stCondLst>
                                    <p:cond delay="0"/>
                                  </p:stCondLst>
                                  <p:childTnLst>
                                    <p:animEffect transition="out" filter="fade">
                                      <p:cBhvr>
                                        <p:cTn id="15" dur="600"/>
                                        <p:tgtEl>
                                          <p:spTgt spid="21"/>
                                        </p:tgtEl>
                                      </p:cBhvr>
                                    </p:animEffect>
                                    <p:set>
                                      <p:cBhvr>
                                        <p:cTn id="16" dur="1" fill="hold">
                                          <p:stCondLst>
                                            <p:cond delay="599"/>
                                          </p:stCondLst>
                                        </p:cTn>
                                        <p:tgtEl>
                                          <p:spTgt spid="21"/>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600"/>
                                        <p:tgtEl>
                                          <p:spTgt spid="23"/>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600"/>
                                        <p:tgtEl>
                                          <p:spTgt spid="24"/>
                                        </p:tgtEl>
                                      </p:cBhvr>
                                    </p:animEffect>
                                  </p:childTnLst>
                                </p:cTn>
                              </p:par>
                            </p:childTnLst>
                          </p:cTn>
                        </p:par>
                      </p:childTnLst>
                    </p:cTn>
                  </p:par>
                  <p:par>
                    <p:cTn id="38" fill="hold">
                      <p:stCondLst>
                        <p:cond delay="indefinite"/>
                      </p:stCondLst>
                      <p:childTnLst>
                        <p:par>
                          <p:cTn id="39" fill="hold">
                            <p:stCondLst>
                              <p:cond delay="0"/>
                            </p:stCondLst>
                            <p:childTnLst>
                              <p:par>
                                <p:cTn id="28" presetID="10" presetClass="exit" presetSubtype="0" fill="hold" grpId="0" nodeType="clickEffect">
                                  <p:stCondLst>
                                    <p:cond delay="0"/>
                                  </p:stCondLst>
                                  <p:childTnLst>
                                    <p:animEffect transition="out" filter="fade">
                                      <p:cBhvr>
                                        <p:cTn id="26" dur="600"/>
                                        <p:tgtEl>
                                          <p:spTgt spid="17"/>
                                        </p:tgtEl>
                                      </p:cBhvr>
                                    </p:animEffect>
                                    <p:set>
                                      <p:cBhvr>
                                        <p:cTn id="27" dur="1" fill="hold">
                                          <p:stCondLst>
                                            <p:cond delay="599"/>
                                          </p:stCondLst>
                                        </p:cTn>
                                        <p:tgtEl>
                                          <p:spTgt spid="17"/>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childTnLst>
                                </p:cTn>
                              </p:par>
                              <p:par>
                                <p:cTn id="34" presetID="10" presetClass="exit" presetSubtype="0" fill="hold" grpId="0" nodeType="withEffect">
                                  <p:stCondLst>
                                    <p:cond delay="0"/>
                                  </p:stCondLst>
                                  <p:childTnLst>
                                    <p:animEffect transition="out" filter="fade">
                                      <p:cBhvr>
                                        <p:cTn id="32" dur="600"/>
                                        <p:tgtEl>
                                          <p:spTgt spid="20"/>
                                        </p:tgtEl>
                                      </p:cBhvr>
                                    </p:animEffect>
                                    <p:set>
                                      <p:cBhvr>
                                        <p:cTn id="33" dur="1" fill="hold">
                                          <p:stCondLst>
                                            <p:cond delay="599"/>
                                          </p:stCondLst>
                                        </p:cTn>
                                        <p:tgtEl>
                                          <p:spTgt spid="20"/>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24"/>
                                        </p:tgtEl>
                                      </p:cBhvr>
                                    </p:animEffect>
                                    <p:set>
                                      <p:cBhvr>
                                        <p:cTn id="36" dur="1" fill="hold">
                                          <p:stCondLst>
                                            <p:cond delay="599"/>
                                          </p:stCondLst>
                                        </p:cTn>
                                        <p:tgtEl>
                                          <p:spTgt spid="24"/>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wipe(right)">
                                      <p:cBhvr>
                                        <p:cTn id="41" dur="1600"/>
                                        <p:tgtEl>
                                          <p:spTgt spid="18"/>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Mahra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Mahra: won with a letter</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2.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2.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and Kinda: the last front (11→12 AH)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Abyan to the last front</a:t>
            </a: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al-Muhājir ؓ in Ṣanʿāʾ — then 'your own post'</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from Mahra to Abyan</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and Kinda — the last front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are the sons of Ākil al-Murār"</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 We do not trace ourselves through our mother, and we do not disown our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r_0095" descr="s05-10-kinda-r1-3-r_0095.png"/>
          <p:cNvPicPr>
            <a:picLocks noChangeAspect="1"/>
          </p:cNvPicPr>
          <p:nvPr/>
        </p:nvPicPr>
        <p:blipFill>
          <a:blip r:embed="rId3"/>
          <a:stretch>
            <a:fillRect/>
          </a:stretch>
        </p:blipFill>
        <p:spPr>
          <a:xfrm>
            <a:off x="3005987" y="2416570"/>
            <a:ext cx="3084100" cy="487811"/>
          </a:xfrm>
          <a:prstGeom prst="rect">
            <a:avLst/>
          </a:prstGeom>
        </p:spPr>
      </p:pic>
      <p:pic>
        <p:nvPicPr>
          <p:cNvPr id="14" name="map arrow r_0096" descr="s05-10-kinda-r1-3-r_0096.png"/>
          <p:cNvPicPr>
            <a:picLocks noChangeAspect="1"/>
          </p:cNvPicPr>
          <p:nvPr/>
        </p:nvPicPr>
        <p:blipFill>
          <a:blip r:embed="rId4"/>
          <a:stretch>
            <a:fillRect/>
          </a:stretch>
        </p:blipFill>
        <p:spPr>
          <a:xfrm>
            <a:off x="3010019" y="3976762"/>
            <a:ext cx="3084100" cy="524095"/>
          </a:xfrm>
          <a:prstGeom prst="rect">
            <a:avLst/>
          </a:prstGeom>
        </p:spPr>
      </p:pic>
      <p:pic>
        <p:nvPicPr>
          <p:cNvPr id="15" name="map label ṣadaqa, both ways" descr="s05-10-kinda-r1-3-l_0114.png"/>
          <p:cNvPicPr>
            <a:picLocks noChangeAspect="1"/>
          </p:cNvPicPr>
          <p:nvPr/>
        </p:nvPicPr>
        <p:blipFill>
          <a:blip r:embed="rId5"/>
          <a:stretch>
            <a:fillRect/>
          </a:stretch>
        </p:blipFill>
        <p:spPr>
          <a:xfrm>
            <a:off x="3296255" y="1908601"/>
            <a:ext cx="2056066" cy="302362"/>
          </a:xfrm>
          <a:prstGeom prst="rect">
            <a:avLst/>
          </a:prstGeom>
        </p:spPr>
      </p:pic>
      <p:pic>
        <p:nvPicPr>
          <p:cNvPr id="16" name="map label not carried" descr="s05-10-kinda-r1-3-l_0115.png"/>
          <p:cNvPicPr>
            <a:picLocks noChangeAspect="1"/>
          </p:cNvPicPr>
          <p:nvPr/>
        </p:nvPicPr>
        <p:blipFill>
          <a:blip r:embed="rId6"/>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 mounts — carry it yourselves."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 front of 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Ziyād's ؓ camp</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a:t>
            </a:r>
          </a:p>
        </p:txBody>
      </p:sp>
      <p:pic>
        <p:nvPicPr>
          <p:cNvPr id="13" name="map territory t_0119" descr="s05-10-kinda-r3-6-t_0119.png"/>
          <p:cNvPicPr>
            <a:picLocks noChangeAspect="1"/>
          </p:cNvPicPr>
          <p:nvPr/>
        </p:nvPicPr>
        <p:blipFill>
          <a:blip r:embed="rId3"/>
          <a:stretch>
            <a:fillRect/>
          </a:stretch>
        </p:blipFill>
        <p:spPr>
          <a:xfrm>
            <a:off x="1655433" y="2178711"/>
            <a:ext cx="2705138" cy="3245359"/>
          </a:xfrm>
          <a:prstGeom prst="rect">
            <a:avLst/>
          </a:prstGeom>
        </p:spPr>
      </p:pic>
      <p:pic>
        <p:nvPicPr>
          <p:cNvPr id="14" name="map arrow r_0097" descr="s05-10-kinda-r3-6-r_0097.png"/>
          <p:cNvPicPr>
            <a:picLocks noChangeAspect="1"/>
          </p:cNvPicPr>
          <p:nvPr/>
        </p:nvPicPr>
        <p:blipFill>
          <a:blip r:embed="rId4"/>
          <a:stretch>
            <a:fillRect/>
          </a:stretch>
        </p:blipFill>
        <p:spPr>
          <a:xfrm>
            <a:off x="3522020" y="3271249"/>
            <a:ext cx="1261860" cy="451528"/>
          </a:xfrm>
          <a:prstGeom prst="rect">
            <a:avLst/>
          </a:prstGeom>
        </p:spPr>
      </p:pic>
      <p:pic>
        <p:nvPicPr>
          <p:cNvPr id="15" name="map army Ḥaḍramawt, al-Sakūn" descr="s05-10-kinda-r3-6-a_0116.png"/>
          <p:cNvPicPr>
            <a:picLocks noChangeAspect="1"/>
          </p:cNvPicPr>
          <p:nvPr/>
        </p:nvPicPr>
        <p:blipFill>
          <a:blip r:embed="rId5"/>
          <a:stretch>
            <a:fillRect/>
          </a:stretch>
        </p:blipFill>
        <p:spPr>
          <a:xfrm>
            <a:off x="4703250" y="3327690"/>
            <a:ext cx="1846428" cy="483780"/>
          </a:xfrm>
          <a:prstGeom prst="rect">
            <a:avLst/>
          </a:prstGeom>
        </p:spPr>
      </p:pic>
      <p:pic>
        <p:nvPicPr>
          <p:cNvPr id="16" name="map army Banū Muʿāwiya" descr="s05-10-kinda-r3-6-a_0117.png"/>
          <p:cNvPicPr>
            <a:picLocks noChangeAspect="1"/>
          </p:cNvPicPr>
          <p:nvPr/>
        </p:nvPicPr>
        <p:blipFill>
          <a:blip r:embed="rId6"/>
          <a:stretch>
            <a:fillRect/>
          </a:stretch>
        </p:blipFill>
        <p:spPr>
          <a:xfrm>
            <a:off x="2760065" y="3109988"/>
            <a:ext cx="1068348" cy="778080"/>
          </a:xfrm>
          <a:prstGeom prst="rect">
            <a:avLst/>
          </a:prstGeom>
        </p:spPr>
      </p:pic>
      <p:pic>
        <p:nvPicPr>
          <p:cNvPr id="17" name="map label not carried" descr="s05-10-kinda-r1-3-l_0115.png"/>
          <p:cNvPicPr>
            <a:picLocks noChangeAspect="1"/>
          </p:cNvPicPr>
          <p:nvPr/>
        </p:nvPicPr>
        <p:blipFill>
          <a:blip r:embed="rId7"/>
          <a:stretch>
            <a:fillRect/>
          </a:stretch>
        </p:blipFill>
        <p:spPr>
          <a:xfrm>
            <a:off x="3610713" y="4940291"/>
            <a:ext cx="1427152" cy="274142"/>
          </a:xfrm>
          <a:prstGeom prst="rect">
            <a:avLst/>
          </a:prstGeom>
        </p:spPr>
      </p:pic>
      <p:pic>
        <p:nvPicPr>
          <p:cNvPr id="18" name="map label by night" descr="s05-10-kinda-r3-6-l_0118.png"/>
          <p:cNvPicPr>
            <a:picLocks noChangeAspect="1"/>
          </p:cNvPicPr>
          <p:nvPr/>
        </p:nvPicPr>
        <p:blipFill>
          <a:blip r:embed="rId8"/>
          <a:stretch>
            <a:fillRect/>
          </a:stretch>
        </p:blipFill>
        <p:spPr>
          <a:xfrm>
            <a:off x="3598618" y="2884224"/>
            <a:ext cx="987718" cy="302362"/>
          </a:xfrm>
          <a:prstGeom prst="rect">
            <a:avLst/>
          </a:prstGeom>
        </p:spPr>
      </p:pic>
      <p:pic>
        <p:nvPicPr>
          <p:cNvPr id="19" name="map label no ṣadaqa" descr="s05-10-kinda-r3-6-l_0120.png"/>
          <p:cNvPicPr>
            <a:picLocks noChangeAspect="1"/>
          </p:cNvPicPr>
          <p:nvPr/>
        </p:nvPicPr>
        <p:blipFill>
          <a:blip r:embed="rId9"/>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right)">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600"/>
                                        <p:tgtEl>
                                          <p:spTgt spid="18"/>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7" presetID="10" presetClass="exit" presetSubtype="0" fill="hold" grpId="0" nodeType="withEffect">
                                  <p:stCondLst>
                                    <p:cond delay="0"/>
                                  </p:stCondLst>
                                  <p:childTnLst>
                                    <p:animEffect transition="out" filter="fade">
                                      <p:cBhvr>
                                        <p:cTn id="25" dur="600"/>
                                        <p:tgtEl>
                                          <p:spTgt spid="14"/>
                                        </p:tgtEl>
                                      </p:cBhvr>
                                    </p:animEffect>
                                    <p:set>
                                      <p:cBhvr>
                                        <p:cTn id="26" dur="1" fill="hold">
                                          <p:stCondLst>
                                            <p:cond delay="599"/>
                                          </p:stCondLst>
                                        </p:cTn>
                                        <p:tgtEl>
                                          <p:spTgt spid="14"/>
                                        </p:tgtEl>
                                        <p:attrNameLst>
                                          <p:attrName>style.visibility</p:attrName>
                                        </p:attrNameLst>
                                      </p:cBhvr>
                                      <p:to>
                                        <p:strVal val="hidden"/>
                                      </p:to>
                                    </p:set>
                                  </p:childTnLst>
                                </p:cTn>
                              </p:par>
                              <p:par>
                                <p:cTn id="30" presetID="10" presetClass="exit" presetSubtype="0" fill="hold" grpId="0" nodeType="withEffect">
                                  <p:stCondLst>
                                    <p:cond delay="0"/>
                                  </p:stCondLst>
                                  <p:childTnLst>
                                    <p:animEffect transition="out" filter="fade">
                                      <p:cBhvr>
                                        <p:cTn id="28" dur="600"/>
                                        <p:tgtEl>
                                          <p:spTgt spid="18"/>
                                        </p:tgtEl>
                                      </p:cBhvr>
                                    </p:animEffect>
                                    <p:set>
                                      <p:cBhvr>
                                        <p:cTn id="29" dur="1" fill="hold">
                                          <p:stCondLst>
                                            <p:cond delay="599"/>
                                          </p:stCondLst>
                                        </p:cTn>
                                        <p:tgtEl>
                                          <p:spTgt spid="18"/>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 The humbled man is the one who is devoured in his own home!"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pastures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chief's, held as a stronghold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and his son, to Ziyād ؓ</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settlement s_0121" descr="s05-10-kinda-r6-8-s_0121.png"/>
          <p:cNvPicPr>
            <a:picLocks noChangeAspect="1"/>
          </p:cNvPicPr>
          <p:nvPr/>
        </p:nvPicPr>
        <p:blipFill>
          <a:blip r:embed="rId4"/>
          <a:stretch>
            <a:fillRect/>
          </a:stretch>
        </p:blipFill>
        <p:spPr>
          <a:xfrm>
            <a:off x="2320632" y="2904382"/>
            <a:ext cx="229795" cy="233827"/>
          </a:xfrm>
          <a:prstGeom prst="rect">
            <a:avLst/>
          </a:prstGeom>
        </p:spPr>
      </p:pic>
      <p:pic>
        <p:nvPicPr>
          <p:cNvPr id="15" name="map settlement s_0122" descr="s05-10-kinda-r6-8-s_0122.png"/>
          <p:cNvPicPr>
            <a:picLocks noChangeAspect="1"/>
          </p:cNvPicPr>
          <p:nvPr/>
        </p:nvPicPr>
        <p:blipFill>
          <a:blip r:embed="rId5"/>
          <a:stretch>
            <a:fillRect/>
          </a:stretch>
        </p:blipFill>
        <p:spPr>
          <a:xfrm>
            <a:off x="2836664" y="2614114"/>
            <a:ext cx="229795" cy="233827"/>
          </a:xfrm>
          <a:prstGeom prst="rect">
            <a:avLst/>
          </a:prstGeom>
        </p:spPr>
      </p:pic>
      <p:pic>
        <p:nvPicPr>
          <p:cNvPr id="16" name="map settlement s_0123" descr="s05-10-kinda-r6-8-s_0123.png"/>
          <p:cNvPicPr>
            <a:picLocks noChangeAspect="1"/>
          </p:cNvPicPr>
          <p:nvPr/>
        </p:nvPicPr>
        <p:blipFill>
          <a:blip r:embed="rId6"/>
          <a:stretch>
            <a:fillRect/>
          </a:stretch>
        </p:blipFill>
        <p:spPr>
          <a:xfrm>
            <a:off x="3384949" y="2880193"/>
            <a:ext cx="229795" cy="229795"/>
          </a:xfrm>
          <a:prstGeom prst="rect">
            <a:avLst/>
          </a:prstGeom>
        </p:spPr>
      </p:pic>
      <p:pic>
        <p:nvPicPr>
          <p:cNvPr id="17" name="map settlement s_0124" descr="s05-10-kinda-r6-8-s_0124.png"/>
          <p:cNvPicPr>
            <a:picLocks noChangeAspect="1"/>
          </p:cNvPicPr>
          <p:nvPr/>
        </p:nvPicPr>
        <p:blipFill>
          <a:blip r:embed="rId7"/>
          <a:stretch>
            <a:fillRect/>
          </a:stretch>
        </p:blipFill>
        <p:spPr>
          <a:xfrm>
            <a:off x="2514144" y="3541359"/>
            <a:ext cx="233827" cy="229795"/>
          </a:xfrm>
          <a:prstGeom prst="rect">
            <a:avLst/>
          </a:prstGeom>
        </p:spPr>
      </p:pic>
      <p:pic>
        <p:nvPicPr>
          <p:cNvPr id="18" name="map settlement s_0125" descr="s05-10-kinda-r6-8-s_0125.png"/>
          <p:cNvPicPr>
            <a:picLocks noChangeAspect="1"/>
          </p:cNvPicPr>
          <p:nvPr/>
        </p:nvPicPr>
        <p:blipFill>
          <a:blip r:embed="rId8"/>
          <a:stretch>
            <a:fillRect/>
          </a:stretch>
        </p:blipFill>
        <p:spPr>
          <a:xfrm>
            <a:off x="3155153" y="3488950"/>
            <a:ext cx="229795" cy="229795"/>
          </a:xfrm>
          <a:prstGeom prst="rect">
            <a:avLst/>
          </a:prstGeom>
        </p:spPr>
      </p:pic>
      <p:pic>
        <p:nvPicPr>
          <p:cNvPr id="19" name="map army Banū Muʿāwiya" descr="s05-10-kinda-r3-6-a_0117.png"/>
          <p:cNvPicPr>
            <a:picLocks noChangeAspect="1"/>
          </p:cNvPicPr>
          <p:nvPr/>
        </p:nvPicPr>
        <p:blipFill>
          <a:blip r:embed="rId9"/>
          <a:stretch>
            <a:fillRect/>
          </a:stretch>
        </p:blipFill>
        <p:spPr>
          <a:xfrm>
            <a:off x="2760065" y="3109988"/>
            <a:ext cx="1068348" cy="778080"/>
          </a:xfrm>
          <a:prstGeom prst="rect">
            <a:avLst/>
          </a:prstGeom>
        </p:spPr>
      </p:pic>
      <p:pic>
        <p:nvPicPr>
          <p:cNvPr id="20" name="map army Shuraḥbīl and his son" descr="s05-10-kinda-r6-8-a_0127.png"/>
          <p:cNvPicPr>
            <a:picLocks noChangeAspect="1"/>
          </p:cNvPicPr>
          <p:nvPr/>
        </p:nvPicPr>
        <p:blipFill>
          <a:blip r:embed="rId10"/>
          <a:stretch>
            <a:fillRect/>
          </a:stretch>
        </p:blipFill>
        <p:spPr>
          <a:xfrm>
            <a:off x="3856634" y="2795531"/>
            <a:ext cx="1209451" cy="572473"/>
          </a:xfrm>
          <a:prstGeom prst="rect">
            <a:avLst/>
          </a:prstGeom>
        </p:spPr>
      </p:pic>
      <p:pic>
        <p:nvPicPr>
          <p:cNvPr id="21" name="map label no ṣadaqa" descr="s05-10-kinda-r3-6-l_0120.png"/>
          <p:cNvPicPr>
            <a:picLocks noChangeAspect="1"/>
          </p:cNvPicPr>
          <p:nvPr/>
        </p:nvPicPr>
        <p:blipFill>
          <a:blip r:embed="rId11"/>
          <a:stretch>
            <a:fillRect/>
          </a:stretch>
        </p:blipFill>
        <p:spPr>
          <a:xfrm>
            <a:off x="2364978" y="1876349"/>
            <a:ext cx="1286049" cy="318488"/>
          </a:xfrm>
          <a:prstGeom prst="rect">
            <a:avLst/>
          </a:prstGeom>
        </p:spPr>
      </p:pic>
      <p:pic>
        <p:nvPicPr>
          <p:cNvPr id="22" name="map label their pastures, as strongholds" descr="s05-10-kinda-r6-8-l_0126.png"/>
          <p:cNvPicPr>
            <a:picLocks noChangeAspect="1"/>
          </p:cNvPicPr>
          <p:nvPr/>
        </p:nvPicPr>
        <p:blipFill>
          <a:blip r:embed="rId12"/>
          <a:stretch>
            <a:fillRect/>
          </a:stretch>
        </p:blipFill>
        <p:spPr>
          <a:xfrm>
            <a:off x="1268409" y="4996732"/>
            <a:ext cx="3358242"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600"/>
                                        <p:tgtEl>
                                          <p:spTgt spid="14"/>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1"/>
                                        </p:tgtEl>
                                      </p:cBhvr>
                                    </p:animEffect>
                                    <p:set>
                                      <p:cBhvr>
                                        <p:cTn id="22" dur="1" fill="hold">
                                          <p:stCondLst>
                                            <p:cond delay="599"/>
                                          </p:stCondLst>
                                        </p:cTn>
                                        <p:tgtEl>
                                          <p:spTgt spid="21"/>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1" presetID="22" presetClass="entr" presetSubtype="8"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1600"/>
                                        <p:tgtEl>
                                          <p:spTgt spid="13"/>
                                        </p:tgtEl>
                                      </p:cBhvr>
                                    </p:animEffect>
                                  </p:childTnLst>
                                </p:cTn>
                              </p:par>
                              <p:par>
                                <p:cTn id="33"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5" presetID="0" presetClass="path" presetSubtype="0" fill="hold" grpId="0" nodeType="withEffect">
                                  <p:stCondLst>
                                    <p:cond delay="0"/>
                                  </p:stCondLst>
                                  <p:childTnLst>
                                    <p:animMotion origin="layout" path="M -0.0788 -0.0462 L -0.0347 -0.0270 L 0.0000 0.0000 L 0 0 E" pathEditMode="relative" rAng="0" ptsTypes="">
                                      <p:cBhvr>
                                        <p:cTn id="34" dur="1600" fill="hold"/>
                                        <p:tgtEl>
                                          <p:spTgt spid="20"/>
                                        </p:tgtEl>
                                        <p:attrNameLst>
                                          <p:attrName>ppt_x</p:attrName>
                                          <p:attrName>ppt_y</p:attrName>
                                        </p:attrNameLst>
                                      </p:cBhvr>
                                    </p:animMotion>
                                  </p:childTnLst>
                                </p:cTn>
                              </p:par>
                              <p:par>
                                <p:cTn id="38" presetID="10" presetClass="exit" presetSubtype="0" fill="hold" grpId="0" nodeType="withEffect">
                                  <p:stCondLst>
                                    <p:cond delay="0"/>
                                  </p:stCondLst>
                                  <p:childTnLst>
                                    <p:animEffect transition="out" filter="fade">
                                      <p:cBhvr>
                                        <p:cTn id="36" dur="600"/>
                                        <p:tgtEl>
                                          <p:spTgt spid="22"/>
                                        </p:tgtEl>
                                      </p:cBhvr>
                                    </p:animEffect>
                                    <p:set>
                                      <p:cBhvr>
                                        <p:cTn id="37"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 Men of honour will stay with a doubtful position,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ʿAmr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strongest of Kinda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at their fires</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arrow r_0099" descr="s05-10-kinda-r8-10-r_0099.png"/>
          <p:cNvPicPr>
            <a:picLocks noChangeAspect="1"/>
          </p:cNvPicPr>
          <p:nvPr/>
        </p:nvPicPr>
        <p:blipFill>
          <a:blip r:embed="rId4"/>
          <a:stretch>
            <a:fillRect/>
          </a:stretch>
        </p:blipFill>
        <p:spPr>
          <a:xfrm>
            <a:off x="2808444" y="2388349"/>
            <a:ext cx="286236" cy="745828"/>
          </a:xfrm>
          <a:prstGeom prst="rect">
            <a:avLst/>
          </a:prstGeom>
        </p:spPr>
      </p:pic>
      <p:pic>
        <p:nvPicPr>
          <p:cNvPr id="15" name="map arrow r_0100" descr="s05-10-kinda-r8-10-r_0100.png"/>
          <p:cNvPicPr>
            <a:picLocks noChangeAspect="1"/>
          </p:cNvPicPr>
          <p:nvPr/>
        </p:nvPicPr>
        <p:blipFill>
          <a:blip r:embed="rId5"/>
          <a:stretch>
            <a:fillRect/>
          </a:stretch>
        </p:blipFill>
        <p:spPr>
          <a:xfrm>
            <a:off x="3042271" y="2932602"/>
            <a:ext cx="794206" cy="346709"/>
          </a:xfrm>
          <a:prstGeom prst="rect">
            <a:avLst/>
          </a:prstGeom>
        </p:spPr>
      </p:pic>
      <p:pic>
        <p:nvPicPr>
          <p:cNvPr id="16" name="map arrow r_0101" descr="s05-10-kinda-r8-10-r_0101.png"/>
          <p:cNvPicPr>
            <a:picLocks noChangeAspect="1"/>
          </p:cNvPicPr>
          <p:nvPr/>
        </p:nvPicPr>
        <p:blipFill>
          <a:blip r:embed="rId6"/>
          <a:stretch>
            <a:fillRect/>
          </a:stretch>
        </p:blipFill>
        <p:spPr>
          <a:xfrm>
            <a:off x="2993893" y="3275280"/>
            <a:ext cx="592631" cy="665197"/>
          </a:xfrm>
          <a:prstGeom prst="rect">
            <a:avLst/>
          </a:prstGeom>
        </p:spPr>
      </p:pic>
      <p:pic>
        <p:nvPicPr>
          <p:cNvPr id="17" name="map arrow r_0102" descr="s05-10-kinda-r8-10-r_0102.png"/>
          <p:cNvPicPr>
            <a:picLocks noChangeAspect="1"/>
          </p:cNvPicPr>
          <p:nvPr/>
        </p:nvPicPr>
        <p:blipFill>
          <a:blip r:embed="rId7"/>
          <a:stretch>
            <a:fillRect/>
          </a:stretch>
        </p:blipFill>
        <p:spPr>
          <a:xfrm>
            <a:off x="2312569" y="3275280"/>
            <a:ext cx="596662" cy="665197"/>
          </a:xfrm>
          <a:prstGeom prst="rect">
            <a:avLst/>
          </a:prstGeom>
        </p:spPr>
      </p:pic>
      <p:pic>
        <p:nvPicPr>
          <p:cNvPr id="18" name="map arrow r_0103" descr="s05-10-kinda-r8-10-r_0103.png"/>
          <p:cNvPicPr>
            <a:picLocks noChangeAspect="1"/>
          </p:cNvPicPr>
          <p:nvPr/>
        </p:nvPicPr>
        <p:blipFill>
          <a:blip r:embed="rId8"/>
          <a:stretch>
            <a:fillRect/>
          </a:stretch>
        </p:blipFill>
        <p:spPr>
          <a:xfrm>
            <a:off x="2042458" y="2956791"/>
            <a:ext cx="814363" cy="334614"/>
          </a:xfrm>
          <a:prstGeom prst="rect">
            <a:avLst/>
          </a:prstGeom>
        </p:spPr>
      </p:pic>
      <p:pic>
        <p:nvPicPr>
          <p:cNvPr id="19" name="map settlement s_0121" descr="s05-10-kinda-r6-8-s_0121.png"/>
          <p:cNvPicPr>
            <a:picLocks noChangeAspect="1"/>
          </p:cNvPicPr>
          <p:nvPr/>
        </p:nvPicPr>
        <p:blipFill>
          <a:blip r:embed="rId9"/>
          <a:stretch>
            <a:fillRect/>
          </a:stretch>
        </p:blipFill>
        <p:spPr>
          <a:xfrm>
            <a:off x="2320632" y="2904382"/>
            <a:ext cx="229795" cy="233827"/>
          </a:xfrm>
          <a:prstGeom prst="rect">
            <a:avLst/>
          </a:prstGeom>
        </p:spPr>
      </p:pic>
      <p:pic>
        <p:nvPicPr>
          <p:cNvPr id="20" name="map settlement s_0122" descr="s05-10-kinda-r6-8-s_0122.png"/>
          <p:cNvPicPr>
            <a:picLocks noChangeAspect="1"/>
          </p:cNvPicPr>
          <p:nvPr/>
        </p:nvPicPr>
        <p:blipFill>
          <a:blip r:embed="rId10"/>
          <a:stretch>
            <a:fillRect/>
          </a:stretch>
        </p:blipFill>
        <p:spPr>
          <a:xfrm>
            <a:off x="2836664" y="2614114"/>
            <a:ext cx="229795" cy="233827"/>
          </a:xfrm>
          <a:prstGeom prst="rect">
            <a:avLst/>
          </a:prstGeom>
        </p:spPr>
      </p:pic>
      <p:pic>
        <p:nvPicPr>
          <p:cNvPr id="21" name="map settlement s_0123" descr="s05-10-kinda-r6-8-s_0123.png"/>
          <p:cNvPicPr>
            <a:picLocks noChangeAspect="1"/>
          </p:cNvPicPr>
          <p:nvPr/>
        </p:nvPicPr>
        <p:blipFill>
          <a:blip r:embed="rId11"/>
          <a:stretch>
            <a:fillRect/>
          </a:stretch>
        </p:blipFill>
        <p:spPr>
          <a:xfrm>
            <a:off x="3384949" y="2880193"/>
            <a:ext cx="229795" cy="229795"/>
          </a:xfrm>
          <a:prstGeom prst="rect">
            <a:avLst/>
          </a:prstGeom>
        </p:spPr>
      </p:pic>
      <p:pic>
        <p:nvPicPr>
          <p:cNvPr id="22" name="map settlement s_0124" descr="s05-10-kinda-r6-8-s_0124.png"/>
          <p:cNvPicPr>
            <a:picLocks noChangeAspect="1"/>
          </p:cNvPicPr>
          <p:nvPr/>
        </p:nvPicPr>
        <p:blipFill>
          <a:blip r:embed="rId12"/>
          <a:stretch>
            <a:fillRect/>
          </a:stretch>
        </p:blipFill>
        <p:spPr>
          <a:xfrm>
            <a:off x="2514144" y="3541359"/>
            <a:ext cx="233827" cy="229795"/>
          </a:xfrm>
          <a:prstGeom prst="rect">
            <a:avLst/>
          </a:prstGeom>
        </p:spPr>
      </p:pic>
      <p:pic>
        <p:nvPicPr>
          <p:cNvPr id="23" name="map settlement s_0125" descr="s05-10-kinda-r6-8-s_0125.png"/>
          <p:cNvPicPr>
            <a:picLocks noChangeAspect="1"/>
          </p:cNvPicPr>
          <p:nvPr/>
        </p:nvPicPr>
        <p:blipFill>
          <a:blip r:embed="rId13"/>
          <a:stretch>
            <a:fillRect/>
          </a:stretch>
        </p:blipFill>
        <p:spPr>
          <a:xfrm>
            <a:off x="3155153" y="3488950"/>
            <a:ext cx="229795" cy="229795"/>
          </a:xfrm>
          <a:prstGeom prst="rect">
            <a:avLst/>
          </a:prstGeom>
        </p:spPr>
      </p:pic>
      <p:pic>
        <p:nvPicPr>
          <p:cNvPr id="24" name="map battle the four kings" descr="s05-10-kinda-r8-10-b_0129.png"/>
          <p:cNvPicPr>
            <a:picLocks noChangeAspect="1"/>
          </p:cNvPicPr>
          <p:nvPr/>
        </p:nvPicPr>
        <p:blipFill>
          <a:blip r:embed="rId14"/>
          <a:stretch>
            <a:fillRect/>
          </a:stretch>
        </p:blipFill>
        <p:spPr>
          <a:xfrm>
            <a:off x="2385136" y="2775374"/>
            <a:ext cx="1124789" cy="697449"/>
          </a:xfrm>
          <a:prstGeom prst="rect">
            <a:avLst/>
          </a:prstGeom>
        </p:spPr>
      </p:pic>
      <p:pic>
        <p:nvPicPr>
          <p:cNvPr id="25" name="map army Shuraḥbīl and his son" descr="s05-10-kinda-r6-8-a_0127.png"/>
          <p:cNvPicPr>
            <a:picLocks noChangeAspect="1"/>
          </p:cNvPicPr>
          <p:nvPr/>
        </p:nvPicPr>
        <p:blipFill>
          <a:blip r:embed="rId15"/>
          <a:stretch>
            <a:fillRect/>
          </a:stretch>
        </p:blipFill>
        <p:spPr>
          <a:xfrm>
            <a:off x="3856634" y="2795531"/>
            <a:ext cx="1209451" cy="572473"/>
          </a:xfrm>
          <a:prstGeom prst="rect">
            <a:avLst/>
          </a:prstGeom>
        </p:spPr>
      </p:pic>
      <p:pic>
        <p:nvPicPr>
          <p:cNvPr id="26" name="map label from five sides" descr="s05-10-kinda-r8-10-l_0128.png"/>
          <p:cNvPicPr>
            <a:picLocks noChangeAspect="1"/>
          </p:cNvPicPr>
          <p:nvPr/>
        </p:nvPicPr>
        <p:blipFill>
          <a:blip r:embed="rId16"/>
          <a:stretch>
            <a:fillRect/>
          </a:stretch>
        </p:blipFill>
        <p:spPr>
          <a:xfrm>
            <a:off x="1808631" y="1827971"/>
            <a:ext cx="1705326"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 — who had the numbers and the strength — from five directions."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comes into it</a:t>
            </a:r>
          </a:p>
        </p:txBody>
      </p:sp>
      <p:pic>
        <p:nvPicPr>
          <p:cNvPr id="6" name="map" descr="s05-10-kinda-r10-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column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property and the captives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the other branch</a:t>
            </a:r>
          </a:p>
        </p:txBody>
      </p:sp>
      <p:pic>
        <p:nvPicPr>
          <p:cNvPr id="13" name="map arrow r_0104" descr="s05-10-kinda-r10-13-r_0104.png"/>
          <p:cNvPicPr>
            <a:picLocks noChangeAspect="1"/>
          </p:cNvPicPr>
          <p:nvPr/>
        </p:nvPicPr>
        <p:blipFill>
          <a:blip r:embed="rId3"/>
          <a:stretch>
            <a:fillRect/>
          </a:stretch>
        </p:blipFill>
        <p:spPr>
          <a:xfrm>
            <a:off x="3058397" y="3412351"/>
            <a:ext cx="1096568" cy="911119"/>
          </a:xfrm>
          <a:prstGeom prst="rect">
            <a:avLst/>
          </a:prstGeom>
        </p:spPr>
      </p:pic>
      <p:pic>
        <p:nvPicPr>
          <p:cNvPr id="14"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5" name="map army the captives" descr="s05-10-kinda-r10-13-a_0130.png"/>
          <p:cNvPicPr>
            <a:picLocks noChangeAspect="1"/>
          </p:cNvPicPr>
          <p:nvPr/>
        </p:nvPicPr>
        <p:blipFill>
          <a:blip r:embed="rId5"/>
          <a:stretch>
            <a:fillRect/>
          </a:stretch>
        </p:blipFill>
        <p:spPr>
          <a:xfrm>
            <a:off x="3925170" y="3892100"/>
            <a:ext cx="1104631" cy="427339"/>
          </a:xfrm>
          <a:prstGeom prst="rect">
            <a:avLst/>
          </a:prstGeom>
        </p:spPr>
      </p:pic>
      <p:pic>
        <p:nvPicPr>
          <p:cNvPr id="16" name="map army al-Ashʿath b. Qays" descr="s05-10-kinda-r10-13-a_0131.png"/>
          <p:cNvPicPr>
            <a:picLocks noChangeAspect="1"/>
          </p:cNvPicPr>
          <p:nvPr/>
        </p:nvPicPr>
        <p:blipFill>
          <a:blip r:embed="rId6"/>
          <a:stretch>
            <a:fillRect/>
          </a:stretch>
        </p:blipFill>
        <p:spPr>
          <a:xfrm>
            <a:off x="3735689" y="4275093"/>
            <a:ext cx="1290081" cy="818395"/>
          </a:xfrm>
          <a:prstGeom prst="rect">
            <a:avLst/>
          </a:prstGeom>
        </p:spPr>
      </p:pic>
      <p:pic>
        <p:nvPicPr>
          <p:cNvPr id="17" name="map label the captives taken back" descr="s05-10-kinda-r10-13-l_0132.png"/>
          <p:cNvPicPr>
            <a:picLocks noChangeAspect="1"/>
          </p:cNvPicPr>
          <p:nvPr/>
        </p:nvPicPr>
        <p:blipFill>
          <a:blip r:embed="rId7"/>
          <a:stretch>
            <a:fillRect/>
          </a:stretch>
        </p:blipFill>
        <p:spPr>
          <a:xfrm>
            <a:off x="3864697" y="4944322"/>
            <a:ext cx="2636603"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97 -0.1136 L -0.0375 -0.0501 L 0.0000 0.0000 L 0 0 E" pathEditMode="relative" rAng="0" ptsTypes="">
                                      <p:cBhvr>
                                        <p:cTn id="8" dur="16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4"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down)">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comes into it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pic>
        <p:nvPicPr>
          <p:cNvPr id="6" name="map" descr="s05-10-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5-10-kinda-r13-16-t_0137.png"/>
          <p:cNvPicPr>
            <a:picLocks noChangeAspect="1"/>
          </p:cNvPicPr>
          <p:nvPr/>
        </p:nvPicPr>
        <p:blipFill>
          <a:blip r:embed="rId3"/>
          <a:stretch>
            <a:fillRect/>
          </a:stretch>
        </p:blipFill>
        <p:spPr>
          <a:xfrm>
            <a:off x="3840508" y="3867911"/>
            <a:ext cx="507969" cy="657134"/>
          </a:xfrm>
          <a:prstGeom prst="rect">
            <a:avLst/>
          </a:prstGeom>
        </p:spPr>
      </p:pic>
      <p:pic>
        <p:nvPicPr>
          <p:cNvPr id="17"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8" name="map arrow r_0106" descr="s05-10-kinda-r13-16-r_0106.png"/>
          <p:cNvPicPr>
            <a:picLocks noChangeAspect="1"/>
          </p:cNvPicPr>
          <p:nvPr/>
        </p:nvPicPr>
        <p:blipFill>
          <a:blip r:embed="rId5"/>
          <a:stretch>
            <a:fillRect/>
          </a:stretch>
        </p:blipFill>
        <p:spPr>
          <a:xfrm>
            <a:off x="566928" y="4343628"/>
            <a:ext cx="5095820" cy="874836"/>
          </a:xfrm>
          <a:prstGeom prst="rect">
            <a:avLst/>
          </a:prstGeom>
        </p:spPr>
      </p:pic>
      <p:pic>
        <p:nvPicPr>
          <p:cNvPr id="19" name="map arrow r_0107" descr="s05-10-kinda-r13-16-r_0107.png"/>
          <p:cNvPicPr>
            <a:picLocks noChangeAspect="1"/>
          </p:cNvPicPr>
          <p:nvPr/>
        </p:nvPicPr>
        <p:blipFill>
          <a:blip r:embed="rId6"/>
          <a:stretch>
            <a:fillRect/>
          </a:stretch>
        </p:blipFill>
        <p:spPr>
          <a:xfrm>
            <a:off x="3602650" y="4424258"/>
            <a:ext cx="1870617" cy="499906"/>
          </a:xfrm>
          <a:prstGeom prst="rect">
            <a:avLst/>
          </a:prstGeom>
        </p:spPr>
      </p:pic>
      <p:pic>
        <p:nvPicPr>
          <p:cNvPr id="20" name="map arrow r_0108" descr="s05-10-kinda-r13-16-r_0108.png"/>
          <p:cNvPicPr>
            <a:picLocks noChangeAspect="1"/>
          </p:cNvPicPr>
          <p:nvPr/>
        </p:nvPicPr>
        <p:blipFill>
          <a:blip r:embed="rId7"/>
          <a:stretch>
            <a:fillRect/>
          </a:stretch>
        </p:blipFill>
        <p:spPr>
          <a:xfrm>
            <a:off x="566928" y="3771155"/>
            <a:ext cx="3265517" cy="1620664"/>
          </a:xfrm>
          <a:prstGeom prst="rect">
            <a:avLst/>
          </a:prstGeom>
        </p:spPr>
      </p:pic>
      <p:pic>
        <p:nvPicPr>
          <p:cNvPr id="21" name="map settlement al-Nujayr" descr="s05-10-kinda-r13-16-s_0136.png"/>
          <p:cNvPicPr>
            <a:picLocks noChangeAspect="1"/>
          </p:cNvPicPr>
          <p:nvPr/>
        </p:nvPicPr>
        <p:blipFill>
          <a:blip r:embed="rId8"/>
          <a:stretch>
            <a:fillRect/>
          </a:stretch>
        </p:blipFill>
        <p:spPr>
          <a:xfrm>
            <a:off x="3937265" y="4049329"/>
            <a:ext cx="1028033" cy="262047"/>
          </a:xfrm>
          <a:prstGeom prst="rect">
            <a:avLst/>
          </a:prstGeom>
        </p:spPr>
      </p:pic>
      <p:pic>
        <p:nvPicPr>
          <p:cNvPr id="22" name="map battle Maḥjar al-Zurqān" descr="s05-10-kinda-r13-16-b_0135.png"/>
          <p:cNvPicPr>
            <a:picLocks noChangeAspect="1"/>
          </p:cNvPicPr>
          <p:nvPr/>
        </p:nvPicPr>
        <p:blipFill>
          <a:blip r:embed="rId9"/>
          <a:stretch>
            <a:fillRect/>
          </a:stretch>
        </p:blipFill>
        <p:spPr>
          <a:xfrm>
            <a:off x="2727813" y="4408132"/>
            <a:ext cx="1406994" cy="721638"/>
          </a:xfrm>
          <a:prstGeom prst="rect">
            <a:avLst/>
          </a:prstGeom>
        </p:spPr>
      </p:pic>
      <p:pic>
        <p:nvPicPr>
          <p:cNvPr id="23" name="map army Ḥaḍramawt, al-Sakūn" descr="s05-10-kinda-r3-6-a_0116.png"/>
          <p:cNvPicPr>
            <a:picLocks noChangeAspect="1"/>
          </p:cNvPicPr>
          <p:nvPr/>
        </p:nvPicPr>
        <p:blipFill>
          <a:blip r:embed="rId10"/>
          <a:stretch>
            <a:fillRect/>
          </a:stretch>
        </p:blipFill>
        <p:spPr>
          <a:xfrm>
            <a:off x="4703250" y="3327690"/>
            <a:ext cx="1846428" cy="483780"/>
          </a:xfrm>
          <a:prstGeom prst="rect">
            <a:avLst/>
          </a:prstGeom>
        </p:spPr>
      </p:pic>
      <p:pic>
        <p:nvPicPr>
          <p:cNvPr id="24" name="map army al-Ashʿath b. Qays" descr="s05-10-kinda-r10-13-a_0131.png"/>
          <p:cNvPicPr>
            <a:picLocks noChangeAspect="1"/>
          </p:cNvPicPr>
          <p:nvPr/>
        </p:nvPicPr>
        <p:blipFill>
          <a:blip r:embed="rId11"/>
          <a:stretch>
            <a:fillRect/>
          </a:stretch>
        </p:blipFill>
        <p:spPr>
          <a:xfrm>
            <a:off x="3735689" y="4275093"/>
            <a:ext cx="1290081" cy="818395"/>
          </a:xfrm>
          <a:prstGeom prst="rect">
            <a:avLst/>
          </a:prstGeom>
        </p:spPr>
      </p:pic>
      <p:pic>
        <p:nvPicPr>
          <p:cNvPr id="25" name="map army al-Muhājir ؓ" descr="s05-10-kinda-r13-16-a_0133.png"/>
          <p:cNvPicPr>
            <a:picLocks noChangeAspect="1"/>
          </p:cNvPicPr>
          <p:nvPr/>
        </p:nvPicPr>
        <p:blipFill>
          <a:blip r:embed="rId12"/>
          <a:stretch>
            <a:fillRect/>
          </a:stretch>
        </p:blipFill>
        <p:spPr>
          <a:xfrm>
            <a:off x="5231377" y="3843722"/>
            <a:ext cx="770017" cy="665197"/>
          </a:xfrm>
          <a:prstGeom prst="rect">
            <a:avLst/>
          </a:prstGeom>
        </p:spPr>
      </p:pic>
      <p:pic>
        <p:nvPicPr>
          <p:cNvPr id="26" name="map army ʿIkrima ؓ" descr="s05-10-kinda-r13-16-a_0138.png"/>
          <p:cNvPicPr>
            <a:picLocks noChangeAspect="1"/>
          </p:cNvPicPr>
          <p:nvPr/>
        </p:nvPicPr>
        <p:blipFill>
          <a:blip r:embed="rId13"/>
          <a:stretch>
            <a:fillRect/>
          </a:stretch>
        </p:blipFill>
        <p:spPr>
          <a:xfrm>
            <a:off x="3501862" y="3234965"/>
            <a:ext cx="580536" cy="669229"/>
          </a:xfrm>
          <a:prstGeom prst="rect">
            <a:avLst/>
          </a:prstGeom>
        </p:spPr>
      </p:pic>
      <p:pic>
        <p:nvPicPr>
          <p:cNvPr id="27" name="map label the captives taken back" descr="s05-10-kinda-r10-13-l_0132.png"/>
          <p:cNvPicPr>
            <a:picLocks noChangeAspect="1"/>
          </p:cNvPicPr>
          <p:nvPr/>
        </p:nvPicPr>
        <p:blipFill>
          <a:blip r:embed="rId14"/>
          <a:stretch>
            <a:fillRect/>
          </a:stretch>
        </p:blipFill>
        <p:spPr>
          <a:xfrm>
            <a:off x="3864697" y="4944322"/>
            <a:ext cx="2636603" cy="302362"/>
          </a:xfrm>
          <a:prstGeom prst="rect">
            <a:avLst/>
          </a:prstGeom>
        </p:spPr>
      </p:pic>
      <p:pic>
        <p:nvPicPr>
          <p:cNvPr id="28" name="map label from Ṣanʿāʾ" descr="s05-10-kinda-r13-16-l_0134.png"/>
          <p:cNvPicPr>
            <a:picLocks noChangeAspect="1"/>
          </p:cNvPicPr>
          <p:nvPr/>
        </p:nvPicPr>
        <p:blipFill>
          <a:blip r:embed="rId15"/>
          <a:stretch>
            <a:fillRect/>
          </a:stretch>
        </p:blipFill>
        <p:spPr>
          <a:xfrm>
            <a:off x="1405480" y="5339410"/>
            <a:ext cx="1350553"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2" fill="hold">
                      <p:stCondLst>
                        <p:cond delay="indefinite"/>
                      </p:stCondLst>
                      <p:childTnLst>
                        <p:par>
                          <p:cTn id="23"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5076 0.0320 L -0.3020 0.1001 L 0.0000 0.0000 L 0 0 E" pathEditMode="relative" rAng="0" ptsTypes="">
                                      <p:cBhvr>
                                        <p:cTn id="14" dur="1600" fill="hold"/>
                                        <p:tgtEl>
                                          <p:spTgt spid="25"/>
                                        </p:tgtEl>
                                        <p:attrNameLst>
                                          <p:attrName>ppt_x</p:attrName>
                                          <p:attrName>ppt_y</p:attrName>
                                        </p:attrNameLst>
                                      </p:cBhvr>
                                    </p:animMotion>
                                  </p:childTnLst>
                                </p:cTn>
                              </p:par>
                              <p:par>
                                <p:cTn id="18" presetID="10" presetClass="exit" presetSubtype="0" fill="hold" grpId="0" nodeType="withEffect">
                                  <p:stCondLst>
                                    <p:cond delay="0"/>
                                  </p:stCondLst>
                                  <p:childTnLst>
                                    <p:animEffect transition="out" filter="fade">
                                      <p:cBhvr>
                                        <p:cTn id="16" dur="600"/>
                                        <p:tgtEl>
                                          <p:spTgt spid="27"/>
                                        </p:tgtEl>
                                      </p:cBhvr>
                                    </p:animEffect>
                                    <p:set>
                                      <p:cBhvr>
                                        <p:cTn id="17" dur="1" fill="hold">
                                          <p:stCondLst>
                                            <p:cond delay="599"/>
                                          </p:stCondLst>
                                        </p:cTn>
                                        <p:tgtEl>
                                          <p:spTgt spid="27"/>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600"/>
                                        <p:tgtEl>
                                          <p:spTgt spid="28"/>
                                        </p:tgtEl>
                                      </p:cBhvr>
                                    </p:animEffect>
                                  </p:childTnLst>
                                </p:cTn>
                              </p:par>
                            </p:childTnLst>
                          </p:cTn>
                        </p:par>
                      </p:childTnLst>
                    </p:cTn>
                  </p:par>
                  <p:par>
                    <p:cTn id="33" fill="hold">
                      <p:stCondLst>
                        <p:cond delay="indefinite"/>
                      </p:stCondLst>
                      <p:childTnLst>
                        <p:par>
                          <p:cTn id="34"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par>
                                <p:cTn id="32" presetID="10" presetClass="exit" presetSubtype="0" fill="hold" grpId="0" nodeType="withEffect">
                                  <p:stCondLst>
                                    <p:cond delay="0"/>
                                  </p:stCondLst>
                                  <p:childTnLst>
                                    <p:animEffect transition="out" filter="fade">
                                      <p:cBhvr>
                                        <p:cTn id="30" dur="600"/>
                                        <p:tgtEl>
                                          <p:spTgt spid="24"/>
                                        </p:tgtEl>
                                      </p:cBhvr>
                                    </p:animEffect>
                                    <p:set>
                                      <p:cBhvr>
                                        <p:cTn id="31" dur="1" fill="hold">
                                          <p:stCondLst>
                                            <p:cond delay="599"/>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600"/>
                                        <p:tgtEl>
                                          <p:spTgt spid="16"/>
                                        </p:tgtEl>
                                      </p:cBhvr>
                                    </p:animEffect>
                                  </p:childTnLst>
                                </p:cTn>
                              </p:par>
                              <p:par>
                                <p:cTn id="40" presetID="10" presetClass="exit" presetSubtype="0" fill="hold" grpId="0" nodeType="withEffect">
                                  <p:stCondLst>
                                    <p:cond delay="0"/>
                                  </p:stCondLst>
                                  <p:childTnLst>
                                    <p:animEffect transition="out" filter="fade">
                                      <p:cBhvr>
                                        <p:cTn id="38" dur="600"/>
                                        <p:tgtEl>
                                          <p:spTgt spid="19"/>
                                        </p:tgtEl>
                                      </p:cBhvr>
                                    </p:animEffect>
                                    <p:set>
                                      <p:cBhvr>
                                        <p:cTn id="39" dur="1" fill="hold">
                                          <p:stCondLst>
                                            <p:cond delay="599"/>
                                          </p:stCondLst>
                                        </p:cTn>
                                        <p:tgtEl>
                                          <p:spTgt spid="19"/>
                                        </p:tgtEl>
                                        <p:attrNameLst>
                                          <p:attrName>style.visibility</p:attrName>
                                        </p:attrNameLst>
                                      </p:cBhvr>
                                      <p:to>
                                        <p:strVal val="hidden"/>
                                      </p:to>
                                    </p:set>
                                  </p:childTnLst>
                                </p:cTn>
                              </p:par>
                              <p:par>
                                <p:cTn id="43" presetID="22" presetClass="entr" presetSubtype="8"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wipe(left)">
                                      <p:cBhvr>
                                        <p:cTn id="42" dur="1600"/>
                                        <p:tgtEl>
                                          <p:spTgt spid="20"/>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600"/>
                                        <p:tgtEl>
                                          <p:spTgt spid="21"/>
                                        </p:tgtEl>
                                      </p:cBhvr>
                                    </p:animEffect>
                                  </p:childTnLst>
                                </p:cTn>
                              </p:par>
                              <p:par>
                                <p:cTn id="48" presetID="1"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childTnLst>
                                </p:cTn>
                              </p:par>
                              <p:par>
                                <p:cTn id="50" presetID="0" presetClass="path" presetSubtype="0" fill="hold" grpId="0" nodeType="withEffect">
                                  <p:stCondLst>
                                    <p:cond delay="0"/>
                                  </p:stCondLst>
                                  <p:childTnLst>
                                    <p:animMotion origin="layout" path="M -0.3576 0.1205 L -0.1613 0.2175 L -0.0675 0.0693 L 0.0000 0.0000 L 0 0 E" pathEditMode="relative" rAng="0" ptsTypes="">
                                      <p:cBhvr>
                                        <p:cTn id="49" dur="1600" fill="hold"/>
                                        <p:tgtEl>
                                          <p:spTgt spid="26"/>
                                        </p:tgtEl>
                                        <p:attrNameLst>
                                          <p:attrName>ppt_x</p:attrName>
                                          <p:attrName>ppt_y</p:attrName>
                                        </p:attrNameLst>
                                      </p:cBhvr>
                                    </p:animMotion>
                                  </p:childTnLst>
                                </p:cTn>
                              </p:par>
                              <p:par>
                                <p:cTn id="53" presetID="10" presetClass="exit" presetSubtype="0" fill="hold" grpId="0" nodeType="withEffect">
                                  <p:stCondLst>
                                    <p:cond delay="0"/>
                                  </p:stCondLst>
                                  <p:childTnLst>
                                    <p:animEffect transition="out" filter="fade">
                                      <p:cBhvr>
                                        <p:cTn id="51" dur="600"/>
                                        <p:tgtEl>
                                          <p:spTgt spid="28"/>
                                        </p:tgtEl>
                                      </p:cBhvr>
                                    </p:animEffect>
                                    <p:set>
                                      <p:cBhvr>
                                        <p:cTn id="52"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knife at the writing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 Jaḥdam leapt at him with a knife and said: Will you write me in, or shall I kill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3.png"/>
          <p:cNvPicPr>
            <a:picLocks noChangeAspect="1"/>
          </p:cNvPicPr>
          <p:nvPr/>
        </p:nvPicPr>
        <p:blipFill>
          <a:blip r:embed="rId2"/>
          <a:stretch>
            <a:fillRect/>
          </a:stretch>
        </p:blipFill>
        <p:spPr>
          <a:xfrm>
            <a:off x="3172883" y="1389888"/>
            <a:ext cx="5845928" cy="4956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opened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bonds, for Medina</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do you think I will do with you?"</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 document was sealed, only on those named in it; before that you were only negotiating."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wedding feast in the camel market</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 This man has married his sister to me, and had we been in our own…"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suspected three men"</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 them we found nothing to match their trustworthiness…"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This man did not apostatise, and I did</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5_close.png"/>
          <p:cNvPicPr>
            <a:picLocks noChangeAspect="1"/>
          </p:cNvPicPr>
          <p:nvPr/>
        </p:nvPicPr>
        <p:blipFill>
          <a:blip r:embed="rId2"/>
          <a:stretch>
            <a:fillRect/>
          </a:stretch>
        </p:blipFill>
        <p:spPr>
          <a:xfrm>
            <a:off x="3413681" y="1389888"/>
            <a:ext cx="5364333" cy="4956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Tonight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Oman, Mahra, and the last front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Next week</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Bahrayn, told as 'meanwhile'</a:t>
            </a:r>
          </a:p>
        </p:txBody>
      </p:sp>
      <p:pic>
        <p:nvPicPr>
          <p:cNvPr id="13" name="map territory t_0148" descr="s05-09-arabia-r1-4-t_0148.png"/>
          <p:cNvPicPr>
            <a:picLocks noChangeAspect="1"/>
          </p:cNvPicPr>
          <p:nvPr/>
        </p:nvPicPr>
        <p:blipFill>
          <a:blip r:embed="rId3"/>
          <a:stretch>
            <a:fillRect/>
          </a:stretch>
        </p:blipFill>
        <p:spPr>
          <a:xfrm>
            <a:off x="5670811" y="2815689"/>
            <a:ext cx="919182" cy="1382805"/>
          </a:xfrm>
          <a:prstGeom prst="rect">
            <a:avLst/>
          </a:prstGeom>
        </p:spPr>
      </p:pic>
      <p:pic>
        <p:nvPicPr>
          <p:cNvPr id="14" name="map territory t_0149" descr="s05-09-arabia-r1-4-t_0149.png"/>
          <p:cNvPicPr>
            <a:picLocks noChangeAspect="1"/>
          </p:cNvPicPr>
          <p:nvPr/>
        </p:nvPicPr>
        <p:blipFill>
          <a:blip r:embed="rId4"/>
          <a:stretch>
            <a:fillRect/>
          </a:stretch>
        </p:blipFill>
        <p:spPr>
          <a:xfrm>
            <a:off x="5150747" y="4242841"/>
            <a:ext cx="866773" cy="778080"/>
          </a:xfrm>
          <a:prstGeom prst="rect">
            <a:avLst/>
          </a:prstGeom>
        </p:spPr>
      </p:pic>
      <p:pic>
        <p:nvPicPr>
          <p:cNvPr id="15" name="map territory t_0152" descr="s05-09-arabia-r1-4-t_0152.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0155" descr="s05-09-arabia-r1-4-t_0155.png"/>
          <p:cNvPicPr>
            <a:picLocks noChangeAspect="1"/>
          </p:cNvPicPr>
          <p:nvPr/>
        </p:nvPicPr>
        <p:blipFill>
          <a:blip r:embed="rId6"/>
          <a:stretch>
            <a:fillRect/>
          </a:stretch>
        </p:blipFill>
        <p:spPr>
          <a:xfrm>
            <a:off x="5670811" y="2815689"/>
            <a:ext cx="919182" cy="1382805"/>
          </a:xfrm>
          <a:prstGeom prst="rect">
            <a:avLst/>
          </a:prstGeom>
        </p:spPr>
      </p:pic>
      <p:pic>
        <p:nvPicPr>
          <p:cNvPr id="17" name="map territory t_0156" descr="s05-09-arabia-r1-4-t_0156.png"/>
          <p:cNvPicPr>
            <a:picLocks noChangeAspect="1"/>
          </p:cNvPicPr>
          <p:nvPr/>
        </p:nvPicPr>
        <p:blipFill>
          <a:blip r:embed="rId7"/>
          <a:stretch>
            <a:fillRect/>
          </a:stretch>
        </p:blipFill>
        <p:spPr>
          <a:xfrm>
            <a:off x="5150747" y="4242841"/>
            <a:ext cx="866773" cy="778080"/>
          </a:xfrm>
          <a:prstGeom prst="rect">
            <a:avLst/>
          </a:prstGeom>
        </p:spPr>
      </p:pic>
      <p:pic>
        <p:nvPicPr>
          <p:cNvPr id="18" name="map territory t_0157" descr="s05-09-arabia-r1-4-t_0157.png"/>
          <p:cNvPicPr>
            <a:picLocks noChangeAspect="1"/>
          </p:cNvPicPr>
          <p:nvPr/>
        </p:nvPicPr>
        <p:blipFill>
          <a:blip r:embed="rId8"/>
          <a:stretch>
            <a:fillRect/>
          </a:stretch>
        </p:blipFill>
        <p:spPr>
          <a:xfrm>
            <a:off x="4219470" y="4718558"/>
            <a:ext cx="971592" cy="737765"/>
          </a:xfrm>
          <a:prstGeom prst="rect">
            <a:avLst/>
          </a:prstGeom>
        </p:spPr>
      </p:pic>
      <p:pic>
        <p:nvPicPr>
          <p:cNvPr id="19" name="map arrow r_0139" descr="s05-09-arabia-r1-4-r_0139.png"/>
          <p:cNvPicPr>
            <a:picLocks noChangeAspect="1"/>
          </p:cNvPicPr>
          <p:nvPr/>
        </p:nvPicPr>
        <p:blipFill>
          <a:blip r:embed="rId9"/>
          <a:stretch>
            <a:fillRect/>
          </a:stretch>
        </p:blipFill>
        <p:spPr>
          <a:xfrm>
            <a:off x="3909044" y="2932602"/>
            <a:ext cx="2334240" cy="2745453"/>
          </a:xfrm>
          <a:prstGeom prst="rect">
            <a:avLst/>
          </a:prstGeom>
        </p:spPr>
      </p:pic>
      <p:pic>
        <p:nvPicPr>
          <p:cNvPr id="20" name="map label ʿIkrima's ؓ road" descr="s05-09-arabia-r1-4-l_0158.png"/>
          <p:cNvPicPr>
            <a:picLocks noChangeAspect="1"/>
          </p:cNvPicPr>
          <p:nvPr/>
        </p:nvPicPr>
        <p:blipFill>
          <a:blip r:embed="rId10"/>
          <a:stretch>
            <a:fillRect/>
          </a:stretch>
        </p:blipFill>
        <p:spPr>
          <a:xfrm>
            <a:off x="4352509" y="5448260"/>
            <a:ext cx="1842397"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childTnLst>
                          </p:cTn>
                        </p:par>
                      </p:childTnLst>
                    </p:cTn>
                  </p:par>
                  <p:par>
                    <p:cTn id="23" fill="hold">
                      <p:stCondLst>
                        <p:cond delay="indefinite"/>
                      </p:stCondLst>
                      <p:childTnLst>
                        <p:par>
                          <p:cTn id="24" fill="hold">
                            <p:stCondLst>
                              <p:cond delay="0"/>
                            </p:stCondLst>
                            <p:childTnLst>
                              <p:par>
                                <p:cTn id="19" presetID="10" presetClass="exit" presetSubtype="0" fill="hold" grpId="0" nodeType="click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600"/>
                                        <p:tgtEl>
                                          <p:spTgt spid="18"/>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1" fill="hold" grpId="0" nodeType="click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wipe(up)">
                                      <p:cBhvr>
                                        <p:cTn id="26" dur="1600"/>
                                        <p:tgtEl>
                                          <p:spTgt spid="19"/>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How the day ended</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The house of Umm Sulaym ؓ</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Qurʾān gathered</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ʿIkrima's ؓ road</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last front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Sixteen riders left Medina for Bahrayn. By the time they reached it they were an army. How?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